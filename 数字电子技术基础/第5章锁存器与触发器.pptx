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
  </p:notesMasterIdLst>
  <p:sldIdLst>
    <p:sldId id="256" r:id="rId3"/>
    <p:sldId id="333" r:id="rId5"/>
    <p:sldId id="362" r:id="rId6"/>
    <p:sldId id="363" r:id="rId7"/>
    <p:sldId id="357" r:id="rId8"/>
    <p:sldId id="344" r:id="rId9"/>
    <p:sldId id="359" r:id="rId10"/>
    <p:sldId id="364" r:id="rId11"/>
    <p:sldId id="365" r:id="rId12"/>
    <p:sldId id="366" r:id="rId13"/>
    <p:sldId id="367" r:id="rId14"/>
    <p:sldId id="368" r:id="rId15"/>
    <p:sldId id="369" r:id="rId16"/>
    <p:sldId id="370" r:id="rId17"/>
    <p:sldId id="372" r:id="rId18"/>
    <p:sldId id="373" r:id="rId19"/>
    <p:sldId id="374" r:id="rId20"/>
    <p:sldId id="375" r:id="rId21"/>
    <p:sldId id="376" r:id="rId22"/>
    <p:sldId id="377" r:id="rId23"/>
    <p:sldId id="378" r:id="rId24"/>
    <p:sldId id="379" r:id="rId25"/>
    <p:sldId id="380" r:id="rId26"/>
    <p:sldId id="381" r:id="rId27"/>
    <p:sldId id="360" r:id="rId28"/>
    <p:sldId id="382" r:id="rId29"/>
    <p:sldId id="345" r:id="rId30"/>
    <p:sldId id="383" r:id="rId31"/>
    <p:sldId id="384" r:id="rId32"/>
    <p:sldId id="385" r:id="rId33"/>
    <p:sldId id="386" r:id="rId34"/>
    <p:sldId id="387" r:id="rId35"/>
    <p:sldId id="388" r:id="rId36"/>
    <p:sldId id="389" r:id="rId37"/>
    <p:sldId id="390" r:id="rId38"/>
    <p:sldId id="391" r:id="rId39"/>
    <p:sldId id="392" r:id="rId40"/>
    <p:sldId id="393" r:id="rId41"/>
    <p:sldId id="394" r:id="rId42"/>
    <p:sldId id="395" r:id="rId43"/>
    <p:sldId id="396" r:id="rId44"/>
    <p:sldId id="397" r:id="rId45"/>
    <p:sldId id="398" r:id="rId46"/>
    <p:sldId id="399" r:id="rId47"/>
    <p:sldId id="400" r:id="rId48"/>
    <p:sldId id="401" r:id="rId49"/>
    <p:sldId id="402" r:id="rId50"/>
    <p:sldId id="403" r:id="rId51"/>
    <p:sldId id="404" r:id="rId52"/>
    <p:sldId id="405" r:id="rId53"/>
    <p:sldId id="406" r:id="rId54"/>
    <p:sldId id="407" r:id="rId55"/>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5375" userDrawn="1">
          <p15:clr>
            <a:srgbClr val="A4A3A4"/>
          </p15:clr>
        </p15:guide>
        <p15:guide id="3" pos="385" userDrawn="1">
          <p15:clr>
            <a:srgbClr val="A4A3A4"/>
          </p15:clr>
        </p15:guide>
        <p15:guide id="4" orient="horz" pos="3997" userDrawn="1">
          <p15:clr>
            <a:srgbClr val="A4A3A4"/>
          </p15:clr>
        </p15:guide>
        <p15:guide id="5" orient="horz" pos="288" userDrawn="1">
          <p15:clr>
            <a:srgbClr val="A4A3A4"/>
          </p15:clr>
        </p15:guide>
        <p15:guide id="6" orient="horz" pos="33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FF66"/>
    <a:srgbClr val="0000FF"/>
    <a:srgbClr val="FF00FF"/>
    <a:srgbClr val="6600FF"/>
    <a:srgbClr val="CC00CC"/>
    <a:srgbClr val="66FFCC"/>
    <a:srgbClr val="FF66FF"/>
    <a:srgbClr val="0070C0"/>
    <a:srgbClr val="00CC00"/>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7" autoAdjust="0"/>
    <p:restoredTop sz="94645" autoAdjust="0"/>
  </p:normalViewPr>
  <p:slideViewPr>
    <p:cSldViewPr snapToGrid="0" showGuides="1">
      <p:cViewPr varScale="1">
        <p:scale>
          <a:sx n="125" d="100"/>
          <a:sy n="125" d="100"/>
        </p:scale>
        <p:origin x="1422" y="90"/>
      </p:cViewPr>
      <p:guideLst>
        <p:guide orient="horz" pos="346"/>
        <p:guide pos="5375"/>
        <p:guide pos="385"/>
        <p:guide orient="horz" pos="3997"/>
        <p:guide orient="horz" pos="288"/>
        <p:guide orient="horz" pos="3331"/>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6.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7.png"/></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9.emf"/><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18.emf"/><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4.wmf"/><Relationship Id="rId1" Type="http://schemas.openxmlformats.org/officeDocument/2006/relationships/image" Target="../media/image2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image" Target="../media/image4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50.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51.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56.wmf"/><Relationship Id="rId1" Type="http://schemas.openxmlformats.org/officeDocument/2006/relationships/image" Target="../media/image55.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7.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image" Target="../media/image60.wmf"/></Relationships>
</file>

<file path=ppt/drawings/_rels/vmlDrawing33.vml.rels><?xml version="1.0" encoding="UTF-8" standalone="yes"?>
<Relationships xmlns="http://schemas.openxmlformats.org/package/2006/relationships"><Relationship Id="rId4" Type="http://schemas.openxmlformats.org/officeDocument/2006/relationships/image" Target="../media/image67.wmf"/><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3.png"/></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71.wmf"/><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69.wmf"/><Relationship Id="rId1" Type="http://schemas.openxmlformats.org/officeDocument/2006/relationships/image" Target="../media/image7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0" y="0"/>
            <a:ext cx="5737860" cy="601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 y="556042"/>
            <a:ext cx="9143999" cy="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userDrawn="1"/>
        </p:nvPicPr>
        <p:blipFill>
          <a:blip r:embed="rId3" cstate="print"/>
          <a:srcRect/>
          <a:stretch>
            <a:fillRect/>
          </a:stretch>
        </p:blipFill>
        <p:spPr bwMode="auto">
          <a:xfrm>
            <a:off x="91442" y="25401"/>
            <a:ext cx="2307724" cy="478836"/>
          </a:xfrm>
          <a:prstGeom prst="rect">
            <a:avLst/>
          </a:prstGeom>
          <a:noFill/>
          <a:ln w="9525">
            <a:noFill/>
            <a:miter lim="800000"/>
            <a:headEnd/>
            <a:tailEnd/>
          </a:ln>
        </p:spPr>
      </p:pic>
      <p:sp>
        <p:nvSpPr>
          <p:cNvPr id="14" name="矩形 13"/>
          <p:cNvSpPr/>
          <p:nvPr userDrawn="1"/>
        </p:nvSpPr>
        <p:spPr>
          <a:xfrm>
            <a:off x="6789420" y="0"/>
            <a:ext cx="2354580"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数据 12"/>
          <p:cNvSpPr/>
          <p:nvPr userDrawn="1"/>
        </p:nvSpPr>
        <p:spPr>
          <a:xfrm>
            <a:off x="4846320" y="0"/>
            <a:ext cx="3855720" cy="558800"/>
          </a:xfrm>
          <a:prstGeom prst="flowChartInputOut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5638803" y="1"/>
            <a:ext cx="3228975" cy="553998"/>
          </a:xfrm>
          <a:prstGeom prst="rect">
            <a:avLst/>
          </a:prstGeom>
        </p:spPr>
        <p:txBody>
          <a:bodyPr wrap="square">
            <a:spAutoFit/>
          </a:bodyPr>
          <a:lstStyle/>
          <a:p>
            <a:pPr algn="r">
              <a:lnSpc>
                <a:spcPct val="125000"/>
              </a:lnSpc>
            </a:pPr>
            <a:r>
              <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8.emf"/><Relationship Id="rId4" Type="http://schemas.openxmlformats.org/officeDocument/2006/relationships/oleObject" Target="../embeddings/oleObject2.bin"/><Relationship Id="rId3" Type="http://schemas.openxmlformats.org/officeDocument/2006/relationships/image" Target="../media/image7.png"/><Relationship Id="rId2" Type="http://schemas.openxmlformats.org/officeDocument/2006/relationships/oleObject" Target="../embeddings/oleObject1.bin"/><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oleObject" Target="../embeddings/oleObject4.bin"/><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oleObject" Target="../embeddings/oleObject6.bin"/><Relationship Id="rId2" Type="http://schemas.openxmlformats.org/officeDocument/2006/relationships/image" Target="../media/image7.png"/><Relationship Id="rId1"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oleObject" Target="../embeddings/oleObject8.bin"/><Relationship Id="rId2" Type="http://schemas.openxmlformats.org/officeDocument/2006/relationships/image" Target="../media/image7.png"/><Relationship Id="rId1"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2.xml"/><Relationship Id="rId5" Type="http://schemas.openxmlformats.org/officeDocument/2006/relationships/image" Target="../media/image9.emf"/><Relationship Id="rId4" Type="http://schemas.openxmlformats.org/officeDocument/2006/relationships/oleObject" Target="../embeddings/oleObject10.bin"/><Relationship Id="rId3" Type="http://schemas.openxmlformats.org/officeDocument/2006/relationships/image" Target="../media/image7.png"/><Relationship Id="rId2" Type="http://schemas.openxmlformats.org/officeDocument/2006/relationships/oleObject" Target="../embeddings/oleObject9.bin"/><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7.vml"/><Relationship Id="rId8" Type="http://schemas.openxmlformats.org/officeDocument/2006/relationships/slideLayout" Target="../slideLayouts/slideLayout2.xml"/><Relationship Id="rId7" Type="http://schemas.openxmlformats.org/officeDocument/2006/relationships/image" Target="../media/image11.emf"/><Relationship Id="rId6" Type="http://schemas.openxmlformats.org/officeDocument/2006/relationships/oleObject" Target="../embeddings/oleObject13.bin"/><Relationship Id="rId5" Type="http://schemas.openxmlformats.org/officeDocument/2006/relationships/image" Target="../media/image9.emf"/><Relationship Id="rId4" Type="http://schemas.openxmlformats.org/officeDocument/2006/relationships/oleObject" Target="../embeddings/oleObject12.bin"/><Relationship Id="rId3" Type="http://schemas.openxmlformats.org/officeDocument/2006/relationships/image" Target="../media/image10.wmf"/><Relationship Id="rId2" Type="http://schemas.openxmlformats.org/officeDocument/2006/relationships/oleObject" Target="../embeddings/oleObject11.bin"/><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12.emf"/><Relationship Id="rId2" Type="http://schemas.openxmlformats.org/officeDocument/2006/relationships/oleObject" Target="../embeddings/oleObject14.bin"/><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14.emf"/><Relationship Id="rId1"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4.png"/><Relationship Id="rId2" Type="http://schemas.openxmlformats.org/officeDocument/2006/relationships/image" Target="../media/image15.emf"/><Relationship Id="rId1" Type="http://schemas.openxmlformats.org/officeDocument/2006/relationships/oleObject" Target="../embeddings/oleObject16.bin"/></Relationships>
</file>

<file path=ppt/slides/_rels/slide19.xml.rels><?xml version="1.0" encoding="UTF-8" standalone="yes"?>
<Relationships xmlns="http://schemas.openxmlformats.org/package/2006/relationships"><Relationship Id="rId9" Type="http://schemas.openxmlformats.org/officeDocument/2006/relationships/image" Target="../media/image18.emf"/><Relationship Id="rId8" Type="http://schemas.openxmlformats.org/officeDocument/2006/relationships/oleObject" Target="../embeddings/oleObject20.bin"/><Relationship Id="rId7" Type="http://schemas.openxmlformats.org/officeDocument/2006/relationships/image" Target="../media/image17.emf"/><Relationship Id="rId6" Type="http://schemas.openxmlformats.org/officeDocument/2006/relationships/oleObject" Target="../embeddings/oleObject19.bin"/><Relationship Id="rId5" Type="http://schemas.openxmlformats.org/officeDocument/2006/relationships/image" Target="../media/image16.emf"/><Relationship Id="rId4" Type="http://schemas.openxmlformats.org/officeDocument/2006/relationships/oleObject" Target="../embeddings/oleObject18.bin"/><Relationship Id="rId3" Type="http://schemas.openxmlformats.org/officeDocument/2006/relationships/image" Target="../media/image4.png"/><Relationship Id="rId2" Type="http://schemas.openxmlformats.org/officeDocument/2006/relationships/image" Target="../media/image15.emf"/><Relationship Id="rId12" Type="http://schemas.openxmlformats.org/officeDocument/2006/relationships/notesSlide" Target="../notesSlides/notesSlide9.xml"/><Relationship Id="rId11" Type="http://schemas.openxmlformats.org/officeDocument/2006/relationships/vmlDrawing" Target="../drawings/vmlDrawing11.vml"/><Relationship Id="rId10" Type="http://schemas.openxmlformats.org/officeDocument/2006/relationships/slideLayout" Target="../slideLayouts/slideLayout2.xml"/><Relationship Id="rId1"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9.emf"/><Relationship Id="rId1" Type="http://schemas.openxmlformats.org/officeDocument/2006/relationships/oleObject" Target="../embeddings/oleObject21.bin"/></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13.vml"/><Relationship Id="rId5" Type="http://schemas.openxmlformats.org/officeDocument/2006/relationships/slideLayout" Target="../slideLayouts/slideLayout2.xml"/><Relationship Id="rId4" Type="http://schemas.openxmlformats.org/officeDocument/2006/relationships/image" Target="../media/image13.png"/><Relationship Id="rId3" Type="http://schemas.openxmlformats.org/officeDocument/2006/relationships/image" Target="../media/image4.png"/><Relationship Id="rId2" Type="http://schemas.openxmlformats.org/officeDocument/2006/relationships/image" Target="../media/image20.emf"/><Relationship Id="rId1" Type="http://schemas.openxmlformats.org/officeDocument/2006/relationships/oleObject" Target="../embeddings/oleObject22.bin"/></Relationships>
</file>

<file path=ppt/slides/_rels/slide23.xml.rels><?xml version="1.0" encoding="UTF-8" standalone="yes"?>
<Relationships xmlns="http://schemas.openxmlformats.org/package/2006/relationships"><Relationship Id="rId9" Type="http://schemas.openxmlformats.org/officeDocument/2006/relationships/vmlDrawing" Target="../drawings/vmlDrawing14.vml"/><Relationship Id="rId8" Type="http://schemas.openxmlformats.org/officeDocument/2006/relationships/slideLayout" Target="../slideLayouts/slideLayout1.xml"/><Relationship Id="rId7" Type="http://schemas.openxmlformats.org/officeDocument/2006/relationships/image" Target="../media/image24.wmf"/><Relationship Id="rId6" Type="http://schemas.openxmlformats.org/officeDocument/2006/relationships/oleObject" Target="../embeddings/oleObject24.bin"/><Relationship Id="rId5" Type="http://schemas.openxmlformats.org/officeDocument/2006/relationships/image" Target="../media/image23.wmf"/><Relationship Id="rId4" Type="http://schemas.openxmlformats.org/officeDocument/2006/relationships/oleObject" Target="../embeddings/oleObject23.bin"/><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27.bin"/><Relationship Id="rId8" Type="http://schemas.openxmlformats.org/officeDocument/2006/relationships/image" Target="../media/image25.png"/><Relationship Id="rId7" Type="http://schemas.openxmlformats.org/officeDocument/2006/relationships/image" Target="../media/image24.wmf"/><Relationship Id="rId6" Type="http://schemas.openxmlformats.org/officeDocument/2006/relationships/oleObject" Target="../embeddings/oleObject26.bin"/><Relationship Id="rId5" Type="http://schemas.openxmlformats.org/officeDocument/2006/relationships/image" Target="../media/image23.wmf"/><Relationship Id="rId4" Type="http://schemas.openxmlformats.org/officeDocument/2006/relationships/oleObject" Target="../embeddings/oleObject25.bin"/><Relationship Id="rId3" Type="http://schemas.openxmlformats.org/officeDocument/2006/relationships/image" Target="../media/image22.png"/><Relationship Id="rId2" Type="http://schemas.openxmlformats.org/officeDocument/2006/relationships/image" Target="../media/image21.emf"/><Relationship Id="rId12" Type="http://schemas.openxmlformats.org/officeDocument/2006/relationships/vmlDrawing" Target="../drawings/vmlDrawing15.vml"/><Relationship Id="rId11" Type="http://schemas.openxmlformats.org/officeDocument/2006/relationships/slideLayout" Target="../slideLayouts/slideLayout1.xml"/><Relationship Id="rId10" Type="http://schemas.openxmlformats.org/officeDocument/2006/relationships/image" Target="../media/image26.wmf"/><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emf"/><Relationship Id="rId2" Type="http://schemas.openxmlformats.org/officeDocument/2006/relationships/image" Target="../media/image21.emf"/><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8.emf"/></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9.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30.emf"/><Relationship Id="rId2" Type="http://schemas.openxmlformats.org/officeDocument/2006/relationships/oleObject" Target="../embeddings/oleObject28.bin"/><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1.emf"/><Relationship Id="rId1" Type="http://schemas.openxmlformats.org/officeDocument/2006/relationships/oleObject" Target="../embeddings/oleObject29.bin"/></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18.vml"/><Relationship Id="rId6"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31.bin"/><Relationship Id="rId3" Type="http://schemas.openxmlformats.org/officeDocument/2006/relationships/image" Target="../media/image4.png"/><Relationship Id="rId2" Type="http://schemas.openxmlformats.org/officeDocument/2006/relationships/image" Target="../media/image32.emf"/><Relationship Id="rId1" Type="http://schemas.openxmlformats.org/officeDocument/2006/relationships/oleObject" Target="../embeddings/oleObject30.bin"/></Relationships>
</file>

<file path=ppt/slides/_rels/slide32.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2.xml"/><Relationship Id="rId5" Type="http://schemas.openxmlformats.org/officeDocument/2006/relationships/image" Target="../media/image35.wmf"/><Relationship Id="rId4" Type="http://schemas.openxmlformats.org/officeDocument/2006/relationships/oleObject" Target="../embeddings/oleObject33.bin"/><Relationship Id="rId3" Type="http://schemas.openxmlformats.org/officeDocument/2006/relationships/image" Target="../media/image4.png"/><Relationship Id="rId2" Type="http://schemas.openxmlformats.org/officeDocument/2006/relationships/image" Target="../media/image34.emf"/><Relationship Id="rId1" Type="http://schemas.openxmlformats.org/officeDocument/2006/relationships/oleObject" Target="../embeddings/oleObject32.bin"/></Relationships>
</file>

<file path=ppt/slides/_rels/slide33.xml.rels><?xml version="1.0" encoding="UTF-8" standalone="yes"?>
<Relationships xmlns="http://schemas.openxmlformats.org/package/2006/relationships"><Relationship Id="rId7" Type="http://schemas.openxmlformats.org/officeDocument/2006/relationships/vmlDrawing" Target="../drawings/vmlDrawing20.vml"/><Relationship Id="rId6" Type="http://schemas.openxmlformats.org/officeDocument/2006/relationships/slideLayout" Target="../slideLayouts/slideLayout2.xml"/><Relationship Id="rId5" Type="http://schemas.openxmlformats.org/officeDocument/2006/relationships/image" Target="../media/image37.wmf"/><Relationship Id="rId4" Type="http://schemas.openxmlformats.org/officeDocument/2006/relationships/oleObject" Target="../embeddings/oleObject35.bin"/><Relationship Id="rId3" Type="http://schemas.openxmlformats.org/officeDocument/2006/relationships/image" Target="../media/image4.png"/><Relationship Id="rId2" Type="http://schemas.openxmlformats.org/officeDocument/2006/relationships/image" Target="../media/image36.emf"/><Relationship Id="rId1" Type="http://schemas.openxmlformats.org/officeDocument/2006/relationships/oleObject" Target="../embeddings/oleObject34.bin"/></Relationships>
</file>

<file path=ppt/slides/_rels/slide34.xml.rels><?xml version="1.0" encoding="UTF-8" standalone="yes"?>
<Relationships xmlns="http://schemas.openxmlformats.org/package/2006/relationships"><Relationship Id="rId5" Type="http://schemas.openxmlformats.org/officeDocument/2006/relationships/vmlDrawing" Target="../drawings/vmlDrawing21.vml"/><Relationship Id="rId4" Type="http://schemas.openxmlformats.org/officeDocument/2006/relationships/slideLayout" Target="../slideLayouts/slideLayout2.xml"/><Relationship Id="rId3" Type="http://schemas.openxmlformats.org/officeDocument/2006/relationships/image" Target="../media/image38.emf"/><Relationship Id="rId2" Type="http://schemas.openxmlformats.org/officeDocument/2006/relationships/oleObject" Target="../embeddings/oleObject36.bin"/><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7" Type="http://schemas.openxmlformats.org/officeDocument/2006/relationships/vmlDrawing" Target="../drawings/vmlDrawing22.vml"/><Relationship Id="rId6" Type="http://schemas.openxmlformats.org/officeDocument/2006/relationships/slideLayout" Target="../slideLayouts/slideLayout2.xml"/><Relationship Id="rId5" Type="http://schemas.openxmlformats.org/officeDocument/2006/relationships/image" Target="../media/image40.emf"/><Relationship Id="rId4" Type="http://schemas.openxmlformats.org/officeDocument/2006/relationships/oleObject" Target="../embeddings/oleObject38.bin"/><Relationship Id="rId3" Type="http://schemas.openxmlformats.org/officeDocument/2006/relationships/image" Target="../media/image39.emf"/><Relationship Id="rId2" Type="http://schemas.openxmlformats.org/officeDocument/2006/relationships/oleObject" Target="../embeddings/oleObject37.bin"/><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23.vml"/><Relationship Id="rId4" Type="http://schemas.openxmlformats.org/officeDocument/2006/relationships/slideLayout" Target="../slideLayouts/slideLayout2.xml"/><Relationship Id="rId3" Type="http://schemas.openxmlformats.org/officeDocument/2006/relationships/image" Target="../media/image41.wmf"/><Relationship Id="rId2" Type="http://schemas.openxmlformats.org/officeDocument/2006/relationships/oleObject" Target="../embeddings/oleObject39.bin"/><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45.emf"/><Relationship Id="rId4" Type="http://schemas.openxmlformats.org/officeDocument/2006/relationships/image" Target="../media/image44.emf"/><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oleObject" Target="../embeddings/oleObject40.bin"/></Relationships>
</file>

<file path=ppt/slides/_rels/slide38.xml.rels><?xml version="1.0" encoding="UTF-8" standalone="yes"?>
<Relationships xmlns="http://schemas.openxmlformats.org/package/2006/relationships"><Relationship Id="rId9" Type="http://schemas.openxmlformats.org/officeDocument/2006/relationships/vmlDrawing" Target="../drawings/vmlDrawing25.vml"/><Relationship Id="rId8" Type="http://schemas.openxmlformats.org/officeDocument/2006/relationships/slideLayout" Target="../slideLayouts/slideLayout2.xml"/><Relationship Id="rId7" Type="http://schemas.openxmlformats.org/officeDocument/2006/relationships/image" Target="../media/image4.png"/><Relationship Id="rId6" Type="http://schemas.openxmlformats.org/officeDocument/2006/relationships/image" Target="../media/image45.emf"/><Relationship Id="rId5" Type="http://schemas.openxmlformats.org/officeDocument/2006/relationships/image" Target="../media/image44.emf"/><Relationship Id="rId4" Type="http://schemas.openxmlformats.org/officeDocument/2006/relationships/image" Target="../media/image43.emf"/><Relationship Id="rId3" Type="http://schemas.openxmlformats.org/officeDocument/2006/relationships/oleObject" Target="../embeddings/oleObject42.bin"/><Relationship Id="rId2" Type="http://schemas.openxmlformats.org/officeDocument/2006/relationships/image" Target="../media/image46.emf"/><Relationship Id="rId1" Type="http://schemas.openxmlformats.org/officeDocument/2006/relationships/oleObject" Target="../embeddings/oleObject41.bin"/></Relationships>
</file>

<file path=ppt/slides/_rels/slide39.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oleObject" Target="../embeddings/oleObject44.bin"/><Relationship Id="rId2" Type="http://schemas.openxmlformats.org/officeDocument/2006/relationships/image" Target="../media/image46.emf"/><Relationship Id="rId1" Type="http://schemas.openxmlformats.org/officeDocument/2006/relationships/oleObject" Target="../embeddings/oleObject43.bin"/></Relationships>
</file>

<file path=ppt/slides/_rels/slide40.xml.rels><?xml version="1.0" encoding="UTF-8" standalone="yes"?>
<Relationships xmlns="http://schemas.openxmlformats.org/package/2006/relationships"><Relationship Id="rId7" Type="http://schemas.openxmlformats.org/officeDocument/2006/relationships/vmlDrawing" Target="../drawings/vmlDrawing27.vml"/><Relationship Id="rId6" Type="http://schemas.openxmlformats.org/officeDocument/2006/relationships/slideLayout" Target="../slideLayouts/slideLayout2.xml"/><Relationship Id="rId5" Type="http://schemas.openxmlformats.org/officeDocument/2006/relationships/image" Target="../media/image48.emf"/><Relationship Id="rId4" Type="http://schemas.openxmlformats.org/officeDocument/2006/relationships/oleObject" Target="../embeddings/oleObject46.bin"/><Relationship Id="rId3" Type="http://schemas.openxmlformats.org/officeDocument/2006/relationships/image" Target="../media/image4.png"/><Relationship Id="rId2" Type="http://schemas.openxmlformats.org/officeDocument/2006/relationships/image" Target="../media/image47.emf"/><Relationship Id="rId1" Type="http://schemas.openxmlformats.org/officeDocument/2006/relationships/oleObject" Target="../embeddings/oleObject45.bin"/></Relationships>
</file>

<file path=ppt/slides/_rels/slide41.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2.xml"/><Relationship Id="rId4" Type="http://schemas.openxmlformats.org/officeDocument/2006/relationships/image" Target="../media/image50.emf"/><Relationship Id="rId3" Type="http://schemas.openxmlformats.org/officeDocument/2006/relationships/oleObject" Target="../embeddings/oleObject47.bin"/><Relationship Id="rId2" Type="http://schemas.openxmlformats.org/officeDocument/2006/relationships/image" Target="../media/image4.png"/><Relationship Id="rId1" Type="http://schemas.openxmlformats.org/officeDocument/2006/relationships/image" Target="../media/image49.png"/></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29.vml"/><Relationship Id="rId4" Type="http://schemas.openxmlformats.org/officeDocument/2006/relationships/slideLayout" Target="../slideLayouts/slideLayout2.xml"/><Relationship Id="rId3" Type="http://schemas.openxmlformats.org/officeDocument/2006/relationships/image" Target="../media/image51.emf"/><Relationship Id="rId2" Type="http://schemas.openxmlformats.org/officeDocument/2006/relationships/oleObject" Target="../embeddings/oleObject48.bin"/><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8" Type="http://schemas.openxmlformats.org/officeDocument/2006/relationships/vmlDrawing" Target="../drawings/vmlDrawing30.vml"/><Relationship Id="rId7" Type="http://schemas.openxmlformats.org/officeDocument/2006/relationships/slideLayout" Target="../slideLayouts/slideLayout1.xml"/><Relationship Id="rId6" Type="http://schemas.openxmlformats.org/officeDocument/2006/relationships/image" Target="../media/image56.wmf"/><Relationship Id="rId5" Type="http://schemas.openxmlformats.org/officeDocument/2006/relationships/oleObject" Target="../embeddings/oleObject50.bin"/><Relationship Id="rId4" Type="http://schemas.openxmlformats.org/officeDocument/2006/relationships/image" Target="../media/image55.wmf"/><Relationship Id="rId3" Type="http://schemas.openxmlformats.org/officeDocument/2006/relationships/oleObject" Target="../embeddings/oleObject49.bin"/><Relationship Id="rId2" Type="http://schemas.openxmlformats.org/officeDocument/2006/relationships/image" Target="../media/image4.png"/><Relationship Id="rId1" Type="http://schemas.openxmlformats.org/officeDocument/2006/relationships/image" Target="../media/image54.png"/></Relationships>
</file>

<file path=ppt/slides/_rels/slide48.xml.rels><?xml version="1.0" encoding="UTF-8" standalone="yes"?>
<Relationships xmlns="http://schemas.openxmlformats.org/package/2006/relationships"><Relationship Id="rId8" Type="http://schemas.openxmlformats.org/officeDocument/2006/relationships/vmlDrawing" Target="../drawings/vmlDrawing31.vml"/><Relationship Id="rId7" Type="http://schemas.openxmlformats.org/officeDocument/2006/relationships/slideLayout" Target="../slideLayouts/slideLayout1.xml"/><Relationship Id="rId6" Type="http://schemas.openxmlformats.org/officeDocument/2006/relationships/image" Target="../media/image59.wmf"/><Relationship Id="rId5" Type="http://schemas.openxmlformats.org/officeDocument/2006/relationships/oleObject" Target="../embeddings/oleObject52.bin"/><Relationship Id="rId4" Type="http://schemas.openxmlformats.org/officeDocument/2006/relationships/image" Target="../media/image58.png"/><Relationship Id="rId3" Type="http://schemas.openxmlformats.org/officeDocument/2006/relationships/image" Target="../media/image57.wmf"/><Relationship Id="rId2" Type="http://schemas.openxmlformats.org/officeDocument/2006/relationships/oleObject" Target="../embeddings/oleObject51.bin"/><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8" Type="http://schemas.openxmlformats.org/officeDocument/2006/relationships/vmlDrawing" Target="../drawings/vmlDrawing32.vml"/><Relationship Id="rId7"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emf"/><Relationship Id="rId4" Type="http://schemas.openxmlformats.org/officeDocument/2006/relationships/oleObject" Target="../embeddings/oleObject54.bin"/><Relationship Id="rId3" Type="http://schemas.openxmlformats.org/officeDocument/2006/relationships/image" Target="../media/image60.wmf"/><Relationship Id="rId2" Type="http://schemas.openxmlformats.org/officeDocument/2006/relationships/oleObject" Target="../embeddings/oleObject53.bin"/><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58.bin"/><Relationship Id="rId8" Type="http://schemas.openxmlformats.org/officeDocument/2006/relationships/image" Target="../media/image66.wmf"/><Relationship Id="rId7" Type="http://schemas.openxmlformats.org/officeDocument/2006/relationships/oleObject" Target="../embeddings/oleObject57.bin"/><Relationship Id="rId6" Type="http://schemas.openxmlformats.org/officeDocument/2006/relationships/image" Target="../media/image65.wmf"/><Relationship Id="rId5" Type="http://schemas.openxmlformats.org/officeDocument/2006/relationships/oleObject" Target="../embeddings/oleObject56.bin"/><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oleObject" Target="../embeddings/oleObject55.bin"/><Relationship Id="rId12" Type="http://schemas.openxmlformats.org/officeDocument/2006/relationships/vmlDrawing" Target="../drawings/vmlDrawing33.vml"/><Relationship Id="rId11" Type="http://schemas.openxmlformats.org/officeDocument/2006/relationships/slideLayout" Target="../slideLayouts/slideLayout2.xml"/><Relationship Id="rId10" Type="http://schemas.openxmlformats.org/officeDocument/2006/relationships/image" Target="../media/image67.wmf"/><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9" Type="http://schemas.openxmlformats.org/officeDocument/2006/relationships/oleObject" Target="../embeddings/oleObject62.bin"/><Relationship Id="rId8" Type="http://schemas.openxmlformats.org/officeDocument/2006/relationships/image" Target="../media/image70.wmf"/><Relationship Id="rId7" Type="http://schemas.openxmlformats.org/officeDocument/2006/relationships/oleObject" Target="../embeddings/oleObject61.bin"/><Relationship Id="rId6" Type="http://schemas.openxmlformats.org/officeDocument/2006/relationships/image" Target="../media/image69.wmf"/><Relationship Id="rId5" Type="http://schemas.openxmlformats.org/officeDocument/2006/relationships/oleObject" Target="../embeddings/oleObject60.bin"/><Relationship Id="rId4" Type="http://schemas.openxmlformats.org/officeDocument/2006/relationships/image" Target="../media/image68.wmf"/><Relationship Id="rId3" Type="http://schemas.openxmlformats.org/officeDocument/2006/relationships/oleObject" Target="../embeddings/oleObject59.bin"/><Relationship Id="rId2" Type="http://schemas.openxmlformats.org/officeDocument/2006/relationships/image" Target="../media/image64.png"/><Relationship Id="rId12" Type="http://schemas.openxmlformats.org/officeDocument/2006/relationships/vmlDrawing" Target="../drawings/vmlDrawing34.vml"/><Relationship Id="rId11" Type="http://schemas.openxmlformats.org/officeDocument/2006/relationships/slideLayout" Target="../slideLayouts/slideLayout2.xml"/><Relationship Id="rId10" Type="http://schemas.openxmlformats.org/officeDocument/2006/relationships/image" Target="../media/image71.wmf"/><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4.png"/><Relationship Id="rId7" Type="http://schemas.openxmlformats.org/officeDocument/2006/relationships/image" Target="../media/image73.wmf"/><Relationship Id="rId6" Type="http://schemas.openxmlformats.org/officeDocument/2006/relationships/oleObject" Target="../embeddings/oleObject65.bin"/><Relationship Id="rId5" Type="http://schemas.openxmlformats.org/officeDocument/2006/relationships/image" Target="../media/image69.wmf"/><Relationship Id="rId4" Type="http://schemas.openxmlformats.org/officeDocument/2006/relationships/oleObject" Target="../embeddings/oleObject64.bin"/><Relationship Id="rId3" Type="http://schemas.openxmlformats.org/officeDocument/2006/relationships/image" Target="../media/image72.wmf"/><Relationship Id="rId2" Type="http://schemas.openxmlformats.org/officeDocument/2006/relationships/oleObject" Target="../embeddings/oleObject63.bin"/><Relationship Id="rId10" Type="http://schemas.openxmlformats.org/officeDocument/2006/relationships/vmlDrawing" Target="../drawings/vmlDrawing35.v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2"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https://timgsa.baidu.com/timg?image&amp;quality=80&amp;size=b9999_10000&amp;sec=1580725348395&amp;di=7d0f97d144a87161ca1f8c https://timgsa.baidu.com/timg?image&amp;quality=80&amp;size=b9999_10000&amp;sec=1580725348395&amp;di=7d0f97d144a87161ca1f8c49f6249c5f&amp;imgtype=0&amp;src=http%3A%2F%2Fpic1.16pic.com%2F00%2F54%2F86%2F16pic_5486472_b.jpg 49f6249c5f&amp;imgtype=0&amp;src=http%3A%2F%2Fpic1.16pic.com%2F00%2F54%2F86%2F16pic_5486472_b.jpg</a:t>
            </a:r>
            <a:endParaRPr lang="zh-CN" altLang="en-US" dirty="0"/>
          </a:p>
        </p:txBody>
      </p:sp>
      <p:sp>
        <p:nvSpPr>
          <p:cNvPr id="23" name="矩形 22"/>
          <p:cNvSpPr/>
          <p:nvPr/>
        </p:nvSpPr>
        <p:spPr>
          <a:xfrm>
            <a:off x="1" y="1008475"/>
            <a:ext cx="9143999" cy="227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2" y="1"/>
            <a:ext cx="9144000" cy="10953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rrowheads="1"/>
          </p:cNvPicPr>
          <p:nvPr/>
        </p:nvPicPr>
        <p:blipFill>
          <a:blip r:embed="rId1" cstate="print"/>
          <a:srcRect/>
          <a:stretch>
            <a:fillRect/>
          </a:stretch>
        </p:blipFill>
        <p:spPr bwMode="auto">
          <a:xfrm>
            <a:off x="150494" y="220418"/>
            <a:ext cx="3261360" cy="671226"/>
          </a:xfrm>
          <a:prstGeom prst="rect">
            <a:avLst/>
          </a:prstGeom>
          <a:noFill/>
          <a:ln w="9525">
            <a:noFill/>
            <a:miter lim="800000"/>
            <a:headEnd/>
            <a:tailEnd/>
          </a:ln>
        </p:spPr>
      </p:pic>
      <p:sp>
        <p:nvSpPr>
          <p:cNvPr id="9" name="文本框 8"/>
          <p:cNvSpPr txBox="1"/>
          <p:nvPr/>
        </p:nvSpPr>
        <p:spPr>
          <a:xfrm>
            <a:off x="5829298" y="107103"/>
            <a:ext cx="307086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电子与通信工程系</a:t>
            </a:r>
            <a:endParaRPr lang="zh-CN" altLang="en-US" sz="2000" dirty="0">
              <a:solidFill>
                <a:srgbClr val="002060"/>
              </a:solidFill>
            </a:endParaRPr>
          </a:p>
        </p:txBody>
      </p:sp>
      <p:pic>
        <p:nvPicPr>
          <p:cNvPr id="14" name="Picture 4" descr="http://img.mp.itc.cn/upload/20170309/9f3693de49bf44d791994c44caa6c12c_th.jpeg"/>
          <p:cNvPicPr>
            <a:picLocks noChangeAspect="1" noChangeArrowheads="1"/>
          </p:cNvPicPr>
          <p:nvPr/>
        </p:nvPicPr>
        <p:blipFill>
          <a:blip r:embed="rId2"/>
          <a:srcRect/>
          <a:stretch>
            <a:fillRect/>
          </a:stretch>
        </p:blipFill>
        <p:spPr bwMode="auto">
          <a:xfrm>
            <a:off x="1958495" y="2053085"/>
            <a:ext cx="5356703" cy="2743606"/>
          </a:xfrm>
          <a:prstGeom prst="ellipse">
            <a:avLst/>
          </a:prstGeom>
          <a:ln>
            <a:noFill/>
          </a:ln>
          <a:effectLst>
            <a:softEdge rad="112500"/>
          </a:effectLst>
        </p:spPr>
      </p:pic>
      <p:sp>
        <p:nvSpPr>
          <p:cNvPr id="15" name="文本框 6"/>
          <p:cNvSpPr txBox="1"/>
          <p:nvPr/>
        </p:nvSpPr>
        <p:spPr>
          <a:xfrm>
            <a:off x="1387450" y="1357494"/>
            <a:ext cx="6498792" cy="746358"/>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
        <p:nvSpPr>
          <p:cNvPr id="16" name="文本框 8"/>
          <p:cNvSpPr txBox="1"/>
          <p:nvPr/>
        </p:nvSpPr>
        <p:spPr>
          <a:xfrm>
            <a:off x="3080917" y="4547959"/>
            <a:ext cx="3390900" cy="706755"/>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主讲人：赵伟</a:t>
            </a:r>
            <a:endParaRPr lang="zh-CN" altLang="en-US" sz="2000"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927861"/>
            <a:ext cx="6713220" cy="1865100"/>
            <a:chOff x="1101090" y="1824567"/>
            <a:chExt cx="6713220" cy="2072333"/>
          </a:xfrm>
        </p:grpSpPr>
        <p:grpSp>
          <p:nvGrpSpPr>
            <p:cNvPr id="18" name="组合 17"/>
            <p:cNvGrpSpPr/>
            <p:nvPr/>
          </p:nvGrpSpPr>
          <p:grpSpPr>
            <a:xfrm>
              <a:off x="1101090" y="1824567"/>
              <a:ext cx="1371600" cy="760000"/>
              <a:chOff x="910590" y="1565910"/>
              <a:chExt cx="1371600" cy="684000"/>
            </a:xfrm>
          </p:grpSpPr>
          <p:grpSp>
            <p:nvGrpSpPr>
              <p:cNvPr id="28" name="组合 27"/>
              <p:cNvGrpSpPr/>
              <p:nvPr/>
            </p:nvGrpSpPr>
            <p:grpSpPr>
              <a:xfrm>
                <a:off x="910590" y="1699260"/>
                <a:ext cx="1371600" cy="99060"/>
                <a:chOff x="910590" y="1699260"/>
                <a:chExt cx="1371600" cy="99060"/>
              </a:xfrm>
            </p:grpSpPr>
            <p:cxnSp>
              <p:nvCxnSpPr>
                <p:cNvPr id="33" name="直接连接符 32"/>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4" name="直接连接符 33"/>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0" name="组合 29"/>
              <p:cNvGrpSpPr/>
              <p:nvPr/>
            </p:nvGrpSpPr>
            <p:grpSpPr>
              <a:xfrm rot="5400000">
                <a:off x="728610" y="1866000"/>
                <a:ext cx="684000" cy="8382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19" name="组合 18"/>
            <p:cNvGrpSpPr/>
            <p:nvPr/>
          </p:nvGrpSpPr>
          <p:grpSpPr>
            <a:xfrm rot="10800000">
              <a:off x="6442710" y="3136900"/>
              <a:ext cx="1371600" cy="760000"/>
              <a:chOff x="910590" y="1565910"/>
              <a:chExt cx="1371600" cy="684000"/>
            </a:xfrm>
          </p:grpSpPr>
          <p:grpSp>
            <p:nvGrpSpPr>
              <p:cNvPr id="21" name="组合 35"/>
              <p:cNvGrpSpPr/>
              <p:nvPr/>
            </p:nvGrpSpPr>
            <p:grpSpPr>
              <a:xfrm>
                <a:off x="910590" y="1699260"/>
                <a:ext cx="1371600" cy="99060"/>
                <a:chOff x="910590" y="1699260"/>
                <a:chExt cx="1371600" cy="99060"/>
              </a:xfrm>
            </p:grpSpPr>
            <p:cxnSp>
              <p:nvCxnSpPr>
                <p:cNvPr id="26" name="直接连接符 2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2" name="组合 36"/>
              <p:cNvGrpSpPr/>
              <p:nvPr/>
            </p:nvGrpSpPr>
            <p:grpSpPr>
              <a:xfrm rot="5400000">
                <a:off x="728610" y="1866000"/>
                <a:ext cx="684000" cy="83820"/>
                <a:chOff x="910590" y="1699260"/>
                <a:chExt cx="1371600" cy="99060"/>
              </a:xfrm>
            </p:grpSpPr>
            <p:cxnSp>
              <p:nvCxnSpPr>
                <p:cNvPr id="23" name="直接连接符 22"/>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4" name="直接连接符 23"/>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20" name="文本框 6"/>
            <p:cNvSpPr txBox="1"/>
            <p:nvPr/>
          </p:nvSpPr>
          <p:spPr>
            <a:xfrm>
              <a:off x="1113588" y="2331362"/>
              <a:ext cx="6498792" cy="957526"/>
            </a:xfrm>
            <a:prstGeom prst="rect">
              <a:avLst/>
            </a:prstGeom>
            <a:noFill/>
          </p:spPr>
          <p:txBody>
            <a:bodyPr wrap="square" rtlCol="0">
              <a:spAutoFit/>
            </a:bodyPr>
            <a:lstStyle/>
            <a:p>
              <a:pPr algn="ctr">
                <a:lnSpc>
                  <a:spcPct val="125000"/>
                </a:lnSpc>
              </a:pP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锁存器和触发器</a:t>
              </a:r>
              <a:endPar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400">
        <p14:door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79213" y="985018"/>
            <a:ext cx="8631294" cy="4000798"/>
            <a:chOff x="256353" y="1058938"/>
            <a:chExt cx="8631294" cy="3517295"/>
          </a:xfrm>
        </p:grpSpPr>
        <p:sp>
          <p:nvSpPr>
            <p:cNvPr id="7" name="矩形 6"/>
            <p:cNvSpPr/>
            <p:nvPr/>
          </p:nvSpPr>
          <p:spPr>
            <a:xfrm>
              <a:off x="256353" y="1426524"/>
              <a:ext cx="8631294" cy="3149709"/>
            </a:xfrm>
            <a:prstGeom prst="rect">
              <a:avLst/>
            </a:prstGeom>
            <a:solidFill>
              <a:sysClr val="window" lastClr="FFFFFF">
                <a:alpha val="0"/>
              </a:sysClr>
            </a:solidFill>
            <a:ln w="25400" cap="flat" cmpd="sng" algn="ctr">
              <a:solidFill>
                <a:srgbClr val="2090EC"/>
              </a:solidFill>
              <a:prstDash val="solid"/>
            </a:ln>
            <a:effectLst/>
          </p:spPr>
          <p:txBody>
            <a:bodyPr lIns="0" tIns="72000" rIns="0" bIns="0" numCol="3" spcCol="180000" anchor="ctr"/>
            <a:lstStyle/>
            <a:p>
              <a:pPr marL="357505" indent="-268605">
                <a:spcBef>
                  <a:spcPts val="600"/>
                </a:spcBef>
                <a:buSzPct val="100000"/>
                <a:buFont typeface="Wingdings" panose="05000000000000000000" pitchFamily="2" charset="2"/>
                <a:buChar char="n"/>
              </a:pPr>
              <a:endParaRPr sz="1400" kern="100" dirty="0">
                <a:solidFill>
                  <a:srgbClr val="002060"/>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68913" y="1604070"/>
              <a:ext cx="8006174" cy="2678754"/>
            </a:xfrm>
            <a:prstGeom prst="rect">
              <a:avLst/>
            </a:prstGeom>
            <a:noFill/>
          </p:spPr>
          <p:txBody>
            <a:bodyPr wrap="square">
              <a:spAutoFit/>
            </a:bodyPr>
            <a:lstStyle/>
            <a:p>
              <a:pPr marL="285750" lvl="0" indent="-285750">
                <a:lnSpc>
                  <a:spcPct val="200000"/>
                </a:lnSpc>
                <a:buFont typeface="Wingdings" panose="05000000000000000000" pitchFamily="2" charset="2"/>
                <a:buChar char="Ø"/>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双稳态存储单元电路；</a:t>
              </a: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lvl="0" indent="-285750">
                <a:lnSpc>
                  <a:spcPct val="200000"/>
                </a:lnSpc>
                <a:buFont typeface="Wingdings" panose="05000000000000000000" pitchFamily="2" charset="2"/>
                <a:buChar char="Ø"/>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基本</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SR</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锁存器的电路结构、工作原理和逻辑功能；</a:t>
              </a: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lvl="0" indent="-285750">
                <a:lnSpc>
                  <a:spcPct val="200000"/>
                </a:lnSpc>
                <a:buFont typeface="Wingdings" panose="05000000000000000000" pitchFamily="2" charset="2"/>
                <a:buChar char="Ø"/>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门控</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SR</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锁存器、</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D</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锁存器的电路结构、工作原理及逻辑功能，锁存器电平触发的特点；</a:t>
              </a: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lvl="0" indent="-285750">
                <a:lnSpc>
                  <a:spcPct val="200000"/>
                </a:lnSpc>
                <a:buFont typeface="Wingdings" panose="05000000000000000000" pitchFamily="2" charset="2"/>
                <a:buChar char="Ø"/>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主从</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SR</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触发器、维持</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阻塞</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D</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触发、传输延迟</a:t>
              </a:r>
              <a:r>
                <a:rPr lang="en-US" altLang="zh-CN" sz="1600" dirty="0">
                  <a:latin typeface="Times New Roman" panose="02020603050405020304" pitchFamily="18" charset="0"/>
                  <a:ea typeface="楷体" panose="02010609060101010101" pitchFamily="49" charset="-122"/>
                  <a:cs typeface="Times New Roman" panose="02020603050405020304" pitchFamily="18" charset="0"/>
                </a:rPr>
                <a:t>JK</a:t>
              </a: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触发器的电路结构、工作原理及逻辑功能，触发器边沿触发的特点；</a:t>
              </a: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a:p>
              <a:pPr marL="285750" lvl="0" indent="-285750">
                <a:lnSpc>
                  <a:spcPct val="200000"/>
                </a:lnSpc>
                <a:buFont typeface="Wingdings" panose="05000000000000000000" pitchFamily="2" charset="2"/>
                <a:buChar char="Ø"/>
              </a:pPr>
              <a:r>
                <a:rPr lang="zh-CN" altLang="zh-CN" sz="1600" dirty="0">
                  <a:latin typeface="Times New Roman" panose="02020603050405020304" pitchFamily="18" charset="0"/>
                  <a:ea typeface="楷体" panose="02010609060101010101" pitchFamily="49" charset="-122"/>
                  <a:cs typeface="Times New Roman" panose="02020603050405020304" pitchFamily="18" charset="0"/>
                </a:rPr>
                <a:t>触发器的逻辑功能分类，触发器逻辑功能的表示方法，不同触发器间的功能转换。</a:t>
              </a:r>
              <a:endParaRPr lang="zh-CN" altLang="zh-CN" sz="16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9" name="平行四边形 8"/>
            <p:cNvSpPr/>
            <p:nvPr/>
          </p:nvSpPr>
          <p:spPr>
            <a:xfrm>
              <a:off x="256353" y="1058938"/>
              <a:ext cx="7344511" cy="374964"/>
            </a:xfrm>
            <a:prstGeom prst="parallelogram">
              <a:avLst>
                <a:gd name="adj" fmla="val 64377"/>
              </a:avLst>
            </a:prstGeom>
            <a:solidFill>
              <a:srgbClr val="005DA2"/>
            </a:solidFill>
            <a:ln w="15875" cap="flat" cmpd="sng" algn="ctr">
              <a:solidFill>
                <a:srgbClr val="005DA2"/>
              </a:solidFill>
              <a:prstDash val="solid"/>
            </a:ln>
            <a:effectLst>
              <a:outerShdw blurRad="50800" dist="38100" dir="2700000" algn="tl" rotWithShape="0">
                <a:prstClr val="black">
                  <a:alpha val="40000"/>
                </a:prstClr>
              </a:outerShdw>
            </a:effectLst>
          </p:spPr>
          <p:txBody>
            <a:bodyPr lIns="0" tIns="0" rIns="0" bIns="0" rtlCol="0" anchor="ctr"/>
            <a:lstStyle/>
            <a:p>
              <a:pPr defTabSz="914400">
                <a:defRPr/>
              </a:pPr>
              <a:r>
                <a:rPr lang="zh-CN" altLang="en-US" sz="20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内 容 提 要</a:t>
              </a:r>
              <a:endParaRPr lang="zh-CN" altLang="en-US" sz="2000" b="1" kern="0" dirty="0">
                <a:solidFill>
                  <a:schemeClr val="bg1"/>
                </a:solidFill>
                <a:latin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393722" y="215741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锁存器与触发器</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2" name="矩形 1"/>
          <p:cNvSpPr/>
          <p:nvPr/>
        </p:nvSpPr>
        <p:spPr>
          <a:xfrm>
            <a:off x="2286198" y="2864588"/>
            <a:ext cx="4365123" cy="461665"/>
          </a:xfrm>
          <a:prstGeom prst="rect">
            <a:avLst/>
          </a:prstGeom>
        </p:spPr>
        <p:txBody>
          <a:bodyPr wrap="square">
            <a:spAutoFit/>
          </a:bodyPr>
          <a:lstStyle/>
          <a:p>
            <a:pPr algn="ctr">
              <a:spcBef>
                <a:spcPts val="600"/>
              </a:spcBef>
            </a:pPr>
            <a:r>
              <a:rPr lang="en-US" altLang="zh-CN"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5.1 </a:t>
            </a:r>
            <a:r>
              <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双稳态存储单元电路</a:t>
            </a:r>
            <a:endParaRPr lang="zh-CN" altLang="en-US" sz="24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1323758" y="1825388"/>
            <a:ext cx="1448356" cy="540195"/>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组合逻辑电路</a:t>
            </a:r>
            <a:endParaRPr lang="zh-CN" altLang="en-US" dirty="0">
              <a:solidFill>
                <a:srgbClr val="7030A0"/>
              </a:solidFill>
              <a:latin typeface="黑体" panose="02010609060101010101" pitchFamily="49" charset="-122"/>
              <a:ea typeface="黑体" panose="02010609060101010101" pitchFamily="49" charset="-122"/>
            </a:endParaRPr>
          </a:p>
        </p:txBody>
      </p:sp>
      <p:grpSp>
        <p:nvGrpSpPr>
          <p:cNvPr id="3" name="组合 2"/>
          <p:cNvGrpSpPr/>
          <p:nvPr/>
        </p:nvGrpSpPr>
        <p:grpSpPr>
          <a:xfrm>
            <a:off x="5943595" y="2359237"/>
            <a:ext cx="1406297" cy="1128719"/>
            <a:chOff x="5943595" y="2359237"/>
            <a:chExt cx="1406297" cy="1128719"/>
          </a:xfrm>
        </p:grpSpPr>
        <p:sp>
          <p:nvSpPr>
            <p:cNvPr id="30" name="圆角矩形 3"/>
            <p:cNvSpPr/>
            <p:nvPr/>
          </p:nvSpPr>
          <p:spPr>
            <a:xfrm>
              <a:off x="5943595" y="2965365"/>
              <a:ext cx="1406297" cy="522591"/>
            </a:xfrm>
            <a:prstGeom prst="roundRect">
              <a:avLst/>
            </a:prstGeom>
            <a:solidFill>
              <a:srgbClr val="66FF66"/>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存储电路</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31" name="下箭头 30"/>
            <p:cNvSpPr/>
            <p:nvPr/>
          </p:nvSpPr>
          <p:spPr>
            <a:xfrm>
              <a:off x="6323252" y="2359237"/>
              <a:ext cx="646981" cy="6124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2812502" y="1691144"/>
            <a:ext cx="3033555" cy="808683"/>
            <a:chOff x="2812502" y="1691144"/>
            <a:chExt cx="3033555" cy="808683"/>
          </a:xfrm>
        </p:grpSpPr>
        <p:sp>
          <p:nvSpPr>
            <p:cNvPr id="28" name="圆角矩形 27"/>
            <p:cNvSpPr/>
            <p:nvPr/>
          </p:nvSpPr>
          <p:spPr>
            <a:xfrm>
              <a:off x="3465365" y="1691144"/>
              <a:ext cx="1727829" cy="808683"/>
            </a:xfrm>
            <a:prstGeom prst="roundRect">
              <a:avLst>
                <a:gd name="adj" fmla="val 8529"/>
              </a:avLst>
            </a:prstGeom>
            <a:solidFill>
              <a:schemeClr val="bg1"/>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数字电路</a:t>
              </a:r>
              <a:endParaRPr lang="zh-CN" altLang="en-US" sz="200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endParaRPr>
            </a:p>
          </p:txBody>
        </p:sp>
        <p:sp>
          <p:nvSpPr>
            <p:cNvPr id="33" name="下箭头 32"/>
            <p:cNvSpPr/>
            <p:nvPr/>
          </p:nvSpPr>
          <p:spPr>
            <a:xfrm rot="16200000">
              <a:off x="5216329" y="1789248"/>
              <a:ext cx="646981" cy="6124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下箭头 33"/>
            <p:cNvSpPr/>
            <p:nvPr/>
          </p:nvSpPr>
          <p:spPr>
            <a:xfrm rot="5400000">
              <a:off x="2795249" y="1789248"/>
              <a:ext cx="646981" cy="61247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圆角矩形 15"/>
          <p:cNvSpPr/>
          <p:nvPr/>
        </p:nvSpPr>
        <p:spPr>
          <a:xfrm>
            <a:off x="5886445" y="1825388"/>
            <a:ext cx="1448356" cy="540195"/>
          </a:xfrm>
          <a:prstGeom prst="roundRect">
            <a:avLst/>
          </a:prstGeom>
          <a:solidFill>
            <a:srgbClr val="FFC000"/>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时序逻辑电路</a:t>
            </a:r>
            <a:endParaRPr lang="zh-CN" altLang="en-US" dirty="0">
              <a:solidFill>
                <a:srgbClr val="7030A0"/>
              </a:solidFill>
              <a:latin typeface="黑体" panose="02010609060101010101" pitchFamily="49" charset="-122"/>
              <a:ea typeface="黑体" panose="02010609060101010101" pitchFamily="49" charset="-122"/>
            </a:endParaRPr>
          </a:p>
        </p:txBody>
      </p:sp>
      <p:grpSp>
        <p:nvGrpSpPr>
          <p:cNvPr id="4" name="组合 3"/>
          <p:cNvGrpSpPr/>
          <p:nvPr/>
        </p:nvGrpSpPr>
        <p:grpSpPr>
          <a:xfrm>
            <a:off x="3424977" y="3511735"/>
            <a:ext cx="3344237" cy="756127"/>
            <a:chOff x="3424977" y="3511735"/>
            <a:chExt cx="3344237" cy="756127"/>
          </a:xfrm>
        </p:grpSpPr>
        <p:sp>
          <p:nvSpPr>
            <p:cNvPr id="15" name="圆角右箭头 14"/>
            <p:cNvSpPr/>
            <p:nvPr/>
          </p:nvSpPr>
          <p:spPr>
            <a:xfrm flipH="1" flipV="1">
              <a:off x="5778614" y="3511735"/>
              <a:ext cx="990600" cy="638176"/>
            </a:xfrm>
            <a:prstGeom prst="bentArrow">
              <a:avLst>
                <a:gd name="adj1" fmla="val 25810"/>
                <a:gd name="adj2" fmla="val 32627"/>
                <a:gd name="adj3" fmla="val 23305"/>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圆角矩形 16"/>
            <p:cNvSpPr/>
            <p:nvPr/>
          </p:nvSpPr>
          <p:spPr>
            <a:xfrm>
              <a:off x="3424977" y="3575947"/>
              <a:ext cx="2293929" cy="691915"/>
            </a:xfrm>
            <a:prstGeom prst="roundRect">
              <a:avLst/>
            </a:prstGeom>
            <a:solidFill>
              <a:srgbClr val="66FF66"/>
            </a:solidFill>
            <a:ln w="19050">
              <a:solidFill>
                <a:schemeClr val="tx1">
                  <a:lumMod val="85000"/>
                  <a:lumOff val="15000"/>
                </a:schemeClr>
              </a:solidFill>
            </a:ln>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锁存器、触发器</a:t>
              </a:r>
              <a:endParaRPr lang="en-US" altLang="zh-CN" dirty="0">
                <a:solidFill>
                  <a:srgbClr val="7030A0"/>
                </a:solidFill>
                <a:latin typeface="黑体" panose="02010609060101010101" pitchFamily="49" charset="-122"/>
                <a:ea typeface="黑体" panose="02010609060101010101" pitchFamily="49" charset="-122"/>
              </a:endParaRPr>
            </a:p>
            <a:p>
              <a:pPr algn="ctr"/>
              <a:r>
                <a:rPr lang="zh-CN" altLang="en-US" dirty="0">
                  <a:solidFill>
                    <a:srgbClr val="7030A0"/>
                  </a:solidFill>
                  <a:latin typeface="黑体" panose="02010609060101010101" pitchFamily="49" charset="-122"/>
                  <a:ea typeface="黑体" panose="02010609060101010101" pitchFamily="49" charset="-122"/>
                </a:rPr>
                <a:t>（</a:t>
              </a: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latch</a:t>
              </a:r>
              <a:r>
                <a:rPr lang="zh-CN" altLang="en-US"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flip-flop</a:t>
              </a:r>
              <a:r>
                <a:rPr lang="zh-CN" altLang="en-US" dirty="0">
                  <a:solidFill>
                    <a:srgbClr val="7030A0"/>
                  </a:solidFill>
                  <a:latin typeface="黑体" panose="02010609060101010101" pitchFamily="49" charset="-122"/>
                  <a:ea typeface="黑体" panose="02010609060101010101" pitchFamily="49" charset="-122"/>
                </a:rPr>
                <a:t>）</a:t>
              </a:r>
              <a:endParaRPr lang="zh-CN" altLang="en-US" dirty="0">
                <a:solidFill>
                  <a:srgbClr val="7030A0"/>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childTnLst>
                                </p:cTn>
                              </p:par>
                            </p:childTnLst>
                          </p:cTn>
                        </p:par>
                        <p:par>
                          <p:cTn id="9" fill="hold">
                            <p:stCondLst>
                              <p:cond delay="1000"/>
                            </p:stCondLst>
                            <p:childTnLst>
                              <p:par>
                                <p:cTn id="10" presetID="12" presetClass="entr" presetSubtype="2" fill="hold" grpId="0"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1000"/>
                                        <p:tgtEl>
                                          <p:spTgt spid="29"/>
                                        </p:tgtEl>
                                        <p:attrNameLst>
                                          <p:attrName>ppt_x</p:attrName>
                                        </p:attrNameLst>
                                      </p:cBhvr>
                                      <p:tavLst>
                                        <p:tav tm="0">
                                          <p:val>
                                            <p:strVal val="#ppt_x+#ppt_w*1.125000"/>
                                          </p:val>
                                        </p:tav>
                                        <p:tav tm="100000">
                                          <p:val>
                                            <p:strVal val="#ppt_x"/>
                                          </p:val>
                                        </p:tav>
                                      </p:tavLst>
                                    </p:anim>
                                    <p:animEffect transition="in" filter="wipe(left)">
                                      <p:cBhvr>
                                        <p:cTn id="13" dur="1000"/>
                                        <p:tgtEl>
                                          <p:spTgt spid="29"/>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1000"/>
                                        <p:tgtEl>
                                          <p:spTgt spid="16"/>
                                        </p:tgtEl>
                                        <p:attrNameLst>
                                          <p:attrName>ppt_x</p:attrName>
                                        </p:attrNameLst>
                                      </p:cBhvr>
                                      <p:tavLst>
                                        <p:tav tm="0">
                                          <p:val>
                                            <p:strVal val="#ppt_x-#ppt_w*1.125000"/>
                                          </p:val>
                                        </p:tav>
                                        <p:tav tm="100000">
                                          <p:val>
                                            <p:strVal val="#ppt_x"/>
                                          </p:val>
                                        </p:tav>
                                      </p:tavLst>
                                    </p:anim>
                                    <p:animEffect transition="in" filter="wipe(right)">
                                      <p:cBhvr>
                                        <p:cTn id="17" dur="10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7" presetClass="entr" presetSubtype="1"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ppt_h/2"/>
                                          </p:val>
                                        </p:tav>
                                        <p:tav tm="100000">
                                          <p:val>
                                            <p:strVal val="#ppt_y"/>
                                          </p:val>
                                        </p:tav>
                                      </p:tavLst>
                                    </p:anim>
                                    <p:anim calcmode="lin" valueType="num">
                                      <p:cBhvr>
                                        <p:cTn id="24" dur="1000" fill="hold"/>
                                        <p:tgtEl>
                                          <p:spTgt spid="3"/>
                                        </p:tgtEl>
                                        <p:attrNameLst>
                                          <p:attrName>ppt_w</p:attrName>
                                        </p:attrNameLst>
                                      </p:cBhvr>
                                      <p:tavLst>
                                        <p:tav tm="0">
                                          <p:val>
                                            <p:strVal val="#ppt_w"/>
                                          </p:val>
                                        </p:tav>
                                        <p:tav tm="100000">
                                          <p:val>
                                            <p:strVal val="#ppt_w"/>
                                          </p:val>
                                        </p:tav>
                                      </p:tavLst>
                                    </p:anim>
                                    <p:anim calcmode="lin" valueType="num">
                                      <p:cBhvr>
                                        <p:cTn id="25" dur="10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right)">
                                      <p:cBhvr>
                                        <p:cTn id="3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392432" y="778617"/>
            <a:ext cx="2934607" cy="420971"/>
            <a:chOff x="670560" y="892917"/>
            <a:chExt cx="2934607" cy="420971"/>
          </a:xfrm>
        </p:grpSpPr>
        <p:sp>
          <p:nvSpPr>
            <p:cNvPr id="71" name="矩形 70"/>
            <p:cNvSpPr/>
            <p:nvPr/>
          </p:nvSpPr>
          <p:spPr>
            <a:xfrm>
              <a:off x="1035233" y="913778"/>
              <a:ext cx="2569934"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双稳态存储单元电路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8" name="Rectangle 20"/>
          <p:cNvSpPr>
            <a:spLocks noChangeArrowheads="1"/>
          </p:cNvSpPr>
          <p:nvPr/>
        </p:nvSpPr>
        <p:spPr bwMode="auto">
          <a:xfrm>
            <a:off x="417195" y="1301115"/>
            <a:ext cx="2216150" cy="427038"/>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、电路结构 </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51" name="组合 50"/>
          <p:cNvGrpSpPr/>
          <p:nvPr/>
        </p:nvGrpSpPr>
        <p:grpSpPr>
          <a:xfrm>
            <a:off x="3210560" y="1927860"/>
            <a:ext cx="1958340" cy="1927860"/>
            <a:chOff x="937260" y="1851660"/>
            <a:chExt cx="1958340" cy="1927860"/>
          </a:xfrm>
        </p:grpSpPr>
        <p:sp>
          <p:nvSpPr>
            <p:cNvPr id="46" name="剪去对角的矩形 45"/>
            <p:cNvSpPr/>
            <p:nvPr/>
          </p:nvSpPr>
          <p:spPr>
            <a:xfrm>
              <a:off x="937260" y="1851660"/>
              <a:ext cx="1958340" cy="1927860"/>
            </a:xfrm>
            <a:prstGeom prst="snip2DiagRect">
              <a:avLst>
                <a:gd name="adj1" fmla="val 0"/>
                <a:gd name="adj2" fmla="val 11924"/>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23" name="Picture 3"/>
            <p:cNvPicPr>
              <a:picLocks noChangeAspect="1" noChangeArrowheads="1"/>
            </p:cNvPicPr>
            <p:nvPr/>
          </p:nvPicPr>
          <p:blipFill>
            <a:blip r:embed="rId2" cstate="print"/>
            <a:srcRect/>
            <a:stretch>
              <a:fillRect/>
            </a:stretch>
          </p:blipFill>
          <p:spPr bwMode="auto">
            <a:xfrm>
              <a:off x="1287780" y="1950719"/>
              <a:ext cx="1283949" cy="1708785"/>
            </a:xfrm>
            <a:prstGeom prst="rect">
              <a:avLst/>
            </a:prstGeom>
            <a:noFill/>
            <a:ln w="9525">
              <a:noFill/>
              <a:miter lim="800000"/>
              <a:headEnd/>
              <a:tailEnd/>
            </a:ln>
            <a:effectLst/>
          </p:spPr>
        </p:pic>
      </p:grpSp>
      <p:grpSp>
        <p:nvGrpSpPr>
          <p:cNvPr id="77" name="组合 76"/>
          <p:cNvGrpSpPr/>
          <p:nvPr/>
        </p:nvGrpSpPr>
        <p:grpSpPr>
          <a:xfrm>
            <a:off x="3616326" y="2386219"/>
            <a:ext cx="1039220" cy="1107074"/>
            <a:chOff x="1343026" y="2310019"/>
            <a:chExt cx="1039220" cy="1107074"/>
          </a:xfrm>
        </p:grpSpPr>
        <p:grpSp>
          <p:nvGrpSpPr>
            <p:cNvPr id="64" name="组合 63"/>
            <p:cNvGrpSpPr/>
            <p:nvPr/>
          </p:nvGrpSpPr>
          <p:grpSpPr>
            <a:xfrm>
              <a:off x="1343026" y="2310019"/>
              <a:ext cx="1036838" cy="1064213"/>
              <a:chOff x="1343026" y="2310019"/>
              <a:chExt cx="1036838" cy="1064213"/>
            </a:xfrm>
          </p:grpSpPr>
          <p:cxnSp>
            <p:nvCxnSpPr>
              <p:cNvPr id="53" name="直接连接符 52"/>
              <p:cNvCxnSpPr/>
              <p:nvPr/>
            </p:nvCxnSpPr>
            <p:spPr>
              <a:xfrm flipV="1">
                <a:off x="1947864" y="2326482"/>
                <a:ext cx="43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1343026" y="3374232"/>
                <a:ext cx="25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rot="5400000" flipV="1">
                <a:off x="1213108" y="3216019"/>
                <a:ext cx="288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rot="5400000" flipV="1">
                <a:off x="2065596" y="2454019"/>
                <a:ext cx="288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rot="10800000" flipV="1">
                <a:off x="1345406" y="2586243"/>
                <a:ext cx="864192" cy="497475"/>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flipV="1">
              <a:off x="1345408" y="2312399"/>
              <a:ext cx="1036838" cy="1104694"/>
              <a:chOff x="1343026" y="2310019"/>
              <a:chExt cx="1036838" cy="1064213"/>
            </a:xfrm>
          </p:grpSpPr>
          <p:cxnSp>
            <p:nvCxnSpPr>
              <p:cNvPr id="66" name="直接连接符 65"/>
              <p:cNvCxnSpPr/>
              <p:nvPr/>
            </p:nvCxnSpPr>
            <p:spPr>
              <a:xfrm flipV="1">
                <a:off x="1947864" y="2326482"/>
                <a:ext cx="43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V="1">
                <a:off x="1343026" y="3374232"/>
                <a:ext cx="25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rot="5400000" flipV="1">
                <a:off x="1213108" y="3216019"/>
                <a:ext cx="28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rot="5400000" flipV="1">
                <a:off x="2065596" y="2454019"/>
                <a:ext cx="28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rot="10800000" flipV="1">
                <a:off x="1350168" y="2586242"/>
                <a:ext cx="859430" cy="47849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grpSp>
        <p:nvGrpSpPr>
          <p:cNvPr id="79" name="组合 78"/>
          <p:cNvGrpSpPr/>
          <p:nvPr/>
        </p:nvGrpSpPr>
        <p:grpSpPr>
          <a:xfrm flipH="1">
            <a:off x="3162299" y="2788447"/>
            <a:ext cx="476249" cy="293694"/>
            <a:chOff x="2364515" y="2623347"/>
            <a:chExt cx="524735" cy="293694"/>
          </a:xfrm>
        </p:grpSpPr>
        <p:sp>
          <p:nvSpPr>
            <p:cNvPr id="45" name="AutoShape 24"/>
            <p:cNvSpPr>
              <a:spLocks noChangeArrowheads="1"/>
            </p:cNvSpPr>
            <p:nvPr/>
          </p:nvSpPr>
          <p:spPr bwMode="auto">
            <a:xfrm>
              <a:off x="2364515" y="2623347"/>
              <a:ext cx="524735" cy="293694"/>
            </a:xfrm>
            <a:prstGeom prst="wedgeRoundRectCallout">
              <a:avLst>
                <a:gd name="adj1" fmla="val -63668"/>
                <a:gd name="adj2" fmla="val 35000"/>
                <a:gd name="adj3" fmla="val 16667"/>
              </a:avLst>
            </a:prstGeom>
            <a:solidFill>
              <a:srgbClr val="FFFF66"/>
            </a:solidFill>
            <a:ln w="12700">
              <a:solidFill>
                <a:srgbClr val="0000CC"/>
              </a:solidFill>
              <a:miter lim="800000"/>
            </a:ln>
          </p:spPr>
          <p:txBody>
            <a:bodyPr wrap="none" anchor="ctr"/>
            <a:lstStyle/>
            <a:p>
              <a:r>
                <a:rPr kumimoji="1" lang="zh-CN" altLang="en-US" sz="1400" dirty="0">
                  <a:solidFill>
                    <a:srgbClr val="000000"/>
                  </a:solidFill>
                  <a:latin typeface="微软雅黑" panose="020B0503020204020204" pitchFamily="34" charset="-122"/>
                  <a:ea typeface="微软雅黑" panose="020B0503020204020204" pitchFamily="34" charset="-122"/>
                </a:rPr>
                <a:t>反馈</a:t>
              </a:r>
              <a:endParaRPr kumimoji="1"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78" name="AutoShape 24"/>
            <p:cNvSpPr>
              <a:spLocks noChangeArrowheads="1"/>
            </p:cNvSpPr>
            <p:nvPr/>
          </p:nvSpPr>
          <p:spPr bwMode="auto">
            <a:xfrm>
              <a:off x="2364515" y="2623347"/>
              <a:ext cx="524735" cy="293694"/>
            </a:xfrm>
            <a:prstGeom prst="wedgeRoundRectCallout">
              <a:avLst>
                <a:gd name="adj1" fmla="val -66088"/>
                <a:gd name="adj2" fmla="val -36349"/>
                <a:gd name="adj3" fmla="val 16667"/>
              </a:avLst>
            </a:prstGeom>
            <a:solidFill>
              <a:srgbClr val="FFFF66"/>
            </a:solidFill>
            <a:ln w="12700">
              <a:solidFill>
                <a:srgbClr val="0000CC"/>
              </a:solidFill>
              <a:miter lim="800000"/>
            </a:ln>
          </p:spPr>
          <p:txBody>
            <a:bodyPr wrap="none" anchor="ctr"/>
            <a:lstStyle/>
            <a:p>
              <a:r>
                <a:rPr kumimoji="1" lang="zh-CN" altLang="en-US" sz="1200" dirty="0">
                  <a:solidFill>
                    <a:srgbClr val="000000"/>
                  </a:solidFill>
                  <a:latin typeface="微软雅黑" panose="020B0503020204020204" pitchFamily="34" charset="-122"/>
                  <a:ea typeface="微软雅黑" panose="020B0503020204020204" pitchFamily="34" charset="-122"/>
                </a:rPr>
                <a:t>反馈</a:t>
              </a:r>
              <a:endParaRPr kumimoji="1" lang="zh-CN" altLang="en-US" sz="1200" dirty="0">
                <a:solidFill>
                  <a:srgbClr val="000000"/>
                </a:solidFill>
                <a:latin typeface="微软雅黑" panose="020B0503020204020204" pitchFamily="34" charset="-122"/>
                <a:ea typeface="微软雅黑" panose="020B0503020204020204" pitchFamily="34" charset="-122"/>
              </a:endParaRPr>
            </a:p>
          </p:txBody>
        </p:sp>
      </p:grpSp>
      <p:sp>
        <p:nvSpPr>
          <p:cNvPr id="80" name="圆角矩形 79"/>
          <p:cNvSpPr/>
          <p:nvPr/>
        </p:nvSpPr>
        <p:spPr>
          <a:xfrm>
            <a:off x="4648200" y="2254250"/>
            <a:ext cx="285750" cy="1371600"/>
          </a:xfrm>
          <a:prstGeom prst="roundRect">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圆角矩形 80"/>
          <p:cNvSpPr/>
          <p:nvPr/>
        </p:nvSpPr>
        <p:spPr>
          <a:xfrm>
            <a:off x="3886200" y="2203450"/>
            <a:ext cx="260350" cy="39370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圆角矩形 81"/>
          <p:cNvSpPr/>
          <p:nvPr/>
        </p:nvSpPr>
        <p:spPr>
          <a:xfrm>
            <a:off x="3879850" y="3276600"/>
            <a:ext cx="260350" cy="393700"/>
          </a:xfrm>
          <a:prstGeom prst="roundRect">
            <a:avLst>
              <a:gd name="adj" fmla="val 0"/>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AutoShape 42"/>
          <p:cNvSpPr>
            <a:spLocks noChangeArrowheads="1"/>
          </p:cNvSpPr>
          <p:nvPr/>
        </p:nvSpPr>
        <p:spPr bwMode="auto">
          <a:xfrm>
            <a:off x="5403850" y="1984375"/>
            <a:ext cx="2012950" cy="1216025"/>
          </a:xfrm>
          <a:prstGeom prst="wedgeRoundRectCallout">
            <a:avLst>
              <a:gd name="adj1" fmla="val -70050"/>
              <a:gd name="adj2" fmla="val -1213"/>
              <a:gd name="adj3" fmla="val 16667"/>
            </a:avLst>
          </a:prstGeom>
          <a:solidFill>
            <a:srgbClr val="FFFF99"/>
          </a:solidFill>
          <a:ln w="28575" algn="ctr">
            <a:solidFill>
              <a:schemeClr val="hlink"/>
            </a:solidFill>
            <a:miter lim="800000"/>
          </a:ln>
        </p:spPr>
        <p:txBody>
          <a:bodyPr lIns="0" tIns="0" rIns="0" bIns="0" anchor="ctr"/>
          <a:lstStyle/>
          <a:p>
            <a:pPr>
              <a:lnSpc>
                <a:spcPct val="150000"/>
              </a:lnSpc>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电路有两个互补的输出端。定义</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端的状态为电路输出状态。</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1" name="组合 90"/>
          <p:cNvGrpSpPr/>
          <p:nvPr/>
        </p:nvGrpSpPr>
        <p:grpSpPr>
          <a:xfrm>
            <a:off x="2159000" y="4070350"/>
            <a:ext cx="4171950" cy="831850"/>
            <a:chOff x="2254250" y="4064000"/>
            <a:chExt cx="4171950" cy="831850"/>
          </a:xfrm>
        </p:grpSpPr>
        <p:grpSp>
          <p:nvGrpSpPr>
            <p:cNvPr id="84" name="Group 49"/>
            <p:cNvGrpSpPr/>
            <p:nvPr/>
          </p:nvGrpSpPr>
          <p:grpSpPr bwMode="auto">
            <a:xfrm>
              <a:off x="2381250" y="4064000"/>
              <a:ext cx="4044950" cy="831850"/>
              <a:chOff x="1000" y="3404"/>
              <a:chExt cx="2548" cy="524"/>
            </a:xfrm>
          </p:grpSpPr>
          <p:sp>
            <p:nvSpPr>
              <p:cNvPr id="85" name="AutoShape 46"/>
              <p:cNvSpPr>
                <a:spLocks noChangeArrowheads="1"/>
              </p:cNvSpPr>
              <p:nvPr/>
            </p:nvSpPr>
            <p:spPr bwMode="auto">
              <a:xfrm>
                <a:off x="1000" y="3404"/>
                <a:ext cx="2548" cy="524"/>
              </a:xfrm>
              <a:prstGeom prst="roundRect">
                <a:avLst>
                  <a:gd name="adj" fmla="val 16994"/>
                </a:avLst>
              </a:prstGeom>
              <a:solidFill>
                <a:srgbClr val="FFFF99"/>
              </a:solidFill>
              <a:ln w="25400" algn="ctr">
                <a:solidFill>
                  <a:srgbClr val="0000FF"/>
                </a:solidFill>
                <a:round/>
              </a:ln>
            </p:spPr>
            <p:txBody>
              <a:bodyPr wrap="none" anchor="ctr"/>
              <a:lstStyle/>
              <a:p>
                <a:pPr algn="l">
                  <a:lnSpc>
                    <a:spcPct val="124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当</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时，电路为</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l">
                  <a:lnSpc>
                    <a:spcPct val="124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当</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时，电路为</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Line 47"/>
              <p:cNvSpPr>
                <a:spLocks noChangeShapeType="1"/>
              </p:cNvSpPr>
              <p:nvPr/>
            </p:nvSpPr>
            <p:spPr bwMode="auto">
              <a:xfrm>
                <a:off x="1780" y="3492"/>
                <a:ext cx="96" cy="0"/>
              </a:xfrm>
              <a:prstGeom prst="line">
                <a:avLst/>
              </a:prstGeom>
              <a:noFill/>
              <a:ln w="19050">
                <a:solidFill>
                  <a:schemeClr val="tx1"/>
                </a:solidFill>
                <a:rou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7" name="Line 48"/>
              <p:cNvSpPr>
                <a:spLocks noChangeShapeType="1"/>
              </p:cNvSpPr>
              <p:nvPr/>
            </p:nvSpPr>
            <p:spPr bwMode="auto">
              <a:xfrm>
                <a:off x="1781" y="3725"/>
                <a:ext cx="96" cy="0"/>
              </a:xfrm>
              <a:prstGeom prst="line">
                <a:avLst/>
              </a:prstGeom>
              <a:noFill/>
              <a:ln w="19050">
                <a:solidFill>
                  <a:schemeClr val="tx1"/>
                </a:solidFill>
                <a:roun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89" name="圆角矩形 88"/>
            <p:cNvSpPr/>
            <p:nvPr/>
          </p:nvSpPr>
          <p:spPr>
            <a:xfrm>
              <a:off x="2254250" y="4133850"/>
              <a:ext cx="292100" cy="679450"/>
            </a:xfrm>
            <a:prstGeom prst="roundRect">
              <a:avLst/>
            </a:prstGeom>
            <a:solidFill>
              <a:srgbClr val="66FFCC"/>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定义</a:t>
              </a:r>
              <a:endParaRPr lang="zh-CN" altLang="en-US" sz="1600" b="1" dirty="0"/>
            </a:p>
          </p:txBody>
        </p:sp>
      </p:grpSp>
      <p:sp>
        <p:nvSpPr>
          <p:cNvPr id="90" name="AutoShape 40"/>
          <p:cNvSpPr>
            <a:spLocks noChangeArrowheads="1"/>
          </p:cNvSpPr>
          <p:nvPr/>
        </p:nvSpPr>
        <p:spPr bwMode="auto">
          <a:xfrm>
            <a:off x="1092200" y="1771650"/>
            <a:ext cx="1860550" cy="1333500"/>
          </a:xfrm>
          <a:prstGeom prst="wedgeRoundRectCallout">
            <a:avLst>
              <a:gd name="adj1" fmla="val 61218"/>
              <a:gd name="adj2" fmla="val 18370"/>
              <a:gd name="adj3" fmla="val 16667"/>
            </a:avLst>
          </a:prstGeom>
          <a:solidFill>
            <a:srgbClr val="FFFF99"/>
          </a:solidFill>
          <a:ln w="28575" algn="ctr">
            <a:solidFill>
              <a:schemeClr val="hlink"/>
            </a:solidFill>
            <a:miter lim="800000"/>
          </a:ln>
        </p:spPr>
        <p:txBody>
          <a:bodyPr lIns="0" tIns="0" rIns="0" bIns="0" anchor="ctr"/>
          <a:lstStyle/>
          <a:p>
            <a:pPr>
              <a:lnSpc>
                <a:spcPct val="150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两个反相器的输入、输出交叉耦合构成。电路中存在反馈。</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1000"/>
                                        <p:tgtEl>
                                          <p:spTgt spid="51"/>
                                        </p:tgtEl>
                                      </p:cBhvr>
                                    </p:animEffect>
                                    <p:anim calcmode="lin" valueType="num">
                                      <p:cBhvr>
                                        <p:cTn id="8" dur="1000" fill="hold"/>
                                        <p:tgtEl>
                                          <p:spTgt spid="51"/>
                                        </p:tgtEl>
                                        <p:attrNameLst>
                                          <p:attrName>ppt_x</p:attrName>
                                        </p:attrNameLst>
                                      </p:cBhvr>
                                      <p:tavLst>
                                        <p:tav tm="0">
                                          <p:val>
                                            <p:strVal val="#ppt_x"/>
                                          </p:val>
                                        </p:tav>
                                        <p:tav tm="100000">
                                          <p:val>
                                            <p:strVal val="#ppt_x"/>
                                          </p:val>
                                        </p:tav>
                                      </p:tavLst>
                                    </p:anim>
                                    <p:anim calcmode="lin" valueType="num">
                                      <p:cBhvr>
                                        <p:cTn id="9" dur="1000" fill="hold"/>
                                        <p:tgtEl>
                                          <p:spTgt spid="5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53" presetClass="entr" presetSubtype="16" fill="hold" grpId="0" nodeType="afterEffect">
                                  <p:stCondLst>
                                    <p:cond delay="0"/>
                                  </p:stCondLst>
                                  <p:childTnLst>
                                    <p:set>
                                      <p:cBhvr>
                                        <p:cTn id="12" dur="1" fill="hold">
                                          <p:stCondLst>
                                            <p:cond delay="0"/>
                                          </p:stCondLst>
                                        </p:cTn>
                                        <p:tgtEl>
                                          <p:spTgt spid="81"/>
                                        </p:tgtEl>
                                        <p:attrNameLst>
                                          <p:attrName>style.visibility</p:attrName>
                                        </p:attrNameLst>
                                      </p:cBhvr>
                                      <p:to>
                                        <p:strVal val="visible"/>
                                      </p:to>
                                    </p:set>
                                    <p:anim calcmode="lin" valueType="num">
                                      <p:cBhvr>
                                        <p:cTn id="13" dur="1000" fill="hold"/>
                                        <p:tgtEl>
                                          <p:spTgt spid="81"/>
                                        </p:tgtEl>
                                        <p:attrNameLst>
                                          <p:attrName>ppt_w</p:attrName>
                                        </p:attrNameLst>
                                      </p:cBhvr>
                                      <p:tavLst>
                                        <p:tav tm="0">
                                          <p:val>
                                            <p:fltVal val="0"/>
                                          </p:val>
                                        </p:tav>
                                        <p:tav tm="100000">
                                          <p:val>
                                            <p:strVal val="#ppt_w"/>
                                          </p:val>
                                        </p:tav>
                                      </p:tavLst>
                                    </p:anim>
                                    <p:anim calcmode="lin" valueType="num">
                                      <p:cBhvr>
                                        <p:cTn id="14" dur="1000" fill="hold"/>
                                        <p:tgtEl>
                                          <p:spTgt spid="81"/>
                                        </p:tgtEl>
                                        <p:attrNameLst>
                                          <p:attrName>ppt_h</p:attrName>
                                        </p:attrNameLst>
                                      </p:cBhvr>
                                      <p:tavLst>
                                        <p:tav tm="0">
                                          <p:val>
                                            <p:fltVal val="0"/>
                                          </p:val>
                                        </p:tav>
                                        <p:tav tm="100000">
                                          <p:val>
                                            <p:strVal val="#ppt_h"/>
                                          </p:val>
                                        </p:tav>
                                      </p:tavLst>
                                    </p:anim>
                                    <p:animEffect transition="in" filter="fade">
                                      <p:cBhvr>
                                        <p:cTn id="15" dur="1000"/>
                                        <p:tgtEl>
                                          <p:spTgt spid="81"/>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82"/>
                                        </p:tgtEl>
                                        <p:attrNameLst>
                                          <p:attrName>style.visibility</p:attrName>
                                        </p:attrNameLst>
                                      </p:cBhvr>
                                      <p:to>
                                        <p:strVal val="visible"/>
                                      </p:to>
                                    </p:set>
                                    <p:anim calcmode="lin" valueType="num">
                                      <p:cBhvr>
                                        <p:cTn id="18" dur="1000" fill="hold"/>
                                        <p:tgtEl>
                                          <p:spTgt spid="82"/>
                                        </p:tgtEl>
                                        <p:attrNameLst>
                                          <p:attrName>ppt_w</p:attrName>
                                        </p:attrNameLst>
                                      </p:cBhvr>
                                      <p:tavLst>
                                        <p:tav tm="0">
                                          <p:val>
                                            <p:fltVal val="0"/>
                                          </p:val>
                                        </p:tav>
                                        <p:tav tm="100000">
                                          <p:val>
                                            <p:strVal val="#ppt_w"/>
                                          </p:val>
                                        </p:tav>
                                      </p:tavLst>
                                    </p:anim>
                                    <p:anim calcmode="lin" valueType="num">
                                      <p:cBhvr>
                                        <p:cTn id="19" dur="1000" fill="hold"/>
                                        <p:tgtEl>
                                          <p:spTgt spid="82"/>
                                        </p:tgtEl>
                                        <p:attrNameLst>
                                          <p:attrName>ppt_h</p:attrName>
                                        </p:attrNameLst>
                                      </p:cBhvr>
                                      <p:tavLst>
                                        <p:tav tm="0">
                                          <p:val>
                                            <p:fltVal val="0"/>
                                          </p:val>
                                        </p:tav>
                                        <p:tav tm="100000">
                                          <p:val>
                                            <p:strVal val="#ppt_h"/>
                                          </p:val>
                                        </p:tav>
                                      </p:tavLst>
                                    </p:anim>
                                    <p:animEffect transition="in" filter="fade">
                                      <p:cBhvr>
                                        <p:cTn id="20" dur="1000"/>
                                        <p:tgtEl>
                                          <p:spTgt spid="82"/>
                                        </p:tgtEl>
                                      </p:cBhvr>
                                    </p:animEffect>
                                  </p:childTnLst>
                                </p:cTn>
                              </p:par>
                            </p:childTnLst>
                          </p:cTn>
                        </p:par>
                        <p:par>
                          <p:cTn id="21" fill="hold">
                            <p:stCondLst>
                              <p:cond delay="2000"/>
                            </p:stCondLst>
                            <p:childTnLst>
                              <p:par>
                                <p:cTn id="22" presetID="53" presetClass="entr" presetSubtype="16" fill="hold" nodeType="afterEffect">
                                  <p:stCondLst>
                                    <p:cond delay="0"/>
                                  </p:stCondLst>
                                  <p:childTnLst>
                                    <p:set>
                                      <p:cBhvr>
                                        <p:cTn id="23" dur="1" fill="hold">
                                          <p:stCondLst>
                                            <p:cond delay="0"/>
                                          </p:stCondLst>
                                        </p:cTn>
                                        <p:tgtEl>
                                          <p:spTgt spid="77"/>
                                        </p:tgtEl>
                                        <p:attrNameLst>
                                          <p:attrName>style.visibility</p:attrName>
                                        </p:attrNameLst>
                                      </p:cBhvr>
                                      <p:to>
                                        <p:strVal val="visible"/>
                                      </p:to>
                                    </p:set>
                                    <p:anim calcmode="lin" valueType="num">
                                      <p:cBhvr>
                                        <p:cTn id="24" dur="1000" fill="hold"/>
                                        <p:tgtEl>
                                          <p:spTgt spid="77"/>
                                        </p:tgtEl>
                                        <p:attrNameLst>
                                          <p:attrName>ppt_w</p:attrName>
                                        </p:attrNameLst>
                                      </p:cBhvr>
                                      <p:tavLst>
                                        <p:tav tm="0">
                                          <p:val>
                                            <p:fltVal val="0"/>
                                          </p:val>
                                        </p:tav>
                                        <p:tav tm="100000">
                                          <p:val>
                                            <p:strVal val="#ppt_w"/>
                                          </p:val>
                                        </p:tav>
                                      </p:tavLst>
                                    </p:anim>
                                    <p:anim calcmode="lin" valueType="num">
                                      <p:cBhvr>
                                        <p:cTn id="25" dur="1000" fill="hold"/>
                                        <p:tgtEl>
                                          <p:spTgt spid="77"/>
                                        </p:tgtEl>
                                        <p:attrNameLst>
                                          <p:attrName>ppt_h</p:attrName>
                                        </p:attrNameLst>
                                      </p:cBhvr>
                                      <p:tavLst>
                                        <p:tav tm="0">
                                          <p:val>
                                            <p:fltVal val="0"/>
                                          </p:val>
                                        </p:tav>
                                        <p:tav tm="100000">
                                          <p:val>
                                            <p:strVal val="#ppt_h"/>
                                          </p:val>
                                        </p:tav>
                                      </p:tavLst>
                                    </p:anim>
                                    <p:animEffect transition="in" filter="fade">
                                      <p:cBhvr>
                                        <p:cTn id="26" dur="1000"/>
                                        <p:tgtEl>
                                          <p:spTgt spid="77"/>
                                        </p:tgtEl>
                                      </p:cBhvr>
                                    </p:animEffect>
                                  </p:childTnLst>
                                </p:cTn>
                              </p:par>
                            </p:childTnLst>
                          </p:cTn>
                        </p:par>
                        <p:par>
                          <p:cTn id="27" fill="hold">
                            <p:stCondLst>
                              <p:cond delay="3000"/>
                            </p:stCondLst>
                            <p:childTnLst>
                              <p:par>
                                <p:cTn id="28" presetID="22" presetClass="entr" presetSubtype="2" fill="hold" grpId="0" nodeType="afterEffect">
                                  <p:stCondLst>
                                    <p:cond delay="0"/>
                                  </p:stCondLst>
                                  <p:childTnLst>
                                    <p:set>
                                      <p:cBhvr>
                                        <p:cTn id="29" dur="1" fill="hold">
                                          <p:stCondLst>
                                            <p:cond delay="0"/>
                                          </p:stCondLst>
                                        </p:cTn>
                                        <p:tgtEl>
                                          <p:spTgt spid="90"/>
                                        </p:tgtEl>
                                        <p:attrNameLst>
                                          <p:attrName>style.visibility</p:attrName>
                                        </p:attrNameLst>
                                      </p:cBhvr>
                                      <p:to>
                                        <p:strVal val="visible"/>
                                      </p:to>
                                    </p:set>
                                    <p:animEffect transition="in" filter="wipe(right)">
                                      <p:cBhvr>
                                        <p:cTn id="30" dur="1000"/>
                                        <p:tgtEl>
                                          <p:spTgt spid="9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wipe(right)">
                                      <p:cBhvr>
                                        <p:cTn id="35" dur="1000"/>
                                        <p:tgtEl>
                                          <p:spTgt spid="7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0"/>
                                        </p:tgtEl>
                                        <p:attrNameLst>
                                          <p:attrName>style.visibility</p:attrName>
                                        </p:attrNameLst>
                                      </p:cBhvr>
                                      <p:to>
                                        <p:strVal val="visible"/>
                                      </p:to>
                                    </p:set>
                                    <p:animEffect transition="in" filter="wipe(left)">
                                      <p:cBhvr>
                                        <p:cTn id="40" dur="1000"/>
                                        <p:tgtEl>
                                          <p:spTgt spid="80"/>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83"/>
                                        </p:tgtEl>
                                        <p:attrNameLst>
                                          <p:attrName>style.visibility</p:attrName>
                                        </p:attrNameLst>
                                      </p:cBhvr>
                                      <p:to>
                                        <p:strVal val="visible"/>
                                      </p:to>
                                    </p:set>
                                    <p:animEffect transition="in" filter="wipe(left)">
                                      <p:cBhvr>
                                        <p:cTn id="44" dur="1000"/>
                                        <p:tgtEl>
                                          <p:spTgt spid="83"/>
                                        </p:tgtEl>
                                      </p:cBhvr>
                                    </p:animEffect>
                                  </p:childTnLst>
                                </p:cTn>
                              </p:par>
                            </p:childTnLst>
                          </p:cTn>
                        </p:par>
                        <p:par>
                          <p:cTn id="45" fill="hold">
                            <p:stCondLst>
                              <p:cond delay="2000"/>
                            </p:stCondLst>
                            <p:childTnLst>
                              <p:par>
                                <p:cTn id="46" presetID="42" presetClass="entr" presetSubtype="0" fill="hold" nodeType="afterEffect">
                                  <p:stCondLst>
                                    <p:cond delay="0"/>
                                  </p:stCondLst>
                                  <p:childTnLst>
                                    <p:set>
                                      <p:cBhvr>
                                        <p:cTn id="47" dur="1" fill="hold">
                                          <p:stCondLst>
                                            <p:cond delay="0"/>
                                          </p:stCondLst>
                                        </p:cTn>
                                        <p:tgtEl>
                                          <p:spTgt spid="91"/>
                                        </p:tgtEl>
                                        <p:attrNameLst>
                                          <p:attrName>style.visibility</p:attrName>
                                        </p:attrNameLst>
                                      </p:cBhvr>
                                      <p:to>
                                        <p:strVal val="visible"/>
                                      </p:to>
                                    </p:set>
                                    <p:animEffect transition="in" filter="fade">
                                      <p:cBhvr>
                                        <p:cTn id="48" dur="1000"/>
                                        <p:tgtEl>
                                          <p:spTgt spid="91"/>
                                        </p:tgtEl>
                                      </p:cBhvr>
                                    </p:animEffect>
                                    <p:anim calcmode="lin" valueType="num">
                                      <p:cBhvr>
                                        <p:cTn id="49" dur="1000" fill="hold"/>
                                        <p:tgtEl>
                                          <p:spTgt spid="91"/>
                                        </p:tgtEl>
                                        <p:attrNameLst>
                                          <p:attrName>ppt_x</p:attrName>
                                        </p:attrNameLst>
                                      </p:cBhvr>
                                      <p:tavLst>
                                        <p:tav tm="0">
                                          <p:val>
                                            <p:strVal val="#ppt_x"/>
                                          </p:val>
                                        </p:tav>
                                        <p:tav tm="100000">
                                          <p:val>
                                            <p:strVal val="#ppt_x"/>
                                          </p:val>
                                        </p:tav>
                                      </p:tavLst>
                                    </p:anim>
                                    <p:anim calcmode="lin" valueType="num">
                                      <p:cBhvr>
                                        <p:cTn id="50" dur="1000" fill="hold"/>
                                        <p:tgtEl>
                                          <p:spTgt spid="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P spid="83" grpId="0" animBg="1"/>
      <p:bldP spid="9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组合 103"/>
          <p:cNvGrpSpPr/>
          <p:nvPr/>
        </p:nvGrpSpPr>
        <p:grpSpPr>
          <a:xfrm>
            <a:off x="1629410" y="1733550"/>
            <a:ext cx="1958340" cy="2379345"/>
            <a:chOff x="991235" y="1905000"/>
            <a:chExt cx="1958340" cy="2379345"/>
          </a:xfrm>
        </p:grpSpPr>
        <p:grpSp>
          <p:nvGrpSpPr>
            <p:cNvPr id="81" name="组合 80"/>
            <p:cNvGrpSpPr/>
            <p:nvPr/>
          </p:nvGrpSpPr>
          <p:grpSpPr>
            <a:xfrm>
              <a:off x="991235" y="2076450"/>
              <a:ext cx="1958340" cy="2207895"/>
              <a:chOff x="937260" y="1571625"/>
              <a:chExt cx="1958340" cy="2207895"/>
            </a:xfrm>
          </p:grpSpPr>
          <p:sp>
            <p:nvSpPr>
              <p:cNvPr id="82" name="剪去对角的矩形 81"/>
              <p:cNvSpPr/>
              <p:nvPr/>
            </p:nvSpPr>
            <p:spPr>
              <a:xfrm>
                <a:off x="937260" y="1571625"/>
                <a:ext cx="1958340" cy="2207895"/>
              </a:xfrm>
              <a:prstGeom prst="snip2DiagRect">
                <a:avLst>
                  <a:gd name="adj1" fmla="val 0"/>
                  <a:gd name="adj2" fmla="val 1192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3" name="Picture 3"/>
              <p:cNvPicPr>
                <a:picLocks noChangeAspect="1" noChangeArrowheads="1"/>
              </p:cNvPicPr>
              <p:nvPr/>
            </p:nvPicPr>
            <p:blipFill>
              <a:blip r:embed="rId1" cstate="print"/>
              <a:srcRect/>
              <a:stretch>
                <a:fillRect/>
              </a:stretch>
            </p:blipFill>
            <p:spPr bwMode="auto">
              <a:xfrm>
                <a:off x="1173480" y="1788794"/>
                <a:ext cx="1477645" cy="1890512"/>
              </a:xfrm>
              <a:prstGeom prst="rect">
                <a:avLst/>
              </a:prstGeom>
              <a:noFill/>
              <a:ln w="9525">
                <a:noFill/>
                <a:miter lim="800000"/>
                <a:headEnd/>
                <a:tailEnd/>
              </a:ln>
              <a:effectLst/>
            </p:spPr>
          </p:pic>
        </p:grpSp>
        <p:sp>
          <p:nvSpPr>
            <p:cNvPr id="103" name="圆角矩形 102"/>
            <p:cNvSpPr/>
            <p:nvPr/>
          </p:nvSpPr>
          <p:spPr>
            <a:xfrm>
              <a:off x="1485899" y="1905000"/>
              <a:ext cx="857251" cy="333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 = 1</a:t>
              </a:r>
              <a:endParaRPr lang="zh-CN" altLang="en-US" dirty="0">
                <a:solidFill>
                  <a:schemeClr val="bg1"/>
                </a:solidFill>
              </a:endParaRPr>
            </a:p>
          </p:txBody>
        </p:sp>
      </p:grpSp>
      <p:sp>
        <p:nvSpPr>
          <p:cNvPr id="101" name="Oval 40"/>
          <p:cNvSpPr>
            <a:spLocks noChangeArrowheads="1"/>
          </p:cNvSpPr>
          <p:nvPr/>
        </p:nvSpPr>
        <p:spPr bwMode="auto">
          <a:xfrm>
            <a:off x="2773636" y="3550965"/>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a:solidFill>
                  <a:schemeClr val="bg1"/>
                </a:solidFill>
                <a:latin typeface="微软雅黑" panose="020B0503020204020204" pitchFamily="34" charset="-122"/>
                <a:ea typeface="微软雅黑" panose="020B0503020204020204" pitchFamily="34" charset="-122"/>
              </a:rPr>
              <a:t>0</a:t>
            </a:r>
            <a:endParaRPr lang="en-US" altLang="zh-CN" sz="1600" b="1">
              <a:solidFill>
                <a:schemeClr val="bg1"/>
              </a:solidFill>
              <a:latin typeface="微软雅黑" panose="020B0503020204020204" pitchFamily="34" charset="-122"/>
              <a:ea typeface="微软雅黑" panose="020B0503020204020204" pitchFamily="34" charset="-122"/>
            </a:endParaRPr>
          </a:p>
        </p:txBody>
      </p:sp>
      <p:grpSp>
        <p:nvGrpSpPr>
          <p:cNvPr id="2" name="组合 69"/>
          <p:cNvGrpSpPr/>
          <p:nvPr/>
        </p:nvGrpSpPr>
        <p:grpSpPr>
          <a:xfrm>
            <a:off x="392432" y="778617"/>
            <a:ext cx="2934607" cy="420971"/>
            <a:chOff x="670560" y="892917"/>
            <a:chExt cx="2934607" cy="420971"/>
          </a:xfrm>
        </p:grpSpPr>
        <p:sp>
          <p:nvSpPr>
            <p:cNvPr id="71" name="矩形 70"/>
            <p:cNvSpPr/>
            <p:nvPr/>
          </p:nvSpPr>
          <p:spPr>
            <a:xfrm>
              <a:off x="1035233" y="913778"/>
              <a:ext cx="2569934"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双稳态存储单元电路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6"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、逻辑功能分析</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98" name="Oval 34"/>
          <p:cNvSpPr>
            <a:spLocks noChangeArrowheads="1"/>
          </p:cNvSpPr>
          <p:nvPr/>
        </p:nvSpPr>
        <p:spPr bwMode="auto">
          <a:xfrm>
            <a:off x="2738438" y="2322513"/>
            <a:ext cx="360000" cy="360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a:solidFill>
                  <a:schemeClr val="bg1"/>
                </a:solidFill>
                <a:latin typeface="微软雅黑" panose="020B0503020204020204" pitchFamily="34" charset="-122"/>
                <a:ea typeface="微软雅黑" panose="020B0503020204020204" pitchFamily="34" charset="-122"/>
              </a:rPr>
              <a:t>1</a:t>
            </a:r>
            <a:endParaRPr lang="en-US" altLang="zh-CN" sz="1600" b="1">
              <a:solidFill>
                <a:schemeClr val="bg1"/>
              </a:solidFill>
              <a:latin typeface="微软雅黑" panose="020B0503020204020204" pitchFamily="34" charset="-122"/>
              <a:ea typeface="微软雅黑" panose="020B0503020204020204" pitchFamily="34" charset="-122"/>
            </a:endParaRPr>
          </a:p>
        </p:txBody>
      </p:sp>
      <p:sp>
        <p:nvSpPr>
          <p:cNvPr id="99" name="Oval 36"/>
          <p:cNvSpPr>
            <a:spLocks noChangeArrowheads="1"/>
          </p:cNvSpPr>
          <p:nvPr/>
        </p:nvSpPr>
        <p:spPr bwMode="auto">
          <a:xfrm>
            <a:off x="2738438" y="2322513"/>
            <a:ext cx="360000" cy="360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00" name="Oval 37"/>
          <p:cNvSpPr>
            <a:spLocks noChangeArrowheads="1"/>
          </p:cNvSpPr>
          <p:nvPr/>
        </p:nvSpPr>
        <p:spPr bwMode="auto">
          <a:xfrm>
            <a:off x="2773636" y="3550965"/>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105" name="组合 104"/>
          <p:cNvGrpSpPr/>
          <p:nvPr/>
        </p:nvGrpSpPr>
        <p:grpSpPr>
          <a:xfrm>
            <a:off x="4591685" y="1733550"/>
            <a:ext cx="1958340" cy="2379345"/>
            <a:chOff x="991235" y="1905000"/>
            <a:chExt cx="1958340" cy="2379345"/>
          </a:xfrm>
        </p:grpSpPr>
        <p:grpSp>
          <p:nvGrpSpPr>
            <p:cNvPr id="106" name="组合 80"/>
            <p:cNvGrpSpPr/>
            <p:nvPr/>
          </p:nvGrpSpPr>
          <p:grpSpPr>
            <a:xfrm>
              <a:off x="991235" y="2076450"/>
              <a:ext cx="1958340" cy="2207895"/>
              <a:chOff x="937260" y="1571625"/>
              <a:chExt cx="1958340" cy="2207895"/>
            </a:xfrm>
          </p:grpSpPr>
          <p:sp>
            <p:nvSpPr>
              <p:cNvPr id="108" name="剪去对角的矩形 107"/>
              <p:cNvSpPr/>
              <p:nvPr/>
            </p:nvSpPr>
            <p:spPr>
              <a:xfrm>
                <a:off x="937260" y="1571625"/>
                <a:ext cx="1958340" cy="2207895"/>
              </a:xfrm>
              <a:prstGeom prst="snip2DiagRect">
                <a:avLst>
                  <a:gd name="adj1" fmla="val 0"/>
                  <a:gd name="adj2" fmla="val 1192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9" name="Picture 3"/>
              <p:cNvPicPr>
                <a:picLocks noChangeAspect="1" noChangeArrowheads="1"/>
              </p:cNvPicPr>
              <p:nvPr/>
            </p:nvPicPr>
            <p:blipFill>
              <a:blip r:embed="rId1" cstate="print"/>
              <a:srcRect/>
              <a:stretch>
                <a:fillRect/>
              </a:stretch>
            </p:blipFill>
            <p:spPr bwMode="auto">
              <a:xfrm>
                <a:off x="1173480" y="1788794"/>
                <a:ext cx="1477645" cy="1890512"/>
              </a:xfrm>
              <a:prstGeom prst="rect">
                <a:avLst/>
              </a:prstGeom>
              <a:noFill/>
              <a:ln w="9525">
                <a:noFill/>
                <a:miter lim="800000"/>
                <a:headEnd/>
                <a:tailEnd/>
              </a:ln>
              <a:effectLst/>
            </p:spPr>
          </p:pic>
        </p:grpSp>
        <p:sp>
          <p:nvSpPr>
            <p:cNvPr id="107" name="圆角矩形 106"/>
            <p:cNvSpPr/>
            <p:nvPr/>
          </p:nvSpPr>
          <p:spPr>
            <a:xfrm>
              <a:off x="1485899" y="1905000"/>
              <a:ext cx="857251" cy="3333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Q = 0</a:t>
              </a:r>
              <a:endParaRPr lang="zh-CN" altLang="en-US" dirty="0">
                <a:solidFill>
                  <a:schemeClr val="bg1"/>
                </a:solidFill>
              </a:endParaRPr>
            </a:p>
          </p:txBody>
        </p:sp>
      </p:grpSp>
      <p:grpSp>
        <p:nvGrpSpPr>
          <p:cNvPr id="118" name="组合 117"/>
          <p:cNvGrpSpPr/>
          <p:nvPr/>
        </p:nvGrpSpPr>
        <p:grpSpPr>
          <a:xfrm>
            <a:off x="492792" y="4063181"/>
            <a:ext cx="7889208" cy="1099369"/>
            <a:chOff x="1007142" y="4082231"/>
            <a:chExt cx="7012908" cy="1099369"/>
          </a:xfrm>
        </p:grpSpPr>
        <p:sp>
          <p:nvSpPr>
            <p:cNvPr id="117" name="圆角矩形 116"/>
            <p:cNvSpPr/>
            <p:nvPr/>
          </p:nvSpPr>
          <p:spPr>
            <a:xfrm>
              <a:off x="1219200" y="4267200"/>
              <a:ext cx="6800850" cy="914400"/>
            </a:xfrm>
            <a:prstGeom prst="roundRect">
              <a:avLst/>
            </a:prstGeom>
            <a:solidFill>
              <a:schemeClr val="bg1"/>
            </a:solidFill>
            <a:ln w="28575">
              <a:solidFill>
                <a:srgbClr val="6600FF"/>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a:r>
                <a:rPr lang="zh-CN" altLang="en-US" sz="1600" dirty="0">
                  <a:solidFill>
                    <a:srgbClr val="000000"/>
                  </a:solidFill>
                  <a:latin typeface="微软雅黑" panose="020B0503020204020204" pitchFamily="34" charset="-122"/>
                  <a:ea typeface="微软雅黑" panose="020B0503020204020204" pitchFamily="34" charset="-122"/>
                </a:rPr>
                <a:t>电路的输出有</a:t>
              </a:r>
              <a:r>
                <a:rPr lang="en-US" altLang="zh-CN" sz="1600" dirty="0">
                  <a:solidFill>
                    <a:srgbClr val="000000"/>
                  </a:solidFill>
                  <a:latin typeface="微软雅黑" panose="020B0503020204020204" pitchFamily="34" charset="-122"/>
                  <a:ea typeface="微软雅黑" panose="020B0503020204020204" pitchFamily="34" charset="-122"/>
                </a:rPr>
                <a:t>0</a:t>
              </a:r>
              <a:r>
                <a:rPr lang="zh-CN" altLang="en-US" sz="1600" dirty="0">
                  <a:solidFill>
                    <a:srgbClr val="000000"/>
                  </a:solidFill>
                  <a:latin typeface="微软雅黑" panose="020B0503020204020204" pitchFamily="34" charset="-122"/>
                  <a:ea typeface="微软雅黑" panose="020B0503020204020204" pitchFamily="34" charset="-122"/>
                </a:rPr>
                <a:t>、</a:t>
              </a:r>
              <a:r>
                <a:rPr lang="en-US" altLang="zh-CN" sz="1600" dirty="0">
                  <a:solidFill>
                    <a:srgbClr val="000000"/>
                  </a:solidFill>
                  <a:latin typeface="微软雅黑" panose="020B0503020204020204" pitchFamily="34" charset="-122"/>
                  <a:ea typeface="微软雅黑" panose="020B0503020204020204" pitchFamily="34" charset="-122"/>
                </a:rPr>
                <a:t>1</a:t>
              </a:r>
              <a:r>
                <a:rPr lang="zh-CN" altLang="en-US" sz="1600" dirty="0">
                  <a:solidFill>
                    <a:srgbClr val="000000"/>
                  </a:solidFill>
                  <a:latin typeface="微软雅黑" panose="020B0503020204020204" pitchFamily="34" charset="-122"/>
                  <a:ea typeface="微软雅黑" panose="020B0503020204020204" pitchFamily="34" charset="-122"/>
                </a:rPr>
                <a:t>两种可能的状态，在没有外部输入的情况下，两种状态均能够自行稳定保持，因此电路具有</a:t>
              </a:r>
              <a:r>
                <a:rPr lang="zh-CN" altLang="en-US" sz="1600" b="1" dirty="0">
                  <a:solidFill>
                    <a:srgbClr val="CC00CC"/>
                  </a:solidFill>
                  <a:latin typeface="微软雅黑" panose="020B0503020204020204" pitchFamily="34" charset="-122"/>
                  <a:ea typeface="微软雅黑" panose="020B0503020204020204" pitchFamily="34" charset="-122"/>
                </a:rPr>
                <a:t>记忆</a:t>
              </a:r>
              <a:r>
                <a:rPr lang="en-US" altLang="zh-CN" sz="1600" b="1" dirty="0">
                  <a:solidFill>
                    <a:srgbClr val="CC00CC"/>
                  </a:solidFill>
                  <a:latin typeface="微软雅黑" panose="020B0503020204020204" pitchFamily="34" charset="-122"/>
                  <a:ea typeface="微软雅黑" panose="020B0503020204020204" pitchFamily="34" charset="-122"/>
                </a:rPr>
                <a:t>1</a:t>
              </a:r>
              <a:r>
                <a:rPr lang="zh-CN" altLang="en-US" sz="1600" b="1" dirty="0">
                  <a:solidFill>
                    <a:srgbClr val="CC00CC"/>
                  </a:solidFill>
                  <a:latin typeface="微软雅黑" panose="020B0503020204020204" pitchFamily="34" charset="-122"/>
                  <a:ea typeface="微软雅黑" panose="020B0503020204020204" pitchFamily="34" charset="-122"/>
                </a:rPr>
                <a:t>位二进制数据</a:t>
              </a:r>
              <a:r>
                <a:rPr lang="zh-CN" altLang="en-US" sz="1600" dirty="0">
                  <a:solidFill>
                    <a:srgbClr val="000000"/>
                  </a:solidFill>
                  <a:latin typeface="微软雅黑" panose="020B0503020204020204" pitchFamily="34" charset="-122"/>
                  <a:ea typeface="微软雅黑" panose="020B0503020204020204" pitchFamily="34" charset="-122"/>
                </a:rPr>
                <a:t>的功能，并称这种电路为</a:t>
              </a:r>
              <a:r>
                <a:rPr lang="zh-CN" altLang="en-US" sz="1600" b="1" dirty="0">
                  <a:solidFill>
                    <a:srgbClr val="CC00CC"/>
                  </a:solidFill>
                  <a:latin typeface="微软雅黑" panose="020B0503020204020204" pitchFamily="34" charset="-122"/>
                  <a:ea typeface="微软雅黑" panose="020B0503020204020204" pitchFamily="34" charset="-122"/>
                </a:rPr>
                <a:t>双稳态存储单元电路</a:t>
              </a:r>
              <a:r>
                <a:rPr lang="zh-CN" altLang="en-US" sz="1600" dirty="0">
                  <a:solidFill>
                    <a:srgbClr val="000000"/>
                  </a:solidFill>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pic>
          <p:nvPicPr>
            <p:cNvPr id="116" name="Picture 32"/>
            <p:cNvPicPr>
              <a:picLocks noChangeAspect="1" noChangeArrowheads="1"/>
            </p:cNvPicPr>
            <p:nvPr/>
          </p:nvPicPr>
          <p:blipFill>
            <a:blip r:embed="rId3" cstate="print"/>
            <a:srcRect/>
            <a:stretch>
              <a:fillRect/>
            </a:stretch>
          </p:blipFill>
          <p:spPr bwMode="auto">
            <a:xfrm>
              <a:off x="1007142" y="4082231"/>
              <a:ext cx="425088" cy="441909"/>
            </a:xfrm>
            <a:prstGeom prst="rect">
              <a:avLst/>
            </a:prstGeom>
            <a:noFill/>
            <a:ln w="9525">
              <a:noFill/>
              <a:miter lim="800000"/>
              <a:headEnd/>
              <a:tailEnd/>
            </a:ln>
          </p:spPr>
        </p:pic>
      </p:grpSp>
      <p:sp>
        <p:nvSpPr>
          <p:cNvPr id="30" name="Oval 37"/>
          <p:cNvSpPr>
            <a:spLocks noChangeArrowheads="1"/>
          </p:cNvSpPr>
          <p:nvPr/>
        </p:nvSpPr>
        <p:spPr bwMode="auto">
          <a:xfrm>
            <a:off x="2738438" y="2322513"/>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1" name="Oval 40"/>
          <p:cNvSpPr>
            <a:spLocks noChangeArrowheads="1"/>
          </p:cNvSpPr>
          <p:nvPr/>
        </p:nvSpPr>
        <p:spPr bwMode="auto">
          <a:xfrm>
            <a:off x="5737816" y="3572482"/>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2" name="Oval 34"/>
          <p:cNvSpPr>
            <a:spLocks noChangeArrowheads="1"/>
          </p:cNvSpPr>
          <p:nvPr/>
        </p:nvSpPr>
        <p:spPr bwMode="auto">
          <a:xfrm>
            <a:off x="5702618" y="2344030"/>
            <a:ext cx="360000" cy="360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3" name="Oval 36"/>
          <p:cNvSpPr>
            <a:spLocks noChangeArrowheads="1"/>
          </p:cNvSpPr>
          <p:nvPr/>
        </p:nvSpPr>
        <p:spPr bwMode="auto">
          <a:xfrm>
            <a:off x="5702618" y="2344030"/>
            <a:ext cx="360000" cy="360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4" name="Oval 37"/>
          <p:cNvSpPr>
            <a:spLocks noChangeArrowheads="1"/>
          </p:cNvSpPr>
          <p:nvPr/>
        </p:nvSpPr>
        <p:spPr bwMode="auto">
          <a:xfrm>
            <a:off x="5737816" y="3573293"/>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5" name="Oval 37"/>
          <p:cNvSpPr>
            <a:spLocks noChangeArrowheads="1"/>
          </p:cNvSpPr>
          <p:nvPr/>
        </p:nvSpPr>
        <p:spPr bwMode="auto">
          <a:xfrm>
            <a:off x="5702618" y="2344030"/>
            <a:ext cx="360000" cy="360000"/>
          </a:xfrm>
          <a:prstGeom prst="ellipse">
            <a:avLst/>
          </a:prstGeom>
          <a:solidFill>
            <a:srgbClr val="0000CC"/>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300">
        <p14:pan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anim calcmode="lin" valueType="num">
                                      <p:cBhvr additive="base">
                                        <p:cTn id="7" dur="1000"/>
                                        <p:tgtEl>
                                          <p:spTgt spid="98"/>
                                        </p:tgtEl>
                                        <p:attrNameLst>
                                          <p:attrName>ppt_x</p:attrName>
                                        </p:attrNameLst>
                                      </p:cBhvr>
                                      <p:tavLst>
                                        <p:tav tm="0">
                                          <p:val>
                                            <p:strVal val="#ppt_x-#ppt_w*1.125000"/>
                                          </p:val>
                                        </p:tav>
                                        <p:tav tm="100000">
                                          <p:val>
                                            <p:strVal val="#ppt_x"/>
                                          </p:val>
                                        </p:tav>
                                      </p:tavLst>
                                    </p:anim>
                                    <p:animEffect transition="in" filter="wipe(right)">
                                      <p:cBhvr>
                                        <p:cTn id="8" dur="1000"/>
                                        <p:tgtEl>
                                          <p:spTgt spid="98"/>
                                        </p:tgtEl>
                                      </p:cBhvr>
                                    </p:animEffec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99"/>
                                        </p:tgtEl>
                                        <p:attrNameLst>
                                          <p:attrName>style.visibility</p:attrName>
                                        </p:attrNameLst>
                                      </p:cBhvr>
                                      <p:to>
                                        <p:strVal val="visible"/>
                                      </p:to>
                                    </p:set>
                                  </p:childTnLst>
                                </p:cTn>
                              </p:par>
                            </p:childTnLst>
                          </p:cTn>
                        </p:par>
                        <p:par>
                          <p:cTn id="13" fill="hold">
                            <p:stCondLst>
                              <p:cond delay="0"/>
                            </p:stCondLst>
                            <p:childTnLst>
                              <p:par>
                                <p:cTn id="14" presetID="0" presetClass="path" presetSubtype="0" accel="50000" decel="50000" fill="hold" grpId="0" nodeType="afterEffect">
                                  <p:stCondLst>
                                    <p:cond delay="0"/>
                                  </p:stCondLst>
                                  <p:childTnLst>
                                    <p:animMotion origin="layout" path="M 2.77778E-6 0.00083 L 0.0026 0.05416 L -0.1066 0.15 L -0.1066 0.21028 L -0.1066 0.21055 " pathEditMode="relative" rAng="0" ptsTypes="AAAAA">
                                      <p:cBhvr>
                                        <p:cTn id="15" dur="2000" fill="hold"/>
                                        <p:tgtEl>
                                          <p:spTgt spid="99"/>
                                        </p:tgtEl>
                                        <p:attrNameLst>
                                          <p:attrName>ppt_x</p:attrName>
                                          <p:attrName>ppt_y</p:attrName>
                                        </p:attrNameLst>
                                      </p:cBhvr>
                                      <p:rCtr x="-5208" y="10472"/>
                                    </p:animMotion>
                                  </p:childTnLst>
                                </p:cTn>
                              </p:par>
                            </p:childTnLst>
                          </p:cTn>
                        </p:par>
                        <p:par>
                          <p:cTn id="16" fill="hold">
                            <p:stCondLst>
                              <p:cond delay="2000"/>
                            </p:stCondLst>
                            <p:childTnLst>
                              <p:par>
                                <p:cTn id="17" presetID="12" presetClass="entr" presetSubtype="8" fill="hold" grpId="0" nodeType="afterEffect">
                                  <p:stCondLst>
                                    <p:cond delay="0"/>
                                  </p:stCondLst>
                                  <p:childTnLst>
                                    <p:set>
                                      <p:cBhvr>
                                        <p:cTn id="18" dur="1" fill="hold">
                                          <p:stCondLst>
                                            <p:cond delay="0"/>
                                          </p:stCondLst>
                                        </p:cTn>
                                        <p:tgtEl>
                                          <p:spTgt spid="100"/>
                                        </p:tgtEl>
                                        <p:attrNameLst>
                                          <p:attrName>style.visibility</p:attrName>
                                        </p:attrNameLst>
                                      </p:cBhvr>
                                      <p:to>
                                        <p:strVal val="visible"/>
                                      </p:to>
                                    </p:set>
                                    <p:anim calcmode="lin" valueType="num">
                                      <p:cBhvr additive="base">
                                        <p:cTn id="19" dur="1000"/>
                                        <p:tgtEl>
                                          <p:spTgt spid="100"/>
                                        </p:tgtEl>
                                        <p:attrNameLst>
                                          <p:attrName>ppt_x</p:attrName>
                                        </p:attrNameLst>
                                      </p:cBhvr>
                                      <p:tavLst>
                                        <p:tav tm="0">
                                          <p:val>
                                            <p:strVal val="#ppt_x-#ppt_w*1.125000"/>
                                          </p:val>
                                        </p:tav>
                                        <p:tav tm="100000">
                                          <p:val>
                                            <p:strVal val="#ppt_x"/>
                                          </p:val>
                                        </p:tav>
                                      </p:tavLst>
                                    </p:anim>
                                    <p:animEffect transition="in" filter="wipe(right)">
                                      <p:cBhvr>
                                        <p:cTn id="20" dur="1000"/>
                                        <p:tgtEl>
                                          <p:spTgt spid="100"/>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1"/>
                                        </p:tgtEl>
                                        <p:attrNameLst>
                                          <p:attrName>style.visibility</p:attrName>
                                        </p:attrNameLst>
                                      </p:cBhvr>
                                      <p:to>
                                        <p:strVal val="visible"/>
                                      </p:to>
                                    </p:set>
                                  </p:childTnLst>
                                </p:cTn>
                              </p:par>
                            </p:childTnLst>
                          </p:cTn>
                        </p:par>
                        <p:par>
                          <p:cTn id="25" fill="hold">
                            <p:stCondLst>
                              <p:cond delay="0"/>
                            </p:stCondLst>
                            <p:childTnLst>
                              <p:par>
                                <p:cTn id="26" presetID="0" presetClass="path" presetSubtype="0" accel="50000" decel="50000" fill="hold" grpId="1" nodeType="afterEffect">
                                  <p:stCondLst>
                                    <p:cond delay="0"/>
                                  </p:stCondLst>
                                  <p:childTnLst>
                                    <p:animMotion origin="layout" path="M -0.00035 0.00055 L -0.00035 -0.04889 L -0.11042 -0.1475 L -0.11042 -0.21139 " pathEditMode="relative" ptsTypes="AAAA">
                                      <p:cBhvr>
                                        <p:cTn id="27" dur="2000" fill="hold"/>
                                        <p:tgtEl>
                                          <p:spTgt spid="101"/>
                                        </p:tgtEl>
                                        <p:attrNameLst>
                                          <p:attrName>ppt_x</p:attrName>
                                          <p:attrName>ppt_y</p:attrName>
                                        </p:attrNameLst>
                                      </p:cBhvr>
                                    </p:animMotion>
                                  </p:childTnLst>
                                </p:cTn>
                              </p:par>
                            </p:childTnLst>
                          </p:cTn>
                        </p:par>
                        <p:par>
                          <p:cTn id="28" fill="hold">
                            <p:stCondLst>
                              <p:cond delay="2000"/>
                            </p:stCondLst>
                            <p:childTnLst>
                              <p:par>
                                <p:cTn id="29" presetID="12" presetClass="entr" presetSubtype="8"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 calcmode="lin" valueType="num">
                                      <p:cBhvr additive="base">
                                        <p:cTn id="31" dur="1000"/>
                                        <p:tgtEl>
                                          <p:spTgt spid="30"/>
                                        </p:tgtEl>
                                        <p:attrNameLst>
                                          <p:attrName>ppt_x</p:attrName>
                                        </p:attrNameLst>
                                      </p:cBhvr>
                                      <p:tavLst>
                                        <p:tav tm="0">
                                          <p:val>
                                            <p:strVal val="#ppt_x-#ppt_w*1.125000"/>
                                          </p:val>
                                        </p:tav>
                                        <p:tav tm="100000">
                                          <p:val>
                                            <p:strVal val="#ppt_x"/>
                                          </p:val>
                                        </p:tav>
                                      </p:tavLst>
                                    </p:anim>
                                    <p:animEffect transition="in" filter="wipe(right)">
                                      <p:cBhvr>
                                        <p:cTn id="32" dur="1000"/>
                                        <p:tgtEl>
                                          <p:spTgt spid="30"/>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 calcmode="lin" valueType="num">
                                      <p:cBhvr additive="base">
                                        <p:cTn id="37" dur="1000"/>
                                        <p:tgtEl>
                                          <p:spTgt spid="32"/>
                                        </p:tgtEl>
                                        <p:attrNameLst>
                                          <p:attrName>ppt_x</p:attrName>
                                        </p:attrNameLst>
                                      </p:cBhvr>
                                      <p:tavLst>
                                        <p:tav tm="0">
                                          <p:val>
                                            <p:strVal val="#ppt_x-#ppt_w*1.125000"/>
                                          </p:val>
                                        </p:tav>
                                        <p:tav tm="100000">
                                          <p:val>
                                            <p:strVal val="#ppt_x"/>
                                          </p:val>
                                        </p:tav>
                                      </p:tavLst>
                                    </p:anim>
                                    <p:animEffect transition="in" filter="wipe(right)">
                                      <p:cBhvr>
                                        <p:cTn id="38" dur="1000"/>
                                        <p:tgtEl>
                                          <p:spTgt spid="32"/>
                                        </p:tgtEl>
                                      </p:cBhvr>
                                    </p:animEffect>
                                  </p:childTnLst>
                                </p:cTn>
                              </p:par>
                            </p:childTnLst>
                          </p:cTn>
                        </p:par>
                        <p:par>
                          <p:cTn id="39" fill="hold">
                            <p:stCondLst>
                              <p:cond delay="1000"/>
                            </p:stCondLst>
                            <p:childTnLst>
                              <p:par>
                                <p:cTn id="40" presetID="1" presetClass="entr" presetSubtype="0" fill="hold" grpId="1" nodeType="afterEffect">
                                  <p:stCondLst>
                                    <p:cond delay="0"/>
                                  </p:stCondLst>
                                  <p:childTnLst>
                                    <p:set>
                                      <p:cBhvr>
                                        <p:cTn id="41" dur="1" fill="hold">
                                          <p:stCondLst>
                                            <p:cond delay="0"/>
                                          </p:stCondLst>
                                        </p:cTn>
                                        <p:tgtEl>
                                          <p:spTgt spid="33"/>
                                        </p:tgtEl>
                                        <p:attrNameLst>
                                          <p:attrName>style.visibility</p:attrName>
                                        </p:attrNameLst>
                                      </p:cBhvr>
                                      <p:to>
                                        <p:strVal val="visible"/>
                                      </p:to>
                                    </p:set>
                                  </p:childTnLst>
                                </p:cTn>
                              </p:par>
                            </p:childTnLst>
                          </p:cTn>
                        </p:par>
                        <p:par>
                          <p:cTn id="42" fill="hold">
                            <p:stCondLst>
                              <p:cond delay="1000"/>
                            </p:stCondLst>
                            <p:childTnLst>
                              <p:par>
                                <p:cTn id="43" presetID="0" presetClass="path" presetSubtype="0" accel="50000" decel="50000" fill="hold" grpId="0" nodeType="afterEffect">
                                  <p:stCondLst>
                                    <p:cond delay="0"/>
                                  </p:stCondLst>
                                  <p:childTnLst>
                                    <p:animMotion origin="layout" path="M 8.33333E-7 0.00083 L 0.0026 0.05416 L -0.1066 0.15 L -0.1066 0.21027 L -0.1066 0.21055 " pathEditMode="relative" rAng="0" ptsTypes="AAAAA">
                                      <p:cBhvr>
                                        <p:cTn id="44" dur="2000" fill="hold"/>
                                        <p:tgtEl>
                                          <p:spTgt spid="33"/>
                                        </p:tgtEl>
                                        <p:attrNameLst>
                                          <p:attrName>ppt_x</p:attrName>
                                          <p:attrName>ppt_y</p:attrName>
                                        </p:attrNameLst>
                                      </p:cBhvr>
                                      <p:rCtr x="-5208" y="10472"/>
                                    </p:animMotion>
                                  </p:childTnLst>
                                </p:cTn>
                              </p:par>
                            </p:childTnLst>
                          </p:cTn>
                        </p:par>
                        <p:par>
                          <p:cTn id="45" fill="hold">
                            <p:stCondLst>
                              <p:cond delay="3000"/>
                            </p:stCondLst>
                            <p:childTnLst>
                              <p:par>
                                <p:cTn id="46" presetID="12" presetClass="entr" presetSubtype="8" fill="hold" grpId="0" nodeType="afterEffect">
                                  <p:stCondLst>
                                    <p:cond delay="0"/>
                                  </p:stCondLst>
                                  <p:childTnLst>
                                    <p:set>
                                      <p:cBhvr>
                                        <p:cTn id="47" dur="1" fill="hold">
                                          <p:stCondLst>
                                            <p:cond delay="0"/>
                                          </p:stCondLst>
                                        </p:cTn>
                                        <p:tgtEl>
                                          <p:spTgt spid="34"/>
                                        </p:tgtEl>
                                        <p:attrNameLst>
                                          <p:attrName>style.visibility</p:attrName>
                                        </p:attrNameLst>
                                      </p:cBhvr>
                                      <p:to>
                                        <p:strVal val="visible"/>
                                      </p:to>
                                    </p:set>
                                    <p:anim calcmode="lin" valueType="num">
                                      <p:cBhvr additive="base">
                                        <p:cTn id="48" dur="1000"/>
                                        <p:tgtEl>
                                          <p:spTgt spid="34"/>
                                        </p:tgtEl>
                                        <p:attrNameLst>
                                          <p:attrName>ppt_x</p:attrName>
                                        </p:attrNameLst>
                                      </p:cBhvr>
                                      <p:tavLst>
                                        <p:tav tm="0">
                                          <p:val>
                                            <p:strVal val="#ppt_x-#ppt_w*1.125000"/>
                                          </p:val>
                                        </p:tav>
                                        <p:tav tm="100000">
                                          <p:val>
                                            <p:strVal val="#ppt_x"/>
                                          </p:val>
                                        </p:tav>
                                      </p:tavLst>
                                    </p:anim>
                                    <p:animEffect transition="in" filter="wipe(right)">
                                      <p:cBhvr>
                                        <p:cTn id="49" dur="1000"/>
                                        <p:tgtEl>
                                          <p:spTgt spid="34"/>
                                        </p:tgtEl>
                                      </p:cBhvr>
                                    </p:animEffect>
                                  </p:childTnLst>
                                </p:cTn>
                              </p:par>
                            </p:childTnLst>
                          </p:cTn>
                        </p:par>
                        <p:par>
                          <p:cTn id="50" fill="hold">
                            <p:stCondLst>
                              <p:cond delay="4000"/>
                            </p:stCondLst>
                            <p:childTnLst>
                              <p:par>
                                <p:cTn id="51" presetID="1"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childTnLst>
                                </p:cTn>
                              </p:par>
                            </p:childTnLst>
                          </p:cTn>
                        </p:par>
                        <p:par>
                          <p:cTn id="53" fill="hold">
                            <p:stCondLst>
                              <p:cond delay="4000"/>
                            </p:stCondLst>
                            <p:childTnLst>
                              <p:par>
                                <p:cTn id="54" presetID="0" presetClass="path" presetSubtype="0" accel="50000" decel="50000" fill="hold" grpId="1" nodeType="afterEffect">
                                  <p:stCondLst>
                                    <p:cond delay="0"/>
                                  </p:stCondLst>
                                  <p:childTnLst>
                                    <p:animMotion origin="layout" path="M -0.00035 0.00055 L -0.00035 -0.04889 L -0.11042 -0.1475 L -0.11042 -0.21139 " pathEditMode="relative" rAng="0" ptsTypes="AAAA">
                                      <p:cBhvr>
                                        <p:cTn id="55" dur="2000" fill="hold"/>
                                        <p:tgtEl>
                                          <p:spTgt spid="31"/>
                                        </p:tgtEl>
                                        <p:attrNameLst>
                                          <p:attrName>ppt_x</p:attrName>
                                          <p:attrName>ppt_y</p:attrName>
                                        </p:attrNameLst>
                                      </p:cBhvr>
                                      <p:rCtr x="-5503" y="-10611"/>
                                    </p:animMotion>
                                  </p:childTnLst>
                                </p:cTn>
                              </p:par>
                            </p:childTnLst>
                          </p:cTn>
                        </p:par>
                        <p:par>
                          <p:cTn id="56" fill="hold">
                            <p:stCondLst>
                              <p:cond delay="6000"/>
                            </p:stCondLst>
                            <p:childTnLst>
                              <p:par>
                                <p:cTn id="57" presetID="12" presetClass="entr" presetSubtype="8"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 calcmode="lin" valueType="num">
                                      <p:cBhvr additive="base">
                                        <p:cTn id="59" dur="1000"/>
                                        <p:tgtEl>
                                          <p:spTgt spid="35"/>
                                        </p:tgtEl>
                                        <p:attrNameLst>
                                          <p:attrName>ppt_x</p:attrName>
                                        </p:attrNameLst>
                                      </p:cBhvr>
                                      <p:tavLst>
                                        <p:tav tm="0">
                                          <p:val>
                                            <p:strVal val="#ppt_x-#ppt_w*1.125000"/>
                                          </p:val>
                                        </p:tav>
                                        <p:tav tm="100000">
                                          <p:val>
                                            <p:strVal val="#ppt_x"/>
                                          </p:val>
                                        </p:tav>
                                      </p:tavLst>
                                    </p:anim>
                                    <p:animEffect transition="in" filter="wipe(right)">
                                      <p:cBhvr>
                                        <p:cTn id="60" dur="1000"/>
                                        <p:tgtEl>
                                          <p:spTgt spid="35"/>
                                        </p:tgtEl>
                                      </p:cBhvr>
                                    </p:animEffect>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118"/>
                                        </p:tgtEl>
                                        <p:attrNameLst>
                                          <p:attrName>style.visibility</p:attrName>
                                        </p:attrNameLst>
                                      </p:cBhvr>
                                      <p:to>
                                        <p:strVal val="visible"/>
                                      </p:to>
                                    </p:set>
                                    <p:animEffect transition="in" filter="fade">
                                      <p:cBhvr>
                                        <p:cTn id="65" dur="1000"/>
                                        <p:tgtEl>
                                          <p:spTgt spid="118"/>
                                        </p:tgtEl>
                                      </p:cBhvr>
                                    </p:animEffect>
                                    <p:anim calcmode="lin" valueType="num">
                                      <p:cBhvr>
                                        <p:cTn id="66" dur="1000" fill="hold"/>
                                        <p:tgtEl>
                                          <p:spTgt spid="118"/>
                                        </p:tgtEl>
                                        <p:attrNameLst>
                                          <p:attrName>ppt_x</p:attrName>
                                        </p:attrNameLst>
                                      </p:cBhvr>
                                      <p:tavLst>
                                        <p:tav tm="0">
                                          <p:val>
                                            <p:strVal val="#ppt_x"/>
                                          </p:val>
                                        </p:tav>
                                        <p:tav tm="100000">
                                          <p:val>
                                            <p:strVal val="#ppt_x"/>
                                          </p:val>
                                        </p:tav>
                                      </p:tavLst>
                                    </p:anim>
                                    <p:anim calcmode="lin" valueType="num">
                                      <p:cBhvr>
                                        <p:cTn id="67" dur="1000" fill="hold"/>
                                        <p:tgtEl>
                                          <p:spTgt spid="1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1" grpId="1" animBg="1"/>
      <p:bldP spid="98" grpId="0" animBg="1"/>
      <p:bldP spid="99" grpId="0" animBg="1"/>
      <p:bldP spid="99" grpId="1" animBg="1"/>
      <p:bldP spid="100" grpId="0" animBg="1"/>
      <p:bldP spid="30" grpId="0" animBg="1"/>
      <p:bldP spid="31" grpId="0" animBg="1"/>
      <p:bldP spid="31" grpId="1" animBg="1"/>
      <p:bldP spid="32" grpId="0" animBg="1"/>
      <p:bldP spid="33" grpId="0" animBg="1"/>
      <p:bldP spid="33" grpId="1" animBg="1"/>
      <p:bldP spid="34" grpId="0" animBg="1"/>
      <p:bldP spid="3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34264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2" y="208883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锁存器与触发器</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86198" y="2835194"/>
            <a:ext cx="4365123" cy="1046440"/>
          </a:xfrm>
          <a:prstGeom prst="rect">
            <a:avLst/>
          </a:prstGeom>
        </p:spPr>
        <p:txBody>
          <a:bodyPr wrap="square">
            <a:spAutoFit/>
          </a:bodyPr>
          <a:lstStyle/>
          <a:p>
            <a:pPr algn="ctr">
              <a:spcBef>
                <a:spcPts val="12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5.2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5.2.1 SR</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锁存器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ransition spd="slow">
    <p:comb/>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392432" y="778617"/>
            <a:ext cx="1729149" cy="420971"/>
            <a:chOff x="670560" y="892917"/>
            <a:chExt cx="1729149" cy="420971"/>
          </a:xfrm>
        </p:grpSpPr>
        <p:sp>
          <p:nvSpPr>
            <p:cNvPr id="71" name="矩形 70"/>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8" name="Rectangle 20"/>
          <p:cNvSpPr>
            <a:spLocks noChangeArrowheads="1"/>
          </p:cNvSpPr>
          <p:nvPr/>
        </p:nvSpPr>
        <p:spPr bwMode="auto">
          <a:xfrm>
            <a:off x="417194" y="1301115"/>
            <a:ext cx="4041339" cy="338554"/>
          </a:xfrm>
          <a:prstGeom prst="rect">
            <a:avLst/>
          </a:prstGeom>
          <a:noFill/>
          <a:ln w="9525" algn="ctr">
            <a:noFill/>
            <a:miter lim="800000"/>
          </a:ln>
        </p:spPr>
        <p:txBody>
          <a:bodyPr wrap="square">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1</a:t>
            </a:r>
            <a:r>
              <a:rPr lang="zh-CN" altLang="en-US" sz="1600" b="1" dirty="0">
                <a:solidFill>
                  <a:srgbClr val="002060"/>
                </a:solidFill>
                <a:latin typeface="微软雅黑" panose="020B0503020204020204" pitchFamily="34" charset="-122"/>
                <a:ea typeface="微软雅黑" panose="020B0503020204020204" pitchFamily="34" charset="-122"/>
              </a:rPr>
              <a:t>、基本</a:t>
            </a:r>
            <a:r>
              <a:rPr lang="en-US" altLang="zh-CN" sz="1600" b="1" dirty="0">
                <a:solidFill>
                  <a:srgbClr val="002060"/>
                </a:solidFill>
                <a:latin typeface="微软雅黑" panose="020B0503020204020204" pitchFamily="34" charset="-122"/>
                <a:ea typeface="微软雅黑" panose="020B0503020204020204" pitchFamily="34" charset="-122"/>
              </a:rPr>
              <a:t>SR</a:t>
            </a:r>
            <a:r>
              <a:rPr lang="zh-CN" altLang="en-US" sz="1600" b="1" dirty="0">
                <a:solidFill>
                  <a:srgbClr val="002060"/>
                </a:solidFill>
                <a:latin typeface="微软雅黑" panose="020B0503020204020204" pitchFamily="34" charset="-122"/>
                <a:ea typeface="微软雅黑" panose="020B0503020204020204" pitchFamily="34" charset="-122"/>
              </a:rPr>
              <a:t>锁存器</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电路结构</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grpSp>
        <p:nvGrpSpPr>
          <p:cNvPr id="123" name="组合 122"/>
          <p:cNvGrpSpPr/>
          <p:nvPr/>
        </p:nvGrpSpPr>
        <p:grpSpPr>
          <a:xfrm>
            <a:off x="2945421" y="1691374"/>
            <a:ext cx="2181013" cy="2034540"/>
            <a:chOff x="2937933" y="1684020"/>
            <a:chExt cx="2181013" cy="2034540"/>
          </a:xfrm>
        </p:grpSpPr>
        <p:sp>
          <p:nvSpPr>
            <p:cNvPr id="54" name="剪去对角的矩形 53"/>
            <p:cNvSpPr/>
            <p:nvPr/>
          </p:nvSpPr>
          <p:spPr>
            <a:xfrm>
              <a:off x="2937933" y="168402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9"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1036" name="位图图像" r:id="rId2" imgW="3314700" imgH="3638550" progId="PBrush">
                    <p:embed/>
                  </p:oleObj>
                </mc:Choice>
                <mc:Fallback>
                  <p:oleObj name="位图图像" r:id="rId2" imgW="3314700" imgH="3638550" progId="PBrush">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3" name="组合 2"/>
          <p:cNvGrpSpPr/>
          <p:nvPr/>
        </p:nvGrpSpPr>
        <p:grpSpPr>
          <a:xfrm>
            <a:off x="937895" y="2029194"/>
            <a:ext cx="2202205" cy="1468597"/>
            <a:chOff x="937895" y="2029194"/>
            <a:chExt cx="2202205" cy="1468597"/>
          </a:xfrm>
        </p:grpSpPr>
        <p:sp>
          <p:nvSpPr>
            <p:cNvPr id="42" name="AutoShape 10"/>
            <p:cNvSpPr>
              <a:spLocks noChangeArrowheads="1"/>
            </p:cNvSpPr>
            <p:nvPr/>
          </p:nvSpPr>
          <p:spPr bwMode="auto">
            <a:xfrm>
              <a:off x="937895" y="2029194"/>
              <a:ext cx="1684019" cy="1358900"/>
            </a:xfrm>
            <a:prstGeom prst="wedgeRoundRectCallout">
              <a:avLst>
                <a:gd name="adj1" fmla="val 48678"/>
                <a:gd name="adj2" fmla="val -22890"/>
                <a:gd name="adj3" fmla="val 16667"/>
              </a:avLst>
            </a:prstGeom>
            <a:solidFill>
              <a:srgbClr val="FFFF99"/>
            </a:solidFill>
            <a:ln w="28575" algn="ctr">
              <a:solidFill>
                <a:srgbClr val="0070C0"/>
              </a:solidFill>
              <a:miter lim="800000"/>
            </a:ln>
          </p:spPr>
          <p:txBody>
            <a:bodyPr lIns="0" tIns="0" rIns="0" bIns="0" anchor="ctr"/>
            <a:lstStyle/>
            <a:p>
              <a:pPr>
                <a:lnSpc>
                  <a:spcPct val="124000"/>
                </a:lnSpc>
                <a:spcBef>
                  <a:spcPts val="300"/>
                </a:spcBef>
                <a:spcAft>
                  <a:spcPts val="300"/>
                </a:spcAft>
              </a:pPr>
              <a:r>
                <a:rPr lang="zh-CN" altLang="en-US" sz="1600" dirty="0">
                  <a:solidFill>
                    <a:srgbClr val="6600FF"/>
                  </a:solidFill>
                  <a:latin typeface="微软雅黑" panose="020B0503020204020204" pitchFamily="34" charset="-122"/>
                  <a:ea typeface="微软雅黑" panose="020B0503020204020204" pitchFamily="34" charset="-122"/>
                </a:rPr>
                <a:t>有两个输入端：</a:t>
              </a:r>
              <a:endParaRPr lang="en-US" altLang="zh-CN" sz="1600" dirty="0">
                <a:solidFill>
                  <a:srgbClr val="6600FF"/>
                </a:solidFill>
                <a:latin typeface="微软雅黑" panose="020B0503020204020204" pitchFamily="34" charset="-122"/>
                <a:ea typeface="微软雅黑" panose="020B0503020204020204" pitchFamily="34" charset="-122"/>
              </a:endParaRPr>
            </a:p>
            <a:p>
              <a:pPr>
                <a:lnSpc>
                  <a:spcPct val="124000"/>
                </a:lnSpc>
                <a:spcBef>
                  <a:spcPts val="300"/>
                </a:spcBef>
                <a:spcAft>
                  <a:spcPts val="300"/>
                </a:spcAft>
              </a:pPr>
              <a:r>
                <a:rPr lang="en-US" altLang="zh-CN" sz="1600" dirty="0">
                  <a:solidFill>
                    <a:srgbClr val="6600FF"/>
                  </a:solidFill>
                  <a:latin typeface="微软雅黑" panose="020B0503020204020204" pitchFamily="34" charset="-122"/>
                  <a:ea typeface="微软雅黑" panose="020B0503020204020204" pitchFamily="34" charset="-122"/>
                </a:rPr>
                <a:t>S (Set</a:t>
              </a:r>
              <a:r>
                <a:rPr lang="zh-CN" altLang="en-US" sz="1600" dirty="0">
                  <a:solidFill>
                    <a:srgbClr val="6600FF"/>
                  </a:solidFill>
                  <a:latin typeface="微软雅黑" panose="020B0503020204020204" pitchFamily="34" charset="-122"/>
                  <a:ea typeface="微软雅黑" panose="020B0503020204020204" pitchFamily="34" charset="-122"/>
                </a:rPr>
                <a:t>、置位</a:t>
              </a:r>
              <a:r>
                <a:rPr lang="en-US" altLang="zh-CN" sz="1600" dirty="0">
                  <a:solidFill>
                    <a:srgbClr val="6600FF"/>
                  </a:solidFill>
                  <a:latin typeface="微软雅黑" panose="020B0503020204020204" pitchFamily="34" charset="-122"/>
                  <a:ea typeface="微软雅黑" panose="020B0503020204020204" pitchFamily="34" charset="-122"/>
                </a:rPr>
                <a:t>)</a:t>
              </a:r>
              <a:endParaRPr lang="en-US" altLang="zh-CN" sz="1600" dirty="0">
                <a:solidFill>
                  <a:srgbClr val="6600FF"/>
                </a:solidFill>
                <a:latin typeface="微软雅黑" panose="020B0503020204020204" pitchFamily="34" charset="-122"/>
                <a:ea typeface="微软雅黑" panose="020B0503020204020204" pitchFamily="34" charset="-122"/>
              </a:endParaRPr>
            </a:p>
            <a:p>
              <a:pPr>
                <a:lnSpc>
                  <a:spcPct val="124000"/>
                </a:lnSpc>
                <a:spcBef>
                  <a:spcPts val="300"/>
                </a:spcBef>
                <a:spcAft>
                  <a:spcPts val="300"/>
                </a:spcAft>
              </a:pPr>
              <a:r>
                <a:rPr lang="en-US" altLang="zh-CN" sz="1600" dirty="0">
                  <a:solidFill>
                    <a:srgbClr val="6600FF"/>
                  </a:solidFill>
                  <a:latin typeface="微软雅黑" panose="020B0503020204020204" pitchFamily="34" charset="-122"/>
                  <a:ea typeface="微软雅黑" panose="020B0503020204020204" pitchFamily="34" charset="-122"/>
                </a:rPr>
                <a:t>R(Reset</a:t>
              </a:r>
              <a:r>
                <a:rPr lang="zh-CN" altLang="en-US" sz="1600" dirty="0">
                  <a:solidFill>
                    <a:srgbClr val="6600FF"/>
                  </a:solidFill>
                  <a:latin typeface="微软雅黑" panose="020B0503020204020204" pitchFamily="34" charset="-122"/>
                  <a:ea typeface="微软雅黑" panose="020B0503020204020204" pitchFamily="34" charset="-122"/>
                </a:rPr>
                <a:t>、复位</a:t>
              </a:r>
              <a:r>
                <a:rPr lang="en-US" altLang="zh-CN" sz="1600" dirty="0">
                  <a:solidFill>
                    <a:srgbClr val="6600FF"/>
                  </a:solidFill>
                  <a:latin typeface="微软雅黑" panose="020B0503020204020204" pitchFamily="34" charset="-122"/>
                  <a:ea typeface="微软雅黑" panose="020B0503020204020204" pitchFamily="34" charset="-122"/>
                </a:rPr>
                <a:t>)</a:t>
              </a:r>
              <a:endParaRPr lang="en-US" altLang="zh-CN" sz="1600" dirty="0">
                <a:solidFill>
                  <a:srgbClr val="6600FF"/>
                </a:solidFill>
                <a:latin typeface="微软雅黑" panose="020B0503020204020204" pitchFamily="34" charset="-122"/>
                <a:ea typeface="微软雅黑" panose="020B0503020204020204" pitchFamily="34" charset="-122"/>
              </a:endParaRPr>
            </a:p>
          </p:txBody>
        </p:sp>
        <p:sp>
          <p:nvSpPr>
            <p:cNvPr id="55" name="左大括号 54"/>
            <p:cNvSpPr/>
            <p:nvPr/>
          </p:nvSpPr>
          <p:spPr>
            <a:xfrm>
              <a:off x="2781114" y="2102485"/>
              <a:ext cx="358986" cy="1395306"/>
            </a:xfrm>
            <a:prstGeom prst="leftBrace">
              <a:avLst>
                <a:gd name="adj1" fmla="val 5361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3"/>
          <p:cNvGrpSpPr/>
          <p:nvPr/>
        </p:nvGrpSpPr>
        <p:grpSpPr>
          <a:xfrm>
            <a:off x="4847168" y="1546860"/>
            <a:ext cx="2761663" cy="1897380"/>
            <a:chOff x="4847168" y="1546860"/>
            <a:chExt cx="2761663" cy="1897380"/>
          </a:xfrm>
        </p:grpSpPr>
        <p:grpSp>
          <p:nvGrpSpPr>
            <p:cNvPr id="43" name="Group 15"/>
            <p:cNvGrpSpPr/>
            <p:nvPr/>
          </p:nvGrpSpPr>
          <p:grpSpPr bwMode="auto">
            <a:xfrm>
              <a:off x="5438509" y="1546860"/>
              <a:ext cx="2170322" cy="1111250"/>
              <a:chOff x="3686" y="1656"/>
              <a:chExt cx="2010" cy="700"/>
            </a:xfrm>
          </p:grpSpPr>
          <p:sp>
            <p:nvSpPr>
              <p:cNvPr id="44" name="AutoShape 12"/>
              <p:cNvSpPr>
                <a:spLocks noChangeArrowheads="1"/>
              </p:cNvSpPr>
              <p:nvPr/>
            </p:nvSpPr>
            <p:spPr bwMode="auto">
              <a:xfrm>
                <a:off x="3686" y="1656"/>
                <a:ext cx="2010" cy="700"/>
              </a:xfrm>
              <a:prstGeom prst="wedgeRoundRectCallout">
                <a:avLst>
                  <a:gd name="adj1" fmla="val -50100"/>
                  <a:gd name="adj2" fmla="val 65433"/>
                  <a:gd name="adj3" fmla="val 16667"/>
                </a:avLst>
              </a:prstGeom>
              <a:solidFill>
                <a:srgbClr val="FFFF99"/>
              </a:solidFill>
              <a:ln w="28575" algn="ctr">
                <a:solidFill>
                  <a:srgbClr val="FF0000"/>
                </a:solidFill>
                <a:miter lim="800000"/>
              </a:ln>
            </p:spPr>
            <p:txBody>
              <a:bodyPr lIns="0" tIns="0" rIns="0" bIns="0" anchor="ctr"/>
              <a:lstStyle/>
              <a:p>
                <a:pPr algn="l">
                  <a:lnSpc>
                    <a:spcPct val="124000"/>
                  </a:lnSpc>
                  <a:spcBef>
                    <a:spcPts val="300"/>
                  </a:spcBef>
                  <a:spcAft>
                    <a:spcPts val="300"/>
                  </a:spcAft>
                </a:pP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有两个输出端</a:t>
                </a:r>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。正常情况下，它们是互补的 。</a:t>
                </a:r>
                <a:endParaRPr lang="en-US" altLang="zh-CN" sz="16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Line 14"/>
              <p:cNvSpPr>
                <a:spLocks noChangeShapeType="1"/>
              </p:cNvSpPr>
              <p:nvPr/>
            </p:nvSpPr>
            <p:spPr bwMode="auto">
              <a:xfrm>
                <a:off x="5238" y="1758"/>
                <a:ext cx="133" cy="0"/>
              </a:xfrm>
              <a:prstGeom prst="line">
                <a:avLst/>
              </a:prstGeom>
              <a:noFill/>
              <a:ln w="12700">
                <a:solidFill>
                  <a:srgbClr val="6600FF"/>
                </a:solidFill>
                <a:round/>
              </a:ln>
              <a:effectLst/>
            </p:spPr>
            <p:txBody>
              <a:bodyPr lIns="0" rIns="0" anchor="ctr"/>
              <a:lstStyle/>
              <a:p>
                <a:pPr>
                  <a:defRPr/>
                </a:pPr>
                <a:endParaRPr lang="zh-CN" altLang="en-US" sz="1600">
                  <a:solidFill>
                    <a:srgbClr val="6600FF"/>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04" name="左大括号 103"/>
            <p:cNvSpPr/>
            <p:nvPr/>
          </p:nvSpPr>
          <p:spPr>
            <a:xfrm flipH="1">
              <a:off x="4847168" y="2164927"/>
              <a:ext cx="358986" cy="1279313"/>
            </a:xfrm>
            <a:prstGeom prst="leftBrace">
              <a:avLst>
                <a:gd name="adj1" fmla="val 5361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07" name="组合 106"/>
          <p:cNvGrpSpPr/>
          <p:nvPr/>
        </p:nvGrpSpPr>
        <p:grpSpPr>
          <a:xfrm>
            <a:off x="5666501" y="2804583"/>
            <a:ext cx="1447800" cy="1013460"/>
            <a:chOff x="1097280" y="3261360"/>
            <a:chExt cx="1447800" cy="1013460"/>
          </a:xfrm>
        </p:grpSpPr>
        <p:sp>
          <p:nvSpPr>
            <p:cNvPr id="106" name="圆角矩形 105"/>
            <p:cNvSpPr/>
            <p:nvPr/>
          </p:nvSpPr>
          <p:spPr>
            <a:xfrm>
              <a:off x="1097280" y="3261360"/>
              <a:ext cx="1447800" cy="1013460"/>
            </a:xfrm>
            <a:prstGeom prst="roundRect">
              <a:avLst/>
            </a:prstGeom>
            <a:solidFill>
              <a:srgbClr val="66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50" name="Object 18"/>
            <p:cNvGraphicFramePr>
              <a:graphicFrameLocks noChangeAspect="1"/>
            </p:cNvGraphicFramePr>
            <p:nvPr/>
          </p:nvGraphicFramePr>
          <p:xfrm>
            <a:off x="1227005" y="3310890"/>
            <a:ext cx="1158875" cy="914400"/>
          </p:xfrm>
          <a:graphic>
            <a:graphicData uri="http://schemas.openxmlformats.org/presentationml/2006/ole">
              <mc:AlternateContent xmlns:mc="http://schemas.openxmlformats.org/markup-compatibility/2006">
                <mc:Choice xmlns:v="urn:schemas-microsoft-com:vml" Requires="v">
                  <p:oleObj spid="_x0000_s1037" name="Visio" r:id="rId4" imgW="885190" imgH="612775" progId="Visio.Drawing.11">
                    <p:embed/>
                  </p:oleObj>
                </mc:Choice>
                <mc:Fallback>
                  <p:oleObj name="Visio" r:id="rId4" imgW="885190" imgH="612775" progId="Visio.Drawing.11">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27005" y="3310890"/>
                          <a:ext cx="1158875"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2" name="矩形 1"/>
          <p:cNvSpPr/>
          <p:nvPr/>
        </p:nvSpPr>
        <p:spPr>
          <a:xfrm>
            <a:off x="843873" y="3971344"/>
            <a:ext cx="7659380" cy="700448"/>
          </a:xfrm>
          <a:prstGeom prst="rect">
            <a:avLst/>
          </a:prstGeom>
        </p:spPr>
        <p:txBody>
          <a:bodyPr wrap="square">
            <a:spAutoFit/>
          </a:bodyPr>
          <a:lstStyle/>
          <a:p>
            <a:pPr marL="285750" indent="-285750" algn="just">
              <a:lnSpc>
                <a:spcPct val="150000"/>
              </a:lnSpc>
              <a:spcAft>
                <a:spcPts val="0"/>
              </a:spcAft>
              <a:buFont typeface="Wingdings" panose="05000000000000000000" pitchFamily="2" charset="2"/>
              <a:buChar char="u"/>
            </a:pP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基本</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SR</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锁存器具有置</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（置位）</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（复位</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清零）</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和保持的</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功能</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lnSpc>
                <a:spcPct val="150000"/>
              </a:lnSpc>
              <a:spcAft>
                <a:spcPts val="0"/>
              </a:spcAft>
              <a:buFont typeface="Wingdings" panose="05000000000000000000" pitchFamily="2" charset="2"/>
              <a:buChar char="u"/>
            </a:pP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端的状态表示锁存器的状态，即当</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端为</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时，称锁存器处于</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状态；否则为</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状态。</a:t>
            </a:r>
            <a:endPar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23"/>
                                        </p:tgtEl>
                                        <p:attrNameLst>
                                          <p:attrName>style.visibility</p:attrName>
                                        </p:attrNameLst>
                                      </p:cBhvr>
                                      <p:to>
                                        <p:strVal val="visible"/>
                                      </p:to>
                                    </p:set>
                                    <p:animEffect transition="in" filter="fade">
                                      <p:cBhvr>
                                        <p:cTn id="13" dur="1000"/>
                                        <p:tgtEl>
                                          <p:spTgt spid="123"/>
                                        </p:tgtEl>
                                      </p:cBhvr>
                                    </p:animEffect>
                                    <p:anim calcmode="lin" valueType="num">
                                      <p:cBhvr>
                                        <p:cTn id="14" dur="1000" fill="hold"/>
                                        <p:tgtEl>
                                          <p:spTgt spid="123"/>
                                        </p:tgtEl>
                                        <p:attrNameLst>
                                          <p:attrName>ppt_x</p:attrName>
                                        </p:attrNameLst>
                                      </p:cBhvr>
                                      <p:tavLst>
                                        <p:tav tm="0">
                                          <p:val>
                                            <p:strVal val="#ppt_x"/>
                                          </p:val>
                                        </p:tav>
                                        <p:tav tm="100000">
                                          <p:val>
                                            <p:strVal val="#ppt_x"/>
                                          </p:val>
                                        </p:tav>
                                      </p:tavLst>
                                    </p:anim>
                                    <p:anim calcmode="lin" valueType="num">
                                      <p:cBhvr>
                                        <p:cTn id="15"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right)">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1000"/>
                                        <p:tgtEl>
                                          <p:spTgt spid="2"/>
                                        </p:tgtEl>
                                      </p:cBhvr>
                                    </p:animEffect>
                                    <p:anim calcmode="lin" valueType="num">
                                      <p:cBhvr>
                                        <p:cTn id="31" dur="1000" fill="hold"/>
                                        <p:tgtEl>
                                          <p:spTgt spid="2"/>
                                        </p:tgtEl>
                                        <p:attrNameLst>
                                          <p:attrName>ppt_x</p:attrName>
                                        </p:attrNameLst>
                                      </p:cBhvr>
                                      <p:tavLst>
                                        <p:tav tm="0">
                                          <p:val>
                                            <p:strVal val="#ppt_x"/>
                                          </p:val>
                                        </p:tav>
                                        <p:tav tm="100000">
                                          <p:val>
                                            <p:strVal val="#ppt_x"/>
                                          </p:val>
                                        </p:tav>
                                      </p:tavLst>
                                    </p:anim>
                                    <p:anim calcmode="lin" valueType="num">
                                      <p:cBhvr>
                                        <p:cTn id="32" dur="1000" fill="hold"/>
                                        <p:tgtEl>
                                          <p:spTgt spid="2"/>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42" presetClass="entr" presetSubtype="0" fill="hold" nodeType="afterEffect">
                                  <p:stCondLst>
                                    <p:cond delay="0"/>
                                  </p:stCondLst>
                                  <p:childTnLst>
                                    <p:set>
                                      <p:cBhvr>
                                        <p:cTn id="35" dur="1" fill="hold">
                                          <p:stCondLst>
                                            <p:cond delay="0"/>
                                          </p:stCondLst>
                                        </p:cTn>
                                        <p:tgtEl>
                                          <p:spTgt spid="107"/>
                                        </p:tgtEl>
                                        <p:attrNameLst>
                                          <p:attrName>style.visibility</p:attrName>
                                        </p:attrNameLst>
                                      </p:cBhvr>
                                      <p:to>
                                        <p:strVal val="visible"/>
                                      </p:to>
                                    </p:set>
                                    <p:animEffect transition="in" filter="fade">
                                      <p:cBhvr>
                                        <p:cTn id="36" dur="1000"/>
                                        <p:tgtEl>
                                          <p:spTgt spid="107"/>
                                        </p:tgtEl>
                                      </p:cBhvr>
                                    </p:animEffect>
                                    <p:anim calcmode="lin" valueType="num">
                                      <p:cBhvr>
                                        <p:cTn id="37" dur="1000" fill="hold"/>
                                        <p:tgtEl>
                                          <p:spTgt spid="107"/>
                                        </p:tgtEl>
                                        <p:attrNameLst>
                                          <p:attrName>ppt_x</p:attrName>
                                        </p:attrNameLst>
                                      </p:cBhvr>
                                      <p:tavLst>
                                        <p:tav tm="0">
                                          <p:val>
                                            <p:strVal val="#ppt_x"/>
                                          </p:val>
                                        </p:tav>
                                        <p:tav tm="100000">
                                          <p:val>
                                            <p:strVal val="#ppt_x"/>
                                          </p:val>
                                        </p:tav>
                                      </p:tavLst>
                                    </p:anim>
                                    <p:anim calcmode="lin" valueType="num">
                                      <p:cBhvr>
                                        <p:cTn id="38" dur="1000" fill="hold"/>
                                        <p:tgtEl>
                                          <p:spTgt spid="10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702213" y="80772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2055" name="位图图像" r:id="rId1" imgW="3314700" imgH="3638550" progId="PBrush">
                    <p:embed/>
                  </p:oleObj>
                </mc:Choice>
                <mc:Fallback>
                  <p:oleObj name="位图图像" r:id="rId1" imgW="3314700" imgH="3638550" progId="PBrush">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17" name="Oval 36"/>
          <p:cNvSpPr>
            <a:spLocks noChangeArrowheads="1"/>
          </p:cNvSpPr>
          <p:nvPr/>
        </p:nvSpPr>
        <p:spPr bwMode="auto">
          <a:xfrm>
            <a:off x="8116570" y="10080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9" name="Oval 40"/>
          <p:cNvSpPr>
            <a:spLocks noChangeArrowheads="1"/>
          </p:cNvSpPr>
          <p:nvPr/>
        </p:nvSpPr>
        <p:spPr bwMode="auto">
          <a:xfrm>
            <a:off x="8124190" y="2491276"/>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2" name="五边形 11"/>
          <p:cNvSpPr/>
          <p:nvPr/>
        </p:nvSpPr>
        <p:spPr>
          <a:xfrm>
            <a:off x="861060" y="1752600"/>
            <a:ext cx="1463040" cy="484632"/>
          </a:xfrm>
          <a:prstGeom prst="homePlat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R=1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grpSp>
        <p:nvGrpSpPr>
          <p:cNvPr id="21" name="组合 20"/>
          <p:cNvGrpSpPr/>
          <p:nvPr/>
        </p:nvGrpSpPr>
        <p:grpSpPr>
          <a:xfrm>
            <a:off x="7125970" y="1027113"/>
            <a:ext cx="252000" cy="1680750"/>
            <a:chOff x="7133590" y="1027113"/>
            <a:chExt cx="252000" cy="1680750"/>
          </a:xfrm>
        </p:grpSpPr>
        <p:sp>
          <p:nvSpPr>
            <p:cNvPr id="13" name="Oval 36"/>
            <p:cNvSpPr>
              <a:spLocks noChangeArrowheads="1"/>
            </p:cNvSpPr>
            <p:nvPr/>
          </p:nvSpPr>
          <p:spPr bwMode="auto">
            <a:xfrm>
              <a:off x="7133590" y="24558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4" name="Oval 40"/>
            <p:cNvSpPr>
              <a:spLocks noChangeArrowheads="1"/>
            </p:cNvSpPr>
            <p:nvPr/>
          </p:nvSpPr>
          <p:spPr bwMode="auto">
            <a:xfrm>
              <a:off x="7133590" y="102711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
        <p:nvSpPr>
          <p:cNvPr id="15" name="Oval 40"/>
          <p:cNvSpPr>
            <a:spLocks noChangeArrowheads="1"/>
          </p:cNvSpPr>
          <p:nvPr/>
        </p:nvSpPr>
        <p:spPr bwMode="auto">
          <a:xfrm>
            <a:off x="8130588" y="2491276"/>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6" name="Oval 36"/>
          <p:cNvSpPr>
            <a:spLocks noChangeArrowheads="1"/>
          </p:cNvSpPr>
          <p:nvPr/>
        </p:nvSpPr>
        <p:spPr bwMode="auto">
          <a:xfrm>
            <a:off x="8116570" y="10080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8" name="燕尾形 17"/>
          <p:cNvSpPr/>
          <p:nvPr/>
        </p:nvSpPr>
        <p:spPr>
          <a:xfrm>
            <a:off x="2125980" y="1752600"/>
            <a:ext cx="3467100"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（复位）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Rectangle 20"/>
          <p:cNvSpPr>
            <a:spLocks noChangeArrowheads="1"/>
          </p:cNvSpPr>
          <p:nvPr/>
        </p:nvSpPr>
        <p:spPr bwMode="auto">
          <a:xfrm>
            <a:off x="417194" y="1301115"/>
            <a:ext cx="4041339" cy="338554"/>
          </a:xfrm>
          <a:prstGeom prst="rect">
            <a:avLst/>
          </a:prstGeom>
          <a:noFill/>
          <a:ln w="9525" algn="ctr">
            <a:noFill/>
            <a:miter lim="800000"/>
          </a:ln>
        </p:spPr>
        <p:txBody>
          <a:bodyPr wrap="square">
            <a:spAutoFit/>
          </a:bodyPr>
          <a:lstStyle/>
          <a:p>
            <a:r>
              <a:rPr lang="en-US" altLang="zh-CN" sz="1600" b="1" dirty="0">
                <a:solidFill>
                  <a:srgbClr val="002060"/>
                </a:solidFill>
                <a:latin typeface="微软雅黑" panose="020B0503020204020204" pitchFamily="34" charset="-122"/>
                <a:ea typeface="微软雅黑" panose="020B0503020204020204" pitchFamily="34" charset="-122"/>
              </a:rPr>
              <a:t>1</a:t>
            </a:r>
            <a:r>
              <a:rPr lang="zh-CN" altLang="en-US" sz="1600" b="1" dirty="0">
                <a:solidFill>
                  <a:srgbClr val="002060"/>
                </a:solidFill>
                <a:latin typeface="微软雅黑" panose="020B0503020204020204" pitchFamily="34" charset="-122"/>
                <a:ea typeface="微软雅黑" panose="020B0503020204020204" pitchFamily="34" charset="-122"/>
              </a:rPr>
              <a:t>、基本</a:t>
            </a:r>
            <a:r>
              <a:rPr lang="en-US" altLang="zh-CN" sz="1600" b="1" dirty="0">
                <a:solidFill>
                  <a:srgbClr val="002060"/>
                </a:solidFill>
                <a:latin typeface="微软雅黑" panose="020B0503020204020204" pitchFamily="34" charset="-122"/>
                <a:ea typeface="微软雅黑" panose="020B0503020204020204" pitchFamily="34" charset="-122"/>
              </a:rPr>
              <a:t>SR</a:t>
            </a:r>
            <a:r>
              <a:rPr lang="zh-CN" altLang="en-US" sz="1600" b="1" dirty="0">
                <a:solidFill>
                  <a:srgbClr val="002060"/>
                </a:solidFill>
                <a:latin typeface="微软雅黑" panose="020B0503020204020204" pitchFamily="34" charset="-122"/>
                <a:ea typeface="微软雅黑" panose="020B0503020204020204" pitchFamily="34" charset="-122"/>
              </a:rPr>
              <a:t>锁存器</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工作原理</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ppt_x</p:attrName>
                                        </p:attrNameLst>
                                      </p:cBhvr>
                                      <p:tavLst>
                                        <p:tav tm="0">
                                          <p:val>
                                            <p:strVal val="#ppt_x-#ppt_w/2"/>
                                          </p:val>
                                        </p:tav>
                                        <p:tav tm="100000">
                                          <p:val>
                                            <p:strVal val="#ppt_x"/>
                                          </p:val>
                                        </p:tav>
                                      </p:tavLst>
                                    </p:anim>
                                    <p:anim calcmode="lin" valueType="num">
                                      <p:cBhvr>
                                        <p:cTn id="20" dur="1000" fill="hold"/>
                                        <p:tgtEl>
                                          <p:spTgt spid="12"/>
                                        </p:tgtEl>
                                        <p:attrNameLst>
                                          <p:attrName>ppt_y</p:attrName>
                                        </p:attrNameLst>
                                      </p:cBhvr>
                                      <p:tavLst>
                                        <p:tav tm="0">
                                          <p:val>
                                            <p:strVal val="#ppt_y"/>
                                          </p:val>
                                        </p:tav>
                                        <p:tav tm="100000">
                                          <p:val>
                                            <p:strVal val="#ppt_y"/>
                                          </p:val>
                                        </p:tav>
                                      </p:tavLst>
                                    </p:anim>
                                    <p:anim calcmode="lin" valueType="num">
                                      <p:cBhvr>
                                        <p:cTn id="21" dur="1000" fill="hold"/>
                                        <p:tgtEl>
                                          <p:spTgt spid="12"/>
                                        </p:tgtEl>
                                        <p:attrNameLst>
                                          <p:attrName>ppt_w</p:attrName>
                                        </p:attrNameLst>
                                      </p:cBhvr>
                                      <p:tavLst>
                                        <p:tav tm="0">
                                          <p:val>
                                            <p:fltVal val="0"/>
                                          </p:val>
                                        </p:tav>
                                        <p:tav tm="100000">
                                          <p:val>
                                            <p:strVal val="#ppt_w"/>
                                          </p:val>
                                        </p:tav>
                                      </p:tavLst>
                                    </p:anim>
                                    <p:anim calcmode="lin" valueType="num">
                                      <p:cBhvr>
                                        <p:cTn id="22" dur="1000" fill="hold"/>
                                        <p:tgtEl>
                                          <p:spTgt spid="12"/>
                                        </p:tgtEl>
                                        <p:attrNameLst>
                                          <p:attrName>ppt_h</p:attrName>
                                        </p:attrNameLst>
                                      </p:cBhvr>
                                      <p:tavLst>
                                        <p:tav tm="0">
                                          <p:val>
                                            <p:strVal val="#ppt_h"/>
                                          </p:val>
                                        </p:tav>
                                        <p:tav tm="100000">
                                          <p:val>
                                            <p:strVal val="#ppt_h"/>
                                          </p:val>
                                        </p:tav>
                                      </p:tavLst>
                                    </p:anim>
                                  </p:childTnLst>
                                </p:cTn>
                              </p:par>
                              <p:par>
                                <p:cTn id="23" presetID="12" presetClass="entr" presetSubtype="8"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1000"/>
                                        <p:tgtEl>
                                          <p:spTgt spid="21"/>
                                        </p:tgtEl>
                                        <p:attrNameLst>
                                          <p:attrName>ppt_x</p:attrName>
                                        </p:attrNameLst>
                                      </p:cBhvr>
                                      <p:tavLst>
                                        <p:tav tm="0">
                                          <p:val>
                                            <p:strVal val="#ppt_x-#ppt_w*1.125000"/>
                                          </p:val>
                                        </p:tav>
                                        <p:tav tm="100000">
                                          <p:val>
                                            <p:strVal val="#ppt_x"/>
                                          </p:val>
                                        </p:tav>
                                      </p:tavLst>
                                    </p:anim>
                                    <p:animEffect transition="in" filter="wipe(right)">
                                      <p:cBhvr>
                                        <p:cTn id="26" dur="10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p:tgtEl>
                                          <p:spTgt spid="16"/>
                                        </p:tgtEl>
                                        <p:attrNameLst>
                                          <p:attrName>ppt_x</p:attrName>
                                        </p:attrNameLst>
                                      </p:cBhvr>
                                      <p:tavLst>
                                        <p:tav tm="0">
                                          <p:val>
                                            <p:strVal val="#ppt_x-#ppt_w*1.125000"/>
                                          </p:val>
                                        </p:tav>
                                        <p:tav tm="100000">
                                          <p:val>
                                            <p:strVal val="#ppt_x"/>
                                          </p:val>
                                        </p:tav>
                                      </p:tavLst>
                                    </p:anim>
                                    <p:animEffect transition="in" filter="wipe(right)">
                                      <p:cBhvr>
                                        <p:cTn id="32" dur="1000"/>
                                        <p:tgtEl>
                                          <p:spTgt spid="16"/>
                                        </p:tgtEl>
                                      </p:cBhvr>
                                    </p:animEffect>
                                  </p:childTnLst>
                                </p:cTn>
                              </p:par>
                            </p:childTnLst>
                          </p:cTn>
                        </p:par>
                        <p:par>
                          <p:cTn id="33" fill="hold">
                            <p:stCondLst>
                              <p:cond delay="1000"/>
                            </p:stCondLst>
                            <p:childTnLst>
                              <p:par>
                                <p:cTn id="34" presetID="1" presetClass="entr" presetSubtype="0" fill="hold" grpId="1" nodeType="afterEffect">
                                  <p:stCondLst>
                                    <p:cond delay="0"/>
                                  </p:stCondLst>
                                  <p:childTnLst>
                                    <p:set>
                                      <p:cBhvr>
                                        <p:cTn id="35" dur="1" fill="hold">
                                          <p:stCondLst>
                                            <p:cond delay="9"/>
                                          </p:stCondLst>
                                        </p:cTn>
                                        <p:tgtEl>
                                          <p:spTgt spid="17"/>
                                        </p:tgtEl>
                                        <p:attrNameLst>
                                          <p:attrName>style.visibility</p:attrName>
                                        </p:attrNameLst>
                                      </p:cBhvr>
                                      <p:to>
                                        <p:strVal val="visible"/>
                                      </p:to>
                                    </p:set>
                                  </p:childTnLst>
                                </p:cTn>
                              </p:par>
                            </p:childTnLst>
                          </p:cTn>
                        </p:par>
                        <p:par>
                          <p:cTn id="36" fill="hold">
                            <p:stCondLst>
                              <p:cond delay="1500"/>
                            </p:stCondLst>
                            <p:childTnLst>
                              <p:par>
                                <p:cTn id="37" presetID="0" presetClass="path" presetSubtype="0" accel="50000" decel="50000" fill="hold" grpId="0" nodeType="afterEffect">
                                  <p:stCondLst>
                                    <p:cond delay="0"/>
                                  </p:stCondLst>
                                  <p:childTnLst>
                                    <p:animMotion origin="layout" path="M 0.00017 0.00056 L 0.00226 0.0775 L -0.10816 0.17195 L -0.10747 0.20611 " pathEditMode="relative" rAng="0" ptsTypes="AAAA">
                                      <p:cBhvr>
                                        <p:cTn id="38" dur="3000" fill="hold"/>
                                        <p:tgtEl>
                                          <p:spTgt spid="17"/>
                                        </p:tgtEl>
                                        <p:attrNameLst>
                                          <p:attrName>ppt_x</p:attrName>
                                          <p:attrName>ppt_y</p:attrName>
                                        </p:attrNameLst>
                                      </p:cBhvr>
                                      <p:rCtr x="-5313" y="10278"/>
                                    </p:animMotion>
                                  </p:childTnLst>
                                </p:cTn>
                              </p:par>
                            </p:childTnLst>
                          </p:cTn>
                        </p:par>
                        <p:par>
                          <p:cTn id="39" fill="hold">
                            <p:stCondLst>
                              <p:cond delay="4500"/>
                            </p:stCondLst>
                            <p:childTnLst>
                              <p:par>
                                <p:cTn id="40" presetID="1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1000"/>
                                        <p:tgtEl>
                                          <p:spTgt spid="15"/>
                                        </p:tgtEl>
                                        <p:attrNameLst>
                                          <p:attrName>ppt_x</p:attrName>
                                        </p:attrNameLst>
                                      </p:cBhvr>
                                      <p:tavLst>
                                        <p:tav tm="0">
                                          <p:val>
                                            <p:strVal val="#ppt_x-#ppt_w*1.125000"/>
                                          </p:val>
                                        </p:tav>
                                        <p:tav tm="100000">
                                          <p:val>
                                            <p:strVal val="#ppt_x"/>
                                          </p:val>
                                        </p:tav>
                                      </p:tavLst>
                                    </p:anim>
                                    <p:animEffect transition="in" filter="wipe(right)">
                                      <p:cBhvr>
                                        <p:cTn id="43" dur="10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 nodeType="clickEffect">
                                  <p:stCondLst>
                                    <p:cond delay="0"/>
                                  </p:stCondLst>
                                  <p:childTnLst>
                                    <p:set>
                                      <p:cBhvr>
                                        <p:cTn id="47" dur="1" fill="hold">
                                          <p:stCondLst>
                                            <p:cond delay="9"/>
                                          </p:stCondLst>
                                        </p:cTn>
                                        <p:tgtEl>
                                          <p:spTgt spid="19"/>
                                        </p:tgtEl>
                                        <p:attrNameLst>
                                          <p:attrName>style.visibility</p:attrName>
                                        </p:attrNameLst>
                                      </p:cBhvr>
                                      <p:to>
                                        <p:strVal val="visible"/>
                                      </p:to>
                                    </p:set>
                                  </p:childTnLst>
                                </p:cTn>
                              </p:par>
                            </p:childTnLst>
                          </p:cTn>
                        </p:par>
                        <p:par>
                          <p:cTn id="48" fill="hold">
                            <p:stCondLst>
                              <p:cond delay="500"/>
                            </p:stCondLst>
                            <p:childTnLst>
                              <p:par>
                                <p:cTn id="49" presetID="0" presetClass="path" presetSubtype="0" accel="50000" decel="50000" fill="hold" grpId="0" nodeType="afterEffect">
                                  <p:stCondLst>
                                    <p:cond delay="0"/>
                                  </p:stCondLst>
                                  <p:childTnLst>
                                    <p:animMotion origin="layout" path="M 0.00121 2.22222E-6 C 0.00087 -0.02611 0.00069 -0.05195 0.00052 -0.07778 L -0.10573 -0.16778 L -0.10573 -0.20334 " pathEditMode="relative" ptsTypes="AAAA">
                                      <p:cBhvr>
                                        <p:cTn id="50" dur="3000" fill="hold"/>
                                        <p:tgtEl>
                                          <p:spTgt spid="19"/>
                                        </p:tgtEl>
                                        <p:attrNameLst>
                                          <p:attrName>ppt_x</p:attrName>
                                          <p:attrName>ppt_y</p:attrName>
                                        </p:attrNameLst>
                                      </p:cBhvr>
                                    </p:animMotion>
                                  </p:childTnLst>
                                </p:cTn>
                              </p:par>
                            </p:childTnLst>
                          </p:cTn>
                        </p:par>
                      </p:childTnLst>
                    </p:cTn>
                  </p:par>
                  <p:par>
                    <p:cTn id="51" fill="hold">
                      <p:stCondLst>
                        <p:cond delay="indefinite"/>
                      </p:stCondLst>
                      <p:childTnLst>
                        <p:par>
                          <p:cTn id="52" fill="hold">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1000" fill="hold"/>
                                        <p:tgtEl>
                                          <p:spTgt spid="18"/>
                                        </p:tgtEl>
                                        <p:attrNameLst>
                                          <p:attrName>ppt_x</p:attrName>
                                        </p:attrNameLst>
                                      </p:cBhvr>
                                      <p:tavLst>
                                        <p:tav tm="0">
                                          <p:val>
                                            <p:strVal val="#ppt_x-#ppt_w/2"/>
                                          </p:val>
                                        </p:tav>
                                        <p:tav tm="100000">
                                          <p:val>
                                            <p:strVal val="#ppt_x"/>
                                          </p:val>
                                        </p:tav>
                                      </p:tavLst>
                                    </p:anim>
                                    <p:anim calcmode="lin" valueType="num">
                                      <p:cBhvr>
                                        <p:cTn id="56" dur="1000" fill="hold"/>
                                        <p:tgtEl>
                                          <p:spTgt spid="18"/>
                                        </p:tgtEl>
                                        <p:attrNameLst>
                                          <p:attrName>ppt_y</p:attrName>
                                        </p:attrNameLst>
                                      </p:cBhvr>
                                      <p:tavLst>
                                        <p:tav tm="0">
                                          <p:val>
                                            <p:strVal val="#ppt_y"/>
                                          </p:val>
                                        </p:tav>
                                        <p:tav tm="100000">
                                          <p:val>
                                            <p:strVal val="#ppt_y"/>
                                          </p:val>
                                        </p:tav>
                                      </p:tavLst>
                                    </p:anim>
                                    <p:anim calcmode="lin" valueType="num">
                                      <p:cBhvr>
                                        <p:cTn id="57" dur="1000" fill="hold"/>
                                        <p:tgtEl>
                                          <p:spTgt spid="18"/>
                                        </p:tgtEl>
                                        <p:attrNameLst>
                                          <p:attrName>ppt_w</p:attrName>
                                        </p:attrNameLst>
                                      </p:cBhvr>
                                      <p:tavLst>
                                        <p:tav tm="0">
                                          <p:val>
                                            <p:fltVal val="0"/>
                                          </p:val>
                                        </p:tav>
                                        <p:tav tm="100000">
                                          <p:val>
                                            <p:strVal val="#ppt_w"/>
                                          </p:val>
                                        </p:tav>
                                      </p:tavLst>
                                    </p:anim>
                                    <p:anim calcmode="lin" valueType="num">
                                      <p:cBhvr>
                                        <p:cTn id="58" dur="10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9" grpId="0" animBg="1"/>
      <p:bldP spid="19" grpId="1" animBg="1"/>
      <p:bldP spid="12" grpId="0" animBg="1"/>
      <p:bldP spid="15" grpId="0" animBg="1"/>
      <p:bldP spid="16" grpId="0" animBg="1"/>
      <p:bldP spid="18" grpId="0" animBg="1"/>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6702213" y="80772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3079" name="位图图像" r:id="rId2" imgW="3314700" imgH="3638550" progId="PBrush">
                    <p:embed/>
                  </p:oleObj>
                </mc:Choice>
                <mc:Fallback>
                  <p:oleObj name="位图图像" r:id="rId2" imgW="3314700" imgH="3638550" progId="PBrush">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12" name="五边形 11"/>
          <p:cNvSpPr/>
          <p:nvPr/>
        </p:nvSpPr>
        <p:spPr>
          <a:xfrm>
            <a:off x="861060" y="1752600"/>
            <a:ext cx="1463040" cy="484632"/>
          </a:xfrm>
          <a:prstGeom prst="homePlat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R=1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grpSp>
        <p:nvGrpSpPr>
          <p:cNvPr id="23" name="组合 22"/>
          <p:cNvGrpSpPr/>
          <p:nvPr/>
        </p:nvGrpSpPr>
        <p:grpSpPr>
          <a:xfrm>
            <a:off x="7128289" y="1027113"/>
            <a:ext cx="252000" cy="1680750"/>
            <a:chOff x="7133590" y="1027113"/>
            <a:chExt cx="252000" cy="1680750"/>
          </a:xfrm>
        </p:grpSpPr>
        <p:sp>
          <p:nvSpPr>
            <p:cNvPr id="13" name="Oval 36"/>
            <p:cNvSpPr>
              <a:spLocks noChangeArrowheads="1"/>
            </p:cNvSpPr>
            <p:nvPr/>
          </p:nvSpPr>
          <p:spPr bwMode="auto">
            <a:xfrm>
              <a:off x="7133590" y="245586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4" name="Oval 40"/>
            <p:cNvSpPr>
              <a:spLocks noChangeArrowheads="1"/>
            </p:cNvSpPr>
            <p:nvPr/>
          </p:nvSpPr>
          <p:spPr bwMode="auto">
            <a:xfrm>
              <a:off x="7133590" y="102711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
        <p:nvSpPr>
          <p:cNvPr id="15" name="Oval 40"/>
          <p:cNvSpPr>
            <a:spLocks noChangeArrowheads="1"/>
          </p:cNvSpPr>
          <p:nvPr/>
        </p:nvSpPr>
        <p:spPr bwMode="auto">
          <a:xfrm>
            <a:off x="8144157" y="24977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6" name="Oval 36"/>
          <p:cNvSpPr>
            <a:spLocks noChangeArrowheads="1"/>
          </p:cNvSpPr>
          <p:nvPr/>
        </p:nvSpPr>
        <p:spPr bwMode="auto">
          <a:xfrm>
            <a:off x="8108950" y="99953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7" name="Oval 36"/>
          <p:cNvSpPr>
            <a:spLocks noChangeArrowheads="1"/>
          </p:cNvSpPr>
          <p:nvPr/>
        </p:nvSpPr>
        <p:spPr bwMode="auto">
          <a:xfrm>
            <a:off x="8144157" y="24977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8" name="燕尾形 17"/>
          <p:cNvSpPr/>
          <p:nvPr/>
        </p:nvSpPr>
        <p:spPr>
          <a:xfrm>
            <a:off x="2125980" y="1752600"/>
            <a:ext cx="3467100"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（复位）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五边形 18"/>
          <p:cNvSpPr/>
          <p:nvPr/>
        </p:nvSpPr>
        <p:spPr>
          <a:xfrm>
            <a:off x="861060" y="2301240"/>
            <a:ext cx="1463040" cy="484632"/>
          </a:xfrm>
          <a:prstGeom prst="homePlate">
            <a:avLst/>
          </a:prstGeom>
          <a:solidFill>
            <a:srgbClr val="FFFF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R=0</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endParaRPr lang="zh-CN" altLang="en-US" dirty="0"/>
          </a:p>
        </p:txBody>
      </p:sp>
      <p:sp>
        <p:nvSpPr>
          <p:cNvPr id="20" name="燕尾形 19"/>
          <p:cNvSpPr/>
          <p:nvPr/>
        </p:nvSpPr>
        <p:spPr>
          <a:xfrm>
            <a:off x="2125980" y="2301240"/>
            <a:ext cx="3467100" cy="484632"/>
          </a:xfrm>
          <a:prstGeom prst="chevro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（置位）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Oval 36"/>
          <p:cNvSpPr>
            <a:spLocks noChangeArrowheads="1"/>
          </p:cNvSpPr>
          <p:nvPr/>
        </p:nvSpPr>
        <p:spPr bwMode="auto">
          <a:xfrm>
            <a:off x="8108950" y="99953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1000" fill="hold"/>
                                        <p:tgtEl>
                                          <p:spTgt spid="19"/>
                                        </p:tgtEl>
                                        <p:attrNameLst>
                                          <p:attrName>ppt_x</p:attrName>
                                        </p:attrNameLst>
                                      </p:cBhvr>
                                      <p:tavLst>
                                        <p:tav tm="0">
                                          <p:val>
                                            <p:strVal val="#ppt_x-#ppt_w/2"/>
                                          </p:val>
                                        </p:tav>
                                        <p:tav tm="100000">
                                          <p:val>
                                            <p:strVal val="#ppt_x"/>
                                          </p:val>
                                        </p:tav>
                                      </p:tavLst>
                                    </p:anim>
                                    <p:anim calcmode="lin" valueType="num">
                                      <p:cBhvr>
                                        <p:cTn id="8" dur="1000" fill="hold"/>
                                        <p:tgtEl>
                                          <p:spTgt spid="19"/>
                                        </p:tgtEl>
                                        <p:attrNameLst>
                                          <p:attrName>ppt_y</p:attrName>
                                        </p:attrNameLst>
                                      </p:cBhvr>
                                      <p:tavLst>
                                        <p:tav tm="0">
                                          <p:val>
                                            <p:strVal val="#ppt_y"/>
                                          </p:val>
                                        </p:tav>
                                        <p:tav tm="100000">
                                          <p:val>
                                            <p:strVal val="#ppt_y"/>
                                          </p:val>
                                        </p:tav>
                                      </p:tavLst>
                                    </p:anim>
                                    <p:anim calcmode="lin" valueType="num">
                                      <p:cBhvr>
                                        <p:cTn id="9" dur="1000" fill="hold"/>
                                        <p:tgtEl>
                                          <p:spTgt spid="19"/>
                                        </p:tgtEl>
                                        <p:attrNameLst>
                                          <p:attrName>ppt_w</p:attrName>
                                        </p:attrNameLst>
                                      </p:cBhvr>
                                      <p:tavLst>
                                        <p:tav tm="0">
                                          <p:val>
                                            <p:fltVal val="0"/>
                                          </p:val>
                                        </p:tav>
                                        <p:tav tm="100000">
                                          <p:val>
                                            <p:strVal val="#ppt_w"/>
                                          </p:val>
                                        </p:tav>
                                      </p:tavLst>
                                    </p:anim>
                                    <p:anim calcmode="lin" valueType="num">
                                      <p:cBhvr>
                                        <p:cTn id="10" dur="1000" fill="hold"/>
                                        <p:tgtEl>
                                          <p:spTgt spid="19"/>
                                        </p:tgtEl>
                                        <p:attrNameLst>
                                          <p:attrName>ppt_h</p:attrName>
                                        </p:attrNameLst>
                                      </p:cBhvr>
                                      <p:tavLst>
                                        <p:tav tm="0">
                                          <p:val>
                                            <p:strVal val="#ppt_h"/>
                                          </p:val>
                                        </p:tav>
                                        <p:tav tm="100000">
                                          <p:val>
                                            <p:strVal val="#ppt_h"/>
                                          </p:val>
                                        </p:tav>
                                      </p:tavLst>
                                    </p:anim>
                                  </p:childTnLst>
                                </p:cTn>
                              </p:par>
                              <p:par>
                                <p:cTn id="11" presetID="12" presetClass="entr" presetSubtype="8"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1000"/>
                                        <p:tgtEl>
                                          <p:spTgt spid="23"/>
                                        </p:tgtEl>
                                        <p:attrNameLst>
                                          <p:attrName>ppt_x</p:attrName>
                                        </p:attrNameLst>
                                      </p:cBhvr>
                                      <p:tavLst>
                                        <p:tav tm="0">
                                          <p:val>
                                            <p:strVal val="#ppt_x-#ppt_w*1.125000"/>
                                          </p:val>
                                        </p:tav>
                                        <p:tav tm="100000">
                                          <p:val>
                                            <p:strVal val="#ppt_x"/>
                                          </p:val>
                                        </p:tav>
                                      </p:tavLst>
                                    </p:anim>
                                    <p:animEffect transition="in" filter="wipe(right)">
                                      <p:cBhvr>
                                        <p:cTn id="14" dur="1000"/>
                                        <p:tgtEl>
                                          <p:spTgt spid="2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1000"/>
                                        <p:tgtEl>
                                          <p:spTgt spid="15"/>
                                        </p:tgtEl>
                                        <p:attrNameLst>
                                          <p:attrName>ppt_x</p:attrName>
                                        </p:attrNameLst>
                                      </p:cBhvr>
                                      <p:tavLst>
                                        <p:tav tm="0">
                                          <p:val>
                                            <p:strVal val="#ppt_x-#ppt_w*1.125000"/>
                                          </p:val>
                                        </p:tav>
                                        <p:tav tm="100000">
                                          <p:val>
                                            <p:strVal val="#ppt_x"/>
                                          </p:val>
                                        </p:tav>
                                      </p:tavLst>
                                    </p:anim>
                                    <p:animEffect transition="in" filter="wipe(right)">
                                      <p:cBhvr>
                                        <p:cTn id="20" dur="1000"/>
                                        <p:tgtEl>
                                          <p:spTgt spid="15"/>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par>
                          <p:cTn id="24" fill="hold">
                            <p:stCondLst>
                              <p:cond delay="1000"/>
                            </p:stCondLst>
                            <p:childTnLst>
                              <p:par>
                                <p:cTn id="25" presetID="0" presetClass="path" presetSubtype="0" accel="50000" decel="50000" fill="hold" grpId="0" nodeType="afterEffect">
                                  <p:stCondLst>
                                    <p:cond delay="0"/>
                                  </p:stCondLst>
                                  <p:childTnLst>
                                    <p:animMotion origin="layout" path="M -2.77778E-7 1.11111E-6 L -2.77778E-7 -0.07445 L -0.10851 -0.17 L -0.10851 -0.20111 " pathEditMode="relative" rAng="0" ptsTypes="AAAA">
                                      <p:cBhvr>
                                        <p:cTn id="26" dur="2500" fill="hold"/>
                                        <p:tgtEl>
                                          <p:spTgt spid="17"/>
                                        </p:tgtEl>
                                        <p:attrNameLst>
                                          <p:attrName>ppt_x</p:attrName>
                                          <p:attrName>ppt_y</p:attrName>
                                        </p:attrNameLst>
                                      </p:cBhvr>
                                      <p:rCtr x="-5434" y="-10056"/>
                                    </p:animMotion>
                                  </p:childTnLst>
                                </p:cTn>
                              </p:par>
                            </p:childTnLst>
                          </p:cTn>
                        </p:par>
                        <p:par>
                          <p:cTn id="27" fill="hold">
                            <p:stCondLst>
                              <p:cond delay="3500"/>
                            </p:stCondLst>
                            <p:childTnLst>
                              <p:par>
                                <p:cTn id="28" presetID="1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1000"/>
                                        <p:tgtEl>
                                          <p:spTgt spid="16"/>
                                        </p:tgtEl>
                                        <p:attrNameLst>
                                          <p:attrName>ppt_x</p:attrName>
                                        </p:attrNameLst>
                                      </p:cBhvr>
                                      <p:tavLst>
                                        <p:tav tm="0">
                                          <p:val>
                                            <p:strVal val="#ppt_x-#ppt_w*1.125000"/>
                                          </p:val>
                                        </p:tav>
                                        <p:tav tm="100000">
                                          <p:val>
                                            <p:strVal val="#ppt_x"/>
                                          </p:val>
                                        </p:tav>
                                      </p:tavLst>
                                    </p:anim>
                                    <p:animEffect transition="in" filter="wipe(right)">
                                      <p:cBhvr>
                                        <p:cTn id="31" dur="100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1" nodeType="clickEffect">
                                  <p:stCondLst>
                                    <p:cond delay="0"/>
                                  </p:stCondLst>
                                  <p:childTnLst>
                                    <p:set>
                                      <p:cBhvr>
                                        <p:cTn id="35" dur="1" fill="hold">
                                          <p:stCondLst>
                                            <p:cond delay="0"/>
                                          </p:stCondLst>
                                        </p:cTn>
                                        <p:tgtEl>
                                          <p:spTgt spid="21"/>
                                        </p:tgtEl>
                                        <p:attrNameLst>
                                          <p:attrName>style.visibility</p:attrName>
                                        </p:attrNameLst>
                                      </p:cBhvr>
                                      <p:to>
                                        <p:strVal val="visible"/>
                                      </p:to>
                                    </p:set>
                                  </p:childTnLst>
                                </p:cTn>
                              </p:par>
                            </p:childTnLst>
                          </p:cTn>
                        </p:par>
                        <p:par>
                          <p:cTn id="36" fill="hold">
                            <p:stCondLst>
                              <p:cond delay="0"/>
                            </p:stCondLst>
                            <p:childTnLst>
                              <p:par>
                                <p:cTn id="37" presetID="0" presetClass="path" presetSubtype="0" accel="50000" decel="50000" fill="hold" grpId="0" nodeType="afterEffect">
                                  <p:stCondLst>
                                    <p:cond delay="0"/>
                                  </p:stCondLst>
                                  <p:childTnLst>
                                    <p:animMotion origin="layout" path="M -8.33333E-7 -4.44444E-6 L 0.00156 0.07556 L -0.10382 0.16889 L -0.10382 0.20223 " pathEditMode="relative" rAng="0" ptsTypes="AAAA">
                                      <p:cBhvr>
                                        <p:cTn id="38" dur="2000" fill="hold"/>
                                        <p:tgtEl>
                                          <p:spTgt spid="21"/>
                                        </p:tgtEl>
                                        <p:attrNameLst>
                                          <p:attrName>ppt_x</p:attrName>
                                          <p:attrName>ppt_y</p:attrName>
                                        </p:attrNameLst>
                                      </p:cBhvr>
                                      <p:rCtr x="-5122" y="10111"/>
                                    </p:animMotion>
                                  </p:childTnLst>
                                </p:cTn>
                              </p:par>
                            </p:childTnLst>
                          </p:cTn>
                        </p:par>
                      </p:childTnLst>
                    </p:cTn>
                  </p:par>
                  <p:par>
                    <p:cTn id="39" fill="hold">
                      <p:stCondLst>
                        <p:cond delay="indefinite"/>
                      </p:stCondLst>
                      <p:childTnLst>
                        <p:par>
                          <p:cTn id="40" fill="hold">
                            <p:stCondLst>
                              <p:cond delay="0"/>
                            </p:stCondLst>
                            <p:childTnLst>
                              <p:par>
                                <p:cTn id="41" presetID="17" presetClass="entr" presetSubtype="8"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ppt_x</p:attrName>
                                        </p:attrNameLst>
                                      </p:cBhvr>
                                      <p:tavLst>
                                        <p:tav tm="0">
                                          <p:val>
                                            <p:strVal val="#ppt_x-#ppt_w/2"/>
                                          </p:val>
                                        </p:tav>
                                        <p:tav tm="100000">
                                          <p:val>
                                            <p:strVal val="#ppt_x"/>
                                          </p:val>
                                        </p:tav>
                                      </p:tavLst>
                                    </p:anim>
                                    <p:anim calcmode="lin" valueType="num">
                                      <p:cBhvr>
                                        <p:cTn id="44" dur="500" fill="hold"/>
                                        <p:tgtEl>
                                          <p:spTgt spid="20"/>
                                        </p:tgtEl>
                                        <p:attrNameLst>
                                          <p:attrName>ppt_y</p:attrName>
                                        </p:attrNameLst>
                                      </p:cBhvr>
                                      <p:tavLst>
                                        <p:tav tm="0">
                                          <p:val>
                                            <p:strVal val="#ppt_y"/>
                                          </p:val>
                                        </p:tav>
                                        <p:tav tm="100000">
                                          <p:val>
                                            <p:strVal val="#ppt_y"/>
                                          </p:val>
                                        </p:tav>
                                      </p:tavLst>
                                    </p:anim>
                                    <p:anim calcmode="lin" valueType="num">
                                      <p:cBhvr>
                                        <p:cTn id="45" dur="500" fill="hold"/>
                                        <p:tgtEl>
                                          <p:spTgt spid="20"/>
                                        </p:tgtEl>
                                        <p:attrNameLst>
                                          <p:attrName>ppt_w</p:attrName>
                                        </p:attrNameLst>
                                      </p:cBhvr>
                                      <p:tavLst>
                                        <p:tav tm="0">
                                          <p:val>
                                            <p:fltVal val="0"/>
                                          </p:val>
                                        </p:tav>
                                        <p:tav tm="100000">
                                          <p:val>
                                            <p:strVal val="#ppt_w"/>
                                          </p:val>
                                        </p:tav>
                                      </p:tavLst>
                                    </p:anim>
                                    <p:anim calcmode="lin" valueType="num">
                                      <p:cBhvr>
                                        <p:cTn id="46" dur="500" fill="hold"/>
                                        <p:tgtEl>
                                          <p:spTgt spid="2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7" grpId="1" animBg="1"/>
      <p:bldP spid="19" grpId="0" animBg="1"/>
      <p:bldP spid="20" grpId="0" animBg="1"/>
      <p:bldP spid="21" grpId="0" animBg="1"/>
      <p:bldP spid="21"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6702213" y="807720"/>
            <a:ext cx="2181013" cy="4236720"/>
            <a:chOff x="6702213" y="807720"/>
            <a:chExt cx="2181013" cy="4236720"/>
          </a:xfrm>
        </p:grpSpPr>
        <p:grpSp>
          <p:nvGrpSpPr>
            <p:cNvPr id="6" name="组合 5"/>
            <p:cNvGrpSpPr/>
            <p:nvPr/>
          </p:nvGrpSpPr>
          <p:grpSpPr>
            <a:xfrm>
              <a:off x="6702213" y="80772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4108" name="位图图像" r:id="rId1" imgW="3314700" imgH="3638550" progId="PBrush">
                      <p:embed/>
                    </p:oleObj>
                  </mc:Choice>
                  <mc:Fallback>
                    <p:oleObj name="位图图像" r:id="rId1" imgW="3314700" imgH="3638550" progId="PBrush">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35" name="组合 34"/>
            <p:cNvGrpSpPr/>
            <p:nvPr/>
          </p:nvGrpSpPr>
          <p:grpSpPr>
            <a:xfrm>
              <a:off x="7133590" y="1027113"/>
              <a:ext cx="252000" cy="1680750"/>
              <a:chOff x="7133590" y="1027113"/>
              <a:chExt cx="252000" cy="1680750"/>
            </a:xfrm>
          </p:grpSpPr>
          <p:sp>
            <p:nvSpPr>
              <p:cNvPr id="13" name="Oval 36"/>
              <p:cNvSpPr>
                <a:spLocks noChangeArrowheads="1"/>
              </p:cNvSpPr>
              <p:nvPr/>
            </p:nvSpPr>
            <p:spPr bwMode="auto">
              <a:xfrm>
                <a:off x="7133590" y="24558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4" name="Oval 40"/>
              <p:cNvSpPr>
                <a:spLocks noChangeArrowheads="1"/>
              </p:cNvSpPr>
              <p:nvPr/>
            </p:nvSpPr>
            <p:spPr bwMode="auto">
              <a:xfrm>
                <a:off x="7133590" y="102711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25" name="组合 24"/>
            <p:cNvGrpSpPr/>
            <p:nvPr/>
          </p:nvGrpSpPr>
          <p:grpSpPr>
            <a:xfrm>
              <a:off x="6702213" y="3009900"/>
              <a:ext cx="2181013" cy="2034540"/>
              <a:chOff x="2937933" y="1729740"/>
              <a:chExt cx="2181013" cy="2034540"/>
            </a:xfrm>
          </p:grpSpPr>
          <p:sp>
            <p:nvSpPr>
              <p:cNvPr id="26" name="剪去对角的矩形 25"/>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4109" name="位图图像" r:id="rId3" imgW="3314700" imgH="3638550" progId="PBrush">
                      <p:embed/>
                    </p:oleObj>
                  </mc:Choice>
                  <mc:Fallback>
                    <p:oleObj name="位图图像" r:id="rId3" imgW="3314700" imgH="3638550" progId="PBrush">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36" name="组合 35"/>
            <p:cNvGrpSpPr/>
            <p:nvPr/>
          </p:nvGrpSpPr>
          <p:grpSpPr>
            <a:xfrm>
              <a:off x="7133590" y="3229293"/>
              <a:ext cx="252000" cy="1680750"/>
              <a:chOff x="7148830" y="3168333"/>
              <a:chExt cx="252000" cy="1680750"/>
            </a:xfrm>
          </p:grpSpPr>
          <p:sp>
            <p:nvSpPr>
              <p:cNvPr id="28" name="Oval 36"/>
              <p:cNvSpPr>
                <a:spLocks noChangeArrowheads="1"/>
              </p:cNvSpPr>
              <p:nvPr/>
            </p:nvSpPr>
            <p:spPr bwMode="auto">
              <a:xfrm>
                <a:off x="7148830" y="459708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29" name="Oval 40"/>
              <p:cNvSpPr>
                <a:spLocks noChangeArrowheads="1"/>
              </p:cNvSpPr>
              <p:nvPr/>
            </p:nvSpPr>
            <p:spPr bwMode="auto">
              <a:xfrm>
                <a:off x="7148830" y="316833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2" name="五边形 11"/>
          <p:cNvSpPr/>
          <p:nvPr/>
        </p:nvSpPr>
        <p:spPr>
          <a:xfrm>
            <a:off x="861060" y="1752600"/>
            <a:ext cx="1463040" cy="484632"/>
          </a:xfrm>
          <a:prstGeom prst="homePlat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R=1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sp>
        <p:nvSpPr>
          <p:cNvPr id="15" name="Oval 40"/>
          <p:cNvSpPr>
            <a:spLocks noChangeArrowheads="1"/>
          </p:cNvSpPr>
          <p:nvPr/>
        </p:nvSpPr>
        <p:spPr bwMode="auto">
          <a:xfrm>
            <a:off x="8124190" y="24977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6" name="Oval 36"/>
          <p:cNvSpPr>
            <a:spLocks noChangeArrowheads="1"/>
          </p:cNvSpPr>
          <p:nvPr/>
        </p:nvSpPr>
        <p:spPr bwMode="auto">
          <a:xfrm>
            <a:off x="8108950" y="100806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7" name="Oval 36"/>
          <p:cNvSpPr>
            <a:spLocks noChangeArrowheads="1"/>
          </p:cNvSpPr>
          <p:nvPr/>
        </p:nvSpPr>
        <p:spPr bwMode="auto">
          <a:xfrm>
            <a:off x="8131810" y="2496631"/>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8" name="燕尾形 17"/>
          <p:cNvSpPr/>
          <p:nvPr/>
        </p:nvSpPr>
        <p:spPr>
          <a:xfrm>
            <a:off x="2125980" y="1752600"/>
            <a:ext cx="3467100"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（复位）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五边形 18"/>
          <p:cNvSpPr/>
          <p:nvPr/>
        </p:nvSpPr>
        <p:spPr>
          <a:xfrm>
            <a:off x="861060" y="2301240"/>
            <a:ext cx="1463040" cy="484632"/>
          </a:xfrm>
          <a:prstGeom prst="homePlate">
            <a:avLst/>
          </a:prstGeom>
          <a:solidFill>
            <a:srgbClr val="FFFF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R=0</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endParaRPr lang="zh-CN" altLang="en-US" dirty="0"/>
          </a:p>
        </p:txBody>
      </p:sp>
      <p:sp>
        <p:nvSpPr>
          <p:cNvPr id="20" name="燕尾形 19"/>
          <p:cNvSpPr/>
          <p:nvPr/>
        </p:nvSpPr>
        <p:spPr>
          <a:xfrm>
            <a:off x="2125980" y="2301240"/>
            <a:ext cx="3467100" cy="484632"/>
          </a:xfrm>
          <a:prstGeom prst="chevro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（置位）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五边形 20"/>
          <p:cNvSpPr/>
          <p:nvPr/>
        </p:nvSpPr>
        <p:spPr>
          <a:xfrm>
            <a:off x="861060" y="2849880"/>
            <a:ext cx="1463040" cy="484632"/>
          </a:xfrm>
          <a:prstGeom prst="homePlate">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③R=0</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sp>
        <p:nvSpPr>
          <p:cNvPr id="22" name="燕尾形 21"/>
          <p:cNvSpPr/>
          <p:nvPr/>
        </p:nvSpPr>
        <p:spPr>
          <a:xfrm>
            <a:off x="2125980" y="2849880"/>
            <a:ext cx="3467100" cy="484632"/>
          </a:xfrm>
          <a:prstGeom prst="chevr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锁存器保持原来的状态</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Oval 36"/>
          <p:cNvSpPr>
            <a:spLocks noChangeArrowheads="1"/>
          </p:cNvSpPr>
          <p:nvPr/>
        </p:nvSpPr>
        <p:spPr bwMode="auto">
          <a:xfrm>
            <a:off x="8108950" y="1007894"/>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24" name="Oval 36"/>
          <p:cNvSpPr>
            <a:spLocks noChangeArrowheads="1"/>
          </p:cNvSpPr>
          <p:nvPr/>
        </p:nvSpPr>
        <p:spPr bwMode="auto">
          <a:xfrm>
            <a:off x="8108950" y="1006752"/>
            <a:ext cx="252000" cy="252000"/>
          </a:xfrm>
          <a:prstGeom prst="ellipse">
            <a:avLst/>
          </a:prstGeom>
          <a:solidFill>
            <a:srgbClr val="00B05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7" name="Oval 40"/>
          <p:cNvSpPr>
            <a:spLocks noChangeArrowheads="1"/>
          </p:cNvSpPr>
          <p:nvPr/>
        </p:nvSpPr>
        <p:spPr bwMode="auto">
          <a:xfrm>
            <a:off x="8103140" y="469953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8" name="Oval 36"/>
          <p:cNvSpPr>
            <a:spLocks noChangeArrowheads="1"/>
          </p:cNvSpPr>
          <p:nvPr/>
        </p:nvSpPr>
        <p:spPr bwMode="auto">
          <a:xfrm>
            <a:off x="8075010" y="320982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9" name="Oval 36"/>
          <p:cNvSpPr>
            <a:spLocks noChangeArrowheads="1"/>
          </p:cNvSpPr>
          <p:nvPr/>
        </p:nvSpPr>
        <p:spPr bwMode="auto">
          <a:xfrm>
            <a:off x="8103140" y="4690504"/>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0" name="Oval 36"/>
          <p:cNvSpPr>
            <a:spLocks noChangeArrowheads="1"/>
          </p:cNvSpPr>
          <p:nvPr/>
        </p:nvSpPr>
        <p:spPr bwMode="auto">
          <a:xfrm>
            <a:off x="8075010" y="320982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1" name="Oval 36"/>
          <p:cNvSpPr>
            <a:spLocks noChangeArrowheads="1"/>
          </p:cNvSpPr>
          <p:nvPr/>
        </p:nvSpPr>
        <p:spPr bwMode="auto">
          <a:xfrm>
            <a:off x="8075010" y="3203554"/>
            <a:ext cx="252000" cy="252000"/>
          </a:xfrm>
          <a:prstGeom prst="ellipse">
            <a:avLst/>
          </a:prstGeom>
          <a:solidFill>
            <a:srgbClr val="00B05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ppt_x</p:attrName>
                                        </p:attrNameLst>
                                      </p:cBhvr>
                                      <p:tavLst>
                                        <p:tav tm="0">
                                          <p:val>
                                            <p:strVal val="#ppt_x-#ppt_w/2"/>
                                          </p:val>
                                        </p:tav>
                                        <p:tav tm="100000">
                                          <p:val>
                                            <p:strVal val="#ppt_x"/>
                                          </p:val>
                                        </p:tav>
                                      </p:tavLst>
                                    </p:anim>
                                    <p:anim calcmode="lin" valueType="num">
                                      <p:cBhvr>
                                        <p:cTn id="8" dur="1000" fill="hold"/>
                                        <p:tgtEl>
                                          <p:spTgt spid="21"/>
                                        </p:tgtEl>
                                        <p:attrNameLst>
                                          <p:attrName>ppt_y</p:attrName>
                                        </p:attrNameLst>
                                      </p:cBhvr>
                                      <p:tavLst>
                                        <p:tav tm="0">
                                          <p:val>
                                            <p:strVal val="#ppt_y"/>
                                          </p:val>
                                        </p:tav>
                                        <p:tav tm="100000">
                                          <p:val>
                                            <p:strVal val="#ppt_y"/>
                                          </p:val>
                                        </p:tav>
                                      </p:tavLst>
                                    </p:anim>
                                    <p:anim calcmode="lin" valueType="num">
                                      <p:cBhvr>
                                        <p:cTn id="9" dur="1000" fill="hold"/>
                                        <p:tgtEl>
                                          <p:spTgt spid="21"/>
                                        </p:tgtEl>
                                        <p:attrNameLst>
                                          <p:attrName>ppt_w</p:attrName>
                                        </p:attrNameLst>
                                      </p:cBhvr>
                                      <p:tavLst>
                                        <p:tav tm="0">
                                          <p:val>
                                            <p:fltVal val="0"/>
                                          </p:val>
                                        </p:tav>
                                        <p:tav tm="100000">
                                          <p:val>
                                            <p:strVal val="#ppt_w"/>
                                          </p:val>
                                        </p:tav>
                                      </p:tavLst>
                                    </p:anim>
                                    <p:anim calcmode="lin" valueType="num">
                                      <p:cBhvr>
                                        <p:cTn id="10" dur="1000" fill="hold"/>
                                        <p:tgtEl>
                                          <p:spTgt spid="21"/>
                                        </p:tgtEl>
                                        <p:attrNameLst>
                                          <p:attrName>ppt_h</p:attrName>
                                        </p:attrNameLst>
                                      </p:cBhvr>
                                      <p:tavLst>
                                        <p:tav tm="0">
                                          <p:val>
                                            <p:strVal val="#ppt_h"/>
                                          </p:val>
                                        </p:tav>
                                        <p:tav tm="100000">
                                          <p:val>
                                            <p:strVal val="#ppt_h"/>
                                          </p:val>
                                        </p:tav>
                                      </p:tavLst>
                                    </p:anim>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1000"/>
                                        <p:tgtEl>
                                          <p:spTgt spid="16"/>
                                        </p:tgtEl>
                                        <p:attrNameLst>
                                          <p:attrName>ppt_x</p:attrName>
                                        </p:attrNameLst>
                                      </p:cBhvr>
                                      <p:tavLst>
                                        <p:tav tm="0">
                                          <p:val>
                                            <p:strVal val="#ppt_x-#ppt_w*1.125000"/>
                                          </p:val>
                                        </p:tav>
                                        <p:tav tm="100000">
                                          <p:val>
                                            <p:strVal val="#ppt_x"/>
                                          </p:val>
                                        </p:tav>
                                      </p:tavLst>
                                    </p:anim>
                                    <p:animEffect transition="in" filter="wipe(right)">
                                      <p:cBhvr>
                                        <p:cTn id="22" dur="1000"/>
                                        <p:tgtEl>
                                          <p:spTgt spid="16"/>
                                        </p:tgtEl>
                                      </p:cBhvr>
                                    </p:animEffect>
                                  </p:childTnLst>
                                </p:cTn>
                              </p:par>
                            </p:childTnLst>
                          </p:cTn>
                        </p:par>
                        <p:par>
                          <p:cTn id="23" fill="hold">
                            <p:stCondLst>
                              <p:cond delay="1000"/>
                            </p:stCondLst>
                            <p:childTnLst>
                              <p:par>
                                <p:cTn id="24" presetID="1" presetClass="entr" presetSubtype="0" fill="hold" grpId="1" nodeType="after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par>
                          <p:cTn id="26" fill="hold">
                            <p:stCondLst>
                              <p:cond delay="1000"/>
                            </p:stCondLst>
                            <p:childTnLst>
                              <p:par>
                                <p:cTn id="27" presetID="0" presetClass="path" presetSubtype="0" accel="50000" decel="50000" fill="hold" grpId="0" nodeType="afterEffect">
                                  <p:stCondLst>
                                    <p:cond delay="0"/>
                                  </p:stCondLst>
                                  <p:childTnLst>
                                    <p:animMotion origin="layout" path="M 0.00035 0.00028 L 0.00122 0.07611 L -0.10382 0.17223 L -0.10382 0.20556 " pathEditMode="relative" ptsTypes="AAAA">
                                      <p:cBhvr>
                                        <p:cTn id="28" dur="2000" fill="hold"/>
                                        <p:tgtEl>
                                          <p:spTgt spid="23"/>
                                        </p:tgtEl>
                                        <p:attrNameLst>
                                          <p:attrName>ppt_x</p:attrName>
                                          <p:attrName>ppt_y</p:attrName>
                                        </p:attrNameLst>
                                      </p:cBhvr>
                                    </p:animMotion>
                                  </p:childTnLst>
                                </p:cTn>
                              </p:par>
                            </p:childTnLst>
                          </p:cTn>
                        </p:par>
                        <p:par>
                          <p:cTn id="29" fill="hold">
                            <p:stCondLst>
                              <p:cond delay="3000"/>
                            </p:stCondLst>
                            <p:childTnLst>
                              <p:par>
                                <p:cTn id="30" presetID="12" presetClass="entr" presetSubtype="8"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1000"/>
                                        <p:tgtEl>
                                          <p:spTgt spid="15"/>
                                        </p:tgtEl>
                                        <p:attrNameLst>
                                          <p:attrName>ppt_x</p:attrName>
                                        </p:attrNameLst>
                                      </p:cBhvr>
                                      <p:tavLst>
                                        <p:tav tm="0">
                                          <p:val>
                                            <p:strVal val="#ppt_x-#ppt_w*1.125000"/>
                                          </p:val>
                                        </p:tav>
                                        <p:tav tm="100000">
                                          <p:val>
                                            <p:strVal val="#ppt_x"/>
                                          </p:val>
                                        </p:tav>
                                      </p:tavLst>
                                    </p:anim>
                                    <p:animEffect transition="in" filter="wipe(right)">
                                      <p:cBhvr>
                                        <p:cTn id="33" dur="10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1" nodeType="clickEffect">
                                  <p:stCondLst>
                                    <p:cond delay="0"/>
                                  </p:stCondLst>
                                  <p:childTnLst>
                                    <p:set>
                                      <p:cBhvr>
                                        <p:cTn id="37" dur="1" fill="hold">
                                          <p:stCondLst>
                                            <p:cond delay="9"/>
                                          </p:stCondLst>
                                        </p:cTn>
                                        <p:tgtEl>
                                          <p:spTgt spid="17"/>
                                        </p:tgtEl>
                                        <p:attrNameLst>
                                          <p:attrName>style.visibility</p:attrName>
                                        </p:attrNameLst>
                                      </p:cBhvr>
                                      <p:to>
                                        <p:strVal val="visible"/>
                                      </p:to>
                                    </p:set>
                                  </p:childTnLst>
                                </p:cTn>
                              </p:par>
                            </p:childTnLst>
                          </p:cTn>
                        </p:par>
                        <p:par>
                          <p:cTn id="38" fill="hold">
                            <p:stCondLst>
                              <p:cond delay="500"/>
                            </p:stCondLst>
                            <p:childTnLst>
                              <p:par>
                                <p:cTn id="39" presetID="0" presetClass="path" presetSubtype="0" accel="50000" decel="50000" fill="hold" grpId="0" nodeType="afterEffect">
                                  <p:stCondLst>
                                    <p:cond delay="0"/>
                                  </p:stCondLst>
                                  <p:childTnLst>
                                    <p:animMotion origin="layout" path="M 0.00018 -0.00028 L 0.00018 -0.00028 C 0.00174 -0.02083 0.00122 -0.00778 0.00018 -0.03639 C -1.38889E-6 -0.04583 -0.00017 -0.055 -0.00052 -0.06445 C -0.00173 -0.08972 -0.00139 -0.0475 -0.00139 -0.08028 L -0.10382 -0.16833 L -0.10712 -0.20417 " pathEditMode="relative" ptsTypes="AAAAAAA">
                                      <p:cBhvr>
                                        <p:cTn id="40" dur="2000" fill="hold"/>
                                        <p:tgtEl>
                                          <p:spTgt spid="17"/>
                                        </p:tgtEl>
                                        <p:attrNameLst>
                                          <p:attrName>ppt_x</p:attrName>
                                          <p:attrName>ppt_y</p:attrName>
                                        </p:attrNameLst>
                                      </p:cBhvr>
                                    </p:animMotion>
                                  </p:childTnLst>
                                </p:cTn>
                              </p:par>
                            </p:childTnLst>
                          </p:cTn>
                        </p:par>
                        <p:par>
                          <p:cTn id="41" fill="hold">
                            <p:stCondLst>
                              <p:cond delay="2500"/>
                            </p:stCondLst>
                            <p:childTnLst>
                              <p:par>
                                <p:cTn id="42" presetID="12" presetClass="entr" presetSubtype="8"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1000"/>
                                        <p:tgtEl>
                                          <p:spTgt spid="24"/>
                                        </p:tgtEl>
                                        <p:attrNameLst>
                                          <p:attrName>ppt_x</p:attrName>
                                        </p:attrNameLst>
                                      </p:cBhvr>
                                      <p:tavLst>
                                        <p:tav tm="0">
                                          <p:val>
                                            <p:strVal val="#ppt_x-#ppt_w*1.125000"/>
                                          </p:val>
                                        </p:tav>
                                        <p:tav tm="100000">
                                          <p:val>
                                            <p:strVal val="#ppt_x"/>
                                          </p:val>
                                        </p:tav>
                                      </p:tavLst>
                                    </p:anim>
                                    <p:animEffect transition="in" filter="wipe(right)">
                                      <p:cBhvr>
                                        <p:cTn id="45" dur="10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8" fill="hold" grpId="0" nodeType="clickEffect">
                                  <p:stCondLst>
                                    <p:cond delay="0"/>
                                  </p:stCondLst>
                                  <p:childTnLst>
                                    <p:set>
                                      <p:cBhvr>
                                        <p:cTn id="49" dur="1" fill="hold">
                                          <p:stCondLst>
                                            <p:cond delay="0"/>
                                          </p:stCondLst>
                                        </p:cTn>
                                        <p:tgtEl>
                                          <p:spTgt spid="38"/>
                                        </p:tgtEl>
                                        <p:attrNameLst>
                                          <p:attrName>style.visibility</p:attrName>
                                        </p:attrNameLst>
                                      </p:cBhvr>
                                      <p:to>
                                        <p:strVal val="visible"/>
                                      </p:to>
                                    </p:set>
                                    <p:anim calcmode="lin" valueType="num">
                                      <p:cBhvr additive="base">
                                        <p:cTn id="50" dur="1000"/>
                                        <p:tgtEl>
                                          <p:spTgt spid="38"/>
                                        </p:tgtEl>
                                        <p:attrNameLst>
                                          <p:attrName>ppt_x</p:attrName>
                                        </p:attrNameLst>
                                      </p:cBhvr>
                                      <p:tavLst>
                                        <p:tav tm="0">
                                          <p:val>
                                            <p:strVal val="#ppt_x-#ppt_w*1.125000"/>
                                          </p:val>
                                        </p:tav>
                                        <p:tav tm="100000">
                                          <p:val>
                                            <p:strVal val="#ppt_x"/>
                                          </p:val>
                                        </p:tav>
                                      </p:tavLst>
                                    </p:anim>
                                    <p:animEffect transition="in" filter="wipe(right)">
                                      <p:cBhvr>
                                        <p:cTn id="51" dur="1000"/>
                                        <p:tgtEl>
                                          <p:spTgt spid="38"/>
                                        </p:tgtEl>
                                      </p:cBhvr>
                                    </p:animEffect>
                                  </p:childTnLst>
                                </p:cTn>
                              </p:par>
                            </p:childTnLst>
                          </p:cTn>
                        </p:par>
                        <p:par>
                          <p:cTn id="52" fill="hold">
                            <p:stCondLst>
                              <p:cond delay="1000"/>
                            </p:stCondLst>
                            <p:childTnLst>
                              <p:par>
                                <p:cTn id="53" presetID="1" presetClass="entr" presetSubtype="0" fill="hold" grpId="1" nodeType="afterEffect">
                                  <p:stCondLst>
                                    <p:cond delay="0"/>
                                  </p:stCondLst>
                                  <p:childTnLst>
                                    <p:set>
                                      <p:cBhvr>
                                        <p:cTn id="54" dur="1" fill="hold">
                                          <p:stCondLst>
                                            <p:cond delay="0"/>
                                          </p:stCondLst>
                                        </p:cTn>
                                        <p:tgtEl>
                                          <p:spTgt spid="40"/>
                                        </p:tgtEl>
                                        <p:attrNameLst>
                                          <p:attrName>style.visibility</p:attrName>
                                        </p:attrNameLst>
                                      </p:cBhvr>
                                      <p:to>
                                        <p:strVal val="visible"/>
                                      </p:to>
                                    </p:set>
                                  </p:childTnLst>
                                </p:cTn>
                              </p:par>
                            </p:childTnLst>
                          </p:cTn>
                        </p:par>
                        <p:par>
                          <p:cTn id="55" fill="hold">
                            <p:stCondLst>
                              <p:cond delay="1000"/>
                            </p:stCondLst>
                            <p:childTnLst>
                              <p:par>
                                <p:cTn id="56" presetID="0" presetClass="path" presetSubtype="0" accel="50000" decel="50000" fill="hold" grpId="0" nodeType="afterEffect">
                                  <p:stCondLst>
                                    <p:cond delay="0"/>
                                  </p:stCondLst>
                                  <p:childTnLst>
                                    <p:animMotion origin="layout" path="M 0.00035 0.00028 L 0.00122 0.07611 L -0.10382 0.17222 L -0.10382 0.20556 " pathEditMode="relative" rAng="0" ptsTypes="AAAA">
                                      <p:cBhvr>
                                        <p:cTn id="57" dur="2000" fill="hold"/>
                                        <p:tgtEl>
                                          <p:spTgt spid="40"/>
                                        </p:tgtEl>
                                        <p:attrNameLst>
                                          <p:attrName>ppt_x</p:attrName>
                                          <p:attrName>ppt_y</p:attrName>
                                        </p:attrNameLst>
                                      </p:cBhvr>
                                      <p:rCtr x="-5174" y="10250"/>
                                    </p:animMotion>
                                  </p:childTnLst>
                                </p:cTn>
                              </p:par>
                            </p:childTnLst>
                          </p:cTn>
                        </p:par>
                        <p:par>
                          <p:cTn id="58" fill="hold">
                            <p:stCondLst>
                              <p:cond delay="3000"/>
                            </p:stCondLst>
                            <p:childTnLst>
                              <p:par>
                                <p:cTn id="59" presetID="12" presetClass="entr" presetSubtype="8" fill="hold" grpId="0" nodeType="afterEffect">
                                  <p:stCondLst>
                                    <p:cond delay="0"/>
                                  </p:stCondLst>
                                  <p:childTnLst>
                                    <p:set>
                                      <p:cBhvr>
                                        <p:cTn id="60" dur="1" fill="hold">
                                          <p:stCondLst>
                                            <p:cond delay="0"/>
                                          </p:stCondLst>
                                        </p:cTn>
                                        <p:tgtEl>
                                          <p:spTgt spid="37"/>
                                        </p:tgtEl>
                                        <p:attrNameLst>
                                          <p:attrName>style.visibility</p:attrName>
                                        </p:attrNameLst>
                                      </p:cBhvr>
                                      <p:to>
                                        <p:strVal val="visible"/>
                                      </p:to>
                                    </p:set>
                                    <p:anim calcmode="lin" valueType="num">
                                      <p:cBhvr additive="base">
                                        <p:cTn id="61" dur="1000"/>
                                        <p:tgtEl>
                                          <p:spTgt spid="37"/>
                                        </p:tgtEl>
                                        <p:attrNameLst>
                                          <p:attrName>ppt_x</p:attrName>
                                        </p:attrNameLst>
                                      </p:cBhvr>
                                      <p:tavLst>
                                        <p:tav tm="0">
                                          <p:val>
                                            <p:strVal val="#ppt_x-#ppt_w*1.125000"/>
                                          </p:val>
                                        </p:tav>
                                        <p:tav tm="100000">
                                          <p:val>
                                            <p:strVal val="#ppt_x"/>
                                          </p:val>
                                        </p:tav>
                                      </p:tavLst>
                                    </p:anim>
                                    <p:animEffect transition="in" filter="wipe(right)">
                                      <p:cBhvr>
                                        <p:cTn id="62" dur="10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9"/>
                                          </p:stCondLst>
                                        </p:cTn>
                                        <p:tgtEl>
                                          <p:spTgt spid="39"/>
                                        </p:tgtEl>
                                        <p:attrNameLst>
                                          <p:attrName>style.visibility</p:attrName>
                                        </p:attrNameLst>
                                      </p:cBhvr>
                                      <p:to>
                                        <p:strVal val="visible"/>
                                      </p:to>
                                    </p:set>
                                  </p:childTnLst>
                                </p:cTn>
                              </p:par>
                            </p:childTnLst>
                          </p:cTn>
                        </p:par>
                        <p:par>
                          <p:cTn id="67" fill="hold">
                            <p:stCondLst>
                              <p:cond delay="500"/>
                            </p:stCondLst>
                            <p:childTnLst>
                              <p:par>
                                <p:cTn id="68" presetID="0" presetClass="path" presetSubtype="0" accel="50000" decel="50000" fill="hold" grpId="0" nodeType="afterEffect">
                                  <p:stCondLst>
                                    <p:cond delay="0"/>
                                  </p:stCondLst>
                                  <p:childTnLst>
                                    <p:animMotion origin="layout" path="M 0.00017 -0.00028 L 0.00017 2.22222E-6 C 0.00173 -0.02084 0.00121 -0.00778 0.00017 -0.03639 C 3.61111E-6 -0.04584 -0.00018 -0.055 -0.00052 -0.06445 C -0.00174 -0.08972 -0.00139 -0.0475 -0.00139 -0.08028 L -0.10382 -0.16834 L -0.10712 -0.20417 " pathEditMode="relative" rAng="0" ptsTypes="AAAAAAA">
                                      <p:cBhvr>
                                        <p:cTn id="69" dur="2000" fill="hold"/>
                                        <p:tgtEl>
                                          <p:spTgt spid="39"/>
                                        </p:tgtEl>
                                        <p:attrNameLst>
                                          <p:attrName>ppt_x</p:attrName>
                                          <p:attrName>ppt_y</p:attrName>
                                        </p:attrNameLst>
                                      </p:cBhvr>
                                      <p:rCtr x="-5330" y="-10194"/>
                                    </p:animMotion>
                                  </p:childTnLst>
                                </p:cTn>
                              </p:par>
                            </p:childTnLst>
                          </p:cTn>
                        </p:par>
                        <p:par>
                          <p:cTn id="70" fill="hold">
                            <p:stCondLst>
                              <p:cond delay="2500"/>
                            </p:stCondLst>
                            <p:childTnLst>
                              <p:par>
                                <p:cTn id="71" presetID="12" presetClass="entr" presetSubtype="8" fill="hold" grpId="0" nodeType="afterEffect">
                                  <p:stCondLst>
                                    <p:cond delay="0"/>
                                  </p:stCondLst>
                                  <p:childTnLst>
                                    <p:set>
                                      <p:cBhvr>
                                        <p:cTn id="72" dur="1" fill="hold">
                                          <p:stCondLst>
                                            <p:cond delay="0"/>
                                          </p:stCondLst>
                                        </p:cTn>
                                        <p:tgtEl>
                                          <p:spTgt spid="41"/>
                                        </p:tgtEl>
                                        <p:attrNameLst>
                                          <p:attrName>style.visibility</p:attrName>
                                        </p:attrNameLst>
                                      </p:cBhvr>
                                      <p:to>
                                        <p:strVal val="visible"/>
                                      </p:to>
                                    </p:set>
                                    <p:anim calcmode="lin" valueType="num">
                                      <p:cBhvr additive="base">
                                        <p:cTn id="73" dur="1000"/>
                                        <p:tgtEl>
                                          <p:spTgt spid="41"/>
                                        </p:tgtEl>
                                        <p:attrNameLst>
                                          <p:attrName>ppt_x</p:attrName>
                                        </p:attrNameLst>
                                      </p:cBhvr>
                                      <p:tavLst>
                                        <p:tav tm="0">
                                          <p:val>
                                            <p:strVal val="#ppt_x-#ppt_w*1.125000"/>
                                          </p:val>
                                        </p:tav>
                                        <p:tav tm="100000">
                                          <p:val>
                                            <p:strVal val="#ppt_x"/>
                                          </p:val>
                                        </p:tav>
                                      </p:tavLst>
                                    </p:anim>
                                    <p:animEffect transition="in" filter="wipe(right)">
                                      <p:cBhvr>
                                        <p:cTn id="74" dur="1000"/>
                                        <p:tgtEl>
                                          <p:spTgt spid="41"/>
                                        </p:tgtEl>
                                      </p:cBhvr>
                                    </p:animEffect>
                                  </p:childTnLst>
                                </p:cTn>
                              </p:par>
                            </p:childTnLst>
                          </p:cTn>
                        </p:par>
                      </p:childTnLst>
                    </p:cTn>
                  </p:par>
                  <p:par>
                    <p:cTn id="75" fill="hold">
                      <p:stCondLst>
                        <p:cond delay="indefinite"/>
                      </p:stCondLst>
                      <p:childTnLst>
                        <p:par>
                          <p:cTn id="76" fill="hold">
                            <p:stCondLst>
                              <p:cond delay="0"/>
                            </p:stCondLst>
                            <p:childTnLst>
                              <p:par>
                                <p:cTn id="77" presetID="17" presetClass="entr" presetSubtype="8"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ppt_x</p:attrName>
                                        </p:attrNameLst>
                                      </p:cBhvr>
                                      <p:tavLst>
                                        <p:tav tm="0">
                                          <p:val>
                                            <p:strVal val="#ppt_x-#ppt_w/2"/>
                                          </p:val>
                                        </p:tav>
                                        <p:tav tm="100000">
                                          <p:val>
                                            <p:strVal val="#ppt_x"/>
                                          </p:val>
                                        </p:tav>
                                      </p:tavLst>
                                    </p:anim>
                                    <p:anim calcmode="lin" valueType="num">
                                      <p:cBhvr>
                                        <p:cTn id="80" dur="500" fill="hold"/>
                                        <p:tgtEl>
                                          <p:spTgt spid="22"/>
                                        </p:tgtEl>
                                        <p:attrNameLst>
                                          <p:attrName>ppt_y</p:attrName>
                                        </p:attrNameLst>
                                      </p:cBhvr>
                                      <p:tavLst>
                                        <p:tav tm="0">
                                          <p:val>
                                            <p:strVal val="#ppt_y"/>
                                          </p:val>
                                        </p:tav>
                                        <p:tav tm="100000">
                                          <p:val>
                                            <p:strVal val="#ppt_y"/>
                                          </p:val>
                                        </p:tav>
                                      </p:tavLst>
                                    </p:anim>
                                    <p:anim calcmode="lin" valueType="num">
                                      <p:cBhvr>
                                        <p:cTn id="81" dur="500" fill="hold"/>
                                        <p:tgtEl>
                                          <p:spTgt spid="22"/>
                                        </p:tgtEl>
                                        <p:attrNameLst>
                                          <p:attrName>ppt_w</p:attrName>
                                        </p:attrNameLst>
                                      </p:cBhvr>
                                      <p:tavLst>
                                        <p:tav tm="0">
                                          <p:val>
                                            <p:fltVal val="0"/>
                                          </p:val>
                                        </p:tav>
                                        <p:tav tm="100000">
                                          <p:val>
                                            <p:strVal val="#ppt_w"/>
                                          </p:val>
                                        </p:tav>
                                      </p:tavLst>
                                    </p:anim>
                                    <p:anim calcmode="lin" valueType="num">
                                      <p:cBhvr>
                                        <p:cTn id="82" dur="500" fill="hold"/>
                                        <p:tgtEl>
                                          <p:spTgt spid="2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7" grpId="1" animBg="1"/>
      <p:bldP spid="21" grpId="0" animBg="1"/>
      <p:bldP spid="22" grpId="0" animBg="1"/>
      <p:bldP spid="23" grpId="0" animBg="1"/>
      <p:bldP spid="23" grpId="1" animBg="1"/>
      <p:bldP spid="24" grpId="0" animBg="1"/>
      <p:bldP spid="37" grpId="0" animBg="1"/>
      <p:bldP spid="38" grpId="0" animBg="1"/>
      <p:bldP spid="39" grpId="0" animBg="1"/>
      <p:bldP spid="39" grpId="1" animBg="1"/>
      <p:bldP spid="40" grpId="0" animBg="1"/>
      <p:bldP spid="40" grpId="1" animBg="1"/>
      <p:bldP spid="4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6702213" y="807720"/>
            <a:ext cx="2181013" cy="4244340"/>
            <a:chOff x="6702213" y="807720"/>
            <a:chExt cx="2181013" cy="4244340"/>
          </a:xfrm>
        </p:grpSpPr>
        <p:grpSp>
          <p:nvGrpSpPr>
            <p:cNvPr id="9" name="组合 8"/>
            <p:cNvGrpSpPr/>
            <p:nvPr/>
          </p:nvGrpSpPr>
          <p:grpSpPr>
            <a:xfrm>
              <a:off x="6702213" y="807720"/>
              <a:ext cx="2181013" cy="4244340"/>
              <a:chOff x="6702213" y="807720"/>
              <a:chExt cx="2181013" cy="4244340"/>
            </a:xfrm>
          </p:grpSpPr>
          <p:grpSp>
            <p:nvGrpSpPr>
              <p:cNvPr id="6" name="组合 5"/>
              <p:cNvGrpSpPr/>
              <p:nvPr/>
            </p:nvGrpSpPr>
            <p:grpSpPr>
              <a:xfrm>
                <a:off x="6702213" y="80772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5132" name="位图图像" r:id="rId1" imgW="3314700" imgH="3638550" progId="PBrush">
                        <p:embed/>
                      </p:oleObj>
                    </mc:Choice>
                    <mc:Fallback>
                      <p:oleObj name="位图图像" r:id="rId1" imgW="3314700" imgH="3638550" progId="PBrush">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48" name="组合 47"/>
              <p:cNvGrpSpPr/>
              <p:nvPr/>
            </p:nvGrpSpPr>
            <p:grpSpPr>
              <a:xfrm>
                <a:off x="6702213" y="3017520"/>
                <a:ext cx="2181013" cy="2034540"/>
                <a:chOff x="2937933" y="1729740"/>
                <a:chExt cx="2181013" cy="2034540"/>
              </a:xfrm>
            </p:grpSpPr>
            <p:sp>
              <p:nvSpPr>
                <p:cNvPr id="49" name="剪去对角的矩形 48"/>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0" name="Object 6"/>
                <p:cNvGraphicFramePr>
                  <a:graphicFrameLocks noChangeAspect="1"/>
                </p:cNvGraphicFramePr>
                <p:nvPr/>
              </p:nvGraphicFramePr>
              <p:xfrm>
                <a:off x="3153521" y="1774327"/>
                <a:ext cx="1765023" cy="1938504"/>
              </p:xfrm>
              <a:graphic>
                <a:graphicData uri="http://schemas.openxmlformats.org/presentationml/2006/ole">
                  <mc:AlternateContent xmlns:mc="http://schemas.openxmlformats.org/markup-compatibility/2006">
                    <mc:Choice xmlns:v="urn:schemas-microsoft-com:vml" Requires="v">
                      <p:oleObj spid="_x0000_s5133" name="位图图像" r:id="rId3" imgW="3314700" imgH="3638550" progId="PBrush">
                        <p:embed/>
                      </p:oleObj>
                    </mc:Choice>
                    <mc:Fallback>
                      <p:oleObj name="位图图像" r:id="rId3" imgW="3314700" imgH="3638550" progId="PBrush">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3521" y="1774327"/>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grpSp>
          <p:nvGrpSpPr>
            <p:cNvPr id="10" name="组合 9"/>
            <p:cNvGrpSpPr/>
            <p:nvPr/>
          </p:nvGrpSpPr>
          <p:grpSpPr>
            <a:xfrm>
              <a:off x="7133590" y="1027113"/>
              <a:ext cx="252000" cy="3890550"/>
              <a:chOff x="7133590" y="1027113"/>
              <a:chExt cx="252000" cy="3890550"/>
            </a:xfrm>
          </p:grpSpPr>
          <p:grpSp>
            <p:nvGrpSpPr>
              <p:cNvPr id="40" name="组合 39"/>
              <p:cNvGrpSpPr/>
              <p:nvPr/>
            </p:nvGrpSpPr>
            <p:grpSpPr>
              <a:xfrm>
                <a:off x="7133590" y="1027113"/>
                <a:ext cx="252000" cy="1680750"/>
                <a:chOff x="7133590" y="1027113"/>
                <a:chExt cx="252000" cy="1680750"/>
              </a:xfrm>
            </p:grpSpPr>
            <p:sp>
              <p:nvSpPr>
                <p:cNvPr id="13" name="Oval 36"/>
                <p:cNvSpPr>
                  <a:spLocks noChangeArrowheads="1"/>
                </p:cNvSpPr>
                <p:nvPr/>
              </p:nvSpPr>
              <p:spPr bwMode="auto">
                <a:xfrm>
                  <a:off x="7133590" y="245586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4" name="Oval 40"/>
                <p:cNvSpPr>
                  <a:spLocks noChangeArrowheads="1"/>
                </p:cNvSpPr>
                <p:nvPr/>
              </p:nvSpPr>
              <p:spPr bwMode="auto">
                <a:xfrm>
                  <a:off x="7133590" y="102711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51" name="组合 50"/>
              <p:cNvGrpSpPr/>
              <p:nvPr/>
            </p:nvGrpSpPr>
            <p:grpSpPr>
              <a:xfrm>
                <a:off x="7133590" y="3236913"/>
                <a:ext cx="252000" cy="1680750"/>
                <a:chOff x="7133590" y="1027113"/>
                <a:chExt cx="252000" cy="1680750"/>
              </a:xfrm>
            </p:grpSpPr>
            <p:sp>
              <p:nvSpPr>
                <p:cNvPr id="52" name="Oval 36"/>
                <p:cNvSpPr>
                  <a:spLocks noChangeArrowheads="1"/>
                </p:cNvSpPr>
                <p:nvPr/>
              </p:nvSpPr>
              <p:spPr bwMode="auto">
                <a:xfrm>
                  <a:off x="7133590" y="245586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3" name="Oval 40"/>
                <p:cNvSpPr>
                  <a:spLocks noChangeArrowheads="1"/>
                </p:cNvSpPr>
                <p:nvPr/>
              </p:nvSpPr>
              <p:spPr bwMode="auto">
                <a:xfrm>
                  <a:off x="7133590" y="102711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grpSp>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2" name="五边形 11"/>
          <p:cNvSpPr/>
          <p:nvPr/>
        </p:nvSpPr>
        <p:spPr>
          <a:xfrm>
            <a:off x="861060" y="1752600"/>
            <a:ext cx="1463040" cy="484632"/>
          </a:xfrm>
          <a:prstGeom prst="homePlat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R=1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grpSp>
        <p:nvGrpSpPr>
          <p:cNvPr id="41" name="组合 40"/>
          <p:cNvGrpSpPr/>
          <p:nvPr/>
        </p:nvGrpSpPr>
        <p:grpSpPr>
          <a:xfrm>
            <a:off x="8108950" y="1008063"/>
            <a:ext cx="267240" cy="1741710"/>
            <a:chOff x="8108950" y="1008063"/>
            <a:chExt cx="267240" cy="1741710"/>
          </a:xfrm>
        </p:grpSpPr>
        <p:sp>
          <p:nvSpPr>
            <p:cNvPr id="15" name="Oval 40"/>
            <p:cNvSpPr>
              <a:spLocks noChangeArrowheads="1"/>
            </p:cNvSpPr>
            <p:nvPr/>
          </p:nvSpPr>
          <p:spPr bwMode="auto">
            <a:xfrm>
              <a:off x="8124190" y="24977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6" name="Oval 36"/>
            <p:cNvSpPr>
              <a:spLocks noChangeArrowheads="1"/>
            </p:cNvSpPr>
            <p:nvPr/>
          </p:nvSpPr>
          <p:spPr bwMode="auto">
            <a:xfrm>
              <a:off x="8108950" y="10080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
        <p:nvSpPr>
          <p:cNvPr id="18" name="燕尾形 17"/>
          <p:cNvSpPr/>
          <p:nvPr/>
        </p:nvSpPr>
        <p:spPr>
          <a:xfrm>
            <a:off x="2125980" y="1752600"/>
            <a:ext cx="3467100"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（复位）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五边形 18"/>
          <p:cNvSpPr/>
          <p:nvPr/>
        </p:nvSpPr>
        <p:spPr>
          <a:xfrm>
            <a:off x="861060" y="2301240"/>
            <a:ext cx="1463040" cy="484632"/>
          </a:xfrm>
          <a:prstGeom prst="homePlate">
            <a:avLst/>
          </a:prstGeom>
          <a:solidFill>
            <a:srgbClr val="FFFF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R=0</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endParaRPr lang="zh-CN" altLang="en-US" dirty="0"/>
          </a:p>
        </p:txBody>
      </p:sp>
      <p:sp>
        <p:nvSpPr>
          <p:cNvPr id="20" name="燕尾形 19"/>
          <p:cNvSpPr/>
          <p:nvPr/>
        </p:nvSpPr>
        <p:spPr>
          <a:xfrm>
            <a:off x="2125980" y="2301240"/>
            <a:ext cx="3467100" cy="484632"/>
          </a:xfrm>
          <a:prstGeom prst="chevron">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锁存器处于</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态，置</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（置位）</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五边形 20"/>
          <p:cNvSpPr/>
          <p:nvPr/>
        </p:nvSpPr>
        <p:spPr>
          <a:xfrm>
            <a:off x="861060" y="2849880"/>
            <a:ext cx="1463040" cy="484632"/>
          </a:xfrm>
          <a:prstGeom prst="homePlate">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R=0</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endParaRPr lang="zh-CN" altLang="en-US" dirty="0"/>
          </a:p>
        </p:txBody>
      </p:sp>
      <p:sp>
        <p:nvSpPr>
          <p:cNvPr id="22" name="燕尾形 21"/>
          <p:cNvSpPr/>
          <p:nvPr/>
        </p:nvSpPr>
        <p:spPr>
          <a:xfrm>
            <a:off x="2125980" y="2849880"/>
            <a:ext cx="3467100" cy="484632"/>
          </a:xfrm>
          <a:prstGeom prst="chevron">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锁存器保持原来的状态</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五边形 34"/>
          <p:cNvSpPr/>
          <p:nvPr/>
        </p:nvSpPr>
        <p:spPr>
          <a:xfrm>
            <a:off x="861060" y="3421380"/>
            <a:ext cx="1463040" cy="484632"/>
          </a:xfrm>
          <a:prstGeom prst="homePlate">
            <a:avLst/>
          </a:prstGeom>
          <a:solidFill>
            <a:srgbClr val="66FF66"/>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④ R=1</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endParaRPr lang="zh-CN" altLang="en-US" dirty="0"/>
          </a:p>
        </p:txBody>
      </p:sp>
      <p:sp>
        <p:nvSpPr>
          <p:cNvPr id="36" name="燕尾形 35"/>
          <p:cNvSpPr/>
          <p:nvPr/>
        </p:nvSpPr>
        <p:spPr>
          <a:xfrm>
            <a:off x="2125980" y="3421380"/>
            <a:ext cx="3467100" cy="484632"/>
          </a:xfrm>
          <a:prstGeom prst="chevro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锁存器为禁止态、不定态</a:t>
            </a:r>
            <a:endPar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9" name="组合 38"/>
          <p:cNvGrpSpPr/>
          <p:nvPr/>
        </p:nvGrpSpPr>
        <p:grpSpPr>
          <a:xfrm>
            <a:off x="7132474" y="1029336"/>
            <a:ext cx="252000" cy="1680750"/>
            <a:chOff x="6851650" y="1019493"/>
            <a:chExt cx="252000" cy="1680750"/>
          </a:xfrm>
        </p:grpSpPr>
        <p:sp>
          <p:nvSpPr>
            <p:cNvPr id="37" name="Oval 36"/>
            <p:cNvSpPr>
              <a:spLocks noChangeArrowheads="1"/>
            </p:cNvSpPr>
            <p:nvPr/>
          </p:nvSpPr>
          <p:spPr bwMode="auto">
            <a:xfrm>
              <a:off x="6851650" y="244824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38" name="Oval 40"/>
            <p:cNvSpPr>
              <a:spLocks noChangeArrowheads="1"/>
            </p:cNvSpPr>
            <p:nvPr/>
          </p:nvSpPr>
          <p:spPr bwMode="auto">
            <a:xfrm>
              <a:off x="6851650" y="101949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60" name="组合 59"/>
          <p:cNvGrpSpPr/>
          <p:nvPr/>
        </p:nvGrpSpPr>
        <p:grpSpPr>
          <a:xfrm>
            <a:off x="8109431" y="999533"/>
            <a:ext cx="267240" cy="1753140"/>
            <a:chOff x="8238490" y="1008063"/>
            <a:chExt cx="267240" cy="1753140"/>
          </a:xfrm>
        </p:grpSpPr>
        <p:sp>
          <p:nvSpPr>
            <p:cNvPr id="23" name="Oval 36"/>
            <p:cNvSpPr>
              <a:spLocks noChangeArrowheads="1"/>
            </p:cNvSpPr>
            <p:nvPr/>
          </p:nvSpPr>
          <p:spPr bwMode="auto">
            <a:xfrm>
              <a:off x="8253730" y="250920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3" name="Oval 36"/>
            <p:cNvSpPr>
              <a:spLocks noChangeArrowheads="1"/>
            </p:cNvSpPr>
            <p:nvPr/>
          </p:nvSpPr>
          <p:spPr bwMode="auto">
            <a:xfrm>
              <a:off x="8238490" y="100806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8101330" y="3225483"/>
            <a:ext cx="267240" cy="1741710"/>
            <a:chOff x="8108950" y="1008063"/>
            <a:chExt cx="267240" cy="1741710"/>
          </a:xfrm>
        </p:grpSpPr>
        <p:sp>
          <p:nvSpPr>
            <p:cNvPr id="58" name="Oval 40"/>
            <p:cNvSpPr>
              <a:spLocks noChangeArrowheads="1"/>
            </p:cNvSpPr>
            <p:nvPr/>
          </p:nvSpPr>
          <p:spPr bwMode="auto">
            <a:xfrm>
              <a:off x="8124190" y="24977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9" name="Oval 36"/>
            <p:cNvSpPr>
              <a:spLocks noChangeArrowheads="1"/>
            </p:cNvSpPr>
            <p:nvPr/>
          </p:nvSpPr>
          <p:spPr bwMode="auto">
            <a:xfrm>
              <a:off x="8108950" y="100806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
        <p:nvSpPr>
          <p:cNvPr id="61" name="Oval 36"/>
          <p:cNvSpPr>
            <a:spLocks noChangeArrowheads="1"/>
          </p:cNvSpPr>
          <p:nvPr/>
        </p:nvSpPr>
        <p:spPr bwMode="auto">
          <a:xfrm>
            <a:off x="8094250" y="3226796"/>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62" name="Oval 36"/>
          <p:cNvSpPr>
            <a:spLocks noChangeArrowheads="1"/>
          </p:cNvSpPr>
          <p:nvPr/>
        </p:nvSpPr>
        <p:spPr bwMode="auto">
          <a:xfrm>
            <a:off x="8093710" y="322167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66" name="圆角矩形标注 65"/>
          <p:cNvSpPr/>
          <p:nvPr/>
        </p:nvSpPr>
        <p:spPr>
          <a:xfrm>
            <a:off x="1971887" y="1882584"/>
            <a:ext cx="4175760" cy="1386840"/>
          </a:xfrm>
          <a:prstGeom prst="wedgeRoundRectCallout">
            <a:avLst>
              <a:gd name="adj1" fmla="val -45050"/>
              <a:gd name="adj2" fmla="val 63891"/>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在这种状态下，当</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信号同时由“</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”后，由于</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传输延迟不同，输出状态将不能确定。（应避免这种情况）。</a:t>
            </a:r>
            <a:endParaRPr lang="zh-CN" altLang="en-US" sz="1600" dirty="0">
              <a:solidFill>
                <a:srgbClr val="0000FF"/>
              </a:solidFill>
            </a:endParaRPr>
          </a:p>
        </p:txBody>
      </p:sp>
      <p:sp>
        <p:nvSpPr>
          <p:cNvPr id="67" name="Rectangle 12"/>
          <p:cNvSpPr>
            <a:spLocks noChangeArrowheads="1"/>
          </p:cNvSpPr>
          <p:nvPr/>
        </p:nvSpPr>
        <p:spPr bwMode="auto">
          <a:xfrm>
            <a:off x="1632585" y="4179888"/>
            <a:ext cx="3190875" cy="521652"/>
          </a:xfrm>
          <a:prstGeom prst="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dirty="0">
                <a:solidFill>
                  <a:schemeClr val="tx1"/>
                </a:solidFill>
                <a:latin typeface="微软雅黑" panose="020B0503020204020204" pitchFamily="34" charset="-122"/>
                <a:ea typeface="微软雅黑" panose="020B0503020204020204" pitchFamily="34" charset="-122"/>
              </a:rPr>
              <a:t>SR</a:t>
            </a:r>
            <a:r>
              <a:rPr kumimoji="1" lang="zh-CN" altLang="en-US" dirty="0">
                <a:solidFill>
                  <a:schemeClr val="tx1"/>
                </a:solidFill>
                <a:latin typeface="微软雅黑" panose="020B0503020204020204" pitchFamily="34" charset="-122"/>
                <a:ea typeface="微软雅黑" panose="020B0503020204020204" pitchFamily="34" charset="-122"/>
              </a:rPr>
              <a:t>锁存器约束条件</a:t>
            </a:r>
            <a:r>
              <a:rPr kumimoji="1" lang="en-US" altLang="zh-CN" dirty="0">
                <a:solidFill>
                  <a:schemeClr val="tx1"/>
                </a:solidFill>
                <a:latin typeface="微软雅黑" panose="020B0503020204020204" pitchFamily="34" charset="-122"/>
                <a:ea typeface="微软雅黑" panose="020B0503020204020204" pitchFamily="34" charset="-122"/>
              </a:rPr>
              <a:t>: SR = 0</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pSp>
        <p:nvGrpSpPr>
          <p:cNvPr id="44" name="组合 43"/>
          <p:cNvGrpSpPr/>
          <p:nvPr/>
        </p:nvGrpSpPr>
        <p:grpSpPr>
          <a:xfrm>
            <a:off x="7128664" y="1367926"/>
            <a:ext cx="259620" cy="945420"/>
            <a:chOff x="7125970" y="1358583"/>
            <a:chExt cx="259620" cy="945420"/>
          </a:xfrm>
        </p:grpSpPr>
        <p:sp>
          <p:nvSpPr>
            <p:cNvPr id="17" name="Oval 36"/>
            <p:cNvSpPr>
              <a:spLocks noChangeArrowheads="1"/>
            </p:cNvSpPr>
            <p:nvPr/>
          </p:nvSpPr>
          <p:spPr bwMode="auto">
            <a:xfrm>
              <a:off x="7133590" y="135858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2" name="Oval 36"/>
            <p:cNvSpPr>
              <a:spLocks noChangeArrowheads="1"/>
            </p:cNvSpPr>
            <p:nvPr/>
          </p:nvSpPr>
          <p:spPr bwMode="auto">
            <a:xfrm>
              <a:off x="7125970" y="205200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7132474" y="1368601"/>
            <a:ext cx="252000" cy="953040"/>
            <a:chOff x="7133590" y="1358583"/>
            <a:chExt cx="252000" cy="953040"/>
          </a:xfrm>
          <a:solidFill>
            <a:srgbClr val="FF0000"/>
          </a:solidFill>
        </p:grpSpPr>
        <p:sp>
          <p:nvSpPr>
            <p:cNvPr id="46" name="Oval 36"/>
            <p:cNvSpPr>
              <a:spLocks noChangeArrowheads="1"/>
            </p:cNvSpPr>
            <p:nvPr/>
          </p:nvSpPr>
          <p:spPr bwMode="auto">
            <a:xfrm>
              <a:off x="7133590" y="1358583"/>
              <a:ext cx="252000" cy="252000"/>
            </a:xfrm>
            <a:prstGeom prst="ellipse">
              <a:avLst/>
            </a:prstGeom>
            <a:grp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47" name="Oval 36"/>
            <p:cNvSpPr>
              <a:spLocks noChangeArrowheads="1"/>
            </p:cNvSpPr>
            <p:nvPr/>
          </p:nvSpPr>
          <p:spPr bwMode="auto">
            <a:xfrm>
              <a:off x="7133590" y="2059623"/>
              <a:ext cx="252000" cy="252000"/>
            </a:xfrm>
            <a:prstGeom prst="ellipse">
              <a:avLst/>
            </a:prstGeom>
            <a:grp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64" name="组合 63"/>
          <p:cNvGrpSpPr/>
          <p:nvPr/>
        </p:nvGrpSpPr>
        <p:grpSpPr>
          <a:xfrm>
            <a:off x="7139186" y="3239851"/>
            <a:ext cx="252000" cy="1680750"/>
            <a:chOff x="6851650" y="1019493"/>
            <a:chExt cx="252000" cy="1680750"/>
          </a:xfrm>
        </p:grpSpPr>
        <p:sp>
          <p:nvSpPr>
            <p:cNvPr id="65" name="Oval 36"/>
            <p:cNvSpPr>
              <a:spLocks noChangeArrowheads="1"/>
            </p:cNvSpPr>
            <p:nvPr/>
          </p:nvSpPr>
          <p:spPr bwMode="auto">
            <a:xfrm>
              <a:off x="6851650" y="244824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68" name="Oval 40"/>
            <p:cNvSpPr>
              <a:spLocks noChangeArrowheads="1"/>
            </p:cNvSpPr>
            <p:nvPr/>
          </p:nvSpPr>
          <p:spPr bwMode="auto">
            <a:xfrm>
              <a:off x="6851650" y="101949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7" presetClass="entr" presetSubtype="8" fill="hold" grpId="0" nodeType="afterEffect">
                                  <p:stCondLst>
                                    <p:cond delay="0"/>
                                  </p:stCondLst>
                                  <p:childTnLst>
                                    <p:set>
                                      <p:cBhvr>
                                        <p:cTn id="12" dur="1" fill="hold">
                                          <p:stCondLst>
                                            <p:cond delay="0"/>
                                          </p:stCondLst>
                                        </p:cTn>
                                        <p:tgtEl>
                                          <p:spTgt spid="35"/>
                                        </p:tgtEl>
                                        <p:attrNameLst>
                                          <p:attrName>style.visibility</p:attrName>
                                        </p:attrNameLst>
                                      </p:cBhvr>
                                      <p:to>
                                        <p:strVal val="visible"/>
                                      </p:to>
                                    </p:set>
                                    <p:anim calcmode="lin" valueType="num">
                                      <p:cBhvr>
                                        <p:cTn id="13" dur="1000" fill="hold"/>
                                        <p:tgtEl>
                                          <p:spTgt spid="35"/>
                                        </p:tgtEl>
                                        <p:attrNameLst>
                                          <p:attrName>ppt_x</p:attrName>
                                        </p:attrNameLst>
                                      </p:cBhvr>
                                      <p:tavLst>
                                        <p:tav tm="0">
                                          <p:val>
                                            <p:strVal val="#ppt_x-#ppt_w/2"/>
                                          </p:val>
                                        </p:tav>
                                        <p:tav tm="100000">
                                          <p:val>
                                            <p:strVal val="#ppt_x"/>
                                          </p:val>
                                        </p:tav>
                                      </p:tavLst>
                                    </p:anim>
                                    <p:anim calcmode="lin" valueType="num">
                                      <p:cBhvr>
                                        <p:cTn id="14" dur="1000" fill="hold"/>
                                        <p:tgtEl>
                                          <p:spTgt spid="35"/>
                                        </p:tgtEl>
                                        <p:attrNameLst>
                                          <p:attrName>ppt_y</p:attrName>
                                        </p:attrNameLst>
                                      </p:cBhvr>
                                      <p:tavLst>
                                        <p:tav tm="0">
                                          <p:val>
                                            <p:strVal val="#ppt_y"/>
                                          </p:val>
                                        </p:tav>
                                        <p:tav tm="100000">
                                          <p:val>
                                            <p:strVal val="#ppt_y"/>
                                          </p:val>
                                        </p:tav>
                                      </p:tavLst>
                                    </p:anim>
                                    <p:anim calcmode="lin" valueType="num">
                                      <p:cBhvr>
                                        <p:cTn id="15" dur="1000" fill="hold"/>
                                        <p:tgtEl>
                                          <p:spTgt spid="35"/>
                                        </p:tgtEl>
                                        <p:attrNameLst>
                                          <p:attrName>ppt_w</p:attrName>
                                        </p:attrNameLst>
                                      </p:cBhvr>
                                      <p:tavLst>
                                        <p:tav tm="0">
                                          <p:val>
                                            <p:fltVal val="0"/>
                                          </p:val>
                                        </p:tav>
                                        <p:tav tm="100000">
                                          <p:val>
                                            <p:strVal val="#ppt_w"/>
                                          </p:val>
                                        </p:tav>
                                      </p:tavLst>
                                    </p:anim>
                                    <p:anim calcmode="lin" valueType="num">
                                      <p:cBhvr>
                                        <p:cTn id="16" dur="1000" fill="hold"/>
                                        <p:tgtEl>
                                          <p:spTgt spid="35"/>
                                        </p:tgtEl>
                                        <p:attrNameLst>
                                          <p:attrName>ppt_h</p:attrName>
                                        </p:attrNameLst>
                                      </p:cBhvr>
                                      <p:tavLst>
                                        <p:tav tm="0">
                                          <p:val>
                                            <p:strVal val="#ppt_h"/>
                                          </p:val>
                                        </p:tav>
                                        <p:tav tm="100000">
                                          <p:val>
                                            <p:strVal val="#ppt_h"/>
                                          </p:val>
                                        </p:tav>
                                      </p:tavLst>
                                    </p:anim>
                                  </p:childTnLst>
                                </p:cTn>
                              </p:par>
                            </p:childTnLst>
                          </p:cTn>
                        </p:par>
                        <p:par>
                          <p:cTn id="17" fill="hold">
                            <p:stCondLst>
                              <p:cond delay="2000"/>
                            </p:stCondLst>
                            <p:childTnLst>
                              <p:par>
                                <p:cTn id="18" presetID="12" presetClass="entr" presetSubtype="8" fill="hold" nodeType="afterEffect">
                                  <p:stCondLst>
                                    <p:cond delay="0"/>
                                  </p:stCondLst>
                                  <p:childTnLst>
                                    <p:set>
                                      <p:cBhvr>
                                        <p:cTn id="19" dur="1" fill="hold">
                                          <p:stCondLst>
                                            <p:cond delay="0"/>
                                          </p:stCondLst>
                                        </p:cTn>
                                        <p:tgtEl>
                                          <p:spTgt spid="41"/>
                                        </p:tgtEl>
                                        <p:attrNameLst>
                                          <p:attrName>style.visibility</p:attrName>
                                        </p:attrNameLst>
                                      </p:cBhvr>
                                      <p:to>
                                        <p:strVal val="visible"/>
                                      </p:to>
                                    </p:set>
                                    <p:anim calcmode="lin" valueType="num">
                                      <p:cBhvr additive="base">
                                        <p:cTn id="20" dur="1000"/>
                                        <p:tgtEl>
                                          <p:spTgt spid="41"/>
                                        </p:tgtEl>
                                        <p:attrNameLst>
                                          <p:attrName>ppt_x</p:attrName>
                                        </p:attrNameLst>
                                      </p:cBhvr>
                                      <p:tavLst>
                                        <p:tav tm="0">
                                          <p:val>
                                            <p:strVal val="#ppt_x-#ppt_w*1.125000"/>
                                          </p:val>
                                        </p:tav>
                                        <p:tav tm="100000">
                                          <p:val>
                                            <p:strVal val="#ppt_x"/>
                                          </p:val>
                                        </p:tav>
                                      </p:tavLst>
                                    </p:anim>
                                    <p:animEffect transition="in" filter="wipe(right)">
                                      <p:cBhvr>
                                        <p:cTn id="21" dur="1000"/>
                                        <p:tgtEl>
                                          <p:spTgt spid="41"/>
                                        </p:tgtEl>
                                      </p:cBhvr>
                                    </p:animEffect>
                                  </p:childTnLst>
                                </p:cTn>
                              </p:par>
                              <p:par>
                                <p:cTn id="22" presetID="12" presetClass="entr" presetSubtype="8"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anim calcmode="lin" valueType="num">
                                      <p:cBhvr additive="base">
                                        <p:cTn id="24" dur="1000"/>
                                        <p:tgtEl>
                                          <p:spTgt spid="57"/>
                                        </p:tgtEl>
                                        <p:attrNameLst>
                                          <p:attrName>ppt_x</p:attrName>
                                        </p:attrNameLst>
                                      </p:cBhvr>
                                      <p:tavLst>
                                        <p:tav tm="0">
                                          <p:val>
                                            <p:strVal val="#ppt_x-#ppt_w*1.125000"/>
                                          </p:val>
                                        </p:tav>
                                        <p:tav tm="100000">
                                          <p:val>
                                            <p:strVal val="#ppt_x"/>
                                          </p:val>
                                        </p:tav>
                                      </p:tavLst>
                                    </p:anim>
                                    <p:animEffect transition="in" filter="wipe(right)">
                                      <p:cBhvr>
                                        <p:cTn id="25" dur="1000"/>
                                        <p:tgtEl>
                                          <p:spTgt spid="57"/>
                                        </p:tgtEl>
                                      </p:cBhvr>
                                    </p:animEffect>
                                  </p:childTnLst>
                                </p:cTn>
                              </p:par>
                            </p:childTnLst>
                          </p:cTn>
                        </p:par>
                        <p:par>
                          <p:cTn id="26" fill="hold">
                            <p:stCondLst>
                              <p:cond delay="3000"/>
                            </p:stCondLst>
                            <p:childTnLst>
                              <p:par>
                                <p:cTn id="27" presetID="53" presetClass="entr" presetSubtype="16"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 calcmode="lin" valueType="num">
                                      <p:cBhvr>
                                        <p:cTn id="29" dur="1000" fill="hold"/>
                                        <p:tgtEl>
                                          <p:spTgt spid="44"/>
                                        </p:tgtEl>
                                        <p:attrNameLst>
                                          <p:attrName>ppt_w</p:attrName>
                                        </p:attrNameLst>
                                      </p:cBhvr>
                                      <p:tavLst>
                                        <p:tav tm="0">
                                          <p:val>
                                            <p:fltVal val="0"/>
                                          </p:val>
                                        </p:tav>
                                        <p:tav tm="100000">
                                          <p:val>
                                            <p:strVal val="#ppt_w"/>
                                          </p:val>
                                        </p:tav>
                                      </p:tavLst>
                                    </p:anim>
                                    <p:anim calcmode="lin" valueType="num">
                                      <p:cBhvr>
                                        <p:cTn id="30" dur="1000" fill="hold"/>
                                        <p:tgtEl>
                                          <p:spTgt spid="44"/>
                                        </p:tgtEl>
                                        <p:attrNameLst>
                                          <p:attrName>ppt_h</p:attrName>
                                        </p:attrNameLst>
                                      </p:cBhvr>
                                      <p:tavLst>
                                        <p:tav tm="0">
                                          <p:val>
                                            <p:fltVal val="0"/>
                                          </p:val>
                                        </p:tav>
                                        <p:tav tm="100000">
                                          <p:val>
                                            <p:strVal val="#ppt_h"/>
                                          </p:val>
                                        </p:tav>
                                      </p:tavLst>
                                    </p:anim>
                                    <p:animEffect transition="in" filter="fade">
                                      <p:cBhvr>
                                        <p:cTn id="31" dur="1000"/>
                                        <p:tgtEl>
                                          <p:spTgt spid="44"/>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 calcmode="lin" valueType="num">
                                      <p:cBhvr additive="base">
                                        <p:cTn id="36" dur="1000"/>
                                        <p:tgtEl>
                                          <p:spTgt spid="39"/>
                                        </p:tgtEl>
                                        <p:attrNameLst>
                                          <p:attrName>ppt_x</p:attrName>
                                        </p:attrNameLst>
                                      </p:cBhvr>
                                      <p:tavLst>
                                        <p:tav tm="0">
                                          <p:val>
                                            <p:strVal val="#ppt_x-#ppt_w*1.125000"/>
                                          </p:val>
                                        </p:tav>
                                        <p:tav tm="100000">
                                          <p:val>
                                            <p:strVal val="#ppt_x"/>
                                          </p:val>
                                        </p:tav>
                                      </p:tavLst>
                                    </p:anim>
                                    <p:animEffect transition="in" filter="wipe(right)">
                                      <p:cBhvr>
                                        <p:cTn id="37" dur="1000"/>
                                        <p:tgtEl>
                                          <p:spTgt spid="39"/>
                                        </p:tgtEl>
                                      </p:cBhvr>
                                    </p:animEffect>
                                  </p:childTnLst>
                                </p:cTn>
                              </p:par>
                            </p:childTnLst>
                          </p:cTn>
                        </p:par>
                        <p:par>
                          <p:cTn id="38" fill="hold">
                            <p:stCondLst>
                              <p:cond delay="1000"/>
                            </p:stCondLst>
                            <p:childTnLst>
                              <p:par>
                                <p:cTn id="39" presetID="12" presetClass="entr" presetSubtype="8" fill="hold" nodeType="afterEffect">
                                  <p:stCondLst>
                                    <p:cond delay="0"/>
                                  </p:stCondLst>
                                  <p:childTnLst>
                                    <p:set>
                                      <p:cBhvr>
                                        <p:cTn id="40" dur="1" fill="hold">
                                          <p:stCondLst>
                                            <p:cond delay="0"/>
                                          </p:stCondLst>
                                        </p:cTn>
                                        <p:tgtEl>
                                          <p:spTgt spid="60"/>
                                        </p:tgtEl>
                                        <p:attrNameLst>
                                          <p:attrName>style.visibility</p:attrName>
                                        </p:attrNameLst>
                                      </p:cBhvr>
                                      <p:to>
                                        <p:strVal val="visible"/>
                                      </p:to>
                                    </p:set>
                                    <p:anim calcmode="lin" valueType="num">
                                      <p:cBhvr additive="base">
                                        <p:cTn id="41" dur="1000"/>
                                        <p:tgtEl>
                                          <p:spTgt spid="60"/>
                                        </p:tgtEl>
                                        <p:attrNameLst>
                                          <p:attrName>ppt_x</p:attrName>
                                        </p:attrNameLst>
                                      </p:cBhvr>
                                      <p:tavLst>
                                        <p:tav tm="0">
                                          <p:val>
                                            <p:strVal val="#ppt_x-#ppt_w*1.125000"/>
                                          </p:val>
                                        </p:tav>
                                        <p:tav tm="100000">
                                          <p:val>
                                            <p:strVal val="#ppt_x"/>
                                          </p:val>
                                        </p:tav>
                                      </p:tavLst>
                                    </p:anim>
                                    <p:animEffect transition="in" filter="wipe(right)">
                                      <p:cBhvr>
                                        <p:cTn id="42" dur="1000"/>
                                        <p:tgtEl>
                                          <p:spTgt spid="60"/>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p:cTn id="47" dur="1000" fill="hold"/>
                                        <p:tgtEl>
                                          <p:spTgt spid="45"/>
                                        </p:tgtEl>
                                        <p:attrNameLst>
                                          <p:attrName>ppt_w</p:attrName>
                                        </p:attrNameLst>
                                      </p:cBhvr>
                                      <p:tavLst>
                                        <p:tav tm="0">
                                          <p:val>
                                            <p:fltVal val="0"/>
                                          </p:val>
                                        </p:tav>
                                        <p:tav tm="100000">
                                          <p:val>
                                            <p:strVal val="#ppt_w"/>
                                          </p:val>
                                        </p:tav>
                                      </p:tavLst>
                                    </p:anim>
                                    <p:anim calcmode="lin" valueType="num">
                                      <p:cBhvr>
                                        <p:cTn id="48" dur="1000" fill="hold"/>
                                        <p:tgtEl>
                                          <p:spTgt spid="45"/>
                                        </p:tgtEl>
                                        <p:attrNameLst>
                                          <p:attrName>ppt_h</p:attrName>
                                        </p:attrNameLst>
                                      </p:cBhvr>
                                      <p:tavLst>
                                        <p:tav tm="0">
                                          <p:val>
                                            <p:fltVal val="0"/>
                                          </p:val>
                                        </p:tav>
                                        <p:tav tm="100000">
                                          <p:val>
                                            <p:strVal val="#ppt_h"/>
                                          </p:val>
                                        </p:tav>
                                      </p:tavLst>
                                    </p:anim>
                                    <p:animEffect transition="in" filter="fade">
                                      <p:cBhvr>
                                        <p:cTn id="49" dur="1000"/>
                                        <p:tgtEl>
                                          <p:spTgt spid="45"/>
                                        </p:tgtEl>
                                      </p:cBhvr>
                                    </p:animEffect>
                                  </p:childTnLst>
                                </p:cTn>
                              </p:par>
                            </p:childTnLst>
                          </p:cTn>
                        </p:par>
                        <p:par>
                          <p:cTn id="50" fill="hold">
                            <p:stCondLst>
                              <p:cond delay="1000"/>
                            </p:stCondLst>
                            <p:childTnLst>
                              <p:par>
                                <p:cTn id="51" presetID="22" presetClass="exit" presetSubtype="4" fill="hold" nodeType="afterEffect">
                                  <p:stCondLst>
                                    <p:cond delay="0"/>
                                  </p:stCondLst>
                                  <p:childTnLst>
                                    <p:animEffect transition="out" filter="wipe(down)">
                                      <p:cBhvr>
                                        <p:cTn id="52" dur="1000"/>
                                        <p:tgtEl>
                                          <p:spTgt spid="60"/>
                                        </p:tgtEl>
                                      </p:cBhvr>
                                    </p:animEffect>
                                    <p:set>
                                      <p:cBhvr>
                                        <p:cTn id="53" dur="1" fill="hold">
                                          <p:stCondLst>
                                            <p:cond delay="999"/>
                                          </p:stCondLst>
                                        </p:cTn>
                                        <p:tgtEl>
                                          <p:spTgt spid="60"/>
                                        </p:tgtEl>
                                        <p:attrNameLst>
                                          <p:attrName>style.visibility</p:attrName>
                                        </p:attrNameLst>
                                      </p:cBhvr>
                                      <p:to>
                                        <p:strVal val="hidden"/>
                                      </p:to>
                                    </p:set>
                                  </p:childTnLst>
                                </p:cTn>
                              </p:par>
                              <p:par>
                                <p:cTn id="54" presetID="12" presetClass="entr" presetSubtype="8" fill="hold" nodeType="with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1000"/>
                                        <p:tgtEl>
                                          <p:spTgt spid="41"/>
                                        </p:tgtEl>
                                        <p:attrNameLst>
                                          <p:attrName>ppt_x</p:attrName>
                                        </p:attrNameLst>
                                      </p:cBhvr>
                                      <p:tavLst>
                                        <p:tav tm="0">
                                          <p:val>
                                            <p:strVal val="#ppt_x-#ppt_w*1.125000"/>
                                          </p:val>
                                        </p:tav>
                                        <p:tav tm="100000">
                                          <p:val>
                                            <p:strVal val="#ppt_x"/>
                                          </p:val>
                                        </p:tav>
                                      </p:tavLst>
                                    </p:anim>
                                    <p:animEffect transition="in" filter="wipe(right)">
                                      <p:cBhvr>
                                        <p:cTn id="57" dur="1000"/>
                                        <p:tgtEl>
                                          <p:spTgt spid="41"/>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64"/>
                                        </p:tgtEl>
                                        <p:attrNameLst>
                                          <p:attrName>style.visibility</p:attrName>
                                        </p:attrNameLst>
                                      </p:cBhvr>
                                      <p:to>
                                        <p:strVal val="visible"/>
                                      </p:to>
                                    </p:set>
                                    <p:anim calcmode="lin" valueType="num">
                                      <p:cBhvr additive="base">
                                        <p:cTn id="62" dur="1000"/>
                                        <p:tgtEl>
                                          <p:spTgt spid="64"/>
                                        </p:tgtEl>
                                        <p:attrNameLst>
                                          <p:attrName>ppt_x</p:attrName>
                                        </p:attrNameLst>
                                      </p:cBhvr>
                                      <p:tavLst>
                                        <p:tav tm="0">
                                          <p:val>
                                            <p:strVal val="#ppt_x-#ppt_w*1.125000"/>
                                          </p:val>
                                        </p:tav>
                                        <p:tav tm="100000">
                                          <p:val>
                                            <p:strVal val="#ppt_x"/>
                                          </p:val>
                                        </p:tav>
                                      </p:tavLst>
                                    </p:anim>
                                    <p:animEffect transition="in" filter="wipe(right)">
                                      <p:cBhvr>
                                        <p:cTn id="63" dur="1000"/>
                                        <p:tgtEl>
                                          <p:spTgt spid="64"/>
                                        </p:tgtEl>
                                      </p:cBhvr>
                                    </p:animEffect>
                                  </p:childTnLst>
                                </p:cTn>
                              </p:par>
                            </p:childTnLst>
                          </p:cTn>
                        </p:par>
                        <p:par>
                          <p:cTn id="64" fill="hold">
                            <p:stCondLst>
                              <p:cond delay="1000"/>
                            </p:stCondLst>
                            <p:childTnLst>
                              <p:par>
                                <p:cTn id="65" presetID="12" presetClass="entr" presetSubtype="8" fill="hold" grpId="0" nodeType="afterEffect">
                                  <p:stCondLst>
                                    <p:cond delay="0"/>
                                  </p:stCondLst>
                                  <p:childTnLst>
                                    <p:set>
                                      <p:cBhvr>
                                        <p:cTn id="66" dur="1" fill="hold">
                                          <p:stCondLst>
                                            <p:cond delay="0"/>
                                          </p:stCondLst>
                                        </p:cTn>
                                        <p:tgtEl>
                                          <p:spTgt spid="61"/>
                                        </p:tgtEl>
                                        <p:attrNameLst>
                                          <p:attrName>style.visibility</p:attrName>
                                        </p:attrNameLst>
                                      </p:cBhvr>
                                      <p:to>
                                        <p:strVal val="visible"/>
                                      </p:to>
                                    </p:set>
                                    <p:anim calcmode="lin" valueType="num">
                                      <p:cBhvr additive="base">
                                        <p:cTn id="67" dur="1000"/>
                                        <p:tgtEl>
                                          <p:spTgt spid="61"/>
                                        </p:tgtEl>
                                        <p:attrNameLst>
                                          <p:attrName>ppt_x</p:attrName>
                                        </p:attrNameLst>
                                      </p:cBhvr>
                                      <p:tavLst>
                                        <p:tav tm="0">
                                          <p:val>
                                            <p:strVal val="#ppt_x-#ppt_w*1.125000"/>
                                          </p:val>
                                        </p:tav>
                                        <p:tav tm="100000">
                                          <p:val>
                                            <p:strVal val="#ppt_x"/>
                                          </p:val>
                                        </p:tav>
                                      </p:tavLst>
                                    </p:anim>
                                    <p:animEffect transition="in" filter="wipe(right)">
                                      <p:cBhvr>
                                        <p:cTn id="68" dur="1000"/>
                                        <p:tgtEl>
                                          <p:spTgt spid="61"/>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1" nodeType="click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childTnLst>
                          </p:cTn>
                        </p:par>
                        <p:par>
                          <p:cTn id="73" fill="hold">
                            <p:stCondLst>
                              <p:cond delay="0"/>
                            </p:stCondLst>
                            <p:childTnLst>
                              <p:par>
                                <p:cTn id="74" presetID="0" presetClass="path" presetSubtype="0" accel="50000" decel="50000" fill="hold" grpId="0" nodeType="afterEffect">
                                  <p:stCondLst>
                                    <p:cond delay="0"/>
                                  </p:stCondLst>
                                  <p:childTnLst>
                                    <p:animMotion origin="layout" path="M 0.00105 0.00111 L 0.00365 0.08111 L -0.10121 0.16888 L -0.10121 0.20111 " pathEditMode="relative" rAng="0" ptsTypes="AAAA">
                                      <p:cBhvr>
                                        <p:cTn id="75" dur="2000" fill="hold"/>
                                        <p:tgtEl>
                                          <p:spTgt spid="62"/>
                                        </p:tgtEl>
                                        <p:attrNameLst>
                                          <p:attrName>ppt_x</p:attrName>
                                          <p:attrName>ppt_y</p:attrName>
                                        </p:attrNameLst>
                                      </p:cBhvr>
                                      <p:rCtr x="-4983" y="10000"/>
                                    </p:animMotion>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66"/>
                                        </p:tgtEl>
                                        <p:attrNameLst>
                                          <p:attrName>style.visibility</p:attrName>
                                        </p:attrNameLst>
                                      </p:cBhvr>
                                      <p:to>
                                        <p:strVal val="visible"/>
                                      </p:to>
                                    </p:set>
                                    <p:animEffect transition="in" filter="wipe(down)">
                                      <p:cBhvr>
                                        <p:cTn id="80" dur="1000"/>
                                        <p:tgtEl>
                                          <p:spTgt spid="66"/>
                                        </p:tgtEl>
                                      </p:cBhvr>
                                    </p:animEffect>
                                  </p:childTnLst>
                                </p:cTn>
                              </p:par>
                            </p:childTnLst>
                          </p:cTn>
                        </p:par>
                        <p:par>
                          <p:cTn id="81" fill="hold">
                            <p:stCondLst>
                              <p:cond delay="1000"/>
                            </p:stCondLst>
                            <p:childTnLst>
                              <p:par>
                                <p:cTn id="82" presetID="17" presetClass="entr" presetSubtype="8" fill="hold" grpId="0" nodeType="afterEffect">
                                  <p:stCondLst>
                                    <p:cond delay="0"/>
                                  </p:stCondLst>
                                  <p:childTnLst>
                                    <p:set>
                                      <p:cBhvr>
                                        <p:cTn id="83" dur="1" fill="hold">
                                          <p:stCondLst>
                                            <p:cond delay="0"/>
                                          </p:stCondLst>
                                        </p:cTn>
                                        <p:tgtEl>
                                          <p:spTgt spid="36"/>
                                        </p:tgtEl>
                                        <p:attrNameLst>
                                          <p:attrName>style.visibility</p:attrName>
                                        </p:attrNameLst>
                                      </p:cBhvr>
                                      <p:to>
                                        <p:strVal val="visible"/>
                                      </p:to>
                                    </p:set>
                                    <p:anim calcmode="lin" valueType="num">
                                      <p:cBhvr>
                                        <p:cTn id="84" dur="1000" fill="hold"/>
                                        <p:tgtEl>
                                          <p:spTgt spid="36"/>
                                        </p:tgtEl>
                                        <p:attrNameLst>
                                          <p:attrName>ppt_x</p:attrName>
                                        </p:attrNameLst>
                                      </p:cBhvr>
                                      <p:tavLst>
                                        <p:tav tm="0">
                                          <p:val>
                                            <p:strVal val="#ppt_x-#ppt_w/2"/>
                                          </p:val>
                                        </p:tav>
                                        <p:tav tm="100000">
                                          <p:val>
                                            <p:strVal val="#ppt_x"/>
                                          </p:val>
                                        </p:tav>
                                      </p:tavLst>
                                    </p:anim>
                                    <p:anim calcmode="lin" valueType="num">
                                      <p:cBhvr>
                                        <p:cTn id="85" dur="1000" fill="hold"/>
                                        <p:tgtEl>
                                          <p:spTgt spid="36"/>
                                        </p:tgtEl>
                                        <p:attrNameLst>
                                          <p:attrName>ppt_y</p:attrName>
                                        </p:attrNameLst>
                                      </p:cBhvr>
                                      <p:tavLst>
                                        <p:tav tm="0">
                                          <p:val>
                                            <p:strVal val="#ppt_y"/>
                                          </p:val>
                                        </p:tav>
                                        <p:tav tm="100000">
                                          <p:val>
                                            <p:strVal val="#ppt_y"/>
                                          </p:val>
                                        </p:tav>
                                      </p:tavLst>
                                    </p:anim>
                                    <p:anim calcmode="lin" valueType="num">
                                      <p:cBhvr>
                                        <p:cTn id="86" dur="1000" fill="hold"/>
                                        <p:tgtEl>
                                          <p:spTgt spid="36"/>
                                        </p:tgtEl>
                                        <p:attrNameLst>
                                          <p:attrName>ppt_w</p:attrName>
                                        </p:attrNameLst>
                                      </p:cBhvr>
                                      <p:tavLst>
                                        <p:tav tm="0">
                                          <p:val>
                                            <p:fltVal val="0"/>
                                          </p:val>
                                        </p:tav>
                                        <p:tav tm="100000">
                                          <p:val>
                                            <p:strVal val="#ppt_w"/>
                                          </p:val>
                                        </p:tav>
                                      </p:tavLst>
                                    </p:anim>
                                    <p:anim calcmode="lin" valueType="num">
                                      <p:cBhvr>
                                        <p:cTn id="87" dur="1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presetID="17" presetClass="entr" presetSubtype="10" fill="hold" grpId="0" nodeType="clickEffect">
                                  <p:stCondLst>
                                    <p:cond delay="0"/>
                                  </p:stCondLst>
                                  <p:childTnLst>
                                    <p:set>
                                      <p:cBhvr>
                                        <p:cTn id="91" dur="1" fill="hold">
                                          <p:stCondLst>
                                            <p:cond delay="0"/>
                                          </p:stCondLst>
                                        </p:cTn>
                                        <p:tgtEl>
                                          <p:spTgt spid="67"/>
                                        </p:tgtEl>
                                        <p:attrNameLst>
                                          <p:attrName>style.visibility</p:attrName>
                                        </p:attrNameLst>
                                      </p:cBhvr>
                                      <p:to>
                                        <p:strVal val="visible"/>
                                      </p:to>
                                    </p:set>
                                    <p:anim calcmode="lin" valueType="num">
                                      <p:cBhvr>
                                        <p:cTn id="92" dur="1000" fill="hold"/>
                                        <p:tgtEl>
                                          <p:spTgt spid="67"/>
                                        </p:tgtEl>
                                        <p:attrNameLst>
                                          <p:attrName>ppt_w</p:attrName>
                                        </p:attrNameLst>
                                      </p:cBhvr>
                                      <p:tavLst>
                                        <p:tav tm="0">
                                          <p:val>
                                            <p:fltVal val="0"/>
                                          </p:val>
                                        </p:tav>
                                        <p:tav tm="100000">
                                          <p:val>
                                            <p:strVal val="#ppt_w"/>
                                          </p:val>
                                        </p:tav>
                                      </p:tavLst>
                                    </p:anim>
                                    <p:anim calcmode="lin" valueType="num">
                                      <p:cBhvr>
                                        <p:cTn id="93" dur="1000" fill="hold"/>
                                        <p:tgtEl>
                                          <p:spTgt spid="6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61" grpId="0" animBg="1"/>
      <p:bldP spid="62" grpId="0" animBg="1"/>
      <p:bldP spid="62" grpId="1" animBg="1"/>
      <p:bldP spid="66" grpId="0" animBg="1"/>
      <p:bldP spid="6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6103620" y="82804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064977" y="1801865"/>
            <a:ext cx="1765023" cy="1938504"/>
          </p:xfrm>
          <a:graphic>
            <a:graphicData uri="http://schemas.openxmlformats.org/presentationml/2006/ole">
              <mc:AlternateContent xmlns:mc="http://schemas.openxmlformats.org/markup-compatibility/2006">
                <mc:Choice xmlns:v="urn:schemas-microsoft-com:vml" Requires="v">
                  <p:oleObj spid="_x0000_s6156" name="位图图像" r:id="rId2" imgW="3314700" imgH="3638550" progId="PBrush">
                    <p:embed/>
                  </p:oleObj>
                </mc:Choice>
                <mc:Fallback>
                  <p:oleObj name="位图图像" r:id="rId2" imgW="3314700" imgH="3638550" progId="PBrush">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977" y="1801865"/>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aphicFrame>
        <p:nvGraphicFramePr>
          <p:cNvPr id="21" name="Object 18"/>
          <p:cNvGraphicFramePr>
            <a:graphicFrameLocks noChangeAspect="1"/>
          </p:cNvGraphicFramePr>
          <p:nvPr/>
        </p:nvGraphicFramePr>
        <p:xfrm>
          <a:off x="6398662" y="3071865"/>
          <a:ext cx="1597025" cy="1143000"/>
        </p:xfrm>
        <a:graphic>
          <a:graphicData uri="http://schemas.openxmlformats.org/presentationml/2006/ole">
            <mc:AlternateContent xmlns:mc="http://schemas.openxmlformats.org/markup-compatibility/2006">
              <mc:Choice xmlns:v="urn:schemas-microsoft-com:vml" Requires="v">
                <p:oleObj spid="_x0000_s6157" name="Visio" r:id="rId4" imgW="866775" imgH="600075" progId="Visio.Drawing.11">
                  <p:embed/>
                </p:oleObj>
              </mc:Choice>
              <mc:Fallback>
                <p:oleObj name="Visio" r:id="rId4" imgW="866775" imgH="600075" progId="Visio.Drawing.11">
                  <p:embed/>
                  <p:pic>
                    <p:nvPicPr>
                      <p:cNvPr id="0" name="Object 18"/>
                      <p:cNvPicPr>
                        <a:picLocks noChangeAspect="1" noChangeArrowheads="1"/>
                      </p:cNvPicPr>
                      <p:nvPr/>
                    </p:nvPicPr>
                    <p:blipFill>
                      <a:blip r:embed="rId5"/>
                      <a:srcRect/>
                      <a:stretch>
                        <a:fillRect/>
                      </a:stretch>
                    </p:blipFill>
                    <p:spPr bwMode="auto">
                      <a:xfrm>
                        <a:off x="6398662" y="3071865"/>
                        <a:ext cx="1597025" cy="1143000"/>
                      </a:xfrm>
                      <a:prstGeom prst="rect">
                        <a:avLst/>
                      </a:prstGeom>
                      <a:noFill/>
                      <a:ln>
                        <a:noFill/>
                      </a:ln>
                      <a:effectLst/>
                    </p:spPr>
                  </p:pic>
                </p:oleObj>
              </mc:Fallback>
            </mc:AlternateContent>
          </a:graphicData>
        </a:graphic>
      </p:graphicFrame>
      <p:sp>
        <p:nvSpPr>
          <p:cNvPr id="23" name="圆角矩形 22"/>
          <p:cNvSpPr/>
          <p:nvPr/>
        </p:nvSpPr>
        <p:spPr>
          <a:xfrm>
            <a:off x="600390" y="2119365"/>
            <a:ext cx="3561081" cy="51858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600390" y="2670545"/>
            <a:ext cx="3561081" cy="518586"/>
          </a:xfrm>
          <a:prstGeom prst="roundRect">
            <a:avLst>
              <a:gd name="adj" fmla="val 515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600390" y="3221725"/>
            <a:ext cx="3561081" cy="518586"/>
          </a:xfrm>
          <a:prstGeom prst="roundRect">
            <a:avLst>
              <a:gd name="adj" fmla="val 5153"/>
            </a:avLst>
          </a:prstGeom>
          <a:solidFill>
            <a:srgbClr val="66FF66">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圆角矩形 25"/>
          <p:cNvSpPr/>
          <p:nvPr/>
        </p:nvSpPr>
        <p:spPr>
          <a:xfrm>
            <a:off x="600390" y="3772905"/>
            <a:ext cx="3561081" cy="518586"/>
          </a:xfrm>
          <a:prstGeom prst="roundRect">
            <a:avLst>
              <a:gd name="adj" fmla="val 5153"/>
            </a:avLst>
          </a:prstGeom>
          <a:solidFill>
            <a:schemeClr val="accent1">
              <a:lumMod val="60000"/>
              <a:lumOff val="40000"/>
              <a:alpha val="2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p:cNvGrpSpPr/>
          <p:nvPr/>
        </p:nvGrpSpPr>
        <p:grpSpPr>
          <a:xfrm>
            <a:off x="6244619" y="3245220"/>
            <a:ext cx="762000" cy="1343025"/>
            <a:chOff x="6787139" y="3064826"/>
            <a:chExt cx="762000" cy="1343025"/>
          </a:xfrm>
        </p:grpSpPr>
        <p:sp>
          <p:nvSpPr>
            <p:cNvPr id="28" name="圆角矩形 27"/>
            <p:cNvSpPr/>
            <p:nvPr/>
          </p:nvSpPr>
          <p:spPr>
            <a:xfrm>
              <a:off x="7099617" y="3064826"/>
              <a:ext cx="251460" cy="739460"/>
            </a:xfrm>
            <a:prstGeom prst="roundRect">
              <a:avLst>
                <a:gd name="adj" fmla="val 12169"/>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AutoShape 40"/>
            <p:cNvSpPr>
              <a:spLocks noChangeArrowheads="1"/>
            </p:cNvSpPr>
            <p:nvPr/>
          </p:nvSpPr>
          <p:spPr bwMode="auto">
            <a:xfrm>
              <a:off x="6787139" y="4034471"/>
              <a:ext cx="762000" cy="373380"/>
            </a:xfrm>
            <a:prstGeom prst="wedgeRoundRectCallout">
              <a:avLst>
                <a:gd name="adj1" fmla="val 3218"/>
                <a:gd name="adj2" fmla="val -99997"/>
                <a:gd name="adj3" fmla="val 16667"/>
              </a:avLst>
            </a:prstGeom>
            <a:solidFill>
              <a:srgbClr val="FFFF99"/>
            </a:solidFill>
            <a:ln w="28575" algn="ctr">
              <a:solidFill>
                <a:schemeClr val="hlink"/>
              </a:solidFill>
              <a:miter lim="800000"/>
            </a:ln>
          </p:spPr>
          <p:txBody>
            <a:bodyPr lIns="0" tIns="0" rIns="0" bIns="0" anchor="ctr"/>
            <a:lstStyle/>
            <a:p>
              <a:pPr algn="ctr">
                <a:lnSpc>
                  <a:spcPct val="150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高有效</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aphicFrame>
        <p:nvGraphicFramePr>
          <p:cNvPr id="22" name="Group 63"/>
          <p:cNvGraphicFramePr>
            <a:graphicFrameLocks noGrp="1"/>
          </p:cNvGraphicFramePr>
          <p:nvPr/>
        </p:nvGraphicFramePr>
        <p:xfrm>
          <a:off x="594361" y="1827370"/>
          <a:ext cx="3558540" cy="2471943"/>
        </p:xfrm>
        <a:graphic>
          <a:graphicData uri="http://schemas.openxmlformats.org/drawingml/2006/table">
            <a:tbl>
              <a:tblPr/>
              <a:tblGrid>
                <a:gridCol w="509200"/>
                <a:gridCol w="469129"/>
                <a:gridCol w="992012"/>
                <a:gridCol w="816090"/>
                <a:gridCol w="772109"/>
              </a:tblGrid>
              <a:tr h="272797">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S</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R</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a:noFill/>
                    </a:lnL>
                    <a:lnR>
                      <a:noFill/>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err="1">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Q</a:t>
                      </a:r>
                      <a:r>
                        <a:rPr kumimoji="0" lang="en-US" altLang="zh-CN" sz="1600" b="1" i="0" u="none" strike="noStrike" cap="none" normalizeH="0" baseline="30000" dirty="0" err="1">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n</a:t>
                      </a:r>
                      <a:r>
                        <a:rPr kumimoji="0" lang="en-US" altLang="zh-CN" sz="1600" b="1" i="0" u="none" strike="noStrike" cap="none" normalizeH="0" baseline="3000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 </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现态</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horzOverflow="overflow">
                    <a:lnL>
                      <a:noFill/>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Q</a:t>
                      </a:r>
                      <a:r>
                        <a:rPr kumimoji="0" lang="en-US" altLang="zh-CN" sz="1600" b="1" i="0" u="none" strike="noStrike" cap="none" normalizeH="0" baseline="3000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n+1</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a:t>
                      </a: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次态</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272797">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复位</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置</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2797">
                <a:tc vMerge="1">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marL="0" marR="0" marT="0" marB="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cPr marL="0" marR="0" marT="0" marB="0" anchor="ctr" horzOverflow="overflow">
                    <a:lnL w="12700" cap="flat" cmpd="sng" algn="ctr">
                      <a:no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2797">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   </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置位</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置</a:t>
                      </a: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2797">
                <a:tc vMerge="1">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vMerge="1">
                  <a:tcPr marL="0" marR="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cPr>
                    <a:lnL>
                      <a:noFill/>
                    </a:lnL>
                  </a:tcPr>
                </a:tc>
              </a:tr>
              <a:tr h="286988">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保持</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90142">
                <a:tc vMerge="1">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vMerge="1">
                  <a:tcPr marL="0" marR="0" marT="0" marB="0"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cPr>
                    <a:lnL>
                      <a:noFill/>
                    </a:lnL>
                  </a:tcPr>
                </a:tc>
              </a:tr>
              <a:tr h="286988">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不定态</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禁止态</a:t>
                      </a:r>
                      <a:endParaRPr kumimoji="0" lang="zh-CN" altLang="en-US"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2206">
                <a:tc vMerge="1">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vMerge="1">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vMerge="1">
                  <a:tcPr/>
                </a:tc>
              </a:tr>
            </a:tbl>
          </a:graphicData>
        </a:graphic>
      </p:graphicFrame>
      <p:sp>
        <p:nvSpPr>
          <p:cNvPr id="18" name="圆角矩形 17"/>
          <p:cNvSpPr/>
          <p:nvPr/>
        </p:nvSpPr>
        <p:spPr>
          <a:xfrm>
            <a:off x="1224367" y="2123120"/>
            <a:ext cx="251460" cy="514831"/>
          </a:xfrm>
          <a:prstGeom prst="roundRect">
            <a:avLst>
              <a:gd name="adj" fmla="val 12169"/>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721436" y="2662723"/>
            <a:ext cx="251460" cy="514831"/>
          </a:xfrm>
          <a:prstGeom prst="roundRect">
            <a:avLst>
              <a:gd name="adj" fmla="val 12169"/>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1000" fill="hold"/>
                                        <p:tgtEl>
                                          <p:spTgt spid="22"/>
                                        </p:tgtEl>
                                        <p:attrNameLst>
                                          <p:attrName>ppt_w</p:attrName>
                                        </p:attrNameLst>
                                      </p:cBhvr>
                                      <p:tavLst>
                                        <p:tav tm="0">
                                          <p:val>
                                            <p:fltVal val="0"/>
                                          </p:val>
                                        </p:tav>
                                        <p:tav tm="100000">
                                          <p:val>
                                            <p:strVal val="#ppt_w"/>
                                          </p:val>
                                        </p:tav>
                                      </p:tavLst>
                                    </p:anim>
                                    <p:anim calcmode="lin" valueType="num">
                                      <p:cBhvr>
                                        <p:cTn id="8" dur="1000" fill="hold"/>
                                        <p:tgtEl>
                                          <p:spTgt spid="22"/>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p:cTn id="13" dur="500" fill="hold"/>
                                        <p:tgtEl>
                                          <p:spTgt spid="19"/>
                                        </p:tgtEl>
                                        <p:attrNameLst>
                                          <p:attrName>ppt_w</p:attrName>
                                        </p:attrNameLst>
                                      </p:cBhvr>
                                      <p:tavLst>
                                        <p:tav tm="0">
                                          <p:val>
                                            <p:fltVal val="0"/>
                                          </p:val>
                                        </p:tav>
                                        <p:tav tm="100000">
                                          <p:val>
                                            <p:strVal val="#ppt_w"/>
                                          </p:val>
                                        </p:tav>
                                      </p:tavLst>
                                    </p:anim>
                                    <p:anim calcmode="lin" valueType="num">
                                      <p:cBhvr>
                                        <p:cTn id="14" dur="500" fill="hold"/>
                                        <p:tgtEl>
                                          <p:spTgt spid="19"/>
                                        </p:tgtEl>
                                        <p:attrNameLst>
                                          <p:attrName>ppt_h</p:attrName>
                                        </p:attrNameLst>
                                      </p:cBhvr>
                                      <p:tavLst>
                                        <p:tav tm="0">
                                          <p:val>
                                            <p:fltVal val="0"/>
                                          </p:val>
                                        </p:tav>
                                        <p:tav tm="100000">
                                          <p:val>
                                            <p:strVal val="#ppt_h"/>
                                          </p:val>
                                        </p:tav>
                                      </p:tavLst>
                                    </p:anim>
                                    <p:animEffect transition="in" filter="fade">
                                      <p:cBhvr>
                                        <p:cTn id="15" dur="500"/>
                                        <p:tgtEl>
                                          <p:spTgt spid="19"/>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 calcmode="lin" valueType="num">
                                      <p:cBhvr>
                                        <p:cTn id="18" dur="500" fill="hold"/>
                                        <p:tgtEl>
                                          <p:spTgt spid="18"/>
                                        </p:tgtEl>
                                        <p:attrNameLst>
                                          <p:attrName>ppt_w</p:attrName>
                                        </p:attrNameLst>
                                      </p:cBhvr>
                                      <p:tavLst>
                                        <p:tav tm="0">
                                          <p:val>
                                            <p:fltVal val="0"/>
                                          </p:val>
                                        </p:tav>
                                        <p:tav tm="100000">
                                          <p:val>
                                            <p:strVal val="#ppt_w"/>
                                          </p:val>
                                        </p:tav>
                                      </p:tavLst>
                                    </p:anim>
                                    <p:anim calcmode="lin" valueType="num">
                                      <p:cBhvr>
                                        <p:cTn id="19" dur="500" fill="hold"/>
                                        <p:tgtEl>
                                          <p:spTgt spid="18"/>
                                        </p:tgtEl>
                                        <p:attrNameLst>
                                          <p:attrName>ppt_h</p:attrName>
                                        </p:attrNameLst>
                                      </p:cBhvr>
                                      <p:tavLst>
                                        <p:tav tm="0">
                                          <p:val>
                                            <p:fltVal val="0"/>
                                          </p:val>
                                        </p:tav>
                                        <p:tav tm="100000">
                                          <p:val>
                                            <p:strVal val="#ppt_h"/>
                                          </p:val>
                                        </p:tav>
                                      </p:tavLst>
                                    </p:anim>
                                    <p:animEffect transition="in" filter="fade">
                                      <p:cBhvr>
                                        <p:cTn id="20" dur="500"/>
                                        <p:tgtEl>
                                          <p:spTgt spid="18"/>
                                        </p:tgtEl>
                                      </p:cBhvr>
                                    </p:animEffect>
                                  </p:childTnLst>
                                </p:cTn>
                              </p:par>
                            </p:childTnLst>
                          </p:cTn>
                        </p:par>
                        <p:par>
                          <p:cTn id="21" fill="hold">
                            <p:stCondLst>
                              <p:cond delay="500"/>
                            </p:stCondLst>
                            <p:childTnLst>
                              <p:par>
                                <p:cTn id="22" presetID="17" presetClass="entr" presetSubtype="2" fill="hold" nodeType="afterEffect">
                                  <p:stCondLst>
                                    <p:cond delay="0"/>
                                  </p:stCondLst>
                                  <p:childTnLst>
                                    <p:set>
                                      <p:cBhvr>
                                        <p:cTn id="23" dur="1" fill="hold">
                                          <p:stCondLst>
                                            <p:cond delay="0"/>
                                          </p:stCondLst>
                                        </p:cTn>
                                        <p:tgtEl>
                                          <p:spTgt spid="36"/>
                                        </p:tgtEl>
                                        <p:attrNameLst>
                                          <p:attrName>style.visibility</p:attrName>
                                        </p:attrNameLst>
                                      </p:cBhvr>
                                      <p:to>
                                        <p:strVal val="visible"/>
                                      </p:to>
                                    </p:set>
                                    <p:anim calcmode="lin" valueType="num">
                                      <p:cBhvr>
                                        <p:cTn id="24" dur="1000" fill="hold"/>
                                        <p:tgtEl>
                                          <p:spTgt spid="36"/>
                                        </p:tgtEl>
                                        <p:attrNameLst>
                                          <p:attrName>ppt_x</p:attrName>
                                        </p:attrNameLst>
                                      </p:cBhvr>
                                      <p:tavLst>
                                        <p:tav tm="0">
                                          <p:val>
                                            <p:strVal val="#ppt_x+#ppt_w/2"/>
                                          </p:val>
                                        </p:tav>
                                        <p:tav tm="100000">
                                          <p:val>
                                            <p:strVal val="#ppt_x"/>
                                          </p:val>
                                        </p:tav>
                                      </p:tavLst>
                                    </p:anim>
                                    <p:anim calcmode="lin" valueType="num">
                                      <p:cBhvr>
                                        <p:cTn id="25" dur="1000" fill="hold"/>
                                        <p:tgtEl>
                                          <p:spTgt spid="36"/>
                                        </p:tgtEl>
                                        <p:attrNameLst>
                                          <p:attrName>ppt_y</p:attrName>
                                        </p:attrNameLst>
                                      </p:cBhvr>
                                      <p:tavLst>
                                        <p:tav tm="0">
                                          <p:val>
                                            <p:strVal val="#ppt_y"/>
                                          </p:val>
                                        </p:tav>
                                        <p:tav tm="100000">
                                          <p:val>
                                            <p:strVal val="#ppt_y"/>
                                          </p:val>
                                        </p:tav>
                                      </p:tavLst>
                                    </p:anim>
                                    <p:anim calcmode="lin" valueType="num">
                                      <p:cBhvr>
                                        <p:cTn id="26" dur="1000" fill="hold"/>
                                        <p:tgtEl>
                                          <p:spTgt spid="36"/>
                                        </p:tgtEl>
                                        <p:attrNameLst>
                                          <p:attrName>ppt_w</p:attrName>
                                        </p:attrNameLst>
                                      </p:cBhvr>
                                      <p:tavLst>
                                        <p:tav tm="0">
                                          <p:val>
                                            <p:fltVal val="0"/>
                                          </p:val>
                                        </p:tav>
                                        <p:tav tm="100000">
                                          <p:val>
                                            <p:strVal val="#ppt_w"/>
                                          </p:val>
                                        </p:tav>
                                      </p:tavLst>
                                    </p:anim>
                                    <p:anim calcmode="lin" valueType="num">
                                      <p:cBhvr>
                                        <p:cTn id="27" dur="1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grpId="1" nodeType="clickEffect">
                                  <p:stCondLst>
                                    <p:cond delay="0"/>
                                  </p:stCondLst>
                                  <p:childTnLst>
                                    <p:animEffect transition="out" filter="fade">
                                      <p:cBhvr>
                                        <p:cTn id="31" dur="500"/>
                                        <p:tgtEl>
                                          <p:spTgt spid="19"/>
                                        </p:tgtEl>
                                      </p:cBhvr>
                                    </p:animEffect>
                                    <p:set>
                                      <p:cBhvr>
                                        <p:cTn id="32" dur="1" fill="hold">
                                          <p:stCondLst>
                                            <p:cond delay="499"/>
                                          </p:stCondLst>
                                        </p:cTn>
                                        <p:tgtEl>
                                          <p:spTgt spid="19"/>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500"/>
                                        <p:tgtEl>
                                          <p:spTgt spid="18"/>
                                        </p:tgtEl>
                                      </p:cBhvr>
                                    </p:animEffect>
                                    <p:set>
                                      <p:cBhvr>
                                        <p:cTn id="35" dur="1" fill="hold">
                                          <p:stCondLst>
                                            <p:cond delay="499"/>
                                          </p:stCondLst>
                                        </p:cTn>
                                        <p:tgtEl>
                                          <p:spTgt spid="18"/>
                                        </p:tgtEl>
                                        <p:attrNameLst>
                                          <p:attrName>style.visibility</p:attrName>
                                        </p:attrNameLst>
                                      </p:cBhvr>
                                      <p:to>
                                        <p:strVal val="hidden"/>
                                      </p:to>
                                    </p:set>
                                  </p:childTnLst>
                                </p:cTn>
                              </p:par>
                            </p:childTnLst>
                          </p:cTn>
                        </p:par>
                        <p:par>
                          <p:cTn id="36" fill="hold">
                            <p:stCondLst>
                              <p:cond delay="500"/>
                            </p:stCondLst>
                            <p:childTnLst>
                              <p:par>
                                <p:cTn id="37" presetID="17" presetClass="entr" presetSubtype="8"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1000" fill="hold"/>
                                        <p:tgtEl>
                                          <p:spTgt spid="23"/>
                                        </p:tgtEl>
                                        <p:attrNameLst>
                                          <p:attrName>ppt_x</p:attrName>
                                        </p:attrNameLst>
                                      </p:cBhvr>
                                      <p:tavLst>
                                        <p:tav tm="0">
                                          <p:val>
                                            <p:strVal val="#ppt_x-#ppt_w/2"/>
                                          </p:val>
                                        </p:tav>
                                        <p:tav tm="100000">
                                          <p:val>
                                            <p:strVal val="#ppt_x"/>
                                          </p:val>
                                        </p:tav>
                                      </p:tavLst>
                                    </p:anim>
                                    <p:anim calcmode="lin" valueType="num">
                                      <p:cBhvr>
                                        <p:cTn id="40" dur="1000" fill="hold"/>
                                        <p:tgtEl>
                                          <p:spTgt spid="23"/>
                                        </p:tgtEl>
                                        <p:attrNameLst>
                                          <p:attrName>ppt_y</p:attrName>
                                        </p:attrNameLst>
                                      </p:cBhvr>
                                      <p:tavLst>
                                        <p:tav tm="0">
                                          <p:val>
                                            <p:strVal val="#ppt_y"/>
                                          </p:val>
                                        </p:tav>
                                        <p:tav tm="100000">
                                          <p:val>
                                            <p:strVal val="#ppt_y"/>
                                          </p:val>
                                        </p:tav>
                                      </p:tavLst>
                                    </p:anim>
                                    <p:anim calcmode="lin" valueType="num">
                                      <p:cBhvr>
                                        <p:cTn id="41" dur="1000" fill="hold"/>
                                        <p:tgtEl>
                                          <p:spTgt spid="23"/>
                                        </p:tgtEl>
                                        <p:attrNameLst>
                                          <p:attrName>ppt_w</p:attrName>
                                        </p:attrNameLst>
                                      </p:cBhvr>
                                      <p:tavLst>
                                        <p:tav tm="0">
                                          <p:val>
                                            <p:fltVal val="0"/>
                                          </p:val>
                                        </p:tav>
                                        <p:tav tm="100000">
                                          <p:val>
                                            <p:strVal val="#ppt_w"/>
                                          </p:val>
                                        </p:tav>
                                      </p:tavLst>
                                    </p:anim>
                                    <p:anim calcmode="lin" valueType="num">
                                      <p:cBhvr>
                                        <p:cTn id="42" dur="10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 calcmode="lin" valueType="num">
                                      <p:cBhvr>
                                        <p:cTn id="47" dur="1000" fill="hold"/>
                                        <p:tgtEl>
                                          <p:spTgt spid="24"/>
                                        </p:tgtEl>
                                        <p:attrNameLst>
                                          <p:attrName>ppt_x</p:attrName>
                                        </p:attrNameLst>
                                      </p:cBhvr>
                                      <p:tavLst>
                                        <p:tav tm="0">
                                          <p:val>
                                            <p:strVal val="#ppt_x-#ppt_w/2"/>
                                          </p:val>
                                        </p:tav>
                                        <p:tav tm="100000">
                                          <p:val>
                                            <p:strVal val="#ppt_x"/>
                                          </p:val>
                                        </p:tav>
                                      </p:tavLst>
                                    </p:anim>
                                    <p:anim calcmode="lin" valueType="num">
                                      <p:cBhvr>
                                        <p:cTn id="48" dur="1000" fill="hold"/>
                                        <p:tgtEl>
                                          <p:spTgt spid="24"/>
                                        </p:tgtEl>
                                        <p:attrNameLst>
                                          <p:attrName>ppt_y</p:attrName>
                                        </p:attrNameLst>
                                      </p:cBhvr>
                                      <p:tavLst>
                                        <p:tav tm="0">
                                          <p:val>
                                            <p:strVal val="#ppt_y"/>
                                          </p:val>
                                        </p:tav>
                                        <p:tav tm="100000">
                                          <p:val>
                                            <p:strVal val="#ppt_y"/>
                                          </p:val>
                                        </p:tav>
                                      </p:tavLst>
                                    </p:anim>
                                    <p:anim calcmode="lin" valueType="num">
                                      <p:cBhvr>
                                        <p:cTn id="49" dur="1000" fill="hold"/>
                                        <p:tgtEl>
                                          <p:spTgt spid="24"/>
                                        </p:tgtEl>
                                        <p:attrNameLst>
                                          <p:attrName>ppt_w</p:attrName>
                                        </p:attrNameLst>
                                      </p:cBhvr>
                                      <p:tavLst>
                                        <p:tav tm="0">
                                          <p:val>
                                            <p:fltVal val="0"/>
                                          </p:val>
                                        </p:tav>
                                        <p:tav tm="100000">
                                          <p:val>
                                            <p:strVal val="#ppt_w"/>
                                          </p:val>
                                        </p:tav>
                                      </p:tavLst>
                                    </p:anim>
                                    <p:anim calcmode="lin" valueType="num">
                                      <p:cBhvr>
                                        <p:cTn id="50" dur="10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 calcmode="lin" valueType="num">
                                      <p:cBhvr>
                                        <p:cTn id="55" dur="1000" fill="hold"/>
                                        <p:tgtEl>
                                          <p:spTgt spid="25"/>
                                        </p:tgtEl>
                                        <p:attrNameLst>
                                          <p:attrName>ppt_x</p:attrName>
                                        </p:attrNameLst>
                                      </p:cBhvr>
                                      <p:tavLst>
                                        <p:tav tm="0">
                                          <p:val>
                                            <p:strVal val="#ppt_x-#ppt_w/2"/>
                                          </p:val>
                                        </p:tav>
                                        <p:tav tm="100000">
                                          <p:val>
                                            <p:strVal val="#ppt_x"/>
                                          </p:val>
                                        </p:tav>
                                      </p:tavLst>
                                    </p:anim>
                                    <p:anim calcmode="lin" valueType="num">
                                      <p:cBhvr>
                                        <p:cTn id="56" dur="1000" fill="hold"/>
                                        <p:tgtEl>
                                          <p:spTgt spid="25"/>
                                        </p:tgtEl>
                                        <p:attrNameLst>
                                          <p:attrName>ppt_y</p:attrName>
                                        </p:attrNameLst>
                                      </p:cBhvr>
                                      <p:tavLst>
                                        <p:tav tm="0">
                                          <p:val>
                                            <p:strVal val="#ppt_y"/>
                                          </p:val>
                                        </p:tav>
                                        <p:tav tm="100000">
                                          <p:val>
                                            <p:strVal val="#ppt_y"/>
                                          </p:val>
                                        </p:tav>
                                      </p:tavLst>
                                    </p:anim>
                                    <p:anim calcmode="lin" valueType="num">
                                      <p:cBhvr>
                                        <p:cTn id="57" dur="1000" fill="hold"/>
                                        <p:tgtEl>
                                          <p:spTgt spid="25"/>
                                        </p:tgtEl>
                                        <p:attrNameLst>
                                          <p:attrName>ppt_w</p:attrName>
                                        </p:attrNameLst>
                                      </p:cBhvr>
                                      <p:tavLst>
                                        <p:tav tm="0">
                                          <p:val>
                                            <p:fltVal val="0"/>
                                          </p:val>
                                        </p:tav>
                                        <p:tav tm="100000">
                                          <p:val>
                                            <p:strVal val="#ppt_w"/>
                                          </p:val>
                                        </p:tav>
                                      </p:tavLst>
                                    </p:anim>
                                    <p:anim calcmode="lin" valueType="num">
                                      <p:cBhvr>
                                        <p:cTn id="58" dur="1000" fill="hold"/>
                                        <p:tgtEl>
                                          <p:spTgt spid="25"/>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8"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 calcmode="lin" valueType="num">
                                      <p:cBhvr>
                                        <p:cTn id="63" dur="1000" fill="hold"/>
                                        <p:tgtEl>
                                          <p:spTgt spid="26"/>
                                        </p:tgtEl>
                                        <p:attrNameLst>
                                          <p:attrName>ppt_x</p:attrName>
                                        </p:attrNameLst>
                                      </p:cBhvr>
                                      <p:tavLst>
                                        <p:tav tm="0">
                                          <p:val>
                                            <p:strVal val="#ppt_x-#ppt_w/2"/>
                                          </p:val>
                                        </p:tav>
                                        <p:tav tm="100000">
                                          <p:val>
                                            <p:strVal val="#ppt_x"/>
                                          </p:val>
                                        </p:tav>
                                      </p:tavLst>
                                    </p:anim>
                                    <p:anim calcmode="lin" valueType="num">
                                      <p:cBhvr>
                                        <p:cTn id="64" dur="1000" fill="hold"/>
                                        <p:tgtEl>
                                          <p:spTgt spid="26"/>
                                        </p:tgtEl>
                                        <p:attrNameLst>
                                          <p:attrName>ppt_y</p:attrName>
                                        </p:attrNameLst>
                                      </p:cBhvr>
                                      <p:tavLst>
                                        <p:tav tm="0">
                                          <p:val>
                                            <p:strVal val="#ppt_y"/>
                                          </p:val>
                                        </p:tav>
                                        <p:tav tm="100000">
                                          <p:val>
                                            <p:strVal val="#ppt_y"/>
                                          </p:val>
                                        </p:tav>
                                      </p:tavLst>
                                    </p:anim>
                                    <p:anim calcmode="lin" valueType="num">
                                      <p:cBhvr>
                                        <p:cTn id="65" dur="1000" fill="hold"/>
                                        <p:tgtEl>
                                          <p:spTgt spid="26"/>
                                        </p:tgtEl>
                                        <p:attrNameLst>
                                          <p:attrName>ppt_w</p:attrName>
                                        </p:attrNameLst>
                                      </p:cBhvr>
                                      <p:tavLst>
                                        <p:tav tm="0">
                                          <p:val>
                                            <p:fltVal val="0"/>
                                          </p:val>
                                        </p:tav>
                                        <p:tav tm="100000">
                                          <p:val>
                                            <p:strVal val="#ppt_w"/>
                                          </p:val>
                                        </p:tav>
                                      </p:tavLst>
                                    </p:anim>
                                    <p:anim calcmode="lin" valueType="num">
                                      <p:cBhvr>
                                        <p:cTn id="66" dur="10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18" grpId="0" animBg="1"/>
      <p:bldP spid="18" grpId="1" animBg="1"/>
      <p:bldP spid="19" grpId="0" animBg="1"/>
      <p:bldP spid="19"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6103620" y="828040"/>
            <a:ext cx="2181013" cy="2034540"/>
            <a:chOff x="2937933" y="1729740"/>
            <a:chExt cx="2181013" cy="2034540"/>
          </a:xfrm>
        </p:grpSpPr>
        <p:sp>
          <p:nvSpPr>
            <p:cNvPr id="7" name="剪去对角的矩形 6"/>
            <p:cNvSpPr/>
            <p:nvPr/>
          </p:nvSpPr>
          <p:spPr>
            <a:xfrm>
              <a:off x="2937933" y="1729740"/>
              <a:ext cx="2181013" cy="2034540"/>
            </a:xfrm>
            <a:prstGeom prst="snip2DiagRect">
              <a:avLst>
                <a:gd name="adj1" fmla="val 0"/>
                <a:gd name="adj2" fmla="val 8105"/>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 name="Object 6"/>
            <p:cNvGraphicFramePr>
              <a:graphicFrameLocks noChangeAspect="1"/>
            </p:cNvGraphicFramePr>
            <p:nvPr/>
          </p:nvGraphicFramePr>
          <p:xfrm>
            <a:off x="3064977" y="1801865"/>
            <a:ext cx="1765023" cy="1938504"/>
          </p:xfrm>
          <a:graphic>
            <a:graphicData uri="http://schemas.openxmlformats.org/presentationml/2006/ole">
              <mc:AlternateContent xmlns:mc="http://schemas.openxmlformats.org/markup-compatibility/2006">
                <mc:Choice xmlns:v="urn:schemas-microsoft-com:vml" Requires="v">
                  <p:oleObj spid="_x0000_s7185" name="BMP 图像" r:id="rId2" imgW="3314700" imgH="3638550" progId="Paint.Picture">
                    <p:embed/>
                  </p:oleObj>
                </mc:Choice>
                <mc:Fallback>
                  <p:oleObj name="BMP 图像" r:id="rId2" imgW="3314700" imgH="3638550" progId="Paint.Picture">
                    <p:embed/>
                    <p:pic>
                      <p:nvPicPr>
                        <p:cNvPr id="0" name="Object 6"/>
                        <p:cNvPicPr>
                          <a:picLocks noChangeAspect="1" noChangeArrowheads="1"/>
                        </p:cNvPicPr>
                        <p:nvPr/>
                      </p:nvPicPr>
                      <p:blipFill>
                        <a:blip r:embed="rId3"/>
                        <a:srcRect/>
                        <a:stretch>
                          <a:fillRect/>
                        </a:stretch>
                      </p:blipFill>
                      <p:spPr bwMode="auto">
                        <a:xfrm>
                          <a:off x="3064977" y="1801865"/>
                          <a:ext cx="1765023" cy="1938504"/>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aphicFrame>
        <p:nvGraphicFramePr>
          <p:cNvPr id="9" name="Object 18"/>
          <p:cNvGraphicFramePr>
            <a:graphicFrameLocks noChangeAspect="1"/>
          </p:cNvGraphicFramePr>
          <p:nvPr/>
        </p:nvGraphicFramePr>
        <p:xfrm>
          <a:off x="6398662" y="3071865"/>
          <a:ext cx="1597025" cy="1143000"/>
        </p:xfrm>
        <a:graphic>
          <a:graphicData uri="http://schemas.openxmlformats.org/presentationml/2006/ole">
            <mc:AlternateContent xmlns:mc="http://schemas.openxmlformats.org/markup-compatibility/2006">
              <mc:Choice xmlns:v="urn:schemas-microsoft-com:vml" Requires="v">
                <p:oleObj spid="_x0000_s7186" name="Visio" r:id="rId4" imgW="866775" imgH="600075" progId="Visio.Drawing.11">
                  <p:embed/>
                </p:oleObj>
              </mc:Choice>
              <mc:Fallback>
                <p:oleObj name="Visio" r:id="rId4" imgW="866775" imgH="600075" progId="Visio.Drawing.11">
                  <p:embed/>
                  <p:pic>
                    <p:nvPicPr>
                      <p:cNvPr id="0" name="Object 18"/>
                      <p:cNvPicPr>
                        <a:picLocks noChangeAspect="1" noChangeArrowheads="1"/>
                      </p:cNvPicPr>
                      <p:nvPr/>
                    </p:nvPicPr>
                    <p:blipFill>
                      <a:blip r:embed="rId5"/>
                      <a:srcRect/>
                      <a:stretch>
                        <a:fillRect/>
                      </a:stretch>
                    </p:blipFill>
                    <p:spPr bwMode="auto">
                      <a:xfrm>
                        <a:off x="6398662" y="3071865"/>
                        <a:ext cx="1597025" cy="1143000"/>
                      </a:xfrm>
                      <a:prstGeom prst="rect">
                        <a:avLst/>
                      </a:prstGeom>
                      <a:noFill/>
                      <a:ln>
                        <a:noFill/>
                      </a:ln>
                      <a:effectLst/>
                    </p:spPr>
                  </p:pic>
                </p:oleObj>
              </mc:Fallback>
            </mc:AlternateContent>
          </a:graphicData>
        </a:graphic>
      </p:graphicFrame>
      <p:grpSp>
        <p:nvGrpSpPr>
          <p:cNvPr id="10" name="组合 9"/>
          <p:cNvGrpSpPr/>
          <p:nvPr/>
        </p:nvGrpSpPr>
        <p:grpSpPr>
          <a:xfrm>
            <a:off x="6244619" y="3245220"/>
            <a:ext cx="762000" cy="1343025"/>
            <a:chOff x="6787139" y="3064826"/>
            <a:chExt cx="762000" cy="1343025"/>
          </a:xfrm>
        </p:grpSpPr>
        <p:sp>
          <p:nvSpPr>
            <p:cNvPr id="11" name="圆角矩形 27"/>
            <p:cNvSpPr/>
            <p:nvPr/>
          </p:nvSpPr>
          <p:spPr>
            <a:xfrm>
              <a:off x="7099617" y="3064826"/>
              <a:ext cx="251460" cy="739460"/>
            </a:xfrm>
            <a:prstGeom prst="roundRect">
              <a:avLst>
                <a:gd name="adj" fmla="val 12169"/>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AutoShape 40"/>
            <p:cNvSpPr>
              <a:spLocks noChangeArrowheads="1"/>
            </p:cNvSpPr>
            <p:nvPr/>
          </p:nvSpPr>
          <p:spPr bwMode="auto">
            <a:xfrm>
              <a:off x="6787139" y="4034471"/>
              <a:ext cx="762000" cy="373380"/>
            </a:xfrm>
            <a:prstGeom prst="wedgeRoundRectCallout">
              <a:avLst>
                <a:gd name="adj1" fmla="val 3218"/>
                <a:gd name="adj2" fmla="val -99997"/>
                <a:gd name="adj3" fmla="val 16667"/>
              </a:avLst>
            </a:prstGeom>
            <a:solidFill>
              <a:srgbClr val="FFFF99"/>
            </a:solidFill>
            <a:ln w="28575" algn="ctr">
              <a:solidFill>
                <a:schemeClr val="hlink"/>
              </a:solidFill>
              <a:miter lim="800000"/>
            </a:ln>
          </p:spPr>
          <p:txBody>
            <a:bodyPr lIns="0" tIns="0" rIns="0" bIns="0" anchor="ctr"/>
            <a:lstStyle/>
            <a:p>
              <a:pPr algn="ctr">
                <a:lnSpc>
                  <a:spcPct val="150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高有效</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aphicFrame>
        <p:nvGraphicFramePr>
          <p:cNvPr id="13" name="Object 18"/>
          <p:cNvGraphicFramePr>
            <a:graphicFrameLocks noChangeAspect="1"/>
          </p:cNvGraphicFramePr>
          <p:nvPr/>
        </p:nvGraphicFramePr>
        <p:xfrm>
          <a:off x="417194" y="1670447"/>
          <a:ext cx="4352925" cy="2819612"/>
        </p:xfrm>
        <a:graphic>
          <a:graphicData uri="http://schemas.openxmlformats.org/presentationml/2006/ole">
            <mc:AlternateContent xmlns:mc="http://schemas.openxmlformats.org/markup-compatibility/2006">
              <mc:Choice xmlns:v="urn:schemas-microsoft-com:vml" Requires="v">
                <p:oleObj spid="_x0000_s7187" name="Visio" r:id="rId6" imgW="1695450" imgH="1000125" progId="Visio.Drawing.11">
                  <p:embed/>
                </p:oleObj>
              </mc:Choice>
              <mc:Fallback>
                <p:oleObj name="Visio" r:id="rId6" imgW="1695450" imgH="1000125" progId="Visio.Drawing.11">
                  <p:embed/>
                  <p:pic>
                    <p:nvPicPr>
                      <p:cNvPr id="0" name="Object 18"/>
                      <p:cNvPicPr>
                        <a:picLocks noChangeAspect="1" noChangeArrowheads="1"/>
                      </p:cNvPicPr>
                      <p:nvPr/>
                    </p:nvPicPr>
                    <p:blipFill>
                      <a:blip r:embed="rId7"/>
                      <a:srcRect/>
                      <a:stretch>
                        <a:fillRect/>
                      </a:stretch>
                    </p:blipFill>
                    <p:spPr bwMode="auto">
                      <a:xfrm>
                        <a:off x="417194" y="1670447"/>
                        <a:ext cx="4352925" cy="2819612"/>
                      </a:xfrm>
                      <a:prstGeom prst="rect">
                        <a:avLst/>
                      </a:prstGeom>
                      <a:noFill/>
                      <a:ln>
                        <a:noFill/>
                      </a:ln>
                      <a:effectLst/>
                    </p:spPr>
                  </p:pic>
                </p:oleObj>
              </mc:Fallback>
            </mc:AlternateContent>
          </a:graphicData>
        </a:graphic>
      </p:graphicFrame>
      <p:sp>
        <p:nvSpPr>
          <p:cNvPr id="14" name="圆角矩形 27"/>
          <p:cNvSpPr/>
          <p:nvPr/>
        </p:nvSpPr>
        <p:spPr>
          <a:xfrm>
            <a:off x="1022582" y="2039778"/>
            <a:ext cx="463317" cy="1884521"/>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27"/>
          <p:cNvSpPr/>
          <p:nvPr/>
        </p:nvSpPr>
        <p:spPr>
          <a:xfrm>
            <a:off x="1876773" y="2570813"/>
            <a:ext cx="463317" cy="1361104"/>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27"/>
          <p:cNvSpPr/>
          <p:nvPr/>
        </p:nvSpPr>
        <p:spPr>
          <a:xfrm>
            <a:off x="1501889" y="2385059"/>
            <a:ext cx="374883" cy="153923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27"/>
          <p:cNvSpPr/>
          <p:nvPr/>
        </p:nvSpPr>
        <p:spPr>
          <a:xfrm>
            <a:off x="2356081" y="2392678"/>
            <a:ext cx="463317" cy="153923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27"/>
          <p:cNvSpPr/>
          <p:nvPr/>
        </p:nvSpPr>
        <p:spPr>
          <a:xfrm>
            <a:off x="2835389" y="2075711"/>
            <a:ext cx="601231" cy="1848586"/>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27"/>
          <p:cNvSpPr/>
          <p:nvPr/>
        </p:nvSpPr>
        <p:spPr>
          <a:xfrm>
            <a:off x="3445116" y="2072985"/>
            <a:ext cx="601231" cy="1848586"/>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1"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ppt_h/2"/>
                                          </p:val>
                                        </p:tav>
                                        <p:tav tm="100000">
                                          <p:val>
                                            <p:strVal val="#ppt_y"/>
                                          </p:val>
                                        </p:tav>
                                      </p:tavLst>
                                    </p:anim>
                                    <p:anim calcmode="lin" valueType="num">
                                      <p:cBhvr>
                                        <p:cTn id="16" dur="1000" fill="hold"/>
                                        <p:tgtEl>
                                          <p:spTgt spid="14"/>
                                        </p:tgtEl>
                                        <p:attrNameLst>
                                          <p:attrName>ppt_w</p:attrName>
                                        </p:attrNameLst>
                                      </p:cBhvr>
                                      <p:tavLst>
                                        <p:tav tm="0">
                                          <p:val>
                                            <p:strVal val="#ppt_w"/>
                                          </p:val>
                                        </p:tav>
                                        <p:tav tm="100000">
                                          <p:val>
                                            <p:strVal val="#ppt_w"/>
                                          </p:val>
                                        </p:tav>
                                      </p:tavLst>
                                    </p:anim>
                                    <p:anim calcmode="lin" valueType="num">
                                      <p:cBhvr>
                                        <p:cTn id="17" dur="1000" fill="hold"/>
                                        <p:tgtEl>
                                          <p:spTgt spid="14"/>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7"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ppt_h/2"/>
                                          </p:val>
                                        </p:tav>
                                        <p:tav tm="100000">
                                          <p:val>
                                            <p:strVal val="#ppt_y"/>
                                          </p:val>
                                        </p:tav>
                                      </p:tavLst>
                                    </p:anim>
                                    <p:anim calcmode="lin" valueType="num">
                                      <p:cBhvr>
                                        <p:cTn id="24" dur="1000" fill="hold"/>
                                        <p:tgtEl>
                                          <p:spTgt spid="15"/>
                                        </p:tgtEl>
                                        <p:attrNameLst>
                                          <p:attrName>ppt_w</p:attrName>
                                        </p:attrNameLst>
                                      </p:cBhvr>
                                      <p:tavLst>
                                        <p:tav tm="0">
                                          <p:val>
                                            <p:strVal val="#ppt_w"/>
                                          </p:val>
                                        </p:tav>
                                        <p:tav tm="100000">
                                          <p:val>
                                            <p:strVal val="#ppt_w"/>
                                          </p:val>
                                        </p:tav>
                                      </p:tavLst>
                                    </p:anim>
                                    <p:anim calcmode="lin" valueType="num">
                                      <p:cBhvr>
                                        <p:cTn id="25" dur="1000" fill="hold"/>
                                        <p:tgtEl>
                                          <p:spTgt spid="15"/>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7" presetClass="entr" presetSubtype="1"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ppt_x</p:attrName>
                                        </p:attrNameLst>
                                      </p:cBhvr>
                                      <p:tavLst>
                                        <p:tav tm="0">
                                          <p:val>
                                            <p:strVal val="#ppt_x"/>
                                          </p:val>
                                        </p:tav>
                                        <p:tav tm="100000">
                                          <p:val>
                                            <p:strVal val="#ppt_x"/>
                                          </p:val>
                                        </p:tav>
                                      </p:tavLst>
                                    </p:anim>
                                    <p:anim calcmode="lin" valueType="num">
                                      <p:cBhvr>
                                        <p:cTn id="31" dur="1000" fill="hold"/>
                                        <p:tgtEl>
                                          <p:spTgt spid="16"/>
                                        </p:tgtEl>
                                        <p:attrNameLst>
                                          <p:attrName>ppt_y</p:attrName>
                                        </p:attrNameLst>
                                      </p:cBhvr>
                                      <p:tavLst>
                                        <p:tav tm="0">
                                          <p:val>
                                            <p:strVal val="#ppt_y-#ppt_h/2"/>
                                          </p:val>
                                        </p:tav>
                                        <p:tav tm="100000">
                                          <p:val>
                                            <p:strVal val="#ppt_y"/>
                                          </p:val>
                                        </p:tav>
                                      </p:tavLst>
                                    </p:anim>
                                    <p:anim calcmode="lin" valueType="num">
                                      <p:cBhvr>
                                        <p:cTn id="32" dur="1000" fill="hold"/>
                                        <p:tgtEl>
                                          <p:spTgt spid="16"/>
                                        </p:tgtEl>
                                        <p:attrNameLst>
                                          <p:attrName>ppt_w</p:attrName>
                                        </p:attrNameLst>
                                      </p:cBhvr>
                                      <p:tavLst>
                                        <p:tav tm="0">
                                          <p:val>
                                            <p:strVal val="#ppt_w"/>
                                          </p:val>
                                        </p:tav>
                                        <p:tav tm="100000">
                                          <p:val>
                                            <p:strVal val="#ppt_w"/>
                                          </p:val>
                                        </p:tav>
                                      </p:tavLst>
                                    </p:anim>
                                    <p:anim calcmode="lin" valueType="num">
                                      <p:cBhvr>
                                        <p:cTn id="33" dur="1000" fill="hold"/>
                                        <p:tgtEl>
                                          <p:spTgt spid="16"/>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6"/>
                                        </p:tgtEl>
                                        <p:attrNameLst>
                                          <p:attrName>style.visibility</p:attrName>
                                        </p:attrNameLst>
                                      </p:cBhvr>
                                      <p:to>
                                        <p:strVal val="hidden"/>
                                      </p:to>
                                    </p:set>
                                  </p:subTnLst>
                                </p:cTn>
                              </p:par>
                              <p:par>
                                <p:cTn id="34" presetID="17" presetClass="entr" presetSubtype="1"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 calcmode="lin" valueType="num">
                                      <p:cBhvr>
                                        <p:cTn id="36" dur="1000" fill="hold"/>
                                        <p:tgtEl>
                                          <p:spTgt spid="17"/>
                                        </p:tgtEl>
                                        <p:attrNameLst>
                                          <p:attrName>ppt_x</p:attrName>
                                        </p:attrNameLst>
                                      </p:cBhvr>
                                      <p:tavLst>
                                        <p:tav tm="0">
                                          <p:val>
                                            <p:strVal val="#ppt_x"/>
                                          </p:val>
                                        </p:tav>
                                        <p:tav tm="100000">
                                          <p:val>
                                            <p:strVal val="#ppt_x"/>
                                          </p:val>
                                        </p:tav>
                                      </p:tavLst>
                                    </p:anim>
                                    <p:anim calcmode="lin" valueType="num">
                                      <p:cBhvr>
                                        <p:cTn id="37" dur="1000" fill="hold"/>
                                        <p:tgtEl>
                                          <p:spTgt spid="17"/>
                                        </p:tgtEl>
                                        <p:attrNameLst>
                                          <p:attrName>ppt_y</p:attrName>
                                        </p:attrNameLst>
                                      </p:cBhvr>
                                      <p:tavLst>
                                        <p:tav tm="0">
                                          <p:val>
                                            <p:strVal val="#ppt_y-#ppt_h/2"/>
                                          </p:val>
                                        </p:tav>
                                        <p:tav tm="100000">
                                          <p:val>
                                            <p:strVal val="#ppt_y"/>
                                          </p:val>
                                        </p:tav>
                                      </p:tavLst>
                                    </p:anim>
                                    <p:anim calcmode="lin" valueType="num">
                                      <p:cBhvr>
                                        <p:cTn id="38" dur="1000" fill="hold"/>
                                        <p:tgtEl>
                                          <p:spTgt spid="17"/>
                                        </p:tgtEl>
                                        <p:attrNameLst>
                                          <p:attrName>ppt_w</p:attrName>
                                        </p:attrNameLst>
                                      </p:cBhvr>
                                      <p:tavLst>
                                        <p:tav tm="0">
                                          <p:val>
                                            <p:strVal val="#ppt_w"/>
                                          </p:val>
                                        </p:tav>
                                        <p:tav tm="100000">
                                          <p:val>
                                            <p:strVal val="#ppt_w"/>
                                          </p:val>
                                        </p:tav>
                                      </p:tavLst>
                                    </p:anim>
                                    <p:anim calcmode="lin" valueType="num">
                                      <p:cBhvr>
                                        <p:cTn id="39" dur="1000" fill="hold"/>
                                        <p:tgtEl>
                                          <p:spTgt spid="17"/>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17" presetClass="entr" presetSubtype="1"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 calcmode="lin" valueType="num">
                                      <p:cBhvr>
                                        <p:cTn id="44" dur="1000" fill="hold"/>
                                        <p:tgtEl>
                                          <p:spTgt spid="18"/>
                                        </p:tgtEl>
                                        <p:attrNameLst>
                                          <p:attrName>ppt_x</p:attrName>
                                        </p:attrNameLst>
                                      </p:cBhvr>
                                      <p:tavLst>
                                        <p:tav tm="0">
                                          <p:val>
                                            <p:strVal val="#ppt_x"/>
                                          </p:val>
                                        </p:tav>
                                        <p:tav tm="100000">
                                          <p:val>
                                            <p:strVal val="#ppt_x"/>
                                          </p:val>
                                        </p:tav>
                                      </p:tavLst>
                                    </p:anim>
                                    <p:anim calcmode="lin" valueType="num">
                                      <p:cBhvr>
                                        <p:cTn id="45" dur="1000" fill="hold"/>
                                        <p:tgtEl>
                                          <p:spTgt spid="18"/>
                                        </p:tgtEl>
                                        <p:attrNameLst>
                                          <p:attrName>ppt_y</p:attrName>
                                        </p:attrNameLst>
                                      </p:cBhvr>
                                      <p:tavLst>
                                        <p:tav tm="0">
                                          <p:val>
                                            <p:strVal val="#ppt_y-#ppt_h/2"/>
                                          </p:val>
                                        </p:tav>
                                        <p:tav tm="100000">
                                          <p:val>
                                            <p:strVal val="#ppt_y"/>
                                          </p:val>
                                        </p:tav>
                                      </p:tavLst>
                                    </p:anim>
                                    <p:anim calcmode="lin" valueType="num">
                                      <p:cBhvr>
                                        <p:cTn id="46" dur="1000" fill="hold"/>
                                        <p:tgtEl>
                                          <p:spTgt spid="18"/>
                                        </p:tgtEl>
                                        <p:attrNameLst>
                                          <p:attrName>ppt_w</p:attrName>
                                        </p:attrNameLst>
                                      </p:cBhvr>
                                      <p:tavLst>
                                        <p:tav tm="0">
                                          <p:val>
                                            <p:strVal val="#ppt_w"/>
                                          </p:val>
                                        </p:tav>
                                        <p:tav tm="100000">
                                          <p:val>
                                            <p:strVal val="#ppt_w"/>
                                          </p:val>
                                        </p:tav>
                                      </p:tavLst>
                                    </p:anim>
                                    <p:anim calcmode="lin" valueType="num">
                                      <p:cBhvr>
                                        <p:cTn id="47" dur="1000" fill="hold"/>
                                        <p:tgtEl>
                                          <p:spTgt spid="18"/>
                                        </p:tgtEl>
                                        <p:attrNameLst>
                                          <p:attrName>ppt_h</p:attrName>
                                        </p:attrNameLst>
                                      </p:cBhvr>
                                      <p:tavLst>
                                        <p:tav tm="0">
                                          <p:val>
                                            <p:fltVal val="0"/>
                                          </p:val>
                                        </p:tav>
                                        <p:tav tm="100000">
                                          <p:val>
                                            <p:strVal val="#ppt_h"/>
                                          </p:val>
                                        </p:tav>
                                      </p:tavLst>
                                    </p:anim>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P spid="17"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5" y="1301115"/>
            <a:ext cx="2216150" cy="369332"/>
          </a:xfrm>
          <a:prstGeom prst="rect">
            <a:avLst/>
          </a:prstGeom>
          <a:noFill/>
          <a:ln w="9525" algn="ctr">
            <a:noFill/>
            <a:miter lim="800000"/>
          </a:ln>
        </p:spPr>
        <p:txBody>
          <a:bodyPr>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、基本</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3301295" y="1253814"/>
            <a:ext cx="5085600" cy="2606357"/>
            <a:chOff x="3301295" y="1253814"/>
            <a:chExt cx="5085600" cy="2606357"/>
          </a:xfrm>
        </p:grpSpPr>
        <p:sp>
          <p:nvSpPr>
            <p:cNvPr id="22" name="矩形: 剪去对角 21"/>
            <p:cNvSpPr/>
            <p:nvPr/>
          </p:nvSpPr>
          <p:spPr>
            <a:xfrm>
              <a:off x="3301295" y="1342497"/>
              <a:ext cx="5085600" cy="2502875"/>
            </a:xfrm>
            <a:prstGeom prst="snip2DiagRect">
              <a:avLst>
                <a:gd name="adj1" fmla="val 0"/>
                <a:gd name="adj2" fmla="val 11187"/>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Object 18"/>
            <p:cNvGraphicFramePr>
              <a:graphicFrameLocks noChangeAspect="1"/>
            </p:cNvGraphicFramePr>
            <p:nvPr/>
          </p:nvGraphicFramePr>
          <p:xfrm>
            <a:off x="3311975" y="1253814"/>
            <a:ext cx="5074920" cy="2606357"/>
          </p:xfrm>
          <a:graphic>
            <a:graphicData uri="http://schemas.openxmlformats.org/presentationml/2006/ole">
              <mc:AlternateContent xmlns:mc="http://schemas.openxmlformats.org/markup-compatibility/2006">
                <mc:Choice xmlns:v="urn:schemas-microsoft-com:vml" Requires="v">
                  <p:oleObj spid="_x0000_s8199" name="Visio" r:id="rId2" imgW="2076450" imgH="1076325" progId="Visio.Drawing.11">
                    <p:embed/>
                  </p:oleObj>
                </mc:Choice>
                <mc:Fallback>
                  <p:oleObj name="Visio" r:id="rId2" imgW="2076450" imgH="1076325" progId="Visio.Drawing.11">
                    <p:embed/>
                    <p:pic>
                      <p:nvPicPr>
                        <p:cNvPr id="0" name="Object 18"/>
                        <p:cNvPicPr>
                          <a:picLocks noChangeAspect="1" noChangeArrowheads="1"/>
                        </p:cNvPicPr>
                        <p:nvPr/>
                      </p:nvPicPr>
                      <p:blipFill>
                        <a:blip r:embed="rId3"/>
                        <a:srcRect/>
                        <a:stretch>
                          <a:fillRect/>
                        </a:stretch>
                      </p:blipFill>
                      <p:spPr bwMode="auto">
                        <a:xfrm>
                          <a:off x="3311975" y="1253814"/>
                          <a:ext cx="5074920" cy="2606357"/>
                        </a:xfrm>
                        <a:prstGeom prst="rect">
                          <a:avLst/>
                        </a:prstGeom>
                        <a:noFill/>
                        <a:ln>
                          <a:noFill/>
                        </a:ln>
                        <a:effectLst/>
                      </p:spPr>
                    </p:pic>
                  </p:oleObj>
                </mc:Fallback>
              </mc:AlternateContent>
            </a:graphicData>
          </a:graphic>
        </p:graphicFrame>
        <p:grpSp>
          <p:nvGrpSpPr>
            <p:cNvPr id="10" name="组合 9"/>
            <p:cNvGrpSpPr/>
            <p:nvPr/>
          </p:nvGrpSpPr>
          <p:grpSpPr>
            <a:xfrm>
              <a:off x="6093332" y="1998609"/>
              <a:ext cx="887731" cy="1422770"/>
              <a:chOff x="7099616" y="2444762"/>
              <a:chExt cx="887731" cy="1422770"/>
            </a:xfrm>
          </p:grpSpPr>
          <p:sp>
            <p:nvSpPr>
              <p:cNvPr id="11" name="圆角矩形 27"/>
              <p:cNvSpPr/>
              <p:nvPr/>
            </p:nvSpPr>
            <p:spPr>
              <a:xfrm>
                <a:off x="7099616" y="3064825"/>
                <a:ext cx="635127" cy="802707"/>
              </a:xfrm>
              <a:prstGeom prst="roundRect">
                <a:avLst>
                  <a:gd name="adj" fmla="val 12169"/>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AutoShape 40"/>
              <p:cNvSpPr>
                <a:spLocks noChangeArrowheads="1"/>
              </p:cNvSpPr>
              <p:nvPr/>
            </p:nvSpPr>
            <p:spPr bwMode="auto">
              <a:xfrm>
                <a:off x="7225347" y="2444762"/>
                <a:ext cx="762000" cy="373380"/>
              </a:xfrm>
              <a:prstGeom prst="wedgeRoundRectCallout">
                <a:avLst>
                  <a:gd name="adj1" fmla="val -30782"/>
                  <a:gd name="adj2" fmla="val 100003"/>
                  <a:gd name="adj3" fmla="val 16667"/>
                </a:avLst>
              </a:prstGeom>
              <a:solidFill>
                <a:srgbClr val="FFFF99"/>
              </a:solidFill>
              <a:ln w="28575" algn="ctr">
                <a:solidFill>
                  <a:schemeClr val="hlink"/>
                </a:solidFill>
                <a:miter lim="800000"/>
              </a:ln>
            </p:spPr>
            <p:txBody>
              <a:bodyPr lIns="0" tIns="0" rIns="0" bIns="0" anchor="ctr"/>
              <a:lstStyle/>
              <a:p>
                <a:pPr algn="ctr">
                  <a:lnSpc>
                    <a:spcPct val="150000"/>
                  </a:lnSpc>
                  <a:spcBef>
                    <a:spcPts val="300"/>
                  </a:spcBef>
                  <a:spcAft>
                    <a:spcPts val="300"/>
                  </a:spcAft>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低有效</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grpSp>
        <p:nvGrpSpPr>
          <p:cNvPr id="24" name="组合 23"/>
          <p:cNvGrpSpPr/>
          <p:nvPr/>
        </p:nvGrpSpPr>
        <p:grpSpPr>
          <a:xfrm>
            <a:off x="735332" y="3812374"/>
            <a:ext cx="5641958" cy="1203022"/>
            <a:chOff x="577105" y="3733361"/>
            <a:chExt cx="5641958" cy="1203022"/>
          </a:xfrm>
        </p:grpSpPr>
        <p:sp>
          <p:nvSpPr>
            <p:cNvPr id="21" name="文本框 20"/>
            <p:cNvSpPr txBox="1"/>
            <p:nvPr/>
          </p:nvSpPr>
          <p:spPr>
            <a:xfrm>
              <a:off x="689613" y="3733361"/>
              <a:ext cx="5529450" cy="1203022"/>
            </a:xfrm>
            <a:prstGeom prst="rect">
              <a:avLst/>
            </a:prstGeom>
            <a:noFill/>
          </p:spPr>
          <p:txBody>
            <a:bodyPr wrap="square">
              <a:spAutoFit/>
            </a:bodyPr>
            <a:lstStyle/>
            <a:p>
              <a:pPr indent="266700" algn="just">
                <a:lnSpc>
                  <a:spcPct val="150000"/>
                </a:lnSpc>
              </a:pPr>
              <a:r>
                <a:rPr lang="zh-CN" altLang="zh-CN" kern="100"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基本</a:t>
              </a:r>
              <a:r>
                <a:rPr lang="en-US" altLang="zh-CN" i="1" kern="100" dirty="0">
                  <a:solidFill>
                    <a:srgbClr val="6600FF"/>
                  </a:solidFill>
                  <a:effectLst/>
                  <a:latin typeface="Times New Roman" panose="02020603050405020304" pitchFamily="18" charset="0"/>
                  <a:ea typeface="方正粗黑宋简体" panose="02000000000000000000" pitchFamily="2" charset="-122"/>
                  <a:cs typeface="Times New Roman" panose="02020603050405020304" pitchFamily="18" charset="0"/>
                </a:rPr>
                <a:t>SR</a:t>
              </a:r>
              <a:r>
                <a:rPr lang="zh-CN" altLang="zh-CN"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锁存器</a:t>
              </a:r>
              <a:r>
                <a:rPr lang="zh-CN" altLang="en-US" kern="100"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的</a:t>
              </a:r>
              <a:r>
                <a:rPr lang="zh-CN" altLang="zh-CN" kern="100"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特点</a:t>
              </a:r>
              <a:r>
                <a:rPr lang="zh-CN" altLang="en-US" kern="100" dirty="0">
                  <a:solidFill>
                    <a:srgbClr val="6600FF"/>
                  </a:solidFill>
                  <a:effectLst/>
                  <a:latin typeface="方正粗黑宋简体" panose="02000000000000000000" pitchFamily="2" charset="-122"/>
                  <a:ea typeface="方正粗黑宋简体" panose="02000000000000000000" pitchFamily="2" charset="-122"/>
                  <a:cs typeface="Times New Roman" panose="02020603050405020304" pitchFamily="18" charset="0"/>
                </a:rPr>
                <a:t>：</a:t>
              </a:r>
              <a:endParaRPr lang="en-US" altLang="zh-CN" kern="100" dirty="0">
                <a:solidFill>
                  <a:srgbClr val="6600FF"/>
                </a:solidFill>
                <a:effectLst/>
                <a:latin typeface="方正粗黑宋简体" panose="02000000000000000000" pitchFamily="2" charset="-122"/>
                <a:ea typeface="方正粗黑宋简体" panose="02000000000000000000" pitchFamily="2" charset="-122"/>
              </a:endParaRPr>
            </a:p>
            <a:p>
              <a:pPr indent="266700" algn="just">
                <a:lnSpc>
                  <a:spcPct val="150000"/>
                </a:lnSpc>
              </a:pPr>
              <a:r>
                <a:rPr lang="zh-CN" altLang="zh-CN" sz="1600" kern="100" dirty="0">
                  <a:solidFill>
                    <a:srgbClr val="6600FF"/>
                  </a:solidFill>
                  <a:effectLst/>
                  <a:latin typeface="微软雅黑" panose="020B0503020204020204" pitchFamily="34" charset="-122"/>
                  <a:ea typeface="微软雅黑" panose="020B0503020204020204" pitchFamily="34" charset="-122"/>
                </a:rPr>
                <a:t>（</a:t>
              </a:r>
              <a:r>
                <a:rPr lang="en-US" altLang="zh-CN" sz="1600" kern="100" dirty="0">
                  <a:solidFill>
                    <a:srgbClr val="6600FF"/>
                  </a:solidFill>
                  <a:effectLst/>
                  <a:latin typeface="微软雅黑" panose="020B0503020204020204" pitchFamily="34" charset="-122"/>
                  <a:ea typeface="微软雅黑" panose="020B0503020204020204" pitchFamily="34" charset="-122"/>
                </a:rPr>
                <a:t>1</a:t>
              </a:r>
              <a:r>
                <a:rPr lang="zh-CN" altLang="zh-CN" sz="1600" kern="100" dirty="0">
                  <a:solidFill>
                    <a:srgbClr val="6600FF"/>
                  </a:solidFill>
                  <a:effectLst/>
                  <a:latin typeface="微软雅黑" panose="020B0503020204020204" pitchFamily="34" charset="-122"/>
                  <a:ea typeface="微软雅黑" panose="020B0503020204020204" pitchFamily="34" charset="-122"/>
                </a:rPr>
                <a:t>）具有直接置位、复位和保持功能。</a:t>
              </a:r>
              <a:endParaRPr lang="zh-CN" altLang="zh-CN" sz="1600" kern="100" dirty="0">
                <a:solidFill>
                  <a:srgbClr val="6600FF"/>
                </a:solidFill>
                <a:effectLst/>
                <a:latin typeface="微软雅黑" panose="020B0503020204020204" pitchFamily="34" charset="-122"/>
                <a:ea typeface="微软雅黑" panose="020B0503020204020204" pitchFamily="34" charset="-122"/>
              </a:endParaRPr>
            </a:p>
            <a:p>
              <a:pPr indent="266700" algn="just">
                <a:lnSpc>
                  <a:spcPct val="150000"/>
                </a:lnSpc>
              </a:pPr>
              <a:r>
                <a:rPr lang="zh-CN" altLang="zh-CN" sz="1600" kern="100" dirty="0">
                  <a:solidFill>
                    <a:srgbClr val="6600FF"/>
                  </a:solidFill>
                  <a:effectLst/>
                  <a:latin typeface="微软雅黑" panose="020B0503020204020204" pitchFamily="34" charset="-122"/>
                  <a:ea typeface="微软雅黑" panose="020B0503020204020204" pitchFamily="34" charset="-122"/>
                </a:rPr>
                <a:t>（</a:t>
              </a:r>
              <a:r>
                <a:rPr lang="en-US" altLang="zh-CN" sz="1600" kern="100" dirty="0">
                  <a:solidFill>
                    <a:srgbClr val="6600FF"/>
                  </a:solidFill>
                  <a:effectLst/>
                  <a:latin typeface="微软雅黑" panose="020B0503020204020204" pitchFamily="34" charset="-122"/>
                  <a:ea typeface="微软雅黑" panose="020B0503020204020204" pitchFamily="34" charset="-122"/>
                </a:rPr>
                <a:t>2</a:t>
              </a:r>
              <a:r>
                <a:rPr lang="zh-CN" altLang="zh-CN" sz="1600" kern="100" dirty="0">
                  <a:solidFill>
                    <a:srgbClr val="6600FF"/>
                  </a:solidFill>
                  <a:effectLst/>
                  <a:latin typeface="微软雅黑" panose="020B0503020204020204" pitchFamily="34" charset="-122"/>
                  <a:ea typeface="微软雅黑" panose="020B0503020204020204" pitchFamily="34" charset="-122"/>
                </a:rPr>
                <a:t>）存在约束条件。</a:t>
              </a:r>
              <a:endParaRPr lang="zh-CN" altLang="zh-CN" sz="1600" kern="100" dirty="0">
                <a:solidFill>
                  <a:srgbClr val="6600FF"/>
                </a:solidFill>
                <a:effectLst/>
                <a:latin typeface="微软雅黑" panose="020B0503020204020204" pitchFamily="34" charset="-122"/>
                <a:ea typeface="微软雅黑" panose="020B0503020204020204" pitchFamily="34" charset="-122"/>
              </a:endParaRPr>
            </a:p>
          </p:txBody>
        </p:sp>
        <p:pic>
          <p:nvPicPr>
            <p:cNvPr id="23" name="Picture 5"/>
            <p:cNvPicPr>
              <a:picLocks noChangeAspect="1" noChangeArrowheads="1"/>
            </p:cNvPicPr>
            <p:nvPr/>
          </p:nvPicPr>
          <p:blipFill>
            <a:blip r:embed="rId4" cstate="print"/>
            <a:srcRect/>
            <a:stretch>
              <a:fillRect/>
            </a:stretch>
          </p:blipFill>
          <p:spPr bwMode="auto">
            <a:xfrm>
              <a:off x="577105" y="3860171"/>
              <a:ext cx="360000" cy="286209"/>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1000"/>
                                        <p:tgtEl>
                                          <p:spTgt spid="24"/>
                                        </p:tgtEl>
                                      </p:cBhvr>
                                    </p:animEffect>
                                    <p:anim calcmode="lin" valueType="num">
                                      <p:cBhvr>
                                        <p:cTn id="15" dur="1000" fill="hold"/>
                                        <p:tgtEl>
                                          <p:spTgt spid="24"/>
                                        </p:tgtEl>
                                        <p:attrNameLst>
                                          <p:attrName>ppt_x</p:attrName>
                                        </p:attrNameLst>
                                      </p:cBhvr>
                                      <p:tavLst>
                                        <p:tav tm="0">
                                          <p:val>
                                            <p:strVal val="#ppt_x"/>
                                          </p:val>
                                        </p:tav>
                                        <p:tav tm="100000">
                                          <p:val>
                                            <p:strVal val="#ppt_x"/>
                                          </p:val>
                                        </p:tav>
                                      </p:tavLst>
                                    </p:anim>
                                    <p:anim calcmode="lin" valueType="num">
                                      <p:cBhvr>
                                        <p:cTn id="16"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87540" y="1903514"/>
            <a:ext cx="5085600" cy="2398663"/>
            <a:chOff x="987540" y="1903514"/>
            <a:chExt cx="5085600" cy="2398663"/>
          </a:xfrm>
        </p:grpSpPr>
        <p:sp>
          <p:nvSpPr>
            <p:cNvPr id="12" name="矩形: 剪去对角 11"/>
            <p:cNvSpPr/>
            <p:nvPr/>
          </p:nvSpPr>
          <p:spPr>
            <a:xfrm>
              <a:off x="987540" y="1903514"/>
              <a:ext cx="5085600" cy="2398663"/>
            </a:xfrm>
            <a:prstGeom prst="snip2DiagRect">
              <a:avLst>
                <a:gd name="adj1" fmla="val 0"/>
                <a:gd name="adj2" fmla="val 11187"/>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1" name="对象 10"/>
            <p:cNvGraphicFramePr>
              <a:graphicFrameLocks noChangeAspect="1"/>
            </p:cNvGraphicFramePr>
            <p:nvPr/>
          </p:nvGraphicFramePr>
          <p:xfrm>
            <a:off x="1185912" y="1961198"/>
            <a:ext cx="4664254" cy="2212657"/>
          </p:xfrm>
          <a:graphic>
            <a:graphicData uri="http://schemas.openxmlformats.org/presentationml/2006/ole">
              <mc:AlternateContent xmlns:mc="http://schemas.openxmlformats.org/markup-compatibility/2006">
                <mc:Choice xmlns:v="urn:schemas-microsoft-com:vml" Requires="v">
                  <p:oleObj spid="_x0000_s9223" name="Visio" r:id="rId1" imgW="2315210" imgH="1108710" progId="Visio.Drawing.11">
                    <p:embed/>
                  </p:oleObj>
                </mc:Choice>
                <mc:Fallback>
                  <p:oleObj name="Visio" r:id="rId1" imgW="2315210" imgH="1108710" progId="Visio.Drawing.11">
                    <p:embed/>
                    <p:pic>
                      <p:nvPicPr>
                        <p:cNvPr id="0" name="对象 10"/>
                        <p:cNvPicPr>
                          <a:picLocks noChangeAspect="1" noChangeArrowheads="1"/>
                        </p:cNvPicPr>
                        <p:nvPr/>
                      </p:nvPicPr>
                      <p:blipFill>
                        <a:blip r:embed="rId2"/>
                        <a:srcRect/>
                        <a:stretch>
                          <a:fillRect/>
                        </a:stretch>
                      </p:blipFill>
                      <p:spPr bwMode="auto">
                        <a:xfrm>
                          <a:off x="1185912" y="1961198"/>
                          <a:ext cx="4664254" cy="2212657"/>
                        </a:xfrm>
                        <a:prstGeom prst="rect">
                          <a:avLst/>
                        </a:prstGeom>
                        <a:noFill/>
                        <a:ln>
                          <a:noFill/>
                        </a:ln>
                      </p:spPr>
                    </p:pic>
                  </p:oleObj>
                </mc:Fallback>
              </mc:AlternateContent>
            </a:graphicData>
          </a:graphic>
        </p:graphicFrame>
      </p:grpSp>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294830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、逻辑门控</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2539365" y="1522096"/>
            <a:ext cx="1984413" cy="2546985"/>
            <a:chOff x="2473849" y="1689735"/>
            <a:chExt cx="1984413" cy="2546985"/>
          </a:xfrm>
        </p:grpSpPr>
        <p:sp>
          <p:nvSpPr>
            <p:cNvPr id="23" name="AutoShape 8"/>
            <p:cNvSpPr>
              <a:spLocks noChangeArrowheads="1"/>
            </p:cNvSpPr>
            <p:nvPr/>
          </p:nvSpPr>
          <p:spPr bwMode="auto">
            <a:xfrm>
              <a:off x="2473849" y="2233613"/>
              <a:ext cx="1354455" cy="2003107"/>
            </a:xfrm>
            <a:prstGeom prst="roundRect">
              <a:avLst>
                <a:gd name="adj" fmla="val 9601"/>
              </a:avLst>
            </a:prstGeom>
            <a:solidFill>
              <a:srgbClr val="FF00FF">
                <a:alpha val="17000"/>
              </a:srgbClr>
            </a:solidFill>
            <a:ln w="28575" algn="ctr">
              <a:solidFill>
                <a:schemeClr val="accent1"/>
              </a:solidFill>
              <a:prstDash val="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25" name="AutoShape 7"/>
            <p:cNvSpPr>
              <a:spLocks noChangeArrowheads="1"/>
            </p:cNvSpPr>
            <p:nvPr/>
          </p:nvSpPr>
          <p:spPr bwMode="auto">
            <a:xfrm>
              <a:off x="2966085" y="1689735"/>
              <a:ext cx="1492177" cy="374571"/>
            </a:xfrm>
            <a:prstGeom prst="wedgeRoundRectCallout">
              <a:avLst>
                <a:gd name="adj1" fmla="val -44120"/>
                <a:gd name="adj2" fmla="val 114333"/>
                <a:gd name="adj3" fmla="val 16667"/>
              </a:avLst>
            </a:prstGeom>
            <a:solidFill>
              <a:srgbClr val="FFFF00"/>
            </a:solidFill>
            <a:ln w="19050" algn="ctr">
              <a:solidFill>
                <a:srgbClr val="FF0000"/>
              </a:solidFill>
              <a:miter lim="800000"/>
            </a:ln>
          </p:spPr>
          <p:txBody>
            <a:bodyPr wrap="none">
              <a:spAutoFit/>
            </a:bodyPr>
            <a:lstStyle/>
            <a:p>
              <a:pPr algn="l"/>
              <a:r>
                <a:rPr lang="zh-CN" altLang="en-US" sz="1600" dirty="0">
                  <a:solidFill>
                    <a:srgbClr val="000000"/>
                  </a:solidFill>
                  <a:latin typeface="微软雅黑" panose="020B0503020204020204" pitchFamily="34" charset="-122"/>
                  <a:ea typeface="微软雅黑" panose="020B0503020204020204" pitchFamily="34" charset="-122"/>
                </a:rPr>
                <a:t>基本</a:t>
              </a:r>
              <a:r>
                <a:rPr lang="en-US" altLang="zh-CN" sz="1600" dirty="0">
                  <a:solidFill>
                    <a:srgbClr val="000000"/>
                  </a:solidFill>
                  <a:latin typeface="微软雅黑" panose="020B0503020204020204" pitchFamily="34" charset="-122"/>
                  <a:ea typeface="微软雅黑" panose="020B0503020204020204" pitchFamily="34" charset="-122"/>
                </a:rPr>
                <a:t>SR</a:t>
              </a:r>
              <a:r>
                <a:rPr lang="zh-CN" altLang="en-US" sz="1600" dirty="0">
                  <a:solidFill>
                    <a:srgbClr val="000000"/>
                  </a:solidFill>
                  <a:latin typeface="微软雅黑" panose="020B0503020204020204" pitchFamily="34" charset="-122"/>
                  <a:ea typeface="微软雅黑" panose="020B0503020204020204" pitchFamily="34" charset="-122"/>
                </a:rPr>
                <a:t>锁存器</a:t>
              </a:r>
              <a:endParaRPr lang="en-GB" sz="1600" dirty="0">
                <a:solidFill>
                  <a:srgbClr val="000000"/>
                </a:solidFill>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1473471" y="1969772"/>
            <a:ext cx="1034574" cy="2785983"/>
            <a:chOff x="1357313" y="2126933"/>
            <a:chExt cx="1034574" cy="2785983"/>
          </a:xfrm>
        </p:grpSpPr>
        <p:sp>
          <p:nvSpPr>
            <p:cNvPr id="24" name="AutoShape 8"/>
            <p:cNvSpPr>
              <a:spLocks noChangeArrowheads="1"/>
            </p:cNvSpPr>
            <p:nvPr/>
          </p:nvSpPr>
          <p:spPr bwMode="auto">
            <a:xfrm>
              <a:off x="1668781" y="2126933"/>
              <a:ext cx="659130" cy="2212657"/>
            </a:xfrm>
            <a:prstGeom prst="roundRect">
              <a:avLst>
                <a:gd name="adj" fmla="val 9601"/>
              </a:avLst>
            </a:prstGeom>
            <a:solidFill>
              <a:srgbClr val="FF00FF">
                <a:alpha val="17000"/>
              </a:srgbClr>
            </a:solidFill>
            <a:ln w="28575" algn="ctr">
              <a:solidFill>
                <a:schemeClr val="accent1"/>
              </a:solidFill>
              <a:prstDash val="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26" name="AutoShape 10"/>
            <p:cNvSpPr>
              <a:spLocks noChangeArrowheads="1"/>
            </p:cNvSpPr>
            <p:nvPr/>
          </p:nvSpPr>
          <p:spPr bwMode="auto">
            <a:xfrm>
              <a:off x="1357313" y="4538345"/>
              <a:ext cx="1034574" cy="374571"/>
            </a:xfrm>
            <a:prstGeom prst="wedgeRoundRectCallout">
              <a:avLst>
                <a:gd name="adj1" fmla="val -7236"/>
                <a:gd name="adj2" fmla="val -97769"/>
                <a:gd name="adj3" fmla="val 16667"/>
              </a:avLst>
            </a:prstGeom>
            <a:solidFill>
              <a:srgbClr val="FFFF00"/>
            </a:solidFill>
            <a:ln w="19050">
              <a:solidFill>
                <a:srgbClr val="FF0000"/>
              </a:solidFill>
              <a:miter lim="800000"/>
            </a:ln>
          </p:spPr>
          <p:txBody>
            <a:bodyPr wrap="none">
              <a:spAutoFit/>
            </a:bodyPr>
            <a:lstStyle/>
            <a:p>
              <a:pPr algn="l"/>
              <a:r>
                <a:rPr lang="zh-CN" altLang="en-US" sz="1600" dirty="0">
                  <a:solidFill>
                    <a:srgbClr val="000000"/>
                  </a:solidFill>
                  <a:latin typeface="微软雅黑" panose="020B0503020204020204" pitchFamily="34" charset="-122"/>
                  <a:ea typeface="微软雅黑" panose="020B0503020204020204" pitchFamily="34" charset="-122"/>
                </a:rPr>
                <a:t>门控电路</a:t>
              </a:r>
              <a:endParaRPr lang="en-GB" sz="1600" dirty="0">
                <a:solidFill>
                  <a:srgbClr val="000000"/>
                </a:solidFill>
                <a:latin typeface="微软雅黑" panose="020B0503020204020204" pitchFamily="34" charset="-122"/>
                <a:ea typeface="微软雅黑" panose="020B0503020204020204" pitchFamily="34" charset="-122"/>
              </a:endParaRPr>
            </a:p>
          </p:txBody>
        </p:sp>
      </p:grpSp>
      <p:grpSp>
        <p:nvGrpSpPr>
          <p:cNvPr id="18" name="组合 17"/>
          <p:cNvGrpSpPr/>
          <p:nvPr/>
        </p:nvGrpSpPr>
        <p:grpSpPr>
          <a:xfrm>
            <a:off x="705806" y="2414462"/>
            <a:ext cx="800100" cy="1108472"/>
            <a:chOff x="624840" y="2690495"/>
            <a:chExt cx="800100" cy="1108472"/>
          </a:xfrm>
        </p:grpSpPr>
        <p:sp>
          <p:nvSpPr>
            <p:cNvPr id="27" name="AutoShape 8"/>
            <p:cNvSpPr>
              <a:spLocks noChangeArrowheads="1"/>
            </p:cNvSpPr>
            <p:nvPr/>
          </p:nvSpPr>
          <p:spPr bwMode="auto">
            <a:xfrm>
              <a:off x="1142999" y="3131820"/>
              <a:ext cx="281941" cy="350520"/>
            </a:xfrm>
            <a:prstGeom prst="roundRect">
              <a:avLst>
                <a:gd name="adj" fmla="val 9601"/>
              </a:avLst>
            </a:prstGeom>
            <a:solidFill>
              <a:srgbClr val="FF00FF">
                <a:alpha val="17000"/>
              </a:srgbClr>
            </a:solidFill>
            <a:ln w="28575" algn="ctr">
              <a:solidFill>
                <a:schemeClr val="accent1"/>
              </a:solidFill>
              <a:prstDash val="sys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17" name="AutoShape 10"/>
            <p:cNvSpPr>
              <a:spLocks noChangeArrowheads="1"/>
            </p:cNvSpPr>
            <p:nvPr/>
          </p:nvSpPr>
          <p:spPr bwMode="auto">
            <a:xfrm>
              <a:off x="624840" y="2690495"/>
              <a:ext cx="384810" cy="1108472"/>
            </a:xfrm>
            <a:prstGeom prst="wedgeRoundRectCallout">
              <a:avLst>
                <a:gd name="adj1" fmla="val 79859"/>
                <a:gd name="adj2" fmla="val -6158"/>
                <a:gd name="adj3" fmla="val 16667"/>
              </a:avLst>
            </a:prstGeom>
            <a:solidFill>
              <a:srgbClr val="FFFF00"/>
            </a:solidFill>
            <a:ln w="19050">
              <a:solidFill>
                <a:srgbClr val="FF0000"/>
              </a:solidFill>
              <a:miter lim="800000"/>
            </a:ln>
          </p:spPr>
          <p:txBody>
            <a:bodyPr wrap="square">
              <a:spAutoFit/>
            </a:bodyPr>
            <a:lstStyle/>
            <a:p>
              <a:pPr algn="l"/>
              <a:r>
                <a:rPr lang="zh-CN" altLang="en-US" sz="1600" dirty="0">
                  <a:solidFill>
                    <a:srgbClr val="000000"/>
                  </a:solidFill>
                  <a:latin typeface="微软雅黑" panose="020B0503020204020204" pitchFamily="34" charset="-122"/>
                  <a:ea typeface="微软雅黑" panose="020B0503020204020204" pitchFamily="34" charset="-122"/>
                </a:rPr>
                <a:t>时钟信号</a:t>
              </a:r>
              <a:endParaRPr lang="en-GB" sz="1600" dirty="0">
                <a:solidFill>
                  <a:srgbClr val="000000"/>
                </a:solidFill>
                <a:latin typeface="微软雅黑" panose="020B0503020204020204" pitchFamily="34" charset="-122"/>
                <a:ea typeface="微软雅黑" panose="020B0503020204020204"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8"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1000" fill="hold"/>
                                        <p:tgtEl>
                                          <p:spTgt spid="19"/>
                                        </p:tgtEl>
                                        <p:attrNameLst>
                                          <p:attrName>ppt_x</p:attrName>
                                        </p:attrNameLst>
                                      </p:cBhvr>
                                      <p:tavLst>
                                        <p:tav tm="0">
                                          <p:val>
                                            <p:strVal val="#ppt_x-#ppt_w/2"/>
                                          </p:val>
                                        </p:tav>
                                        <p:tav tm="100000">
                                          <p:val>
                                            <p:strVal val="#ppt_x"/>
                                          </p:val>
                                        </p:tav>
                                      </p:tavLst>
                                    </p:anim>
                                    <p:anim calcmode="lin" valueType="num">
                                      <p:cBhvr>
                                        <p:cTn id="15" dur="1000" fill="hold"/>
                                        <p:tgtEl>
                                          <p:spTgt spid="19"/>
                                        </p:tgtEl>
                                        <p:attrNameLst>
                                          <p:attrName>ppt_y</p:attrName>
                                        </p:attrNameLst>
                                      </p:cBhvr>
                                      <p:tavLst>
                                        <p:tav tm="0">
                                          <p:val>
                                            <p:strVal val="#ppt_y"/>
                                          </p:val>
                                        </p:tav>
                                        <p:tav tm="100000">
                                          <p:val>
                                            <p:strVal val="#ppt_y"/>
                                          </p:val>
                                        </p:tav>
                                      </p:tavLst>
                                    </p:anim>
                                    <p:anim calcmode="lin" valueType="num">
                                      <p:cBhvr>
                                        <p:cTn id="16" dur="1000" fill="hold"/>
                                        <p:tgtEl>
                                          <p:spTgt spid="19"/>
                                        </p:tgtEl>
                                        <p:attrNameLst>
                                          <p:attrName>ppt_w</p:attrName>
                                        </p:attrNameLst>
                                      </p:cBhvr>
                                      <p:tavLst>
                                        <p:tav tm="0">
                                          <p:val>
                                            <p:fltVal val="0"/>
                                          </p:val>
                                        </p:tav>
                                        <p:tav tm="100000">
                                          <p:val>
                                            <p:strVal val="#ppt_w"/>
                                          </p:val>
                                        </p:tav>
                                      </p:tavLst>
                                    </p:anim>
                                    <p:anim calcmode="lin" valueType="num">
                                      <p:cBhvr>
                                        <p:cTn id="17" dur="1000" fill="hold"/>
                                        <p:tgtEl>
                                          <p:spTgt spid="19"/>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1"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ppt_h/2"/>
                                          </p:val>
                                        </p:tav>
                                        <p:tav tm="100000">
                                          <p:val>
                                            <p:strVal val="#ppt_y"/>
                                          </p:val>
                                        </p:tav>
                                      </p:tavLst>
                                    </p:anim>
                                    <p:anim calcmode="lin" valueType="num">
                                      <p:cBhvr>
                                        <p:cTn id="24" dur="1000" fill="hold"/>
                                        <p:tgtEl>
                                          <p:spTgt spid="20"/>
                                        </p:tgtEl>
                                        <p:attrNameLst>
                                          <p:attrName>ppt_w</p:attrName>
                                        </p:attrNameLst>
                                      </p:cBhvr>
                                      <p:tavLst>
                                        <p:tav tm="0">
                                          <p:val>
                                            <p:strVal val="#ppt_w"/>
                                          </p:val>
                                        </p:tav>
                                        <p:tav tm="100000">
                                          <p:val>
                                            <p:strVal val="#ppt_w"/>
                                          </p:val>
                                        </p:tav>
                                      </p:tavLst>
                                    </p:anim>
                                    <p:anim calcmode="lin" valueType="num">
                                      <p:cBhvr>
                                        <p:cTn id="25" dur="1000" fill="hold"/>
                                        <p:tgtEl>
                                          <p:spTgt spid="20"/>
                                        </p:tgtEl>
                                        <p:attrNameLst>
                                          <p:attrName>ppt_h</p:attrName>
                                        </p:attrNameLst>
                                      </p:cBhvr>
                                      <p:tavLst>
                                        <p:tav tm="0">
                                          <p:val>
                                            <p:fltVal val="0"/>
                                          </p:val>
                                        </p:tav>
                                        <p:tav tm="100000">
                                          <p:val>
                                            <p:strVal val="#ppt_h"/>
                                          </p:val>
                                        </p:tav>
                                      </p:tavLst>
                                    </p:anim>
                                  </p:childTnLst>
                                </p:cTn>
                              </p:par>
                            </p:childTnLst>
                          </p:cTn>
                        </p:par>
                        <p:par>
                          <p:cTn id="26" fill="hold">
                            <p:stCondLst>
                              <p:cond delay="1000"/>
                            </p:stCondLst>
                            <p:childTnLst>
                              <p:par>
                                <p:cTn id="27" presetID="17" presetClass="entr" presetSubtype="2"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p:cTn id="29" dur="1000" fill="hold"/>
                                        <p:tgtEl>
                                          <p:spTgt spid="18"/>
                                        </p:tgtEl>
                                        <p:attrNameLst>
                                          <p:attrName>ppt_x</p:attrName>
                                        </p:attrNameLst>
                                      </p:cBhvr>
                                      <p:tavLst>
                                        <p:tav tm="0">
                                          <p:val>
                                            <p:strVal val="#ppt_x+#ppt_w/2"/>
                                          </p:val>
                                        </p:tav>
                                        <p:tav tm="100000">
                                          <p:val>
                                            <p:strVal val="#ppt_x"/>
                                          </p:val>
                                        </p:tav>
                                      </p:tavLst>
                                    </p:anim>
                                    <p:anim calcmode="lin" valueType="num">
                                      <p:cBhvr>
                                        <p:cTn id="30" dur="1000" fill="hold"/>
                                        <p:tgtEl>
                                          <p:spTgt spid="18"/>
                                        </p:tgtEl>
                                        <p:attrNameLst>
                                          <p:attrName>ppt_y</p:attrName>
                                        </p:attrNameLst>
                                      </p:cBhvr>
                                      <p:tavLst>
                                        <p:tav tm="0">
                                          <p:val>
                                            <p:strVal val="#ppt_y"/>
                                          </p:val>
                                        </p:tav>
                                        <p:tav tm="100000">
                                          <p:val>
                                            <p:strVal val="#ppt_y"/>
                                          </p:val>
                                        </p:tav>
                                      </p:tavLst>
                                    </p:anim>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剪去对角 38"/>
          <p:cNvSpPr/>
          <p:nvPr/>
        </p:nvSpPr>
        <p:spPr>
          <a:xfrm>
            <a:off x="735332" y="1823086"/>
            <a:ext cx="2973386" cy="2276518"/>
          </a:xfrm>
          <a:prstGeom prst="snip2DiagRect">
            <a:avLst>
              <a:gd name="adj1" fmla="val 0"/>
              <a:gd name="adj2" fmla="val 11187"/>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对象 27"/>
          <p:cNvGraphicFramePr>
            <a:graphicFrameLocks noChangeAspect="1"/>
          </p:cNvGraphicFramePr>
          <p:nvPr/>
        </p:nvGraphicFramePr>
        <p:xfrm>
          <a:off x="735332" y="1790572"/>
          <a:ext cx="2973386" cy="2375706"/>
        </p:xfrm>
        <a:graphic>
          <a:graphicData uri="http://schemas.openxmlformats.org/presentationml/2006/ole">
            <mc:AlternateContent xmlns:mc="http://schemas.openxmlformats.org/markup-compatibility/2006">
              <mc:Choice xmlns:v="urn:schemas-microsoft-com:vml" Requires="v">
                <p:oleObj spid="_x0000_s10247" name="Visio" r:id="rId1" imgW="1409700" imgH="1085850" progId="Visio.Drawing.11">
                  <p:embed/>
                </p:oleObj>
              </mc:Choice>
              <mc:Fallback>
                <p:oleObj name="Visio" r:id="rId1" imgW="1409700" imgH="1085850" progId="Visio.Drawing.11">
                  <p:embed/>
                  <p:pic>
                    <p:nvPicPr>
                      <p:cNvPr id="0" name="对象 27"/>
                      <p:cNvPicPr>
                        <a:picLocks noChangeAspect="1" noChangeArrowheads="1"/>
                      </p:cNvPicPr>
                      <p:nvPr/>
                    </p:nvPicPr>
                    <p:blipFill>
                      <a:blip r:embed="rId2"/>
                      <a:srcRect/>
                      <a:stretch>
                        <a:fillRect/>
                      </a:stretch>
                    </p:blipFill>
                    <p:spPr bwMode="auto">
                      <a:xfrm>
                        <a:off x="735332" y="1790572"/>
                        <a:ext cx="2973386" cy="2375706"/>
                      </a:xfrm>
                      <a:prstGeom prst="rect">
                        <a:avLst/>
                      </a:prstGeom>
                      <a:noFill/>
                      <a:ln>
                        <a:noFill/>
                      </a:ln>
                    </p:spPr>
                  </p:pic>
                </p:oleObj>
              </mc:Fallback>
            </mc:AlternateContent>
          </a:graphicData>
        </a:graphic>
      </p:graphicFrame>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332295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、逻辑门控</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4" name="Oval 36"/>
          <p:cNvSpPr>
            <a:spLocks noChangeArrowheads="1"/>
          </p:cNvSpPr>
          <p:nvPr/>
        </p:nvSpPr>
        <p:spPr bwMode="auto">
          <a:xfrm>
            <a:off x="1045395" y="2604777"/>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1975035" y="2025657"/>
            <a:ext cx="252000" cy="1897920"/>
            <a:chOff x="2310130" y="2471103"/>
            <a:chExt cx="252000" cy="1897920"/>
          </a:xfrm>
        </p:grpSpPr>
        <p:sp>
          <p:nvSpPr>
            <p:cNvPr id="15" name="Oval 36"/>
            <p:cNvSpPr>
              <a:spLocks noChangeArrowheads="1"/>
            </p:cNvSpPr>
            <p:nvPr/>
          </p:nvSpPr>
          <p:spPr bwMode="auto">
            <a:xfrm>
              <a:off x="2310130" y="247110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Oval 36"/>
            <p:cNvSpPr>
              <a:spLocks noChangeArrowheads="1"/>
            </p:cNvSpPr>
            <p:nvPr/>
          </p:nvSpPr>
          <p:spPr bwMode="auto">
            <a:xfrm>
              <a:off x="2310130" y="411702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6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4" name="组合 23"/>
          <p:cNvGrpSpPr/>
          <p:nvPr/>
        </p:nvGrpSpPr>
        <p:grpSpPr>
          <a:xfrm>
            <a:off x="1970025" y="2025657"/>
            <a:ext cx="252000" cy="1890300"/>
            <a:chOff x="4070350" y="2676843"/>
            <a:chExt cx="252000" cy="1890300"/>
          </a:xfrm>
        </p:grpSpPr>
        <p:sp>
          <p:nvSpPr>
            <p:cNvPr id="17" name="Oval 36"/>
            <p:cNvSpPr>
              <a:spLocks noChangeArrowheads="1"/>
            </p:cNvSpPr>
            <p:nvPr/>
          </p:nvSpPr>
          <p:spPr bwMode="auto">
            <a:xfrm>
              <a:off x="4070350" y="267684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a:t>
              </a:r>
              <a:endParaRPr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Oval 36"/>
            <p:cNvSpPr>
              <a:spLocks noChangeArrowheads="1"/>
            </p:cNvSpPr>
            <p:nvPr/>
          </p:nvSpPr>
          <p:spPr bwMode="auto">
            <a:xfrm>
              <a:off x="4070350" y="431514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a:t>
              </a:r>
              <a:endParaRPr lang="en-US" altLang="zh-CN" sz="1600" b="1"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3" name="Oval 36"/>
          <p:cNvSpPr>
            <a:spLocks noChangeArrowheads="1"/>
          </p:cNvSpPr>
          <p:nvPr/>
        </p:nvSpPr>
        <p:spPr bwMode="auto">
          <a:xfrm>
            <a:off x="1050592" y="2604777"/>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31" name="组合 30"/>
          <p:cNvGrpSpPr/>
          <p:nvPr/>
        </p:nvGrpSpPr>
        <p:grpSpPr>
          <a:xfrm>
            <a:off x="4203739" y="1606502"/>
            <a:ext cx="3033988" cy="369332"/>
            <a:chOff x="4207552" y="2083753"/>
            <a:chExt cx="3033988" cy="369332"/>
          </a:xfrm>
        </p:grpSpPr>
        <p:sp>
          <p:nvSpPr>
            <p:cNvPr id="22" name="Text Box 12"/>
            <p:cNvSpPr txBox="1">
              <a:spLocks noChangeArrowheads="1"/>
            </p:cNvSpPr>
            <p:nvPr/>
          </p:nvSpPr>
          <p:spPr bwMode="auto">
            <a:xfrm>
              <a:off x="4547553" y="2083753"/>
              <a:ext cx="2693987" cy="369332"/>
            </a:xfrm>
            <a:prstGeom prst="rect">
              <a:avLst/>
            </a:prstGeom>
            <a:noFill/>
            <a:ln w="9525">
              <a:noFill/>
              <a:miter lim="800000"/>
            </a:ln>
          </p:spPr>
          <p:txBody>
            <a:bodyPr>
              <a:spAutoFit/>
            </a:bodyPr>
            <a:lstStyle/>
            <a:p>
              <a:pPr algn="l"/>
              <a:r>
                <a:rPr kumimoji="1" lang="en-US" altLang="zh-CN" b="1" i="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en-US" altLang="zh-CN"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9" name="Picture 5"/>
            <p:cNvPicPr>
              <a:picLocks noChangeAspect="1" noChangeArrowheads="1"/>
            </p:cNvPicPr>
            <p:nvPr/>
          </p:nvPicPr>
          <p:blipFill>
            <a:blip r:embed="rId4" cstate="print"/>
            <a:srcRect/>
            <a:stretch>
              <a:fillRect/>
            </a:stretch>
          </p:blipFill>
          <p:spPr bwMode="auto">
            <a:xfrm>
              <a:off x="4207552" y="2107376"/>
              <a:ext cx="360000" cy="286209"/>
            </a:xfrm>
            <a:prstGeom prst="rect">
              <a:avLst/>
            </a:prstGeom>
            <a:noFill/>
            <a:ln w="9525">
              <a:noFill/>
              <a:miter lim="800000"/>
              <a:headEnd/>
              <a:tailEnd/>
            </a:ln>
          </p:spPr>
        </p:pic>
      </p:grpSp>
      <p:grpSp>
        <p:nvGrpSpPr>
          <p:cNvPr id="32" name="组合 31"/>
          <p:cNvGrpSpPr/>
          <p:nvPr/>
        </p:nvGrpSpPr>
        <p:grpSpPr>
          <a:xfrm>
            <a:off x="4203739" y="1985914"/>
            <a:ext cx="4566881" cy="406778"/>
            <a:chOff x="4207552" y="2463165"/>
            <a:chExt cx="4566881" cy="406778"/>
          </a:xfrm>
        </p:grpSpPr>
        <p:sp>
          <p:nvSpPr>
            <p:cNvPr id="21" name="Text Box 11"/>
            <p:cNvSpPr txBox="1">
              <a:spLocks noChangeArrowheads="1"/>
            </p:cNvSpPr>
            <p:nvPr/>
          </p:nvSpPr>
          <p:spPr bwMode="auto">
            <a:xfrm>
              <a:off x="4547553" y="2463165"/>
              <a:ext cx="4226880" cy="406778"/>
            </a:xfrm>
            <a:prstGeom prst="rect">
              <a:avLst/>
            </a:prstGeom>
            <a:noFill/>
            <a:ln w="9525">
              <a:noFill/>
              <a:miter lim="800000"/>
            </a:ln>
          </p:spPr>
          <p:txBody>
            <a:bodyPr wrap="square">
              <a:spAutoFit/>
            </a:bodyPr>
            <a:lstStyle/>
            <a:p>
              <a:pPr marL="541655" indent="-541655" algn="l">
                <a:lnSpc>
                  <a:spcPct val="125000"/>
                </a:lnSpc>
              </a:pPr>
              <a:r>
                <a:rPr kumimoji="1" lang="en-US" altLang="zh-CN" b="1" i="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en-US" altLang="zh-CN"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电路的状态由</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en-US"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的状态决定。</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0" name="Picture 5"/>
            <p:cNvPicPr>
              <a:picLocks noChangeAspect="1" noChangeArrowheads="1"/>
            </p:cNvPicPr>
            <p:nvPr/>
          </p:nvPicPr>
          <p:blipFill>
            <a:blip r:embed="rId4" cstate="print"/>
            <a:srcRect/>
            <a:stretch>
              <a:fillRect/>
            </a:stretch>
          </p:blipFill>
          <p:spPr bwMode="auto">
            <a:xfrm>
              <a:off x="4207552" y="2549336"/>
              <a:ext cx="360000" cy="286209"/>
            </a:xfrm>
            <a:prstGeom prst="rect">
              <a:avLst/>
            </a:prstGeom>
            <a:noFill/>
            <a:ln w="9525">
              <a:noFill/>
              <a:miter lim="800000"/>
              <a:headEnd/>
              <a:tailEnd/>
            </a:ln>
          </p:spPr>
        </p:pic>
      </p:grpSp>
      <p:grpSp>
        <p:nvGrpSpPr>
          <p:cNvPr id="38" name="组合 37"/>
          <p:cNvGrpSpPr/>
          <p:nvPr/>
        </p:nvGrpSpPr>
        <p:grpSpPr>
          <a:xfrm>
            <a:off x="4606287" y="2509789"/>
            <a:ext cx="3420000" cy="1432710"/>
            <a:chOff x="4610100" y="2987040"/>
            <a:chExt cx="3924000" cy="1432710"/>
          </a:xfrm>
        </p:grpSpPr>
        <p:sp>
          <p:nvSpPr>
            <p:cNvPr id="34" name="五边形 33"/>
            <p:cNvSpPr/>
            <p:nvPr/>
          </p:nvSpPr>
          <p:spPr>
            <a:xfrm>
              <a:off x="4610100" y="2987040"/>
              <a:ext cx="3924000" cy="324000"/>
            </a:xfrm>
            <a:prstGeom prst="homePlate">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gra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R=0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rPr>
                <a:t>Q</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n+1</a:t>
              </a:r>
              <a:r>
                <a:rPr kumimoji="1" lang="zh-CN" altLang="en-US" sz="1600" dirty="0">
                  <a:solidFill>
                    <a:srgbClr val="000000"/>
                  </a:solidFill>
                  <a:latin typeface="Times New Roman" panose="02020603050405020304" pitchFamily="18" charset="0"/>
                  <a:cs typeface="Times New Roman" panose="02020603050405020304" pitchFamily="18" charset="0"/>
                </a:rPr>
                <a:t>＝</a:t>
              </a:r>
              <a:r>
                <a:rPr kumimoji="1" lang="en-US" altLang="zh-CN" sz="1600" i="1" dirty="0" err="1">
                  <a:solidFill>
                    <a:srgbClr val="000000"/>
                  </a:solidFill>
                  <a:latin typeface="Times New Roman" panose="02020603050405020304" pitchFamily="18" charset="0"/>
                  <a:cs typeface="Times New Roman" panose="02020603050405020304" pitchFamily="18" charset="0"/>
                </a:rPr>
                <a:t>Q</a:t>
              </a:r>
              <a:r>
                <a:rPr kumimoji="1" lang="en-US" altLang="zh-CN" sz="1600" baseline="30000" dirty="0" err="1">
                  <a:solidFill>
                    <a:srgbClr val="000000"/>
                  </a:solidFill>
                  <a:latin typeface="Times New Roman" panose="02020603050405020304" pitchFamily="18" charset="0"/>
                  <a:cs typeface="Times New Roman" panose="02020603050405020304" pitchFamily="18" charset="0"/>
                </a:rPr>
                <a:t>n</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  </a:t>
              </a:r>
              <a:r>
                <a:rPr kumimoji="1" lang="zh-CN" altLang="en-US" sz="1600"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（保持）</a:t>
              </a:r>
              <a:endParaRPr lang="zh-CN" altLang="en-US" sz="1600" dirty="0"/>
            </a:p>
          </p:txBody>
        </p:sp>
        <p:sp>
          <p:nvSpPr>
            <p:cNvPr id="35" name="五边形 34"/>
            <p:cNvSpPr/>
            <p:nvPr/>
          </p:nvSpPr>
          <p:spPr>
            <a:xfrm>
              <a:off x="4610100" y="3345180"/>
              <a:ext cx="3924000" cy="324000"/>
            </a:xfrm>
            <a:prstGeom prst="homePlate">
              <a:avLst/>
            </a:prstGeom>
            <a:solidFill>
              <a:srgbClr val="FFFF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rPr>
                <a:t>Q</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n+1</a:t>
              </a:r>
              <a:r>
                <a:rPr kumimoji="1" lang="zh-CN" altLang="en-US" sz="1600" dirty="0">
                  <a:solidFill>
                    <a:srgbClr val="000000"/>
                  </a:solidFill>
                  <a:latin typeface="Times New Roman" panose="02020603050405020304" pitchFamily="18" charset="0"/>
                  <a:cs typeface="Times New Roman" panose="02020603050405020304" pitchFamily="18" charset="0"/>
                </a:rPr>
                <a:t>＝</a:t>
              </a:r>
              <a:r>
                <a:rPr kumimoji="1" lang="en-US" altLang="zh-CN" sz="1600" dirty="0">
                  <a:solidFill>
                    <a:srgbClr val="000000"/>
                  </a:solidFill>
                  <a:latin typeface="Times New Roman" panose="02020603050405020304" pitchFamily="18" charset="0"/>
                  <a:cs typeface="Times New Roman" panose="02020603050405020304" pitchFamily="18" charset="0"/>
                </a:rPr>
                <a:t>0    </a:t>
              </a:r>
              <a:r>
                <a:rPr kumimoji="1" lang="zh-CN" altLang="en-US" sz="1600"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（复位）</a:t>
              </a:r>
              <a:endParaRPr lang="zh-CN" altLang="en-US" sz="1600" dirty="0"/>
            </a:p>
          </p:txBody>
        </p:sp>
        <p:sp>
          <p:nvSpPr>
            <p:cNvPr id="36" name="五边形 35"/>
            <p:cNvSpPr/>
            <p:nvPr/>
          </p:nvSpPr>
          <p:spPr>
            <a:xfrm>
              <a:off x="4610100" y="3718560"/>
              <a:ext cx="3924000" cy="324000"/>
            </a:xfrm>
            <a:prstGeom prst="homePlate">
              <a:avLst/>
            </a:prstGeom>
            <a:solidFill>
              <a:schemeClr val="accent1">
                <a:lumMod val="40000"/>
                <a:lumOff val="60000"/>
              </a:schemeClr>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R=0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rPr>
                <a:t>Q</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n+1</a:t>
              </a:r>
              <a:r>
                <a:rPr kumimoji="1" lang="zh-CN" altLang="en-US" sz="1600" dirty="0">
                  <a:solidFill>
                    <a:srgbClr val="000000"/>
                  </a:solidFill>
                  <a:latin typeface="Times New Roman" panose="02020603050405020304" pitchFamily="18" charset="0"/>
                  <a:cs typeface="Times New Roman" panose="02020603050405020304" pitchFamily="18" charset="0"/>
                </a:rPr>
                <a:t>＝</a:t>
              </a:r>
              <a:r>
                <a:rPr kumimoji="1" lang="en-US" altLang="zh-CN" sz="1600" dirty="0">
                  <a:solidFill>
                    <a:srgbClr val="000000"/>
                  </a:solidFill>
                  <a:latin typeface="Times New Roman" panose="02020603050405020304" pitchFamily="18" charset="0"/>
                  <a:cs typeface="Times New Roman" panose="02020603050405020304" pitchFamily="18" charset="0"/>
                </a:rPr>
                <a:t>1    </a:t>
              </a:r>
              <a:r>
                <a:rPr kumimoji="1" lang="zh-CN" altLang="en-US" sz="1600"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（置位）</a:t>
              </a:r>
              <a:endParaRPr lang="zh-CN" altLang="en-US" sz="1600" dirty="0"/>
            </a:p>
          </p:txBody>
        </p:sp>
        <p:sp>
          <p:nvSpPr>
            <p:cNvPr id="37" name="五边形 36"/>
            <p:cNvSpPr/>
            <p:nvPr/>
          </p:nvSpPr>
          <p:spPr>
            <a:xfrm>
              <a:off x="4610100" y="4095750"/>
              <a:ext cx="3924000" cy="324000"/>
            </a:xfrm>
            <a:prstGeom prst="homePlate">
              <a:avLst/>
            </a:prstGeom>
            <a:solidFill>
              <a:srgbClr val="66FF66"/>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④ R=1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i="1" dirty="0">
                  <a:solidFill>
                    <a:srgbClr val="000000"/>
                  </a:solidFill>
                  <a:latin typeface="Times New Roman" panose="02020603050405020304" pitchFamily="18" charset="0"/>
                  <a:cs typeface="Times New Roman" panose="02020603050405020304" pitchFamily="18" charset="0"/>
                </a:rPr>
                <a:t>Q</a:t>
              </a:r>
              <a:r>
                <a:rPr kumimoji="1" lang="en-US" altLang="zh-CN" sz="1600" baseline="30000" dirty="0">
                  <a:solidFill>
                    <a:srgbClr val="000000"/>
                  </a:solidFill>
                  <a:latin typeface="Times New Roman" panose="02020603050405020304" pitchFamily="18" charset="0"/>
                  <a:cs typeface="Times New Roman" panose="02020603050405020304" pitchFamily="18" charset="0"/>
                </a:rPr>
                <a:t>n+1</a:t>
              </a:r>
              <a:r>
                <a:rPr kumimoji="1" lang="zh-CN" altLang="en-US" sz="1600" dirty="0">
                  <a:solidFill>
                    <a:srgbClr val="000000"/>
                  </a:solidFill>
                  <a:latin typeface="Times New Roman" panose="02020603050405020304" pitchFamily="18" charset="0"/>
                  <a:cs typeface="Times New Roman" panose="02020603050405020304" pitchFamily="18" charset="0"/>
                </a:rPr>
                <a:t>＝</a:t>
              </a:r>
              <a:r>
                <a:rPr kumimoji="1" lang="en-US" altLang="zh-CN" sz="1600" dirty="0">
                  <a:solidFill>
                    <a:srgbClr val="000000"/>
                  </a:solidFill>
                  <a:latin typeface="Times New Roman" panose="02020603050405020304" pitchFamily="18" charset="0"/>
                  <a:cs typeface="Times New Roman" panose="02020603050405020304" pitchFamily="18" charset="0"/>
                </a:rPr>
                <a:t>0</a:t>
              </a:r>
              <a:r>
                <a:rPr kumimoji="1" lang="en-US" altLang="zh-CN" sz="1600" i="1" dirty="0">
                  <a:solidFill>
                    <a:srgbClr val="000000"/>
                  </a:solidFill>
                  <a:latin typeface="Times New Roman" panose="02020603050405020304" pitchFamily="18" charset="0"/>
                  <a:cs typeface="Times New Roman" panose="02020603050405020304" pitchFamily="18" charset="0"/>
                </a:rPr>
                <a:t>※</a:t>
              </a:r>
              <a:r>
                <a:rPr kumimoji="1" lang="zh-CN" altLang="en-US" sz="1600"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（禁止态）</a:t>
              </a:r>
              <a:endParaRPr lang="zh-CN" altLang="en-US" sz="1600" dirty="0"/>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1000"/>
                                        <p:tgtEl>
                                          <p:spTgt spid="14"/>
                                        </p:tgtEl>
                                        <p:attrNameLst>
                                          <p:attrName>ppt_x</p:attrName>
                                        </p:attrNameLst>
                                      </p:cBhvr>
                                      <p:tavLst>
                                        <p:tav tm="0">
                                          <p:val>
                                            <p:strVal val="#ppt_x-#ppt_w*1.125000"/>
                                          </p:val>
                                        </p:tav>
                                        <p:tav tm="100000">
                                          <p:val>
                                            <p:strVal val="#ppt_x"/>
                                          </p:val>
                                        </p:tav>
                                      </p:tavLst>
                                    </p:anim>
                                    <p:animEffect transition="in" filter="wipe(right)">
                                      <p:cBhvr>
                                        <p:cTn id="8" dur="1000"/>
                                        <p:tgtEl>
                                          <p:spTgt spid="14"/>
                                        </p:tgtEl>
                                      </p:cBhvr>
                                    </p:animEffect>
                                  </p:childTnLst>
                                </p:cTn>
                              </p:par>
                            </p:childTnLst>
                          </p:cTn>
                        </p:par>
                        <p:par>
                          <p:cTn id="9" fill="hold">
                            <p:stCondLst>
                              <p:cond delay="1000"/>
                            </p:stCondLst>
                            <p:childTnLst>
                              <p:par>
                                <p:cTn id="10" presetID="12" presetClass="entr" presetSubtype="8" fill="hold" nodeType="after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additive="base">
                                        <p:cTn id="12" dur="1000"/>
                                        <p:tgtEl>
                                          <p:spTgt spid="19"/>
                                        </p:tgtEl>
                                        <p:attrNameLst>
                                          <p:attrName>ppt_x</p:attrName>
                                        </p:attrNameLst>
                                      </p:cBhvr>
                                      <p:tavLst>
                                        <p:tav tm="0">
                                          <p:val>
                                            <p:strVal val="#ppt_x-#ppt_w*1.125000"/>
                                          </p:val>
                                        </p:tav>
                                        <p:tav tm="100000">
                                          <p:val>
                                            <p:strVal val="#ppt_x"/>
                                          </p:val>
                                        </p:tav>
                                      </p:tavLst>
                                    </p:anim>
                                    <p:animEffect transition="in" filter="wipe(right)">
                                      <p:cBhvr>
                                        <p:cTn id="13" dur="1000"/>
                                        <p:tgtEl>
                                          <p:spTgt spid="19"/>
                                        </p:tgtEl>
                                      </p:cBhvr>
                                    </p:animEffect>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1000"/>
                                        <p:tgtEl>
                                          <p:spTgt spid="31"/>
                                        </p:tgtEl>
                                      </p:cBhvr>
                                    </p:animEffect>
                                    <p:anim calcmode="lin" valueType="num">
                                      <p:cBhvr>
                                        <p:cTn id="18" dur="1000" fill="hold"/>
                                        <p:tgtEl>
                                          <p:spTgt spid="31"/>
                                        </p:tgtEl>
                                        <p:attrNameLst>
                                          <p:attrName>ppt_x</p:attrName>
                                        </p:attrNameLst>
                                      </p:cBhvr>
                                      <p:tavLst>
                                        <p:tav tm="0">
                                          <p:val>
                                            <p:strVal val="#ppt_x"/>
                                          </p:val>
                                        </p:tav>
                                        <p:tav tm="100000">
                                          <p:val>
                                            <p:strVal val="#ppt_x"/>
                                          </p:val>
                                        </p:tav>
                                      </p:tavLst>
                                    </p:anim>
                                    <p:anim calcmode="lin" valueType="num">
                                      <p:cBhvr>
                                        <p:cTn id="1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 calcmode="lin" valueType="num">
                                      <p:cBhvr additive="base">
                                        <p:cTn id="24" dur="1000"/>
                                        <p:tgtEl>
                                          <p:spTgt spid="23"/>
                                        </p:tgtEl>
                                        <p:attrNameLst>
                                          <p:attrName>ppt_y</p:attrName>
                                        </p:attrNameLst>
                                      </p:cBhvr>
                                      <p:tavLst>
                                        <p:tav tm="0">
                                          <p:val>
                                            <p:strVal val="#ppt_y+#ppt_h*1.125000"/>
                                          </p:val>
                                        </p:tav>
                                        <p:tav tm="100000">
                                          <p:val>
                                            <p:strVal val="#ppt_y"/>
                                          </p:val>
                                        </p:tav>
                                      </p:tavLst>
                                    </p:anim>
                                    <p:animEffect transition="in" filter="wipe(up)">
                                      <p:cBhvr>
                                        <p:cTn id="25" dur="1000"/>
                                        <p:tgtEl>
                                          <p:spTgt spid="23"/>
                                        </p:tgtEl>
                                      </p:cBhvr>
                                    </p:animEffect>
                                  </p:childTnLst>
                                </p:cTn>
                              </p:par>
                            </p:childTnLst>
                          </p:cTn>
                        </p:par>
                        <p:par>
                          <p:cTn id="26" fill="hold">
                            <p:stCondLst>
                              <p:cond delay="1000"/>
                            </p:stCondLst>
                            <p:childTnLst>
                              <p:par>
                                <p:cTn id="27" presetID="12" presetClass="entr" presetSubtype="4"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1000"/>
                                        <p:tgtEl>
                                          <p:spTgt spid="24"/>
                                        </p:tgtEl>
                                        <p:attrNameLst>
                                          <p:attrName>ppt_y</p:attrName>
                                        </p:attrNameLst>
                                      </p:cBhvr>
                                      <p:tavLst>
                                        <p:tav tm="0">
                                          <p:val>
                                            <p:strVal val="#ppt_y+#ppt_h*1.125000"/>
                                          </p:val>
                                        </p:tav>
                                        <p:tav tm="100000">
                                          <p:val>
                                            <p:strVal val="#ppt_y"/>
                                          </p:val>
                                        </p:tav>
                                      </p:tavLst>
                                    </p:anim>
                                    <p:animEffect transition="in" filter="wipe(up)">
                                      <p:cBhvr>
                                        <p:cTn id="30" dur="1000"/>
                                        <p:tgtEl>
                                          <p:spTgt spid="24"/>
                                        </p:tgtEl>
                                      </p:cBhvr>
                                    </p:animEffect>
                                  </p:childTnLst>
                                </p:cTn>
                              </p:par>
                            </p:childTnLst>
                          </p:cTn>
                        </p:par>
                        <p:par>
                          <p:cTn id="31" fill="hold">
                            <p:stCondLst>
                              <p:cond delay="2000"/>
                            </p:stCondLst>
                            <p:childTnLst>
                              <p:par>
                                <p:cTn id="32" presetID="42" presetClass="entr" presetSubtype="0" fill="hold" nodeType="after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8" fill="hold" nodeType="clickEffect">
                                  <p:stCondLst>
                                    <p:cond delay="0"/>
                                  </p:stCondLst>
                                  <p:childTnLst>
                                    <p:set>
                                      <p:cBhvr>
                                        <p:cTn id="40" dur="1" fill="hold">
                                          <p:stCondLst>
                                            <p:cond delay="0"/>
                                          </p:stCondLst>
                                        </p:cTn>
                                        <p:tgtEl>
                                          <p:spTgt spid="38"/>
                                        </p:tgtEl>
                                        <p:attrNameLst>
                                          <p:attrName>style.visibility</p:attrName>
                                        </p:attrNameLst>
                                      </p:cBhvr>
                                      <p:to>
                                        <p:strVal val="visible"/>
                                      </p:to>
                                    </p:set>
                                    <p:anim calcmode="lin" valueType="num">
                                      <p:cBhvr>
                                        <p:cTn id="41" dur="1000" fill="hold"/>
                                        <p:tgtEl>
                                          <p:spTgt spid="38"/>
                                        </p:tgtEl>
                                        <p:attrNameLst>
                                          <p:attrName>ppt_x</p:attrName>
                                        </p:attrNameLst>
                                      </p:cBhvr>
                                      <p:tavLst>
                                        <p:tav tm="0">
                                          <p:val>
                                            <p:strVal val="#ppt_x-#ppt_w/2"/>
                                          </p:val>
                                        </p:tav>
                                        <p:tav tm="100000">
                                          <p:val>
                                            <p:strVal val="#ppt_x"/>
                                          </p:val>
                                        </p:tav>
                                      </p:tavLst>
                                    </p:anim>
                                    <p:anim calcmode="lin" valueType="num">
                                      <p:cBhvr>
                                        <p:cTn id="42" dur="1000" fill="hold"/>
                                        <p:tgtEl>
                                          <p:spTgt spid="38"/>
                                        </p:tgtEl>
                                        <p:attrNameLst>
                                          <p:attrName>ppt_y</p:attrName>
                                        </p:attrNameLst>
                                      </p:cBhvr>
                                      <p:tavLst>
                                        <p:tav tm="0">
                                          <p:val>
                                            <p:strVal val="#ppt_y"/>
                                          </p:val>
                                        </p:tav>
                                        <p:tav tm="100000">
                                          <p:val>
                                            <p:strVal val="#ppt_y"/>
                                          </p:val>
                                        </p:tav>
                                      </p:tavLst>
                                    </p:anim>
                                    <p:anim calcmode="lin" valueType="num">
                                      <p:cBhvr>
                                        <p:cTn id="43" dur="1000" fill="hold"/>
                                        <p:tgtEl>
                                          <p:spTgt spid="38"/>
                                        </p:tgtEl>
                                        <p:attrNameLst>
                                          <p:attrName>ppt_w</p:attrName>
                                        </p:attrNameLst>
                                      </p:cBhvr>
                                      <p:tavLst>
                                        <p:tav tm="0">
                                          <p:val>
                                            <p:fltVal val="0"/>
                                          </p:val>
                                        </p:tav>
                                        <p:tav tm="100000">
                                          <p:val>
                                            <p:strVal val="#ppt_w"/>
                                          </p:val>
                                        </p:tav>
                                      </p:tavLst>
                                    </p:anim>
                                    <p:anim calcmode="lin" valueType="num">
                                      <p:cBhvr>
                                        <p:cTn id="44" dur="1000" fill="hold"/>
                                        <p:tgtEl>
                                          <p:spTgt spid="3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剪去对角 42"/>
          <p:cNvSpPr/>
          <p:nvPr/>
        </p:nvSpPr>
        <p:spPr>
          <a:xfrm>
            <a:off x="735332" y="1823086"/>
            <a:ext cx="2973386" cy="2276518"/>
          </a:xfrm>
          <a:prstGeom prst="snip2DiagRect">
            <a:avLst>
              <a:gd name="adj1" fmla="val 0"/>
              <a:gd name="adj2" fmla="val 11187"/>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 name="对象 27"/>
          <p:cNvGraphicFramePr>
            <a:graphicFrameLocks noChangeAspect="1"/>
          </p:cNvGraphicFramePr>
          <p:nvPr/>
        </p:nvGraphicFramePr>
        <p:xfrm>
          <a:off x="735332" y="1790572"/>
          <a:ext cx="2973386" cy="2375706"/>
        </p:xfrm>
        <a:graphic>
          <a:graphicData uri="http://schemas.openxmlformats.org/presentationml/2006/ole">
            <mc:AlternateContent xmlns:mc="http://schemas.openxmlformats.org/markup-compatibility/2006">
              <mc:Choice xmlns:v="urn:schemas-microsoft-com:vml" Requires="v">
                <p:oleObj spid="_x0000_s11286" name="Visio" r:id="rId1" imgW="1409700" imgH="1085850" progId="Visio.Drawing.11">
                  <p:embed/>
                </p:oleObj>
              </mc:Choice>
              <mc:Fallback>
                <p:oleObj name="Visio" r:id="rId1" imgW="1409700" imgH="1085850" progId="Visio.Drawing.11">
                  <p:embed/>
                  <p:pic>
                    <p:nvPicPr>
                      <p:cNvPr id="0" name="对象 27"/>
                      <p:cNvPicPr>
                        <a:picLocks noChangeAspect="1" noChangeArrowheads="1"/>
                      </p:cNvPicPr>
                      <p:nvPr/>
                    </p:nvPicPr>
                    <p:blipFill>
                      <a:blip r:embed="rId2"/>
                      <a:srcRect/>
                      <a:stretch>
                        <a:fillRect/>
                      </a:stretch>
                    </p:blipFill>
                    <p:spPr bwMode="auto">
                      <a:xfrm>
                        <a:off x="735332" y="1790572"/>
                        <a:ext cx="2973386" cy="2375706"/>
                      </a:xfrm>
                      <a:prstGeom prst="rect">
                        <a:avLst/>
                      </a:prstGeom>
                      <a:noFill/>
                      <a:ln>
                        <a:noFill/>
                      </a:ln>
                    </p:spPr>
                  </p:pic>
                </p:oleObj>
              </mc:Fallback>
            </mc:AlternateContent>
          </a:graphicData>
        </a:graphic>
      </p:graphicFrame>
      <p:grpSp>
        <p:nvGrpSpPr>
          <p:cNvPr id="2" name="组合 1"/>
          <p:cNvGrpSpPr/>
          <p:nvPr/>
        </p:nvGrpSpPr>
        <p:grpSpPr>
          <a:xfrm>
            <a:off x="392432" y="778617"/>
            <a:ext cx="1729149" cy="420971"/>
            <a:chOff x="670560" y="892917"/>
            <a:chExt cx="1729149" cy="420971"/>
          </a:xfrm>
        </p:grpSpPr>
        <p:sp>
          <p:nvSpPr>
            <p:cNvPr id="3" name="矩形 2"/>
            <p:cNvSpPr/>
            <p:nvPr/>
          </p:nvSpPr>
          <p:spPr>
            <a:xfrm>
              <a:off x="1035233" y="913778"/>
              <a:ext cx="136447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332295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、逻辑门控</a:t>
            </a:r>
            <a:r>
              <a:rPr lang="en-US" altLang="zh-CN" dirty="0">
                <a:solidFill>
                  <a:srgbClr val="FF0000"/>
                </a:solidFill>
                <a:latin typeface="微软雅黑" panose="020B0503020204020204" pitchFamily="34" charset="-122"/>
                <a:ea typeface="微软雅黑" panose="020B0503020204020204" pitchFamily="34" charset="-122"/>
              </a:rPr>
              <a:t>SR</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4053445" y="1823086"/>
          <a:ext cx="3841920" cy="1815703"/>
        </p:xfrm>
        <a:graphic>
          <a:graphicData uri="http://schemas.openxmlformats.org/presentationml/2006/ole">
            <mc:AlternateContent xmlns:mc="http://schemas.openxmlformats.org/markup-compatibility/2006">
              <mc:Choice xmlns:v="urn:schemas-microsoft-com:vml" Requires="v">
                <p:oleObj spid="_x0000_s11287" name="Visio" r:id="rId4" imgW="1838325" imgH="876300" progId="Visio.Drawing.11">
                  <p:embed/>
                </p:oleObj>
              </mc:Choice>
              <mc:Fallback>
                <p:oleObj name="Visio" r:id="rId4" imgW="1838325" imgH="876300" progId="Visio.Drawing.11">
                  <p:embed/>
                  <p:pic>
                    <p:nvPicPr>
                      <p:cNvPr id="0" name="对象 6"/>
                      <p:cNvPicPr>
                        <a:picLocks noChangeAspect="1" noChangeArrowheads="1"/>
                      </p:cNvPicPr>
                      <p:nvPr/>
                    </p:nvPicPr>
                    <p:blipFill>
                      <a:blip r:embed="rId5"/>
                      <a:srcRect/>
                      <a:stretch>
                        <a:fillRect/>
                      </a:stretch>
                    </p:blipFill>
                    <p:spPr bwMode="auto">
                      <a:xfrm>
                        <a:off x="4053445" y="1823086"/>
                        <a:ext cx="3841920" cy="1815703"/>
                      </a:xfrm>
                      <a:prstGeom prst="rect">
                        <a:avLst/>
                      </a:prstGeom>
                      <a:noFill/>
                      <a:ln>
                        <a:noFill/>
                      </a:ln>
                    </p:spPr>
                  </p:pic>
                </p:oleObj>
              </mc:Fallback>
            </mc:AlternateContent>
          </a:graphicData>
        </a:graphic>
      </p:graphicFrame>
      <p:sp>
        <p:nvSpPr>
          <p:cNvPr id="33" name="圆角矩形 27"/>
          <p:cNvSpPr/>
          <p:nvPr/>
        </p:nvSpPr>
        <p:spPr>
          <a:xfrm>
            <a:off x="4636304" y="1852188"/>
            <a:ext cx="1370535" cy="171595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27"/>
          <p:cNvSpPr/>
          <p:nvPr/>
        </p:nvSpPr>
        <p:spPr>
          <a:xfrm>
            <a:off x="7395179" y="1872957"/>
            <a:ext cx="411885" cy="171595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27"/>
          <p:cNvSpPr/>
          <p:nvPr/>
        </p:nvSpPr>
        <p:spPr>
          <a:xfrm>
            <a:off x="6012505" y="2092232"/>
            <a:ext cx="1370535" cy="1475916"/>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AutoShape 7"/>
          <p:cNvSpPr>
            <a:spLocks noChangeArrowheads="1"/>
          </p:cNvSpPr>
          <p:nvPr/>
        </p:nvSpPr>
        <p:spPr bwMode="auto">
          <a:xfrm>
            <a:off x="4809580" y="713130"/>
            <a:ext cx="3899705" cy="919401"/>
          </a:xfrm>
          <a:prstGeom prst="wedgeRoundRectCallout">
            <a:avLst>
              <a:gd name="adj1" fmla="val -35787"/>
              <a:gd name="adj2" fmla="val 75853"/>
              <a:gd name="adj3" fmla="val 16667"/>
            </a:avLst>
          </a:prstGeom>
          <a:solidFill>
            <a:srgbClr val="FFFF00"/>
          </a:solidFill>
          <a:ln w="19050" algn="ctr">
            <a:solidFill>
              <a:srgbClr val="FF0000"/>
            </a:solidFill>
            <a:miter lim="800000"/>
          </a:ln>
        </p:spPr>
        <p:txBody>
          <a:bodyPr wrap="square">
            <a:spAutoFit/>
          </a:bodyPr>
          <a:lstStyle/>
          <a:p>
            <a:r>
              <a:rPr lang="en-US" altLang="zh-CN" sz="1600" i="1" kern="100" dirty="0">
                <a:effectLst/>
                <a:latin typeface="Times New Roman" panose="02020603050405020304" pitchFamily="18" charset="0"/>
                <a:ea typeface="微软雅黑" panose="020B0503020204020204" pitchFamily="34" charset="-122"/>
                <a:cs typeface="Times New Roman" panose="02020603050405020304" pitchFamily="18" charset="0"/>
              </a:rPr>
              <a:t>CP</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高电平时接收</a:t>
            </a:r>
            <a:r>
              <a:rPr lang="en-US" altLang="zh-CN" sz="1600" i="1" kern="100" dirty="0">
                <a:effectLst/>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kern="100" dirty="0">
                <a:effectLst/>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的信号</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并</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使锁存器的状态发生变化，</a:t>
            </a:r>
            <a:r>
              <a:rPr lang="zh-CN" alt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称为</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电平触发</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高电平触发</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圆角矩形 27"/>
          <p:cNvSpPr/>
          <p:nvPr/>
        </p:nvSpPr>
        <p:spPr>
          <a:xfrm>
            <a:off x="4429593" y="2113000"/>
            <a:ext cx="201045" cy="1475916"/>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4273398" y="3808191"/>
            <a:ext cx="3621967" cy="1180138"/>
            <a:chOff x="4457731" y="3751624"/>
            <a:chExt cx="3621967" cy="1180138"/>
          </a:xfrm>
        </p:grpSpPr>
        <p:sp>
          <p:nvSpPr>
            <p:cNvPr id="18" name="矩形: 剪去对角 42"/>
            <p:cNvSpPr/>
            <p:nvPr/>
          </p:nvSpPr>
          <p:spPr>
            <a:xfrm>
              <a:off x="4457731" y="3751624"/>
              <a:ext cx="3621967" cy="1112684"/>
            </a:xfrm>
            <a:prstGeom prst="snip2DiagRect">
              <a:avLst>
                <a:gd name="adj1" fmla="val 0"/>
                <a:gd name="adj2" fmla="val 11187"/>
              </a:avLst>
            </a:prstGeom>
            <a:solidFill>
              <a:schemeClr val="bg1"/>
            </a:solidFill>
            <a:ln w="2857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p:cNvGraphicFramePr>
              <a:graphicFrameLocks noChangeAspect="1"/>
            </p:cNvGraphicFramePr>
            <p:nvPr/>
          </p:nvGraphicFramePr>
          <p:xfrm>
            <a:off x="4500135" y="3751624"/>
            <a:ext cx="1628635" cy="1180137"/>
          </p:xfrm>
          <a:graphic>
            <a:graphicData uri="http://schemas.openxmlformats.org/presentationml/2006/ole">
              <mc:AlternateContent xmlns:mc="http://schemas.openxmlformats.org/markup-compatibility/2006">
                <mc:Choice xmlns:v="urn:schemas-microsoft-com:vml" Requires="v">
                  <p:oleObj spid="_x0000_s11288" name="Visio" r:id="rId6" imgW="855980" imgH="632460" progId="Visio.Drawing.11">
                    <p:embed/>
                  </p:oleObj>
                </mc:Choice>
                <mc:Fallback>
                  <p:oleObj name="Visio" r:id="rId6" imgW="855980" imgH="632460" progId="Visio.Drawing.11">
                    <p:embed/>
                    <p:pic>
                      <p:nvPicPr>
                        <p:cNvPr id="0" name="对象 14"/>
                        <p:cNvPicPr>
                          <a:picLocks noChangeAspect="1" noChangeArrowheads="1"/>
                        </p:cNvPicPr>
                        <p:nvPr/>
                      </p:nvPicPr>
                      <p:blipFill>
                        <a:blip r:embed="rId7"/>
                        <a:srcRect/>
                        <a:stretch>
                          <a:fillRect/>
                        </a:stretch>
                      </p:blipFill>
                      <p:spPr bwMode="auto">
                        <a:xfrm>
                          <a:off x="4500135" y="3751624"/>
                          <a:ext cx="1628635" cy="1180137"/>
                        </a:xfrm>
                        <a:prstGeom prst="rect">
                          <a:avLst/>
                        </a:prstGeom>
                        <a:noFill/>
                        <a:ln>
                          <a:noFill/>
                        </a:ln>
                      </p:spPr>
                    </p:pic>
                  </p:oleObj>
                </mc:Fallback>
              </mc:AlternateContent>
            </a:graphicData>
          </a:graphic>
        </p:graphicFrame>
        <p:graphicFrame>
          <p:nvGraphicFramePr>
            <p:cNvPr id="16" name="对象 15"/>
            <p:cNvGraphicFramePr>
              <a:graphicFrameLocks noChangeAspect="1"/>
            </p:cNvGraphicFramePr>
            <p:nvPr/>
          </p:nvGraphicFramePr>
          <p:xfrm>
            <a:off x="6365869" y="3751625"/>
            <a:ext cx="1628635" cy="1180137"/>
          </p:xfrm>
          <a:graphic>
            <a:graphicData uri="http://schemas.openxmlformats.org/presentationml/2006/ole">
              <mc:AlternateContent xmlns:mc="http://schemas.openxmlformats.org/markup-compatibility/2006">
                <mc:Choice xmlns:v="urn:schemas-microsoft-com:vml" Requires="v">
                  <p:oleObj spid="_x0000_s11289" name="Visio" r:id="rId8" imgW="855980" imgH="632460" progId="Visio.Drawing.11">
                    <p:embed/>
                  </p:oleObj>
                </mc:Choice>
                <mc:Fallback>
                  <p:oleObj name="Visio" r:id="rId8" imgW="855980" imgH="632460" progId="Visio.Drawing.11">
                    <p:embed/>
                    <p:pic>
                      <p:nvPicPr>
                        <p:cNvPr id="0" name="对象 15"/>
                        <p:cNvPicPr>
                          <a:picLocks noChangeAspect="1" noChangeArrowheads="1"/>
                        </p:cNvPicPr>
                        <p:nvPr/>
                      </p:nvPicPr>
                      <p:blipFill>
                        <a:blip r:embed="rId9"/>
                        <a:srcRect/>
                        <a:stretch>
                          <a:fillRect/>
                        </a:stretch>
                      </p:blipFill>
                      <p:spPr bwMode="auto">
                        <a:xfrm>
                          <a:off x="6365869" y="3751625"/>
                          <a:ext cx="1628635" cy="1180137"/>
                        </a:xfrm>
                        <a:prstGeom prst="rect">
                          <a:avLst/>
                        </a:prstGeom>
                        <a:noFill/>
                        <a:ln>
                          <a:noFill/>
                        </a:ln>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1000" fill="hold"/>
                                        <p:tgtEl>
                                          <p:spTgt spid="33"/>
                                        </p:tgtEl>
                                        <p:attrNameLst>
                                          <p:attrName>ppt_w</p:attrName>
                                        </p:attrNameLst>
                                      </p:cBhvr>
                                      <p:tavLst>
                                        <p:tav tm="0">
                                          <p:val>
                                            <p:fltVal val="0"/>
                                          </p:val>
                                        </p:tav>
                                        <p:tav tm="100000">
                                          <p:val>
                                            <p:strVal val="#ppt_w"/>
                                          </p:val>
                                        </p:tav>
                                      </p:tavLst>
                                    </p:anim>
                                    <p:anim calcmode="lin" valueType="num">
                                      <p:cBhvr>
                                        <p:cTn id="15" dur="1000" fill="hold"/>
                                        <p:tgtEl>
                                          <p:spTgt spid="3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3"/>
                                        </p:tgtEl>
                                        <p:attrNameLst>
                                          <p:attrName>style.visibility</p:attrName>
                                        </p:attrNameLst>
                                      </p:cBhvr>
                                      <p:to>
                                        <p:strVal val="hidden"/>
                                      </p:to>
                                    </p:set>
                                  </p:subTnLst>
                                </p:cTn>
                              </p:par>
                              <p:par>
                                <p:cTn id="16" presetID="17" presetClass="entr" presetSubtype="1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20" fill="hold">
                      <p:stCondLst>
                        <p:cond delay="indefinite"/>
                      </p:stCondLst>
                      <p:childTnLst>
                        <p:par>
                          <p:cTn id="21" fill="hold">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1000" fill="hold"/>
                                        <p:tgtEl>
                                          <p:spTgt spid="14"/>
                                        </p:tgtEl>
                                        <p:attrNameLst>
                                          <p:attrName>ppt_w</p:attrName>
                                        </p:attrNameLst>
                                      </p:cBhvr>
                                      <p:tavLst>
                                        <p:tav tm="0">
                                          <p:val>
                                            <p:fltVal val="0"/>
                                          </p:val>
                                        </p:tav>
                                        <p:tav tm="100000">
                                          <p:val>
                                            <p:strVal val="#ppt_w"/>
                                          </p:val>
                                        </p:tav>
                                      </p:tavLst>
                                    </p:anim>
                                    <p:anim calcmode="lin" valueType="num">
                                      <p:cBhvr>
                                        <p:cTn id="25" dur="1000" fill="hold"/>
                                        <p:tgtEl>
                                          <p:spTgt spid="1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4"/>
                                        </p:tgtEl>
                                        <p:attrNameLst>
                                          <p:attrName>style.visibility</p:attrName>
                                        </p:attrNameLst>
                                      </p:cBhvr>
                                      <p:to>
                                        <p:strVal val="hidden"/>
                                      </p:to>
                                    </p:set>
                                  </p:subTnLst>
                                </p:cTn>
                              </p:par>
                              <p:par>
                                <p:cTn id="26" presetID="17" presetClass="entr" presetSubtype="10" fill="hold" grpId="0" nodeType="with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p:cTn id="28" dur="1000" fill="hold"/>
                                        <p:tgtEl>
                                          <p:spTgt spid="40"/>
                                        </p:tgtEl>
                                        <p:attrNameLst>
                                          <p:attrName>ppt_w</p:attrName>
                                        </p:attrNameLst>
                                      </p:cBhvr>
                                      <p:tavLst>
                                        <p:tav tm="0">
                                          <p:val>
                                            <p:fltVal val="0"/>
                                          </p:val>
                                        </p:tav>
                                        <p:tav tm="100000">
                                          <p:val>
                                            <p:strVal val="#ppt_w"/>
                                          </p:val>
                                        </p:tav>
                                      </p:tavLst>
                                    </p:anim>
                                    <p:anim calcmode="lin" valueType="num">
                                      <p:cBhvr>
                                        <p:cTn id="29" dur="1000" fill="hold"/>
                                        <p:tgtEl>
                                          <p:spTgt spid="4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down)">
                                      <p:cBhvr>
                                        <p:cTn id="34" dur="10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1000"/>
                                        <p:tgtEl>
                                          <p:spTgt spid="6"/>
                                        </p:tgtEl>
                                      </p:cBhvr>
                                    </p:animEffect>
                                    <p:anim calcmode="lin" valueType="num">
                                      <p:cBhvr>
                                        <p:cTn id="40" dur="1000" fill="hold"/>
                                        <p:tgtEl>
                                          <p:spTgt spid="6"/>
                                        </p:tgtEl>
                                        <p:attrNameLst>
                                          <p:attrName>ppt_x</p:attrName>
                                        </p:attrNameLst>
                                      </p:cBhvr>
                                      <p:tavLst>
                                        <p:tav tm="0">
                                          <p:val>
                                            <p:strVal val="#ppt_x"/>
                                          </p:val>
                                        </p:tav>
                                        <p:tav tm="100000">
                                          <p:val>
                                            <p:strVal val="#ppt_x"/>
                                          </p:val>
                                        </p:tav>
                                      </p:tavLst>
                                    </p:anim>
                                    <p:anim calcmode="lin" valueType="num">
                                      <p:cBhvr>
                                        <p:cTn id="4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9" grpId="0" animBg="1"/>
      <p:bldP spid="40" grpId="0" animBg="1"/>
      <p:bldP spid="45"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34264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2" y="208883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锁存器与触发器</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86198" y="2835194"/>
            <a:ext cx="4365123" cy="1046440"/>
          </a:xfrm>
          <a:prstGeom prst="rect">
            <a:avLst/>
          </a:prstGeom>
        </p:spPr>
        <p:txBody>
          <a:bodyPr wrap="square">
            <a:spAutoFit/>
          </a:bodyPr>
          <a:lstStyle/>
          <a:p>
            <a:pPr algn="ctr">
              <a:spcBef>
                <a:spcPts val="12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5.2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12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5.2.2 D</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锁存器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对象 12"/>
          <p:cNvGraphicFramePr>
            <a:graphicFrameLocks noChangeAspect="1"/>
          </p:cNvGraphicFramePr>
          <p:nvPr/>
        </p:nvGraphicFramePr>
        <p:xfrm>
          <a:off x="941069" y="2106015"/>
          <a:ext cx="4692169" cy="2130233"/>
        </p:xfrm>
        <a:graphic>
          <a:graphicData uri="http://schemas.openxmlformats.org/presentationml/2006/ole">
            <mc:AlternateContent xmlns:mc="http://schemas.openxmlformats.org/markup-compatibility/2006">
              <mc:Choice xmlns:v="urn:schemas-microsoft-com:vml" Requires="v">
                <p:oleObj spid="_x0000_s12295" name="Visio" r:id="rId1" imgW="2421890" imgH="1108710" progId="Visio.Drawing.11">
                  <p:embed/>
                </p:oleObj>
              </mc:Choice>
              <mc:Fallback>
                <p:oleObj name="Visio" r:id="rId1" imgW="2421890" imgH="1108710" progId="Visio.Drawing.11">
                  <p:embed/>
                  <p:pic>
                    <p:nvPicPr>
                      <p:cNvPr id="0" name="对象 12"/>
                      <p:cNvPicPr>
                        <a:picLocks noChangeAspect="1" noChangeArrowheads="1"/>
                      </p:cNvPicPr>
                      <p:nvPr/>
                    </p:nvPicPr>
                    <p:blipFill>
                      <a:blip r:embed="rId2"/>
                      <a:srcRect/>
                      <a:stretch>
                        <a:fillRect/>
                      </a:stretch>
                    </p:blipFill>
                    <p:spPr bwMode="auto">
                      <a:xfrm>
                        <a:off x="941069" y="2106015"/>
                        <a:ext cx="4692169" cy="2130233"/>
                      </a:xfrm>
                      <a:prstGeom prst="rect">
                        <a:avLst/>
                      </a:prstGeom>
                      <a:noFill/>
                      <a:ln>
                        <a:noFill/>
                      </a:ln>
                    </p:spPr>
                  </p:pic>
                </p:oleObj>
              </mc:Fallback>
            </mc:AlternateContent>
          </a:graphicData>
        </a:graphic>
      </p:graphicFrame>
      <p:grpSp>
        <p:nvGrpSpPr>
          <p:cNvPr id="2" name="组合 1"/>
          <p:cNvGrpSpPr/>
          <p:nvPr/>
        </p:nvGrpSpPr>
        <p:grpSpPr>
          <a:xfrm>
            <a:off x="392432" y="778617"/>
            <a:ext cx="2681333" cy="420971"/>
            <a:chOff x="670560" y="892917"/>
            <a:chExt cx="2681333" cy="420971"/>
          </a:xfrm>
        </p:grpSpPr>
        <p:sp>
          <p:nvSpPr>
            <p:cNvPr id="3" name="矩形 2"/>
            <p:cNvSpPr/>
            <p:nvPr/>
          </p:nvSpPr>
          <p:spPr>
            <a:xfrm>
              <a:off x="1035233" y="913778"/>
              <a:ext cx="2316660"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a:t>
              </a:r>
              <a:r>
                <a:rPr lang="zh-CN" altLang="en-US" sz="1400" b="1" dirty="0">
                  <a:solidFill>
                    <a:srgbClr val="CC00CC"/>
                  </a:solidFill>
                  <a:latin typeface="微软雅黑" panose="020B0503020204020204" pitchFamily="34" charset="-122"/>
                  <a:ea typeface="微软雅黑" panose="020B0503020204020204" pitchFamily="34" charset="-122"/>
                </a:rPr>
                <a:t>（</a:t>
              </a:r>
              <a:r>
                <a:rPr lang="en-US" altLang="zh-CN" sz="1400" b="1" dirty="0">
                  <a:solidFill>
                    <a:srgbClr val="CC00CC"/>
                  </a:solidFill>
                  <a:latin typeface="微软雅黑" panose="020B0503020204020204" pitchFamily="34" charset="-122"/>
                  <a:ea typeface="微软雅黑" panose="020B0503020204020204" pitchFamily="34" charset="-122"/>
                </a:rPr>
                <a:t>D</a:t>
              </a:r>
              <a:r>
                <a:rPr lang="zh-CN" altLang="en-US" sz="1400" b="1" dirty="0">
                  <a:solidFill>
                    <a:srgbClr val="CC00CC"/>
                  </a:solidFill>
                  <a:latin typeface="微软雅黑" panose="020B0503020204020204" pitchFamily="34" charset="-122"/>
                  <a:ea typeface="微软雅黑" panose="020B0503020204020204" pitchFamily="34" charset="-122"/>
                </a:rPr>
                <a:t>：</a:t>
              </a:r>
              <a:r>
                <a:rPr lang="en-US" altLang="zh-CN" sz="1400" b="1" dirty="0">
                  <a:solidFill>
                    <a:srgbClr val="CC00CC"/>
                  </a:solidFill>
                  <a:latin typeface="微软雅黑" panose="020B0503020204020204" pitchFamily="34" charset="-122"/>
                  <a:ea typeface="微软雅黑" panose="020B0503020204020204" pitchFamily="34" charset="-122"/>
                </a:rPr>
                <a:t>Data</a:t>
              </a:r>
              <a:r>
                <a:rPr lang="zh-CN" altLang="en-US" sz="1400" b="1" dirty="0">
                  <a:solidFill>
                    <a:srgbClr val="CC00CC"/>
                  </a:solidFill>
                  <a:latin typeface="微软雅黑" panose="020B0503020204020204" pitchFamily="34" charset="-122"/>
                  <a:ea typeface="微软雅黑" panose="020B0503020204020204" pitchFamily="34" charset="-122"/>
                </a:rPr>
                <a:t>） </a:t>
              </a:r>
              <a:endParaRPr lang="zh-CN" altLang="en-US" sz="1400" b="1" dirty="0">
                <a:solidFill>
                  <a:srgbClr val="CC00CC"/>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291274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、逻辑门控</a:t>
            </a:r>
            <a:r>
              <a:rPr lang="en-US" altLang="zh-CN" dirty="0">
                <a:solidFill>
                  <a:srgbClr val="FF0000"/>
                </a:solidFill>
                <a:latin typeface="微软雅黑" panose="020B0503020204020204" pitchFamily="34" charset="-122"/>
                <a:ea typeface="微软雅黑" panose="020B0503020204020204" pitchFamily="34" charset="-122"/>
              </a:rPr>
              <a:t>D</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 name="剪去对角的矩形 6"/>
          <p:cNvSpPr/>
          <p:nvPr/>
        </p:nvSpPr>
        <p:spPr>
          <a:xfrm>
            <a:off x="849630" y="1980150"/>
            <a:ext cx="5037237" cy="2392680"/>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7068" y="1575571"/>
            <a:ext cx="3268838" cy="2630669"/>
            <a:chOff x="2438654" y="1674631"/>
            <a:chExt cx="3364495" cy="2630669"/>
          </a:xfrm>
        </p:grpSpPr>
        <p:sp>
          <p:nvSpPr>
            <p:cNvPr id="10" name="AutoShape 8"/>
            <p:cNvSpPr>
              <a:spLocks noChangeArrowheads="1"/>
            </p:cNvSpPr>
            <p:nvPr/>
          </p:nvSpPr>
          <p:spPr bwMode="auto">
            <a:xfrm>
              <a:off x="2438654" y="2233613"/>
              <a:ext cx="2030513" cy="2071687"/>
            </a:xfrm>
            <a:prstGeom prst="roundRect">
              <a:avLst>
                <a:gd name="adj" fmla="val 9601"/>
              </a:avLst>
            </a:prstGeom>
            <a:solidFill>
              <a:srgbClr val="FF00FF">
                <a:alpha val="17000"/>
              </a:srgbClr>
            </a:solidFill>
            <a:ln w="28575" algn="ctr">
              <a:solidFill>
                <a:schemeClr val="accent1"/>
              </a:solidFill>
              <a:prstDash val="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11" name="AutoShape 7"/>
            <p:cNvSpPr>
              <a:spLocks noChangeArrowheads="1"/>
            </p:cNvSpPr>
            <p:nvPr/>
          </p:nvSpPr>
          <p:spPr bwMode="auto">
            <a:xfrm>
              <a:off x="4310972" y="1674631"/>
              <a:ext cx="1492177" cy="374571"/>
            </a:xfrm>
            <a:prstGeom prst="wedgeRoundRectCallout">
              <a:avLst>
                <a:gd name="adj1" fmla="val -44120"/>
                <a:gd name="adj2" fmla="val 114333"/>
                <a:gd name="adj3" fmla="val 16667"/>
              </a:avLst>
            </a:prstGeom>
            <a:solidFill>
              <a:srgbClr val="FFFF00"/>
            </a:solidFill>
            <a:ln w="19050" algn="ctr">
              <a:solidFill>
                <a:srgbClr val="FF0000"/>
              </a:solidFill>
              <a:miter lim="800000"/>
            </a:ln>
          </p:spPr>
          <p:txBody>
            <a:bodyPr wrap="none">
              <a:spAutoFit/>
            </a:bodyPr>
            <a:lstStyle/>
            <a:p>
              <a:pPr algn="l"/>
              <a:r>
                <a:rPr lang="zh-CN" altLang="en-US" sz="1600" dirty="0">
                  <a:solidFill>
                    <a:srgbClr val="000000"/>
                  </a:solidFill>
                  <a:latin typeface="微软雅黑" panose="020B0503020204020204" pitchFamily="34" charset="-122"/>
                  <a:ea typeface="微软雅黑" panose="020B0503020204020204" pitchFamily="34" charset="-122"/>
                </a:rPr>
                <a:t>门控</a:t>
              </a:r>
              <a:r>
                <a:rPr lang="en-US" altLang="zh-CN" sz="1600" dirty="0">
                  <a:solidFill>
                    <a:srgbClr val="000000"/>
                  </a:solidFill>
                  <a:latin typeface="微软雅黑" panose="020B0503020204020204" pitchFamily="34" charset="-122"/>
                  <a:ea typeface="微软雅黑" panose="020B0503020204020204" pitchFamily="34" charset="-122"/>
                </a:rPr>
                <a:t>SR</a:t>
              </a:r>
              <a:r>
                <a:rPr lang="zh-CN" altLang="en-US" sz="1600" dirty="0">
                  <a:solidFill>
                    <a:srgbClr val="000000"/>
                  </a:solidFill>
                  <a:latin typeface="微软雅黑" panose="020B0503020204020204" pitchFamily="34" charset="-122"/>
                  <a:ea typeface="微软雅黑" panose="020B0503020204020204" pitchFamily="34" charset="-122"/>
                </a:rPr>
                <a:t>锁存器</a:t>
              </a:r>
              <a:endParaRPr lang="en-GB" sz="1600" dirty="0">
                <a:solidFill>
                  <a:srgbClr val="000000"/>
                </a:solidFill>
                <a:latin typeface="微软雅黑" panose="020B0503020204020204" pitchFamily="34" charset="-122"/>
                <a:ea typeface="微软雅黑" panose="020B0503020204020204" pitchFamily="34" charset="-122"/>
              </a:endParaRPr>
            </a:p>
          </p:txBody>
        </p:sp>
      </p:grpSp>
      <p:sp>
        <p:nvSpPr>
          <p:cNvPr id="12" name="AutoShape 8"/>
          <p:cNvSpPr>
            <a:spLocks noChangeArrowheads="1"/>
          </p:cNvSpPr>
          <p:nvPr/>
        </p:nvSpPr>
        <p:spPr bwMode="auto">
          <a:xfrm>
            <a:off x="1132916" y="3068519"/>
            <a:ext cx="654152" cy="425441"/>
          </a:xfrm>
          <a:prstGeom prst="roundRect">
            <a:avLst>
              <a:gd name="adj" fmla="val 37652"/>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14" name="AutoShape 8"/>
          <p:cNvSpPr>
            <a:spLocks noChangeArrowheads="1"/>
          </p:cNvSpPr>
          <p:nvPr/>
        </p:nvSpPr>
        <p:spPr bwMode="auto">
          <a:xfrm>
            <a:off x="995213" y="3648812"/>
            <a:ext cx="281941" cy="350520"/>
          </a:xfrm>
          <a:prstGeom prst="roundRect">
            <a:avLst>
              <a:gd name="adj" fmla="val 9601"/>
            </a:avLst>
          </a:prstGeom>
          <a:solidFill>
            <a:srgbClr val="FF00FF">
              <a:alpha val="17000"/>
            </a:srgbClr>
          </a:solidFill>
          <a:ln w="28575" algn="ctr">
            <a:solidFill>
              <a:schemeClr val="accent1"/>
            </a:solidFill>
            <a:prstDash val="sys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对象 43"/>
          <p:cNvGraphicFramePr>
            <a:graphicFrameLocks noChangeAspect="1"/>
          </p:cNvGraphicFramePr>
          <p:nvPr/>
        </p:nvGraphicFramePr>
        <p:xfrm>
          <a:off x="909863" y="2138039"/>
          <a:ext cx="2875183" cy="2247076"/>
        </p:xfrm>
        <a:graphic>
          <a:graphicData uri="http://schemas.openxmlformats.org/presentationml/2006/ole">
            <mc:AlternateContent xmlns:mc="http://schemas.openxmlformats.org/markup-compatibility/2006">
              <mc:Choice xmlns:v="urn:schemas-microsoft-com:vml" Requires="v">
                <p:oleObj spid="_x0000_s13319" name="Visio" r:id="rId1" imgW="1478915" imgH="1108710" progId="Visio.Drawing.11">
                  <p:embed/>
                </p:oleObj>
              </mc:Choice>
              <mc:Fallback>
                <p:oleObj name="Visio" r:id="rId1" imgW="1478915" imgH="1108710" progId="Visio.Drawing.11">
                  <p:embed/>
                  <p:pic>
                    <p:nvPicPr>
                      <p:cNvPr id="0" name="对象 43"/>
                      <p:cNvPicPr>
                        <a:picLocks noChangeAspect="1" noChangeArrowheads="1"/>
                      </p:cNvPicPr>
                      <p:nvPr/>
                    </p:nvPicPr>
                    <p:blipFill>
                      <a:blip r:embed="rId2"/>
                      <a:srcRect/>
                      <a:stretch>
                        <a:fillRect/>
                      </a:stretch>
                    </p:blipFill>
                    <p:spPr bwMode="auto">
                      <a:xfrm>
                        <a:off x="909863" y="2138039"/>
                        <a:ext cx="2875183" cy="2247076"/>
                      </a:xfrm>
                      <a:prstGeom prst="rect">
                        <a:avLst/>
                      </a:prstGeom>
                      <a:noFill/>
                      <a:ln>
                        <a:noFill/>
                      </a:ln>
                    </p:spPr>
                  </p:pic>
                </p:oleObj>
              </mc:Fallback>
            </mc:AlternateContent>
          </a:graphicData>
        </a:graphic>
      </p:graphicFrame>
      <p:grpSp>
        <p:nvGrpSpPr>
          <p:cNvPr id="102" name="组合 101"/>
          <p:cNvGrpSpPr/>
          <p:nvPr/>
        </p:nvGrpSpPr>
        <p:grpSpPr>
          <a:xfrm>
            <a:off x="849630" y="2080260"/>
            <a:ext cx="3074669" cy="2351576"/>
            <a:chOff x="849630" y="2080260"/>
            <a:chExt cx="3074669" cy="2313870"/>
          </a:xfrm>
        </p:grpSpPr>
        <p:sp>
          <p:nvSpPr>
            <p:cNvPr id="43" name="剪去对角的矩形 42"/>
            <p:cNvSpPr/>
            <p:nvPr/>
          </p:nvSpPr>
          <p:spPr>
            <a:xfrm>
              <a:off x="849630" y="2080260"/>
              <a:ext cx="3074669" cy="2313870"/>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AutoShape 8"/>
            <p:cNvSpPr>
              <a:spLocks noChangeArrowheads="1"/>
            </p:cNvSpPr>
            <p:nvPr/>
          </p:nvSpPr>
          <p:spPr bwMode="auto">
            <a:xfrm>
              <a:off x="1737603" y="2133652"/>
              <a:ext cx="1698044" cy="2170601"/>
            </a:xfrm>
            <a:prstGeom prst="roundRect">
              <a:avLst>
                <a:gd name="adj" fmla="val 9601"/>
              </a:avLst>
            </a:prstGeom>
            <a:solidFill>
              <a:srgbClr val="FF00FF">
                <a:alpha val="17000"/>
              </a:srgbClr>
            </a:solidFill>
            <a:ln w="28575" algn="ctr">
              <a:solidFill>
                <a:schemeClr val="accent1"/>
              </a:solidFill>
              <a:prstDash val="dash"/>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grpSp>
        <p:nvGrpSpPr>
          <p:cNvPr id="91" name="组合 90"/>
          <p:cNvGrpSpPr/>
          <p:nvPr/>
        </p:nvGrpSpPr>
        <p:grpSpPr>
          <a:xfrm>
            <a:off x="4503420" y="2987040"/>
            <a:ext cx="3124200" cy="1303020"/>
            <a:chOff x="4495800" y="2910840"/>
            <a:chExt cx="3124200" cy="1303020"/>
          </a:xfrm>
        </p:grpSpPr>
        <p:sp>
          <p:nvSpPr>
            <p:cNvPr id="79" name="圆角矩形 78"/>
            <p:cNvSpPr/>
            <p:nvPr/>
          </p:nvSpPr>
          <p:spPr>
            <a:xfrm>
              <a:off x="4495800" y="2910840"/>
              <a:ext cx="3124200" cy="1101090"/>
            </a:xfrm>
            <a:prstGeom prst="roundRect">
              <a:avLst>
                <a:gd name="adj" fmla="val 10093"/>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圆角矩形 87"/>
            <p:cNvSpPr/>
            <p:nvPr/>
          </p:nvSpPr>
          <p:spPr>
            <a:xfrm>
              <a:off x="5406390" y="3810000"/>
              <a:ext cx="1303020" cy="40386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b="1" i="1" dirty="0">
                  <a:solidFill>
                    <a:srgbClr val="FF0000"/>
                  </a:solidFill>
                  <a:latin typeface="Times New Roman" panose="02020603050405020304" pitchFamily="18" charset="0"/>
                  <a:cs typeface="Times New Roman" panose="02020603050405020304" pitchFamily="18" charset="0"/>
                </a:rPr>
                <a:t>Q</a:t>
              </a:r>
              <a:r>
                <a:rPr kumimoji="1" lang="en-US" altLang="zh-CN" b="1" baseline="30000"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微软雅黑" panose="020B0503020204020204" pitchFamily="34" charset="-122"/>
                  <a:ea typeface="微软雅黑" panose="020B0503020204020204" pitchFamily="34" charset="-122"/>
                </a:rPr>
                <a:t>= </a:t>
              </a:r>
              <a:r>
                <a:rPr kumimoji="1"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endParaRPr kumimoji="1" lang="zh-CN" altLang="en-US" b="1" i="1" dirty="0">
                <a:solidFill>
                  <a:srgbClr val="FF0000"/>
                </a:solidFill>
                <a:latin typeface="Times New Roman" panose="02020603050405020304" pitchFamily="18" charset="0"/>
                <a:cs typeface="Times New Roman" panose="02020603050405020304" pitchFamily="18" charset="0"/>
              </a:endParaRPr>
            </a:p>
          </p:txBody>
        </p:sp>
      </p:grpSp>
      <p:grpSp>
        <p:nvGrpSpPr>
          <p:cNvPr id="36" name="组合 35"/>
          <p:cNvGrpSpPr/>
          <p:nvPr/>
        </p:nvGrpSpPr>
        <p:grpSpPr>
          <a:xfrm>
            <a:off x="392432" y="778617"/>
            <a:ext cx="1599306" cy="420971"/>
            <a:chOff x="670560" y="892917"/>
            <a:chExt cx="1599306" cy="420971"/>
          </a:xfrm>
        </p:grpSpPr>
        <p:sp>
          <p:nvSpPr>
            <p:cNvPr id="37" name="矩形 36"/>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9"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0" name="Rectangle 20"/>
          <p:cNvSpPr>
            <a:spLocks noChangeArrowheads="1"/>
          </p:cNvSpPr>
          <p:nvPr/>
        </p:nvSpPr>
        <p:spPr bwMode="auto">
          <a:xfrm>
            <a:off x="417194" y="1301115"/>
            <a:ext cx="291274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、逻辑门控</a:t>
            </a:r>
            <a:r>
              <a:rPr lang="en-US" altLang="zh-CN" dirty="0">
                <a:solidFill>
                  <a:srgbClr val="FF0000"/>
                </a:solidFill>
                <a:latin typeface="微软雅黑" panose="020B0503020204020204" pitchFamily="34" charset="-122"/>
                <a:ea typeface="微软雅黑" panose="020B0503020204020204" pitchFamily="34" charset="-122"/>
              </a:rPr>
              <a:t>D</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55" name="Oval 36"/>
          <p:cNvSpPr>
            <a:spLocks noChangeArrowheads="1"/>
          </p:cNvSpPr>
          <p:nvPr/>
        </p:nvSpPr>
        <p:spPr bwMode="auto">
          <a:xfrm>
            <a:off x="1177966" y="2817175"/>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62" name="组合 61"/>
          <p:cNvGrpSpPr/>
          <p:nvPr/>
        </p:nvGrpSpPr>
        <p:grpSpPr>
          <a:xfrm>
            <a:off x="4207552" y="2083753"/>
            <a:ext cx="3033988" cy="369332"/>
            <a:chOff x="4207552" y="2083753"/>
            <a:chExt cx="3033988" cy="369332"/>
          </a:xfrm>
        </p:grpSpPr>
        <p:sp>
          <p:nvSpPr>
            <p:cNvPr id="63" name="Text Box 12"/>
            <p:cNvSpPr txBox="1">
              <a:spLocks noChangeArrowheads="1"/>
            </p:cNvSpPr>
            <p:nvPr/>
          </p:nvSpPr>
          <p:spPr bwMode="auto">
            <a:xfrm>
              <a:off x="4547553" y="2083753"/>
              <a:ext cx="2693987" cy="369332"/>
            </a:xfrm>
            <a:prstGeom prst="rect">
              <a:avLst/>
            </a:prstGeom>
            <a:noFill/>
            <a:ln w="9525">
              <a:noFill/>
              <a:miter lim="800000"/>
            </a:ln>
          </p:spPr>
          <p:txBody>
            <a:bodyPr>
              <a:spAutoFit/>
            </a:bodyPr>
            <a:lstStyle/>
            <a:p>
              <a:pPr algn="l"/>
              <a:r>
                <a:rPr kumimoji="1" lang="en-US" altLang="zh-CN" b="1" i="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en-US" altLang="zh-CN"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4" name="Picture 5"/>
            <p:cNvPicPr>
              <a:picLocks noChangeAspect="1" noChangeArrowheads="1"/>
            </p:cNvPicPr>
            <p:nvPr/>
          </p:nvPicPr>
          <p:blipFill>
            <a:blip r:embed="rId4" cstate="print"/>
            <a:srcRect/>
            <a:stretch>
              <a:fillRect/>
            </a:stretch>
          </p:blipFill>
          <p:spPr bwMode="auto">
            <a:xfrm>
              <a:off x="4207552" y="2107376"/>
              <a:ext cx="360000" cy="286209"/>
            </a:xfrm>
            <a:prstGeom prst="rect">
              <a:avLst/>
            </a:prstGeom>
            <a:noFill/>
            <a:ln w="9525">
              <a:noFill/>
              <a:miter lim="800000"/>
              <a:headEnd/>
              <a:tailEnd/>
            </a:ln>
          </p:spPr>
        </p:pic>
      </p:grpSp>
      <p:grpSp>
        <p:nvGrpSpPr>
          <p:cNvPr id="65" name="组合 64"/>
          <p:cNvGrpSpPr/>
          <p:nvPr/>
        </p:nvGrpSpPr>
        <p:grpSpPr>
          <a:xfrm>
            <a:off x="4207552" y="2463165"/>
            <a:ext cx="4204929" cy="438582"/>
            <a:chOff x="4207552" y="2463165"/>
            <a:chExt cx="4204929" cy="438582"/>
          </a:xfrm>
        </p:grpSpPr>
        <p:sp>
          <p:nvSpPr>
            <p:cNvPr id="70" name="Text Box 11"/>
            <p:cNvSpPr txBox="1">
              <a:spLocks noChangeArrowheads="1"/>
            </p:cNvSpPr>
            <p:nvPr/>
          </p:nvSpPr>
          <p:spPr bwMode="auto">
            <a:xfrm>
              <a:off x="4547553" y="2463165"/>
              <a:ext cx="3864928" cy="438582"/>
            </a:xfrm>
            <a:prstGeom prst="rect">
              <a:avLst/>
            </a:prstGeom>
            <a:noFill/>
            <a:ln w="9525">
              <a:noFill/>
              <a:miter lim="800000"/>
            </a:ln>
          </p:spPr>
          <p:txBody>
            <a:bodyPr wrap="square">
              <a:spAutoFit/>
            </a:bodyPr>
            <a:lstStyle/>
            <a:p>
              <a:pPr marL="541655" indent="-541655" algn="l">
                <a:lnSpc>
                  <a:spcPct val="125000"/>
                </a:lnSpc>
              </a:pPr>
              <a:r>
                <a:rPr kumimoji="1" lang="en-US" altLang="zh-CN" b="1" i="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CP</a:t>
              </a:r>
              <a:r>
                <a:rPr kumimoji="1" lang="en-US" altLang="zh-CN"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电路的状态由</a:t>
              </a:r>
              <a:r>
                <a:rPr lang="en-US" altLang="zh-CN"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的状态决定。</a:t>
              </a:r>
              <a:endPar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2" name="Picture 5"/>
            <p:cNvPicPr>
              <a:picLocks noChangeAspect="1" noChangeArrowheads="1"/>
            </p:cNvPicPr>
            <p:nvPr/>
          </p:nvPicPr>
          <p:blipFill>
            <a:blip r:embed="rId4" cstate="print"/>
            <a:srcRect/>
            <a:stretch>
              <a:fillRect/>
            </a:stretch>
          </p:blipFill>
          <p:spPr bwMode="auto">
            <a:xfrm>
              <a:off x="4207552" y="2549336"/>
              <a:ext cx="360000" cy="286209"/>
            </a:xfrm>
            <a:prstGeom prst="rect">
              <a:avLst/>
            </a:prstGeom>
            <a:noFill/>
            <a:ln w="9525">
              <a:noFill/>
              <a:miter lim="800000"/>
              <a:headEnd/>
              <a:tailEnd/>
            </a:ln>
          </p:spPr>
        </p:pic>
      </p:grpSp>
      <p:sp>
        <p:nvSpPr>
          <p:cNvPr id="73" name="五边形 72"/>
          <p:cNvSpPr/>
          <p:nvPr/>
        </p:nvSpPr>
        <p:spPr>
          <a:xfrm>
            <a:off x="4643520" y="3063240"/>
            <a:ext cx="2844000" cy="324000"/>
          </a:xfrm>
          <a:prstGeom prst="homePlate">
            <a:avLst>
              <a:gd name="adj" fmla="val 0"/>
            </a:avLst>
          </a:prstGeom>
          <a:solidFill>
            <a:srgbClr val="66FF66"/>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① </a:t>
            </a:r>
            <a:r>
              <a:rPr lang="en-US" altLang="zh-CN"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b="1" i="1" dirty="0">
                <a:solidFill>
                  <a:srgbClr val="FF0000"/>
                </a:solidFill>
                <a:latin typeface="Times New Roman" panose="02020603050405020304" pitchFamily="18" charset="0"/>
                <a:cs typeface="Times New Roman" panose="02020603050405020304" pitchFamily="18" charset="0"/>
              </a:rPr>
              <a:t>Q</a:t>
            </a:r>
            <a:r>
              <a:rPr kumimoji="1" lang="zh-CN" altLang="en-US" sz="1600" b="1" dirty="0">
                <a:solidFill>
                  <a:srgbClr val="FF0000"/>
                </a:solidFill>
                <a:latin typeface="Times New Roman" panose="02020603050405020304" pitchFamily="18" charset="0"/>
                <a:cs typeface="Times New Roman" panose="02020603050405020304" pitchFamily="18" charset="0"/>
              </a:rPr>
              <a:t>＝</a:t>
            </a:r>
            <a:r>
              <a:rPr kumimoji="1" lang="en-US" altLang="zh-CN" sz="1600" b="1" dirty="0">
                <a:solidFill>
                  <a:srgbClr val="FF0000"/>
                </a:solidFill>
                <a:latin typeface="Times New Roman" panose="02020603050405020304" pitchFamily="18" charset="0"/>
                <a:cs typeface="Times New Roman" panose="02020603050405020304" pitchFamily="18" charset="0"/>
              </a:rPr>
              <a:t>0</a:t>
            </a:r>
            <a:endParaRPr lang="zh-CN" altLang="en-US" sz="1600" b="1" dirty="0">
              <a:solidFill>
                <a:srgbClr val="FF0000"/>
              </a:solidFill>
            </a:endParaRPr>
          </a:p>
        </p:txBody>
      </p:sp>
      <p:sp>
        <p:nvSpPr>
          <p:cNvPr id="76" name="五边形 75"/>
          <p:cNvSpPr/>
          <p:nvPr/>
        </p:nvSpPr>
        <p:spPr>
          <a:xfrm>
            <a:off x="4643520" y="3421380"/>
            <a:ext cx="2844000" cy="324000"/>
          </a:xfrm>
          <a:prstGeom prst="homePlate">
            <a:avLst>
              <a:gd name="adj" fmla="val 0"/>
            </a:avLst>
          </a:prstGeom>
          <a:solidFill>
            <a:srgbClr val="FFFF00"/>
          </a:solidFill>
          <a:ln>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② </a:t>
            </a:r>
            <a:r>
              <a:rPr lang="en-US" altLang="zh-CN"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R=1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600" b="1" i="1" dirty="0">
                <a:solidFill>
                  <a:srgbClr val="FF0000"/>
                </a:solidFill>
                <a:latin typeface="Times New Roman" panose="02020603050405020304" pitchFamily="18" charset="0"/>
                <a:cs typeface="Times New Roman" panose="02020603050405020304" pitchFamily="18" charset="0"/>
              </a:rPr>
              <a:t>Q</a:t>
            </a:r>
            <a:r>
              <a:rPr kumimoji="1" lang="zh-CN" altLang="en-US" sz="1600" b="1" dirty="0">
                <a:solidFill>
                  <a:srgbClr val="FF0000"/>
                </a:solidFill>
                <a:latin typeface="Times New Roman" panose="02020603050405020304" pitchFamily="18" charset="0"/>
                <a:cs typeface="Times New Roman" panose="02020603050405020304" pitchFamily="18" charset="0"/>
              </a:rPr>
              <a:t>＝</a:t>
            </a:r>
            <a:r>
              <a:rPr kumimoji="1" lang="en-US" altLang="zh-CN" sz="1600" b="1" dirty="0">
                <a:solidFill>
                  <a:srgbClr val="FF0000"/>
                </a:solidFill>
                <a:latin typeface="Times New Roman" panose="02020603050405020304" pitchFamily="18" charset="0"/>
                <a:cs typeface="Times New Roman" panose="02020603050405020304" pitchFamily="18" charset="0"/>
              </a:rPr>
              <a:t>1</a:t>
            </a:r>
            <a:endParaRPr lang="zh-CN" altLang="en-US" sz="1600" b="1" dirty="0">
              <a:solidFill>
                <a:srgbClr val="FF0000"/>
              </a:solidFill>
            </a:endParaRPr>
          </a:p>
        </p:txBody>
      </p:sp>
      <p:graphicFrame>
        <p:nvGraphicFramePr>
          <p:cNvPr id="92" name="Group 317"/>
          <p:cNvGraphicFramePr>
            <a:graphicFrameLocks noGrp="1"/>
          </p:cNvGraphicFramePr>
          <p:nvPr/>
        </p:nvGraphicFramePr>
        <p:xfrm>
          <a:off x="7014210" y="780415"/>
          <a:ext cx="1828800" cy="1193165"/>
        </p:xfrm>
        <a:graphic>
          <a:graphicData uri="http://schemas.openxmlformats.org/drawingml/2006/table">
            <a:tbl>
              <a:tblPr/>
              <a:tblGrid>
                <a:gridCol w="497205"/>
                <a:gridCol w="497205"/>
                <a:gridCol w="834390"/>
              </a:tblGrid>
              <a:tr h="29908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CP</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a:noFill/>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D</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endPar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r h="300684">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a:noFill/>
                    </a:lnR>
                    <a:lnT w="28575" cap="flat" cmpd="sng" algn="ctr">
                      <a:solidFill>
                        <a:srgbClr val="0000FF"/>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保持</a:t>
                      </a:r>
                      <a:endPar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w="28575" cap="flat" cmpd="sng" algn="ctr">
                      <a:solidFill>
                        <a:srgbClr val="0000FF"/>
                      </a:solidFill>
                      <a:prstDash val="solid"/>
                      <a:round/>
                      <a:headEnd type="none" w="med" len="med"/>
                      <a:tailEnd type="none" w="med" len="med"/>
                    </a:lnT>
                    <a:lnB>
                      <a:noFill/>
                    </a:lnB>
                    <a:lnTlToBr>
                      <a:noFill/>
                    </a:lnTlToBr>
                    <a:lnBlToTr>
                      <a:noFill/>
                    </a:lnBlToTr>
                    <a:solidFill>
                      <a:srgbClr val="FFFFFF"/>
                    </a:solidFill>
                  </a:tcPr>
                </a:tc>
              </a:tr>
              <a:tr h="28393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rgbClr val="0000FF"/>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a:noFill/>
                    </a:lnT>
                    <a:lnB>
                      <a:noFill/>
                    </a:lnB>
                    <a:lnTlToBr>
                      <a:noFill/>
                    </a:lnTlToBr>
                    <a:lnBlToTr>
                      <a:noFill/>
                    </a:lnBlToTr>
                    <a:solidFill>
                      <a:srgbClr val="FFFFFF"/>
                    </a:solidFill>
                  </a:tcPr>
                </a:tc>
              </a:tr>
              <a:tr h="30945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a:noFill/>
                    </a:lnR>
                    <a:lnT>
                      <a:noFill/>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rgbClr val="0000FF"/>
                      </a:solidFill>
                      <a:prstDash val="solid"/>
                      <a:round/>
                      <a:headEnd type="none" w="med" len="med"/>
                      <a:tailEnd type="none" w="med" len="med"/>
                    </a:lnR>
                    <a:lnT>
                      <a:noFill/>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rgbClr val="0000FF"/>
                      </a:solidFill>
                      <a:prstDash val="solid"/>
                      <a:round/>
                      <a:headEnd type="none" w="med" len="med"/>
                      <a:tailEnd type="none" w="med" len="med"/>
                    </a:lnL>
                    <a:lnR w="28575" cap="flat" cmpd="sng" algn="ctr">
                      <a:solidFill>
                        <a:srgbClr val="0000FF"/>
                      </a:solidFill>
                      <a:prstDash val="solid"/>
                      <a:round/>
                      <a:headEnd type="none" w="med" len="med"/>
                      <a:tailEnd type="none" w="med" len="med"/>
                    </a:lnR>
                    <a:lnT>
                      <a:noFill/>
                    </a:lnT>
                    <a:lnB w="28575" cap="flat" cmpd="sng" algn="ctr">
                      <a:solidFill>
                        <a:srgbClr val="0000FF"/>
                      </a:solidFill>
                      <a:prstDash val="solid"/>
                      <a:round/>
                      <a:headEnd type="none" w="med" len="med"/>
                      <a:tailEnd type="none" w="med" len="med"/>
                    </a:lnB>
                    <a:lnTlToBr>
                      <a:noFill/>
                    </a:lnTlToBr>
                    <a:lnBlToTr>
                      <a:noFill/>
                    </a:lnBlToTr>
                    <a:solidFill>
                      <a:srgbClr val="FFFFFF"/>
                    </a:solidFill>
                  </a:tcPr>
                </a:tc>
              </a:tr>
            </a:tbl>
          </a:graphicData>
        </a:graphic>
      </p:graphicFrame>
      <p:sp>
        <p:nvSpPr>
          <p:cNvPr id="93" name="Oval 36"/>
          <p:cNvSpPr>
            <a:spLocks noChangeArrowheads="1"/>
          </p:cNvSpPr>
          <p:nvPr/>
        </p:nvSpPr>
        <p:spPr bwMode="auto">
          <a:xfrm>
            <a:off x="1175273" y="2819031"/>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94" name="Oval 36"/>
          <p:cNvSpPr>
            <a:spLocks noChangeArrowheads="1"/>
          </p:cNvSpPr>
          <p:nvPr/>
        </p:nvSpPr>
        <p:spPr bwMode="auto">
          <a:xfrm>
            <a:off x="1080484" y="401185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103" name="组合 102"/>
          <p:cNvGrpSpPr/>
          <p:nvPr/>
        </p:nvGrpSpPr>
        <p:grpSpPr>
          <a:xfrm>
            <a:off x="3318673" y="2452676"/>
            <a:ext cx="252000" cy="1551210"/>
            <a:chOff x="1490980" y="2364423"/>
            <a:chExt cx="252000" cy="1551210"/>
          </a:xfrm>
        </p:grpSpPr>
        <p:sp>
          <p:nvSpPr>
            <p:cNvPr id="104" name="Oval 36"/>
            <p:cNvSpPr>
              <a:spLocks noChangeArrowheads="1"/>
            </p:cNvSpPr>
            <p:nvPr/>
          </p:nvSpPr>
          <p:spPr bwMode="auto">
            <a:xfrm>
              <a:off x="1490980" y="236442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05" name="Oval 36"/>
            <p:cNvSpPr>
              <a:spLocks noChangeArrowheads="1"/>
            </p:cNvSpPr>
            <p:nvPr/>
          </p:nvSpPr>
          <p:spPr bwMode="auto">
            <a:xfrm>
              <a:off x="1490980" y="366363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
        <p:nvSpPr>
          <p:cNvPr id="106" name="Oval 36"/>
          <p:cNvSpPr>
            <a:spLocks noChangeArrowheads="1"/>
          </p:cNvSpPr>
          <p:nvPr/>
        </p:nvSpPr>
        <p:spPr bwMode="auto">
          <a:xfrm>
            <a:off x="1087907" y="4004724"/>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110" name="组合 109"/>
          <p:cNvGrpSpPr/>
          <p:nvPr/>
        </p:nvGrpSpPr>
        <p:grpSpPr>
          <a:xfrm>
            <a:off x="1386397" y="2371135"/>
            <a:ext cx="252000" cy="1718850"/>
            <a:chOff x="1490980" y="2364423"/>
            <a:chExt cx="252000" cy="1718850"/>
          </a:xfrm>
        </p:grpSpPr>
        <p:sp>
          <p:nvSpPr>
            <p:cNvPr id="111" name="Oval 36"/>
            <p:cNvSpPr>
              <a:spLocks noChangeArrowheads="1"/>
            </p:cNvSpPr>
            <p:nvPr/>
          </p:nvSpPr>
          <p:spPr bwMode="auto">
            <a:xfrm>
              <a:off x="1490980" y="236442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12" name="Oval 36"/>
            <p:cNvSpPr>
              <a:spLocks noChangeArrowheads="1"/>
            </p:cNvSpPr>
            <p:nvPr/>
          </p:nvSpPr>
          <p:spPr bwMode="auto">
            <a:xfrm>
              <a:off x="1490980" y="3831273"/>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107" name="组合 106"/>
          <p:cNvGrpSpPr/>
          <p:nvPr/>
        </p:nvGrpSpPr>
        <p:grpSpPr>
          <a:xfrm>
            <a:off x="1387091" y="2371135"/>
            <a:ext cx="256124" cy="1716960"/>
            <a:chOff x="1397743" y="2288040"/>
            <a:chExt cx="256124" cy="1716960"/>
          </a:xfrm>
        </p:grpSpPr>
        <p:sp>
          <p:nvSpPr>
            <p:cNvPr id="108" name="Oval 36"/>
            <p:cNvSpPr>
              <a:spLocks noChangeArrowheads="1"/>
            </p:cNvSpPr>
            <p:nvPr/>
          </p:nvSpPr>
          <p:spPr bwMode="auto">
            <a:xfrm>
              <a:off x="1401867" y="2288040"/>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09" name="Oval 36"/>
            <p:cNvSpPr>
              <a:spLocks noChangeArrowheads="1"/>
            </p:cNvSpPr>
            <p:nvPr/>
          </p:nvSpPr>
          <p:spPr bwMode="auto">
            <a:xfrm>
              <a:off x="1397743" y="3753000"/>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grpSp>
        <p:nvGrpSpPr>
          <p:cNvPr id="101" name="组合 100"/>
          <p:cNvGrpSpPr/>
          <p:nvPr/>
        </p:nvGrpSpPr>
        <p:grpSpPr>
          <a:xfrm>
            <a:off x="3325722" y="2449240"/>
            <a:ext cx="252000" cy="1562613"/>
            <a:chOff x="1490980" y="2364423"/>
            <a:chExt cx="252000" cy="1562613"/>
          </a:xfrm>
        </p:grpSpPr>
        <p:sp>
          <p:nvSpPr>
            <p:cNvPr id="98" name="Oval 36"/>
            <p:cNvSpPr>
              <a:spLocks noChangeArrowheads="1"/>
            </p:cNvSpPr>
            <p:nvPr/>
          </p:nvSpPr>
          <p:spPr bwMode="auto">
            <a:xfrm>
              <a:off x="1490980" y="2364423"/>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100" name="Oval 36"/>
            <p:cNvSpPr>
              <a:spLocks noChangeArrowheads="1"/>
            </p:cNvSpPr>
            <p:nvPr/>
          </p:nvSpPr>
          <p:spPr bwMode="auto">
            <a:xfrm>
              <a:off x="1490980" y="3675036"/>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4" fill="hold" grpId="0" nodeType="afterEffect">
                                  <p:stCondLst>
                                    <p:cond delay="0"/>
                                  </p:stCondLst>
                                  <p:childTnLst>
                                    <p:set>
                                      <p:cBhvr>
                                        <p:cTn id="12" dur="1" fill="hold">
                                          <p:stCondLst>
                                            <p:cond delay="0"/>
                                          </p:stCondLst>
                                        </p:cTn>
                                        <p:tgtEl>
                                          <p:spTgt spid="55"/>
                                        </p:tgtEl>
                                        <p:attrNameLst>
                                          <p:attrName>style.visibility</p:attrName>
                                        </p:attrNameLst>
                                      </p:cBhvr>
                                      <p:to>
                                        <p:strVal val="visible"/>
                                      </p:to>
                                    </p:set>
                                    <p:anim calcmode="lin" valueType="num">
                                      <p:cBhvr additive="base">
                                        <p:cTn id="13" dur="1000"/>
                                        <p:tgtEl>
                                          <p:spTgt spid="55"/>
                                        </p:tgtEl>
                                        <p:attrNameLst>
                                          <p:attrName>ppt_y</p:attrName>
                                        </p:attrNameLst>
                                      </p:cBhvr>
                                      <p:tavLst>
                                        <p:tav tm="0">
                                          <p:val>
                                            <p:strVal val="#ppt_y+#ppt_h*1.125000"/>
                                          </p:val>
                                        </p:tav>
                                        <p:tav tm="100000">
                                          <p:val>
                                            <p:strVal val="#ppt_y"/>
                                          </p:val>
                                        </p:tav>
                                      </p:tavLst>
                                    </p:anim>
                                    <p:animEffect transition="in" filter="wipe(up)">
                                      <p:cBhvr>
                                        <p:cTn id="14" dur="1000"/>
                                        <p:tgtEl>
                                          <p:spTgt spid="5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5"/>
                                        </p:tgtEl>
                                        <p:attrNameLst>
                                          <p:attrName>style.visibility</p:attrName>
                                        </p:attrNameLst>
                                      </p:cBhvr>
                                      <p:to>
                                        <p:strVal val="visible"/>
                                      </p:to>
                                    </p:set>
                                    <p:animEffect transition="in" filter="fade">
                                      <p:cBhvr>
                                        <p:cTn id="19" dur="1000"/>
                                        <p:tgtEl>
                                          <p:spTgt spid="65"/>
                                        </p:tgtEl>
                                      </p:cBhvr>
                                    </p:animEffect>
                                    <p:anim calcmode="lin" valueType="num">
                                      <p:cBhvr>
                                        <p:cTn id="20" dur="1000" fill="hold"/>
                                        <p:tgtEl>
                                          <p:spTgt spid="65"/>
                                        </p:tgtEl>
                                        <p:attrNameLst>
                                          <p:attrName>ppt_x</p:attrName>
                                        </p:attrNameLst>
                                      </p:cBhvr>
                                      <p:tavLst>
                                        <p:tav tm="0">
                                          <p:val>
                                            <p:strVal val="#ppt_x"/>
                                          </p:val>
                                        </p:tav>
                                        <p:tav tm="100000">
                                          <p:val>
                                            <p:strVal val="#ppt_x"/>
                                          </p:val>
                                        </p:tav>
                                      </p:tavLst>
                                    </p:anim>
                                    <p:anim calcmode="lin" valueType="num">
                                      <p:cBhvr>
                                        <p:cTn id="21" dur="1000" fill="hold"/>
                                        <p:tgtEl>
                                          <p:spTgt spid="65"/>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12" presetClass="entr" presetSubtype="4" fill="hold" grpId="0" nodeType="afterEffect">
                                  <p:stCondLst>
                                    <p:cond delay="0"/>
                                  </p:stCondLst>
                                  <p:childTnLst>
                                    <p:set>
                                      <p:cBhvr>
                                        <p:cTn id="24" dur="1" fill="hold">
                                          <p:stCondLst>
                                            <p:cond delay="0"/>
                                          </p:stCondLst>
                                        </p:cTn>
                                        <p:tgtEl>
                                          <p:spTgt spid="93"/>
                                        </p:tgtEl>
                                        <p:attrNameLst>
                                          <p:attrName>style.visibility</p:attrName>
                                        </p:attrNameLst>
                                      </p:cBhvr>
                                      <p:to>
                                        <p:strVal val="visible"/>
                                      </p:to>
                                    </p:set>
                                    <p:anim calcmode="lin" valueType="num">
                                      <p:cBhvr additive="base">
                                        <p:cTn id="25" dur="1000"/>
                                        <p:tgtEl>
                                          <p:spTgt spid="93"/>
                                        </p:tgtEl>
                                        <p:attrNameLst>
                                          <p:attrName>ppt_y</p:attrName>
                                        </p:attrNameLst>
                                      </p:cBhvr>
                                      <p:tavLst>
                                        <p:tav tm="0">
                                          <p:val>
                                            <p:strVal val="#ppt_y+#ppt_h*1.125000"/>
                                          </p:val>
                                        </p:tav>
                                        <p:tav tm="100000">
                                          <p:val>
                                            <p:strVal val="#ppt_y"/>
                                          </p:val>
                                        </p:tav>
                                      </p:tavLst>
                                    </p:anim>
                                    <p:animEffect transition="in" filter="wipe(up)">
                                      <p:cBhvr>
                                        <p:cTn id="26" dur="1000"/>
                                        <p:tgtEl>
                                          <p:spTgt spid="93"/>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94"/>
                                        </p:tgtEl>
                                        <p:attrNameLst>
                                          <p:attrName>style.visibility</p:attrName>
                                        </p:attrNameLst>
                                      </p:cBhvr>
                                      <p:to>
                                        <p:strVal val="visible"/>
                                      </p:to>
                                    </p:set>
                                    <p:anim calcmode="lin" valueType="num">
                                      <p:cBhvr additive="base">
                                        <p:cTn id="31" dur="1000"/>
                                        <p:tgtEl>
                                          <p:spTgt spid="94"/>
                                        </p:tgtEl>
                                        <p:attrNameLst>
                                          <p:attrName>ppt_x</p:attrName>
                                        </p:attrNameLst>
                                      </p:cBhvr>
                                      <p:tavLst>
                                        <p:tav tm="0">
                                          <p:val>
                                            <p:strVal val="#ppt_x-#ppt_w*1.125000"/>
                                          </p:val>
                                        </p:tav>
                                        <p:tav tm="100000">
                                          <p:val>
                                            <p:strVal val="#ppt_x"/>
                                          </p:val>
                                        </p:tav>
                                      </p:tavLst>
                                    </p:anim>
                                    <p:animEffect transition="in" filter="wipe(right)">
                                      <p:cBhvr>
                                        <p:cTn id="32" dur="1000"/>
                                        <p:tgtEl>
                                          <p:spTgt spid="94"/>
                                        </p:tgtEl>
                                      </p:cBhvr>
                                    </p:animEffect>
                                  </p:childTnLst>
                                </p:cTn>
                              </p:par>
                              <p:par>
                                <p:cTn id="33" presetID="42" presetClass="entr" presetSubtype="0" fill="hold" grpId="0" nodeType="with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fade">
                                      <p:cBhvr>
                                        <p:cTn id="35" dur="1000"/>
                                        <p:tgtEl>
                                          <p:spTgt spid="73"/>
                                        </p:tgtEl>
                                      </p:cBhvr>
                                    </p:animEffect>
                                    <p:anim calcmode="lin" valueType="num">
                                      <p:cBhvr>
                                        <p:cTn id="36" dur="1000" fill="hold"/>
                                        <p:tgtEl>
                                          <p:spTgt spid="73"/>
                                        </p:tgtEl>
                                        <p:attrNameLst>
                                          <p:attrName>ppt_x</p:attrName>
                                        </p:attrNameLst>
                                      </p:cBhvr>
                                      <p:tavLst>
                                        <p:tav tm="0">
                                          <p:val>
                                            <p:strVal val="#ppt_x"/>
                                          </p:val>
                                        </p:tav>
                                        <p:tav tm="100000">
                                          <p:val>
                                            <p:strVal val="#ppt_x"/>
                                          </p:val>
                                        </p:tav>
                                      </p:tavLst>
                                    </p:anim>
                                    <p:anim calcmode="lin" valueType="num">
                                      <p:cBhvr>
                                        <p:cTn id="37" dur="1000" fill="hold"/>
                                        <p:tgtEl>
                                          <p:spTgt spid="73"/>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53" presetClass="entr" presetSubtype="16" fill="hold" nodeType="afterEffect">
                                  <p:stCondLst>
                                    <p:cond delay="0"/>
                                  </p:stCondLst>
                                  <p:childTnLst>
                                    <p:set>
                                      <p:cBhvr>
                                        <p:cTn id="40" dur="1" fill="hold">
                                          <p:stCondLst>
                                            <p:cond delay="0"/>
                                          </p:stCondLst>
                                        </p:cTn>
                                        <p:tgtEl>
                                          <p:spTgt spid="110"/>
                                        </p:tgtEl>
                                        <p:attrNameLst>
                                          <p:attrName>style.visibility</p:attrName>
                                        </p:attrNameLst>
                                      </p:cBhvr>
                                      <p:to>
                                        <p:strVal val="visible"/>
                                      </p:to>
                                    </p:set>
                                    <p:anim calcmode="lin" valueType="num">
                                      <p:cBhvr>
                                        <p:cTn id="41" dur="1000" fill="hold"/>
                                        <p:tgtEl>
                                          <p:spTgt spid="110"/>
                                        </p:tgtEl>
                                        <p:attrNameLst>
                                          <p:attrName>ppt_w</p:attrName>
                                        </p:attrNameLst>
                                      </p:cBhvr>
                                      <p:tavLst>
                                        <p:tav tm="0">
                                          <p:val>
                                            <p:fltVal val="0"/>
                                          </p:val>
                                        </p:tav>
                                        <p:tav tm="100000">
                                          <p:val>
                                            <p:strVal val="#ppt_w"/>
                                          </p:val>
                                        </p:tav>
                                      </p:tavLst>
                                    </p:anim>
                                    <p:anim calcmode="lin" valueType="num">
                                      <p:cBhvr>
                                        <p:cTn id="42" dur="1000" fill="hold"/>
                                        <p:tgtEl>
                                          <p:spTgt spid="110"/>
                                        </p:tgtEl>
                                        <p:attrNameLst>
                                          <p:attrName>ppt_h</p:attrName>
                                        </p:attrNameLst>
                                      </p:cBhvr>
                                      <p:tavLst>
                                        <p:tav tm="0">
                                          <p:val>
                                            <p:fltVal val="0"/>
                                          </p:val>
                                        </p:tav>
                                        <p:tav tm="100000">
                                          <p:val>
                                            <p:strVal val="#ppt_h"/>
                                          </p:val>
                                        </p:tav>
                                      </p:tavLst>
                                    </p:anim>
                                    <p:animEffect transition="in" filter="fade">
                                      <p:cBhvr>
                                        <p:cTn id="43" dur="1000"/>
                                        <p:tgtEl>
                                          <p:spTgt spid="110"/>
                                        </p:tgtEl>
                                      </p:cBhvr>
                                    </p:animEffect>
                                  </p:childTnLst>
                                </p:cTn>
                              </p:par>
                            </p:childTnLst>
                          </p:cTn>
                        </p:par>
                        <p:par>
                          <p:cTn id="44" fill="hold">
                            <p:stCondLst>
                              <p:cond delay="2000"/>
                            </p:stCondLst>
                            <p:childTnLst>
                              <p:par>
                                <p:cTn id="45" presetID="12" presetClass="entr" presetSubtype="8" fill="hold" nodeType="afterEffect">
                                  <p:stCondLst>
                                    <p:cond delay="0"/>
                                  </p:stCondLst>
                                  <p:childTnLst>
                                    <p:set>
                                      <p:cBhvr>
                                        <p:cTn id="46" dur="1" fill="hold">
                                          <p:stCondLst>
                                            <p:cond delay="0"/>
                                          </p:stCondLst>
                                        </p:cTn>
                                        <p:tgtEl>
                                          <p:spTgt spid="103"/>
                                        </p:tgtEl>
                                        <p:attrNameLst>
                                          <p:attrName>style.visibility</p:attrName>
                                        </p:attrNameLst>
                                      </p:cBhvr>
                                      <p:to>
                                        <p:strVal val="visible"/>
                                      </p:to>
                                    </p:set>
                                    <p:anim calcmode="lin" valueType="num">
                                      <p:cBhvr additive="base">
                                        <p:cTn id="47" dur="1000"/>
                                        <p:tgtEl>
                                          <p:spTgt spid="103"/>
                                        </p:tgtEl>
                                        <p:attrNameLst>
                                          <p:attrName>ppt_x</p:attrName>
                                        </p:attrNameLst>
                                      </p:cBhvr>
                                      <p:tavLst>
                                        <p:tav tm="0">
                                          <p:val>
                                            <p:strVal val="#ppt_x-#ppt_w*1.125000"/>
                                          </p:val>
                                        </p:tav>
                                        <p:tav tm="100000">
                                          <p:val>
                                            <p:strVal val="#ppt_x"/>
                                          </p:val>
                                        </p:tav>
                                      </p:tavLst>
                                    </p:anim>
                                    <p:animEffect transition="in" filter="wipe(right)">
                                      <p:cBhvr>
                                        <p:cTn id="48" dur="1000"/>
                                        <p:tgtEl>
                                          <p:spTgt spid="103"/>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grpId="0" nodeType="clickEffect">
                                  <p:stCondLst>
                                    <p:cond delay="0"/>
                                  </p:stCondLst>
                                  <p:childTnLst>
                                    <p:set>
                                      <p:cBhvr>
                                        <p:cTn id="52" dur="1" fill="hold">
                                          <p:stCondLst>
                                            <p:cond delay="0"/>
                                          </p:stCondLst>
                                        </p:cTn>
                                        <p:tgtEl>
                                          <p:spTgt spid="106"/>
                                        </p:tgtEl>
                                        <p:attrNameLst>
                                          <p:attrName>style.visibility</p:attrName>
                                        </p:attrNameLst>
                                      </p:cBhvr>
                                      <p:to>
                                        <p:strVal val="visible"/>
                                      </p:to>
                                    </p:set>
                                    <p:anim calcmode="lin" valueType="num">
                                      <p:cBhvr additive="base">
                                        <p:cTn id="53" dur="1000"/>
                                        <p:tgtEl>
                                          <p:spTgt spid="106"/>
                                        </p:tgtEl>
                                        <p:attrNameLst>
                                          <p:attrName>ppt_x</p:attrName>
                                        </p:attrNameLst>
                                      </p:cBhvr>
                                      <p:tavLst>
                                        <p:tav tm="0">
                                          <p:val>
                                            <p:strVal val="#ppt_x-#ppt_w*1.125000"/>
                                          </p:val>
                                        </p:tav>
                                        <p:tav tm="100000">
                                          <p:val>
                                            <p:strVal val="#ppt_x"/>
                                          </p:val>
                                        </p:tav>
                                      </p:tavLst>
                                    </p:anim>
                                    <p:animEffect transition="in" filter="wipe(right)">
                                      <p:cBhvr>
                                        <p:cTn id="54" dur="1000"/>
                                        <p:tgtEl>
                                          <p:spTgt spid="106"/>
                                        </p:tgtEl>
                                      </p:cBhvr>
                                    </p:animEffect>
                                  </p:childTnLst>
                                </p:cTn>
                              </p:par>
                            </p:childTnLst>
                          </p:cTn>
                        </p:par>
                        <p:par>
                          <p:cTn id="55" fill="hold">
                            <p:stCondLst>
                              <p:cond delay="1000"/>
                            </p:stCondLst>
                            <p:childTnLst>
                              <p:par>
                                <p:cTn id="56" presetID="53" presetClass="entr" presetSubtype="16" fill="hold" nodeType="afterEffect">
                                  <p:stCondLst>
                                    <p:cond delay="0"/>
                                  </p:stCondLst>
                                  <p:childTnLst>
                                    <p:set>
                                      <p:cBhvr>
                                        <p:cTn id="57" dur="1" fill="hold">
                                          <p:stCondLst>
                                            <p:cond delay="0"/>
                                          </p:stCondLst>
                                        </p:cTn>
                                        <p:tgtEl>
                                          <p:spTgt spid="107"/>
                                        </p:tgtEl>
                                        <p:attrNameLst>
                                          <p:attrName>style.visibility</p:attrName>
                                        </p:attrNameLst>
                                      </p:cBhvr>
                                      <p:to>
                                        <p:strVal val="visible"/>
                                      </p:to>
                                    </p:set>
                                    <p:anim calcmode="lin" valueType="num">
                                      <p:cBhvr>
                                        <p:cTn id="58" dur="1000" fill="hold"/>
                                        <p:tgtEl>
                                          <p:spTgt spid="107"/>
                                        </p:tgtEl>
                                        <p:attrNameLst>
                                          <p:attrName>ppt_w</p:attrName>
                                        </p:attrNameLst>
                                      </p:cBhvr>
                                      <p:tavLst>
                                        <p:tav tm="0">
                                          <p:val>
                                            <p:fltVal val="0"/>
                                          </p:val>
                                        </p:tav>
                                        <p:tav tm="100000">
                                          <p:val>
                                            <p:strVal val="#ppt_w"/>
                                          </p:val>
                                        </p:tav>
                                      </p:tavLst>
                                    </p:anim>
                                    <p:anim calcmode="lin" valueType="num">
                                      <p:cBhvr>
                                        <p:cTn id="59" dur="1000" fill="hold"/>
                                        <p:tgtEl>
                                          <p:spTgt spid="107"/>
                                        </p:tgtEl>
                                        <p:attrNameLst>
                                          <p:attrName>ppt_h</p:attrName>
                                        </p:attrNameLst>
                                      </p:cBhvr>
                                      <p:tavLst>
                                        <p:tav tm="0">
                                          <p:val>
                                            <p:fltVal val="0"/>
                                          </p:val>
                                        </p:tav>
                                        <p:tav tm="100000">
                                          <p:val>
                                            <p:strVal val="#ppt_h"/>
                                          </p:val>
                                        </p:tav>
                                      </p:tavLst>
                                    </p:anim>
                                    <p:animEffect transition="in" filter="fade">
                                      <p:cBhvr>
                                        <p:cTn id="60" dur="1000"/>
                                        <p:tgtEl>
                                          <p:spTgt spid="107"/>
                                        </p:tgtEl>
                                      </p:cBhvr>
                                    </p:animEffect>
                                  </p:childTnLst>
                                </p:cTn>
                              </p:par>
                            </p:childTnLst>
                          </p:cTn>
                        </p:par>
                        <p:par>
                          <p:cTn id="61" fill="hold">
                            <p:stCondLst>
                              <p:cond delay="2000"/>
                            </p:stCondLst>
                            <p:childTnLst>
                              <p:par>
                                <p:cTn id="62" presetID="42" presetClass="entr" presetSubtype="0" fill="hold" grpId="0" nodeType="after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1000"/>
                                        <p:tgtEl>
                                          <p:spTgt spid="76"/>
                                        </p:tgtEl>
                                      </p:cBhvr>
                                    </p:animEffect>
                                    <p:anim calcmode="lin" valueType="num">
                                      <p:cBhvr>
                                        <p:cTn id="65" dur="1000" fill="hold"/>
                                        <p:tgtEl>
                                          <p:spTgt spid="76"/>
                                        </p:tgtEl>
                                        <p:attrNameLst>
                                          <p:attrName>ppt_x</p:attrName>
                                        </p:attrNameLst>
                                      </p:cBhvr>
                                      <p:tavLst>
                                        <p:tav tm="0">
                                          <p:val>
                                            <p:strVal val="#ppt_x"/>
                                          </p:val>
                                        </p:tav>
                                        <p:tav tm="100000">
                                          <p:val>
                                            <p:strVal val="#ppt_x"/>
                                          </p:val>
                                        </p:tav>
                                      </p:tavLst>
                                    </p:anim>
                                    <p:anim calcmode="lin" valueType="num">
                                      <p:cBhvr>
                                        <p:cTn id="66" dur="1000" fill="hold"/>
                                        <p:tgtEl>
                                          <p:spTgt spid="76"/>
                                        </p:tgtEl>
                                        <p:attrNameLst>
                                          <p:attrName>ppt_y</p:attrName>
                                        </p:attrNameLst>
                                      </p:cBhvr>
                                      <p:tavLst>
                                        <p:tav tm="0">
                                          <p:val>
                                            <p:strVal val="#ppt_y+.1"/>
                                          </p:val>
                                        </p:tav>
                                        <p:tav tm="100000">
                                          <p:val>
                                            <p:strVal val="#ppt_y"/>
                                          </p:val>
                                        </p:tav>
                                      </p:tavLst>
                                    </p:anim>
                                  </p:childTnLst>
                                </p:cTn>
                              </p:par>
                            </p:childTnLst>
                          </p:cTn>
                        </p:par>
                        <p:par>
                          <p:cTn id="67" fill="hold">
                            <p:stCondLst>
                              <p:cond delay="3000"/>
                            </p:stCondLst>
                            <p:childTnLst>
                              <p:par>
                                <p:cTn id="68" presetID="12" presetClass="entr" presetSubtype="8" fill="hold" nodeType="afterEffect">
                                  <p:stCondLst>
                                    <p:cond delay="0"/>
                                  </p:stCondLst>
                                  <p:childTnLst>
                                    <p:set>
                                      <p:cBhvr>
                                        <p:cTn id="69" dur="1" fill="hold">
                                          <p:stCondLst>
                                            <p:cond delay="0"/>
                                          </p:stCondLst>
                                        </p:cTn>
                                        <p:tgtEl>
                                          <p:spTgt spid="101"/>
                                        </p:tgtEl>
                                        <p:attrNameLst>
                                          <p:attrName>style.visibility</p:attrName>
                                        </p:attrNameLst>
                                      </p:cBhvr>
                                      <p:to>
                                        <p:strVal val="visible"/>
                                      </p:to>
                                    </p:set>
                                    <p:anim calcmode="lin" valueType="num">
                                      <p:cBhvr additive="base">
                                        <p:cTn id="70" dur="1000"/>
                                        <p:tgtEl>
                                          <p:spTgt spid="101"/>
                                        </p:tgtEl>
                                        <p:attrNameLst>
                                          <p:attrName>ppt_x</p:attrName>
                                        </p:attrNameLst>
                                      </p:cBhvr>
                                      <p:tavLst>
                                        <p:tav tm="0">
                                          <p:val>
                                            <p:strVal val="#ppt_x-#ppt_w*1.125000"/>
                                          </p:val>
                                        </p:tav>
                                        <p:tav tm="100000">
                                          <p:val>
                                            <p:strVal val="#ppt_x"/>
                                          </p:val>
                                        </p:tav>
                                      </p:tavLst>
                                    </p:anim>
                                    <p:animEffect transition="in" filter="wipe(right)">
                                      <p:cBhvr>
                                        <p:cTn id="71" dur="1000"/>
                                        <p:tgtEl>
                                          <p:spTgt spid="101"/>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1" fill="hold" nodeType="clickEffect">
                                  <p:stCondLst>
                                    <p:cond delay="0"/>
                                  </p:stCondLst>
                                  <p:childTnLst>
                                    <p:set>
                                      <p:cBhvr>
                                        <p:cTn id="75" dur="1" fill="hold">
                                          <p:stCondLst>
                                            <p:cond delay="0"/>
                                          </p:stCondLst>
                                        </p:cTn>
                                        <p:tgtEl>
                                          <p:spTgt spid="91"/>
                                        </p:tgtEl>
                                        <p:attrNameLst>
                                          <p:attrName>style.visibility</p:attrName>
                                        </p:attrNameLst>
                                      </p:cBhvr>
                                      <p:to>
                                        <p:strVal val="visible"/>
                                      </p:to>
                                    </p:set>
                                    <p:anim calcmode="lin" valueType="num">
                                      <p:cBhvr>
                                        <p:cTn id="76" dur="1000" fill="hold"/>
                                        <p:tgtEl>
                                          <p:spTgt spid="91"/>
                                        </p:tgtEl>
                                        <p:attrNameLst>
                                          <p:attrName>ppt_x</p:attrName>
                                        </p:attrNameLst>
                                      </p:cBhvr>
                                      <p:tavLst>
                                        <p:tav tm="0">
                                          <p:val>
                                            <p:strVal val="#ppt_x"/>
                                          </p:val>
                                        </p:tav>
                                        <p:tav tm="100000">
                                          <p:val>
                                            <p:strVal val="#ppt_x"/>
                                          </p:val>
                                        </p:tav>
                                      </p:tavLst>
                                    </p:anim>
                                    <p:anim calcmode="lin" valueType="num">
                                      <p:cBhvr>
                                        <p:cTn id="77" dur="1000" fill="hold"/>
                                        <p:tgtEl>
                                          <p:spTgt spid="91"/>
                                        </p:tgtEl>
                                        <p:attrNameLst>
                                          <p:attrName>ppt_y</p:attrName>
                                        </p:attrNameLst>
                                      </p:cBhvr>
                                      <p:tavLst>
                                        <p:tav tm="0">
                                          <p:val>
                                            <p:strVal val="#ppt_y-#ppt_h/2"/>
                                          </p:val>
                                        </p:tav>
                                        <p:tav tm="100000">
                                          <p:val>
                                            <p:strVal val="#ppt_y"/>
                                          </p:val>
                                        </p:tav>
                                      </p:tavLst>
                                    </p:anim>
                                    <p:anim calcmode="lin" valueType="num">
                                      <p:cBhvr>
                                        <p:cTn id="78" dur="1000" fill="hold"/>
                                        <p:tgtEl>
                                          <p:spTgt spid="91"/>
                                        </p:tgtEl>
                                        <p:attrNameLst>
                                          <p:attrName>ppt_w</p:attrName>
                                        </p:attrNameLst>
                                      </p:cBhvr>
                                      <p:tavLst>
                                        <p:tav tm="0">
                                          <p:val>
                                            <p:strVal val="#ppt_w"/>
                                          </p:val>
                                        </p:tav>
                                        <p:tav tm="100000">
                                          <p:val>
                                            <p:strVal val="#ppt_w"/>
                                          </p:val>
                                        </p:tav>
                                      </p:tavLst>
                                    </p:anim>
                                    <p:anim calcmode="lin" valueType="num">
                                      <p:cBhvr>
                                        <p:cTn id="79" dur="1000" fill="hold"/>
                                        <p:tgtEl>
                                          <p:spTgt spid="91"/>
                                        </p:tgtEl>
                                        <p:attrNameLst>
                                          <p:attrName>ppt_h</p:attrName>
                                        </p:attrNameLst>
                                      </p:cBhvr>
                                      <p:tavLst>
                                        <p:tav tm="0">
                                          <p:val>
                                            <p:fltVal val="0"/>
                                          </p:val>
                                        </p:tav>
                                        <p:tav tm="100000">
                                          <p:val>
                                            <p:strVal val="#ppt_h"/>
                                          </p:val>
                                        </p:tav>
                                      </p:tavLst>
                                    </p:anim>
                                  </p:childTnLst>
                                </p:cTn>
                              </p:par>
                            </p:childTnLst>
                          </p:cTn>
                        </p:par>
                        <p:par>
                          <p:cTn id="80" fill="hold">
                            <p:stCondLst>
                              <p:cond delay="1000"/>
                            </p:stCondLst>
                            <p:childTnLst>
                              <p:par>
                                <p:cTn id="81" presetID="42" presetClass="entr" presetSubtype="0" fill="hold" nodeType="afterEffect">
                                  <p:stCondLst>
                                    <p:cond delay="0"/>
                                  </p:stCondLst>
                                  <p:childTnLst>
                                    <p:set>
                                      <p:cBhvr>
                                        <p:cTn id="82" dur="1" fill="hold">
                                          <p:stCondLst>
                                            <p:cond delay="0"/>
                                          </p:stCondLst>
                                        </p:cTn>
                                        <p:tgtEl>
                                          <p:spTgt spid="92"/>
                                        </p:tgtEl>
                                        <p:attrNameLst>
                                          <p:attrName>style.visibility</p:attrName>
                                        </p:attrNameLst>
                                      </p:cBhvr>
                                      <p:to>
                                        <p:strVal val="visible"/>
                                      </p:to>
                                    </p:set>
                                    <p:animEffect transition="in" filter="fade">
                                      <p:cBhvr>
                                        <p:cTn id="83" dur="1000"/>
                                        <p:tgtEl>
                                          <p:spTgt spid="92"/>
                                        </p:tgtEl>
                                      </p:cBhvr>
                                    </p:animEffect>
                                    <p:anim calcmode="lin" valueType="num">
                                      <p:cBhvr>
                                        <p:cTn id="84" dur="1000" fill="hold"/>
                                        <p:tgtEl>
                                          <p:spTgt spid="92"/>
                                        </p:tgtEl>
                                        <p:attrNameLst>
                                          <p:attrName>ppt_x</p:attrName>
                                        </p:attrNameLst>
                                      </p:cBhvr>
                                      <p:tavLst>
                                        <p:tav tm="0">
                                          <p:val>
                                            <p:strVal val="#ppt_x"/>
                                          </p:val>
                                        </p:tav>
                                        <p:tav tm="100000">
                                          <p:val>
                                            <p:strVal val="#ppt_x"/>
                                          </p:val>
                                        </p:tav>
                                      </p:tavLst>
                                    </p:anim>
                                    <p:anim calcmode="lin" valueType="num">
                                      <p:cBhvr>
                                        <p:cTn id="85"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73" grpId="0" animBg="1"/>
      <p:bldP spid="76" grpId="0" animBg="1"/>
      <p:bldP spid="93" grpId="0" animBg="1"/>
      <p:bldP spid="94" grpId="0" animBg="1"/>
      <p:bldP spid="10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599306" cy="420971"/>
            <a:chOff x="670560" y="892917"/>
            <a:chExt cx="1599306" cy="420971"/>
          </a:xfrm>
        </p:grpSpPr>
        <p:sp>
          <p:nvSpPr>
            <p:cNvPr id="3" name="矩形 2"/>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291274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、传输门控</a:t>
            </a:r>
            <a:r>
              <a:rPr lang="en-US" altLang="zh-CN" dirty="0">
                <a:solidFill>
                  <a:srgbClr val="FF0000"/>
                </a:solidFill>
                <a:latin typeface="微软雅黑" panose="020B0503020204020204" pitchFamily="34" charset="-122"/>
                <a:ea typeface="微软雅黑" panose="020B0503020204020204" pitchFamily="34" charset="-122"/>
              </a:rPr>
              <a:t>D</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598170" y="1943100"/>
            <a:ext cx="2769870" cy="2522220"/>
            <a:chOff x="598170" y="1943100"/>
            <a:chExt cx="2769870" cy="2522220"/>
          </a:xfrm>
        </p:grpSpPr>
        <p:pic>
          <p:nvPicPr>
            <p:cNvPr id="6" name="图片 5"/>
            <p:cNvPicPr>
              <a:picLocks noChangeAspect="1"/>
            </p:cNvPicPr>
            <p:nvPr/>
          </p:nvPicPr>
          <p:blipFill>
            <a:blip r:embed="rId2"/>
            <a:stretch>
              <a:fillRect/>
            </a:stretch>
          </p:blipFill>
          <p:spPr>
            <a:xfrm>
              <a:off x="699585" y="2006282"/>
              <a:ext cx="2527667" cy="2352135"/>
            </a:xfrm>
            <a:prstGeom prst="rect">
              <a:avLst/>
            </a:prstGeom>
          </p:spPr>
        </p:pic>
        <p:sp>
          <p:nvSpPr>
            <p:cNvPr id="7" name="剪去对角的矩形 6"/>
            <p:cNvSpPr/>
            <p:nvPr/>
          </p:nvSpPr>
          <p:spPr>
            <a:xfrm>
              <a:off x="598170" y="1943100"/>
              <a:ext cx="2769870" cy="2522220"/>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Oval 36"/>
          <p:cNvSpPr>
            <a:spLocks noChangeArrowheads="1"/>
          </p:cNvSpPr>
          <p:nvPr/>
        </p:nvSpPr>
        <p:spPr bwMode="auto">
          <a:xfrm>
            <a:off x="1248421" y="1991354"/>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4" name="Oval 36"/>
          <p:cNvSpPr>
            <a:spLocks noChangeArrowheads="1"/>
          </p:cNvSpPr>
          <p:nvPr/>
        </p:nvSpPr>
        <p:spPr bwMode="auto">
          <a:xfrm>
            <a:off x="2442856" y="3084607"/>
            <a:ext cx="252000" cy="252000"/>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5" name="Oval 36"/>
          <p:cNvSpPr>
            <a:spLocks noChangeArrowheads="1"/>
          </p:cNvSpPr>
          <p:nvPr/>
        </p:nvSpPr>
        <p:spPr bwMode="auto">
          <a:xfrm>
            <a:off x="1344415" y="2959478"/>
            <a:ext cx="312012" cy="341407"/>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3785870" y="2061210"/>
            <a:ext cx="1958340" cy="2379345"/>
            <a:chOff x="3785870" y="2061210"/>
            <a:chExt cx="1958340" cy="2379345"/>
          </a:xfrm>
        </p:grpSpPr>
        <p:grpSp>
          <p:nvGrpSpPr>
            <p:cNvPr id="57" name="组合 20"/>
            <p:cNvGrpSpPr/>
            <p:nvPr/>
          </p:nvGrpSpPr>
          <p:grpSpPr>
            <a:xfrm>
              <a:off x="3785870" y="2061210"/>
              <a:ext cx="1958340" cy="2379345"/>
              <a:chOff x="3785870" y="1764030"/>
              <a:chExt cx="1958340" cy="2379345"/>
            </a:xfrm>
          </p:grpSpPr>
          <p:grpSp>
            <p:nvGrpSpPr>
              <p:cNvPr id="60" name="组合 13"/>
              <p:cNvGrpSpPr/>
              <p:nvPr/>
            </p:nvGrpSpPr>
            <p:grpSpPr>
              <a:xfrm>
                <a:off x="3785870" y="1764030"/>
                <a:ext cx="1958340" cy="2379345"/>
                <a:chOff x="991235" y="1905000"/>
                <a:chExt cx="1958340" cy="2379345"/>
              </a:xfrm>
            </p:grpSpPr>
            <p:sp>
              <p:nvSpPr>
                <p:cNvPr id="62" name="剪去对角的矩形 61"/>
                <p:cNvSpPr/>
                <p:nvPr/>
              </p:nvSpPr>
              <p:spPr>
                <a:xfrm>
                  <a:off x="991235" y="2076450"/>
                  <a:ext cx="1958340" cy="2207895"/>
                </a:xfrm>
                <a:prstGeom prst="snip2DiagRect">
                  <a:avLst>
                    <a:gd name="adj1" fmla="val 0"/>
                    <a:gd name="adj2" fmla="val 1192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1485899" y="1905000"/>
                  <a:ext cx="943538" cy="333375"/>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CP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1</a:t>
                  </a:r>
                  <a:endParaRPr lang="zh-CN" altLang="en-US" b="1" dirty="0">
                    <a:solidFill>
                      <a:srgbClr val="FF0000"/>
                    </a:solidFill>
                  </a:endParaRPr>
                </a:p>
              </p:txBody>
            </p:sp>
          </p:grpSp>
          <p:pic>
            <p:nvPicPr>
              <p:cNvPr id="61" name="Picture 1"/>
              <p:cNvPicPr>
                <a:picLocks noChangeAspect="1" noChangeArrowheads="1"/>
              </p:cNvPicPr>
              <p:nvPr/>
            </p:nvPicPr>
            <p:blipFill>
              <a:blip r:embed="rId3" cstate="print"/>
              <a:srcRect l="2694"/>
              <a:stretch>
                <a:fillRect/>
              </a:stretch>
            </p:blipFill>
            <p:spPr bwMode="auto">
              <a:xfrm>
                <a:off x="3901440" y="2186940"/>
                <a:ext cx="1823265" cy="1790700"/>
              </a:xfrm>
              <a:prstGeom prst="rect">
                <a:avLst/>
              </a:prstGeom>
              <a:noFill/>
              <a:ln w="9525">
                <a:noFill/>
                <a:miter lim="800000"/>
                <a:headEnd/>
                <a:tailEnd/>
              </a:ln>
              <a:effectLst/>
            </p:spPr>
          </p:pic>
        </p:grpSp>
        <p:sp>
          <p:nvSpPr>
            <p:cNvPr id="58" name="TextBox 48"/>
            <p:cNvSpPr txBox="1"/>
            <p:nvPr/>
          </p:nvSpPr>
          <p:spPr>
            <a:xfrm>
              <a:off x="4340087" y="2915478"/>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1</a:t>
              </a:r>
              <a:endParaRPr lang="zh-CN" altLang="en-US" sz="1200" b="1" dirty="0">
                <a:latin typeface="Times New Roman" panose="02020603050405020304" pitchFamily="18" charset="0"/>
                <a:cs typeface="Times New Roman" panose="02020603050405020304" pitchFamily="18" charset="0"/>
              </a:endParaRPr>
            </a:p>
          </p:txBody>
        </p:sp>
        <p:sp>
          <p:nvSpPr>
            <p:cNvPr id="59" name="TextBox 52"/>
            <p:cNvSpPr txBox="1"/>
            <p:nvPr/>
          </p:nvSpPr>
          <p:spPr>
            <a:xfrm>
              <a:off x="4459357" y="3101008"/>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2</a:t>
              </a:r>
              <a:endParaRPr lang="zh-CN" altLang="en-US" sz="1200" b="1" dirty="0">
                <a:latin typeface="Times New Roman" panose="02020603050405020304" pitchFamily="18" charset="0"/>
                <a:cs typeface="Times New Roman" panose="02020603050405020304" pitchFamily="18" charset="0"/>
              </a:endParaRPr>
            </a:p>
          </p:txBody>
        </p:sp>
      </p:grpSp>
      <p:cxnSp>
        <p:nvCxnSpPr>
          <p:cNvPr id="64" name="直接箭头连接符 63"/>
          <p:cNvCxnSpPr/>
          <p:nvPr/>
        </p:nvCxnSpPr>
        <p:spPr>
          <a:xfrm>
            <a:off x="4069080" y="2865120"/>
            <a:ext cx="1260000" cy="1588"/>
          </a:xfrm>
          <a:prstGeom prst="straightConnector1">
            <a:avLst/>
          </a:prstGeom>
          <a:ln w="63500">
            <a:solidFill>
              <a:srgbClr val="FF0000">
                <a:alpha val="47843"/>
              </a:srgbClr>
            </a:solidFill>
            <a:tailEnd type="stealth" w="med" len="med"/>
          </a:ln>
        </p:spPr>
        <p:style>
          <a:lnRef idx="1">
            <a:schemeClr val="accent1"/>
          </a:lnRef>
          <a:fillRef idx="0">
            <a:schemeClr val="accent1"/>
          </a:fillRef>
          <a:effectRef idx="0">
            <a:schemeClr val="accent1"/>
          </a:effectRef>
          <a:fontRef idx="minor">
            <a:schemeClr val="tx1"/>
          </a:fontRef>
        </p:style>
      </p:cxnSp>
      <p:sp>
        <p:nvSpPr>
          <p:cNvPr id="65" name="任意多边形 64"/>
          <p:cNvSpPr/>
          <p:nvPr/>
        </p:nvSpPr>
        <p:spPr>
          <a:xfrm>
            <a:off x="4552950" y="2948940"/>
            <a:ext cx="773430" cy="944880"/>
          </a:xfrm>
          <a:custGeom>
            <a:avLst/>
            <a:gdLst>
              <a:gd name="connsiteX0" fmla="*/ 697230 w 773430"/>
              <a:gd name="connsiteY0" fmla="*/ 0 h 963930"/>
              <a:gd name="connsiteX1" fmla="*/ 689610 w 773430"/>
              <a:gd name="connsiteY1" fmla="*/ 381000 h 963930"/>
              <a:gd name="connsiteX2" fmla="*/ 605790 w 773430"/>
              <a:gd name="connsiteY2" fmla="*/ 518160 h 963930"/>
              <a:gd name="connsiteX3" fmla="*/ 148590 w 773430"/>
              <a:gd name="connsiteY3" fmla="*/ 678180 h 963930"/>
              <a:gd name="connsiteX4" fmla="*/ 41910 w 773430"/>
              <a:gd name="connsiteY4" fmla="*/ 723900 h 963930"/>
              <a:gd name="connsiteX5" fmla="*/ 3810 w 773430"/>
              <a:gd name="connsiteY5" fmla="*/ 845820 h 963930"/>
              <a:gd name="connsiteX6" fmla="*/ 64770 w 773430"/>
              <a:gd name="connsiteY6" fmla="*/ 944880 h 963930"/>
              <a:gd name="connsiteX7" fmla="*/ 346710 w 773430"/>
              <a:gd name="connsiteY7" fmla="*/ 960120 h 963930"/>
              <a:gd name="connsiteX8" fmla="*/ 773430 w 773430"/>
              <a:gd name="connsiteY8" fmla="*/ 960120 h 963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3430" h="963930">
                <a:moveTo>
                  <a:pt x="697230" y="0"/>
                </a:moveTo>
                <a:cubicBezTo>
                  <a:pt x="701040" y="147320"/>
                  <a:pt x="704850" y="294640"/>
                  <a:pt x="689610" y="381000"/>
                </a:cubicBezTo>
                <a:cubicBezTo>
                  <a:pt x="674370" y="467360"/>
                  <a:pt x="695960" y="468630"/>
                  <a:pt x="605790" y="518160"/>
                </a:cubicBezTo>
                <a:cubicBezTo>
                  <a:pt x="515620" y="567690"/>
                  <a:pt x="242570" y="643890"/>
                  <a:pt x="148590" y="678180"/>
                </a:cubicBezTo>
                <a:cubicBezTo>
                  <a:pt x="54610" y="712470"/>
                  <a:pt x="66040" y="695960"/>
                  <a:pt x="41910" y="723900"/>
                </a:cubicBezTo>
                <a:cubicBezTo>
                  <a:pt x="17780" y="751840"/>
                  <a:pt x="0" y="808990"/>
                  <a:pt x="3810" y="845820"/>
                </a:cubicBezTo>
                <a:cubicBezTo>
                  <a:pt x="7620" y="882650"/>
                  <a:pt x="7620" y="925830"/>
                  <a:pt x="64770" y="944880"/>
                </a:cubicBezTo>
                <a:cubicBezTo>
                  <a:pt x="121920" y="963930"/>
                  <a:pt x="228600" y="957580"/>
                  <a:pt x="346710" y="960120"/>
                </a:cubicBezTo>
                <a:cubicBezTo>
                  <a:pt x="464820" y="962660"/>
                  <a:pt x="619125" y="961390"/>
                  <a:pt x="773430" y="960120"/>
                </a:cubicBezTo>
              </a:path>
            </a:pathLst>
          </a:custGeom>
          <a:ln w="63500">
            <a:solidFill>
              <a:srgbClr val="FF0000">
                <a:alpha val="47843"/>
              </a:srgbClr>
            </a:solidFill>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6" name="组合 45"/>
          <p:cNvGrpSpPr/>
          <p:nvPr/>
        </p:nvGrpSpPr>
        <p:grpSpPr>
          <a:xfrm>
            <a:off x="5501640" y="2743200"/>
            <a:ext cx="236220" cy="252000"/>
            <a:chOff x="5501640" y="2446020"/>
            <a:chExt cx="236220" cy="252000"/>
          </a:xfrm>
        </p:grpSpPr>
        <p:graphicFrame>
          <p:nvGraphicFramePr>
            <p:cNvPr id="67" name="对象 66"/>
            <p:cNvGraphicFramePr>
              <a:graphicFrameLocks noChangeAspect="1"/>
            </p:cNvGraphicFramePr>
            <p:nvPr/>
          </p:nvGraphicFramePr>
          <p:xfrm>
            <a:off x="5521960" y="2467245"/>
            <a:ext cx="195580" cy="209550"/>
          </p:xfrm>
          <a:graphic>
            <a:graphicData uri="http://schemas.openxmlformats.org/presentationml/2006/ole">
              <mc:AlternateContent xmlns:mc="http://schemas.openxmlformats.org/markup-compatibility/2006">
                <mc:Choice xmlns:v="urn:schemas-microsoft-com:vml" Requires="v">
                  <p:oleObj spid="_x0000_s14348" name="公式" r:id="rId4" imgW="177800" imgH="190500" progId="Equation.3">
                    <p:embed/>
                  </p:oleObj>
                </mc:Choice>
                <mc:Fallback>
                  <p:oleObj name="公式" r:id="rId4" imgW="177800" imgH="190500" progId="Equation.3">
                    <p:embed/>
                    <p:pic>
                      <p:nvPicPr>
                        <p:cNvPr id="0" name="对象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1960" y="2467245"/>
                          <a:ext cx="195580" cy="209550"/>
                        </a:xfrm>
                        <a:prstGeom prst="rect">
                          <a:avLst/>
                        </a:prstGeom>
                        <a:solidFill>
                          <a:srgbClr val="FFFF00"/>
                        </a:solidFill>
                      </p:spPr>
                    </p:pic>
                  </p:oleObj>
                </mc:Fallback>
              </mc:AlternateContent>
            </a:graphicData>
          </a:graphic>
        </p:graphicFrame>
        <p:sp>
          <p:nvSpPr>
            <p:cNvPr id="68" name="AutoShape 8"/>
            <p:cNvSpPr>
              <a:spLocks noChangeArrowheads="1"/>
            </p:cNvSpPr>
            <p:nvPr/>
          </p:nvSpPr>
          <p:spPr bwMode="auto">
            <a:xfrm>
              <a:off x="5501640" y="2446020"/>
              <a:ext cx="236220" cy="252000"/>
            </a:xfrm>
            <a:prstGeom prst="roundRect">
              <a:avLst>
                <a:gd name="adj" fmla="val 30238"/>
              </a:avLst>
            </a:prstGeom>
            <a:solidFill>
              <a:srgbClr val="FFFF00">
                <a:alpha val="17000"/>
              </a:srgbClr>
            </a:solidFill>
            <a:ln w="12700"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grpSp>
        <p:nvGrpSpPr>
          <p:cNvPr id="69" name="组合 48"/>
          <p:cNvGrpSpPr/>
          <p:nvPr/>
        </p:nvGrpSpPr>
        <p:grpSpPr>
          <a:xfrm>
            <a:off x="5494020" y="3764280"/>
            <a:ext cx="236220" cy="252000"/>
            <a:chOff x="5501640" y="2446020"/>
            <a:chExt cx="236220" cy="252000"/>
          </a:xfrm>
        </p:grpSpPr>
        <p:sp>
          <p:nvSpPr>
            <p:cNvPr id="70" name="AutoShape 8"/>
            <p:cNvSpPr>
              <a:spLocks noChangeArrowheads="1"/>
            </p:cNvSpPr>
            <p:nvPr/>
          </p:nvSpPr>
          <p:spPr bwMode="auto">
            <a:xfrm>
              <a:off x="5501640" y="2446020"/>
              <a:ext cx="236220" cy="252000"/>
            </a:xfrm>
            <a:prstGeom prst="roundRect">
              <a:avLst>
                <a:gd name="adj" fmla="val 30238"/>
              </a:avLst>
            </a:prstGeom>
            <a:solidFill>
              <a:srgbClr val="FFFF00">
                <a:alpha val="17000"/>
              </a:srgbClr>
            </a:solidFill>
            <a:ln w="12700"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aphicFrame>
          <p:nvGraphicFramePr>
            <p:cNvPr id="71" name="对象 70"/>
            <p:cNvGraphicFramePr>
              <a:graphicFrameLocks noChangeAspect="1"/>
            </p:cNvGraphicFramePr>
            <p:nvPr/>
          </p:nvGraphicFramePr>
          <p:xfrm>
            <a:off x="5527993" y="2480945"/>
            <a:ext cx="180975" cy="180975"/>
          </p:xfrm>
          <a:graphic>
            <a:graphicData uri="http://schemas.openxmlformats.org/presentationml/2006/ole">
              <mc:AlternateContent xmlns:mc="http://schemas.openxmlformats.org/markup-compatibility/2006">
                <mc:Choice xmlns:v="urn:schemas-microsoft-com:vml" Requires="v">
                  <p:oleObj spid="_x0000_s14349" name="公式" r:id="rId6" imgW="165100" imgH="165100" progId="Equation.3">
                    <p:embed/>
                  </p:oleObj>
                </mc:Choice>
                <mc:Fallback>
                  <p:oleObj name="公式" r:id="rId6" imgW="165100" imgH="165100" progId="Equation.3">
                    <p:embed/>
                    <p:pic>
                      <p:nvPicPr>
                        <p:cNvPr id="0" name="对象 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7993" y="2480945"/>
                          <a:ext cx="180975" cy="180975"/>
                        </a:xfrm>
                        <a:prstGeom prst="rect">
                          <a:avLst/>
                        </a:prstGeom>
                        <a:solidFill>
                          <a:srgbClr val="FFFF00"/>
                        </a:solidFill>
                      </p:spPr>
                    </p:pic>
                  </p:oleObj>
                </mc:Fallback>
              </mc:AlternateContent>
            </a:graphicData>
          </a:graphic>
        </p:graphicFrame>
      </p:grpSp>
      <p:sp>
        <p:nvSpPr>
          <p:cNvPr id="72" name="圆角矩形 71"/>
          <p:cNvSpPr/>
          <p:nvPr/>
        </p:nvSpPr>
        <p:spPr>
          <a:xfrm>
            <a:off x="4192886" y="4267202"/>
            <a:ext cx="1296000" cy="33337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接收 </a:t>
            </a:r>
            <a:r>
              <a:rPr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3" name="组合 12"/>
          <p:cNvGrpSpPr/>
          <p:nvPr/>
        </p:nvGrpSpPr>
        <p:grpSpPr>
          <a:xfrm>
            <a:off x="1190230" y="2464568"/>
            <a:ext cx="1358097" cy="1665222"/>
            <a:chOff x="1631674" y="2410032"/>
            <a:chExt cx="1358097" cy="1665222"/>
          </a:xfrm>
        </p:grpSpPr>
        <p:sp>
          <p:nvSpPr>
            <p:cNvPr id="74" name="AutoShape 8"/>
            <p:cNvSpPr>
              <a:spLocks noChangeArrowheads="1"/>
            </p:cNvSpPr>
            <p:nvPr/>
          </p:nvSpPr>
          <p:spPr bwMode="auto">
            <a:xfrm>
              <a:off x="1631674" y="2410032"/>
              <a:ext cx="360000" cy="380511"/>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5" name="AutoShape 8"/>
            <p:cNvSpPr>
              <a:spLocks noChangeArrowheads="1"/>
            </p:cNvSpPr>
            <p:nvPr/>
          </p:nvSpPr>
          <p:spPr bwMode="auto">
            <a:xfrm>
              <a:off x="2367842" y="2949645"/>
              <a:ext cx="360000" cy="373826"/>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6" name="AutoShape 8"/>
            <p:cNvSpPr>
              <a:spLocks noChangeArrowheads="1"/>
            </p:cNvSpPr>
            <p:nvPr/>
          </p:nvSpPr>
          <p:spPr bwMode="auto">
            <a:xfrm>
              <a:off x="2753814" y="2410032"/>
              <a:ext cx="235957" cy="388006"/>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7" name="AutoShape 8"/>
            <p:cNvSpPr>
              <a:spLocks noChangeArrowheads="1"/>
            </p:cNvSpPr>
            <p:nvPr/>
          </p:nvSpPr>
          <p:spPr bwMode="auto">
            <a:xfrm>
              <a:off x="2748801" y="3717794"/>
              <a:ext cx="240969" cy="357460"/>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3" presetClass="entr" presetSubtype="16" fill="hold" nodeType="clickEffect">
                                  <p:stCondLst>
                                    <p:cond delay="0"/>
                                  </p:stCondLst>
                                  <p:childTnLst>
                                    <p:set>
                                      <p:cBhvr>
                                        <p:cTn id="19" dur="1" fill="hold">
                                          <p:stCondLst>
                                            <p:cond delay="0"/>
                                          </p:stCondLst>
                                        </p:cTn>
                                        <p:tgtEl>
                                          <p:spTgt spid="73"/>
                                        </p:tgtEl>
                                        <p:attrNameLst>
                                          <p:attrName>style.visibility</p:attrName>
                                        </p:attrNameLst>
                                      </p:cBhvr>
                                      <p:to>
                                        <p:strVal val="visible"/>
                                      </p:to>
                                    </p:set>
                                    <p:anim calcmode="lin" valueType="num">
                                      <p:cBhvr>
                                        <p:cTn id="20" dur="1000" fill="hold"/>
                                        <p:tgtEl>
                                          <p:spTgt spid="73"/>
                                        </p:tgtEl>
                                        <p:attrNameLst>
                                          <p:attrName>ppt_w</p:attrName>
                                        </p:attrNameLst>
                                      </p:cBhvr>
                                      <p:tavLst>
                                        <p:tav tm="0">
                                          <p:val>
                                            <p:fltVal val="0"/>
                                          </p:val>
                                        </p:tav>
                                        <p:tav tm="100000">
                                          <p:val>
                                            <p:strVal val="#ppt_w"/>
                                          </p:val>
                                        </p:tav>
                                      </p:tavLst>
                                    </p:anim>
                                    <p:anim calcmode="lin" valueType="num">
                                      <p:cBhvr>
                                        <p:cTn id="21" dur="10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55"/>
                                        </p:tgtEl>
                                        <p:attrNameLst>
                                          <p:attrName>style.visibility</p:attrName>
                                        </p:attrNameLst>
                                      </p:cBhvr>
                                      <p:to>
                                        <p:strVal val="visible"/>
                                      </p:to>
                                    </p:set>
                                    <p:anim calcmode="lin" valueType="num">
                                      <p:cBhvr>
                                        <p:cTn id="26" dur="1000" fill="hold"/>
                                        <p:tgtEl>
                                          <p:spTgt spid="55"/>
                                        </p:tgtEl>
                                        <p:attrNameLst>
                                          <p:attrName>ppt_w</p:attrName>
                                        </p:attrNameLst>
                                      </p:cBhvr>
                                      <p:tavLst>
                                        <p:tav tm="0">
                                          <p:val>
                                            <p:fltVal val="0"/>
                                          </p:val>
                                        </p:tav>
                                        <p:tav tm="100000">
                                          <p:val>
                                            <p:strVal val="#ppt_w"/>
                                          </p:val>
                                        </p:tav>
                                      </p:tavLst>
                                    </p:anim>
                                    <p:anim calcmode="lin" valueType="num">
                                      <p:cBhvr>
                                        <p:cTn id="27" dur="1000" fill="hold"/>
                                        <p:tgtEl>
                                          <p:spTgt spid="55"/>
                                        </p:tgtEl>
                                        <p:attrNameLst>
                                          <p:attrName>ppt_h</p:attrName>
                                        </p:attrNameLst>
                                      </p:cBhvr>
                                      <p:tavLst>
                                        <p:tav tm="0">
                                          <p:val>
                                            <p:fltVal val="0"/>
                                          </p:val>
                                        </p:tav>
                                        <p:tav tm="100000">
                                          <p:val>
                                            <p:strVal val="#ppt_h"/>
                                          </p:val>
                                        </p:tav>
                                      </p:tavLst>
                                    </p:anim>
                                    <p:animEffect transition="in" filter="fade">
                                      <p:cBhvr>
                                        <p:cTn id="28" dur="1000"/>
                                        <p:tgtEl>
                                          <p:spTgt spid="55"/>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1000" fill="hold"/>
                                        <p:tgtEl>
                                          <p:spTgt spid="53"/>
                                        </p:tgtEl>
                                        <p:attrNameLst>
                                          <p:attrName>ppt_w</p:attrName>
                                        </p:attrNameLst>
                                      </p:cBhvr>
                                      <p:tavLst>
                                        <p:tav tm="0">
                                          <p:val>
                                            <p:fltVal val="0"/>
                                          </p:val>
                                        </p:tav>
                                        <p:tav tm="100000">
                                          <p:val>
                                            <p:strVal val="#ppt_w"/>
                                          </p:val>
                                        </p:tav>
                                      </p:tavLst>
                                    </p:anim>
                                    <p:anim calcmode="lin" valueType="num">
                                      <p:cBhvr>
                                        <p:cTn id="32" dur="1000" fill="hold"/>
                                        <p:tgtEl>
                                          <p:spTgt spid="53"/>
                                        </p:tgtEl>
                                        <p:attrNameLst>
                                          <p:attrName>ppt_h</p:attrName>
                                        </p:attrNameLst>
                                      </p:cBhvr>
                                      <p:tavLst>
                                        <p:tav tm="0">
                                          <p:val>
                                            <p:fltVal val="0"/>
                                          </p:val>
                                        </p:tav>
                                        <p:tav tm="100000">
                                          <p:val>
                                            <p:strVal val="#ppt_h"/>
                                          </p:val>
                                        </p:tav>
                                      </p:tavLst>
                                    </p:anim>
                                    <p:animEffect transition="in" filter="fade">
                                      <p:cBhvr>
                                        <p:cTn id="33" dur="1000"/>
                                        <p:tgtEl>
                                          <p:spTgt spid="53"/>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4"/>
                                        </p:tgtEl>
                                        <p:attrNameLst>
                                          <p:attrName>style.visibility</p:attrName>
                                        </p:attrNameLst>
                                      </p:cBhvr>
                                      <p:to>
                                        <p:strVal val="visible"/>
                                      </p:to>
                                    </p:set>
                                    <p:anim calcmode="lin" valueType="num">
                                      <p:cBhvr>
                                        <p:cTn id="36" dur="1000" fill="hold"/>
                                        <p:tgtEl>
                                          <p:spTgt spid="54"/>
                                        </p:tgtEl>
                                        <p:attrNameLst>
                                          <p:attrName>ppt_w</p:attrName>
                                        </p:attrNameLst>
                                      </p:cBhvr>
                                      <p:tavLst>
                                        <p:tav tm="0">
                                          <p:val>
                                            <p:fltVal val="0"/>
                                          </p:val>
                                        </p:tav>
                                        <p:tav tm="100000">
                                          <p:val>
                                            <p:strVal val="#ppt_w"/>
                                          </p:val>
                                        </p:tav>
                                      </p:tavLst>
                                    </p:anim>
                                    <p:anim calcmode="lin" valueType="num">
                                      <p:cBhvr>
                                        <p:cTn id="37" dur="1000" fill="hold"/>
                                        <p:tgtEl>
                                          <p:spTgt spid="54"/>
                                        </p:tgtEl>
                                        <p:attrNameLst>
                                          <p:attrName>ppt_h</p:attrName>
                                        </p:attrNameLst>
                                      </p:cBhvr>
                                      <p:tavLst>
                                        <p:tav tm="0">
                                          <p:val>
                                            <p:fltVal val="0"/>
                                          </p:val>
                                        </p:tav>
                                        <p:tav tm="100000">
                                          <p:val>
                                            <p:strVal val="#ppt_h"/>
                                          </p:val>
                                        </p:tav>
                                      </p:tavLst>
                                    </p:anim>
                                    <p:animEffect transition="in" filter="fade">
                                      <p:cBhvr>
                                        <p:cTn id="38" dur="1000"/>
                                        <p:tgtEl>
                                          <p:spTgt spid="54"/>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56"/>
                                        </p:tgtEl>
                                        <p:attrNameLst>
                                          <p:attrName>style.visibility</p:attrName>
                                        </p:attrNameLst>
                                      </p:cBhvr>
                                      <p:to>
                                        <p:strVal val="visible"/>
                                      </p:to>
                                    </p:set>
                                    <p:animEffect transition="in" filter="slide(fromLeft)">
                                      <p:cBhvr>
                                        <p:cTn id="43" dur="1000"/>
                                        <p:tgtEl>
                                          <p:spTgt spid="56"/>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slide(fromLeft)">
                                      <p:cBhvr>
                                        <p:cTn id="48" dur="1000"/>
                                        <p:tgtEl>
                                          <p:spTgt spid="64"/>
                                        </p:tgtEl>
                                      </p:cBhvr>
                                    </p:animEffect>
                                  </p:childTnLst>
                                </p:cTn>
                              </p:par>
                            </p:childTnLst>
                          </p:cTn>
                        </p:par>
                        <p:par>
                          <p:cTn id="49" fill="hold">
                            <p:stCondLst>
                              <p:cond delay="1000"/>
                            </p:stCondLst>
                            <p:childTnLst>
                              <p:par>
                                <p:cTn id="50" presetID="12" presetClass="entr" presetSubtype="8" fill="hold" nodeType="afterEffect">
                                  <p:stCondLst>
                                    <p:cond delay="0"/>
                                  </p:stCondLst>
                                  <p:childTnLst>
                                    <p:set>
                                      <p:cBhvr>
                                        <p:cTn id="51" dur="1" fill="hold">
                                          <p:stCondLst>
                                            <p:cond delay="0"/>
                                          </p:stCondLst>
                                        </p:cTn>
                                        <p:tgtEl>
                                          <p:spTgt spid="66"/>
                                        </p:tgtEl>
                                        <p:attrNameLst>
                                          <p:attrName>style.visibility</p:attrName>
                                        </p:attrNameLst>
                                      </p:cBhvr>
                                      <p:to>
                                        <p:strVal val="visible"/>
                                      </p:to>
                                    </p:set>
                                    <p:animEffect transition="in" filter="slide(fromLeft)">
                                      <p:cBhvr>
                                        <p:cTn id="52" dur="1000"/>
                                        <p:tgtEl>
                                          <p:spTgt spid="66"/>
                                        </p:tgtEl>
                                      </p:cBhvr>
                                    </p:animEffect>
                                  </p:childTnLst>
                                </p:cTn>
                              </p:par>
                            </p:childTnLst>
                          </p:cTn>
                        </p:par>
                        <p:par>
                          <p:cTn id="53" fill="hold">
                            <p:stCondLst>
                              <p:cond delay="2000"/>
                            </p:stCondLst>
                            <p:childTnLst>
                              <p:par>
                                <p:cTn id="54" presetID="22" presetClass="entr" presetSubtype="1" fill="hold" grpId="0" nodeType="after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wipe(up)">
                                      <p:cBhvr>
                                        <p:cTn id="56" dur="1000"/>
                                        <p:tgtEl>
                                          <p:spTgt spid="65"/>
                                        </p:tgtEl>
                                      </p:cBhvr>
                                    </p:animEffect>
                                  </p:childTnLst>
                                </p:cTn>
                              </p:par>
                            </p:childTnLst>
                          </p:cTn>
                        </p:par>
                        <p:par>
                          <p:cTn id="57" fill="hold">
                            <p:stCondLst>
                              <p:cond delay="3000"/>
                            </p:stCondLst>
                            <p:childTnLst>
                              <p:par>
                                <p:cTn id="58" presetID="12" presetClass="entr" presetSubtype="8" fill="hold" nodeType="afterEffect">
                                  <p:stCondLst>
                                    <p:cond delay="0"/>
                                  </p:stCondLst>
                                  <p:childTnLst>
                                    <p:set>
                                      <p:cBhvr>
                                        <p:cTn id="59" dur="1" fill="hold">
                                          <p:stCondLst>
                                            <p:cond delay="0"/>
                                          </p:stCondLst>
                                        </p:cTn>
                                        <p:tgtEl>
                                          <p:spTgt spid="69"/>
                                        </p:tgtEl>
                                        <p:attrNameLst>
                                          <p:attrName>style.visibility</p:attrName>
                                        </p:attrNameLst>
                                      </p:cBhvr>
                                      <p:to>
                                        <p:strVal val="visible"/>
                                      </p:to>
                                    </p:set>
                                    <p:animEffect transition="in" filter="slide(fromLeft)">
                                      <p:cBhvr>
                                        <p:cTn id="60" dur="1000"/>
                                        <p:tgtEl>
                                          <p:spTgt spid="69"/>
                                        </p:tgtEl>
                                      </p:cBhvr>
                                    </p:animEffect>
                                  </p:childTnLst>
                                </p:cTn>
                              </p:par>
                            </p:childTnLst>
                          </p:cTn>
                        </p:par>
                        <p:par>
                          <p:cTn id="61" fill="hold">
                            <p:stCondLst>
                              <p:cond delay="4000"/>
                            </p:stCondLst>
                            <p:childTnLst>
                              <p:par>
                                <p:cTn id="62" presetID="12" presetClass="entr" presetSubtype="4" fill="hold" grpId="0" nodeType="afterEffect">
                                  <p:stCondLst>
                                    <p:cond delay="0"/>
                                  </p:stCondLst>
                                  <p:childTnLst>
                                    <p:set>
                                      <p:cBhvr>
                                        <p:cTn id="63" dur="1" fill="hold">
                                          <p:stCondLst>
                                            <p:cond delay="0"/>
                                          </p:stCondLst>
                                        </p:cTn>
                                        <p:tgtEl>
                                          <p:spTgt spid="72"/>
                                        </p:tgtEl>
                                        <p:attrNameLst>
                                          <p:attrName>style.visibility</p:attrName>
                                        </p:attrNameLst>
                                      </p:cBhvr>
                                      <p:to>
                                        <p:strVal val="visible"/>
                                      </p:to>
                                    </p:set>
                                    <p:animEffect transition="in" filter="slide(fromBottom)">
                                      <p:cBhvr>
                                        <p:cTn id="64" dur="10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3" grpId="0" animBg="1"/>
      <p:bldP spid="54" grpId="0" animBg="1"/>
      <p:bldP spid="55" grpId="0" animBg="1"/>
      <p:bldP spid="65" grpId="0" animBg="1"/>
      <p:bldP spid="7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1599306" cy="420971"/>
            <a:chOff x="670560" y="892917"/>
            <a:chExt cx="1599306" cy="420971"/>
          </a:xfrm>
        </p:grpSpPr>
        <p:sp>
          <p:nvSpPr>
            <p:cNvPr id="3" name="矩形 2"/>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0"/>
          <p:cNvSpPr>
            <a:spLocks noChangeArrowheads="1"/>
          </p:cNvSpPr>
          <p:nvPr/>
        </p:nvSpPr>
        <p:spPr bwMode="auto">
          <a:xfrm>
            <a:off x="417194" y="1301115"/>
            <a:ext cx="291274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、传输门控</a:t>
            </a:r>
            <a:r>
              <a:rPr lang="en-US" altLang="zh-CN" dirty="0">
                <a:solidFill>
                  <a:srgbClr val="FF0000"/>
                </a:solidFill>
                <a:latin typeface="微软雅黑" panose="020B0503020204020204" pitchFamily="34" charset="-122"/>
                <a:ea typeface="微软雅黑" panose="020B0503020204020204" pitchFamily="34" charset="-122"/>
              </a:rPr>
              <a:t>D</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598170" y="1943100"/>
            <a:ext cx="2769870" cy="2522220"/>
            <a:chOff x="598170" y="1943100"/>
            <a:chExt cx="2769870" cy="2522220"/>
          </a:xfrm>
        </p:grpSpPr>
        <p:pic>
          <p:nvPicPr>
            <p:cNvPr id="6" name="图片 5"/>
            <p:cNvPicPr>
              <a:picLocks noChangeAspect="1"/>
            </p:cNvPicPr>
            <p:nvPr/>
          </p:nvPicPr>
          <p:blipFill>
            <a:blip r:embed="rId2"/>
            <a:stretch>
              <a:fillRect/>
            </a:stretch>
          </p:blipFill>
          <p:spPr>
            <a:xfrm>
              <a:off x="699585" y="2006282"/>
              <a:ext cx="2527667" cy="2352135"/>
            </a:xfrm>
            <a:prstGeom prst="rect">
              <a:avLst/>
            </a:prstGeom>
          </p:spPr>
        </p:pic>
        <p:sp>
          <p:nvSpPr>
            <p:cNvPr id="7" name="剪去对角的矩形 6"/>
            <p:cNvSpPr/>
            <p:nvPr/>
          </p:nvSpPr>
          <p:spPr>
            <a:xfrm>
              <a:off x="598170" y="1943100"/>
              <a:ext cx="2769870" cy="2522220"/>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Oval 36"/>
          <p:cNvSpPr>
            <a:spLocks noChangeArrowheads="1"/>
          </p:cNvSpPr>
          <p:nvPr/>
        </p:nvSpPr>
        <p:spPr bwMode="auto">
          <a:xfrm>
            <a:off x="1248421" y="1991354"/>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4" name="Oval 36"/>
          <p:cNvSpPr>
            <a:spLocks noChangeArrowheads="1"/>
          </p:cNvSpPr>
          <p:nvPr/>
        </p:nvSpPr>
        <p:spPr bwMode="auto">
          <a:xfrm>
            <a:off x="2442856" y="3084607"/>
            <a:ext cx="252000" cy="252000"/>
          </a:xfrm>
          <a:prstGeom prst="ellipse">
            <a:avLst/>
          </a:prstGeom>
          <a:solidFill>
            <a:srgbClr val="FF0000"/>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1</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sp>
        <p:nvSpPr>
          <p:cNvPr id="55" name="Oval 36"/>
          <p:cNvSpPr>
            <a:spLocks noChangeArrowheads="1"/>
          </p:cNvSpPr>
          <p:nvPr/>
        </p:nvSpPr>
        <p:spPr bwMode="auto">
          <a:xfrm>
            <a:off x="1320421" y="2973975"/>
            <a:ext cx="312012" cy="341407"/>
          </a:xfrm>
          <a:prstGeom prst="ellipse">
            <a:avLst/>
          </a:prstGeom>
          <a:solidFill>
            <a:srgbClr val="0000FF"/>
          </a:solidFill>
          <a:ln w="9525">
            <a:solidFill>
              <a:schemeClr val="bg1"/>
            </a:solidFill>
            <a:round/>
          </a:ln>
        </p:spPr>
        <p:txBody>
          <a:bodyPr wrap="none" lIns="0" tIns="0" rIns="0" bIns="0" anchor="ctr"/>
          <a:lstStyle/>
          <a:p>
            <a:pPr algn="ctr"/>
            <a:r>
              <a:rPr lang="en-US" altLang="zh-CN" sz="1600" b="1" dirty="0">
                <a:solidFill>
                  <a:schemeClr val="bg1"/>
                </a:solidFill>
                <a:latin typeface="微软雅黑" panose="020B0503020204020204" pitchFamily="34" charset="-122"/>
                <a:ea typeface="微软雅黑" panose="020B0503020204020204" pitchFamily="34" charset="-122"/>
              </a:rPr>
              <a:t>0</a:t>
            </a:r>
            <a:endParaRPr lang="en-US" altLang="zh-CN" sz="1600" b="1" dirty="0">
              <a:solidFill>
                <a:schemeClr val="bg1"/>
              </a:solidFill>
              <a:latin typeface="微软雅黑" panose="020B0503020204020204" pitchFamily="34" charset="-122"/>
              <a:ea typeface="微软雅黑" panose="020B0503020204020204" pitchFamily="34" charset="-122"/>
            </a:endParaRPr>
          </a:p>
        </p:txBody>
      </p:sp>
      <p:grpSp>
        <p:nvGrpSpPr>
          <p:cNvPr id="56" name="组合 55"/>
          <p:cNvGrpSpPr/>
          <p:nvPr/>
        </p:nvGrpSpPr>
        <p:grpSpPr>
          <a:xfrm>
            <a:off x="3785870" y="2061210"/>
            <a:ext cx="1958340" cy="2379345"/>
            <a:chOff x="3785870" y="2061210"/>
            <a:chExt cx="1958340" cy="2379345"/>
          </a:xfrm>
        </p:grpSpPr>
        <p:grpSp>
          <p:nvGrpSpPr>
            <p:cNvPr id="57" name="组合 20"/>
            <p:cNvGrpSpPr/>
            <p:nvPr/>
          </p:nvGrpSpPr>
          <p:grpSpPr>
            <a:xfrm>
              <a:off x="3785870" y="2061210"/>
              <a:ext cx="1958340" cy="2379345"/>
              <a:chOff x="3785870" y="1764030"/>
              <a:chExt cx="1958340" cy="2379345"/>
            </a:xfrm>
          </p:grpSpPr>
          <p:grpSp>
            <p:nvGrpSpPr>
              <p:cNvPr id="60" name="组合 13"/>
              <p:cNvGrpSpPr/>
              <p:nvPr/>
            </p:nvGrpSpPr>
            <p:grpSpPr>
              <a:xfrm>
                <a:off x="3785870" y="1764030"/>
                <a:ext cx="1958340" cy="2379345"/>
                <a:chOff x="991235" y="1905000"/>
                <a:chExt cx="1958340" cy="2379345"/>
              </a:xfrm>
            </p:grpSpPr>
            <p:sp>
              <p:nvSpPr>
                <p:cNvPr id="62" name="剪去对角的矩形 61"/>
                <p:cNvSpPr/>
                <p:nvPr/>
              </p:nvSpPr>
              <p:spPr>
                <a:xfrm>
                  <a:off x="991235" y="2076450"/>
                  <a:ext cx="1958340" cy="2207895"/>
                </a:xfrm>
                <a:prstGeom prst="snip2DiagRect">
                  <a:avLst>
                    <a:gd name="adj1" fmla="val 0"/>
                    <a:gd name="adj2" fmla="val 1192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1485899" y="1905000"/>
                  <a:ext cx="943538" cy="333375"/>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CP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1</a:t>
                  </a:r>
                  <a:endParaRPr lang="zh-CN" altLang="en-US" b="1" dirty="0">
                    <a:solidFill>
                      <a:srgbClr val="FF0000"/>
                    </a:solidFill>
                  </a:endParaRPr>
                </a:p>
              </p:txBody>
            </p:sp>
          </p:grpSp>
          <p:pic>
            <p:nvPicPr>
              <p:cNvPr id="61" name="Picture 1"/>
              <p:cNvPicPr>
                <a:picLocks noChangeAspect="1" noChangeArrowheads="1"/>
              </p:cNvPicPr>
              <p:nvPr/>
            </p:nvPicPr>
            <p:blipFill>
              <a:blip r:embed="rId3" cstate="print"/>
              <a:srcRect l="2694"/>
              <a:stretch>
                <a:fillRect/>
              </a:stretch>
            </p:blipFill>
            <p:spPr bwMode="auto">
              <a:xfrm>
                <a:off x="3901440" y="2186940"/>
                <a:ext cx="1823265" cy="1790700"/>
              </a:xfrm>
              <a:prstGeom prst="rect">
                <a:avLst/>
              </a:prstGeom>
              <a:noFill/>
              <a:ln w="9525">
                <a:noFill/>
                <a:miter lim="800000"/>
                <a:headEnd/>
                <a:tailEnd/>
              </a:ln>
              <a:effectLst/>
            </p:spPr>
          </p:pic>
        </p:grpSp>
        <p:sp>
          <p:nvSpPr>
            <p:cNvPr id="58" name="TextBox 48"/>
            <p:cNvSpPr txBox="1"/>
            <p:nvPr/>
          </p:nvSpPr>
          <p:spPr>
            <a:xfrm>
              <a:off x="4340087" y="2915478"/>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1</a:t>
              </a:r>
              <a:endParaRPr lang="zh-CN" altLang="en-US" sz="1200" b="1" dirty="0">
                <a:latin typeface="Times New Roman" panose="02020603050405020304" pitchFamily="18" charset="0"/>
                <a:cs typeface="Times New Roman" panose="02020603050405020304" pitchFamily="18" charset="0"/>
              </a:endParaRPr>
            </a:p>
          </p:txBody>
        </p:sp>
        <p:sp>
          <p:nvSpPr>
            <p:cNvPr id="59" name="TextBox 52"/>
            <p:cNvSpPr txBox="1"/>
            <p:nvPr/>
          </p:nvSpPr>
          <p:spPr>
            <a:xfrm>
              <a:off x="4459357" y="3101008"/>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2</a:t>
              </a:r>
              <a:endParaRPr lang="zh-CN" altLang="en-US" sz="1200" b="1" dirty="0">
                <a:latin typeface="Times New Roman" panose="02020603050405020304" pitchFamily="18" charset="0"/>
                <a:cs typeface="Times New Roman" panose="02020603050405020304" pitchFamily="18" charset="0"/>
              </a:endParaRPr>
            </a:p>
          </p:txBody>
        </p:sp>
      </p:grpSp>
      <p:cxnSp>
        <p:nvCxnSpPr>
          <p:cNvPr id="64" name="直接箭头连接符 63"/>
          <p:cNvCxnSpPr/>
          <p:nvPr/>
        </p:nvCxnSpPr>
        <p:spPr>
          <a:xfrm>
            <a:off x="4069080" y="2865120"/>
            <a:ext cx="1260000" cy="1588"/>
          </a:xfrm>
          <a:prstGeom prst="straightConnector1">
            <a:avLst/>
          </a:prstGeom>
          <a:ln w="63500">
            <a:solidFill>
              <a:srgbClr val="FF0000">
                <a:alpha val="47843"/>
              </a:srgbClr>
            </a:solidFill>
            <a:tailEnd type="stealth" w="med" len="med"/>
          </a:ln>
        </p:spPr>
        <p:style>
          <a:lnRef idx="1">
            <a:schemeClr val="accent1"/>
          </a:lnRef>
          <a:fillRef idx="0">
            <a:schemeClr val="accent1"/>
          </a:fillRef>
          <a:effectRef idx="0">
            <a:schemeClr val="accent1"/>
          </a:effectRef>
          <a:fontRef idx="minor">
            <a:schemeClr val="tx1"/>
          </a:fontRef>
        </p:style>
      </p:cxnSp>
      <p:sp>
        <p:nvSpPr>
          <p:cNvPr id="65" name="任意多边形 64"/>
          <p:cNvSpPr/>
          <p:nvPr/>
        </p:nvSpPr>
        <p:spPr>
          <a:xfrm>
            <a:off x="4552950" y="2948940"/>
            <a:ext cx="773430" cy="944880"/>
          </a:xfrm>
          <a:custGeom>
            <a:avLst/>
            <a:gdLst>
              <a:gd name="connsiteX0" fmla="*/ 697230 w 773430"/>
              <a:gd name="connsiteY0" fmla="*/ 0 h 963930"/>
              <a:gd name="connsiteX1" fmla="*/ 689610 w 773430"/>
              <a:gd name="connsiteY1" fmla="*/ 381000 h 963930"/>
              <a:gd name="connsiteX2" fmla="*/ 605790 w 773430"/>
              <a:gd name="connsiteY2" fmla="*/ 518160 h 963930"/>
              <a:gd name="connsiteX3" fmla="*/ 148590 w 773430"/>
              <a:gd name="connsiteY3" fmla="*/ 678180 h 963930"/>
              <a:gd name="connsiteX4" fmla="*/ 41910 w 773430"/>
              <a:gd name="connsiteY4" fmla="*/ 723900 h 963930"/>
              <a:gd name="connsiteX5" fmla="*/ 3810 w 773430"/>
              <a:gd name="connsiteY5" fmla="*/ 845820 h 963930"/>
              <a:gd name="connsiteX6" fmla="*/ 64770 w 773430"/>
              <a:gd name="connsiteY6" fmla="*/ 944880 h 963930"/>
              <a:gd name="connsiteX7" fmla="*/ 346710 w 773430"/>
              <a:gd name="connsiteY7" fmla="*/ 960120 h 963930"/>
              <a:gd name="connsiteX8" fmla="*/ 773430 w 773430"/>
              <a:gd name="connsiteY8" fmla="*/ 960120 h 963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3430" h="963930">
                <a:moveTo>
                  <a:pt x="697230" y="0"/>
                </a:moveTo>
                <a:cubicBezTo>
                  <a:pt x="701040" y="147320"/>
                  <a:pt x="704850" y="294640"/>
                  <a:pt x="689610" y="381000"/>
                </a:cubicBezTo>
                <a:cubicBezTo>
                  <a:pt x="674370" y="467360"/>
                  <a:pt x="695960" y="468630"/>
                  <a:pt x="605790" y="518160"/>
                </a:cubicBezTo>
                <a:cubicBezTo>
                  <a:pt x="515620" y="567690"/>
                  <a:pt x="242570" y="643890"/>
                  <a:pt x="148590" y="678180"/>
                </a:cubicBezTo>
                <a:cubicBezTo>
                  <a:pt x="54610" y="712470"/>
                  <a:pt x="66040" y="695960"/>
                  <a:pt x="41910" y="723900"/>
                </a:cubicBezTo>
                <a:cubicBezTo>
                  <a:pt x="17780" y="751840"/>
                  <a:pt x="0" y="808990"/>
                  <a:pt x="3810" y="845820"/>
                </a:cubicBezTo>
                <a:cubicBezTo>
                  <a:pt x="7620" y="882650"/>
                  <a:pt x="7620" y="925830"/>
                  <a:pt x="64770" y="944880"/>
                </a:cubicBezTo>
                <a:cubicBezTo>
                  <a:pt x="121920" y="963930"/>
                  <a:pt x="228600" y="957580"/>
                  <a:pt x="346710" y="960120"/>
                </a:cubicBezTo>
                <a:cubicBezTo>
                  <a:pt x="464820" y="962660"/>
                  <a:pt x="619125" y="961390"/>
                  <a:pt x="773430" y="960120"/>
                </a:cubicBezTo>
              </a:path>
            </a:pathLst>
          </a:custGeom>
          <a:ln w="63500">
            <a:solidFill>
              <a:srgbClr val="FF0000">
                <a:alpha val="47843"/>
              </a:srgbClr>
            </a:solidFill>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66" name="组合 45"/>
          <p:cNvGrpSpPr/>
          <p:nvPr/>
        </p:nvGrpSpPr>
        <p:grpSpPr>
          <a:xfrm>
            <a:off x="5501640" y="2743200"/>
            <a:ext cx="236220" cy="252000"/>
            <a:chOff x="5501640" y="2446020"/>
            <a:chExt cx="236220" cy="252000"/>
          </a:xfrm>
        </p:grpSpPr>
        <p:graphicFrame>
          <p:nvGraphicFramePr>
            <p:cNvPr id="67" name="对象 66"/>
            <p:cNvGraphicFramePr>
              <a:graphicFrameLocks noChangeAspect="1"/>
            </p:cNvGraphicFramePr>
            <p:nvPr/>
          </p:nvGraphicFramePr>
          <p:xfrm>
            <a:off x="5521960" y="2467245"/>
            <a:ext cx="195580" cy="209550"/>
          </p:xfrm>
          <a:graphic>
            <a:graphicData uri="http://schemas.openxmlformats.org/presentationml/2006/ole">
              <mc:AlternateContent xmlns:mc="http://schemas.openxmlformats.org/markup-compatibility/2006">
                <mc:Choice xmlns:v="urn:schemas-microsoft-com:vml" Requires="v">
                  <p:oleObj spid="_x0000_s15377" name="公式" r:id="rId4" imgW="177800" imgH="190500" progId="Equation.3">
                    <p:embed/>
                  </p:oleObj>
                </mc:Choice>
                <mc:Fallback>
                  <p:oleObj name="公式" r:id="rId4" imgW="177800" imgH="190500" progId="Equation.3">
                    <p:embed/>
                    <p:pic>
                      <p:nvPicPr>
                        <p:cNvPr id="0" name="对象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1960" y="2467245"/>
                          <a:ext cx="195580" cy="209550"/>
                        </a:xfrm>
                        <a:prstGeom prst="rect">
                          <a:avLst/>
                        </a:prstGeom>
                        <a:solidFill>
                          <a:srgbClr val="FFFF00"/>
                        </a:solidFill>
                      </p:spPr>
                    </p:pic>
                  </p:oleObj>
                </mc:Fallback>
              </mc:AlternateContent>
            </a:graphicData>
          </a:graphic>
        </p:graphicFrame>
        <p:sp>
          <p:nvSpPr>
            <p:cNvPr id="68" name="AutoShape 8"/>
            <p:cNvSpPr>
              <a:spLocks noChangeArrowheads="1"/>
            </p:cNvSpPr>
            <p:nvPr/>
          </p:nvSpPr>
          <p:spPr bwMode="auto">
            <a:xfrm>
              <a:off x="5501640" y="2446020"/>
              <a:ext cx="236220" cy="252000"/>
            </a:xfrm>
            <a:prstGeom prst="roundRect">
              <a:avLst>
                <a:gd name="adj" fmla="val 30238"/>
              </a:avLst>
            </a:prstGeom>
            <a:solidFill>
              <a:srgbClr val="FFFF00">
                <a:alpha val="17000"/>
              </a:srgbClr>
            </a:solidFill>
            <a:ln w="12700"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grpSp>
        <p:nvGrpSpPr>
          <p:cNvPr id="69" name="组合 48"/>
          <p:cNvGrpSpPr/>
          <p:nvPr/>
        </p:nvGrpSpPr>
        <p:grpSpPr>
          <a:xfrm>
            <a:off x="5494020" y="3764280"/>
            <a:ext cx="236220" cy="252000"/>
            <a:chOff x="5501640" y="2446020"/>
            <a:chExt cx="236220" cy="252000"/>
          </a:xfrm>
        </p:grpSpPr>
        <p:sp>
          <p:nvSpPr>
            <p:cNvPr id="70" name="AutoShape 8"/>
            <p:cNvSpPr>
              <a:spLocks noChangeArrowheads="1"/>
            </p:cNvSpPr>
            <p:nvPr/>
          </p:nvSpPr>
          <p:spPr bwMode="auto">
            <a:xfrm>
              <a:off x="5501640" y="2446020"/>
              <a:ext cx="236220" cy="252000"/>
            </a:xfrm>
            <a:prstGeom prst="roundRect">
              <a:avLst>
                <a:gd name="adj" fmla="val 30238"/>
              </a:avLst>
            </a:prstGeom>
            <a:solidFill>
              <a:srgbClr val="FFFF00">
                <a:alpha val="17000"/>
              </a:srgbClr>
            </a:solidFill>
            <a:ln w="12700"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aphicFrame>
          <p:nvGraphicFramePr>
            <p:cNvPr id="71" name="对象 70"/>
            <p:cNvGraphicFramePr>
              <a:graphicFrameLocks noChangeAspect="1"/>
            </p:cNvGraphicFramePr>
            <p:nvPr/>
          </p:nvGraphicFramePr>
          <p:xfrm>
            <a:off x="5527993" y="2480945"/>
            <a:ext cx="180975" cy="180975"/>
          </p:xfrm>
          <a:graphic>
            <a:graphicData uri="http://schemas.openxmlformats.org/presentationml/2006/ole">
              <mc:AlternateContent xmlns:mc="http://schemas.openxmlformats.org/markup-compatibility/2006">
                <mc:Choice xmlns:v="urn:schemas-microsoft-com:vml" Requires="v">
                  <p:oleObj spid="_x0000_s15378" name="公式" r:id="rId6" imgW="165100" imgH="165100" progId="Equation.3">
                    <p:embed/>
                  </p:oleObj>
                </mc:Choice>
                <mc:Fallback>
                  <p:oleObj name="公式" r:id="rId6" imgW="165100" imgH="165100" progId="Equation.3">
                    <p:embed/>
                    <p:pic>
                      <p:nvPicPr>
                        <p:cNvPr id="0" name="对象 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27993" y="2480945"/>
                          <a:ext cx="180975" cy="180975"/>
                        </a:xfrm>
                        <a:prstGeom prst="rect">
                          <a:avLst/>
                        </a:prstGeom>
                        <a:solidFill>
                          <a:srgbClr val="FFFF00"/>
                        </a:solidFill>
                      </p:spPr>
                    </p:pic>
                  </p:oleObj>
                </mc:Fallback>
              </mc:AlternateContent>
            </a:graphicData>
          </a:graphic>
        </p:graphicFrame>
      </p:grpSp>
      <p:sp>
        <p:nvSpPr>
          <p:cNvPr id="72" name="圆角矩形 71"/>
          <p:cNvSpPr/>
          <p:nvPr/>
        </p:nvSpPr>
        <p:spPr>
          <a:xfrm>
            <a:off x="4192886" y="4267202"/>
            <a:ext cx="1296000" cy="33337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接收 </a:t>
            </a:r>
            <a:r>
              <a:rPr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3" name="组合 12"/>
          <p:cNvGrpSpPr/>
          <p:nvPr/>
        </p:nvGrpSpPr>
        <p:grpSpPr>
          <a:xfrm>
            <a:off x="1190230" y="2464568"/>
            <a:ext cx="1358097" cy="1665222"/>
            <a:chOff x="1631674" y="2410032"/>
            <a:chExt cx="1358097" cy="1665222"/>
          </a:xfrm>
        </p:grpSpPr>
        <p:sp>
          <p:nvSpPr>
            <p:cNvPr id="74" name="AutoShape 8"/>
            <p:cNvSpPr>
              <a:spLocks noChangeArrowheads="1"/>
            </p:cNvSpPr>
            <p:nvPr/>
          </p:nvSpPr>
          <p:spPr bwMode="auto">
            <a:xfrm>
              <a:off x="1631674" y="2410032"/>
              <a:ext cx="360000" cy="380511"/>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5" name="AutoShape 8"/>
            <p:cNvSpPr>
              <a:spLocks noChangeArrowheads="1"/>
            </p:cNvSpPr>
            <p:nvPr/>
          </p:nvSpPr>
          <p:spPr bwMode="auto">
            <a:xfrm>
              <a:off x="2367842" y="2949645"/>
              <a:ext cx="360000" cy="373826"/>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6" name="AutoShape 8"/>
            <p:cNvSpPr>
              <a:spLocks noChangeArrowheads="1"/>
            </p:cNvSpPr>
            <p:nvPr/>
          </p:nvSpPr>
          <p:spPr bwMode="auto">
            <a:xfrm>
              <a:off x="2753814" y="2410032"/>
              <a:ext cx="235957" cy="388006"/>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77" name="AutoShape 8"/>
            <p:cNvSpPr>
              <a:spLocks noChangeArrowheads="1"/>
            </p:cNvSpPr>
            <p:nvPr/>
          </p:nvSpPr>
          <p:spPr bwMode="auto">
            <a:xfrm>
              <a:off x="2748801" y="3717794"/>
              <a:ext cx="240969" cy="357460"/>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grpSp>
        <p:nvGrpSpPr>
          <p:cNvPr id="34" name="组合 33"/>
          <p:cNvGrpSpPr/>
          <p:nvPr/>
        </p:nvGrpSpPr>
        <p:grpSpPr>
          <a:xfrm>
            <a:off x="6102350" y="2068830"/>
            <a:ext cx="1958340" cy="2379345"/>
            <a:chOff x="6102350" y="2068830"/>
            <a:chExt cx="1958340" cy="2379345"/>
          </a:xfrm>
        </p:grpSpPr>
        <p:grpSp>
          <p:nvGrpSpPr>
            <p:cNvPr id="35" name="组合 37"/>
            <p:cNvGrpSpPr/>
            <p:nvPr/>
          </p:nvGrpSpPr>
          <p:grpSpPr>
            <a:xfrm>
              <a:off x="6102350" y="2068830"/>
              <a:ext cx="1958340" cy="2379345"/>
              <a:chOff x="6102350" y="1771650"/>
              <a:chExt cx="1958340" cy="2379345"/>
            </a:xfrm>
          </p:grpSpPr>
          <p:grpSp>
            <p:nvGrpSpPr>
              <p:cNvPr id="38" name="组合 37"/>
              <p:cNvGrpSpPr/>
              <p:nvPr/>
            </p:nvGrpSpPr>
            <p:grpSpPr>
              <a:xfrm>
                <a:off x="6102350" y="1943100"/>
                <a:ext cx="1958340" cy="2207895"/>
                <a:chOff x="6102350" y="1943100"/>
                <a:chExt cx="1958340" cy="2207895"/>
              </a:xfrm>
            </p:grpSpPr>
            <p:sp>
              <p:nvSpPr>
                <p:cNvPr id="40" name="剪去对角的矩形 39"/>
                <p:cNvSpPr/>
                <p:nvPr/>
              </p:nvSpPr>
              <p:spPr>
                <a:xfrm>
                  <a:off x="6102350" y="1943100"/>
                  <a:ext cx="1958340" cy="2207895"/>
                </a:xfrm>
                <a:prstGeom prst="snip2DiagRect">
                  <a:avLst>
                    <a:gd name="adj1" fmla="val 0"/>
                    <a:gd name="adj2" fmla="val 11924"/>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1" name="Picture 1"/>
                <p:cNvPicPr>
                  <a:picLocks noChangeAspect="1" noChangeArrowheads="1"/>
                </p:cNvPicPr>
                <p:nvPr/>
              </p:nvPicPr>
              <p:blipFill>
                <a:blip r:embed="rId8" cstate="print"/>
                <a:srcRect/>
                <a:stretch>
                  <a:fillRect/>
                </a:stretch>
              </p:blipFill>
              <p:spPr bwMode="auto">
                <a:xfrm>
                  <a:off x="6209349" y="2161937"/>
                  <a:ext cx="1745931" cy="1776651"/>
                </a:xfrm>
                <a:prstGeom prst="rect">
                  <a:avLst/>
                </a:prstGeom>
                <a:noFill/>
                <a:ln w="9525">
                  <a:noFill/>
                  <a:miter lim="800000"/>
                  <a:headEnd/>
                  <a:tailEnd/>
                </a:ln>
                <a:effectLst/>
              </p:spPr>
            </p:pic>
          </p:grpSp>
          <p:sp>
            <p:nvSpPr>
              <p:cNvPr id="39" name="圆角矩形 38"/>
              <p:cNvSpPr/>
              <p:nvPr/>
            </p:nvSpPr>
            <p:spPr>
              <a:xfrm>
                <a:off x="6597014" y="1771650"/>
                <a:ext cx="950534" cy="333375"/>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CP </a:t>
                </a:r>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 0</a:t>
                </a:r>
                <a:endParaRPr lang="zh-CN" altLang="en-US" b="1" dirty="0">
                  <a:solidFill>
                    <a:srgbClr val="0000FF"/>
                  </a:solidFill>
                </a:endParaRPr>
              </a:p>
            </p:txBody>
          </p:sp>
        </p:grpSp>
        <p:sp>
          <p:nvSpPr>
            <p:cNvPr id="36" name="TextBox 65"/>
            <p:cNvSpPr txBox="1"/>
            <p:nvPr/>
          </p:nvSpPr>
          <p:spPr>
            <a:xfrm>
              <a:off x="6665843" y="2875721"/>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1</a:t>
              </a:r>
              <a:endParaRPr lang="zh-CN" altLang="en-US" sz="1200" b="1" dirty="0">
                <a:latin typeface="Times New Roman" panose="02020603050405020304" pitchFamily="18" charset="0"/>
                <a:cs typeface="Times New Roman" panose="02020603050405020304" pitchFamily="18" charset="0"/>
              </a:endParaRPr>
            </a:p>
          </p:txBody>
        </p:sp>
        <p:sp>
          <p:nvSpPr>
            <p:cNvPr id="37" name="TextBox 66"/>
            <p:cNvSpPr txBox="1"/>
            <p:nvPr/>
          </p:nvSpPr>
          <p:spPr>
            <a:xfrm>
              <a:off x="6732105" y="3101007"/>
              <a:ext cx="261610" cy="276999"/>
            </a:xfrm>
            <a:prstGeom prst="rect">
              <a:avLst/>
            </a:prstGeom>
            <a:noFill/>
          </p:spPr>
          <p:txBody>
            <a:bodyPr wrap="none" rtlCol="0">
              <a:spAutoFit/>
            </a:bodyPr>
            <a:lstStyle/>
            <a:p>
              <a:r>
                <a:rPr lang="en-US" altLang="zh-CN" sz="1200" b="1" dirty="0">
                  <a:latin typeface="Times New Roman" panose="02020603050405020304" pitchFamily="18" charset="0"/>
                  <a:cs typeface="Times New Roman" panose="02020603050405020304" pitchFamily="18" charset="0"/>
                </a:rPr>
                <a:t>2</a:t>
              </a:r>
              <a:endParaRPr lang="zh-CN" altLang="en-US" sz="1200" b="1" dirty="0">
                <a:latin typeface="Times New Roman" panose="02020603050405020304" pitchFamily="18" charset="0"/>
                <a:cs typeface="Times New Roman" panose="02020603050405020304" pitchFamily="18" charset="0"/>
              </a:endParaRPr>
            </a:p>
          </p:txBody>
        </p:sp>
      </p:grpSp>
      <p:grpSp>
        <p:nvGrpSpPr>
          <p:cNvPr id="42" name="组合 38"/>
          <p:cNvGrpSpPr/>
          <p:nvPr/>
        </p:nvGrpSpPr>
        <p:grpSpPr>
          <a:xfrm>
            <a:off x="7817485" y="3710940"/>
            <a:ext cx="236855" cy="252000"/>
            <a:chOff x="5501005" y="2446020"/>
            <a:chExt cx="236855" cy="252000"/>
          </a:xfrm>
        </p:grpSpPr>
        <p:sp>
          <p:nvSpPr>
            <p:cNvPr id="43" name="AutoShape 8"/>
            <p:cNvSpPr>
              <a:spLocks noChangeArrowheads="1"/>
            </p:cNvSpPr>
            <p:nvPr/>
          </p:nvSpPr>
          <p:spPr bwMode="auto">
            <a:xfrm>
              <a:off x="5501640" y="2446020"/>
              <a:ext cx="236220" cy="252000"/>
            </a:xfrm>
            <a:prstGeom prst="roundRect">
              <a:avLst>
                <a:gd name="adj" fmla="val 30238"/>
              </a:avLst>
            </a:prstGeom>
            <a:solidFill>
              <a:srgbClr val="FFFF00">
                <a:alpha val="17000"/>
              </a:srgbClr>
            </a:solidFill>
            <a:ln w="12700"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aphicFrame>
          <p:nvGraphicFramePr>
            <p:cNvPr id="44" name="对象 43"/>
            <p:cNvGraphicFramePr>
              <a:graphicFrameLocks noChangeAspect="1"/>
            </p:cNvGraphicFramePr>
            <p:nvPr/>
          </p:nvGraphicFramePr>
          <p:xfrm>
            <a:off x="5501005" y="2466023"/>
            <a:ext cx="236538" cy="209550"/>
          </p:xfrm>
          <a:graphic>
            <a:graphicData uri="http://schemas.openxmlformats.org/presentationml/2006/ole">
              <mc:AlternateContent xmlns:mc="http://schemas.openxmlformats.org/markup-compatibility/2006">
                <mc:Choice xmlns:v="urn:schemas-microsoft-com:vml" Requires="v">
                  <p:oleObj spid="_x0000_s15379" name="公式" r:id="rId9" imgW="215900" imgH="190500" progId="Equation.3">
                    <p:embed/>
                  </p:oleObj>
                </mc:Choice>
                <mc:Fallback>
                  <p:oleObj name="公式" r:id="rId9" imgW="215900" imgH="190500" progId="Equation.3">
                    <p:embed/>
                    <p:pic>
                      <p:nvPicPr>
                        <p:cNvPr id="0" name="对象 4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01005" y="2466023"/>
                          <a:ext cx="236538" cy="209550"/>
                        </a:xfrm>
                        <a:prstGeom prst="rect">
                          <a:avLst/>
                        </a:prstGeom>
                        <a:noFill/>
                        <a:extLst>
                          <a:ext uri="{909E8E84-426E-40DD-AFC4-6F175D3DCCD1}">
                            <a14:hiddenFill xmlns:a14="http://schemas.microsoft.com/office/drawing/2010/main">
                              <a:solidFill>
                                <a:srgbClr val="FFFF00"/>
                              </a:solidFill>
                            </a14:hiddenFill>
                          </a:ext>
                        </a:extLst>
                      </p:spPr>
                    </p:pic>
                  </p:oleObj>
                </mc:Fallback>
              </mc:AlternateContent>
            </a:graphicData>
          </a:graphic>
        </p:graphicFrame>
      </p:grpSp>
      <p:sp>
        <p:nvSpPr>
          <p:cNvPr id="45" name="任意多边形 44"/>
          <p:cNvSpPr/>
          <p:nvPr/>
        </p:nvSpPr>
        <p:spPr>
          <a:xfrm>
            <a:off x="6933671" y="2881630"/>
            <a:ext cx="686329" cy="942975"/>
          </a:xfrm>
          <a:custGeom>
            <a:avLst/>
            <a:gdLst>
              <a:gd name="connsiteX0" fmla="*/ 686329 w 686329"/>
              <a:gd name="connsiteY0" fmla="*/ 923925 h 942975"/>
              <a:gd name="connsiteX1" fmla="*/ 676804 w 686329"/>
              <a:gd name="connsiteY1" fmla="*/ 784225 h 942975"/>
              <a:gd name="connsiteX2" fmla="*/ 638704 w 686329"/>
              <a:gd name="connsiteY2" fmla="*/ 742950 h 942975"/>
              <a:gd name="connsiteX3" fmla="*/ 527579 w 686329"/>
              <a:gd name="connsiteY3" fmla="*/ 701675 h 942975"/>
              <a:gd name="connsiteX4" fmla="*/ 241829 w 686329"/>
              <a:gd name="connsiteY4" fmla="*/ 609600 h 942975"/>
              <a:gd name="connsiteX5" fmla="*/ 127529 w 686329"/>
              <a:gd name="connsiteY5" fmla="*/ 549275 h 942975"/>
              <a:gd name="connsiteX6" fmla="*/ 92604 w 686329"/>
              <a:gd name="connsiteY6" fmla="*/ 450850 h 942975"/>
              <a:gd name="connsiteX7" fmla="*/ 92604 w 686329"/>
              <a:gd name="connsiteY7" fmla="*/ 136525 h 942975"/>
              <a:gd name="connsiteX8" fmla="*/ 124354 w 686329"/>
              <a:gd name="connsiteY8" fmla="*/ 22225 h 942975"/>
              <a:gd name="connsiteX9" fmla="*/ 279929 w 686329"/>
              <a:gd name="connsiteY9" fmla="*/ 3175 h 942975"/>
              <a:gd name="connsiteX10" fmla="*/ 438679 w 686329"/>
              <a:gd name="connsiteY10" fmla="*/ 6350 h 942975"/>
              <a:gd name="connsiteX11" fmla="*/ 524404 w 686329"/>
              <a:gd name="connsiteY11" fmla="*/ 6350 h 942975"/>
              <a:gd name="connsiteX12" fmla="*/ 597429 w 686329"/>
              <a:gd name="connsiteY12" fmla="*/ 41275 h 942975"/>
              <a:gd name="connsiteX13" fmla="*/ 619654 w 686329"/>
              <a:gd name="connsiteY13" fmla="*/ 114300 h 942975"/>
              <a:gd name="connsiteX14" fmla="*/ 622829 w 686329"/>
              <a:gd name="connsiteY14" fmla="*/ 387350 h 942975"/>
              <a:gd name="connsiteX15" fmla="*/ 600604 w 686329"/>
              <a:gd name="connsiteY15" fmla="*/ 539750 h 942975"/>
              <a:gd name="connsiteX16" fmla="*/ 464079 w 686329"/>
              <a:gd name="connsiteY16" fmla="*/ 619125 h 942975"/>
              <a:gd name="connsiteX17" fmla="*/ 121179 w 686329"/>
              <a:gd name="connsiteY17" fmla="*/ 723900 h 942975"/>
              <a:gd name="connsiteX18" fmla="*/ 19579 w 686329"/>
              <a:gd name="connsiteY18" fmla="*/ 784225 h 942975"/>
              <a:gd name="connsiteX19" fmla="*/ 3704 w 686329"/>
              <a:gd name="connsiteY19" fmla="*/ 908050 h 942975"/>
              <a:gd name="connsiteX20" fmla="*/ 25929 w 686329"/>
              <a:gd name="connsiteY20" fmla="*/ 927100 h 942975"/>
              <a:gd name="connsiteX21" fmla="*/ 92604 w 686329"/>
              <a:gd name="connsiteY21" fmla="*/ 936625 h 942975"/>
              <a:gd name="connsiteX22" fmla="*/ 572029 w 686329"/>
              <a:gd name="connsiteY22" fmla="*/ 942975 h 94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86329" h="942975">
                <a:moveTo>
                  <a:pt x="686329" y="923925"/>
                </a:moveTo>
                <a:cubicBezTo>
                  <a:pt x="685535" y="869156"/>
                  <a:pt x="684742" y="814388"/>
                  <a:pt x="676804" y="784225"/>
                </a:cubicBezTo>
                <a:cubicBezTo>
                  <a:pt x="668866" y="754062"/>
                  <a:pt x="663575" y="756708"/>
                  <a:pt x="638704" y="742950"/>
                </a:cubicBezTo>
                <a:cubicBezTo>
                  <a:pt x="613833" y="729192"/>
                  <a:pt x="593725" y="723900"/>
                  <a:pt x="527579" y="701675"/>
                </a:cubicBezTo>
                <a:cubicBezTo>
                  <a:pt x="461433" y="679450"/>
                  <a:pt x="308504" y="635000"/>
                  <a:pt x="241829" y="609600"/>
                </a:cubicBezTo>
                <a:cubicBezTo>
                  <a:pt x="175154" y="584200"/>
                  <a:pt x="152400" y="575733"/>
                  <a:pt x="127529" y="549275"/>
                </a:cubicBezTo>
                <a:cubicBezTo>
                  <a:pt x="102658" y="522817"/>
                  <a:pt x="98425" y="519642"/>
                  <a:pt x="92604" y="450850"/>
                </a:cubicBezTo>
                <a:cubicBezTo>
                  <a:pt x="86783" y="382058"/>
                  <a:pt x="87312" y="207962"/>
                  <a:pt x="92604" y="136525"/>
                </a:cubicBezTo>
                <a:cubicBezTo>
                  <a:pt x="97896" y="65088"/>
                  <a:pt x="93133" y="44450"/>
                  <a:pt x="124354" y="22225"/>
                </a:cubicBezTo>
                <a:cubicBezTo>
                  <a:pt x="155575" y="0"/>
                  <a:pt x="227542" y="5821"/>
                  <a:pt x="279929" y="3175"/>
                </a:cubicBezTo>
                <a:cubicBezTo>
                  <a:pt x="332317" y="529"/>
                  <a:pt x="397933" y="5821"/>
                  <a:pt x="438679" y="6350"/>
                </a:cubicBezTo>
                <a:cubicBezTo>
                  <a:pt x="479425" y="6879"/>
                  <a:pt x="497946" y="529"/>
                  <a:pt x="524404" y="6350"/>
                </a:cubicBezTo>
                <a:cubicBezTo>
                  <a:pt x="550862" y="12171"/>
                  <a:pt x="581554" y="23283"/>
                  <a:pt x="597429" y="41275"/>
                </a:cubicBezTo>
                <a:cubicBezTo>
                  <a:pt x="613304" y="59267"/>
                  <a:pt x="615421" y="56621"/>
                  <a:pt x="619654" y="114300"/>
                </a:cubicBezTo>
                <a:cubicBezTo>
                  <a:pt x="623887" y="171979"/>
                  <a:pt x="626004" y="316442"/>
                  <a:pt x="622829" y="387350"/>
                </a:cubicBezTo>
                <a:cubicBezTo>
                  <a:pt x="619654" y="458258"/>
                  <a:pt x="627062" y="501121"/>
                  <a:pt x="600604" y="539750"/>
                </a:cubicBezTo>
                <a:cubicBezTo>
                  <a:pt x="574146" y="578379"/>
                  <a:pt x="543983" y="588433"/>
                  <a:pt x="464079" y="619125"/>
                </a:cubicBezTo>
                <a:cubicBezTo>
                  <a:pt x="384175" y="649817"/>
                  <a:pt x="195262" y="696383"/>
                  <a:pt x="121179" y="723900"/>
                </a:cubicBezTo>
                <a:cubicBezTo>
                  <a:pt x="47096" y="751417"/>
                  <a:pt x="39158" y="753533"/>
                  <a:pt x="19579" y="784225"/>
                </a:cubicBezTo>
                <a:cubicBezTo>
                  <a:pt x="0" y="814917"/>
                  <a:pt x="2646" y="884238"/>
                  <a:pt x="3704" y="908050"/>
                </a:cubicBezTo>
                <a:cubicBezTo>
                  <a:pt x="4762" y="931862"/>
                  <a:pt x="11112" y="922337"/>
                  <a:pt x="25929" y="927100"/>
                </a:cubicBezTo>
                <a:cubicBezTo>
                  <a:pt x="40746" y="931863"/>
                  <a:pt x="1587" y="933979"/>
                  <a:pt x="92604" y="936625"/>
                </a:cubicBezTo>
                <a:cubicBezTo>
                  <a:pt x="183621" y="939271"/>
                  <a:pt x="377825" y="941123"/>
                  <a:pt x="572029" y="942975"/>
                </a:cubicBezTo>
              </a:path>
            </a:pathLst>
          </a:custGeom>
          <a:ln w="63500">
            <a:solidFill>
              <a:srgbClr val="FF0000">
                <a:alpha val="47843"/>
              </a:srgbClr>
            </a:solidFill>
            <a:tailEnd type="stealth"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TextBox 48"/>
          <p:cNvSpPr txBox="1"/>
          <p:nvPr/>
        </p:nvSpPr>
        <p:spPr>
          <a:xfrm>
            <a:off x="6408420" y="2415540"/>
            <a:ext cx="614271" cy="769441"/>
          </a:xfrm>
          <a:prstGeom prst="rect">
            <a:avLst/>
          </a:prstGeom>
          <a:noFill/>
        </p:spPr>
        <p:txBody>
          <a:bodyPr wrap="none" rtlCol="0">
            <a:spAutoFit/>
          </a:bodyPr>
          <a:lstStyle/>
          <a:p>
            <a:r>
              <a:rPr lang="en-US" altLang="zh-CN" sz="4400" b="1" dirty="0">
                <a:solidFill>
                  <a:srgbClr val="FF0000"/>
                </a:solidFill>
                <a:latin typeface="微软雅黑" panose="020B0503020204020204" pitchFamily="34" charset="-122"/>
                <a:ea typeface="微软雅黑" panose="020B0503020204020204" pitchFamily="34" charset="-122"/>
              </a:rPr>
              <a:t>×</a:t>
            </a:r>
            <a:endParaRPr lang="zh-CN" altLang="en-US" sz="4400" b="1" dirty="0">
              <a:solidFill>
                <a:srgbClr val="FF0000"/>
              </a:solidFill>
              <a:latin typeface="微软雅黑" panose="020B0503020204020204" pitchFamily="34" charset="-122"/>
              <a:ea typeface="微软雅黑" panose="020B0503020204020204" pitchFamily="34" charset="-122"/>
            </a:endParaRPr>
          </a:p>
        </p:txBody>
      </p:sp>
      <p:sp>
        <p:nvSpPr>
          <p:cNvPr id="47" name="圆角矩形 46"/>
          <p:cNvSpPr/>
          <p:nvPr/>
        </p:nvSpPr>
        <p:spPr>
          <a:xfrm>
            <a:off x="6539863" y="4271965"/>
            <a:ext cx="1296000" cy="333375"/>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Q </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保持</a:t>
            </a:r>
            <a:r>
              <a:rPr lang="en-US" altLang="zh-CN" sz="16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p:cTn id="7" dur="1000" fill="hold"/>
                                        <p:tgtEl>
                                          <p:spTgt spid="53"/>
                                        </p:tgtEl>
                                        <p:attrNameLst>
                                          <p:attrName>ppt_w</p:attrName>
                                        </p:attrNameLst>
                                      </p:cBhvr>
                                      <p:tavLst>
                                        <p:tav tm="0">
                                          <p:val>
                                            <p:fltVal val="0"/>
                                          </p:val>
                                        </p:tav>
                                        <p:tav tm="100000">
                                          <p:val>
                                            <p:strVal val="#ppt_w"/>
                                          </p:val>
                                        </p:tav>
                                      </p:tavLst>
                                    </p:anim>
                                    <p:anim calcmode="lin" valueType="num">
                                      <p:cBhvr>
                                        <p:cTn id="8" dur="1000" fill="hold"/>
                                        <p:tgtEl>
                                          <p:spTgt spid="53"/>
                                        </p:tgtEl>
                                        <p:attrNameLst>
                                          <p:attrName>ppt_h</p:attrName>
                                        </p:attrNameLst>
                                      </p:cBhvr>
                                      <p:tavLst>
                                        <p:tav tm="0">
                                          <p:val>
                                            <p:fltVal val="0"/>
                                          </p:val>
                                        </p:tav>
                                        <p:tav tm="100000">
                                          <p:val>
                                            <p:strVal val="#ppt_h"/>
                                          </p:val>
                                        </p:tav>
                                      </p:tavLst>
                                    </p:anim>
                                    <p:animEffect transition="in" filter="fade">
                                      <p:cBhvr>
                                        <p:cTn id="9" dur="1000"/>
                                        <p:tgtEl>
                                          <p:spTgt spid="5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5"/>
                                        </p:tgtEl>
                                        <p:attrNameLst>
                                          <p:attrName>style.visibility</p:attrName>
                                        </p:attrNameLst>
                                      </p:cBhvr>
                                      <p:to>
                                        <p:strVal val="visible"/>
                                      </p:to>
                                    </p:set>
                                    <p:anim calcmode="lin" valueType="num">
                                      <p:cBhvr>
                                        <p:cTn id="12" dur="1000" fill="hold"/>
                                        <p:tgtEl>
                                          <p:spTgt spid="55"/>
                                        </p:tgtEl>
                                        <p:attrNameLst>
                                          <p:attrName>ppt_w</p:attrName>
                                        </p:attrNameLst>
                                      </p:cBhvr>
                                      <p:tavLst>
                                        <p:tav tm="0">
                                          <p:val>
                                            <p:fltVal val="0"/>
                                          </p:val>
                                        </p:tav>
                                        <p:tav tm="100000">
                                          <p:val>
                                            <p:strVal val="#ppt_w"/>
                                          </p:val>
                                        </p:tav>
                                      </p:tavLst>
                                    </p:anim>
                                    <p:anim calcmode="lin" valueType="num">
                                      <p:cBhvr>
                                        <p:cTn id="13" dur="1000" fill="hold"/>
                                        <p:tgtEl>
                                          <p:spTgt spid="55"/>
                                        </p:tgtEl>
                                        <p:attrNameLst>
                                          <p:attrName>ppt_h</p:attrName>
                                        </p:attrNameLst>
                                      </p:cBhvr>
                                      <p:tavLst>
                                        <p:tav tm="0">
                                          <p:val>
                                            <p:fltVal val="0"/>
                                          </p:val>
                                        </p:tav>
                                        <p:tav tm="100000">
                                          <p:val>
                                            <p:strVal val="#ppt_h"/>
                                          </p:val>
                                        </p:tav>
                                      </p:tavLst>
                                    </p:anim>
                                    <p:animEffect transition="in" filter="fade">
                                      <p:cBhvr>
                                        <p:cTn id="14" dur="1000"/>
                                        <p:tgtEl>
                                          <p:spTgt spid="5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p:cTn id="17" dur="1000" fill="hold"/>
                                        <p:tgtEl>
                                          <p:spTgt spid="54"/>
                                        </p:tgtEl>
                                        <p:attrNameLst>
                                          <p:attrName>ppt_w</p:attrName>
                                        </p:attrNameLst>
                                      </p:cBhvr>
                                      <p:tavLst>
                                        <p:tav tm="0">
                                          <p:val>
                                            <p:fltVal val="0"/>
                                          </p:val>
                                        </p:tav>
                                        <p:tav tm="100000">
                                          <p:val>
                                            <p:strVal val="#ppt_w"/>
                                          </p:val>
                                        </p:tav>
                                      </p:tavLst>
                                    </p:anim>
                                    <p:anim calcmode="lin" valueType="num">
                                      <p:cBhvr>
                                        <p:cTn id="18" dur="1000" fill="hold"/>
                                        <p:tgtEl>
                                          <p:spTgt spid="54"/>
                                        </p:tgtEl>
                                        <p:attrNameLst>
                                          <p:attrName>ppt_h</p:attrName>
                                        </p:attrNameLst>
                                      </p:cBhvr>
                                      <p:tavLst>
                                        <p:tav tm="0">
                                          <p:val>
                                            <p:fltVal val="0"/>
                                          </p:val>
                                        </p:tav>
                                        <p:tav tm="100000">
                                          <p:val>
                                            <p:strVal val="#ppt_h"/>
                                          </p:val>
                                        </p:tav>
                                      </p:tavLst>
                                    </p:anim>
                                    <p:animEffect transition="in" filter="fade">
                                      <p:cBhvr>
                                        <p:cTn id="19" dur="1000"/>
                                        <p:tgtEl>
                                          <p:spTgt spid="5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slide(fromLeft)">
                                      <p:cBhvr>
                                        <p:cTn id="24" dur="10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46"/>
                                        </p:tgtEl>
                                        <p:attrNameLst>
                                          <p:attrName>style.visibility</p:attrName>
                                        </p:attrNameLst>
                                      </p:cBhvr>
                                      <p:to>
                                        <p:strVal val="visible"/>
                                      </p:to>
                                    </p:set>
                                    <p:anim calcmode="lin" valueType="num">
                                      <p:cBhvr>
                                        <p:cTn id="29" dur="500" fill="hold"/>
                                        <p:tgtEl>
                                          <p:spTgt spid="46"/>
                                        </p:tgtEl>
                                        <p:attrNameLst>
                                          <p:attrName>ppt_w</p:attrName>
                                        </p:attrNameLst>
                                      </p:cBhvr>
                                      <p:tavLst>
                                        <p:tav tm="0">
                                          <p:val>
                                            <p:fltVal val="0"/>
                                          </p:val>
                                        </p:tav>
                                        <p:tav tm="100000">
                                          <p:val>
                                            <p:strVal val="#ppt_w"/>
                                          </p:val>
                                        </p:tav>
                                      </p:tavLst>
                                    </p:anim>
                                    <p:anim calcmode="lin" valueType="num">
                                      <p:cBhvr>
                                        <p:cTn id="30" dur="500" fill="hold"/>
                                        <p:tgtEl>
                                          <p:spTgt spid="46"/>
                                        </p:tgtEl>
                                        <p:attrNameLst>
                                          <p:attrName>ppt_h</p:attrName>
                                        </p:attrNameLst>
                                      </p:cBhvr>
                                      <p:tavLst>
                                        <p:tav tm="0">
                                          <p:val>
                                            <p:fltVal val="0"/>
                                          </p:val>
                                        </p:tav>
                                        <p:tav tm="100000">
                                          <p:val>
                                            <p:strVal val="#ppt_h"/>
                                          </p:val>
                                        </p:tav>
                                      </p:tavLst>
                                    </p:anim>
                                    <p:animEffect transition="in" filter="fade">
                                      <p:cBhvr>
                                        <p:cTn id="31" dur="500"/>
                                        <p:tgtEl>
                                          <p:spTgt spid="46"/>
                                        </p:tgtEl>
                                      </p:cBhvr>
                                    </p:animEffect>
                                  </p:childTnLst>
                                </p:cTn>
                              </p:par>
                            </p:childTnLst>
                          </p:cTn>
                        </p:par>
                        <p:par>
                          <p:cTn id="32" fill="hold">
                            <p:stCondLst>
                              <p:cond delay="500"/>
                            </p:stCondLst>
                            <p:childTnLst>
                              <p:par>
                                <p:cTn id="33" presetID="22" presetClass="entr" presetSubtype="2" fill="hold" grpId="0" nodeType="afterEffect">
                                  <p:stCondLst>
                                    <p:cond delay="0"/>
                                  </p:stCondLst>
                                  <p:childTnLst>
                                    <p:set>
                                      <p:cBhvr>
                                        <p:cTn id="34" dur="1" fill="hold">
                                          <p:stCondLst>
                                            <p:cond delay="0"/>
                                          </p:stCondLst>
                                        </p:cTn>
                                        <p:tgtEl>
                                          <p:spTgt spid="45"/>
                                        </p:tgtEl>
                                        <p:attrNameLst>
                                          <p:attrName>style.visibility</p:attrName>
                                        </p:attrNameLst>
                                      </p:cBhvr>
                                      <p:to>
                                        <p:strVal val="visible"/>
                                      </p:to>
                                    </p:set>
                                    <p:animEffect transition="in" filter="wipe(right)">
                                      <p:cBhvr>
                                        <p:cTn id="35" dur="1000"/>
                                        <p:tgtEl>
                                          <p:spTgt spid="45"/>
                                        </p:tgtEl>
                                      </p:cBhvr>
                                    </p:animEffect>
                                  </p:childTnLst>
                                </p:cTn>
                              </p:par>
                            </p:childTnLst>
                          </p:cTn>
                        </p:par>
                        <p:par>
                          <p:cTn id="36" fill="hold">
                            <p:stCondLst>
                              <p:cond delay="1500"/>
                            </p:stCondLst>
                            <p:childTnLst>
                              <p:par>
                                <p:cTn id="37" presetID="12" presetClass="entr" presetSubtype="8" fill="hold" nodeType="afterEffect">
                                  <p:stCondLst>
                                    <p:cond delay="0"/>
                                  </p:stCondLst>
                                  <p:childTnLst>
                                    <p:set>
                                      <p:cBhvr>
                                        <p:cTn id="38" dur="1" fill="hold">
                                          <p:stCondLst>
                                            <p:cond delay="0"/>
                                          </p:stCondLst>
                                        </p:cTn>
                                        <p:tgtEl>
                                          <p:spTgt spid="42"/>
                                        </p:tgtEl>
                                        <p:attrNameLst>
                                          <p:attrName>style.visibility</p:attrName>
                                        </p:attrNameLst>
                                      </p:cBhvr>
                                      <p:to>
                                        <p:strVal val="visible"/>
                                      </p:to>
                                    </p:set>
                                    <p:animEffect transition="in" filter="slide(fromLeft)">
                                      <p:cBhvr>
                                        <p:cTn id="39" dur="1000"/>
                                        <p:tgtEl>
                                          <p:spTgt spid="42"/>
                                        </p:tgtEl>
                                      </p:cBhvr>
                                    </p:animEffect>
                                  </p:childTnLst>
                                </p:cTn>
                              </p:par>
                            </p:childTnLst>
                          </p:cTn>
                        </p:par>
                        <p:par>
                          <p:cTn id="40" fill="hold">
                            <p:stCondLst>
                              <p:cond delay="2500"/>
                            </p:stCondLst>
                            <p:childTnLst>
                              <p:par>
                                <p:cTn id="41" presetID="53" presetClass="entr" presetSubtype="16" fill="hold" grpId="0" nodeType="after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p:cTn id="43" dur="500" fill="hold"/>
                                        <p:tgtEl>
                                          <p:spTgt spid="47"/>
                                        </p:tgtEl>
                                        <p:attrNameLst>
                                          <p:attrName>ppt_w</p:attrName>
                                        </p:attrNameLst>
                                      </p:cBhvr>
                                      <p:tavLst>
                                        <p:tav tm="0">
                                          <p:val>
                                            <p:fltVal val="0"/>
                                          </p:val>
                                        </p:tav>
                                        <p:tav tm="100000">
                                          <p:val>
                                            <p:strVal val="#ppt_w"/>
                                          </p:val>
                                        </p:tav>
                                      </p:tavLst>
                                    </p:anim>
                                    <p:anim calcmode="lin" valueType="num">
                                      <p:cBhvr>
                                        <p:cTn id="44" dur="500" fill="hold"/>
                                        <p:tgtEl>
                                          <p:spTgt spid="47"/>
                                        </p:tgtEl>
                                        <p:attrNameLst>
                                          <p:attrName>ppt_h</p:attrName>
                                        </p:attrNameLst>
                                      </p:cBhvr>
                                      <p:tavLst>
                                        <p:tav tm="0">
                                          <p:val>
                                            <p:fltVal val="0"/>
                                          </p:val>
                                        </p:tav>
                                        <p:tav tm="100000">
                                          <p:val>
                                            <p:strVal val="#ppt_h"/>
                                          </p:val>
                                        </p:tav>
                                      </p:tavLst>
                                    </p:anim>
                                    <p:animEffect transition="in" filter="fade">
                                      <p:cBhvr>
                                        <p:cTn id="4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5" grpId="0" animBg="1"/>
      <p:bldP spid="45" grpId="0" animBg="1"/>
      <p:bldP spid="46" grpId="0"/>
      <p:bldP spid="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55"/>
          <p:cNvGrpSpPr/>
          <p:nvPr/>
        </p:nvGrpSpPr>
        <p:grpSpPr>
          <a:xfrm>
            <a:off x="392432" y="778617"/>
            <a:ext cx="1599306" cy="420971"/>
            <a:chOff x="670560" y="892917"/>
            <a:chExt cx="1599306" cy="420971"/>
          </a:xfrm>
        </p:grpSpPr>
        <p:sp>
          <p:nvSpPr>
            <p:cNvPr id="57" name="矩形 56"/>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3" name="Rectangle 20"/>
          <p:cNvSpPr>
            <a:spLocks noChangeArrowheads="1"/>
          </p:cNvSpPr>
          <p:nvPr/>
        </p:nvSpPr>
        <p:spPr bwMode="auto">
          <a:xfrm>
            <a:off x="417194" y="1301115"/>
            <a:ext cx="2912745"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、传输门控</a:t>
            </a:r>
            <a:r>
              <a:rPr lang="en-US" altLang="zh-CN" dirty="0">
                <a:solidFill>
                  <a:srgbClr val="FF0000"/>
                </a:solidFill>
                <a:latin typeface="微软雅黑" panose="020B0503020204020204" pitchFamily="34" charset="-122"/>
                <a:ea typeface="微软雅黑" panose="020B0503020204020204" pitchFamily="34" charset="-122"/>
              </a:rPr>
              <a:t>D</a:t>
            </a:r>
            <a:r>
              <a:rPr lang="zh-CN" altLang="en-US" dirty="0">
                <a:solidFill>
                  <a:srgbClr val="FF0000"/>
                </a:solidFill>
                <a:latin typeface="微软雅黑" panose="020B0503020204020204" pitchFamily="34" charset="-122"/>
                <a:ea typeface="微软雅黑" panose="020B0503020204020204" pitchFamily="34" charset="-122"/>
              </a:rPr>
              <a:t>锁存器</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76" name="剪去对角的矩形 75"/>
          <p:cNvSpPr/>
          <p:nvPr/>
        </p:nvSpPr>
        <p:spPr>
          <a:xfrm>
            <a:off x="598170" y="1943100"/>
            <a:ext cx="2769870" cy="2522220"/>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7" name="图片 26"/>
          <p:cNvPicPr>
            <a:picLocks noChangeAspect="1"/>
          </p:cNvPicPr>
          <p:nvPr/>
        </p:nvPicPr>
        <p:blipFill>
          <a:blip r:embed="rId2"/>
          <a:stretch>
            <a:fillRect/>
          </a:stretch>
        </p:blipFill>
        <p:spPr>
          <a:xfrm>
            <a:off x="699585" y="2006282"/>
            <a:ext cx="2527667" cy="2352135"/>
          </a:xfrm>
          <a:prstGeom prst="rect">
            <a:avLst/>
          </a:prstGeom>
        </p:spPr>
      </p:pic>
      <p:grpSp>
        <p:nvGrpSpPr>
          <p:cNvPr id="3" name="组合 2"/>
          <p:cNvGrpSpPr/>
          <p:nvPr/>
        </p:nvGrpSpPr>
        <p:grpSpPr>
          <a:xfrm>
            <a:off x="3656270" y="2100302"/>
            <a:ext cx="4626670" cy="2182138"/>
            <a:chOff x="3656270" y="2100302"/>
            <a:chExt cx="4626670" cy="2182138"/>
          </a:xfrm>
        </p:grpSpPr>
        <p:sp>
          <p:nvSpPr>
            <p:cNvPr id="32" name="圆角矩形 31"/>
            <p:cNvSpPr/>
            <p:nvPr/>
          </p:nvSpPr>
          <p:spPr>
            <a:xfrm>
              <a:off x="3656270" y="2100302"/>
              <a:ext cx="4626670" cy="2182138"/>
            </a:xfrm>
            <a:prstGeom prst="roundRect">
              <a:avLst>
                <a:gd name="adj" fmla="val 7118"/>
              </a:avLst>
            </a:prstGeom>
            <a:solidFill>
              <a:schemeClr val="bg1"/>
            </a:solidFill>
            <a:ln w="28575">
              <a:solidFill>
                <a:srgbClr val="6600FF"/>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a:endParaRPr lang="zh-CN" altLang="en-US" dirty="0">
                <a:latin typeface="楷体_GB2312" pitchFamily="49" charset="-122"/>
                <a:ea typeface="楷体_GB2312" pitchFamily="49" charset="-122"/>
              </a:endParaRPr>
            </a:p>
          </p:txBody>
        </p:sp>
        <p:pic>
          <p:nvPicPr>
            <p:cNvPr id="2" name="图片 1"/>
            <p:cNvPicPr>
              <a:picLocks noChangeAspect="1"/>
            </p:cNvPicPr>
            <p:nvPr/>
          </p:nvPicPr>
          <p:blipFill>
            <a:blip r:embed="rId3"/>
            <a:stretch>
              <a:fillRect/>
            </a:stretch>
          </p:blipFill>
          <p:spPr>
            <a:xfrm>
              <a:off x="3768589" y="2268534"/>
              <a:ext cx="4431031" cy="1827629"/>
            </a:xfrm>
            <a:prstGeom prst="rect">
              <a:avLst/>
            </a:prstGeom>
          </p:spPr>
        </p:pic>
      </p:grpSp>
      <p:sp>
        <p:nvSpPr>
          <p:cNvPr id="29" name="圆角矩形 27"/>
          <p:cNvSpPr/>
          <p:nvPr/>
        </p:nvSpPr>
        <p:spPr>
          <a:xfrm>
            <a:off x="4631960"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7"/>
          <p:cNvSpPr/>
          <p:nvPr/>
        </p:nvSpPr>
        <p:spPr>
          <a:xfrm>
            <a:off x="5753912"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27"/>
          <p:cNvSpPr/>
          <p:nvPr/>
        </p:nvSpPr>
        <p:spPr>
          <a:xfrm>
            <a:off x="6860874"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27"/>
          <p:cNvSpPr/>
          <p:nvPr/>
        </p:nvSpPr>
        <p:spPr>
          <a:xfrm>
            <a:off x="4084818"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27"/>
          <p:cNvSpPr/>
          <p:nvPr/>
        </p:nvSpPr>
        <p:spPr>
          <a:xfrm>
            <a:off x="5206770"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27"/>
          <p:cNvSpPr/>
          <p:nvPr/>
        </p:nvSpPr>
        <p:spPr>
          <a:xfrm>
            <a:off x="6313732"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27"/>
          <p:cNvSpPr/>
          <p:nvPr/>
        </p:nvSpPr>
        <p:spPr>
          <a:xfrm>
            <a:off x="7408016" y="2298513"/>
            <a:ext cx="547142" cy="1797649"/>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 calcmode="lin" valueType="num">
                                      <p:cBhvr>
                                        <p:cTn id="14" dur="1000" fill="hold"/>
                                        <p:tgtEl>
                                          <p:spTgt spid="29"/>
                                        </p:tgtEl>
                                        <p:attrNameLst>
                                          <p:attrName>ppt_w</p:attrName>
                                        </p:attrNameLst>
                                      </p:cBhvr>
                                      <p:tavLst>
                                        <p:tav tm="0">
                                          <p:val>
                                            <p:fltVal val="0"/>
                                          </p:val>
                                        </p:tav>
                                        <p:tav tm="100000">
                                          <p:val>
                                            <p:strVal val="#ppt_w"/>
                                          </p:val>
                                        </p:tav>
                                      </p:tavLst>
                                    </p:anim>
                                    <p:anim calcmode="lin" valueType="num">
                                      <p:cBhvr>
                                        <p:cTn id="15" dur="1000" fill="hold"/>
                                        <p:tgtEl>
                                          <p:spTgt spid="2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9"/>
                                        </p:tgtEl>
                                        <p:attrNameLst>
                                          <p:attrName>style.visibility</p:attrName>
                                        </p:attrNameLst>
                                      </p:cBhvr>
                                      <p:to>
                                        <p:strVal val="hidden"/>
                                      </p:to>
                                    </p:set>
                                  </p:subTnLst>
                                </p:cTn>
                              </p:par>
                              <p:par>
                                <p:cTn id="16" presetID="17" presetClass="entr" presetSubtype="1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 calcmode="lin" valueType="num">
                                      <p:cBhvr>
                                        <p:cTn id="18" dur="1000" fill="hold"/>
                                        <p:tgtEl>
                                          <p:spTgt spid="30"/>
                                        </p:tgtEl>
                                        <p:attrNameLst>
                                          <p:attrName>ppt_w</p:attrName>
                                        </p:attrNameLst>
                                      </p:cBhvr>
                                      <p:tavLst>
                                        <p:tav tm="0">
                                          <p:val>
                                            <p:fltVal val="0"/>
                                          </p:val>
                                        </p:tav>
                                        <p:tav tm="100000">
                                          <p:val>
                                            <p:strVal val="#ppt_w"/>
                                          </p:val>
                                        </p:tav>
                                      </p:tavLst>
                                    </p:anim>
                                    <p:anim calcmode="lin" valueType="num">
                                      <p:cBhvr>
                                        <p:cTn id="19" dur="1000" fill="hold"/>
                                        <p:tgtEl>
                                          <p:spTgt spid="3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0"/>
                                        </p:tgtEl>
                                        <p:attrNameLst>
                                          <p:attrName>style.visibility</p:attrName>
                                        </p:attrNameLst>
                                      </p:cBhvr>
                                      <p:to>
                                        <p:strVal val="hidden"/>
                                      </p:to>
                                    </p:set>
                                  </p:subTnLst>
                                </p:cTn>
                              </p:par>
                              <p:par>
                                <p:cTn id="20" presetID="17" presetClass="entr" presetSubtype="1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p:cTn id="22" dur="1000" fill="hold"/>
                                        <p:tgtEl>
                                          <p:spTgt spid="31"/>
                                        </p:tgtEl>
                                        <p:attrNameLst>
                                          <p:attrName>ppt_w</p:attrName>
                                        </p:attrNameLst>
                                      </p:cBhvr>
                                      <p:tavLst>
                                        <p:tav tm="0">
                                          <p:val>
                                            <p:fltVal val="0"/>
                                          </p:val>
                                        </p:tav>
                                        <p:tav tm="100000">
                                          <p:val>
                                            <p:strVal val="#ppt_w"/>
                                          </p:val>
                                        </p:tav>
                                      </p:tavLst>
                                    </p:anim>
                                    <p:anim calcmode="lin" valueType="num">
                                      <p:cBhvr>
                                        <p:cTn id="23" dur="1000" fill="hold"/>
                                        <p:tgtEl>
                                          <p:spTgt spid="3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34"/>
                                        </p:tgtEl>
                                        <p:attrNameLst>
                                          <p:attrName>style.visibility</p:attrName>
                                        </p:attrNameLst>
                                      </p:cBhvr>
                                      <p:to>
                                        <p:strVal val="visible"/>
                                      </p:to>
                                    </p:set>
                                    <p:anim calcmode="lin" valueType="num">
                                      <p:cBhvr>
                                        <p:cTn id="28" dur="1000" fill="hold"/>
                                        <p:tgtEl>
                                          <p:spTgt spid="34"/>
                                        </p:tgtEl>
                                        <p:attrNameLst>
                                          <p:attrName>ppt_w</p:attrName>
                                        </p:attrNameLst>
                                      </p:cBhvr>
                                      <p:tavLst>
                                        <p:tav tm="0">
                                          <p:val>
                                            <p:fltVal val="0"/>
                                          </p:val>
                                        </p:tav>
                                        <p:tav tm="100000">
                                          <p:val>
                                            <p:strVal val="#ppt_w"/>
                                          </p:val>
                                        </p:tav>
                                      </p:tavLst>
                                    </p:anim>
                                    <p:anim calcmode="lin" valueType="num">
                                      <p:cBhvr>
                                        <p:cTn id="29" dur="1000" fill="hold"/>
                                        <p:tgtEl>
                                          <p:spTgt spid="3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4"/>
                                        </p:tgtEl>
                                        <p:attrNameLst>
                                          <p:attrName>style.visibility</p:attrName>
                                        </p:attrNameLst>
                                      </p:cBhvr>
                                      <p:to>
                                        <p:strVal val="hidden"/>
                                      </p:to>
                                    </p:set>
                                  </p:subTnLst>
                                </p:cTn>
                              </p:par>
                              <p:par>
                                <p:cTn id="30" presetID="17" presetClass="entr" presetSubtype="1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 calcmode="lin" valueType="num">
                                      <p:cBhvr>
                                        <p:cTn id="32" dur="1000" fill="hold"/>
                                        <p:tgtEl>
                                          <p:spTgt spid="35"/>
                                        </p:tgtEl>
                                        <p:attrNameLst>
                                          <p:attrName>ppt_w</p:attrName>
                                        </p:attrNameLst>
                                      </p:cBhvr>
                                      <p:tavLst>
                                        <p:tav tm="0">
                                          <p:val>
                                            <p:fltVal val="0"/>
                                          </p:val>
                                        </p:tav>
                                        <p:tav tm="100000">
                                          <p:val>
                                            <p:strVal val="#ppt_w"/>
                                          </p:val>
                                        </p:tav>
                                      </p:tavLst>
                                    </p:anim>
                                    <p:anim calcmode="lin" valueType="num">
                                      <p:cBhvr>
                                        <p:cTn id="33" dur="1000" fill="hold"/>
                                        <p:tgtEl>
                                          <p:spTgt spid="3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5"/>
                                        </p:tgtEl>
                                        <p:attrNameLst>
                                          <p:attrName>style.visibility</p:attrName>
                                        </p:attrNameLst>
                                      </p:cBhvr>
                                      <p:to>
                                        <p:strVal val="hidden"/>
                                      </p:to>
                                    </p:set>
                                  </p:subTnLst>
                                </p:cTn>
                              </p:par>
                              <p:par>
                                <p:cTn id="34" presetID="17" presetClass="entr" presetSubtype="1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 calcmode="lin" valueType="num">
                                      <p:cBhvr>
                                        <p:cTn id="36" dur="1000" fill="hold"/>
                                        <p:tgtEl>
                                          <p:spTgt spid="36"/>
                                        </p:tgtEl>
                                        <p:attrNameLst>
                                          <p:attrName>ppt_w</p:attrName>
                                        </p:attrNameLst>
                                      </p:cBhvr>
                                      <p:tavLst>
                                        <p:tav tm="0">
                                          <p:val>
                                            <p:fltVal val="0"/>
                                          </p:val>
                                        </p:tav>
                                        <p:tav tm="100000">
                                          <p:val>
                                            <p:strVal val="#ppt_w"/>
                                          </p:val>
                                        </p:tav>
                                      </p:tavLst>
                                    </p:anim>
                                    <p:anim calcmode="lin" valueType="num">
                                      <p:cBhvr>
                                        <p:cTn id="37" dur="1000" fill="hold"/>
                                        <p:tgtEl>
                                          <p:spTgt spid="3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6"/>
                                        </p:tgtEl>
                                        <p:attrNameLst>
                                          <p:attrName>style.visibility</p:attrName>
                                        </p:attrNameLst>
                                      </p:cBhvr>
                                      <p:to>
                                        <p:strVal val="hidden"/>
                                      </p:to>
                                    </p:set>
                                  </p:subTnLst>
                                </p:cTn>
                              </p:par>
                              <p:par>
                                <p:cTn id="38" presetID="17" presetClass="entr" presetSubtype="1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 calcmode="lin" valueType="num">
                                      <p:cBhvr>
                                        <p:cTn id="40" dur="1000" fill="hold"/>
                                        <p:tgtEl>
                                          <p:spTgt spid="37"/>
                                        </p:tgtEl>
                                        <p:attrNameLst>
                                          <p:attrName>ppt_w</p:attrName>
                                        </p:attrNameLst>
                                      </p:cBhvr>
                                      <p:tavLst>
                                        <p:tav tm="0">
                                          <p:val>
                                            <p:fltVal val="0"/>
                                          </p:val>
                                        </p:tav>
                                        <p:tav tm="100000">
                                          <p:val>
                                            <p:strVal val="#ppt_w"/>
                                          </p:val>
                                        </p:tav>
                                      </p:tavLst>
                                    </p:anim>
                                    <p:anim calcmode="lin" valueType="num">
                                      <p:cBhvr>
                                        <p:cTn id="41" dur="1000" fill="hold"/>
                                        <p:tgtEl>
                                          <p:spTgt spid="3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1" nodeType="clickEffect">
                                  <p:stCondLst>
                                    <p:cond delay="0"/>
                                  </p:stCondLst>
                                  <p:childTnLst>
                                    <p:set>
                                      <p:cBhvr>
                                        <p:cTn id="45" dur="1" fill="hold">
                                          <p:stCondLst>
                                            <p:cond delay="0"/>
                                          </p:stCondLst>
                                        </p:cTn>
                                        <p:tgtEl>
                                          <p:spTgt spid="31"/>
                                        </p:tgtEl>
                                        <p:attrNameLst>
                                          <p:attrName>style.visibility</p:attrName>
                                        </p:attrNameLst>
                                      </p:cBhvr>
                                      <p:to>
                                        <p:strVal val="visible"/>
                                      </p:to>
                                    </p:set>
                                    <p:anim calcmode="lin" valueType="num">
                                      <p:cBhvr>
                                        <p:cTn id="46" dur="500" fill="hold"/>
                                        <p:tgtEl>
                                          <p:spTgt spid="31"/>
                                        </p:tgtEl>
                                        <p:attrNameLst>
                                          <p:attrName>ppt_w</p:attrName>
                                        </p:attrNameLst>
                                      </p:cBhvr>
                                      <p:tavLst>
                                        <p:tav tm="0">
                                          <p:val>
                                            <p:fltVal val="0"/>
                                          </p:val>
                                        </p:tav>
                                        <p:tav tm="100000">
                                          <p:val>
                                            <p:strVal val="#ppt_w"/>
                                          </p:val>
                                        </p:tav>
                                      </p:tavLst>
                                    </p:anim>
                                    <p:anim calcmode="lin" valueType="num">
                                      <p:cBhvr>
                                        <p:cTn id="47" dur="500" fill="hold"/>
                                        <p:tgtEl>
                                          <p:spTgt spid="3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1" grpId="1" animBg="1"/>
      <p:bldP spid="34" grpId="0" animBg="1"/>
      <p:bldP spid="35" grpId="0" animBg="1"/>
      <p:bldP spid="36" grpId="0" animBg="1"/>
      <p:bldP spid="3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776730" y="1752600"/>
            <a:ext cx="5302250" cy="3337560"/>
            <a:chOff x="1776730" y="1752600"/>
            <a:chExt cx="5302250" cy="3337560"/>
          </a:xfrm>
        </p:grpSpPr>
        <p:grpSp>
          <p:nvGrpSpPr>
            <p:cNvPr id="3" name="组合 57"/>
            <p:cNvGrpSpPr/>
            <p:nvPr/>
          </p:nvGrpSpPr>
          <p:grpSpPr>
            <a:xfrm>
              <a:off x="1776730" y="1752600"/>
              <a:ext cx="5302250" cy="3337560"/>
              <a:chOff x="2203450" y="1729740"/>
              <a:chExt cx="5302250" cy="3337560"/>
            </a:xfrm>
          </p:grpSpPr>
          <p:sp>
            <p:nvSpPr>
              <p:cNvPr id="6" name="圆角矩形 5"/>
              <p:cNvSpPr/>
              <p:nvPr/>
            </p:nvSpPr>
            <p:spPr>
              <a:xfrm>
                <a:off x="2203450" y="1943100"/>
                <a:ext cx="5302250" cy="3124200"/>
              </a:xfrm>
              <a:prstGeom prst="roundRect">
                <a:avLst>
                  <a:gd name="adj" fmla="val 7118"/>
                </a:avLst>
              </a:prstGeom>
              <a:solidFill>
                <a:schemeClr val="bg1"/>
              </a:solidFill>
              <a:ln w="28575">
                <a:solidFill>
                  <a:srgbClr val="6600FF"/>
                </a:solid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0975"/>
                <a:endParaRPr lang="zh-CN" altLang="en-US" dirty="0">
                  <a:latin typeface="楷体_GB2312" pitchFamily="49" charset="-122"/>
                  <a:ea typeface="楷体_GB2312" pitchFamily="49" charset="-122"/>
                </a:endParaRPr>
              </a:p>
            </p:txBody>
          </p:sp>
          <p:sp>
            <p:nvSpPr>
              <p:cNvPr id="53" name="圆角矩形 52"/>
              <p:cNvSpPr/>
              <p:nvPr/>
            </p:nvSpPr>
            <p:spPr>
              <a:xfrm>
                <a:off x="3012439" y="1729740"/>
                <a:ext cx="3566161" cy="37719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zh-CN" dirty="0">
                    <a:solidFill>
                      <a:srgbClr val="000000"/>
                    </a:solidFill>
                  </a:rPr>
                  <a:t>74HC/HCT373 </a:t>
                </a:r>
                <a:r>
                  <a:rPr lang="zh-CN" altLang="en-US" dirty="0">
                    <a:solidFill>
                      <a:srgbClr val="000000"/>
                    </a:solidFill>
                  </a:rPr>
                  <a:t>八</a:t>
                </a:r>
                <a:r>
                  <a:rPr lang="en-US" altLang="zh-CN" dirty="0">
                    <a:solidFill>
                      <a:srgbClr val="000000"/>
                    </a:solidFill>
                  </a:rPr>
                  <a:t>D</a:t>
                </a:r>
                <a:r>
                  <a:rPr lang="zh-CN" altLang="en-US" dirty="0">
                    <a:solidFill>
                      <a:srgbClr val="000000"/>
                    </a:solidFill>
                  </a:rPr>
                  <a:t>锁存器</a:t>
                </a:r>
                <a:endParaRPr lang="zh-CN" altLang="en-US" dirty="0">
                  <a:solidFill>
                    <a:srgbClr val="000000"/>
                  </a:solidFill>
                </a:endParaRPr>
              </a:p>
            </p:txBody>
          </p:sp>
        </p:grpSp>
        <p:pic>
          <p:nvPicPr>
            <p:cNvPr id="7" name="图片 6"/>
            <p:cNvPicPr>
              <a:picLocks noChangeAspect="1"/>
            </p:cNvPicPr>
            <p:nvPr/>
          </p:nvPicPr>
          <p:blipFill>
            <a:blip r:embed="rId1"/>
            <a:stretch>
              <a:fillRect/>
            </a:stretch>
          </p:blipFill>
          <p:spPr>
            <a:xfrm>
              <a:off x="1956435" y="2151090"/>
              <a:ext cx="5017329" cy="2825644"/>
            </a:xfrm>
            <a:prstGeom prst="rect">
              <a:avLst/>
            </a:prstGeom>
          </p:spPr>
        </p:pic>
      </p:grpSp>
      <p:grpSp>
        <p:nvGrpSpPr>
          <p:cNvPr id="5" name="组合 28"/>
          <p:cNvGrpSpPr/>
          <p:nvPr/>
        </p:nvGrpSpPr>
        <p:grpSpPr>
          <a:xfrm>
            <a:off x="392432" y="778617"/>
            <a:ext cx="1599306" cy="420971"/>
            <a:chOff x="670560" y="892917"/>
            <a:chExt cx="1599306" cy="420971"/>
          </a:xfrm>
        </p:grpSpPr>
        <p:sp>
          <p:nvSpPr>
            <p:cNvPr id="30" name="矩形 29"/>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1"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6" name="Rectangle 20"/>
          <p:cNvSpPr>
            <a:spLocks noChangeArrowheads="1"/>
          </p:cNvSpPr>
          <p:nvPr/>
        </p:nvSpPr>
        <p:spPr bwMode="auto">
          <a:xfrm>
            <a:off x="417194" y="1301115"/>
            <a:ext cx="3513456"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3</a:t>
            </a:r>
            <a:r>
              <a:rPr lang="zh-CN" altLang="en-US" dirty="0">
                <a:solidFill>
                  <a:srgbClr val="FF0000"/>
                </a:solidFill>
                <a:latin typeface="微软雅黑" panose="020B0503020204020204" pitchFamily="34" charset="-122"/>
                <a:ea typeface="微软雅黑" panose="020B0503020204020204" pitchFamily="34" charset="-122"/>
              </a:rPr>
              <a:t>、典型集成电路</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19" name="组合 18"/>
          <p:cNvGrpSpPr/>
          <p:nvPr/>
        </p:nvGrpSpPr>
        <p:grpSpPr>
          <a:xfrm>
            <a:off x="3894049" y="2806163"/>
            <a:ext cx="2815280" cy="677036"/>
            <a:chOff x="3512695" y="2852584"/>
            <a:chExt cx="2815280" cy="606896"/>
          </a:xfrm>
        </p:grpSpPr>
        <p:sp>
          <p:nvSpPr>
            <p:cNvPr id="39" name="AutoShape 8"/>
            <p:cNvSpPr>
              <a:spLocks noChangeArrowheads="1"/>
            </p:cNvSpPr>
            <p:nvPr/>
          </p:nvSpPr>
          <p:spPr bwMode="auto">
            <a:xfrm>
              <a:off x="3512695" y="2865120"/>
              <a:ext cx="472440" cy="594360"/>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40" name="AutoShape 8"/>
            <p:cNvSpPr>
              <a:spLocks noChangeArrowheads="1"/>
            </p:cNvSpPr>
            <p:nvPr/>
          </p:nvSpPr>
          <p:spPr bwMode="auto">
            <a:xfrm>
              <a:off x="4426095" y="2853485"/>
              <a:ext cx="472440" cy="594360"/>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42" name="AutoShape 8"/>
            <p:cNvSpPr>
              <a:spLocks noChangeArrowheads="1"/>
            </p:cNvSpPr>
            <p:nvPr/>
          </p:nvSpPr>
          <p:spPr bwMode="auto">
            <a:xfrm>
              <a:off x="5855535" y="2852584"/>
              <a:ext cx="472440" cy="594360"/>
            </a:xfrm>
            <a:prstGeom prst="roundRect">
              <a:avLst>
                <a:gd name="adj" fmla="val 0"/>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sp>
        <p:nvSpPr>
          <p:cNvPr id="45" name="AutoShape 8"/>
          <p:cNvSpPr>
            <a:spLocks noChangeArrowheads="1"/>
          </p:cNvSpPr>
          <p:nvPr/>
        </p:nvSpPr>
        <p:spPr bwMode="auto">
          <a:xfrm>
            <a:off x="2193365" y="4064205"/>
            <a:ext cx="324000" cy="288000"/>
          </a:xfrm>
          <a:prstGeom prst="roundRect">
            <a:avLst>
              <a:gd name="adj" fmla="val 25806"/>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46" name="AutoShape 8"/>
          <p:cNvSpPr>
            <a:spLocks noChangeArrowheads="1"/>
          </p:cNvSpPr>
          <p:nvPr/>
        </p:nvSpPr>
        <p:spPr bwMode="auto">
          <a:xfrm>
            <a:off x="4062334" y="4290060"/>
            <a:ext cx="2911430" cy="394366"/>
          </a:xfrm>
          <a:prstGeom prst="roundRect">
            <a:avLst>
              <a:gd name="adj" fmla="val 25806"/>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43" name="AutoShape 8"/>
          <p:cNvSpPr>
            <a:spLocks noChangeArrowheads="1"/>
          </p:cNvSpPr>
          <p:nvPr/>
        </p:nvSpPr>
        <p:spPr bwMode="auto">
          <a:xfrm>
            <a:off x="1925751" y="3662779"/>
            <a:ext cx="659968" cy="288000"/>
          </a:xfrm>
          <a:prstGeom prst="roundRect">
            <a:avLst>
              <a:gd name="adj" fmla="val 25806"/>
            </a:avLst>
          </a:prstGeom>
          <a:solidFill>
            <a:srgbClr val="0000FF">
              <a:alpha val="17000"/>
            </a:srgbClr>
          </a:solidFill>
          <a:ln w="28575" algn="ctr">
            <a:solidFill>
              <a:schemeClr val="accent1"/>
            </a:solidFill>
            <a:prstDash val="solid"/>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lide(fromBottom)">
                                      <p:cBhvr>
                                        <p:cTn id="7" dur="500"/>
                                        <p:tgtEl>
                                          <p:spTgt spid="3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up)">
                                      <p:cBhvr>
                                        <p:cTn id="18" dur="1000"/>
                                        <p:tgtEl>
                                          <p:spTgt spid="19"/>
                                        </p:tgtEl>
                                      </p:cBhvr>
                                    </p:animEffect>
                                  </p:childTnLst>
                                </p:cTn>
                              </p:par>
                            </p:childTnLst>
                          </p:cTn>
                        </p:par>
                        <p:par>
                          <p:cTn id="19" fill="hold">
                            <p:stCondLst>
                              <p:cond delay="1000"/>
                            </p:stCondLst>
                            <p:childTnLst>
                              <p:par>
                                <p:cTn id="20" presetID="12" presetClass="entr" presetSubtype="8"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slide(fromLeft)">
                                      <p:cBhvr>
                                        <p:cTn id="22" dur="10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1000"/>
                                        <p:tgtEl>
                                          <p:spTgt spid="46"/>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slide(fromLeft)">
                                      <p:cBhvr>
                                        <p:cTn id="31"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5" grpId="0" animBg="1"/>
      <p:bldP spid="46" grpId="0" animBg="1"/>
      <p:bldP spid="4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392432" y="778617"/>
            <a:ext cx="1599306" cy="420971"/>
            <a:chOff x="670560" y="892917"/>
            <a:chExt cx="1599306" cy="420971"/>
          </a:xfrm>
        </p:grpSpPr>
        <p:sp>
          <p:nvSpPr>
            <p:cNvPr id="15" name="矩形 14"/>
            <p:cNvSpPr/>
            <p:nvPr/>
          </p:nvSpPr>
          <p:spPr>
            <a:xfrm>
              <a:off x="1035233" y="913778"/>
              <a:ext cx="1234633"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锁存器 </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pic>
        <p:nvPicPr>
          <p:cNvPr id="37" name="Picture 3"/>
          <p:cNvPicPr>
            <a:picLocks noChangeAspect="1" noChangeArrowheads="1"/>
          </p:cNvPicPr>
          <p:nvPr/>
        </p:nvPicPr>
        <p:blipFill>
          <a:blip r:embed="rId2" cstate="print"/>
          <a:srcRect/>
          <a:stretch>
            <a:fillRect/>
          </a:stretch>
        </p:blipFill>
        <p:spPr bwMode="auto">
          <a:xfrm>
            <a:off x="1361869" y="2281862"/>
            <a:ext cx="5876925" cy="2476500"/>
          </a:xfrm>
          <a:prstGeom prst="rect">
            <a:avLst/>
          </a:prstGeom>
          <a:noFill/>
          <a:ln w="9525">
            <a:noFill/>
            <a:miter lim="800000"/>
            <a:headEnd/>
            <a:tailEnd/>
          </a:ln>
        </p:spPr>
      </p:pic>
      <p:sp>
        <p:nvSpPr>
          <p:cNvPr id="45" name="圆角矩形 44"/>
          <p:cNvSpPr/>
          <p:nvPr/>
        </p:nvSpPr>
        <p:spPr>
          <a:xfrm>
            <a:off x="2796539" y="1710690"/>
            <a:ext cx="3566161" cy="37719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zh-CN" dirty="0">
                <a:solidFill>
                  <a:srgbClr val="000000"/>
                </a:solidFill>
              </a:rPr>
              <a:t>74HC/HCT373 </a:t>
            </a:r>
            <a:r>
              <a:rPr lang="zh-CN" altLang="en-US" dirty="0">
                <a:solidFill>
                  <a:srgbClr val="000000"/>
                </a:solidFill>
              </a:rPr>
              <a:t>八</a:t>
            </a:r>
            <a:r>
              <a:rPr lang="en-US" altLang="zh-CN" dirty="0">
                <a:solidFill>
                  <a:srgbClr val="000000"/>
                </a:solidFill>
              </a:rPr>
              <a:t>D</a:t>
            </a:r>
            <a:r>
              <a:rPr lang="zh-CN" altLang="en-US" dirty="0">
                <a:solidFill>
                  <a:srgbClr val="000000"/>
                </a:solidFill>
              </a:rPr>
              <a:t>锁存器功能表</a:t>
            </a:r>
            <a:endParaRPr lang="zh-CN" altLang="en-US" dirty="0">
              <a:solidFill>
                <a:srgbClr val="000000"/>
              </a:solidFill>
            </a:endParaRPr>
          </a:p>
        </p:txBody>
      </p:sp>
      <p:sp>
        <p:nvSpPr>
          <p:cNvPr id="46" name="圆角矩形 45"/>
          <p:cNvSpPr/>
          <p:nvPr/>
        </p:nvSpPr>
        <p:spPr>
          <a:xfrm>
            <a:off x="1483359" y="3024714"/>
            <a:ext cx="158750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3281679" y="3024714"/>
            <a:ext cx="98552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4439919" y="3024714"/>
            <a:ext cx="37592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30"/>
          <p:cNvGrpSpPr/>
          <p:nvPr/>
        </p:nvGrpSpPr>
        <p:grpSpPr>
          <a:xfrm>
            <a:off x="4823460" y="3024714"/>
            <a:ext cx="914400" cy="602406"/>
            <a:chOff x="4823460" y="3024714"/>
            <a:chExt cx="914400" cy="602406"/>
          </a:xfrm>
        </p:grpSpPr>
        <p:sp>
          <p:nvSpPr>
            <p:cNvPr id="50" name="右箭头 49"/>
            <p:cNvSpPr/>
            <p:nvPr/>
          </p:nvSpPr>
          <p:spPr>
            <a:xfrm>
              <a:off x="4823460" y="3083601"/>
              <a:ext cx="525780" cy="484632"/>
            </a:xfrm>
            <a:prstGeom prst="rightArrow">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5361939" y="3024714"/>
              <a:ext cx="37592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2" name="组合 29"/>
          <p:cNvGrpSpPr/>
          <p:nvPr/>
        </p:nvGrpSpPr>
        <p:grpSpPr>
          <a:xfrm>
            <a:off x="5745480" y="3024714"/>
            <a:ext cx="1127760" cy="602406"/>
            <a:chOff x="5745480" y="3024714"/>
            <a:chExt cx="1127760" cy="602406"/>
          </a:xfrm>
        </p:grpSpPr>
        <p:sp>
          <p:nvSpPr>
            <p:cNvPr id="53" name="右箭头 52"/>
            <p:cNvSpPr/>
            <p:nvPr/>
          </p:nvSpPr>
          <p:spPr>
            <a:xfrm>
              <a:off x="5745480" y="3083601"/>
              <a:ext cx="754380" cy="484632"/>
            </a:xfrm>
            <a:prstGeom prst="rightArrow">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6497319" y="3024714"/>
              <a:ext cx="37592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5" name="圆角矩形 54"/>
          <p:cNvSpPr/>
          <p:nvPr/>
        </p:nvSpPr>
        <p:spPr>
          <a:xfrm>
            <a:off x="1490979" y="3710514"/>
            <a:ext cx="1587501" cy="54906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3274059" y="3718134"/>
            <a:ext cx="993141" cy="54906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4439919" y="3718134"/>
            <a:ext cx="375921" cy="540000"/>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8" name="组合 38"/>
          <p:cNvGrpSpPr/>
          <p:nvPr/>
        </p:nvGrpSpPr>
        <p:grpSpPr>
          <a:xfrm>
            <a:off x="5745480" y="3718134"/>
            <a:ext cx="1127760" cy="540000"/>
            <a:chOff x="5745480" y="3024714"/>
            <a:chExt cx="1127760" cy="602406"/>
          </a:xfrm>
        </p:grpSpPr>
        <p:sp>
          <p:nvSpPr>
            <p:cNvPr id="59" name="右箭头 58"/>
            <p:cNvSpPr/>
            <p:nvPr/>
          </p:nvSpPr>
          <p:spPr>
            <a:xfrm>
              <a:off x="5745480" y="3083601"/>
              <a:ext cx="754380" cy="484632"/>
            </a:xfrm>
            <a:prstGeom prst="rightArrow">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59"/>
            <p:cNvSpPr/>
            <p:nvPr/>
          </p:nvSpPr>
          <p:spPr>
            <a:xfrm>
              <a:off x="6497319" y="3024714"/>
              <a:ext cx="375921" cy="6024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1" name="圆角矩形 60"/>
          <p:cNvSpPr/>
          <p:nvPr/>
        </p:nvSpPr>
        <p:spPr>
          <a:xfrm>
            <a:off x="1490979" y="4328728"/>
            <a:ext cx="1587501" cy="2595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61"/>
          <p:cNvSpPr/>
          <p:nvPr/>
        </p:nvSpPr>
        <p:spPr>
          <a:xfrm>
            <a:off x="3274059" y="4328728"/>
            <a:ext cx="398781" cy="259506"/>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62"/>
          <p:cNvSpPr/>
          <p:nvPr/>
        </p:nvSpPr>
        <p:spPr>
          <a:xfrm>
            <a:off x="3863118" y="4328728"/>
            <a:ext cx="2246134" cy="243272"/>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6414162" y="4328728"/>
            <a:ext cx="622742" cy="243272"/>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5" name="组合 35"/>
          <p:cNvGrpSpPr/>
          <p:nvPr/>
        </p:nvGrpSpPr>
        <p:grpSpPr>
          <a:xfrm>
            <a:off x="4831080" y="3718134"/>
            <a:ext cx="906780" cy="540000"/>
            <a:chOff x="4831080" y="3718134"/>
            <a:chExt cx="906780" cy="540000"/>
          </a:xfrm>
        </p:grpSpPr>
        <p:sp>
          <p:nvSpPr>
            <p:cNvPr id="66" name="圆角矩形 65"/>
            <p:cNvSpPr/>
            <p:nvPr/>
          </p:nvSpPr>
          <p:spPr>
            <a:xfrm>
              <a:off x="5361939" y="3718134"/>
              <a:ext cx="375921" cy="540000"/>
            </a:xfrm>
            <a:prstGeom prst="roundRect">
              <a:avLst>
                <a:gd name="adj" fmla="val 515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右箭头 66"/>
            <p:cNvSpPr/>
            <p:nvPr/>
          </p:nvSpPr>
          <p:spPr>
            <a:xfrm>
              <a:off x="4831080" y="3738921"/>
              <a:ext cx="525780" cy="484632"/>
            </a:xfrm>
            <a:prstGeom prst="rightArrow">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0000"/>
                  </a:solidFill>
                  <a:latin typeface="华文琥珀" panose="02010800040101010101" pitchFamily="2" charset="-122"/>
                  <a:ea typeface="华文琥珀" panose="02010800040101010101" pitchFamily="2" charset="-122"/>
                </a:rPr>
                <a:t>×</a:t>
              </a:r>
              <a:endParaRPr lang="zh-CN" altLang="en-US" b="1" dirty="0">
                <a:solidFill>
                  <a:srgbClr val="FF0000"/>
                </a:solidFill>
                <a:latin typeface="华文琥珀" panose="02010800040101010101" pitchFamily="2" charset="-122"/>
                <a:ea typeface="华文琥珀" panose="02010800040101010101" pitchFamily="2" charset="-122"/>
              </a:endParaRPr>
            </a:p>
          </p:txBody>
        </p:sp>
      </p:grpSp>
      <p:sp>
        <p:nvSpPr>
          <p:cNvPr id="69" name="Rectangle 20"/>
          <p:cNvSpPr>
            <a:spLocks noChangeArrowheads="1"/>
          </p:cNvSpPr>
          <p:nvPr/>
        </p:nvSpPr>
        <p:spPr bwMode="auto">
          <a:xfrm>
            <a:off x="417194" y="1301115"/>
            <a:ext cx="3513456" cy="369332"/>
          </a:xfrm>
          <a:prstGeom prst="rect">
            <a:avLst/>
          </a:prstGeom>
          <a:noFill/>
          <a:ln w="9525" algn="ctr">
            <a:noFill/>
            <a:miter lim="800000"/>
          </a:ln>
        </p:spPr>
        <p:txBody>
          <a:bodyPr wrap="square">
            <a:spAutoFit/>
          </a:bodyPr>
          <a:lstStyle/>
          <a:p>
            <a:r>
              <a:rPr lang="en-US" altLang="zh-CN" dirty="0">
                <a:solidFill>
                  <a:srgbClr val="FF0000"/>
                </a:solidFill>
                <a:latin typeface="微软雅黑" panose="020B0503020204020204" pitchFamily="34" charset="-122"/>
                <a:ea typeface="微软雅黑" panose="020B0503020204020204" pitchFamily="34" charset="-122"/>
              </a:rPr>
              <a:t>3</a:t>
            </a:r>
            <a:r>
              <a:rPr lang="zh-CN" altLang="en-US" dirty="0">
                <a:solidFill>
                  <a:srgbClr val="FF0000"/>
                </a:solidFill>
                <a:latin typeface="微软雅黑" panose="020B0503020204020204" pitchFamily="34" charset="-122"/>
                <a:ea typeface="微软雅黑" panose="020B0503020204020204" pitchFamily="34" charset="-122"/>
              </a:rPr>
              <a:t>、典型集成电路</a:t>
            </a:r>
            <a:endParaRPr lang="zh-CN" altLang="en-US"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slide(fromBottom)">
                                      <p:cBhvr>
                                        <p:cTn id="7" dur="1000"/>
                                        <p:tgtEl>
                                          <p:spTgt spid="45"/>
                                        </p:tgtEl>
                                      </p:cBhvr>
                                    </p:animEffect>
                                  </p:childTnLst>
                                </p:cTn>
                              </p:par>
                              <p:par>
                                <p:cTn id="8" presetID="12" presetClass="entr" presetSubtype="4"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slide(fromBottom)">
                                      <p:cBhvr>
                                        <p:cTn id="10" dur="10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1000"/>
                                        <p:tgtEl>
                                          <p:spTgt spid="46"/>
                                        </p:tgtEl>
                                      </p:cBhvr>
                                    </p:animEffect>
                                  </p:childTnLst>
                                </p:cTn>
                              </p:par>
                            </p:childTnLst>
                          </p:cTn>
                        </p:par>
                        <p:par>
                          <p:cTn id="16" fill="hold">
                            <p:stCondLst>
                              <p:cond delay="1000"/>
                            </p:stCondLst>
                            <p:childTnLst>
                              <p:par>
                                <p:cTn id="17" presetID="22" presetClass="entr" presetSubtype="8" fill="hold" grpId="0" nodeType="afterEffect">
                                  <p:stCondLst>
                                    <p:cond delay="0"/>
                                  </p:stCondLst>
                                  <p:childTnLst>
                                    <p:set>
                                      <p:cBhvr>
                                        <p:cTn id="18" dur="1" fill="hold">
                                          <p:stCondLst>
                                            <p:cond delay="0"/>
                                          </p:stCondLst>
                                        </p:cTn>
                                        <p:tgtEl>
                                          <p:spTgt spid="47"/>
                                        </p:tgtEl>
                                        <p:attrNameLst>
                                          <p:attrName>style.visibility</p:attrName>
                                        </p:attrNameLst>
                                      </p:cBhvr>
                                      <p:to>
                                        <p:strVal val="visible"/>
                                      </p:to>
                                    </p:set>
                                    <p:animEffect transition="in" filter="wipe(left)">
                                      <p:cBhvr>
                                        <p:cTn id="19" dur="1000"/>
                                        <p:tgtEl>
                                          <p:spTgt spid="4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wipe(left)">
                                      <p:cBhvr>
                                        <p:cTn id="23" dur="1000"/>
                                        <p:tgtEl>
                                          <p:spTgt spid="48"/>
                                        </p:tgtEl>
                                      </p:cBhvr>
                                    </p:animEffect>
                                  </p:childTnLst>
                                </p:cTn>
                              </p:par>
                            </p:childTnLst>
                          </p:cTn>
                        </p:par>
                        <p:par>
                          <p:cTn id="24" fill="hold">
                            <p:stCondLst>
                              <p:cond delay="3000"/>
                            </p:stCondLst>
                            <p:childTnLst>
                              <p:par>
                                <p:cTn id="25" presetID="22" presetClass="entr" presetSubtype="8" fill="hold" nodeType="after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1000"/>
                                        <p:tgtEl>
                                          <p:spTgt spid="49"/>
                                        </p:tgtEl>
                                      </p:cBhvr>
                                    </p:animEffect>
                                  </p:childTnLst>
                                </p:cTn>
                              </p:par>
                            </p:childTnLst>
                          </p:cTn>
                        </p:par>
                        <p:par>
                          <p:cTn id="28" fill="hold">
                            <p:stCondLst>
                              <p:cond delay="4000"/>
                            </p:stCondLst>
                            <p:childTnLst>
                              <p:par>
                                <p:cTn id="29" presetID="22" presetClass="entr" presetSubtype="8" fill="hold" nodeType="afterEffect">
                                  <p:stCondLst>
                                    <p:cond delay="0"/>
                                  </p:stCondLst>
                                  <p:childTnLst>
                                    <p:set>
                                      <p:cBhvr>
                                        <p:cTn id="30" dur="1" fill="hold">
                                          <p:stCondLst>
                                            <p:cond delay="0"/>
                                          </p:stCondLst>
                                        </p:cTn>
                                        <p:tgtEl>
                                          <p:spTgt spid="52"/>
                                        </p:tgtEl>
                                        <p:attrNameLst>
                                          <p:attrName>style.visibility</p:attrName>
                                        </p:attrNameLst>
                                      </p:cBhvr>
                                      <p:to>
                                        <p:strVal val="visible"/>
                                      </p:to>
                                    </p:set>
                                    <p:animEffect transition="in" filter="wipe(left)">
                                      <p:cBhvr>
                                        <p:cTn id="31" dur="1000"/>
                                        <p:tgtEl>
                                          <p:spTgt spid="5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wipe(left)">
                                      <p:cBhvr>
                                        <p:cTn id="36" dur="1000"/>
                                        <p:tgtEl>
                                          <p:spTgt spid="55"/>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left)">
                                      <p:cBhvr>
                                        <p:cTn id="40" dur="1000"/>
                                        <p:tgtEl>
                                          <p:spTgt spid="56"/>
                                        </p:tgtEl>
                                      </p:cBhvr>
                                    </p:animEffect>
                                  </p:childTnLst>
                                </p:cTn>
                              </p:par>
                            </p:childTnLst>
                          </p:cTn>
                        </p:par>
                        <p:par>
                          <p:cTn id="41" fill="hold">
                            <p:stCondLst>
                              <p:cond delay="2000"/>
                            </p:stCondLst>
                            <p:childTnLst>
                              <p:par>
                                <p:cTn id="42" presetID="22" presetClass="entr" presetSubtype="8" fill="hold" grpId="0" nodeType="after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wipe(left)">
                                      <p:cBhvr>
                                        <p:cTn id="44" dur="1000"/>
                                        <p:tgtEl>
                                          <p:spTgt spid="57"/>
                                        </p:tgtEl>
                                      </p:cBhvr>
                                    </p:animEffect>
                                  </p:childTnLst>
                                </p:cTn>
                              </p:par>
                            </p:childTnLst>
                          </p:cTn>
                        </p:par>
                        <p:par>
                          <p:cTn id="45" fill="hold">
                            <p:stCondLst>
                              <p:cond delay="3000"/>
                            </p:stCondLst>
                            <p:childTnLst>
                              <p:par>
                                <p:cTn id="46" presetID="22" presetClass="entr" presetSubtype="8" fill="hold" nodeType="afterEffect">
                                  <p:stCondLst>
                                    <p:cond delay="0"/>
                                  </p:stCondLst>
                                  <p:childTnLst>
                                    <p:set>
                                      <p:cBhvr>
                                        <p:cTn id="47" dur="1" fill="hold">
                                          <p:stCondLst>
                                            <p:cond delay="0"/>
                                          </p:stCondLst>
                                        </p:cTn>
                                        <p:tgtEl>
                                          <p:spTgt spid="65"/>
                                        </p:tgtEl>
                                        <p:attrNameLst>
                                          <p:attrName>style.visibility</p:attrName>
                                        </p:attrNameLst>
                                      </p:cBhvr>
                                      <p:to>
                                        <p:strVal val="visible"/>
                                      </p:to>
                                    </p:set>
                                    <p:animEffect transition="in" filter="wipe(left)">
                                      <p:cBhvr>
                                        <p:cTn id="48" dur="1000"/>
                                        <p:tgtEl>
                                          <p:spTgt spid="65"/>
                                        </p:tgtEl>
                                      </p:cBhvr>
                                    </p:animEffect>
                                  </p:childTnLst>
                                </p:cTn>
                              </p:par>
                            </p:childTnLst>
                          </p:cTn>
                        </p:par>
                        <p:par>
                          <p:cTn id="49" fill="hold">
                            <p:stCondLst>
                              <p:cond delay="4000"/>
                            </p:stCondLst>
                            <p:childTnLst>
                              <p:par>
                                <p:cTn id="50" presetID="22" presetClass="entr" presetSubtype="8" fill="hold" nodeType="afterEffect">
                                  <p:stCondLst>
                                    <p:cond delay="0"/>
                                  </p:stCondLst>
                                  <p:childTnLst>
                                    <p:set>
                                      <p:cBhvr>
                                        <p:cTn id="51" dur="1" fill="hold">
                                          <p:stCondLst>
                                            <p:cond delay="0"/>
                                          </p:stCondLst>
                                        </p:cTn>
                                        <p:tgtEl>
                                          <p:spTgt spid="58"/>
                                        </p:tgtEl>
                                        <p:attrNameLst>
                                          <p:attrName>style.visibility</p:attrName>
                                        </p:attrNameLst>
                                      </p:cBhvr>
                                      <p:to>
                                        <p:strVal val="visible"/>
                                      </p:to>
                                    </p:set>
                                    <p:animEffect transition="in" filter="wipe(left)">
                                      <p:cBhvr>
                                        <p:cTn id="52" dur="1000"/>
                                        <p:tgtEl>
                                          <p:spTgt spid="5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1"/>
                                        </p:tgtEl>
                                        <p:attrNameLst>
                                          <p:attrName>style.visibility</p:attrName>
                                        </p:attrNameLst>
                                      </p:cBhvr>
                                      <p:to>
                                        <p:strVal val="visible"/>
                                      </p:to>
                                    </p:set>
                                    <p:animEffect transition="in" filter="wipe(left)">
                                      <p:cBhvr>
                                        <p:cTn id="57" dur="1000"/>
                                        <p:tgtEl>
                                          <p:spTgt spid="61"/>
                                        </p:tgtEl>
                                      </p:cBhvr>
                                    </p:animEffect>
                                  </p:childTnLst>
                                </p:cTn>
                              </p:par>
                            </p:childTnLst>
                          </p:cTn>
                        </p:par>
                        <p:par>
                          <p:cTn id="58" fill="hold">
                            <p:stCondLst>
                              <p:cond delay="1000"/>
                            </p:stCondLst>
                            <p:childTnLst>
                              <p:par>
                                <p:cTn id="59" presetID="22" presetClass="entr" presetSubtype="8" fill="hold" grpId="0" nodeType="afterEffect">
                                  <p:stCondLst>
                                    <p:cond delay="0"/>
                                  </p:stCondLst>
                                  <p:childTnLst>
                                    <p:set>
                                      <p:cBhvr>
                                        <p:cTn id="60" dur="1" fill="hold">
                                          <p:stCondLst>
                                            <p:cond delay="0"/>
                                          </p:stCondLst>
                                        </p:cTn>
                                        <p:tgtEl>
                                          <p:spTgt spid="62"/>
                                        </p:tgtEl>
                                        <p:attrNameLst>
                                          <p:attrName>style.visibility</p:attrName>
                                        </p:attrNameLst>
                                      </p:cBhvr>
                                      <p:to>
                                        <p:strVal val="visible"/>
                                      </p:to>
                                    </p:set>
                                    <p:animEffect transition="in" filter="wipe(left)">
                                      <p:cBhvr>
                                        <p:cTn id="61" dur="1000"/>
                                        <p:tgtEl>
                                          <p:spTgt spid="62"/>
                                        </p:tgtEl>
                                      </p:cBhvr>
                                    </p:animEffect>
                                  </p:childTnLst>
                                </p:cTn>
                              </p:par>
                            </p:childTnLst>
                          </p:cTn>
                        </p:par>
                        <p:par>
                          <p:cTn id="62" fill="hold">
                            <p:stCondLst>
                              <p:cond delay="2000"/>
                            </p:stCondLst>
                            <p:childTnLst>
                              <p:par>
                                <p:cTn id="63" presetID="22" presetClass="entr" presetSubtype="8" fill="hold" grpId="0" nodeType="after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wipe(left)">
                                      <p:cBhvr>
                                        <p:cTn id="65" dur="1000"/>
                                        <p:tgtEl>
                                          <p:spTgt spid="63"/>
                                        </p:tgtEl>
                                      </p:cBhvr>
                                    </p:animEffect>
                                  </p:childTnLst>
                                </p:cTn>
                              </p:par>
                            </p:childTnLst>
                          </p:cTn>
                        </p:par>
                        <p:par>
                          <p:cTn id="66" fill="hold">
                            <p:stCondLst>
                              <p:cond delay="3000"/>
                            </p:stCondLst>
                            <p:childTnLst>
                              <p:par>
                                <p:cTn id="67" presetID="22" presetClass="entr" presetSubtype="8" fill="hold" grpId="0" nodeType="afterEffect">
                                  <p:stCondLst>
                                    <p:cond delay="0"/>
                                  </p:stCondLst>
                                  <p:childTnLst>
                                    <p:set>
                                      <p:cBhvr>
                                        <p:cTn id="68" dur="1" fill="hold">
                                          <p:stCondLst>
                                            <p:cond delay="0"/>
                                          </p:stCondLst>
                                        </p:cTn>
                                        <p:tgtEl>
                                          <p:spTgt spid="64"/>
                                        </p:tgtEl>
                                        <p:attrNameLst>
                                          <p:attrName>style.visibility</p:attrName>
                                        </p:attrNameLst>
                                      </p:cBhvr>
                                      <p:to>
                                        <p:strVal val="visible"/>
                                      </p:to>
                                    </p:set>
                                    <p:animEffect transition="in" filter="wipe(left)">
                                      <p:cBhvr>
                                        <p:cTn id="69"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55" grpId="0" animBg="1"/>
      <p:bldP spid="56" grpId="0" animBg="1"/>
      <p:bldP spid="57" grpId="0" animBg="1"/>
      <p:bldP spid="61" grpId="0" animBg="1"/>
      <p:bldP spid="62" grpId="0" animBg="1"/>
      <p:bldP spid="63" grpId="0" animBg="1"/>
      <p:bldP spid="6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34264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2" y="208883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锁存器与触发器</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86198" y="3070303"/>
            <a:ext cx="4365123" cy="523220"/>
          </a:xfrm>
          <a:prstGeom prst="rect">
            <a:avLst/>
          </a:prstGeom>
        </p:spPr>
        <p:txBody>
          <a:bodyPr wrap="square">
            <a:spAutoFit/>
          </a:bodyPr>
          <a:lstStyle/>
          <a:p>
            <a:pPr algn="ctr">
              <a:spcBef>
                <a:spcPts val="12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5.3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触发器</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锁存器与触发器的区别</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 name="矩形 5"/>
          <p:cNvSpPr/>
          <p:nvPr/>
        </p:nvSpPr>
        <p:spPr>
          <a:xfrm>
            <a:off x="735332" y="1276192"/>
            <a:ext cx="7932587" cy="784254"/>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具有时钟</a:t>
            </a:r>
            <a:r>
              <a:rPr lang="en-US" altLang="zh-CN" sz="1600" i="1" kern="100" dirty="0">
                <a:latin typeface="Times New Roman" panose="02020603050405020304" pitchFamily="18" charset="0"/>
                <a:ea typeface="黑体" panose="02010609060101010101" pitchFamily="49" charset="-122"/>
                <a:cs typeface="Times New Roman" panose="02020603050405020304" pitchFamily="18" charset="0"/>
              </a:rPr>
              <a:t>CP</a:t>
            </a: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的同步锁存器是对</a:t>
            </a:r>
            <a:r>
              <a:rPr lang="en-US" altLang="zh-CN" sz="1600" i="1" kern="100" dirty="0">
                <a:latin typeface="Times New Roman" panose="02020603050405020304" pitchFamily="18" charset="0"/>
                <a:ea typeface="黑体" panose="02010609060101010101" pitchFamily="49" charset="-122"/>
                <a:cs typeface="Times New Roman" panose="02020603050405020304" pitchFamily="18" charset="0"/>
              </a:rPr>
              <a:t>CP</a:t>
            </a: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脉冲电平敏感的存储电路，它在特定时钟脉冲电平（高电平或低电平）信号的作用下接受输入信号并根据输入信号改变状态。</a:t>
            </a:r>
            <a:endParaRPr lang="zh-CN" altLang="en-US" sz="16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对象 8"/>
          <p:cNvGraphicFramePr>
            <a:graphicFrameLocks noChangeAspect="1"/>
          </p:cNvGraphicFramePr>
          <p:nvPr/>
        </p:nvGraphicFramePr>
        <p:xfrm>
          <a:off x="1902218" y="2456197"/>
          <a:ext cx="5355723" cy="807609"/>
        </p:xfrm>
        <a:graphic>
          <a:graphicData uri="http://schemas.openxmlformats.org/presentationml/2006/ole">
            <mc:AlternateContent xmlns:mc="http://schemas.openxmlformats.org/markup-compatibility/2006">
              <mc:Choice xmlns:v="urn:schemas-microsoft-com:vml" Requires="v">
                <p:oleObj spid="_x0000_s16390" name="Visio" r:id="rId2" imgW="3083560" imgH="476885" progId="Visio.Drawing.11">
                  <p:embed/>
                </p:oleObj>
              </mc:Choice>
              <mc:Fallback>
                <p:oleObj name="Visio" r:id="rId2" imgW="3083560" imgH="476885" progId="Visio.Drawing.11">
                  <p:embed/>
                  <p:pic>
                    <p:nvPicPr>
                      <p:cNvPr id="0" name="对象 8"/>
                      <p:cNvPicPr>
                        <a:picLocks noChangeAspect="1" noChangeArrowheads="1"/>
                      </p:cNvPicPr>
                      <p:nvPr/>
                    </p:nvPicPr>
                    <p:blipFill>
                      <a:blip r:embed="rId3"/>
                      <a:srcRect/>
                      <a:stretch>
                        <a:fillRect/>
                      </a:stretch>
                    </p:blipFill>
                    <p:spPr bwMode="auto">
                      <a:xfrm>
                        <a:off x="1902218" y="2456197"/>
                        <a:ext cx="5355723" cy="807609"/>
                      </a:xfrm>
                      <a:prstGeom prst="rect">
                        <a:avLst/>
                      </a:prstGeom>
                      <a:noFill/>
                    </p:spPr>
                  </p:pic>
                </p:oleObj>
              </mc:Fallback>
            </mc:AlternateContent>
          </a:graphicData>
        </a:graphic>
      </p:graphicFrame>
      <p:sp>
        <p:nvSpPr>
          <p:cNvPr id="10" name="矩形 9"/>
          <p:cNvSpPr/>
          <p:nvPr/>
        </p:nvSpPr>
        <p:spPr>
          <a:xfrm>
            <a:off x="803173" y="3445388"/>
            <a:ext cx="7796903" cy="1200329"/>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触发器是对脉冲边沿敏感的存储电路，它仅在</a:t>
            </a:r>
            <a:r>
              <a:rPr lang="en-US" altLang="zh-CN" sz="1600" kern="100" dirty="0">
                <a:latin typeface="Times New Roman" panose="02020603050405020304" pitchFamily="18" charset="0"/>
                <a:ea typeface="黑体" panose="02010609060101010101" pitchFamily="49" charset="-122"/>
                <a:cs typeface="Times New Roman" panose="02020603050405020304" pitchFamily="18" charset="0"/>
              </a:rPr>
              <a:t>CP</a:t>
            </a: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时钟脉冲的上升沿或下降沿的变化瞬间接受输入信号并根据输入信号改变其输出状态</a:t>
            </a:r>
            <a:r>
              <a:rPr lang="zh-CN" altLang="en-US" sz="1600" kern="100"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kern="100" dirty="0">
                <a:latin typeface="Times New Roman" panose="02020603050405020304" pitchFamily="18" charset="0"/>
                <a:ea typeface="黑体" panose="02010609060101010101" pitchFamily="49" charset="-122"/>
                <a:cs typeface="Times New Roman" panose="02020603050405020304" pitchFamily="18" charset="0"/>
              </a:rPr>
              <a:t>在其他任何时刻其状态均保持不变。</a:t>
            </a:r>
            <a:endParaRPr lang="zh-CN" altLang="en-US" sz="1600" kern="1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圆角矩形 9"/>
          <p:cNvSpPr/>
          <p:nvPr/>
        </p:nvSpPr>
        <p:spPr>
          <a:xfrm>
            <a:off x="1817495" y="2333876"/>
            <a:ext cx="2634864" cy="1024621"/>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9"/>
          <p:cNvSpPr/>
          <p:nvPr/>
        </p:nvSpPr>
        <p:spPr>
          <a:xfrm>
            <a:off x="4623077" y="2345189"/>
            <a:ext cx="2634864" cy="1024621"/>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8" grpId="0" animBg="1"/>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1948441" y="1492194"/>
            <a:ext cx="4674550" cy="2730611"/>
            <a:chOff x="843238" y="1511384"/>
            <a:chExt cx="4247260" cy="2730611"/>
          </a:xfrm>
        </p:grpSpPr>
        <p:graphicFrame>
          <p:nvGraphicFramePr>
            <p:cNvPr id="13" name="对象 12"/>
            <p:cNvGraphicFramePr>
              <a:graphicFrameLocks noChangeAspect="1"/>
            </p:cNvGraphicFramePr>
            <p:nvPr/>
          </p:nvGraphicFramePr>
          <p:xfrm>
            <a:off x="1040099" y="1624372"/>
            <a:ext cx="3894138" cy="2508250"/>
          </p:xfrm>
          <a:graphic>
            <a:graphicData uri="http://schemas.openxmlformats.org/presentationml/2006/ole">
              <mc:AlternateContent xmlns:mc="http://schemas.openxmlformats.org/markup-compatibility/2006">
                <mc:Choice xmlns:v="urn:schemas-microsoft-com:vml" Requires="v">
                  <p:oleObj spid="_x0000_s17414" name="Visio" r:id="rId1" imgW="2257425" imgH="1381125" progId="Visio.Drawing.11">
                    <p:embed/>
                  </p:oleObj>
                </mc:Choice>
                <mc:Fallback>
                  <p:oleObj name="Visio" r:id="rId1" imgW="2257425" imgH="1381125" progId="Visio.Drawing.11">
                    <p:embed/>
                    <p:pic>
                      <p:nvPicPr>
                        <p:cNvPr id="0" name="对象 12"/>
                        <p:cNvPicPr>
                          <a:picLocks noChangeAspect="1" noChangeArrowheads="1"/>
                        </p:cNvPicPr>
                        <p:nvPr/>
                      </p:nvPicPr>
                      <p:blipFill>
                        <a:blip r:embed="rId2"/>
                        <a:srcRect/>
                        <a:stretch>
                          <a:fillRect/>
                        </a:stretch>
                      </p:blipFill>
                      <p:spPr bwMode="auto">
                        <a:xfrm>
                          <a:off x="1040099" y="1624372"/>
                          <a:ext cx="3894138" cy="2508250"/>
                        </a:xfrm>
                        <a:prstGeom prst="rect">
                          <a:avLst/>
                        </a:prstGeom>
                        <a:noFill/>
                      </p:spPr>
                    </p:pic>
                  </p:oleObj>
                </mc:Fallback>
              </mc:AlternateContent>
            </a:graphicData>
          </a:graphic>
        </p:graphicFrame>
        <p:sp>
          <p:nvSpPr>
            <p:cNvPr id="14" name="剪去对角的矩形 6"/>
            <p:cNvSpPr/>
            <p:nvPr/>
          </p:nvSpPr>
          <p:spPr>
            <a:xfrm>
              <a:off x="843238" y="1511384"/>
              <a:ext cx="4247260"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9" name="圆角矩形 8"/>
          <p:cNvSpPr/>
          <p:nvPr/>
        </p:nvSpPr>
        <p:spPr>
          <a:xfrm>
            <a:off x="2538809" y="1602703"/>
            <a:ext cx="1685059" cy="2024417"/>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4480562" y="1602705"/>
            <a:ext cx="1485112" cy="2024416"/>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圆角矩形标注 32"/>
          <p:cNvSpPr/>
          <p:nvPr/>
        </p:nvSpPr>
        <p:spPr>
          <a:xfrm>
            <a:off x="735332" y="3210048"/>
            <a:ext cx="1408941" cy="484053"/>
          </a:xfrm>
          <a:prstGeom prst="wedgeRoundRectCallout">
            <a:avLst>
              <a:gd name="adj1" fmla="val 55735"/>
              <a:gd name="adj2" fmla="val -127344"/>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下降沿触发</a:t>
            </a:r>
            <a:endParaRPr lang="zh-CN" altLang="en-US" sz="14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par>
                          <p:cTn id="12" fill="hold">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up)">
                                      <p:cBhvr>
                                        <p:cTn id="15"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948441" y="1492194"/>
            <a:ext cx="4674550" cy="2730611"/>
            <a:chOff x="843238" y="1511384"/>
            <a:chExt cx="4247260" cy="2730611"/>
          </a:xfrm>
        </p:grpSpPr>
        <p:graphicFrame>
          <p:nvGraphicFramePr>
            <p:cNvPr id="20" name="对象 19"/>
            <p:cNvGraphicFramePr>
              <a:graphicFrameLocks noChangeAspect="1"/>
            </p:cNvGraphicFramePr>
            <p:nvPr/>
          </p:nvGraphicFramePr>
          <p:xfrm>
            <a:off x="1040099" y="1624372"/>
            <a:ext cx="3894138" cy="2508250"/>
          </p:xfrm>
          <a:graphic>
            <a:graphicData uri="http://schemas.openxmlformats.org/presentationml/2006/ole">
              <mc:AlternateContent xmlns:mc="http://schemas.openxmlformats.org/markup-compatibility/2006">
                <mc:Choice xmlns:v="urn:schemas-microsoft-com:vml" Requires="v">
                  <p:oleObj spid="_x0000_s18442" name="Visio" r:id="rId1" imgW="2257425" imgH="1381125" progId="Visio.Drawing.11">
                    <p:embed/>
                  </p:oleObj>
                </mc:Choice>
                <mc:Fallback>
                  <p:oleObj name="Visio" r:id="rId1" imgW="2257425" imgH="1381125" progId="Visio.Drawing.11">
                    <p:embed/>
                    <p:pic>
                      <p:nvPicPr>
                        <p:cNvPr id="0" name="对象 19"/>
                        <p:cNvPicPr>
                          <a:picLocks noChangeAspect="1" noChangeArrowheads="1"/>
                        </p:cNvPicPr>
                        <p:nvPr/>
                      </p:nvPicPr>
                      <p:blipFill>
                        <a:blip r:embed="rId2"/>
                        <a:srcRect/>
                        <a:stretch>
                          <a:fillRect/>
                        </a:stretch>
                      </p:blipFill>
                      <p:spPr bwMode="auto">
                        <a:xfrm>
                          <a:off x="1040099" y="1624372"/>
                          <a:ext cx="3894138" cy="2508250"/>
                        </a:xfrm>
                        <a:prstGeom prst="rect">
                          <a:avLst/>
                        </a:prstGeom>
                        <a:noFill/>
                      </p:spPr>
                    </p:pic>
                  </p:oleObj>
                </mc:Fallback>
              </mc:AlternateContent>
            </a:graphicData>
          </a:graphic>
        </p:graphicFrame>
        <p:sp>
          <p:nvSpPr>
            <p:cNvPr id="21" name="剪去对角的矩形 6"/>
            <p:cNvSpPr/>
            <p:nvPr/>
          </p:nvSpPr>
          <p:spPr>
            <a:xfrm>
              <a:off x="843238" y="1511384"/>
              <a:ext cx="4247260"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 name="组合 5"/>
          <p:cNvGrpSpPr/>
          <p:nvPr/>
        </p:nvGrpSpPr>
        <p:grpSpPr>
          <a:xfrm>
            <a:off x="668587" y="4339393"/>
            <a:ext cx="8101643" cy="820467"/>
            <a:chOff x="668587" y="4339393"/>
            <a:chExt cx="8101643" cy="820467"/>
          </a:xfrm>
        </p:grpSpPr>
        <p:sp>
          <p:nvSpPr>
            <p:cNvPr id="5" name="矩形 4"/>
            <p:cNvSpPr/>
            <p:nvPr/>
          </p:nvSpPr>
          <p:spPr>
            <a:xfrm>
              <a:off x="668587" y="4546294"/>
              <a:ext cx="8101643" cy="613566"/>
            </a:xfrm>
            <a:prstGeom prst="rect">
              <a:avLst/>
            </a:prstGeom>
          </p:spPr>
          <p:txBody>
            <a:bodyPr wrap="square">
              <a:spAutoFit/>
            </a:bodyPr>
            <a:lstStyle/>
            <a:p>
              <a:pPr indent="360680">
                <a:lnSpc>
                  <a:spcPct val="150000"/>
                </a:lnSpc>
              </a:pP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主锁存器打开，主锁存器将接收输入信号</a:t>
              </a:r>
              <a:r>
                <a:rPr lang="en-US" altLang="zh-CN" sz="1200" i="1" kern="1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i="1" kern="1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，其状态将根据输入</a:t>
              </a:r>
              <a:r>
                <a:rPr lang="en-US" altLang="zh-CN" sz="1200" i="1" kern="1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i="1" kern="1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信号变化而变化；此时，从锁存器的时钟信号为“</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”，从锁存器封锁，其状态保持，因此，整个触发器输出状态也是保持的。</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5" name="对象 14"/>
            <p:cNvGraphicFramePr>
              <a:graphicFrameLocks noChangeAspect="1"/>
            </p:cNvGraphicFramePr>
            <p:nvPr/>
          </p:nvGraphicFramePr>
          <p:xfrm>
            <a:off x="735332" y="4339393"/>
            <a:ext cx="771524" cy="271462"/>
          </p:xfrm>
          <a:graphic>
            <a:graphicData uri="http://schemas.openxmlformats.org/presentationml/2006/ole">
              <mc:AlternateContent xmlns:mc="http://schemas.openxmlformats.org/markup-compatibility/2006">
                <mc:Choice xmlns:v="urn:schemas-microsoft-com:vml" Requires="v">
                  <p:oleObj spid="_x0000_s18443" name="Equation" r:id="rId4" imgW="16459200" imgH="5791200" progId="Equation.DSMT4">
                    <p:embed/>
                  </p:oleObj>
                </mc:Choice>
                <mc:Fallback>
                  <p:oleObj name="Equation" r:id="rId4" imgW="16459200" imgH="5791200" progId="Equation.DSMT4">
                    <p:embed/>
                    <p:pic>
                      <p:nvPicPr>
                        <p:cNvPr id="0" name="对象 14"/>
                        <p:cNvPicPr/>
                        <p:nvPr/>
                      </p:nvPicPr>
                      <p:blipFill>
                        <a:blip r:embed="rId5"/>
                        <a:stretch>
                          <a:fillRect/>
                        </a:stretch>
                      </p:blipFill>
                      <p:spPr>
                        <a:xfrm>
                          <a:off x="735332" y="4339393"/>
                          <a:ext cx="771524" cy="271462"/>
                        </a:xfrm>
                        <a:prstGeom prst="rect">
                          <a:avLst/>
                        </a:prstGeom>
                      </p:spPr>
                    </p:pic>
                  </p:oleObj>
                </mc:Fallback>
              </mc:AlternateContent>
            </a:graphicData>
          </a:graphic>
        </p:graphicFrame>
      </p:grpSp>
      <p:sp>
        <p:nvSpPr>
          <p:cNvPr id="24" name="Oval 36"/>
          <p:cNvSpPr>
            <a:spLocks noChangeArrowheads="1"/>
          </p:cNvSpPr>
          <p:nvPr/>
        </p:nvSpPr>
        <p:spPr bwMode="auto">
          <a:xfrm>
            <a:off x="2275853" y="2833238"/>
            <a:ext cx="283526" cy="270630"/>
          </a:xfrm>
          <a:prstGeom prst="ellipse">
            <a:avLst/>
          </a:prstGeom>
          <a:solidFill>
            <a:srgbClr val="FF0000"/>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630349" y="1003848"/>
            <a:ext cx="2384520" cy="2630892"/>
            <a:chOff x="1673214" y="1003848"/>
            <a:chExt cx="2384520" cy="2630892"/>
          </a:xfrm>
        </p:grpSpPr>
        <p:sp>
          <p:nvSpPr>
            <p:cNvPr id="30" name="圆角矩形 29"/>
            <p:cNvSpPr/>
            <p:nvPr/>
          </p:nvSpPr>
          <p:spPr>
            <a:xfrm>
              <a:off x="1673214" y="1581845"/>
              <a:ext cx="1488724" cy="2052895"/>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标注 31"/>
            <p:cNvSpPr/>
            <p:nvPr/>
          </p:nvSpPr>
          <p:spPr>
            <a:xfrm>
              <a:off x="2145089" y="1003848"/>
              <a:ext cx="1912645"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打开，接收输入信号</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，状态</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随</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变化</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100" dirty="0">
                <a:solidFill>
                  <a:srgbClr val="0000FF"/>
                </a:solidFill>
              </a:endParaRPr>
            </a:p>
          </p:txBody>
        </p:sp>
      </p:grpSp>
      <p:grpSp>
        <p:nvGrpSpPr>
          <p:cNvPr id="8" name="组合 7"/>
          <p:cNvGrpSpPr/>
          <p:nvPr/>
        </p:nvGrpSpPr>
        <p:grpSpPr>
          <a:xfrm>
            <a:off x="4435580" y="1003848"/>
            <a:ext cx="2619647" cy="2630892"/>
            <a:chOff x="3760463" y="1003848"/>
            <a:chExt cx="2619647" cy="2630892"/>
          </a:xfrm>
        </p:grpSpPr>
        <p:sp>
          <p:nvSpPr>
            <p:cNvPr id="31" name="圆角矩形 30"/>
            <p:cNvSpPr/>
            <p:nvPr/>
          </p:nvSpPr>
          <p:spPr>
            <a:xfrm>
              <a:off x="3760463" y="1581846"/>
              <a:ext cx="1608543" cy="2052894"/>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标注 32"/>
            <p:cNvSpPr/>
            <p:nvPr/>
          </p:nvSpPr>
          <p:spPr>
            <a:xfrm>
              <a:off x="4467465" y="1003848"/>
              <a:ext cx="1912645"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封锁</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，状态</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保持不变。</a:t>
              </a:r>
              <a:endParaRPr lang="zh-CN" altLang="en-US" sz="1100" dirty="0">
                <a:solidFill>
                  <a:srgbClr val="0000FF"/>
                </a:solidFill>
              </a:endParaRPr>
            </a:p>
          </p:txBody>
        </p:sp>
      </p:grpSp>
      <p:sp>
        <p:nvSpPr>
          <p:cNvPr id="27" name="Oval 36"/>
          <p:cNvSpPr>
            <a:spLocks noChangeArrowheads="1"/>
          </p:cNvSpPr>
          <p:nvPr/>
        </p:nvSpPr>
        <p:spPr bwMode="auto">
          <a:xfrm>
            <a:off x="4290480" y="3712118"/>
            <a:ext cx="290200" cy="289339"/>
          </a:xfrm>
          <a:prstGeom prst="ellipse">
            <a:avLst/>
          </a:prstGeom>
          <a:solidFill>
            <a:srgbClr val="0000FF"/>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2" presetClass="entr" presetSubtype="8"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1000"/>
                                        <p:tgtEl>
                                          <p:spTgt spid="24"/>
                                        </p:tgtEl>
                                        <p:attrNameLst>
                                          <p:attrName>ppt_x</p:attrName>
                                        </p:attrNameLst>
                                      </p:cBhvr>
                                      <p:tavLst>
                                        <p:tav tm="0">
                                          <p:val>
                                            <p:strVal val="#ppt_x-#ppt_w*1.125000"/>
                                          </p:val>
                                        </p:tav>
                                        <p:tav tm="100000">
                                          <p:val>
                                            <p:strVal val="#ppt_x"/>
                                          </p:val>
                                        </p:tav>
                                      </p:tavLst>
                                    </p:anim>
                                    <p:animEffect transition="in" filter="wipe(right)">
                                      <p:cBhvr>
                                        <p:cTn id="14" dur="1000"/>
                                        <p:tgtEl>
                                          <p:spTgt spid="24"/>
                                        </p:tgtEl>
                                      </p:cBhvr>
                                    </p:animEffect>
                                  </p:childTnLst>
                                </p:cTn>
                              </p:par>
                            </p:childTnLst>
                          </p:cTn>
                        </p:par>
                        <p:par>
                          <p:cTn id="15" fill="hold">
                            <p:stCondLst>
                              <p:cond delay="2000"/>
                            </p:stCondLst>
                            <p:childTnLst>
                              <p:par>
                                <p:cTn id="16" presetID="22" presetClass="entr" presetSubtype="8"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1000"/>
                                        <p:tgtEl>
                                          <p:spTgt spid="27"/>
                                        </p:tgtEl>
                                      </p:cBhvr>
                                    </p:animEffect>
                                    <p:anim calcmode="lin" valueType="num">
                                      <p:cBhvr>
                                        <p:cTn id="24" dur="1000" fill="hold"/>
                                        <p:tgtEl>
                                          <p:spTgt spid="27"/>
                                        </p:tgtEl>
                                        <p:attrNameLst>
                                          <p:attrName>ppt_x</p:attrName>
                                        </p:attrNameLst>
                                      </p:cBhvr>
                                      <p:tavLst>
                                        <p:tav tm="0">
                                          <p:val>
                                            <p:strVal val="#ppt_x"/>
                                          </p:val>
                                        </p:tav>
                                        <p:tav tm="100000">
                                          <p:val>
                                            <p:strVal val="#ppt_x"/>
                                          </p:val>
                                        </p:tav>
                                      </p:tavLst>
                                    </p:anim>
                                    <p:anim calcmode="lin" valueType="num">
                                      <p:cBhvr>
                                        <p:cTn id="25" dur="1000" fill="hold"/>
                                        <p:tgtEl>
                                          <p:spTgt spid="27"/>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22" presetClass="entr" presetSubtype="8"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948441" y="1492194"/>
            <a:ext cx="4674550" cy="2730611"/>
            <a:chOff x="843238" y="1511384"/>
            <a:chExt cx="4247260" cy="2730611"/>
          </a:xfrm>
        </p:grpSpPr>
        <p:graphicFrame>
          <p:nvGraphicFramePr>
            <p:cNvPr id="20" name="对象 19"/>
            <p:cNvGraphicFramePr>
              <a:graphicFrameLocks noChangeAspect="1"/>
            </p:cNvGraphicFramePr>
            <p:nvPr/>
          </p:nvGraphicFramePr>
          <p:xfrm>
            <a:off x="1040099" y="1624372"/>
            <a:ext cx="3894138" cy="2508250"/>
          </p:xfrm>
          <a:graphic>
            <a:graphicData uri="http://schemas.openxmlformats.org/presentationml/2006/ole">
              <mc:AlternateContent xmlns:mc="http://schemas.openxmlformats.org/markup-compatibility/2006">
                <mc:Choice xmlns:v="urn:schemas-microsoft-com:vml" Requires="v">
                  <p:oleObj spid="_x0000_s19466" name="Visio" r:id="rId1" imgW="2257425" imgH="1381125" progId="Visio.Drawing.11">
                    <p:embed/>
                  </p:oleObj>
                </mc:Choice>
                <mc:Fallback>
                  <p:oleObj name="Visio" r:id="rId1" imgW="2257425" imgH="1381125" progId="Visio.Drawing.11">
                    <p:embed/>
                    <p:pic>
                      <p:nvPicPr>
                        <p:cNvPr id="0" name="对象 19"/>
                        <p:cNvPicPr>
                          <a:picLocks noChangeAspect="1" noChangeArrowheads="1"/>
                        </p:cNvPicPr>
                        <p:nvPr/>
                      </p:nvPicPr>
                      <p:blipFill>
                        <a:blip r:embed="rId2"/>
                        <a:srcRect/>
                        <a:stretch>
                          <a:fillRect/>
                        </a:stretch>
                      </p:blipFill>
                      <p:spPr bwMode="auto">
                        <a:xfrm>
                          <a:off x="1040099" y="1624372"/>
                          <a:ext cx="3894138" cy="2508250"/>
                        </a:xfrm>
                        <a:prstGeom prst="rect">
                          <a:avLst/>
                        </a:prstGeom>
                        <a:noFill/>
                      </p:spPr>
                    </p:pic>
                  </p:oleObj>
                </mc:Fallback>
              </mc:AlternateContent>
            </a:graphicData>
          </a:graphic>
        </p:graphicFrame>
        <p:sp>
          <p:nvSpPr>
            <p:cNvPr id="21" name="剪去对角的矩形 6"/>
            <p:cNvSpPr/>
            <p:nvPr/>
          </p:nvSpPr>
          <p:spPr>
            <a:xfrm>
              <a:off x="843238" y="1511384"/>
              <a:ext cx="4247260"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8" name="组合 7"/>
          <p:cNvGrpSpPr/>
          <p:nvPr/>
        </p:nvGrpSpPr>
        <p:grpSpPr>
          <a:xfrm>
            <a:off x="731043" y="4337966"/>
            <a:ext cx="8101643" cy="853066"/>
            <a:chOff x="731043" y="4337966"/>
            <a:chExt cx="8101643" cy="853066"/>
          </a:xfrm>
        </p:grpSpPr>
        <p:sp>
          <p:nvSpPr>
            <p:cNvPr id="5" name="矩形 4"/>
            <p:cNvSpPr/>
            <p:nvPr/>
          </p:nvSpPr>
          <p:spPr>
            <a:xfrm>
              <a:off x="731043" y="4577466"/>
              <a:ext cx="8101643" cy="613566"/>
            </a:xfrm>
            <a:prstGeom prst="rect">
              <a:avLst/>
            </a:prstGeom>
          </p:spPr>
          <p:txBody>
            <a:bodyPr wrap="square">
              <a:spAutoFit/>
            </a:bodyPr>
            <a:lstStyle/>
            <a:p>
              <a:pPr indent="360680">
                <a:lnSpc>
                  <a:spcPct val="150000"/>
                </a:lnSpc>
              </a:pP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主锁存器封锁，不再接收输入信号</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，输出将保持</a:t>
              </a:r>
              <a:r>
                <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rPr>
                <a:t>时钟</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”变“</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”前一瞬间由输入信号</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kern="100" dirty="0">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确定的状态。从锁存器打开，</a:t>
              </a:r>
              <a:r>
                <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rPr>
                <a:t>以</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主锁存器的状态为输入，</a:t>
              </a:r>
              <a:r>
                <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rPr>
                <a:t>其状态由</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主锁存器的状态</a:t>
              </a:r>
              <a:r>
                <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rPr>
                <a:t>决定</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5" name="对象 14"/>
            <p:cNvGraphicFramePr>
              <a:graphicFrameLocks noChangeAspect="1"/>
            </p:cNvGraphicFramePr>
            <p:nvPr/>
          </p:nvGraphicFramePr>
          <p:xfrm>
            <a:off x="832539" y="4337966"/>
            <a:ext cx="1128712" cy="271462"/>
          </p:xfrm>
          <a:graphic>
            <a:graphicData uri="http://schemas.openxmlformats.org/presentationml/2006/ole">
              <mc:AlternateContent xmlns:mc="http://schemas.openxmlformats.org/markup-compatibility/2006">
                <mc:Choice xmlns:v="urn:schemas-microsoft-com:vml" Requires="v">
                  <p:oleObj spid="_x0000_s19467" name="Equation" r:id="rId4" imgW="24079200" imgH="5791200" progId="Equation.DSMT4">
                    <p:embed/>
                  </p:oleObj>
                </mc:Choice>
                <mc:Fallback>
                  <p:oleObj name="Equation" r:id="rId4" imgW="24079200" imgH="5791200" progId="Equation.DSMT4">
                    <p:embed/>
                    <p:pic>
                      <p:nvPicPr>
                        <p:cNvPr id="0" name="对象 14"/>
                        <p:cNvPicPr/>
                        <p:nvPr/>
                      </p:nvPicPr>
                      <p:blipFill>
                        <a:blip r:embed="rId5"/>
                        <a:stretch>
                          <a:fillRect/>
                        </a:stretch>
                      </p:blipFill>
                      <p:spPr>
                        <a:xfrm>
                          <a:off x="832539" y="4337966"/>
                          <a:ext cx="1128712" cy="271462"/>
                        </a:xfrm>
                        <a:prstGeom prst="rect">
                          <a:avLst/>
                        </a:prstGeom>
                      </p:spPr>
                    </p:pic>
                  </p:oleObj>
                </mc:Fallback>
              </mc:AlternateContent>
            </a:graphicData>
          </a:graphic>
        </p:graphicFrame>
      </p:grpSp>
      <p:sp>
        <p:nvSpPr>
          <p:cNvPr id="24" name="Oval 36"/>
          <p:cNvSpPr>
            <a:spLocks noChangeArrowheads="1"/>
          </p:cNvSpPr>
          <p:nvPr/>
        </p:nvSpPr>
        <p:spPr bwMode="auto">
          <a:xfrm>
            <a:off x="2110407" y="2836642"/>
            <a:ext cx="554996" cy="270630"/>
          </a:xfrm>
          <a:prstGeom prst="ellipse">
            <a:avLst/>
          </a:prstGeom>
          <a:solidFill>
            <a:srgbClr val="FF0000"/>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r>
              <a:rPr lang="zh-CN" altLang="en-US" sz="1200" b="1" dirty="0">
                <a:solidFill>
                  <a:schemeClr val="bg1"/>
                </a:solidFill>
                <a:latin typeface="微软雅黑" panose="020B0503020204020204" pitchFamily="34" charset="-122"/>
                <a:ea typeface="微软雅黑" panose="020B0503020204020204" pitchFamily="34" charset="-122"/>
              </a:rPr>
              <a:t>→</a:t>
            </a: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2801259" y="955035"/>
            <a:ext cx="2622914" cy="2649225"/>
            <a:chOff x="2801259" y="955035"/>
            <a:chExt cx="2622914" cy="2649225"/>
          </a:xfrm>
        </p:grpSpPr>
        <p:sp>
          <p:nvSpPr>
            <p:cNvPr id="32" name="圆角矩形标注 31"/>
            <p:cNvSpPr/>
            <p:nvPr/>
          </p:nvSpPr>
          <p:spPr>
            <a:xfrm>
              <a:off x="3147259" y="955035"/>
              <a:ext cx="2276914"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封锁</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不</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接收输入信号</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100" i="1"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R</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，状态</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保持时钟</a:t>
              </a:r>
              <a:r>
                <a:rPr lang="en-US"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变</a:t>
              </a:r>
              <a:r>
                <a:rPr lang="en-US"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前一瞬间的状态。</a:t>
              </a:r>
              <a:endParaRPr lang="zh-CN" altLang="en-US" sz="1100" dirty="0">
                <a:solidFill>
                  <a:srgbClr val="0000FF"/>
                </a:solidFill>
              </a:endParaRPr>
            </a:p>
          </p:txBody>
        </p:sp>
        <p:sp>
          <p:nvSpPr>
            <p:cNvPr id="30" name="圆角矩形 29"/>
            <p:cNvSpPr/>
            <p:nvPr/>
          </p:nvSpPr>
          <p:spPr>
            <a:xfrm>
              <a:off x="2801259" y="1581845"/>
              <a:ext cx="1388240" cy="2022415"/>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4640366" y="943798"/>
            <a:ext cx="2766966" cy="2714201"/>
            <a:chOff x="4640366" y="943798"/>
            <a:chExt cx="2766966" cy="2714201"/>
          </a:xfrm>
        </p:grpSpPr>
        <p:sp>
          <p:nvSpPr>
            <p:cNvPr id="31" name="圆角矩形 30"/>
            <p:cNvSpPr/>
            <p:nvPr/>
          </p:nvSpPr>
          <p:spPr>
            <a:xfrm>
              <a:off x="4640366" y="1581846"/>
              <a:ext cx="1762683" cy="2076153"/>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标注 32"/>
            <p:cNvSpPr/>
            <p:nvPr/>
          </p:nvSpPr>
          <p:spPr>
            <a:xfrm>
              <a:off x="5494687" y="943798"/>
              <a:ext cx="1912645"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打开，根据主锁存器的状态改变其状态。</a:t>
              </a:r>
              <a:endParaRPr lang="zh-CN" altLang="en-US" sz="1100" dirty="0">
                <a:solidFill>
                  <a:srgbClr val="0000FF"/>
                </a:solidFill>
              </a:endParaRPr>
            </a:p>
          </p:txBody>
        </p:sp>
      </p:grpSp>
      <p:sp>
        <p:nvSpPr>
          <p:cNvPr id="27" name="Oval 36"/>
          <p:cNvSpPr>
            <a:spLocks noChangeArrowheads="1"/>
          </p:cNvSpPr>
          <p:nvPr/>
        </p:nvSpPr>
        <p:spPr bwMode="auto">
          <a:xfrm>
            <a:off x="4210824" y="3657999"/>
            <a:ext cx="571041" cy="289339"/>
          </a:xfrm>
          <a:prstGeom prst="ellipse">
            <a:avLst/>
          </a:prstGeom>
          <a:solidFill>
            <a:srgbClr val="0000FF"/>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r>
              <a:rPr lang="zh-CN" altLang="en-US" sz="1200" b="1" dirty="0">
                <a:solidFill>
                  <a:schemeClr val="bg1"/>
                </a:solidFill>
                <a:latin typeface="微软雅黑" panose="020B0503020204020204" pitchFamily="34" charset="-122"/>
                <a:ea typeface="微软雅黑" panose="020B0503020204020204" pitchFamily="34" charset="-122"/>
              </a:rPr>
              <a:t>→</a:t>
            </a: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1000"/>
                                        <p:tgtEl>
                                          <p:spTgt spid="24"/>
                                        </p:tgtEl>
                                      </p:cBhvr>
                                    </p:animEffect>
                                    <p:anim calcmode="lin" valueType="num">
                                      <p:cBhvr>
                                        <p:cTn id="14" dur="1000" fill="hold"/>
                                        <p:tgtEl>
                                          <p:spTgt spid="24"/>
                                        </p:tgtEl>
                                        <p:attrNameLst>
                                          <p:attrName>ppt_x</p:attrName>
                                        </p:attrNameLst>
                                      </p:cBhvr>
                                      <p:tavLst>
                                        <p:tav tm="0">
                                          <p:val>
                                            <p:strVal val="#ppt_x"/>
                                          </p:val>
                                        </p:tav>
                                        <p:tav tm="100000">
                                          <p:val>
                                            <p:strVal val="#ppt_x"/>
                                          </p:val>
                                        </p:tav>
                                      </p:tavLst>
                                    </p:anim>
                                    <p:anim calcmode="lin" valueType="num">
                                      <p:cBhvr>
                                        <p:cTn id="15" dur="1000" fill="hold"/>
                                        <p:tgtEl>
                                          <p:spTgt spid="2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10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anim calcmode="lin" valueType="num">
                                      <p:cBhvr>
                                        <p:cTn id="25" dur="1000" fill="hold"/>
                                        <p:tgtEl>
                                          <p:spTgt spid="27"/>
                                        </p:tgtEl>
                                        <p:attrNameLst>
                                          <p:attrName>ppt_x</p:attrName>
                                        </p:attrNameLst>
                                      </p:cBhvr>
                                      <p:tavLst>
                                        <p:tav tm="0">
                                          <p:val>
                                            <p:strVal val="#ppt_x"/>
                                          </p:val>
                                        </p:tav>
                                        <p:tav tm="100000">
                                          <p:val>
                                            <p:strVal val="#ppt_x"/>
                                          </p:val>
                                        </p:tav>
                                      </p:tavLst>
                                    </p:anim>
                                    <p:anim calcmode="lin" valueType="num">
                                      <p:cBhvr>
                                        <p:cTn id="26" dur="1000" fill="hold"/>
                                        <p:tgtEl>
                                          <p:spTgt spid="27"/>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left)">
                                      <p:cBhvr>
                                        <p:cTn id="3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1948441" y="1492194"/>
            <a:ext cx="4674550" cy="2730611"/>
            <a:chOff x="843238" y="1511384"/>
            <a:chExt cx="4247260" cy="2730611"/>
          </a:xfrm>
        </p:grpSpPr>
        <p:graphicFrame>
          <p:nvGraphicFramePr>
            <p:cNvPr id="20" name="对象 19"/>
            <p:cNvGraphicFramePr>
              <a:graphicFrameLocks noChangeAspect="1"/>
            </p:cNvGraphicFramePr>
            <p:nvPr/>
          </p:nvGraphicFramePr>
          <p:xfrm>
            <a:off x="1040099" y="1624372"/>
            <a:ext cx="3894138" cy="2508250"/>
          </p:xfrm>
          <a:graphic>
            <a:graphicData uri="http://schemas.openxmlformats.org/presentationml/2006/ole">
              <mc:AlternateContent xmlns:mc="http://schemas.openxmlformats.org/markup-compatibility/2006">
                <mc:Choice xmlns:v="urn:schemas-microsoft-com:vml" Requires="v">
                  <p:oleObj spid="_x0000_s20490" name="Visio" r:id="rId1" imgW="2257425" imgH="1381125" progId="Visio.Drawing.11">
                    <p:embed/>
                  </p:oleObj>
                </mc:Choice>
                <mc:Fallback>
                  <p:oleObj name="Visio" r:id="rId1" imgW="2257425" imgH="1381125" progId="Visio.Drawing.11">
                    <p:embed/>
                    <p:pic>
                      <p:nvPicPr>
                        <p:cNvPr id="0" name="对象 19"/>
                        <p:cNvPicPr>
                          <a:picLocks noChangeAspect="1" noChangeArrowheads="1"/>
                        </p:cNvPicPr>
                        <p:nvPr/>
                      </p:nvPicPr>
                      <p:blipFill>
                        <a:blip r:embed="rId2"/>
                        <a:srcRect/>
                        <a:stretch>
                          <a:fillRect/>
                        </a:stretch>
                      </p:blipFill>
                      <p:spPr bwMode="auto">
                        <a:xfrm>
                          <a:off x="1040099" y="1624372"/>
                          <a:ext cx="3894138" cy="2508250"/>
                        </a:xfrm>
                        <a:prstGeom prst="rect">
                          <a:avLst/>
                        </a:prstGeom>
                        <a:noFill/>
                      </p:spPr>
                    </p:pic>
                  </p:oleObj>
                </mc:Fallback>
              </mc:AlternateContent>
            </a:graphicData>
          </a:graphic>
        </p:graphicFrame>
        <p:sp>
          <p:nvSpPr>
            <p:cNvPr id="21" name="剪去对角的矩形 6"/>
            <p:cNvSpPr/>
            <p:nvPr/>
          </p:nvSpPr>
          <p:spPr>
            <a:xfrm>
              <a:off x="843238" y="1511384"/>
              <a:ext cx="4247260"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8" name="组合 7"/>
          <p:cNvGrpSpPr/>
          <p:nvPr/>
        </p:nvGrpSpPr>
        <p:grpSpPr>
          <a:xfrm>
            <a:off x="668587" y="4338638"/>
            <a:ext cx="8101643" cy="853987"/>
            <a:chOff x="668587" y="4338638"/>
            <a:chExt cx="8101643" cy="853987"/>
          </a:xfrm>
        </p:grpSpPr>
        <p:sp>
          <p:nvSpPr>
            <p:cNvPr id="5" name="矩形 4"/>
            <p:cNvSpPr/>
            <p:nvPr/>
          </p:nvSpPr>
          <p:spPr>
            <a:xfrm>
              <a:off x="668587" y="4546294"/>
              <a:ext cx="8101643" cy="646331"/>
            </a:xfrm>
            <a:prstGeom prst="rect">
              <a:avLst/>
            </a:prstGeom>
          </p:spPr>
          <p:txBody>
            <a:bodyPr wrap="square">
              <a:spAutoFit/>
            </a:bodyPr>
            <a:lstStyle/>
            <a:p>
              <a:pPr indent="360680">
                <a:lnSpc>
                  <a:spcPct val="150000"/>
                </a:lnSpc>
              </a:pP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主锁存器封锁，其输出保持不变；受其控制的从锁存器虽然打开，但因其输入状态为保持不变的主锁存器的状态，因此，其输出状态也不再改变</a:t>
              </a:r>
              <a:r>
                <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200" kern="100" dirty="0">
                  <a:latin typeface="Times New Roman" panose="02020603050405020304" pitchFamily="18" charset="0"/>
                  <a:ea typeface="微软雅黑" panose="020B0503020204020204" pitchFamily="34" charset="-122"/>
                  <a:cs typeface="Times New Roman" panose="02020603050405020304" pitchFamily="18" charset="0"/>
                </a:rPr>
                <a:t>整个触发器的输出状态保持不变。</a:t>
              </a:r>
              <a:endParaRPr lang="zh-CN" altLang="en-US" sz="12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5" name="对象 14"/>
            <p:cNvGraphicFramePr>
              <a:graphicFrameLocks noChangeAspect="1"/>
            </p:cNvGraphicFramePr>
            <p:nvPr/>
          </p:nvGraphicFramePr>
          <p:xfrm>
            <a:off x="714375" y="4338638"/>
            <a:ext cx="814388" cy="271462"/>
          </p:xfrm>
          <a:graphic>
            <a:graphicData uri="http://schemas.openxmlformats.org/presentationml/2006/ole">
              <mc:AlternateContent xmlns:mc="http://schemas.openxmlformats.org/markup-compatibility/2006">
                <mc:Choice xmlns:v="urn:schemas-microsoft-com:vml" Requires="v">
                  <p:oleObj spid="_x0000_s20491" name="Equation" r:id="rId4" imgW="17373600" imgH="5791200" progId="Equation.DSMT4">
                    <p:embed/>
                  </p:oleObj>
                </mc:Choice>
                <mc:Fallback>
                  <p:oleObj name="Equation" r:id="rId4" imgW="17373600" imgH="5791200" progId="Equation.DSMT4">
                    <p:embed/>
                    <p:pic>
                      <p:nvPicPr>
                        <p:cNvPr id="0" name="对象 14"/>
                        <p:cNvPicPr/>
                        <p:nvPr/>
                      </p:nvPicPr>
                      <p:blipFill>
                        <a:blip r:embed="rId5"/>
                        <a:stretch>
                          <a:fillRect/>
                        </a:stretch>
                      </p:blipFill>
                      <p:spPr>
                        <a:xfrm>
                          <a:off x="714375" y="4338638"/>
                          <a:ext cx="814388" cy="271462"/>
                        </a:xfrm>
                        <a:prstGeom prst="rect">
                          <a:avLst/>
                        </a:prstGeom>
                      </p:spPr>
                    </p:pic>
                  </p:oleObj>
                </mc:Fallback>
              </mc:AlternateContent>
            </a:graphicData>
          </a:graphic>
        </p:graphicFrame>
      </p:grpSp>
      <p:sp>
        <p:nvSpPr>
          <p:cNvPr id="24" name="Oval 36"/>
          <p:cNvSpPr>
            <a:spLocks noChangeArrowheads="1"/>
          </p:cNvSpPr>
          <p:nvPr/>
        </p:nvSpPr>
        <p:spPr bwMode="auto">
          <a:xfrm>
            <a:off x="4220948" y="3651821"/>
            <a:ext cx="283526" cy="270630"/>
          </a:xfrm>
          <a:prstGeom prst="ellipse">
            <a:avLst/>
          </a:prstGeom>
          <a:solidFill>
            <a:srgbClr val="FF0000"/>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27" name="Oval 36"/>
          <p:cNvSpPr>
            <a:spLocks noChangeArrowheads="1"/>
          </p:cNvSpPr>
          <p:nvPr/>
        </p:nvSpPr>
        <p:spPr bwMode="auto">
          <a:xfrm>
            <a:off x="2299655" y="2836268"/>
            <a:ext cx="290200" cy="289339"/>
          </a:xfrm>
          <a:prstGeom prst="ellipse">
            <a:avLst/>
          </a:prstGeom>
          <a:solidFill>
            <a:srgbClr val="0000FF"/>
          </a:solidFill>
          <a:ln w="9525">
            <a:solidFill>
              <a:schemeClr val="bg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2809801" y="963728"/>
            <a:ext cx="2509232" cy="2688093"/>
            <a:chOff x="2809801" y="963728"/>
            <a:chExt cx="2509232" cy="2688093"/>
          </a:xfrm>
        </p:grpSpPr>
        <p:sp>
          <p:nvSpPr>
            <p:cNvPr id="30" name="圆角矩形 29"/>
            <p:cNvSpPr/>
            <p:nvPr/>
          </p:nvSpPr>
          <p:spPr>
            <a:xfrm>
              <a:off x="2809801" y="1581845"/>
              <a:ext cx="1388240" cy="2069976"/>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标注 31"/>
            <p:cNvSpPr/>
            <p:nvPr/>
          </p:nvSpPr>
          <p:spPr>
            <a:xfrm>
              <a:off x="3406388" y="963728"/>
              <a:ext cx="1912645"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封锁</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状态保持不变。</a:t>
              </a:r>
              <a:endParaRPr lang="zh-CN" altLang="en-US" sz="1100" dirty="0">
                <a:solidFill>
                  <a:srgbClr val="0000FF"/>
                </a:solidFill>
              </a:endParaRPr>
            </a:p>
          </p:txBody>
        </p:sp>
      </p:grpSp>
      <p:grpSp>
        <p:nvGrpSpPr>
          <p:cNvPr id="7" name="组合 6"/>
          <p:cNvGrpSpPr/>
          <p:nvPr/>
        </p:nvGrpSpPr>
        <p:grpSpPr>
          <a:xfrm>
            <a:off x="4639528" y="957561"/>
            <a:ext cx="2850965" cy="2690450"/>
            <a:chOff x="4639528" y="957561"/>
            <a:chExt cx="2850965" cy="2690450"/>
          </a:xfrm>
        </p:grpSpPr>
        <p:sp>
          <p:nvSpPr>
            <p:cNvPr id="31" name="圆角矩形 30"/>
            <p:cNvSpPr/>
            <p:nvPr/>
          </p:nvSpPr>
          <p:spPr>
            <a:xfrm>
              <a:off x="4639528" y="1578035"/>
              <a:ext cx="1608543" cy="2069976"/>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标注 32"/>
            <p:cNvSpPr/>
            <p:nvPr/>
          </p:nvSpPr>
          <p:spPr>
            <a:xfrm>
              <a:off x="5577848" y="957561"/>
              <a:ext cx="1912645" cy="484053"/>
            </a:xfrm>
            <a:prstGeom prst="wedgeRoundRectCallout">
              <a:avLst>
                <a:gd name="adj1" fmla="val -37997"/>
                <a:gd name="adj2" fmla="val 75685"/>
                <a:gd name="adj3" fmla="val 16667"/>
              </a:avLst>
            </a:prstGeom>
            <a:solidFill>
              <a:schemeClr val="bg1"/>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打开</a:t>
              </a:r>
              <a:r>
                <a:rPr lang="zh-CN" altLang="zh-CN"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，输出状态</a:t>
              </a:r>
              <a:r>
                <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保持不变。</a:t>
              </a:r>
              <a:endParaRPr lang="zh-CN" altLang="en-US" sz="1100" kern="1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1000"/>
                                        <p:tgtEl>
                                          <p:spTgt spid="27"/>
                                        </p:tgtEl>
                                      </p:cBhvr>
                                    </p:animEffect>
                                    <p:anim calcmode="lin" valueType="num">
                                      <p:cBhvr>
                                        <p:cTn id="14" dur="1000" fill="hold"/>
                                        <p:tgtEl>
                                          <p:spTgt spid="27"/>
                                        </p:tgtEl>
                                        <p:attrNameLst>
                                          <p:attrName>ppt_x</p:attrName>
                                        </p:attrNameLst>
                                      </p:cBhvr>
                                      <p:tavLst>
                                        <p:tav tm="0">
                                          <p:val>
                                            <p:strVal val="#ppt_x"/>
                                          </p:val>
                                        </p:tav>
                                        <p:tav tm="100000">
                                          <p:val>
                                            <p:strVal val="#ppt_x"/>
                                          </p:val>
                                        </p:tav>
                                      </p:tavLst>
                                    </p:anim>
                                    <p:anim calcmode="lin" valueType="num">
                                      <p:cBhvr>
                                        <p:cTn id="15" dur="1000" fill="hold"/>
                                        <p:tgtEl>
                                          <p:spTgt spid="2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4"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10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22" presetClass="entr" presetSubtype="4"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down)">
                                      <p:cBhvr>
                                        <p:cTn id="3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8" name="组合 7"/>
          <p:cNvGrpSpPr/>
          <p:nvPr/>
        </p:nvGrpSpPr>
        <p:grpSpPr>
          <a:xfrm>
            <a:off x="1288204" y="1488429"/>
            <a:ext cx="6592334" cy="2730611"/>
            <a:chOff x="782936" y="1511384"/>
            <a:chExt cx="6592334" cy="2730611"/>
          </a:xfrm>
        </p:grpSpPr>
        <p:graphicFrame>
          <p:nvGraphicFramePr>
            <p:cNvPr id="6" name="对象 5"/>
            <p:cNvGraphicFramePr>
              <a:graphicFrameLocks noChangeAspect="1"/>
            </p:cNvGraphicFramePr>
            <p:nvPr/>
          </p:nvGraphicFramePr>
          <p:xfrm>
            <a:off x="1037055" y="1622785"/>
            <a:ext cx="6258121" cy="2509837"/>
          </p:xfrm>
          <a:graphic>
            <a:graphicData uri="http://schemas.openxmlformats.org/presentationml/2006/ole">
              <mc:AlternateContent xmlns:mc="http://schemas.openxmlformats.org/markup-compatibility/2006">
                <mc:Choice xmlns:v="urn:schemas-microsoft-com:vml" Requires="v">
                  <p:oleObj spid="_x0000_s21510" name="Visio" r:id="rId2" imgW="3371850" imgH="1381125" progId="Visio.Drawing.11">
                    <p:embed/>
                  </p:oleObj>
                </mc:Choice>
                <mc:Fallback>
                  <p:oleObj name="Visio" r:id="rId2" imgW="3371850" imgH="1381125" progId="Visio.Drawing.11">
                    <p:embed/>
                    <p:pic>
                      <p:nvPicPr>
                        <p:cNvPr id="0" name="对象 5"/>
                        <p:cNvPicPr>
                          <a:picLocks noChangeAspect="1" noChangeArrowheads="1"/>
                        </p:cNvPicPr>
                        <p:nvPr/>
                      </p:nvPicPr>
                      <p:blipFill>
                        <a:blip r:embed="rId3"/>
                        <a:srcRect/>
                        <a:stretch>
                          <a:fillRect/>
                        </a:stretch>
                      </p:blipFill>
                      <p:spPr bwMode="auto">
                        <a:xfrm>
                          <a:off x="1037055" y="1622785"/>
                          <a:ext cx="6258121" cy="2509837"/>
                        </a:xfrm>
                        <a:prstGeom prst="rect">
                          <a:avLst/>
                        </a:prstGeom>
                        <a:noFill/>
                      </p:spPr>
                    </p:pic>
                  </p:oleObj>
                </mc:Fallback>
              </mc:AlternateContent>
            </a:graphicData>
          </a:graphic>
        </p:graphicFrame>
        <p:sp>
          <p:nvSpPr>
            <p:cNvPr id="7" name="剪去对角的矩形 6"/>
            <p:cNvSpPr/>
            <p:nvPr/>
          </p:nvSpPr>
          <p:spPr>
            <a:xfrm>
              <a:off x="782936" y="1511384"/>
              <a:ext cx="6592334"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AutoShape 40"/>
          <p:cNvSpPr>
            <a:spLocks noChangeArrowheads="1"/>
          </p:cNvSpPr>
          <p:nvPr/>
        </p:nvSpPr>
        <p:spPr bwMode="auto">
          <a:xfrm>
            <a:off x="1288204" y="4330441"/>
            <a:ext cx="6633406" cy="678489"/>
          </a:xfrm>
          <a:prstGeom prst="wedgeRoundRectCallout">
            <a:avLst>
              <a:gd name="adj1" fmla="val -7023"/>
              <a:gd name="adj2" fmla="val -24200"/>
              <a:gd name="adj3" fmla="val 16667"/>
            </a:avLst>
          </a:prstGeom>
          <a:solidFill>
            <a:srgbClr val="FFFF99"/>
          </a:solidFill>
          <a:ln w="28575" algn="ctr">
            <a:solidFill>
              <a:schemeClr val="hlink"/>
            </a:solidFill>
            <a:miter lim="800000"/>
          </a:ln>
        </p:spPr>
        <p:txBody>
          <a:bodyPr lIns="0" tIns="0" rIns="0" bIns="0" anchor="ctr"/>
          <a:lstStyle/>
          <a:p>
            <a:pPr indent="266700">
              <a:lnSpc>
                <a:spcPct val="150000"/>
              </a:lnSpc>
            </a:pP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整个触发器的状态（也就是从锁存器的状态）变化只在</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时钟</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由</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变</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时刻</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下降沿</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发生，且在时钟脉冲一个变化周期内只可能发生一次变化。</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Rectangle 12"/>
          <p:cNvSpPr>
            <a:spLocks noChangeArrowheads="1"/>
          </p:cNvSpPr>
          <p:nvPr/>
        </p:nvSpPr>
        <p:spPr bwMode="auto">
          <a:xfrm>
            <a:off x="5556719" y="1249146"/>
            <a:ext cx="1844808" cy="521652"/>
          </a:xfrm>
          <a:prstGeom prst="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dirty="0">
                <a:solidFill>
                  <a:schemeClr val="tx1"/>
                </a:solidFill>
                <a:latin typeface="微软雅黑" panose="020B0503020204020204" pitchFamily="34" charset="-122"/>
                <a:ea typeface="微软雅黑" panose="020B0503020204020204" pitchFamily="34" charset="-122"/>
              </a:rPr>
              <a:t>约束条件</a:t>
            </a:r>
            <a:r>
              <a:rPr kumimoji="1" lang="en-US" altLang="zh-CN" dirty="0">
                <a:solidFill>
                  <a:schemeClr val="tx1"/>
                </a:solidFill>
                <a:latin typeface="微软雅黑" panose="020B0503020204020204" pitchFamily="34" charset="-122"/>
                <a:ea typeface="微软雅黑" panose="020B0503020204020204" pitchFamily="34" charset="-122"/>
              </a:rPr>
              <a:t>: SR = 0</a:t>
            </a:r>
            <a:endParaRPr kumimoji="1" lang="en-US" altLang="zh-CN" dirty="0">
              <a:solidFill>
                <a:schemeClr val="tx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6316985" y="2059474"/>
            <a:ext cx="1402079" cy="1630937"/>
            <a:chOff x="6632678" y="2128363"/>
            <a:chExt cx="1402079" cy="1630937"/>
          </a:xfrm>
        </p:grpSpPr>
        <p:sp>
          <p:nvSpPr>
            <p:cNvPr id="12" name="椭圆 11"/>
            <p:cNvSpPr/>
            <p:nvPr/>
          </p:nvSpPr>
          <p:spPr>
            <a:xfrm>
              <a:off x="6858000" y="3543300"/>
              <a:ext cx="216000" cy="216000"/>
            </a:xfrm>
            <a:prstGeom prst="ellipse">
              <a:avLst/>
            </a:prstGeom>
            <a:solidFill>
              <a:srgbClr val="FFFF00">
                <a:alpha val="22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曲线连接符 12"/>
            <p:cNvCxnSpPr>
              <a:stCxn id="12" idx="0"/>
            </p:cNvCxnSpPr>
            <p:nvPr/>
          </p:nvCxnSpPr>
          <p:spPr>
            <a:xfrm rot="5400000" flipH="1" flipV="1">
              <a:off x="6847146" y="2981408"/>
              <a:ext cx="680747" cy="443038"/>
            </a:xfrm>
            <a:prstGeom prst="curvedConnector3">
              <a:avLst>
                <a:gd name="adj1" fmla="val 50000"/>
              </a:avLst>
            </a:prstGeom>
            <a:ln w="19050">
              <a:solidFill>
                <a:srgbClr val="CC00CC"/>
              </a:solidFill>
              <a:tailEnd type="arrow"/>
            </a:ln>
          </p:spPr>
          <p:style>
            <a:lnRef idx="1">
              <a:schemeClr val="accent1"/>
            </a:lnRef>
            <a:fillRef idx="0">
              <a:schemeClr val="accent1"/>
            </a:fillRef>
            <a:effectRef idx="0">
              <a:schemeClr val="accent1"/>
            </a:effectRef>
            <a:fontRef idx="minor">
              <a:schemeClr val="tx1"/>
            </a:fontRef>
          </p:style>
        </p:cxnSp>
        <p:sp>
          <p:nvSpPr>
            <p:cNvPr id="14" name="AutoShape 40"/>
            <p:cNvSpPr>
              <a:spLocks noChangeArrowheads="1"/>
            </p:cNvSpPr>
            <p:nvPr/>
          </p:nvSpPr>
          <p:spPr bwMode="auto">
            <a:xfrm>
              <a:off x="6632678" y="2128363"/>
              <a:ext cx="1402079" cy="678489"/>
            </a:xfrm>
            <a:prstGeom prst="wedgeRoundRectCallout">
              <a:avLst>
                <a:gd name="adj1" fmla="val -7023"/>
                <a:gd name="adj2" fmla="val -24200"/>
                <a:gd name="adj3" fmla="val 16667"/>
              </a:avLst>
            </a:prstGeom>
            <a:solidFill>
              <a:srgbClr val="FFFF99"/>
            </a:solidFill>
            <a:ln w="28575" algn="ctr">
              <a:solidFill>
                <a:schemeClr val="hlink"/>
              </a:solidFill>
              <a:miter lim="800000"/>
            </a:ln>
          </p:spPr>
          <p:txBody>
            <a:bodyPr lIns="0" tIns="0" rIns="0" bIns="0" anchor="ctr"/>
            <a:lstStyle/>
            <a:p>
              <a:pPr algn="ctr">
                <a:lnSpc>
                  <a:spcPct val="150000"/>
                </a:lnSpc>
              </a:pP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”表示边沿触发“○</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&gt;</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”表示下降沿</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5" name="组合 14"/>
          <p:cNvGrpSpPr/>
          <p:nvPr/>
        </p:nvGrpSpPr>
        <p:grpSpPr>
          <a:xfrm>
            <a:off x="7057330" y="2350389"/>
            <a:ext cx="1903085" cy="1109929"/>
            <a:chOff x="6858000" y="2649371"/>
            <a:chExt cx="1903085" cy="1109929"/>
          </a:xfrm>
        </p:grpSpPr>
        <p:sp>
          <p:nvSpPr>
            <p:cNvPr id="16" name="椭圆 15"/>
            <p:cNvSpPr/>
            <p:nvPr/>
          </p:nvSpPr>
          <p:spPr>
            <a:xfrm>
              <a:off x="6858000" y="3543300"/>
              <a:ext cx="216000" cy="216000"/>
            </a:xfrm>
            <a:prstGeom prst="ellipse">
              <a:avLst/>
            </a:prstGeom>
            <a:solidFill>
              <a:srgbClr val="FFFF00">
                <a:alpha val="22000"/>
              </a:srgb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曲线连接符 18"/>
            <p:cNvCxnSpPr>
              <a:stCxn id="16" idx="0"/>
            </p:cNvCxnSpPr>
            <p:nvPr/>
          </p:nvCxnSpPr>
          <p:spPr>
            <a:xfrm rot="5400000" flipH="1" flipV="1">
              <a:off x="7085906" y="2972740"/>
              <a:ext cx="450654" cy="690466"/>
            </a:xfrm>
            <a:prstGeom prst="curvedConnector2">
              <a:avLst/>
            </a:prstGeom>
            <a:ln w="19050">
              <a:solidFill>
                <a:srgbClr val="CC00CC"/>
              </a:solidFill>
              <a:tailEnd type="arrow"/>
            </a:ln>
          </p:spPr>
          <p:style>
            <a:lnRef idx="1">
              <a:schemeClr val="accent1"/>
            </a:lnRef>
            <a:fillRef idx="0">
              <a:schemeClr val="accent1"/>
            </a:fillRef>
            <a:effectRef idx="0">
              <a:schemeClr val="accent1"/>
            </a:effectRef>
            <a:fontRef idx="minor">
              <a:schemeClr val="tx1"/>
            </a:fontRef>
          </p:style>
        </p:cxnSp>
        <p:sp>
          <p:nvSpPr>
            <p:cNvPr id="20" name="AutoShape 40"/>
            <p:cNvSpPr>
              <a:spLocks noChangeArrowheads="1"/>
            </p:cNvSpPr>
            <p:nvPr/>
          </p:nvSpPr>
          <p:spPr bwMode="auto">
            <a:xfrm>
              <a:off x="7601114" y="2649371"/>
              <a:ext cx="1159971" cy="387573"/>
            </a:xfrm>
            <a:prstGeom prst="wedgeRoundRectCallout">
              <a:avLst>
                <a:gd name="adj1" fmla="val -7023"/>
                <a:gd name="adj2" fmla="val -24200"/>
                <a:gd name="adj3" fmla="val 16667"/>
              </a:avLst>
            </a:prstGeom>
            <a:solidFill>
              <a:srgbClr val="FFFF99"/>
            </a:solidFill>
            <a:ln w="28575" algn="ctr">
              <a:solidFill>
                <a:schemeClr val="hlink"/>
              </a:solidFill>
              <a:miter lim="800000"/>
            </a:ln>
          </p:spPr>
          <p:txBody>
            <a:bodyPr lIns="0" tIns="0" rIns="0" bIns="0" anchor="ctr"/>
            <a:lstStyle/>
            <a:p>
              <a:pPr algn="ctr">
                <a:lnSpc>
                  <a:spcPct val="150000"/>
                </a:lnSpc>
              </a:pP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表示延迟作用</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7"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1000"/>
                                        <p:tgtEl>
                                          <p:spTgt spid="18"/>
                                        </p:tgtEl>
                                      </p:cBhvr>
                                    </p:animEffect>
                                    <p:anim calcmode="lin" valueType="num">
                                      <p:cBhvr>
                                        <p:cTn id="21" dur="1000" fill="hold"/>
                                        <p:tgtEl>
                                          <p:spTgt spid="18"/>
                                        </p:tgtEl>
                                        <p:attrNameLst>
                                          <p:attrName>ppt_x</p:attrName>
                                        </p:attrNameLst>
                                      </p:cBhvr>
                                      <p:tavLst>
                                        <p:tav tm="0">
                                          <p:val>
                                            <p:strVal val="#ppt_x"/>
                                          </p:val>
                                        </p:tav>
                                        <p:tav tm="100000">
                                          <p:val>
                                            <p:strVal val="#ppt_x"/>
                                          </p:val>
                                        </p:tav>
                                      </p:tavLst>
                                    </p:anim>
                                    <p:anim calcmode="lin" valueType="num">
                                      <p:cBhvr>
                                        <p:cTn id="2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1000"/>
                                        <p:tgtEl>
                                          <p:spTgt spid="11"/>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down)">
                                      <p:cBhvr>
                                        <p:cTn id="31"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0" name="组合 9"/>
          <p:cNvGrpSpPr/>
          <p:nvPr/>
        </p:nvGrpSpPr>
        <p:grpSpPr>
          <a:xfrm>
            <a:off x="569362" y="1484685"/>
            <a:ext cx="8094083" cy="2730611"/>
            <a:chOff x="569362" y="1484685"/>
            <a:chExt cx="8094083" cy="2730611"/>
          </a:xfrm>
        </p:grpSpPr>
        <p:grpSp>
          <p:nvGrpSpPr>
            <p:cNvPr id="5" name="组合 4"/>
            <p:cNvGrpSpPr/>
            <p:nvPr/>
          </p:nvGrpSpPr>
          <p:grpSpPr>
            <a:xfrm>
              <a:off x="569362" y="1484685"/>
              <a:ext cx="8094083" cy="2730611"/>
              <a:chOff x="569362" y="1484685"/>
              <a:chExt cx="8094083" cy="2730611"/>
            </a:xfrm>
          </p:grpSpPr>
          <p:grpSp>
            <p:nvGrpSpPr>
              <p:cNvPr id="8" name="组合 7"/>
              <p:cNvGrpSpPr/>
              <p:nvPr/>
            </p:nvGrpSpPr>
            <p:grpSpPr>
              <a:xfrm>
                <a:off x="569362" y="1484685"/>
                <a:ext cx="8094083" cy="2730611"/>
                <a:chOff x="782935" y="1511384"/>
                <a:chExt cx="8094083" cy="2730611"/>
              </a:xfrm>
            </p:grpSpPr>
            <p:graphicFrame>
              <p:nvGraphicFramePr>
                <p:cNvPr id="6" name="对象 5"/>
                <p:cNvGraphicFramePr>
                  <a:graphicFrameLocks noChangeAspect="1"/>
                </p:cNvGraphicFramePr>
                <p:nvPr/>
              </p:nvGraphicFramePr>
              <p:xfrm>
                <a:off x="1037055" y="1622785"/>
                <a:ext cx="6258121" cy="2509837"/>
              </p:xfrm>
              <a:graphic>
                <a:graphicData uri="http://schemas.openxmlformats.org/presentationml/2006/ole">
                  <mc:AlternateContent xmlns:mc="http://schemas.openxmlformats.org/markup-compatibility/2006">
                    <mc:Choice xmlns:v="urn:schemas-microsoft-com:vml" Requires="v">
                      <p:oleObj spid="_x0000_s22538" name="Visio" r:id="rId2" imgW="3371850" imgH="1381125" progId="Visio.Drawing.11">
                        <p:embed/>
                      </p:oleObj>
                    </mc:Choice>
                    <mc:Fallback>
                      <p:oleObj name="Visio" r:id="rId2" imgW="3371850" imgH="1381125" progId="Visio.Drawing.11">
                        <p:embed/>
                        <p:pic>
                          <p:nvPicPr>
                            <p:cNvPr id="0" name="对象 5"/>
                            <p:cNvPicPr>
                              <a:picLocks noChangeAspect="1" noChangeArrowheads="1"/>
                            </p:cNvPicPr>
                            <p:nvPr/>
                          </p:nvPicPr>
                          <p:blipFill>
                            <a:blip r:embed="rId3"/>
                            <a:srcRect/>
                            <a:stretch>
                              <a:fillRect/>
                            </a:stretch>
                          </p:blipFill>
                          <p:spPr bwMode="auto">
                            <a:xfrm>
                              <a:off x="1037055" y="1622785"/>
                              <a:ext cx="6258121" cy="2509837"/>
                            </a:xfrm>
                            <a:prstGeom prst="rect">
                              <a:avLst/>
                            </a:prstGeom>
                            <a:noFill/>
                          </p:spPr>
                        </p:pic>
                      </p:oleObj>
                    </mc:Fallback>
                  </mc:AlternateContent>
                </a:graphicData>
              </a:graphic>
            </p:graphicFrame>
            <p:sp>
              <p:nvSpPr>
                <p:cNvPr id="7" name="剪去对角的矩形 6"/>
                <p:cNvSpPr/>
                <p:nvPr/>
              </p:nvSpPr>
              <p:spPr>
                <a:xfrm>
                  <a:off x="782935" y="1511384"/>
                  <a:ext cx="8094083" cy="2730611"/>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4868409" y="2953660"/>
                <a:ext cx="2482897" cy="11680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aphicFrame>
          <p:nvGraphicFramePr>
            <p:cNvPr id="11" name="对象 10"/>
            <p:cNvGraphicFramePr>
              <a:graphicFrameLocks noChangeAspect="1"/>
            </p:cNvGraphicFramePr>
            <p:nvPr/>
          </p:nvGraphicFramePr>
          <p:xfrm>
            <a:off x="5057534" y="1972989"/>
            <a:ext cx="3353189" cy="1818409"/>
          </p:xfrm>
          <a:graphic>
            <a:graphicData uri="http://schemas.openxmlformats.org/presentationml/2006/ole">
              <mc:AlternateContent xmlns:mc="http://schemas.openxmlformats.org/markup-compatibility/2006">
                <mc:Choice xmlns:v="urn:schemas-microsoft-com:vml" Requires="v">
                  <p:oleObj spid="_x0000_s22539" name="Visio" r:id="rId4" imgW="1858010" imgH="914400" progId="Visio.Drawing.11">
                    <p:embed/>
                  </p:oleObj>
                </mc:Choice>
                <mc:Fallback>
                  <p:oleObj name="Visio" r:id="rId4" imgW="1858010" imgH="914400" progId="Visio.Drawing.11">
                    <p:embed/>
                    <p:pic>
                      <p:nvPicPr>
                        <p:cNvPr id="0" name="对象 10"/>
                        <p:cNvPicPr>
                          <a:picLocks noChangeAspect="1" noChangeArrowheads="1"/>
                        </p:cNvPicPr>
                        <p:nvPr/>
                      </p:nvPicPr>
                      <p:blipFill>
                        <a:blip r:embed="rId5"/>
                        <a:srcRect/>
                        <a:stretch>
                          <a:fillRect/>
                        </a:stretch>
                      </p:blipFill>
                      <p:spPr bwMode="auto">
                        <a:xfrm>
                          <a:off x="5057534" y="1972989"/>
                          <a:ext cx="3353189" cy="1818409"/>
                        </a:xfrm>
                        <a:prstGeom prst="rect">
                          <a:avLst/>
                        </a:prstGeom>
                        <a:noFill/>
                        <a:ln>
                          <a:noFill/>
                        </a:ln>
                      </p:spPr>
                    </p:pic>
                  </p:oleObj>
                </mc:Fallback>
              </mc:AlternateContent>
            </a:graphicData>
          </a:graphic>
        </p:graphicFrame>
      </p:grpSp>
      <p:grpSp>
        <p:nvGrpSpPr>
          <p:cNvPr id="24" name="组合 23"/>
          <p:cNvGrpSpPr/>
          <p:nvPr/>
        </p:nvGrpSpPr>
        <p:grpSpPr>
          <a:xfrm>
            <a:off x="5890213" y="2029034"/>
            <a:ext cx="1982310" cy="1321542"/>
            <a:chOff x="5890213" y="2029034"/>
            <a:chExt cx="1982310" cy="1321542"/>
          </a:xfrm>
        </p:grpSpPr>
        <p:sp>
          <p:nvSpPr>
            <p:cNvPr id="15" name="圆角矩形 14"/>
            <p:cNvSpPr/>
            <p:nvPr/>
          </p:nvSpPr>
          <p:spPr>
            <a:xfrm>
              <a:off x="5890213" y="2029034"/>
              <a:ext cx="650751" cy="1321542"/>
            </a:xfrm>
            <a:prstGeom prst="roundRect">
              <a:avLst>
                <a:gd name="adj" fmla="val 0"/>
              </a:avLst>
            </a:prstGeom>
            <a:solidFill>
              <a:srgbClr val="FF00FF">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7221772" y="2029034"/>
              <a:ext cx="650751" cy="1321542"/>
            </a:xfrm>
            <a:prstGeom prst="roundRect">
              <a:avLst>
                <a:gd name="adj" fmla="val 0"/>
              </a:avLst>
            </a:prstGeom>
            <a:solidFill>
              <a:srgbClr val="FF00FF">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5419655" y="2029034"/>
            <a:ext cx="2916737" cy="1321542"/>
            <a:chOff x="5419655" y="2029034"/>
            <a:chExt cx="2916737" cy="1321542"/>
          </a:xfrm>
        </p:grpSpPr>
        <p:sp>
          <p:nvSpPr>
            <p:cNvPr id="19" name="圆角矩形 18"/>
            <p:cNvSpPr/>
            <p:nvPr/>
          </p:nvSpPr>
          <p:spPr>
            <a:xfrm>
              <a:off x="5419655" y="2029034"/>
              <a:ext cx="470558" cy="1321542"/>
            </a:xfrm>
            <a:prstGeom prst="roundRect">
              <a:avLst>
                <a:gd name="adj" fmla="val 0"/>
              </a:avLst>
            </a:prstGeom>
            <a:solidFill>
              <a:srgbClr val="00206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6564347" y="2029034"/>
              <a:ext cx="650751" cy="1321542"/>
            </a:xfrm>
            <a:prstGeom prst="roundRect">
              <a:avLst>
                <a:gd name="adj" fmla="val 0"/>
              </a:avLst>
            </a:prstGeom>
            <a:solidFill>
              <a:srgbClr val="00206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7879198" y="2029034"/>
              <a:ext cx="457194" cy="1321542"/>
            </a:xfrm>
            <a:prstGeom prst="roundRect">
              <a:avLst>
                <a:gd name="adj" fmla="val 0"/>
              </a:avLst>
            </a:prstGeom>
            <a:solidFill>
              <a:srgbClr val="00206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a:off x="6540964" y="2044800"/>
            <a:ext cx="1330351" cy="1656000"/>
            <a:chOff x="6540964" y="2044800"/>
            <a:chExt cx="1330351" cy="1656000"/>
          </a:xfrm>
        </p:grpSpPr>
        <p:cxnSp>
          <p:nvCxnSpPr>
            <p:cNvPr id="14" name="直接连接符 13"/>
            <p:cNvCxnSpPr/>
            <p:nvPr/>
          </p:nvCxnSpPr>
          <p:spPr>
            <a:xfrm>
              <a:off x="6540964" y="2044800"/>
              <a:ext cx="0" cy="165600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7871315" y="2044800"/>
              <a:ext cx="0" cy="165600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up)">
                                      <p:cBhvr>
                                        <p:cTn id="14" dur="10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1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3805798" cy="420971"/>
            <a:chOff x="670560" y="892917"/>
            <a:chExt cx="3805798" cy="420971"/>
          </a:xfrm>
        </p:grpSpPr>
        <p:sp>
          <p:nvSpPr>
            <p:cNvPr id="3" name="矩形 2"/>
            <p:cNvSpPr/>
            <p:nvPr/>
          </p:nvSpPr>
          <p:spPr>
            <a:xfrm>
              <a:off x="1035231" y="913778"/>
              <a:ext cx="3441127"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主从</a:t>
              </a:r>
              <a:r>
                <a:rPr lang="en-US" altLang="zh-CN" sz="2000" b="1" dirty="0">
                  <a:solidFill>
                    <a:srgbClr val="002060"/>
                  </a:solidFill>
                  <a:latin typeface="微软雅黑" panose="020B0503020204020204" pitchFamily="34" charset="-122"/>
                  <a:ea typeface="微软雅黑" panose="020B0503020204020204" pitchFamily="34" charset="-122"/>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矩形 4"/>
          <p:cNvSpPr/>
          <p:nvPr/>
        </p:nvSpPr>
        <p:spPr>
          <a:xfrm>
            <a:off x="2806307" y="1274892"/>
            <a:ext cx="3211135" cy="293029"/>
          </a:xfrm>
          <a:prstGeom prst="rect">
            <a:avLst/>
          </a:prstGeom>
        </p:spPr>
        <p:txBody>
          <a:bodyPr wrap="none">
            <a:spAutoFit/>
          </a:bodyPr>
          <a:lstStyle/>
          <a:p>
            <a:pPr algn="just">
              <a:lnSpc>
                <a:spcPts val="1500"/>
              </a:lnSpc>
              <a:spcBef>
                <a:spcPts val="300"/>
              </a:spcBef>
              <a:spcAft>
                <a:spcPts val="0"/>
              </a:spcAft>
            </a:pPr>
            <a:r>
              <a:rPr lang="en-US" altLang="zh-CN" i="1" kern="1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SR</a:t>
            </a:r>
            <a:r>
              <a:rPr lang="zh-CN" altLang="zh-CN" kern="1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触发器的特征表和特征方程</a:t>
            </a:r>
            <a:endParaRPr lang="zh-CN" altLang="zh-CN" kern="1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735332" y="1644466"/>
            <a:ext cx="7557330" cy="830997"/>
          </a:xfrm>
          <a:prstGeom prst="rect">
            <a:avLst/>
          </a:prstGeom>
        </p:spPr>
        <p:txBody>
          <a:bodyPr wrap="square">
            <a:spAutoFit/>
          </a:bodyPr>
          <a:lstStyle/>
          <a:p>
            <a:pPr>
              <a:lnSpc>
                <a:spcPct val="150000"/>
              </a:lnSpc>
            </a:pPr>
            <a:r>
              <a:rPr lang="zh-CN" altLang="zh-CN" sz="1600" b="1" kern="1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现态</a:t>
            </a:r>
            <a:r>
              <a:rPr lang="en-US" altLang="zh-CN" sz="1600" b="1" i="1" kern="100" dirty="0" err="1">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1" kern="100" baseline="30000" dirty="0" err="1">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表示某一个时钟有效沿前一个时刻触发器的状态</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zh-CN" sz="1600" b="1" kern="1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次态</a:t>
            </a:r>
            <a:r>
              <a:rPr lang="en-US" altLang="zh-CN" sz="1600" b="1" i="1" kern="1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Q</a:t>
            </a:r>
            <a:r>
              <a:rPr lang="en-US" altLang="zh-CN" sz="1600" b="1" kern="100" baseline="300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表示时钟有效沿到达后触发器的状态</a:t>
            </a:r>
            <a:r>
              <a:rPr lang="zh-CN" altLang="en-US" sz="16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3" name="表格 12"/>
          <p:cNvGraphicFramePr>
            <a:graphicFrameLocks noGrp="1"/>
          </p:cNvGraphicFramePr>
          <p:nvPr/>
        </p:nvGraphicFramePr>
        <p:xfrm>
          <a:off x="1036176" y="2700531"/>
          <a:ext cx="3112971" cy="2321017"/>
        </p:xfrm>
        <a:graphic>
          <a:graphicData uri="http://schemas.openxmlformats.org/drawingml/2006/table">
            <a:tbl>
              <a:tblPr firstRow="1" firstCol="1" bandRow="1">
                <a:tableStyleId>{5C22544A-7EE6-4342-B048-85BDC9FD1C3A}</a:tableStyleId>
              </a:tblPr>
              <a:tblGrid>
                <a:gridCol w="567624"/>
                <a:gridCol w="567624"/>
                <a:gridCol w="565633"/>
                <a:gridCol w="706045"/>
                <a:gridCol w="706045"/>
              </a:tblGrid>
              <a:tr h="400777">
                <a:tc gridSpan="5">
                  <a:txBody>
                    <a:bodyPr/>
                    <a:lstStyle/>
                    <a:p>
                      <a:pPr algn="ctr">
                        <a:spcAft>
                          <a:spcPts val="0"/>
                        </a:spcAft>
                      </a:pPr>
                      <a:r>
                        <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主从</a:t>
                      </a:r>
                      <a:r>
                        <a:rPr 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SR</a:t>
                      </a:r>
                      <a:r>
                        <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触发器的特征表</a:t>
                      </a:r>
                      <a:endParaRPr lang="zh-CN" sz="1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0" marR="0" marT="0" marB="0" anchor="ctr"/>
                </a:tc>
                <a:tc hMerge="1">
                  <a:tcPr/>
                </a:tc>
                <a:tc hMerge="1">
                  <a:tcPr/>
                </a:tc>
                <a:tc hMerge="1">
                  <a:tcPr/>
                </a:tc>
                <a:tc hMerge="1">
                  <a:tcPr/>
                </a:tc>
              </a:tr>
              <a:tr h="203689">
                <a:tc>
                  <a:txBody>
                    <a:bodyPr/>
                    <a:lstStyle/>
                    <a:p>
                      <a:pPr algn="ctr">
                        <a:spcAft>
                          <a:spcPts val="0"/>
                        </a:spcAft>
                      </a:pPr>
                      <a:r>
                        <a:rPr lang="en-US" sz="1400" i="1" kern="100" spc="-5" dirty="0">
                          <a:solidFill>
                            <a:schemeClr val="bg1"/>
                          </a:solidFill>
                          <a:effectLst/>
                          <a:latin typeface="Times New Roman" panose="02020603050405020304" pitchFamily="18" charset="0"/>
                          <a:cs typeface="Times New Roman" panose="02020603050405020304" pitchFamily="18" charset="0"/>
                        </a:rPr>
                        <a:t>S</a:t>
                      </a:r>
                      <a:endParaRPr lang="zh-CN" sz="1400" i="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0070C0"/>
                    </a:solidFill>
                  </a:tcPr>
                </a:tc>
                <a:tc>
                  <a:txBody>
                    <a:bodyPr/>
                    <a:lstStyle/>
                    <a:p>
                      <a:pPr algn="ctr">
                        <a:spcAft>
                          <a:spcPts val="0"/>
                        </a:spcAft>
                      </a:pPr>
                      <a:r>
                        <a:rPr lang="en-US" sz="1400" i="1" kern="100" dirty="0">
                          <a:solidFill>
                            <a:schemeClr val="bg1"/>
                          </a:solidFill>
                          <a:effectLst/>
                          <a:latin typeface="Times New Roman" panose="02020603050405020304" pitchFamily="18" charset="0"/>
                          <a:cs typeface="Times New Roman" panose="02020603050405020304" pitchFamily="18" charset="0"/>
                        </a:rPr>
                        <a:t>R</a:t>
                      </a:r>
                      <a:endParaRPr lang="zh-CN" sz="1400" i="1"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0070C0"/>
                    </a:solidFill>
                  </a:tcPr>
                </a:tc>
                <a:tc>
                  <a:txBody>
                    <a:bodyPr/>
                    <a:lstStyle/>
                    <a:p>
                      <a:pPr algn="ctr">
                        <a:spcAft>
                          <a:spcPts val="0"/>
                        </a:spcAft>
                      </a:pPr>
                      <a:r>
                        <a:rPr lang="en-US" sz="1400" i="1" kern="100" dirty="0" err="1">
                          <a:solidFill>
                            <a:schemeClr val="bg1"/>
                          </a:solidFill>
                          <a:effectLst/>
                          <a:latin typeface="Times New Roman" panose="02020603050405020304" pitchFamily="18" charset="0"/>
                          <a:cs typeface="Times New Roman" panose="02020603050405020304" pitchFamily="18" charset="0"/>
                        </a:rPr>
                        <a:t>Q</a:t>
                      </a:r>
                      <a:r>
                        <a:rPr lang="en-US" sz="1400" kern="100" baseline="30000" dirty="0" err="1">
                          <a:solidFill>
                            <a:schemeClr val="bg1"/>
                          </a:solidFill>
                          <a:effectLst/>
                          <a:latin typeface="Times New Roman" panose="02020603050405020304" pitchFamily="18" charset="0"/>
                          <a:cs typeface="Times New Roman" panose="02020603050405020304" pitchFamily="18" charset="0"/>
                        </a:rPr>
                        <a:t>n</a:t>
                      </a:r>
                      <a:endParaRPr lang="zh-CN" sz="14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0070C0"/>
                    </a:solidFill>
                  </a:tcPr>
                </a:tc>
                <a:tc>
                  <a:txBody>
                    <a:bodyPr/>
                    <a:lstStyle/>
                    <a:p>
                      <a:pPr algn="ctr">
                        <a:spcAft>
                          <a:spcPts val="0"/>
                        </a:spcAft>
                      </a:pPr>
                      <a:r>
                        <a:rPr lang="en-US" sz="1400" i="1" kern="100" dirty="0">
                          <a:solidFill>
                            <a:schemeClr val="bg1"/>
                          </a:solidFill>
                          <a:effectLst/>
                          <a:latin typeface="Times New Roman" panose="02020603050405020304" pitchFamily="18" charset="0"/>
                          <a:cs typeface="Times New Roman" panose="02020603050405020304" pitchFamily="18" charset="0"/>
                        </a:rPr>
                        <a:t>Q</a:t>
                      </a:r>
                      <a:r>
                        <a:rPr lang="en-US" sz="1400" kern="100" baseline="30000" dirty="0">
                          <a:solidFill>
                            <a:schemeClr val="bg1"/>
                          </a:solidFill>
                          <a:effectLst/>
                          <a:latin typeface="Times New Roman" panose="02020603050405020304" pitchFamily="18" charset="0"/>
                          <a:cs typeface="Times New Roman" panose="02020603050405020304" pitchFamily="18" charset="0"/>
                        </a:rPr>
                        <a:t>n+1</a:t>
                      </a:r>
                      <a:endParaRPr lang="zh-CN" sz="14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0070C0"/>
                    </a:solidFill>
                  </a:tcPr>
                </a:tc>
                <a:tc>
                  <a:txBody>
                    <a:bodyPr/>
                    <a:lstStyle/>
                    <a:p>
                      <a:pPr algn="ctr">
                        <a:spcAft>
                          <a:spcPts val="0"/>
                        </a:spcAft>
                      </a:pPr>
                      <a:r>
                        <a:rPr lang="zh-CN" sz="1400" kern="100" dirty="0">
                          <a:solidFill>
                            <a:schemeClr val="bg1"/>
                          </a:solidFill>
                          <a:effectLst/>
                          <a:latin typeface="Times New Roman" panose="02020603050405020304" pitchFamily="18" charset="0"/>
                          <a:cs typeface="Times New Roman" panose="02020603050405020304" pitchFamily="18" charset="0"/>
                        </a:rPr>
                        <a:t>功能</a:t>
                      </a:r>
                      <a:endParaRPr lang="zh-CN" sz="1400" kern="100" dirty="0">
                        <a:solidFill>
                          <a:schemeClr val="bg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0070C0"/>
                    </a:solidFill>
                  </a:tcPr>
                </a:tc>
              </a:tr>
              <a:tr h="203689">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rowSpan="2">
                  <a:txBody>
                    <a:bodyPr/>
                    <a:lstStyle/>
                    <a:p>
                      <a:pPr algn="ctr" fontAlgn="base">
                        <a:spcAft>
                          <a:spcPts val="0"/>
                        </a:spcAft>
                      </a:pPr>
                      <a:r>
                        <a:rPr lang="zh-CN" sz="1400" b="1" kern="100" dirty="0">
                          <a:solidFill>
                            <a:schemeClr val="tx1"/>
                          </a:solidFill>
                          <a:effectLst/>
                          <a:latin typeface="Times New Roman" panose="02020603050405020304" pitchFamily="18" charset="0"/>
                          <a:cs typeface="Times New Roman" panose="02020603050405020304" pitchFamily="18" charset="0"/>
                        </a:rPr>
                        <a:t>保持</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r>
              <a:tr h="203689">
                <a:tc vMerge="1">
                  <a:tcPr marL="0" marR="0" marT="0" marB="0" anchor="ctr">
                    <a:solidFill>
                      <a:srgbClr val="B7B9BF"/>
                    </a:solidFill>
                  </a:tcPr>
                </a:tc>
                <a:tc vMerge="1">
                  <a:tcPr marL="0" marR="0" marT="0" marB="0" anchor="ctr">
                    <a:solidFill>
                      <a:srgbClr val="B7B9BF"/>
                    </a:solidFill>
                  </a:tcPr>
                </a:tc>
                <a:tc>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vMerge="1">
                  <a:tcPr/>
                </a:tc>
              </a:tr>
              <a:tr h="203689">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a:spcAft>
                          <a:spcPts val="0"/>
                        </a:spcAft>
                      </a:pPr>
                      <a:r>
                        <a:rPr lang="en-US" sz="1400" b="1" kern="100">
                          <a:solidFill>
                            <a:schemeClr val="tx1"/>
                          </a:solidFill>
                          <a:effectLst/>
                          <a:latin typeface="Times New Roman" panose="02020603050405020304" pitchFamily="18" charset="0"/>
                          <a:cs typeface="Times New Roman" panose="02020603050405020304" pitchFamily="18" charset="0"/>
                        </a:rPr>
                        <a:t>0</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rowSpan="2">
                  <a:txBody>
                    <a:bodyPr/>
                    <a:lstStyle/>
                    <a:p>
                      <a:pPr algn="ctr" fontAlgn="base">
                        <a:spcAft>
                          <a:spcPts val="0"/>
                        </a:spcAft>
                      </a:pPr>
                      <a:r>
                        <a:rPr lang="zh-CN" sz="1400" b="1" kern="100">
                          <a:solidFill>
                            <a:schemeClr val="tx1"/>
                          </a:solidFill>
                          <a:effectLst/>
                          <a:latin typeface="Times New Roman" panose="02020603050405020304" pitchFamily="18" charset="0"/>
                          <a:cs typeface="Times New Roman" panose="02020603050405020304" pitchFamily="18" charset="0"/>
                        </a:rPr>
                        <a:t>复位</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r>
              <a:tr h="203689">
                <a:tc vMerge="1">
                  <a:tcPr marL="0" marR="0" marT="0" marB="0" anchor="ctr">
                    <a:solidFill>
                      <a:srgbClr val="CBD5E8"/>
                    </a:solidFill>
                  </a:tcPr>
                </a:tc>
                <a:tc vMerge="1">
                  <a:tcPr marL="0" marR="0" marT="0" marB="0" anchor="ctr">
                    <a:solidFill>
                      <a:srgbClr val="CBD5E8"/>
                    </a:solidFill>
                  </a:tcPr>
                </a:tc>
                <a:tc>
                  <a:txBody>
                    <a:bodyPr/>
                    <a:lstStyle/>
                    <a:p>
                      <a:pPr algn="ctr">
                        <a:spcAft>
                          <a:spcPts val="0"/>
                        </a:spcAft>
                      </a:pPr>
                      <a:r>
                        <a:rPr lang="en-US" sz="1400" b="1" kern="100">
                          <a:solidFill>
                            <a:schemeClr val="tx1"/>
                          </a:solidFill>
                          <a:effectLst/>
                          <a:latin typeface="Times New Roman" panose="02020603050405020304" pitchFamily="18" charset="0"/>
                          <a:cs typeface="Times New Roman" panose="02020603050405020304" pitchFamily="18" charset="0"/>
                        </a:rPr>
                        <a:t>1</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vMerge="1">
                  <a:tcPr/>
                </a:tc>
              </a:tr>
              <a:tr h="203689">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0</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rowSpan="2">
                  <a:txBody>
                    <a:bodyPr/>
                    <a:lstStyle/>
                    <a:p>
                      <a:pPr algn="ctr" fontAlgn="base">
                        <a:spcAft>
                          <a:spcPts val="0"/>
                        </a:spcAft>
                      </a:pPr>
                      <a:r>
                        <a:rPr lang="zh-CN" sz="1400" b="1" kern="100">
                          <a:solidFill>
                            <a:schemeClr val="tx1"/>
                          </a:solidFill>
                          <a:effectLst/>
                          <a:latin typeface="Times New Roman" panose="02020603050405020304" pitchFamily="18" charset="0"/>
                          <a:cs typeface="Times New Roman" panose="02020603050405020304" pitchFamily="18" charset="0"/>
                        </a:rPr>
                        <a:t>置位</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r>
              <a:tr h="203689">
                <a:tc vMerge="1">
                  <a:tcPr marL="0" marR="0" marT="0" marB="0" anchor="ctr">
                    <a:solidFill>
                      <a:srgbClr val="B7B9BF"/>
                    </a:solidFill>
                  </a:tcPr>
                </a:tc>
                <a:tc vMerge="1">
                  <a:tcPr marL="0" marR="0" marT="0" marB="0" anchor="ctr">
                    <a:solidFill>
                      <a:srgbClr val="B7B9BF"/>
                    </a:solidFill>
                  </a:tcPr>
                </a:tc>
                <a:tc>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a:txBody>
                    <a:bodyPr/>
                    <a:lstStyle/>
                    <a:p>
                      <a:pPr algn="ctr" fontAlgn="base">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B7B9BF"/>
                    </a:solidFill>
                  </a:tcPr>
                </a:tc>
                <a:tc vMerge="1">
                  <a:tcPr/>
                </a:tc>
              </a:tr>
              <a:tr h="203689">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rowSpan="2">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a:spcAft>
                          <a:spcPts val="0"/>
                        </a:spcAft>
                      </a:pPr>
                      <a:r>
                        <a:rPr lang="en-US" sz="1400" b="1" kern="100">
                          <a:solidFill>
                            <a:schemeClr val="tx1"/>
                          </a:solidFill>
                          <a:effectLst/>
                          <a:latin typeface="Times New Roman" panose="02020603050405020304" pitchFamily="18" charset="0"/>
                          <a:cs typeface="Times New Roman" panose="02020603050405020304" pitchFamily="18" charset="0"/>
                        </a:rPr>
                        <a:t>0</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fontAlgn="base">
                        <a:spcAft>
                          <a:spcPts val="0"/>
                        </a:spcAft>
                      </a:pPr>
                      <a:r>
                        <a:rPr lang="zh-CN" sz="1400" b="1" kern="100">
                          <a:solidFill>
                            <a:schemeClr val="tx1"/>
                          </a:solidFill>
                          <a:effectLst/>
                          <a:latin typeface="Times New Roman" panose="02020603050405020304" pitchFamily="18" charset="0"/>
                          <a:cs typeface="Times New Roman" panose="02020603050405020304" pitchFamily="18" charset="0"/>
                        </a:rPr>
                        <a:t>×</a:t>
                      </a:r>
                      <a:endParaRPr lang="zh-CN" sz="1400" b="1" kern="10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rowSpan="2">
                  <a:txBody>
                    <a:bodyPr/>
                    <a:lstStyle/>
                    <a:p>
                      <a:pPr algn="ctr" fontAlgn="base">
                        <a:spcAft>
                          <a:spcPts val="0"/>
                        </a:spcAft>
                      </a:pPr>
                      <a:r>
                        <a:rPr lang="zh-CN" sz="1400" b="1" kern="100" dirty="0">
                          <a:solidFill>
                            <a:schemeClr val="tx1"/>
                          </a:solidFill>
                          <a:effectLst/>
                          <a:latin typeface="Times New Roman" panose="02020603050405020304" pitchFamily="18" charset="0"/>
                          <a:cs typeface="Times New Roman" panose="02020603050405020304" pitchFamily="18" charset="0"/>
                        </a:rPr>
                        <a:t>禁止</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r>
              <a:tr h="203689">
                <a:tc vMerge="1">
                  <a:tcPr marL="0" marR="0" marT="0" marB="0" anchor="ctr">
                    <a:solidFill>
                      <a:srgbClr val="CBD5E8"/>
                    </a:solidFill>
                  </a:tcPr>
                </a:tc>
                <a:tc vMerge="1">
                  <a:tcPr marL="0" marR="0" marT="0" marB="0" anchor="ctr">
                    <a:solidFill>
                      <a:srgbClr val="CBD5E8"/>
                    </a:solidFill>
                  </a:tcPr>
                </a:tc>
                <a:tc>
                  <a:txBody>
                    <a:bodyPr/>
                    <a:lstStyle/>
                    <a:p>
                      <a:pPr algn="ctr">
                        <a:spcAft>
                          <a:spcPts val="0"/>
                        </a:spcAft>
                      </a:pPr>
                      <a:r>
                        <a:rPr lang="en-US" sz="1400" b="1" kern="100" dirty="0">
                          <a:solidFill>
                            <a:schemeClr val="tx1"/>
                          </a:solidFill>
                          <a:effectLst/>
                          <a:latin typeface="Times New Roman" panose="02020603050405020304" pitchFamily="18" charset="0"/>
                          <a:cs typeface="Times New Roman" panose="02020603050405020304" pitchFamily="18" charset="0"/>
                        </a:rPr>
                        <a:t>1</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a:txBody>
                    <a:bodyPr/>
                    <a:lstStyle/>
                    <a:p>
                      <a:pPr algn="ctr" fontAlgn="base">
                        <a:spcAft>
                          <a:spcPts val="0"/>
                        </a:spcAft>
                      </a:pPr>
                      <a:r>
                        <a:rPr lang="zh-CN" sz="1400" b="1" kern="100" dirty="0">
                          <a:solidFill>
                            <a:schemeClr val="tx1"/>
                          </a:solidFill>
                          <a:effectLst/>
                          <a:latin typeface="Times New Roman" panose="02020603050405020304" pitchFamily="18" charset="0"/>
                          <a:cs typeface="Times New Roman" panose="02020603050405020304" pitchFamily="18" charset="0"/>
                        </a:rPr>
                        <a:t>×</a:t>
                      </a:r>
                      <a:endParaRPr lang="zh-CN" sz="1400" b="1" kern="100" dirty="0">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a:solidFill>
                      <a:srgbClr val="CBD5E8"/>
                    </a:solidFill>
                  </a:tcPr>
                </a:tc>
                <a:tc vMerge="1">
                  <a:tcPr/>
                </a:tc>
              </a:tr>
            </a:tbl>
          </a:graphicData>
        </a:graphic>
      </p:graphicFrame>
      <p:grpSp>
        <p:nvGrpSpPr>
          <p:cNvPr id="29" name="组合 28"/>
          <p:cNvGrpSpPr/>
          <p:nvPr/>
        </p:nvGrpSpPr>
        <p:grpSpPr>
          <a:xfrm>
            <a:off x="5047330" y="2840288"/>
            <a:ext cx="2520118" cy="1629235"/>
            <a:chOff x="4503420" y="2785109"/>
            <a:chExt cx="2520118" cy="1629235"/>
          </a:xfrm>
        </p:grpSpPr>
        <p:grpSp>
          <p:nvGrpSpPr>
            <p:cNvPr id="26" name="组合 25"/>
            <p:cNvGrpSpPr/>
            <p:nvPr/>
          </p:nvGrpSpPr>
          <p:grpSpPr>
            <a:xfrm>
              <a:off x="4503420" y="2785109"/>
              <a:ext cx="2520118" cy="1629235"/>
              <a:chOff x="4495800" y="2708909"/>
              <a:chExt cx="2520118" cy="1629235"/>
            </a:xfrm>
          </p:grpSpPr>
          <p:sp>
            <p:nvSpPr>
              <p:cNvPr id="27" name="圆角矩形 26"/>
              <p:cNvSpPr/>
              <p:nvPr/>
            </p:nvSpPr>
            <p:spPr>
              <a:xfrm>
                <a:off x="4495800" y="2910839"/>
                <a:ext cx="2520118" cy="1427305"/>
              </a:xfrm>
              <a:prstGeom prst="roundRect">
                <a:avLst>
                  <a:gd name="adj" fmla="val 10093"/>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5149991" y="2708909"/>
                <a:ext cx="1303020" cy="40386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特征方程</a:t>
                </a:r>
                <a:endParaRPr kumimoji="1"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graphicFrame>
          <p:nvGraphicFramePr>
            <p:cNvPr id="18" name="对象 17"/>
            <p:cNvGraphicFramePr>
              <a:graphicFrameLocks noChangeAspect="1"/>
            </p:cNvGraphicFramePr>
            <p:nvPr/>
          </p:nvGraphicFramePr>
          <p:xfrm>
            <a:off x="4852313" y="3360486"/>
            <a:ext cx="1902968" cy="890751"/>
          </p:xfrm>
          <a:graphic>
            <a:graphicData uri="http://schemas.openxmlformats.org/presentationml/2006/ole">
              <mc:AlternateContent xmlns:mc="http://schemas.openxmlformats.org/markup-compatibility/2006">
                <mc:Choice xmlns:v="urn:schemas-microsoft-com:vml" Requires="v">
                  <p:oleObj spid="_x0000_s23558" name="Equation" r:id="rId2" imgW="889000" imgH="419100" progId="Equation.DSMT4">
                    <p:embed/>
                  </p:oleObj>
                </mc:Choice>
                <mc:Fallback>
                  <p:oleObj name="Equation" r:id="rId2" imgW="889000" imgH="419100" progId="Equation.DSMT4">
                    <p:embed/>
                    <p:pic>
                      <p:nvPicPr>
                        <p:cNvPr id="0" name="对象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2313" y="3360486"/>
                          <a:ext cx="1902968" cy="890751"/>
                        </a:xfrm>
                        <a:prstGeom prst="rect">
                          <a:avLst/>
                        </a:prstGeom>
                        <a:noFill/>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1000"/>
                                        <p:tgtEl>
                                          <p:spTgt spid="13"/>
                                        </p:tgtEl>
                                      </p:cBhvr>
                                    </p:animEffect>
                                    <p:anim calcmode="lin" valueType="num">
                                      <p:cBhvr>
                                        <p:cTn id="21" dur="1000" fill="hold"/>
                                        <p:tgtEl>
                                          <p:spTgt spid="13"/>
                                        </p:tgtEl>
                                        <p:attrNameLst>
                                          <p:attrName>ppt_x</p:attrName>
                                        </p:attrNameLst>
                                      </p:cBhvr>
                                      <p:tavLst>
                                        <p:tav tm="0">
                                          <p:val>
                                            <p:strVal val="#ppt_x"/>
                                          </p:val>
                                        </p:tav>
                                        <p:tav tm="100000">
                                          <p:val>
                                            <p:strVal val="#ppt_x"/>
                                          </p:val>
                                        </p:tav>
                                      </p:tavLst>
                                    </p:anim>
                                    <p:anim calcmode="lin" valueType="num">
                                      <p:cBhvr>
                                        <p:cTn id="2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1000"/>
                                        <p:tgtEl>
                                          <p:spTgt spid="29"/>
                                        </p:tgtEl>
                                      </p:cBhvr>
                                    </p:animEffect>
                                    <p:anim calcmode="lin" valueType="num">
                                      <p:cBhvr>
                                        <p:cTn id="28" dur="1000" fill="hold"/>
                                        <p:tgtEl>
                                          <p:spTgt spid="29"/>
                                        </p:tgtEl>
                                        <p:attrNameLst>
                                          <p:attrName>ppt_x</p:attrName>
                                        </p:attrNameLst>
                                      </p:cBhvr>
                                      <p:tavLst>
                                        <p:tav tm="0">
                                          <p:val>
                                            <p:strVal val="#ppt_x"/>
                                          </p:val>
                                        </p:tav>
                                        <p:tav tm="100000">
                                          <p:val>
                                            <p:strVal val="#ppt_x"/>
                                          </p:val>
                                        </p:tav>
                                      </p:tavLst>
                                    </p:anim>
                                    <p:anim calcmode="lin" valueType="num">
                                      <p:cBhvr>
                                        <p:cTn id="2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6"/>
          <p:cNvSpPr>
            <a:spLocks noChangeArrowheads="1"/>
          </p:cNvSpPr>
          <p:nvPr/>
        </p:nvSpPr>
        <p:spPr bwMode="auto">
          <a:xfrm>
            <a:off x="443078" y="1288409"/>
            <a:ext cx="2647950" cy="427038"/>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1</a:t>
            </a:r>
            <a:r>
              <a:rPr lang="zh-CN" altLang="en-US" dirty="0">
                <a:solidFill>
                  <a:srgbClr val="FF0000"/>
                </a:solidFill>
                <a:latin typeface="微软雅黑" panose="020B0503020204020204" pitchFamily="34" charset="-122"/>
                <a:ea typeface="微软雅黑" panose="020B0503020204020204" pitchFamily="34" charset="-122"/>
              </a:rPr>
              <a:t>、电路结构</a:t>
            </a:r>
            <a:endParaRPr lang="zh-CN" altLang="en-US" dirty="0">
              <a:solidFill>
                <a:srgbClr val="FF0000"/>
              </a:solidFill>
              <a:latin typeface="微软雅黑" panose="020B0503020204020204" pitchFamily="34" charset="-122"/>
              <a:ea typeface="微软雅黑" panose="020B0503020204020204" pitchFamily="34" charset="-122"/>
            </a:endParaRPr>
          </a:p>
        </p:txBody>
      </p:sp>
      <p:graphicFrame>
        <p:nvGraphicFramePr>
          <p:cNvPr id="6" name="对象 5"/>
          <p:cNvGraphicFramePr>
            <a:graphicFrameLocks noChangeAspect="1"/>
          </p:cNvGraphicFramePr>
          <p:nvPr/>
        </p:nvGraphicFramePr>
        <p:xfrm>
          <a:off x="2093797" y="1806350"/>
          <a:ext cx="4418226" cy="3201613"/>
        </p:xfrm>
        <a:graphic>
          <a:graphicData uri="http://schemas.openxmlformats.org/presentationml/2006/ole">
            <mc:AlternateContent xmlns:mc="http://schemas.openxmlformats.org/markup-compatibility/2006">
              <mc:Choice xmlns:v="urn:schemas-microsoft-com:vml" Requires="v">
                <p:oleObj spid="_x0000_s24582" name="Visio" r:id="rId1" imgW="2801620" imgH="2033270" progId="Visio.Drawing.11">
                  <p:embed/>
                </p:oleObj>
              </mc:Choice>
              <mc:Fallback>
                <p:oleObj name="Visio" r:id="rId1" imgW="2801620" imgH="2033270" progId="Visio.Drawing.11">
                  <p:embed/>
                  <p:pic>
                    <p:nvPicPr>
                      <p:cNvPr id="0" name="对象 5"/>
                      <p:cNvPicPr>
                        <a:picLocks noChangeAspect="1" noChangeArrowheads="1"/>
                      </p:cNvPicPr>
                      <p:nvPr/>
                    </p:nvPicPr>
                    <p:blipFill>
                      <a:blip r:embed="rId2"/>
                      <a:srcRect/>
                      <a:stretch>
                        <a:fillRect/>
                      </a:stretch>
                    </p:blipFill>
                    <p:spPr bwMode="auto">
                      <a:xfrm>
                        <a:off x="2093797" y="1806350"/>
                        <a:ext cx="4418226" cy="3201613"/>
                      </a:xfrm>
                      <a:prstGeom prst="rect">
                        <a:avLst/>
                      </a:prstGeom>
                      <a:noFill/>
                    </p:spPr>
                  </p:pic>
                </p:oleObj>
              </mc:Fallback>
            </mc:AlternateContent>
          </a:graphicData>
        </a:graphic>
      </p:graphicFrame>
      <p:sp>
        <p:nvSpPr>
          <p:cNvPr id="29" name="剪去对角的矩形 28"/>
          <p:cNvSpPr/>
          <p:nvPr/>
        </p:nvSpPr>
        <p:spPr>
          <a:xfrm>
            <a:off x="1870881" y="1750462"/>
            <a:ext cx="4816920" cy="3455612"/>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3"/>
          <a:stretch>
            <a:fillRect/>
          </a:stretch>
        </p:blipFill>
        <p:spPr>
          <a:xfrm>
            <a:off x="2826749" y="2290762"/>
            <a:ext cx="733219" cy="685801"/>
          </a:xfrm>
          <a:prstGeom prst="rect">
            <a:avLst/>
          </a:prstGeom>
        </p:spPr>
      </p:pic>
      <p:pic>
        <p:nvPicPr>
          <p:cNvPr id="9" name="图片 8"/>
          <p:cNvPicPr>
            <a:picLocks noChangeAspect="1"/>
          </p:cNvPicPr>
          <p:nvPr/>
        </p:nvPicPr>
        <p:blipFill>
          <a:blip r:embed="rId4"/>
          <a:stretch>
            <a:fillRect/>
          </a:stretch>
        </p:blipFill>
        <p:spPr>
          <a:xfrm>
            <a:off x="2826749" y="2903593"/>
            <a:ext cx="707026" cy="881007"/>
          </a:xfrm>
          <a:prstGeom prst="rect">
            <a:avLst/>
          </a:prstGeom>
        </p:spPr>
      </p:pic>
      <p:pic>
        <p:nvPicPr>
          <p:cNvPr id="10" name="图片 9"/>
          <p:cNvPicPr>
            <a:picLocks noChangeAspect="1"/>
          </p:cNvPicPr>
          <p:nvPr/>
        </p:nvPicPr>
        <p:blipFill>
          <a:blip r:embed="rId5"/>
          <a:stretch>
            <a:fillRect/>
          </a:stretch>
        </p:blipFill>
        <p:spPr>
          <a:xfrm>
            <a:off x="2826748" y="3807619"/>
            <a:ext cx="733220" cy="689823"/>
          </a:xfrm>
          <a:prstGeom prst="rect">
            <a:avLst/>
          </a:prstGeom>
        </p:spPr>
      </p:pic>
      <p:sp>
        <p:nvSpPr>
          <p:cNvPr id="41" name="圆角矩形标注 40"/>
          <p:cNvSpPr/>
          <p:nvPr/>
        </p:nvSpPr>
        <p:spPr>
          <a:xfrm>
            <a:off x="3730946" y="1806710"/>
            <a:ext cx="1276006" cy="329116"/>
          </a:xfrm>
          <a:prstGeom prst="wedgeRoundRectCallout">
            <a:avLst>
              <a:gd name="adj1" fmla="val -66122"/>
              <a:gd name="adj2" fmla="val 187870"/>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①</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维持线</a:t>
            </a:r>
            <a:endParaRPr lang="zh-CN" altLang="en-US" sz="1400" b="1" kern="1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圆角矩形标注 41"/>
          <p:cNvSpPr/>
          <p:nvPr/>
        </p:nvSpPr>
        <p:spPr>
          <a:xfrm>
            <a:off x="4123626" y="2290762"/>
            <a:ext cx="1276006" cy="353952"/>
          </a:xfrm>
          <a:prstGeom prst="wedgeRoundRectCallout">
            <a:avLst>
              <a:gd name="adj1" fmla="val -93113"/>
              <a:gd name="adj2" fmla="val 204948"/>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②</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阻塞线</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圆角矩形标注 43"/>
          <p:cNvSpPr/>
          <p:nvPr/>
        </p:nvSpPr>
        <p:spPr>
          <a:xfrm>
            <a:off x="3670981" y="4543123"/>
            <a:ext cx="2114522" cy="353952"/>
          </a:xfrm>
          <a:prstGeom prst="wedgeRoundRectCallout">
            <a:avLst>
              <a:gd name="adj1" fmla="val -57842"/>
              <a:gd name="adj2" fmla="val -166533"/>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③</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维持线置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阻塞线</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4" name="组合 13"/>
          <p:cNvGrpSpPr/>
          <p:nvPr/>
        </p:nvGrpSpPr>
        <p:grpSpPr>
          <a:xfrm>
            <a:off x="392432" y="778617"/>
            <a:ext cx="3605564" cy="420971"/>
            <a:chOff x="670560" y="892917"/>
            <a:chExt cx="3605564" cy="420971"/>
          </a:xfrm>
        </p:grpSpPr>
        <p:sp>
          <p:nvSpPr>
            <p:cNvPr id="15" name="矩形 14"/>
            <p:cNvSpPr/>
            <p:nvPr/>
          </p:nvSpPr>
          <p:spPr>
            <a:xfrm>
              <a:off x="1035231" y="913778"/>
              <a:ext cx="3240893"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r>
                <a:rPr lang="zh-CN" altLang="en-US" sz="1400" b="1" dirty="0">
                  <a:solidFill>
                    <a:srgbClr val="6600FF"/>
                  </a:solidFill>
                  <a:latin typeface="微软雅黑" panose="020B0503020204020204" pitchFamily="34" charset="-122"/>
                  <a:ea typeface="微软雅黑" panose="020B0503020204020204" pitchFamily="34" charset="-122"/>
                </a:rPr>
                <a:t>维持阻塞</a:t>
              </a:r>
              <a:r>
                <a:rPr lang="en-US" altLang="zh-CN" sz="1400" b="1" dirty="0">
                  <a:solidFill>
                    <a:srgbClr val="6600FF"/>
                  </a:solidFill>
                  <a:latin typeface="微软雅黑" panose="020B0503020204020204" pitchFamily="34" charset="-122"/>
                  <a:ea typeface="微软雅黑" panose="020B0503020204020204" pitchFamily="34" charset="-122"/>
                </a:rPr>
                <a:t>D</a:t>
              </a:r>
              <a:r>
                <a:rPr lang="zh-CN" altLang="en-US" sz="1400" b="1" dirty="0">
                  <a:solidFill>
                    <a:srgbClr val="6600FF"/>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endParaRPr lang="zh-CN" altLang="en-US" sz="1400" b="1" dirty="0">
                <a:solidFill>
                  <a:srgbClr val="6600FF"/>
                </a:solidFill>
                <a:latin typeface="微软雅黑" panose="020B0503020204020204" pitchFamily="34" charset="-122"/>
                <a:ea typeface="微软雅黑" panose="020B0503020204020204" pitchFamily="34" charset="-122"/>
              </a:endParaRPr>
            </a:p>
          </p:txBody>
        </p:sp>
        <p:pic>
          <p:nvPicPr>
            <p:cNvPr id="16" name="Picture 3"/>
            <p:cNvPicPr>
              <a:picLocks noChangeAspect="1" noChangeArrowheads="1"/>
            </p:cNvPicPr>
            <p:nvPr/>
          </p:nvPicPr>
          <p:blipFill>
            <a:blip r:embed="rId6"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1000"/>
                                        <p:tgtEl>
                                          <p:spTgt spid="29"/>
                                        </p:tgtEl>
                                      </p:cBhvr>
                                    </p:animEffect>
                                    <p:anim calcmode="lin" valueType="num">
                                      <p:cBhvr>
                                        <p:cTn id="14" dur="1000" fill="hold"/>
                                        <p:tgtEl>
                                          <p:spTgt spid="29"/>
                                        </p:tgtEl>
                                        <p:attrNameLst>
                                          <p:attrName>ppt_x</p:attrName>
                                        </p:attrNameLst>
                                      </p:cBhvr>
                                      <p:tavLst>
                                        <p:tav tm="0">
                                          <p:val>
                                            <p:strVal val="#ppt_x"/>
                                          </p:val>
                                        </p:tav>
                                        <p:tav tm="100000">
                                          <p:val>
                                            <p:strVal val="#ppt_x"/>
                                          </p:val>
                                        </p:tav>
                                      </p:tavLst>
                                    </p:anim>
                                    <p:anim calcmode="lin" valueType="num">
                                      <p:cBhvr>
                                        <p:cTn id="1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ppt_h/2"/>
                                          </p:val>
                                        </p:tav>
                                        <p:tav tm="100000">
                                          <p:val>
                                            <p:strVal val="#ppt_y"/>
                                          </p:val>
                                        </p:tav>
                                      </p:tavLst>
                                    </p:anim>
                                    <p:anim calcmode="lin" valueType="num">
                                      <p:cBhvr>
                                        <p:cTn id="22" dur="1000" fill="hold"/>
                                        <p:tgtEl>
                                          <p:spTgt spid="8"/>
                                        </p:tgtEl>
                                        <p:attrNameLst>
                                          <p:attrName>ppt_w</p:attrName>
                                        </p:attrNameLst>
                                      </p:cBhvr>
                                      <p:tavLst>
                                        <p:tav tm="0">
                                          <p:val>
                                            <p:strVal val="#ppt_w"/>
                                          </p:val>
                                        </p:tav>
                                        <p:tav tm="100000">
                                          <p:val>
                                            <p:strVal val="#ppt_w"/>
                                          </p:val>
                                        </p:tav>
                                      </p:tavLst>
                                    </p:anim>
                                    <p:anim calcmode="lin" valueType="num">
                                      <p:cBhvr>
                                        <p:cTn id="23" dur="1000" fill="hold"/>
                                        <p:tgtEl>
                                          <p:spTgt spid="8"/>
                                        </p:tgtEl>
                                        <p:attrNameLst>
                                          <p:attrName>ppt_h</p:attrName>
                                        </p:attrNameLst>
                                      </p:cBhvr>
                                      <p:tavLst>
                                        <p:tav tm="0">
                                          <p:val>
                                            <p:fltVal val="0"/>
                                          </p:val>
                                        </p:tav>
                                        <p:tav tm="100000">
                                          <p:val>
                                            <p:strVal val="#ppt_h"/>
                                          </p:val>
                                        </p:tav>
                                      </p:tavLst>
                                    </p:anim>
                                  </p:childTnLst>
                                </p:cTn>
                              </p:par>
                            </p:childTnLst>
                          </p:cTn>
                        </p:par>
                        <p:par>
                          <p:cTn id="24" fill="hold">
                            <p:stCondLst>
                              <p:cond delay="1000"/>
                            </p:stCondLst>
                            <p:childTnLst>
                              <p:par>
                                <p:cTn id="25" presetID="22" presetClass="entr" presetSubtype="4" fill="hold" grpId="0" nodeType="after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down)">
                                      <p:cBhvr>
                                        <p:cTn id="27" dur="1000"/>
                                        <p:tgtEl>
                                          <p:spTgt spid="41"/>
                                        </p:tgtEl>
                                      </p:cBhvr>
                                    </p:animEffect>
                                  </p:childTnLst>
                                </p:cTn>
                              </p:par>
                            </p:childTnLst>
                          </p:cTn>
                        </p:par>
                        <p:par>
                          <p:cTn id="28" fill="hold">
                            <p:stCondLst>
                              <p:cond delay="2000"/>
                            </p:stCondLst>
                            <p:childTnLst>
                              <p:par>
                                <p:cTn id="29" presetID="17" presetClass="entr" presetSubtype="1"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ppt_x</p:attrName>
                                        </p:attrNameLst>
                                      </p:cBhvr>
                                      <p:tavLst>
                                        <p:tav tm="0">
                                          <p:val>
                                            <p:strVal val="#ppt_x"/>
                                          </p:val>
                                        </p:tav>
                                        <p:tav tm="100000">
                                          <p:val>
                                            <p:strVal val="#ppt_x"/>
                                          </p:val>
                                        </p:tav>
                                      </p:tavLst>
                                    </p:anim>
                                    <p:anim calcmode="lin" valueType="num">
                                      <p:cBhvr>
                                        <p:cTn id="32" dur="1000" fill="hold"/>
                                        <p:tgtEl>
                                          <p:spTgt spid="9"/>
                                        </p:tgtEl>
                                        <p:attrNameLst>
                                          <p:attrName>ppt_y</p:attrName>
                                        </p:attrNameLst>
                                      </p:cBhvr>
                                      <p:tavLst>
                                        <p:tav tm="0">
                                          <p:val>
                                            <p:strVal val="#ppt_y-#ppt_h/2"/>
                                          </p:val>
                                        </p:tav>
                                        <p:tav tm="100000">
                                          <p:val>
                                            <p:strVal val="#ppt_y"/>
                                          </p:val>
                                        </p:tav>
                                      </p:tavLst>
                                    </p:anim>
                                    <p:anim calcmode="lin" valueType="num">
                                      <p:cBhvr>
                                        <p:cTn id="33" dur="1000" fill="hold"/>
                                        <p:tgtEl>
                                          <p:spTgt spid="9"/>
                                        </p:tgtEl>
                                        <p:attrNameLst>
                                          <p:attrName>ppt_w</p:attrName>
                                        </p:attrNameLst>
                                      </p:cBhvr>
                                      <p:tavLst>
                                        <p:tav tm="0">
                                          <p:val>
                                            <p:strVal val="#ppt_w"/>
                                          </p:val>
                                        </p:tav>
                                        <p:tav tm="100000">
                                          <p:val>
                                            <p:strVal val="#ppt_w"/>
                                          </p:val>
                                        </p:tav>
                                      </p:tavLst>
                                    </p:anim>
                                    <p:anim calcmode="lin" valueType="num">
                                      <p:cBhvr>
                                        <p:cTn id="34" dur="1000" fill="hold"/>
                                        <p:tgtEl>
                                          <p:spTgt spid="9"/>
                                        </p:tgtEl>
                                        <p:attrNameLst>
                                          <p:attrName>ppt_h</p:attrName>
                                        </p:attrNameLst>
                                      </p:cBhvr>
                                      <p:tavLst>
                                        <p:tav tm="0">
                                          <p:val>
                                            <p:fltVal val="0"/>
                                          </p:val>
                                        </p:tav>
                                        <p:tav tm="100000">
                                          <p:val>
                                            <p:strVal val="#ppt_h"/>
                                          </p:val>
                                        </p:tav>
                                      </p:tavLst>
                                    </p:anim>
                                  </p:childTnLst>
                                </p:cTn>
                              </p:par>
                            </p:childTnLst>
                          </p:cTn>
                        </p:par>
                        <p:par>
                          <p:cTn id="35" fill="hold">
                            <p:stCondLst>
                              <p:cond delay="3000"/>
                            </p:stCondLst>
                            <p:childTnLst>
                              <p:par>
                                <p:cTn id="36" presetID="22" presetClass="entr" presetSubtype="4" fill="hold" grpId="0" nodeType="after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wipe(down)">
                                      <p:cBhvr>
                                        <p:cTn id="38" dur="1000"/>
                                        <p:tgtEl>
                                          <p:spTgt spid="42"/>
                                        </p:tgtEl>
                                      </p:cBhvr>
                                    </p:animEffect>
                                  </p:childTnLst>
                                </p:cTn>
                              </p:par>
                            </p:childTnLst>
                          </p:cTn>
                        </p:par>
                        <p:par>
                          <p:cTn id="39" fill="hold">
                            <p:stCondLst>
                              <p:cond delay="4000"/>
                            </p:stCondLst>
                            <p:childTnLst>
                              <p:par>
                                <p:cTn id="40" presetID="17" presetClass="entr" presetSubtype="1"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ppt_h/2"/>
                                          </p:val>
                                        </p:tav>
                                        <p:tav tm="100000">
                                          <p:val>
                                            <p:strVal val="#ppt_y"/>
                                          </p:val>
                                        </p:tav>
                                      </p:tavLst>
                                    </p:anim>
                                    <p:anim calcmode="lin" valueType="num">
                                      <p:cBhvr>
                                        <p:cTn id="44" dur="1000" fill="hold"/>
                                        <p:tgtEl>
                                          <p:spTgt spid="10"/>
                                        </p:tgtEl>
                                        <p:attrNameLst>
                                          <p:attrName>ppt_w</p:attrName>
                                        </p:attrNameLst>
                                      </p:cBhvr>
                                      <p:tavLst>
                                        <p:tav tm="0">
                                          <p:val>
                                            <p:strVal val="#ppt_w"/>
                                          </p:val>
                                        </p:tav>
                                        <p:tav tm="100000">
                                          <p:val>
                                            <p:strVal val="#ppt_w"/>
                                          </p:val>
                                        </p:tav>
                                      </p:tavLst>
                                    </p:anim>
                                    <p:anim calcmode="lin" valueType="num">
                                      <p:cBhvr>
                                        <p:cTn id="45" dur="1000" fill="hold"/>
                                        <p:tgtEl>
                                          <p:spTgt spid="10"/>
                                        </p:tgtEl>
                                        <p:attrNameLst>
                                          <p:attrName>ppt_h</p:attrName>
                                        </p:attrNameLst>
                                      </p:cBhvr>
                                      <p:tavLst>
                                        <p:tav tm="0">
                                          <p:val>
                                            <p:fltVal val="0"/>
                                          </p:val>
                                        </p:tav>
                                        <p:tav tm="100000">
                                          <p:val>
                                            <p:strVal val="#ppt_h"/>
                                          </p:val>
                                        </p:tav>
                                      </p:tavLst>
                                    </p:anim>
                                  </p:childTnLst>
                                </p:cTn>
                              </p:par>
                            </p:childTnLst>
                          </p:cTn>
                        </p:par>
                        <p:par>
                          <p:cTn id="46" fill="hold">
                            <p:stCondLst>
                              <p:cond delay="5000"/>
                            </p:stCondLst>
                            <p:childTnLst>
                              <p:par>
                                <p:cTn id="47" presetID="22" presetClass="entr" presetSubtype="4" fill="hold" grpId="0" nodeType="afterEffect">
                                  <p:stCondLst>
                                    <p:cond delay="0"/>
                                  </p:stCondLst>
                                  <p:childTnLst>
                                    <p:set>
                                      <p:cBhvr>
                                        <p:cTn id="48" dur="1" fill="hold">
                                          <p:stCondLst>
                                            <p:cond delay="0"/>
                                          </p:stCondLst>
                                        </p:cTn>
                                        <p:tgtEl>
                                          <p:spTgt spid="44"/>
                                        </p:tgtEl>
                                        <p:attrNameLst>
                                          <p:attrName>style.visibility</p:attrName>
                                        </p:attrNameLst>
                                      </p:cBhvr>
                                      <p:to>
                                        <p:strVal val="visible"/>
                                      </p:to>
                                    </p:set>
                                    <p:animEffect transition="in" filter="wipe(down)">
                                      <p:cBhvr>
                                        <p:cTn id="49"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9" grpId="0" animBg="1"/>
      <p:bldP spid="41" grpId="0" animBg="1"/>
      <p:bldP spid="42" grpId="0" animBg="1"/>
      <p:bldP spid="4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39657" y="1839925"/>
            <a:ext cx="3535426" cy="3493379"/>
            <a:chOff x="5039657" y="1839925"/>
            <a:chExt cx="3535426" cy="3493379"/>
          </a:xfrm>
        </p:grpSpPr>
        <p:grpSp>
          <p:nvGrpSpPr>
            <p:cNvPr id="65" name="组合 64"/>
            <p:cNvGrpSpPr/>
            <p:nvPr/>
          </p:nvGrpSpPr>
          <p:grpSpPr>
            <a:xfrm>
              <a:off x="5039657" y="1839925"/>
              <a:ext cx="3535426" cy="3375518"/>
              <a:chOff x="1870881" y="1750462"/>
              <a:chExt cx="3535426" cy="3375518"/>
            </a:xfrm>
          </p:grpSpPr>
          <p:graphicFrame>
            <p:nvGraphicFramePr>
              <p:cNvPr id="66" name="对象 65"/>
              <p:cNvGraphicFramePr>
                <a:graphicFrameLocks noChangeAspect="1"/>
              </p:cNvGraphicFramePr>
              <p:nvPr/>
            </p:nvGraphicFramePr>
            <p:xfrm>
              <a:off x="2091782" y="1802751"/>
              <a:ext cx="3174362" cy="3203575"/>
            </p:xfrm>
            <a:graphic>
              <a:graphicData uri="http://schemas.openxmlformats.org/presentationml/2006/ole">
                <mc:AlternateContent xmlns:mc="http://schemas.openxmlformats.org/markup-compatibility/2006">
                  <mc:Choice xmlns:v="urn:schemas-microsoft-com:vml" Requires="v">
                    <p:oleObj spid="_x0000_s25610" name="Visio" r:id="rId1" imgW="1925955" imgH="2033270" progId="Visio.Drawing.11">
                      <p:embed/>
                    </p:oleObj>
                  </mc:Choice>
                  <mc:Fallback>
                    <p:oleObj name="Visio" r:id="rId1" imgW="1925955" imgH="2033270" progId="Visio.Drawing.11">
                      <p:embed/>
                      <p:pic>
                        <p:nvPicPr>
                          <p:cNvPr id="0" name="对象 65"/>
                          <p:cNvPicPr>
                            <a:picLocks noChangeAspect="1" noChangeArrowheads="1"/>
                          </p:cNvPicPr>
                          <p:nvPr/>
                        </p:nvPicPr>
                        <p:blipFill>
                          <a:blip r:embed="rId2"/>
                          <a:srcRect/>
                          <a:stretch>
                            <a:fillRect/>
                          </a:stretch>
                        </p:blipFill>
                        <p:spPr bwMode="auto">
                          <a:xfrm>
                            <a:off x="2091782" y="1802751"/>
                            <a:ext cx="3174362" cy="3203575"/>
                          </a:xfrm>
                          <a:prstGeom prst="rect">
                            <a:avLst/>
                          </a:prstGeom>
                          <a:noFill/>
                        </p:spPr>
                      </p:pic>
                    </p:oleObj>
                  </mc:Fallback>
                </mc:AlternateContent>
              </a:graphicData>
            </a:graphic>
          </p:graphicFrame>
          <p:sp>
            <p:nvSpPr>
              <p:cNvPr id="67" name="剪去对角的矩形 66"/>
              <p:cNvSpPr/>
              <p:nvPr/>
            </p:nvSpPr>
            <p:spPr>
              <a:xfrm>
                <a:off x="1870881" y="1750462"/>
                <a:ext cx="3535426" cy="3375518"/>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8" name="圆角矩形 27"/>
            <p:cNvSpPr/>
            <p:nvPr/>
          </p:nvSpPr>
          <p:spPr>
            <a:xfrm>
              <a:off x="6370386" y="5075949"/>
              <a:ext cx="1129365" cy="257355"/>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endParaRPr kumimoji="1"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 name="组合 1"/>
          <p:cNvGrpSpPr/>
          <p:nvPr/>
        </p:nvGrpSpPr>
        <p:grpSpPr>
          <a:xfrm>
            <a:off x="877035" y="1839925"/>
            <a:ext cx="3535426" cy="3513219"/>
            <a:chOff x="877035" y="1839925"/>
            <a:chExt cx="3535426" cy="3513219"/>
          </a:xfrm>
        </p:grpSpPr>
        <p:grpSp>
          <p:nvGrpSpPr>
            <p:cNvPr id="11" name="组合 10"/>
            <p:cNvGrpSpPr/>
            <p:nvPr/>
          </p:nvGrpSpPr>
          <p:grpSpPr>
            <a:xfrm>
              <a:off x="877035" y="1839925"/>
              <a:ext cx="3535426" cy="3375518"/>
              <a:chOff x="1870881" y="1750462"/>
              <a:chExt cx="3535426" cy="3375518"/>
            </a:xfrm>
          </p:grpSpPr>
          <p:graphicFrame>
            <p:nvGraphicFramePr>
              <p:cNvPr id="6" name="对象 5"/>
              <p:cNvGraphicFramePr>
                <a:graphicFrameLocks noChangeAspect="1"/>
              </p:cNvGraphicFramePr>
              <p:nvPr/>
            </p:nvGraphicFramePr>
            <p:xfrm>
              <a:off x="2091782" y="1802751"/>
              <a:ext cx="3174362" cy="3203575"/>
            </p:xfrm>
            <a:graphic>
              <a:graphicData uri="http://schemas.openxmlformats.org/presentationml/2006/ole">
                <mc:AlternateContent xmlns:mc="http://schemas.openxmlformats.org/markup-compatibility/2006">
                  <mc:Choice xmlns:v="urn:schemas-microsoft-com:vml" Requires="v">
                    <p:oleObj spid="_x0000_s25611" name="Visio" r:id="rId3" imgW="1925955" imgH="2033270" progId="Visio.Drawing.11">
                      <p:embed/>
                    </p:oleObj>
                  </mc:Choice>
                  <mc:Fallback>
                    <p:oleObj name="Visio" r:id="rId3" imgW="1925955" imgH="2033270" progId="Visio.Drawing.11">
                      <p:embed/>
                      <p:pic>
                        <p:nvPicPr>
                          <p:cNvPr id="0" name="对象 5"/>
                          <p:cNvPicPr>
                            <a:picLocks noChangeAspect="1" noChangeArrowheads="1"/>
                          </p:cNvPicPr>
                          <p:nvPr/>
                        </p:nvPicPr>
                        <p:blipFill>
                          <a:blip r:embed="rId2"/>
                          <a:srcRect/>
                          <a:stretch>
                            <a:fillRect/>
                          </a:stretch>
                        </p:blipFill>
                        <p:spPr bwMode="auto">
                          <a:xfrm>
                            <a:off x="2091782" y="1802751"/>
                            <a:ext cx="3174362" cy="3203575"/>
                          </a:xfrm>
                          <a:prstGeom prst="rect">
                            <a:avLst/>
                          </a:prstGeom>
                          <a:noFill/>
                        </p:spPr>
                      </p:pic>
                    </p:oleObj>
                  </mc:Fallback>
                </mc:AlternateContent>
              </a:graphicData>
            </a:graphic>
          </p:graphicFrame>
          <p:sp>
            <p:nvSpPr>
              <p:cNvPr id="29" name="剪去对角的矩形 28"/>
              <p:cNvSpPr/>
              <p:nvPr/>
            </p:nvSpPr>
            <p:spPr>
              <a:xfrm>
                <a:off x="1870881" y="1750462"/>
                <a:ext cx="3535426" cy="3375518"/>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7" name="圆角矩形 27"/>
            <p:cNvSpPr/>
            <p:nvPr/>
          </p:nvSpPr>
          <p:spPr>
            <a:xfrm>
              <a:off x="2092765" y="5095789"/>
              <a:ext cx="1129365" cy="257355"/>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kumimoji="1"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endParaRPr kumimoji="1"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5" name="Oval 36"/>
          <p:cNvSpPr>
            <a:spLocks noChangeArrowheads="1"/>
          </p:cNvSpPr>
          <p:nvPr/>
        </p:nvSpPr>
        <p:spPr bwMode="auto">
          <a:xfrm>
            <a:off x="1367658" y="469005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46" name="Oval 36"/>
          <p:cNvSpPr>
            <a:spLocks noChangeArrowheads="1"/>
          </p:cNvSpPr>
          <p:nvPr/>
        </p:nvSpPr>
        <p:spPr bwMode="auto">
          <a:xfrm>
            <a:off x="1353372" y="3387884"/>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1" name="Oval 36"/>
          <p:cNvSpPr>
            <a:spLocks noChangeArrowheads="1"/>
          </p:cNvSpPr>
          <p:nvPr/>
        </p:nvSpPr>
        <p:spPr bwMode="auto">
          <a:xfrm>
            <a:off x="2664447" y="3038302"/>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2" name="Oval 36"/>
          <p:cNvSpPr>
            <a:spLocks noChangeArrowheads="1"/>
          </p:cNvSpPr>
          <p:nvPr/>
        </p:nvSpPr>
        <p:spPr bwMode="auto">
          <a:xfrm>
            <a:off x="2657448" y="3680687"/>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2908995" y="2257507"/>
            <a:ext cx="1426062" cy="2009276"/>
            <a:chOff x="2908995" y="2162257"/>
            <a:chExt cx="1426062" cy="2009276"/>
          </a:xfrm>
        </p:grpSpPr>
        <p:sp>
          <p:nvSpPr>
            <p:cNvPr id="53" name="圆角矩形 52"/>
            <p:cNvSpPr/>
            <p:nvPr/>
          </p:nvSpPr>
          <p:spPr>
            <a:xfrm>
              <a:off x="2908995" y="2629735"/>
              <a:ext cx="1282562" cy="1541798"/>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标注 53"/>
            <p:cNvSpPr/>
            <p:nvPr/>
          </p:nvSpPr>
          <p:spPr>
            <a:xfrm>
              <a:off x="3324198" y="2162257"/>
              <a:ext cx="1010859" cy="347824"/>
            </a:xfrm>
            <a:prstGeom prst="wedgeRoundRectCallout">
              <a:avLst>
                <a:gd name="adj1" fmla="val -35071"/>
                <a:gd name="adj2" fmla="val 9087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55" name="Oval 36"/>
          <p:cNvSpPr>
            <a:spLocks noChangeArrowheads="1"/>
          </p:cNvSpPr>
          <p:nvPr/>
        </p:nvSpPr>
        <p:spPr bwMode="auto">
          <a:xfrm>
            <a:off x="2469117" y="4742215"/>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7" name="Oval 36"/>
          <p:cNvSpPr>
            <a:spLocks noChangeArrowheads="1"/>
          </p:cNvSpPr>
          <p:nvPr/>
        </p:nvSpPr>
        <p:spPr bwMode="auto">
          <a:xfrm>
            <a:off x="2474857" y="4742215"/>
            <a:ext cx="216000" cy="216000"/>
          </a:xfrm>
          <a:prstGeom prst="ellipse">
            <a:avLst/>
          </a:prstGeom>
          <a:solidFill>
            <a:srgbClr val="0000FF"/>
          </a:solidFill>
          <a:ln w="3175">
            <a:solidFill>
              <a:schemeClr val="tx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6" name="Oval 36"/>
          <p:cNvSpPr>
            <a:spLocks noChangeArrowheads="1"/>
          </p:cNvSpPr>
          <p:nvPr/>
        </p:nvSpPr>
        <p:spPr bwMode="auto">
          <a:xfrm>
            <a:off x="2477438" y="4739620"/>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8" name="Oval 36"/>
          <p:cNvSpPr>
            <a:spLocks noChangeArrowheads="1"/>
          </p:cNvSpPr>
          <p:nvPr/>
        </p:nvSpPr>
        <p:spPr bwMode="auto">
          <a:xfrm>
            <a:off x="1353372" y="339050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59" name="Oval 36"/>
          <p:cNvSpPr>
            <a:spLocks noChangeArrowheads="1"/>
          </p:cNvSpPr>
          <p:nvPr/>
        </p:nvSpPr>
        <p:spPr bwMode="auto">
          <a:xfrm>
            <a:off x="2536748" y="201007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0" name="Oval 36"/>
          <p:cNvSpPr>
            <a:spLocks noChangeArrowheads="1"/>
          </p:cNvSpPr>
          <p:nvPr/>
        </p:nvSpPr>
        <p:spPr bwMode="auto">
          <a:xfrm>
            <a:off x="2667046" y="3038302"/>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pic>
        <p:nvPicPr>
          <p:cNvPr id="61" name="图片 60"/>
          <p:cNvPicPr>
            <a:picLocks noChangeAspect="1"/>
          </p:cNvPicPr>
          <p:nvPr/>
        </p:nvPicPr>
        <p:blipFill>
          <a:blip r:embed="rId4"/>
          <a:stretch>
            <a:fillRect/>
          </a:stretch>
        </p:blipFill>
        <p:spPr>
          <a:xfrm>
            <a:off x="1867894" y="2378909"/>
            <a:ext cx="761006" cy="685801"/>
          </a:xfrm>
          <a:prstGeom prst="rect">
            <a:avLst/>
          </a:prstGeom>
        </p:spPr>
      </p:pic>
      <p:sp>
        <p:nvSpPr>
          <p:cNvPr id="62" name="Oval 36"/>
          <p:cNvSpPr>
            <a:spLocks noChangeArrowheads="1"/>
          </p:cNvSpPr>
          <p:nvPr/>
        </p:nvSpPr>
        <p:spPr bwMode="auto">
          <a:xfrm>
            <a:off x="4103383" y="3779091"/>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3" name="Oval 36"/>
          <p:cNvSpPr>
            <a:spLocks noChangeArrowheads="1"/>
          </p:cNvSpPr>
          <p:nvPr/>
        </p:nvSpPr>
        <p:spPr bwMode="auto">
          <a:xfrm>
            <a:off x="4089761" y="302291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pic>
        <p:nvPicPr>
          <p:cNvPr id="64" name="图片 63"/>
          <p:cNvPicPr>
            <a:picLocks noChangeAspect="1"/>
          </p:cNvPicPr>
          <p:nvPr/>
        </p:nvPicPr>
        <p:blipFill>
          <a:blip r:embed="rId5"/>
          <a:stretch>
            <a:fillRect/>
          </a:stretch>
        </p:blipFill>
        <p:spPr>
          <a:xfrm>
            <a:off x="1865295" y="3002979"/>
            <a:ext cx="738992" cy="867346"/>
          </a:xfrm>
          <a:prstGeom prst="rect">
            <a:avLst/>
          </a:prstGeom>
        </p:spPr>
      </p:pic>
      <p:sp>
        <p:nvSpPr>
          <p:cNvPr id="68" name="Oval 36"/>
          <p:cNvSpPr>
            <a:spLocks noChangeArrowheads="1"/>
          </p:cNvSpPr>
          <p:nvPr/>
        </p:nvSpPr>
        <p:spPr bwMode="auto">
          <a:xfrm>
            <a:off x="5530280" y="4690055"/>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9" name="Oval 36"/>
          <p:cNvSpPr>
            <a:spLocks noChangeArrowheads="1"/>
          </p:cNvSpPr>
          <p:nvPr/>
        </p:nvSpPr>
        <p:spPr bwMode="auto">
          <a:xfrm>
            <a:off x="5515994" y="3387884"/>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0" name="Oval 36"/>
          <p:cNvSpPr>
            <a:spLocks noChangeArrowheads="1"/>
          </p:cNvSpPr>
          <p:nvPr/>
        </p:nvSpPr>
        <p:spPr bwMode="auto">
          <a:xfrm>
            <a:off x="6827069" y="3038302"/>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1" name="Oval 36"/>
          <p:cNvSpPr>
            <a:spLocks noChangeArrowheads="1"/>
          </p:cNvSpPr>
          <p:nvPr/>
        </p:nvSpPr>
        <p:spPr bwMode="auto">
          <a:xfrm>
            <a:off x="6820070" y="3680687"/>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7071617" y="2257507"/>
            <a:ext cx="1426062" cy="2009276"/>
            <a:chOff x="2908995" y="2162257"/>
            <a:chExt cx="1426062" cy="2009276"/>
          </a:xfrm>
        </p:grpSpPr>
        <p:sp>
          <p:nvSpPr>
            <p:cNvPr id="73" name="圆角矩形 72"/>
            <p:cNvSpPr/>
            <p:nvPr/>
          </p:nvSpPr>
          <p:spPr>
            <a:xfrm>
              <a:off x="2908995" y="2629735"/>
              <a:ext cx="1282562" cy="1541798"/>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标注 73"/>
            <p:cNvSpPr/>
            <p:nvPr/>
          </p:nvSpPr>
          <p:spPr>
            <a:xfrm>
              <a:off x="3324198" y="2162257"/>
              <a:ext cx="1010859" cy="347824"/>
            </a:xfrm>
            <a:prstGeom prst="wedgeRoundRectCallout">
              <a:avLst>
                <a:gd name="adj1" fmla="val -35071"/>
                <a:gd name="adj2" fmla="val 9087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75" name="Oval 36"/>
          <p:cNvSpPr>
            <a:spLocks noChangeArrowheads="1"/>
          </p:cNvSpPr>
          <p:nvPr/>
        </p:nvSpPr>
        <p:spPr bwMode="auto">
          <a:xfrm>
            <a:off x="6631739" y="474221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7" name="Oval 36"/>
          <p:cNvSpPr>
            <a:spLocks noChangeArrowheads="1"/>
          </p:cNvSpPr>
          <p:nvPr/>
        </p:nvSpPr>
        <p:spPr bwMode="auto">
          <a:xfrm>
            <a:off x="6634149" y="4739620"/>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8" name="Oval 36"/>
          <p:cNvSpPr>
            <a:spLocks noChangeArrowheads="1"/>
          </p:cNvSpPr>
          <p:nvPr/>
        </p:nvSpPr>
        <p:spPr bwMode="auto">
          <a:xfrm>
            <a:off x="5515994" y="339050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9" name="Oval 36"/>
          <p:cNvSpPr>
            <a:spLocks noChangeArrowheads="1"/>
          </p:cNvSpPr>
          <p:nvPr/>
        </p:nvSpPr>
        <p:spPr bwMode="auto">
          <a:xfrm>
            <a:off x="6699370" y="2010075"/>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0" name="Oval 36"/>
          <p:cNvSpPr>
            <a:spLocks noChangeArrowheads="1"/>
          </p:cNvSpPr>
          <p:nvPr/>
        </p:nvSpPr>
        <p:spPr bwMode="auto">
          <a:xfrm>
            <a:off x="6820070" y="3687093"/>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2" name="Oval 36"/>
          <p:cNvSpPr>
            <a:spLocks noChangeArrowheads="1"/>
          </p:cNvSpPr>
          <p:nvPr/>
        </p:nvSpPr>
        <p:spPr bwMode="auto">
          <a:xfrm>
            <a:off x="8247468" y="3022913"/>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3" name="Oval 36"/>
          <p:cNvSpPr>
            <a:spLocks noChangeArrowheads="1"/>
          </p:cNvSpPr>
          <p:nvPr/>
        </p:nvSpPr>
        <p:spPr bwMode="auto">
          <a:xfrm>
            <a:off x="8277557" y="376232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76" name="Oval 36"/>
          <p:cNvSpPr>
            <a:spLocks noChangeArrowheads="1"/>
          </p:cNvSpPr>
          <p:nvPr/>
        </p:nvSpPr>
        <p:spPr bwMode="auto">
          <a:xfrm>
            <a:off x="6631739" y="4739620"/>
            <a:ext cx="216000" cy="216000"/>
          </a:xfrm>
          <a:prstGeom prst="ellipse">
            <a:avLst/>
          </a:prstGeom>
          <a:solidFill>
            <a:srgbClr val="FF0000"/>
          </a:solidFill>
          <a:ln w="3175">
            <a:solidFill>
              <a:schemeClr val="tx1"/>
            </a:solid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pic>
        <p:nvPicPr>
          <p:cNvPr id="85" name="图片 84"/>
          <p:cNvPicPr>
            <a:picLocks noChangeAspect="1"/>
          </p:cNvPicPr>
          <p:nvPr/>
        </p:nvPicPr>
        <p:blipFill>
          <a:blip r:embed="rId6"/>
          <a:stretch>
            <a:fillRect/>
          </a:stretch>
        </p:blipFill>
        <p:spPr>
          <a:xfrm>
            <a:off x="6024563" y="3896615"/>
            <a:ext cx="769340" cy="689823"/>
          </a:xfrm>
          <a:prstGeom prst="rect">
            <a:avLst/>
          </a:prstGeom>
        </p:spPr>
      </p:pic>
      <p:sp>
        <p:nvSpPr>
          <p:cNvPr id="47" name="Rectangle 6"/>
          <p:cNvSpPr>
            <a:spLocks noChangeArrowheads="1"/>
          </p:cNvSpPr>
          <p:nvPr/>
        </p:nvSpPr>
        <p:spPr bwMode="auto">
          <a:xfrm>
            <a:off x="443078" y="1314047"/>
            <a:ext cx="2647950" cy="369332"/>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、工作原理</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92432" y="778617"/>
            <a:ext cx="3605564" cy="420971"/>
            <a:chOff x="670560" y="892917"/>
            <a:chExt cx="3605564" cy="420971"/>
          </a:xfrm>
        </p:grpSpPr>
        <p:sp>
          <p:nvSpPr>
            <p:cNvPr id="49" name="矩形 48"/>
            <p:cNvSpPr/>
            <p:nvPr/>
          </p:nvSpPr>
          <p:spPr>
            <a:xfrm>
              <a:off x="1035231" y="913778"/>
              <a:ext cx="3240893"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r>
                <a:rPr lang="zh-CN" altLang="en-US" sz="1400" b="1" dirty="0">
                  <a:solidFill>
                    <a:srgbClr val="6600FF"/>
                  </a:solidFill>
                  <a:latin typeface="微软雅黑" panose="020B0503020204020204" pitchFamily="34" charset="-122"/>
                  <a:ea typeface="微软雅黑" panose="020B0503020204020204" pitchFamily="34" charset="-122"/>
                </a:rPr>
                <a:t>维持阻塞</a:t>
              </a:r>
              <a:r>
                <a:rPr lang="en-US" altLang="zh-CN" sz="1400" b="1" dirty="0">
                  <a:solidFill>
                    <a:srgbClr val="6600FF"/>
                  </a:solidFill>
                  <a:latin typeface="微软雅黑" panose="020B0503020204020204" pitchFamily="34" charset="-122"/>
                  <a:ea typeface="微软雅黑" panose="020B0503020204020204" pitchFamily="34" charset="-122"/>
                </a:rPr>
                <a:t>D</a:t>
              </a:r>
              <a:r>
                <a:rPr lang="zh-CN" altLang="en-US" sz="1400" b="1" dirty="0">
                  <a:solidFill>
                    <a:srgbClr val="6600FF"/>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endParaRPr lang="zh-CN" altLang="en-US" sz="1400" b="1" dirty="0">
                <a:solidFill>
                  <a:srgbClr val="6600FF"/>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7"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81" name="圆角矩形标注 40"/>
          <p:cNvSpPr/>
          <p:nvPr/>
        </p:nvSpPr>
        <p:spPr>
          <a:xfrm>
            <a:off x="349814" y="2528384"/>
            <a:ext cx="1276006" cy="329116"/>
          </a:xfrm>
          <a:prstGeom prst="wedgeRoundRectCallout">
            <a:avLst>
              <a:gd name="adj1" fmla="val 73852"/>
              <a:gd name="adj2" fmla="val -48420"/>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①</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维持线</a:t>
            </a:r>
            <a:endParaRPr lang="zh-CN" altLang="en-US" sz="1400" b="1" kern="1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4" name="圆角矩形标注 41"/>
          <p:cNvSpPr/>
          <p:nvPr/>
        </p:nvSpPr>
        <p:spPr>
          <a:xfrm>
            <a:off x="348318" y="2905367"/>
            <a:ext cx="1276006" cy="353952"/>
          </a:xfrm>
          <a:prstGeom prst="wedgeRoundRectCallout">
            <a:avLst>
              <a:gd name="adj1" fmla="val 87714"/>
              <a:gd name="adj2" fmla="val 13010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②</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阻塞线</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6" name="圆角矩形标注 43"/>
          <p:cNvSpPr/>
          <p:nvPr/>
        </p:nvSpPr>
        <p:spPr>
          <a:xfrm>
            <a:off x="6935069" y="4600724"/>
            <a:ext cx="2114522" cy="353952"/>
          </a:xfrm>
          <a:prstGeom prst="wedgeRoundRectCallout">
            <a:avLst>
              <a:gd name="adj1" fmla="val -59054"/>
              <a:gd name="adj2" fmla="val -17619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③</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维持线置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阻塞线</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9" name="圆角矩形标注 53"/>
          <p:cNvSpPr/>
          <p:nvPr/>
        </p:nvSpPr>
        <p:spPr>
          <a:xfrm>
            <a:off x="3241311" y="2257507"/>
            <a:ext cx="1484748" cy="347824"/>
          </a:xfrm>
          <a:prstGeom prst="wedgeRoundRectCallout">
            <a:avLst>
              <a:gd name="adj1" fmla="val -35071"/>
              <a:gd name="adj2" fmla="val 90871"/>
              <a:gd name="adj3" fmla="val 16667"/>
            </a:avLst>
          </a:prstGeom>
          <a:solidFill>
            <a:schemeClr val="accent1">
              <a:lumMod val="40000"/>
              <a:lumOff val="60000"/>
            </a:schemeClr>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（置位）</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0" name="圆角矩形标注 53"/>
          <p:cNvSpPr/>
          <p:nvPr/>
        </p:nvSpPr>
        <p:spPr>
          <a:xfrm>
            <a:off x="7306586" y="2257251"/>
            <a:ext cx="1433554" cy="347824"/>
          </a:xfrm>
          <a:prstGeom prst="wedgeRoundRectCallout">
            <a:avLst>
              <a:gd name="adj1" fmla="val -27098"/>
              <a:gd name="adj2" fmla="val 93061"/>
              <a:gd name="adj3" fmla="val 16667"/>
            </a:avLst>
          </a:prstGeom>
          <a:solidFill>
            <a:schemeClr val="accent1">
              <a:lumMod val="40000"/>
              <a:lumOff val="60000"/>
            </a:schemeClr>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状态置</a:t>
            </a:r>
            <a:r>
              <a:rPr lang="en-US" altLang="zh-CN"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（复位）</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slide(fromBottom)">
                                      <p:cBhvr>
                                        <p:cTn id="7" dur="1000"/>
                                        <p:tgtEl>
                                          <p:spTgt spid="47"/>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anim calcmode="lin" valueType="num">
                                      <p:cBhvr>
                                        <p:cTn id="12" dur="1000" fill="hold"/>
                                        <p:tgtEl>
                                          <p:spTgt spid="2"/>
                                        </p:tgtEl>
                                        <p:attrNameLst>
                                          <p:attrName>ppt_x</p:attrName>
                                        </p:attrNameLst>
                                      </p:cBhvr>
                                      <p:tavLst>
                                        <p:tav tm="0">
                                          <p:val>
                                            <p:strVal val="#ppt_x"/>
                                          </p:val>
                                        </p:tav>
                                        <p:tav tm="100000">
                                          <p:val>
                                            <p:strVal val="#ppt_x"/>
                                          </p:val>
                                        </p:tav>
                                      </p:tavLst>
                                    </p:anim>
                                    <p:anim calcmode="lin" valueType="num">
                                      <p:cBhvr>
                                        <p:cTn id="1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anim calcmode="lin" valueType="num">
                                      <p:cBhvr additive="base">
                                        <p:cTn id="18" dur="1000"/>
                                        <p:tgtEl>
                                          <p:spTgt spid="45"/>
                                        </p:tgtEl>
                                        <p:attrNameLst>
                                          <p:attrName>ppt_x</p:attrName>
                                        </p:attrNameLst>
                                      </p:cBhvr>
                                      <p:tavLst>
                                        <p:tav tm="0">
                                          <p:val>
                                            <p:strVal val="#ppt_x-#ppt_w*1.125000"/>
                                          </p:val>
                                        </p:tav>
                                        <p:tav tm="100000">
                                          <p:val>
                                            <p:strVal val="#ppt_x"/>
                                          </p:val>
                                        </p:tav>
                                      </p:tavLst>
                                    </p:anim>
                                    <p:animEffect transition="in" filter="wipe(right)">
                                      <p:cBhvr>
                                        <p:cTn id="19" dur="1000"/>
                                        <p:tgtEl>
                                          <p:spTgt spid="45"/>
                                        </p:tgtEl>
                                      </p:cBhvr>
                                    </p:animEffect>
                                  </p:childTnLst>
                                </p:cTn>
                              </p:par>
                            </p:childTnLst>
                          </p:cTn>
                        </p:par>
                        <p:par>
                          <p:cTn id="20" fill="hold">
                            <p:stCondLst>
                              <p:cond delay="1000"/>
                            </p:stCondLst>
                            <p:childTnLst>
                              <p:par>
                                <p:cTn id="21" presetID="12" presetClass="entr" presetSubtype="8" fill="hold" grpId="0" nodeType="afterEffect">
                                  <p:stCondLst>
                                    <p:cond delay="0"/>
                                  </p:stCondLst>
                                  <p:childTnLst>
                                    <p:set>
                                      <p:cBhvr>
                                        <p:cTn id="22" dur="1" fill="hold">
                                          <p:stCondLst>
                                            <p:cond delay="0"/>
                                          </p:stCondLst>
                                        </p:cTn>
                                        <p:tgtEl>
                                          <p:spTgt spid="46"/>
                                        </p:tgtEl>
                                        <p:attrNameLst>
                                          <p:attrName>style.visibility</p:attrName>
                                        </p:attrNameLst>
                                      </p:cBhvr>
                                      <p:to>
                                        <p:strVal val="visible"/>
                                      </p:to>
                                    </p:set>
                                    <p:anim calcmode="lin" valueType="num">
                                      <p:cBhvr additive="base">
                                        <p:cTn id="23" dur="1000"/>
                                        <p:tgtEl>
                                          <p:spTgt spid="46"/>
                                        </p:tgtEl>
                                        <p:attrNameLst>
                                          <p:attrName>ppt_x</p:attrName>
                                        </p:attrNameLst>
                                      </p:cBhvr>
                                      <p:tavLst>
                                        <p:tav tm="0">
                                          <p:val>
                                            <p:strVal val="#ppt_x-#ppt_w*1.125000"/>
                                          </p:val>
                                        </p:tav>
                                        <p:tav tm="100000">
                                          <p:val>
                                            <p:strVal val="#ppt_x"/>
                                          </p:val>
                                        </p:tav>
                                      </p:tavLst>
                                    </p:anim>
                                    <p:animEffect transition="in" filter="wipe(right)">
                                      <p:cBhvr>
                                        <p:cTn id="24" dur="1000"/>
                                        <p:tgtEl>
                                          <p:spTgt spid="46"/>
                                        </p:tgtEl>
                                      </p:cBhvr>
                                    </p:animEffect>
                                  </p:childTnLst>
                                </p:cTn>
                              </p:par>
                            </p:childTnLst>
                          </p:cTn>
                        </p:par>
                        <p:par>
                          <p:cTn id="25" fill="hold">
                            <p:stCondLst>
                              <p:cond delay="2000"/>
                            </p:stCondLst>
                            <p:childTnLst>
                              <p:par>
                                <p:cTn id="26" presetID="12" presetClass="entr" presetSubtype="8" fill="hold" grpId="0" nodeType="afterEffect">
                                  <p:stCondLst>
                                    <p:cond delay="0"/>
                                  </p:stCondLst>
                                  <p:childTnLst>
                                    <p:set>
                                      <p:cBhvr>
                                        <p:cTn id="27" dur="1" fill="hold">
                                          <p:stCondLst>
                                            <p:cond delay="0"/>
                                          </p:stCondLst>
                                        </p:cTn>
                                        <p:tgtEl>
                                          <p:spTgt spid="51"/>
                                        </p:tgtEl>
                                        <p:attrNameLst>
                                          <p:attrName>style.visibility</p:attrName>
                                        </p:attrNameLst>
                                      </p:cBhvr>
                                      <p:to>
                                        <p:strVal val="visible"/>
                                      </p:to>
                                    </p:set>
                                    <p:anim calcmode="lin" valueType="num">
                                      <p:cBhvr additive="base">
                                        <p:cTn id="28" dur="1000"/>
                                        <p:tgtEl>
                                          <p:spTgt spid="51"/>
                                        </p:tgtEl>
                                        <p:attrNameLst>
                                          <p:attrName>ppt_x</p:attrName>
                                        </p:attrNameLst>
                                      </p:cBhvr>
                                      <p:tavLst>
                                        <p:tav tm="0">
                                          <p:val>
                                            <p:strVal val="#ppt_x-#ppt_w*1.125000"/>
                                          </p:val>
                                        </p:tav>
                                        <p:tav tm="100000">
                                          <p:val>
                                            <p:strVal val="#ppt_x"/>
                                          </p:val>
                                        </p:tav>
                                      </p:tavLst>
                                    </p:anim>
                                    <p:animEffect transition="in" filter="wipe(right)">
                                      <p:cBhvr>
                                        <p:cTn id="29" dur="1000"/>
                                        <p:tgtEl>
                                          <p:spTgt spid="51"/>
                                        </p:tgtEl>
                                      </p:cBhvr>
                                    </p:animEffect>
                                  </p:childTnLst>
                                </p:cTn>
                              </p:par>
                              <p:par>
                                <p:cTn id="30" presetID="12" presetClass="entr" presetSubtype="8" fill="hold" grpId="0" nodeType="withEffect">
                                  <p:stCondLst>
                                    <p:cond delay="0"/>
                                  </p:stCondLst>
                                  <p:childTnLst>
                                    <p:set>
                                      <p:cBhvr>
                                        <p:cTn id="31" dur="1" fill="hold">
                                          <p:stCondLst>
                                            <p:cond delay="0"/>
                                          </p:stCondLst>
                                        </p:cTn>
                                        <p:tgtEl>
                                          <p:spTgt spid="52"/>
                                        </p:tgtEl>
                                        <p:attrNameLst>
                                          <p:attrName>style.visibility</p:attrName>
                                        </p:attrNameLst>
                                      </p:cBhvr>
                                      <p:to>
                                        <p:strVal val="visible"/>
                                      </p:to>
                                    </p:set>
                                    <p:anim calcmode="lin" valueType="num">
                                      <p:cBhvr additive="base">
                                        <p:cTn id="32" dur="1000"/>
                                        <p:tgtEl>
                                          <p:spTgt spid="52"/>
                                        </p:tgtEl>
                                        <p:attrNameLst>
                                          <p:attrName>ppt_x</p:attrName>
                                        </p:attrNameLst>
                                      </p:cBhvr>
                                      <p:tavLst>
                                        <p:tav tm="0">
                                          <p:val>
                                            <p:strVal val="#ppt_x-#ppt_w*1.125000"/>
                                          </p:val>
                                        </p:tav>
                                        <p:tav tm="100000">
                                          <p:val>
                                            <p:strVal val="#ppt_x"/>
                                          </p:val>
                                        </p:tav>
                                      </p:tavLst>
                                    </p:anim>
                                    <p:animEffect transition="in" filter="wipe(right)">
                                      <p:cBhvr>
                                        <p:cTn id="33" dur="1000"/>
                                        <p:tgtEl>
                                          <p:spTgt spid="52"/>
                                        </p:tgtEl>
                                      </p:cBhvr>
                                    </p:animEffect>
                                  </p:childTnLst>
                                </p:cTn>
                              </p:par>
                            </p:childTnLst>
                          </p:cTn>
                        </p:par>
                        <p:par>
                          <p:cTn id="34" fill="hold">
                            <p:stCondLst>
                              <p:cond delay="3000"/>
                            </p:stCondLst>
                            <p:childTnLst>
                              <p:par>
                                <p:cTn id="35" presetID="22" presetClass="entr" presetSubtype="8" fill="hold"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55"/>
                                        </p:tgtEl>
                                        <p:attrNameLst>
                                          <p:attrName>style.visibility</p:attrName>
                                        </p:attrNameLst>
                                      </p:cBhvr>
                                      <p:to>
                                        <p:strVal val="visible"/>
                                      </p:to>
                                    </p:set>
                                    <p:anim calcmode="lin" valueType="num">
                                      <p:cBhvr additive="base">
                                        <p:cTn id="42" dur="1000"/>
                                        <p:tgtEl>
                                          <p:spTgt spid="55"/>
                                        </p:tgtEl>
                                        <p:attrNameLst>
                                          <p:attrName>ppt_x</p:attrName>
                                        </p:attrNameLst>
                                      </p:cBhvr>
                                      <p:tavLst>
                                        <p:tav tm="0">
                                          <p:val>
                                            <p:strVal val="#ppt_x-#ppt_w*1.125000"/>
                                          </p:val>
                                        </p:tav>
                                        <p:tav tm="100000">
                                          <p:val>
                                            <p:strVal val="#ppt_x"/>
                                          </p:val>
                                        </p:tav>
                                      </p:tavLst>
                                    </p:anim>
                                    <p:animEffect transition="in" filter="wipe(right)">
                                      <p:cBhvr>
                                        <p:cTn id="43" dur="1000"/>
                                        <p:tgtEl>
                                          <p:spTgt spid="5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1" nodeType="clickEffect">
                                  <p:stCondLst>
                                    <p:cond delay="0"/>
                                  </p:stCondLst>
                                  <p:childTnLst>
                                    <p:set>
                                      <p:cBhvr>
                                        <p:cTn id="47" dur="1" fill="hold">
                                          <p:stCondLst>
                                            <p:cond delay="9"/>
                                          </p:stCondLst>
                                        </p:cTn>
                                        <p:tgtEl>
                                          <p:spTgt spid="57"/>
                                        </p:tgtEl>
                                        <p:attrNameLst>
                                          <p:attrName>style.visibility</p:attrName>
                                        </p:attrNameLst>
                                      </p:cBhvr>
                                      <p:to>
                                        <p:strVal val="visible"/>
                                      </p:to>
                                    </p:set>
                                  </p:childTnLst>
                                </p:cTn>
                              </p:par>
                            </p:childTnLst>
                          </p:cTn>
                        </p:par>
                        <p:par>
                          <p:cTn id="48" fill="hold">
                            <p:stCondLst>
                              <p:cond delay="500"/>
                            </p:stCondLst>
                            <p:childTnLst>
                              <p:par>
                                <p:cTn id="49" presetID="0" presetClass="path" presetSubtype="0" accel="50000" decel="50000" fill="hold" grpId="0" nodeType="afterEffect">
                                  <p:stCondLst>
                                    <p:cond delay="0"/>
                                  </p:stCondLst>
                                  <p:childTnLst>
                                    <p:animMotion origin="layout" path="M 4.72222E-6 -1.11111E-6 C 0.00017 -0.02444 0.00034 -0.04889 0.00069 -0.07333 L -0.0757 -0.10889 L -0.0757 -0.12667 " pathEditMode="relative" rAng="0" ptsTypes="AAAA">
                                      <p:cBhvr>
                                        <p:cTn id="50" dur="2000" fill="hold"/>
                                        <p:tgtEl>
                                          <p:spTgt spid="57"/>
                                        </p:tgtEl>
                                        <p:attrNameLst>
                                          <p:attrName>ppt_x</p:attrName>
                                          <p:attrName>ppt_y</p:attrName>
                                        </p:attrNameLst>
                                      </p:cBhvr>
                                      <p:rCtr x="-3750" y="-6333"/>
                                    </p:animMotion>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9"/>
                                          </p:stCondLst>
                                        </p:cTn>
                                        <p:tgtEl>
                                          <p:spTgt spid="56"/>
                                        </p:tgtEl>
                                        <p:attrNameLst>
                                          <p:attrName>style.visibility</p:attrName>
                                        </p:attrNameLst>
                                      </p:cBhvr>
                                      <p:to>
                                        <p:strVal val="visible"/>
                                      </p:to>
                                    </p:set>
                                  </p:childTnLst>
                                </p:cTn>
                              </p:par>
                            </p:childTnLst>
                          </p:cTn>
                        </p:par>
                        <p:par>
                          <p:cTn id="55" fill="hold">
                            <p:stCondLst>
                              <p:cond delay="500"/>
                            </p:stCondLst>
                            <p:childTnLst>
                              <p:par>
                                <p:cTn id="56" presetID="0" presetClass="path" presetSubtype="0" accel="50000" decel="50000" fill="hold" grpId="0" nodeType="afterEffect">
                                  <p:stCondLst>
                                    <p:cond delay="0"/>
                                  </p:stCondLst>
                                  <p:childTnLst>
                                    <p:animMotion origin="layout" path="M -2.5E-6 -3.33333E-6 C 0.00018 -0.02416 0.00035 -0.04833 0.0007 -0.07222 L -0.09166 -0.11333 C -0.09132 -0.23277 -0.0908 -0.35194 -0.09028 -0.47111 " pathEditMode="relative" rAng="0" ptsTypes="AAAA">
                                      <p:cBhvr>
                                        <p:cTn id="57" dur="2000" fill="hold"/>
                                        <p:tgtEl>
                                          <p:spTgt spid="56"/>
                                        </p:tgtEl>
                                        <p:attrNameLst>
                                          <p:attrName>ppt_x</p:attrName>
                                          <p:attrName>ppt_y</p:attrName>
                                        </p:attrNameLst>
                                      </p:cBhvr>
                                      <p:rCtr x="-4549" y="-23556"/>
                                    </p:animMotion>
                                  </p:childTnLst>
                                </p:cTn>
                              </p:par>
                            </p:childTnLst>
                          </p:cTn>
                        </p:par>
                        <p:par>
                          <p:cTn id="58" fill="hold">
                            <p:stCondLst>
                              <p:cond delay="2500"/>
                            </p:stCondLst>
                            <p:childTnLst>
                              <p:par>
                                <p:cTn id="59" presetID="12" presetClass="entr" presetSubtype="8" fill="hold" grpId="0" nodeType="afterEffect">
                                  <p:stCondLst>
                                    <p:cond delay="0"/>
                                  </p:stCondLst>
                                  <p:childTnLst>
                                    <p:set>
                                      <p:cBhvr>
                                        <p:cTn id="60" dur="1" fill="hold">
                                          <p:stCondLst>
                                            <p:cond delay="0"/>
                                          </p:stCondLst>
                                        </p:cTn>
                                        <p:tgtEl>
                                          <p:spTgt spid="59"/>
                                        </p:tgtEl>
                                        <p:attrNameLst>
                                          <p:attrName>style.visibility</p:attrName>
                                        </p:attrNameLst>
                                      </p:cBhvr>
                                      <p:to>
                                        <p:strVal val="visible"/>
                                      </p:to>
                                    </p:set>
                                    <p:anim calcmode="lin" valueType="num">
                                      <p:cBhvr additive="base">
                                        <p:cTn id="61" dur="1000"/>
                                        <p:tgtEl>
                                          <p:spTgt spid="59"/>
                                        </p:tgtEl>
                                        <p:attrNameLst>
                                          <p:attrName>ppt_x</p:attrName>
                                        </p:attrNameLst>
                                      </p:cBhvr>
                                      <p:tavLst>
                                        <p:tav tm="0">
                                          <p:val>
                                            <p:strVal val="#ppt_x-#ppt_w*1.125000"/>
                                          </p:val>
                                        </p:tav>
                                        <p:tav tm="100000">
                                          <p:val>
                                            <p:strVal val="#ppt_x"/>
                                          </p:val>
                                        </p:tav>
                                      </p:tavLst>
                                    </p:anim>
                                    <p:animEffect transition="in" filter="wipe(right)">
                                      <p:cBhvr>
                                        <p:cTn id="62" dur="10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grpId="0" nodeType="clickEffect">
                                  <p:stCondLst>
                                    <p:cond delay="0"/>
                                  </p:stCondLst>
                                  <p:childTnLst>
                                    <p:set>
                                      <p:cBhvr>
                                        <p:cTn id="66" dur="1" fill="hold">
                                          <p:stCondLst>
                                            <p:cond delay="0"/>
                                          </p:stCondLst>
                                        </p:cTn>
                                        <p:tgtEl>
                                          <p:spTgt spid="58"/>
                                        </p:tgtEl>
                                        <p:attrNameLst>
                                          <p:attrName>style.visibility</p:attrName>
                                        </p:attrNameLst>
                                      </p:cBhvr>
                                      <p:to>
                                        <p:strVal val="visible"/>
                                      </p:to>
                                    </p:set>
                                    <p:anim calcmode="lin" valueType="num">
                                      <p:cBhvr additive="base">
                                        <p:cTn id="67" dur="1000"/>
                                        <p:tgtEl>
                                          <p:spTgt spid="58"/>
                                        </p:tgtEl>
                                        <p:attrNameLst>
                                          <p:attrName>ppt_x</p:attrName>
                                        </p:attrNameLst>
                                      </p:cBhvr>
                                      <p:tavLst>
                                        <p:tav tm="0">
                                          <p:val>
                                            <p:strVal val="#ppt_x-#ppt_w*1.125000"/>
                                          </p:val>
                                        </p:tav>
                                        <p:tav tm="100000">
                                          <p:val>
                                            <p:strVal val="#ppt_x"/>
                                          </p:val>
                                        </p:tav>
                                      </p:tavLst>
                                    </p:anim>
                                    <p:animEffect transition="in" filter="wipe(right)">
                                      <p:cBhvr>
                                        <p:cTn id="68" dur="1000"/>
                                        <p:tgtEl>
                                          <p:spTgt spid="58"/>
                                        </p:tgtEl>
                                      </p:cBhvr>
                                    </p:animEffect>
                                  </p:childTnLst>
                                </p:cTn>
                              </p:par>
                            </p:childTnLst>
                          </p:cTn>
                        </p:par>
                        <p:par>
                          <p:cTn id="69" fill="hold">
                            <p:stCondLst>
                              <p:cond delay="1000"/>
                            </p:stCondLst>
                            <p:childTnLst>
                              <p:par>
                                <p:cTn id="70" presetID="12" presetClass="entr" presetSubtype="8" fill="hold" grpId="0" nodeType="afterEffect">
                                  <p:stCondLst>
                                    <p:cond delay="0"/>
                                  </p:stCondLst>
                                  <p:childTnLst>
                                    <p:set>
                                      <p:cBhvr>
                                        <p:cTn id="71" dur="1" fill="hold">
                                          <p:stCondLst>
                                            <p:cond delay="0"/>
                                          </p:stCondLst>
                                        </p:cTn>
                                        <p:tgtEl>
                                          <p:spTgt spid="60"/>
                                        </p:tgtEl>
                                        <p:attrNameLst>
                                          <p:attrName>style.visibility</p:attrName>
                                        </p:attrNameLst>
                                      </p:cBhvr>
                                      <p:to>
                                        <p:strVal val="visible"/>
                                      </p:to>
                                    </p:set>
                                    <p:anim calcmode="lin" valueType="num">
                                      <p:cBhvr additive="base">
                                        <p:cTn id="72" dur="1000"/>
                                        <p:tgtEl>
                                          <p:spTgt spid="60"/>
                                        </p:tgtEl>
                                        <p:attrNameLst>
                                          <p:attrName>ppt_x</p:attrName>
                                        </p:attrNameLst>
                                      </p:cBhvr>
                                      <p:tavLst>
                                        <p:tav tm="0">
                                          <p:val>
                                            <p:strVal val="#ppt_x-#ppt_w*1.125000"/>
                                          </p:val>
                                        </p:tav>
                                        <p:tav tm="100000">
                                          <p:val>
                                            <p:strVal val="#ppt_x"/>
                                          </p:val>
                                        </p:tav>
                                      </p:tavLst>
                                    </p:anim>
                                    <p:animEffect transition="in" filter="wipe(right)">
                                      <p:cBhvr>
                                        <p:cTn id="73" dur="1000"/>
                                        <p:tgtEl>
                                          <p:spTgt spid="6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89"/>
                                        </p:tgtEl>
                                        <p:attrNameLst>
                                          <p:attrName>style.visibility</p:attrName>
                                        </p:attrNameLst>
                                      </p:cBhvr>
                                      <p:to>
                                        <p:strVal val="visible"/>
                                      </p:to>
                                    </p:set>
                                    <p:animEffect transition="in" filter="wipe(left)">
                                      <p:cBhvr>
                                        <p:cTn id="78" dur="1000"/>
                                        <p:tgtEl>
                                          <p:spTgt spid="89"/>
                                        </p:tgtEl>
                                      </p:cBhvr>
                                    </p:animEffect>
                                  </p:childTnLst>
                                </p:cTn>
                              </p:par>
                            </p:childTnLst>
                          </p:cTn>
                        </p:par>
                        <p:par>
                          <p:cTn id="79" fill="hold">
                            <p:stCondLst>
                              <p:cond delay="1000"/>
                            </p:stCondLst>
                            <p:childTnLst>
                              <p:par>
                                <p:cTn id="80" presetID="12" presetClass="entr" presetSubtype="8" fill="hold" grpId="0" nodeType="afterEffect">
                                  <p:stCondLst>
                                    <p:cond delay="0"/>
                                  </p:stCondLst>
                                  <p:childTnLst>
                                    <p:set>
                                      <p:cBhvr>
                                        <p:cTn id="81" dur="1" fill="hold">
                                          <p:stCondLst>
                                            <p:cond delay="0"/>
                                          </p:stCondLst>
                                        </p:cTn>
                                        <p:tgtEl>
                                          <p:spTgt spid="63"/>
                                        </p:tgtEl>
                                        <p:attrNameLst>
                                          <p:attrName>style.visibility</p:attrName>
                                        </p:attrNameLst>
                                      </p:cBhvr>
                                      <p:to>
                                        <p:strVal val="visible"/>
                                      </p:to>
                                    </p:set>
                                    <p:anim calcmode="lin" valueType="num">
                                      <p:cBhvr additive="base">
                                        <p:cTn id="82" dur="1000"/>
                                        <p:tgtEl>
                                          <p:spTgt spid="63"/>
                                        </p:tgtEl>
                                        <p:attrNameLst>
                                          <p:attrName>ppt_x</p:attrName>
                                        </p:attrNameLst>
                                      </p:cBhvr>
                                      <p:tavLst>
                                        <p:tav tm="0">
                                          <p:val>
                                            <p:strVal val="#ppt_x-#ppt_w*1.125000"/>
                                          </p:val>
                                        </p:tav>
                                        <p:tav tm="100000">
                                          <p:val>
                                            <p:strVal val="#ppt_x"/>
                                          </p:val>
                                        </p:tav>
                                      </p:tavLst>
                                    </p:anim>
                                    <p:animEffect transition="in" filter="wipe(right)">
                                      <p:cBhvr>
                                        <p:cTn id="83" dur="1000"/>
                                        <p:tgtEl>
                                          <p:spTgt spid="63"/>
                                        </p:tgtEl>
                                      </p:cBhvr>
                                    </p:animEffect>
                                  </p:childTnLst>
                                </p:cTn>
                              </p:par>
                              <p:par>
                                <p:cTn id="84" presetID="12" presetClass="entr" presetSubtype="8"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 calcmode="lin" valueType="num">
                                      <p:cBhvr additive="base">
                                        <p:cTn id="86" dur="1000"/>
                                        <p:tgtEl>
                                          <p:spTgt spid="62"/>
                                        </p:tgtEl>
                                        <p:attrNameLst>
                                          <p:attrName>ppt_x</p:attrName>
                                        </p:attrNameLst>
                                      </p:cBhvr>
                                      <p:tavLst>
                                        <p:tav tm="0">
                                          <p:val>
                                            <p:strVal val="#ppt_x-#ppt_w*1.125000"/>
                                          </p:val>
                                        </p:tav>
                                        <p:tav tm="100000">
                                          <p:val>
                                            <p:strVal val="#ppt_x"/>
                                          </p:val>
                                        </p:tav>
                                      </p:tavLst>
                                    </p:anim>
                                    <p:animEffect transition="in" filter="wipe(right)">
                                      <p:cBhvr>
                                        <p:cTn id="87" dur="1000"/>
                                        <p:tgtEl>
                                          <p:spTgt spid="62"/>
                                        </p:tgtEl>
                                      </p:cBhvr>
                                    </p:animEffect>
                                  </p:childTnLst>
                                </p:cTn>
                              </p:par>
                            </p:childTnLst>
                          </p:cTn>
                        </p:par>
                      </p:childTnLst>
                    </p:cTn>
                  </p:par>
                  <p:par>
                    <p:cTn id="88" fill="hold">
                      <p:stCondLst>
                        <p:cond delay="indefinite"/>
                      </p:stCondLst>
                      <p:childTnLst>
                        <p:par>
                          <p:cTn id="89" fill="hold">
                            <p:stCondLst>
                              <p:cond delay="0"/>
                            </p:stCondLst>
                            <p:childTnLst>
                              <p:par>
                                <p:cTn id="90" presetID="17" presetClass="entr" presetSubtype="4" fill="hold" nodeType="clickEffect">
                                  <p:stCondLst>
                                    <p:cond delay="0"/>
                                  </p:stCondLst>
                                  <p:childTnLst>
                                    <p:set>
                                      <p:cBhvr>
                                        <p:cTn id="91" dur="1" fill="hold">
                                          <p:stCondLst>
                                            <p:cond delay="0"/>
                                          </p:stCondLst>
                                        </p:cTn>
                                        <p:tgtEl>
                                          <p:spTgt spid="61"/>
                                        </p:tgtEl>
                                        <p:attrNameLst>
                                          <p:attrName>style.visibility</p:attrName>
                                        </p:attrNameLst>
                                      </p:cBhvr>
                                      <p:to>
                                        <p:strVal val="visible"/>
                                      </p:to>
                                    </p:set>
                                    <p:anim calcmode="lin" valueType="num">
                                      <p:cBhvr>
                                        <p:cTn id="92" dur="1000" fill="hold"/>
                                        <p:tgtEl>
                                          <p:spTgt spid="61"/>
                                        </p:tgtEl>
                                        <p:attrNameLst>
                                          <p:attrName>ppt_x</p:attrName>
                                        </p:attrNameLst>
                                      </p:cBhvr>
                                      <p:tavLst>
                                        <p:tav tm="0">
                                          <p:val>
                                            <p:strVal val="#ppt_x"/>
                                          </p:val>
                                        </p:tav>
                                        <p:tav tm="100000">
                                          <p:val>
                                            <p:strVal val="#ppt_x"/>
                                          </p:val>
                                        </p:tav>
                                      </p:tavLst>
                                    </p:anim>
                                    <p:anim calcmode="lin" valueType="num">
                                      <p:cBhvr>
                                        <p:cTn id="93" dur="1000" fill="hold"/>
                                        <p:tgtEl>
                                          <p:spTgt spid="61"/>
                                        </p:tgtEl>
                                        <p:attrNameLst>
                                          <p:attrName>ppt_y</p:attrName>
                                        </p:attrNameLst>
                                      </p:cBhvr>
                                      <p:tavLst>
                                        <p:tav tm="0">
                                          <p:val>
                                            <p:strVal val="#ppt_y+#ppt_h/2"/>
                                          </p:val>
                                        </p:tav>
                                        <p:tav tm="100000">
                                          <p:val>
                                            <p:strVal val="#ppt_y"/>
                                          </p:val>
                                        </p:tav>
                                      </p:tavLst>
                                    </p:anim>
                                    <p:anim calcmode="lin" valueType="num">
                                      <p:cBhvr>
                                        <p:cTn id="94" dur="1000" fill="hold"/>
                                        <p:tgtEl>
                                          <p:spTgt spid="61"/>
                                        </p:tgtEl>
                                        <p:attrNameLst>
                                          <p:attrName>ppt_w</p:attrName>
                                        </p:attrNameLst>
                                      </p:cBhvr>
                                      <p:tavLst>
                                        <p:tav tm="0">
                                          <p:val>
                                            <p:strVal val="#ppt_w"/>
                                          </p:val>
                                        </p:tav>
                                        <p:tav tm="100000">
                                          <p:val>
                                            <p:strVal val="#ppt_w"/>
                                          </p:val>
                                        </p:tav>
                                      </p:tavLst>
                                    </p:anim>
                                    <p:anim calcmode="lin" valueType="num">
                                      <p:cBhvr>
                                        <p:cTn id="95" dur="1000" fill="hold"/>
                                        <p:tgtEl>
                                          <p:spTgt spid="61"/>
                                        </p:tgtEl>
                                        <p:attrNameLst>
                                          <p:attrName>ppt_h</p:attrName>
                                        </p:attrNameLst>
                                      </p:cBhvr>
                                      <p:tavLst>
                                        <p:tav tm="0">
                                          <p:val>
                                            <p:fltVal val="0"/>
                                          </p:val>
                                        </p:tav>
                                        <p:tav tm="100000">
                                          <p:val>
                                            <p:strVal val="#ppt_h"/>
                                          </p:val>
                                        </p:tav>
                                      </p:tavLst>
                                    </p:anim>
                                  </p:childTnLst>
                                </p:cTn>
                              </p:par>
                            </p:childTnLst>
                          </p:cTn>
                        </p:par>
                        <p:par>
                          <p:cTn id="96" fill="hold">
                            <p:stCondLst>
                              <p:cond delay="1000"/>
                            </p:stCondLst>
                            <p:childTnLst>
                              <p:par>
                                <p:cTn id="97" presetID="22" presetClass="entr" presetSubtype="2" fill="hold" grpId="0" nodeType="afterEffect">
                                  <p:stCondLst>
                                    <p:cond delay="0"/>
                                  </p:stCondLst>
                                  <p:childTnLst>
                                    <p:set>
                                      <p:cBhvr>
                                        <p:cTn id="98" dur="1" fill="hold">
                                          <p:stCondLst>
                                            <p:cond delay="0"/>
                                          </p:stCondLst>
                                        </p:cTn>
                                        <p:tgtEl>
                                          <p:spTgt spid="81"/>
                                        </p:tgtEl>
                                        <p:attrNameLst>
                                          <p:attrName>style.visibility</p:attrName>
                                        </p:attrNameLst>
                                      </p:cBhvr>
                                      <p:to>
                                        <p:strVal val="visible"/>
                                      </p:to>
                                    </p:set>
                                    <p:animEffect transition="in" filter="wipe(right)">
                                      <p:cBhvr>
                                        <p:cTn id="99" dur="1000"/>
                                        <p:tgtEl>
                                          <p:spTgt spid="81"/>
                                        </p:tgtEl>
                                      </p:cBhvr>
                                    </p:animEffect>
                                  </p:childTnLst>
                                </p:cTn>
                              </p:par>
                            </p:childTnLst>
                          </p:cTn>
                        </p:par>
                      </p:childTnLst>
                    </p:cTn>
                  </p:par>
                  <p:par>
                    <p:cTn id="100" fill="hold">
                      <p:stCondLst>
                        <p:cond delay="indefinite"/>
                      </p:stCondLst>
                      <p:childTnLst>
                        <p:par>
                          <p:cTn id="101" fill="hold">
                            <p:stCondLst>
                              <p:cond delay="0"/>
                            </p:stCondLst>
                            <p:childTnLst>
                              <p:par>
                                <p:cTn id="102" presetID="17" presetClass="entr" presetSubtype="1" fill="hold" nodeType="clickEffect">
                                  <p:stCondLst>
                                    <p:cond delay="0"/>
                                  </p:stCondLst>
                                  <p:childTnLst>
                                    <p:set>
                                      <p:cBhvr>
                                        <p:cTn id="103" dur="1" fill="hold">
                                          <p:stCondLst>
                                            <p:cond delay="0"/>
                                          </p:stCondLst>
                                        </p:cTn>
                                        <p:tgtEl>
                                          <p:spTgt spid="64"/>
                                        </p:tgtEl>
                                        <p:attrNameLst>
                                          <p:attrName>style.visibility</p:attrName>
                                        </p:attrNameLst>
                                      </p:cBhvr>
                                      <p:to>
                                        <p:strVal val="visible"/>
                                      </p:to>
                                    </p:set>
                                    <p:anim calcmode="lin" valueType="num">
                                      <p:cBhvr>
                                        <p:cTn id="104" dur="1000" fill="hold"/>
                                        <p:tgtEl>
                                          <p:spTgt spid="64"/>
                                        </p:tgtEl>
                                        <p:attrNameLst>
                                          <p:attrName>ppt_x</p:attrName>
                                        </p:attrNameLst>
                                      </p:cBhvr>
                                      <p:tavLst>
                                        <p:tav tm="0">
                                          <p:val>
                                            <p:strVal val="#ppt_x"/>
                                          </p:val>
                                        </p:tav>
                                        <p:tav tm="100000">
                                          <p:val>
                                            <p:strVal val="#ppt_x"/>
                                          </p:val>
                                        </p:tav>
                                      </p:tavLst>
                                    </p:anim>
                                    <p:anim calcmode="lin" valueType="num">
                                      <p:cBhvr>
                                        <p:cTn id="105" dur="1000" fill="hold"/>
                                        <p:tgtEl>
                                          <p:spTgt spid="64"/>
                                        </p:tgtEl>
                                        <p:attrNameLst>
                                          <p:attrName>ppt_y</p:attrName>
                                        </p:attrNameLst>
                                      </p:cBhvr>
                                      <p:tavLst>
                                        <p:tav tm="0">
                                          <p:val>
                                            <p:strVal val="#ppt_y-#ppt_h/2"/>
                                          </p:val>
                                        </p:tav>
                                        <p:tav tm="100000">
                                          <p:val>
                                            <p:strVal val="#ppt_y"/>
                                          </p:val>
                                        </p:tav>
                                      </p:tavLst>
                                    </p:anim>
                                    <p:anim calcmode="lin" valueType="num">
                                      <p:cBhvr>
                                        <p:cTn id="106" dur="1000" fill="hold"/>
                                        <p:tgtEl>
                                          <p:spTgt spid="64"/>
                                        </p:tgtEl>
                                        <p:attrNameLst>
                                          <p:attrName>ppt_w</p:attrName>
                                        </p:attrNameLst>
                                      </p:cBhvr>
                                      <p:tavLst>
                                        <p:tav tm="0">
                                          <p:val>
                                            <p:strVal val="#ppt_w"/>
                                          </p:val>
                                        </p:tav>
                                        <p:tav tm="100000">
                                          <p:val>
                                            <p:strVal val="#ppt_w"/>
                                          </p:val>
                                        </p:tav>
                                      </p:tavLst>
                                    </p:anim>
                                    <p:anim calcmode="lin" valueType="num">
                                      <p:cBhvr>
                                        <p:cTn id="107" dur="1000" fill="hold"/>
                                        <p:tgtEl>
                                          <p:spTgt spid="64"/>
                                        </p:tgtEl>
                                        <p:attrNameLst>
                                          <p:attrName>ppt_h</p:attrName>
                                        </p:attrNameLst>
                                      </p:cBhvr>
                                      <p:tavLst>
                                        <p:tav tm="0">
                                          <p:val>
                                            <p:fltVal val="0"/>
                                          </p:val>
                                        </p:tav>
                                        <p:tav tm="100000">
                                          <p:val>
                                            <p:strVal val="#ppt_h"/>
                                          </p:val>
                                        </p:tav>
                                      </p:tavLst>
                                    </p:anim>
                                  </p:childTnLst>
                                </p:cTn>
                              </p:par>
                            </p:childTnLst>
                          </p:cTn>
                        </p:par>
                        <p:par>
                          <p:cTn id="108" fill="hold">
                            <p:stCondLst>
                              <p:cond delay="1000"/>
                            </p:stCondLst>
                            <p:childTnLst>
                              <p:par>
                                <p:cTn id="109" presetID="22" presetClass="entr" presetSubtype="2" fill="hold" grpId="0" nodeType="afterEffect">
                                  <p:stCondLst>
                                    <p:cond delay="0"/>
                                  </p:stCondLst>
                                  <p:childTnLst>
                                    <p:set>
                                      <p:cBhvr>
                                        <p:cTn id="110" dur="1" fill="hold">
                                          <p:stCondLst>
                                            <p:cond delay="0"/>
                                          </p:stCondLst>
                                        </p:cTn>
                                        <p:tgtEl>
                                          <p:spTgt spid="84"/>
                                        </p:tgtEl>
                                        <p:attrNameLst>
                                          <p:attrName>style.visibility</p:attrName>
                                        </p:attrNameLst>
                                      </p:cBhvr>
                                      <p:to>
                                        <p:strVal val="visible"/>
                                      </p:to>
                                    </p:set>
                                    <p:animEffect transition="in" filter="wipe(right)">
                                      <p:cBhvr>
                                        <p:cTn id="111" dur="1000"/>
                                        <p:tgtEl>
                                          <p:spTgt spid="84"/>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nodeType="clickEffect">
                                  <p:stCondLst>
                                    <p:cond delay="0"/>
                                  </p:stCondLst>
                                  <p:childTnLst>
                                    <p:set>
                                      <p:cBhvr>
                                        <p:cTn id="115" dur="1" fill="hold">
                                          <p:stCondLst>
                                            <p:cond delay="0"/>
                                          </p:stCondLst>
                                        </p:cTn>
                                        <p:tgtEl>
                                          <p:spTgt spid="3"/>
                                        </p:tgtEl>
                                        <p:attrNameLst>
                                          <p:attrName>style.visibility</p:attrName>
                                        </p:attrNameLst>
                                      </p:cBhvr>
                                      <p:to>
                                        <p:strVal val="visible"/>
                                      </p:to>
                                    </p:set>
                                    <p:animEffect transition="in" filter="fade">
                                      <p:cBhvr>
                                        <p:cTn id="116" dur="1000"/>
                                        <p:tgtEl>
                                          <p:spTgt spid="3"/>
                                        </p:tgtEl>
                                      </p:cBhvr>
                                    </p:animEffect>
                                    <p:anim calcmode="lin" valueType="num">
                                      <p:cBhvr>
                                        <p:cTn id="117" dur="1000" fill="hold"/>
                                        <p:tgtEl>
                                          <p:spTgt spid="3"/>
                                        </p:tgtEl>
                                        <p:attrNameLst>
                                          <p:attrName>ppt_x</p:attrName>
                                        </p:attrNameLst>
                                      </p:cBhvr>
                                      <p:tavLst>
                                        <p:tav tm="0">
                                          <p:val>
                                            <p:strVal val="#ppt_x"/>
                                          </p:val>
                                        </p:tav>
                                        <p:tav tm="100000">
                                          <p:val>
                                            <p:strVal val="#ppt_x"/>
                                          </p:val>
                                        </p:tav>
                                      </p:tavLst>
                                    </p:anim>
                                    <p:anim calcmode="lin" valueType="num">
                                      <p:cBhvr>
                                        <p:cTn id="118" dur="1000" fill="hold"/>
                                        <p:tgtEl>
                                          <p:spTgt spid="3"/>
                                        </p:tgtEl>
                                        <p:attrNameLst>
                                          <p:attrName>ppt_y</p:attrName>
                                        </p:attrNameLst>
                                      </p:cBhvr>
                                      <p:tavLst>
                                        <p:tav tm="0">
                                          <p:val>
                                            <p:strVal val="#ppt_y+.1"/>
                                          </p:val>
                                        </p:tav>
                                        <p:tav tm="100000">
                                          <p:val>
                                            <p:strVal val="#ppt_y"/>
                                          </p:val>
                                        </p:tav>
                                      </p:tavLst>
                                    </p:anim>
                                  </p:childTnLst>
                                </p:cTn>
                              </p:par>
                            </p:childTnLst>
                          </p:cTn>
                        </p:par>
                        <p:par>
                          <p:cTn id="119" fill="hold">
                            <p:stCondLst>
                              <p:cond delay="1000"/>
                            </p:stCondLst>
                            <p:childTnLst>
                              <p:par>
                                <p:cTn id="120" presetID="12" presetClass="entr" presetSubtype="8" fill="hold" grpId="0" nodeType="afterEffect">
                                  <p:stCondLst>
                                    <p:cond delay="0"/>
                                  </p:stCondLst>
                                  <p:childTnLst>
                                    <p:set>
                                      <p:cBhvr>
                                        <p:cTn id="121" dur="1" fill="hold">
                                          <p:stCondLst>
                                            <p:cond delay="0"/>
                                          </p:stCondLst>
                                        </p:cTn>
                                        <p:tgtEl>
                                          <p:spTgt spid="68"/>
                                        </p:tgtEl>
                                        <p:attrNameLst>
                                          <p:attrName>style.visibility</p:attrName>
                                        </p:attrNameLst>
                                      </p:cBhvr>
                                      <p:to>
                                        <p:strVal val="visible"/>
                                      </p:to>
                                    </p:set>
                                    <p:anim calcmode="lin" valueType="num">
                                      <p:cBhvr additive="base">
                                        <p:cTn id="122" dur="1000"/>
                                        <p:tgtEl>
                                          <p:spTgt spid="68"/>
                                        </p:tgtEl>
                                        <p:attrNameLst>
                                          <p:attrName>ppt_x</p:attrName>
                                        </p:attrNameLst>
                                      </p:cBhvr>
                                      <p:tavLst>
                                        <p:tav tm="0">
                                          <p:val>
                                            <p:strVal val="#ppt_x-#ppt_w*1.125000"/>
                                          </p:val>
                                        </p:tav>
                                        <p:tav tm="100000">
                                          <p:val>
                                            <p:strVal val="#ppt_x"/>
                                          </p:val>
                                        </p:tav>
                                      </p:tavLst>
                                    </p:anim>
                                    <p:animEffect transition="in" filter="wipe(right)">
                                      <p:cBhvr>
                                        <p:cTn id="123" dur="1000"/>
                                        <p:tgtEl>
                                          <p:spTgt spid="68"/>
                                        </p:tgtEl>
                                      </p:cBhvr>
                                    </p:animEffect>
                                  </p:childTnLst>
                                </p:cTn>
                              </p:par>
                            </p:childTnLst>
                          </p:cTn>
                        </p:par>
                        <p:par>
                          <p:cTn id="124" fill="hold">
                            <p:stCondLst>
                              <p:cond delay="2000"/>
                            </p:stCondLst>
                            <p:childTnLst>
                              <p:par>
                                <p:cTn id="125" presetID="12" presetClass="entr" presetSubtype="8" fill="hold" grpId="0" nodeType="afterEffect">
                                  <p:stCondLst>
                                    <p:cond delay="0"/>
                                  </p:stCondLst>
                                  <p:childTnLst>
                                    <p:set>
                                      <p:cBhvr>
                                        <p:cTn id="126" dur="1" fill="hold">
                                          <p:stCondLst>
                                            <p:cond delay="0"/>
                                          </p:stCondLst>
                                        </p:cTn>
                                        <p:tgtEl>
                                          <p:spTgt spid="69"/>
                                        </p:tgtEl>
                                        <p:attrNameLst>
                                          <p:attrName>style.visibility</p:attrName>
                                        </p:attrNameLst>
                                      </p:cBhvr>
                                      <p:to>
                                        <p:strVal val="visible"/>
                                      </p:to>
                                    </p:set>
                                    <p:anim calcmode="lin" valueType="num">
                                      <p:cBhvr additive="base">
                                        <p:cTn id="127" dur="1000"/>
                                        <p:tgtEl>
                                          <p:spTgt spid="69"/>
                                        </p:tgtEl>
                                        <p:attrNameLst>
                                          <p:attrName>ppt_x</p:attrName>
                                        </p:attrNameLst>
                                      </p:cBhvr>
                                      <p:tavLst>
                                        <p:tav tm="0">
                                          <p:val>
                                            <p:strVal val="#ppt_x-#ppt_w*1.125000"/>
                                          </p:val>
                                        </p:tav>
                                        <p:tav tm="100000">
                                          <p:val>
                                            <p:strVal val="#ppt_x"/>
                                          </p:val>
                                        </p:tav>
                                      </p:tavLst>
                                    </p:anim>
                                    <p:animEffect transition="in" filter="wipe(right)">
                                      <p:cBhvr>
                                        <p:cTn id="128" dur="1000"/>
                                        <p:tgtEl>
                                          <p:spTgt spid="69"/>
                                        </p:tgtEl>
                                      </p:cBhvr>
                                    </p:animEffect>
                                  </p:childTnLst>
                                </p:cTn>
                              </p:par>
                            </p:childTnLst>
                          </p:cTn>
                        </p:par>
                        <p:par>
                          <p:cTn id="129" fill="hold">
                            <p:stCondLst>
                              <p:cond delay="3000"/>
                            </p:stCondLst>
                            <p:childTnLst>
                              <p:par>
                                <p:cTn id="130" presetID="12" presetClass="entr" presetSubtype="8" fill="hold" grpId="0" nodeType="afterEffect">
                                  <p:stCondLst>
                                    <p:cond delay="0"/>
                                  </p:stCondLst>
                                  <p:childTnLst>
                                    <p:set>
                                      <p:cBhvr>
                                        <p:cTn id="131" dur="1" fill="hold">
                                          <p:stCondLst>
                                            <p:cond delay="0"/>
                                          </p:stCondLst>
                                        </p:cTn>
                                        <p:tgtEl>
                                          <p:spTgt spid="70"/>
                                        </p:tgtEl>
                                        <p:attrNameLst>
                                          <p:attrName>style.visibility</p:attrName>
                                        </p:attrNameLst>
                                      </p:cBhvr>
                                      <p:to>
                                        <p:strVal val="visible"/>
                                      </p:to>
                                    </p:set>
                                    <p:anim calcmode="lin" valueType="num">
                                      <p:cBhvr additive="base">
                                        <p:cTn id="132" dur="1000"/>
                                        <p:tgtEl>
                                          <p:spTgt spid="70"/>
                                        </p:tgtEl>
                                        <p:attrNameLst>
                                          <p:attrName>ppt_x</p:attrName>
                                        </p:attrNameLst>
                                      </p:cBhvr>
                                      <p:tavLst>
                                        <p:tav tm="0">
                                          <p:val>
                                            <p:strVal val="#ppt_x-#ppt_w*1.125000"/>
                                          </p:val>
                                        </p:tav>
                                        <p:tav tm="100000">
                                          <p:val>
                                            <p:strVal val="#ppt_x"/>
                                          </p:val>
                                        </p:tav>
                                      </p:tavLst>
                                    </p:anim>
                                    <p:animEffect transition="in" filter="wipe(right)">
                                      <p:cBhvr>
                                        <p:cTn id="133" dur="1000"/>
                                        <p:tgtEl>
                                          <p:spTgt spid="70"/>
                                        </p:tgtEl>
                                      </p:cBhvr>
                                    </p:animEffect>
                                  </p:childTnLst>
                                </p:cTn>
                              </p:par>
                              <p:par>
                                <p:cTn id="134" presetID="12" presetClass="entr" presetSubtype="8" fill="hold" grpId="0" nodeType="withEffect">
                                  <p:stCondLst>
                                    <p:cond delay="0"/>
                                  </p:stCondLst>
                                  <p:childTnLst>
                                    <p:set>
                                      <p:cBhvr>
                                        <p:cTn id="135" dur="1" fill="hold">
                                          <p:stCondLst>
                                            <p:cond delay="0"/>
                                          </p:stCondLst>
                                        </p:cTn>
                                        <p:tgtEl>
                                          <p:spTgt spid="71"/>
                                        </p:tgtEl>
                                        <p:attrNameLst>
                                          <p:attrName>style.visibility</p:attrName>
                                        </p:attrNameLst>
                                      </p:cBhvr>
                                      <p:to>
                                        <p:strVal val="visible"/>
                                      </p:to>
                                    </p:set>
                                    <p:anim calcmode="lin" valueType="num">
                                      <p:cBhvr additive="base">
                                        <p:cTn id="136" dur="1000"/>
                                        <p:tgtEl>
                                          <p:spTgt spid="71"/>
                                        </p:tgtEl>
                                        <p:attrNameLst>
                                          <p:attrName>ppt_x</p:attrName>
                                        </p:attrNameLst>
                                      </p:cBhvr>
                                      <p:tavLst>
                                        <p:tav tm="0">
                                          <p:val>
                                            <p:strVal val="#ppt_x-#ppt_w*1.125000"/>
                                          </p:val>
                                        </p:tav>
                                        <p:tav tm="100000">
                                          <p:val>
                                            <p:strVal val="#ppt_x"/>
                                          </p:val>
                                        </p:tav>
                                      </p:tavLst>
                                    </p:anim>
                                    <p:animEffect transition="in" filter="wipe(right)">
                                      <p:cBhvr>
                                        <p:cTn id="137" dur="1000"/>
                                        <p:tgtEl>
                                          <p:spTgt spid="71"/>
                                        </p:tgtEl>
                                      </p:cBhvr>
                                    </p:animEffect>
                                  </p:childTnLst>
                                </p:cTn>
                              </p:par>
                            </p:childTnLst>
                          </p:cTn>
                        </p:par>
                        <p:par>
                          <p:cTn id="138" fill="hold">
                            <p:stCondLst>
                              <p:cond delay="4000"/>
                            </p:stCondLst>
                            <p:childTnLst>
                              <p:par>
                                <p:cTn id="139" presetID="22" presetClass="entr" presetSubtype="8" fill="hold" nodeType="afterEffect">
                                  <p:stCondLst>
                                    <p:cond delay="0"/>
                                  </p:stCondLst>
                                  <p:childTnLst>
                                    <p:set>
                                      <p:cBhvr>
                                        <p:cTn id="140" dur="1" fill="hold">
                                          <p:stCondLst>
                                            <p:cond delay="0"/>
                                          </p:stCondLst>
                                        </p:cTn>
                                        <p:tgtEl>
                                          <p:spTgt spid="72"/>
                                        </p:tgtEl>
                                        <p:attrNameLst>
                                          <p:attrName>style.visibility</p:attrName>
                                        </p:attrNameLst>
                                      </p:cBhvr>
                                      <p:to>
                                        <p:strVal val="visible"/>
                                      </p:to>
                                    </p:set>
                                    <p:animEffect transition="in" filter="wipe(left)">
                                      <p:cBhvr>
                                        <p:cTn id="141" dur="1000"/>
                                        <p:tgtEl>
                                          <p:spTgt spid="72"/>
                                        </p:tgtEl>
                                      </p:cBhvr>
                                    </p:animEffect>
                                  </p:childTnLst>
                                </p:cTn>
                              </p:par>
                            </p:childTnLst>
                          </p:cTn>
                        </p:par>
                      </p:childTnLst>
                    </p:cTn>
                  </p:par>
                  <p:par>
                    <p:cTn id="142" fill="hold">
                      <p:stCondLst>
                        <p:cond delay="indefinite"/>
                      </p:stCondLst>
                      <p:childTnLst>
                        <p:par>
                          <p:cTn id="143" fill="hold">
                            <p:stCondLst>
                              <p:cond delay="0"/>
                            </p:stCondLst>
                            <p:childTnLst>
                              <p:par>
                                <p:cTn id="144" presetID="12" presetClass="entr" presetSubtype="8" fill="hold" grpId="0" nodeType="clickEffect">
                                  <p:stCondLst>
                                    <p:cond delay="0"/>
                                  </p:stCondLst>
                                  <p:childTnLst>
                                    <p:set>
                                      <p:cBhvr>
                                        <p:cTn id="145" dur="1" fill="hold">
                                          <p:stCondLst>
                                            <p:cond delay="0"/>
                                          </p:stCondLst>
                                        </p:cTn>
                                        <p:tgtEl>
                                          <p:spTgt spid="75"/>
                                        </p:tgtEl>
                                        <p:attrNameLst>
                                          <p:attrName>style.visibility</p:attrName>
                                        </p:attrNameLst>
                                      </p:cBhvr>
                                      <p:to>
                                        <p:strVal val="visible"/>
                                      </p:to>
                                    </p:set>
                                    <p:anim calcmode="lin" valueType="num">
                                      <p:cBhvr additive="base">
                                        <p:cTn id="146" dur="1000"/>
                                        <p:tgtEl>
                                          <p:spTgt spid="75"/>
                                        </p:tgtEl>
                                        <p:attrNameLst>
                                          <p:attrName>ppt_x</p:attrName>
                                        </p:attrNameLst>
                                      </p:cBhvr>
                                      <p:tavLst>
                                        <p:tav tm="0">
                                          <p:val>
                                            <p:strVal val="#ppt_x-#ppt_w*1.125000"/>
                                          </p:val>
                                        </p:tav>
                                        <p:tav tm="100000">
                                          <p:val>
                                            <p:strVal val="#ppt_x"/>
                                          </p:val>
                                        </p:tav>
                                      </p:tavLst>
                                    </p:anim>
                                    <p:animEffect transition="in" filter="wipe(right)">
                                      <p:cBhvr>
                                        <p:cTn id="147" dur="1000"/>
                                        <p:tgtEl>
                                          <p:spTgt spid="75"/>
                                        </p:tgtEl>
                                      </p:cBhvr>
                                    </p:animEffect>
                                  </p:childTnLst>
                                </p:cTn>
                              </p:par>
                            </p:childTnLst>
                          </p:cTn>
                        </p:par>
                      </p:childTnLst>
                    </p:cTn>
                  </p:par>
                  <p:par>
                    <p:cTn id="148" fill="hold">
                      <p:stCondLst>
                        <p:cond delay="indefinite"/>
                      </p:stCondLst>
                      <p:childTnLst>
                        <p:par>
                          <p:cTn id="149" fill="hold">
                            <p:stCondLst>
                              <p:cond delay="0"/>
                            </p:stCondLst>
                            <p:childTnLst>
                              <p:par>
                                <p:cTn id="150" presetID="1" presetClass="entr" presetSubtype="0" fill="hold" grpId="1" nodeType="clickEffect">
                                  <p:stCondLst>
                                    <p:cond delay="0"/>
                                  </p:stCondLst>
                                  <p:childTnLst>
                                    <p:set>
                                      <p:cBhvr>
                                        <p:cTn id="151" dur="1" fill="hold">
                                          <p:stCondLst>
                                            <p:cond delay="9"/>
                                          </p:stCondLst>
                                        </p:cTn>
                                        <p:tgtEl>
                                          <p:spTgt spid="77"/>
                                        </p:tgtEl>
                                        <p:attrNameLst>
                                          <p:attrName>style.visibility</p:attrName>
                                        </p:attrNameLst>
                                      </p:cBhvr>
                                      <p:to>
                                        <p:strVal val="visible"/>
                                      </p:to>
                                    </p:set>
                                  </p:childTnLst>
                                </p:cTn>
                              </p:par>
                            </p:childTnLst>
                          </p:cTn>
                        </p:par>
                        <p:par>
                          <p:cTn id="152" fill="hold">
                            <p:stCondLst>
                              <p:cond delay="500"/>
                            </p:stCondLst>
                            <p:childTnLst>
                              <p:par>
                                <p:cTn id="153" presetID="0" presetClass="path" presetSubtype="0" accel="50000" decel="50000" fill="hold" grpId="0" nodeType="afterEffect">
                                  <p:stCondLst>
                                    <p:cond delay="0"/>
                                  </p:stCondLst>
                                  <p:childTnLst>
                                    <p:animMotion origin="layout" path="M 3.61111E-6 -3.33333E-6 C 0.00017 -0.02416 0.00034 -0.04833 0.00069 -0.07222 L -0.09167 -0.11333 C -0.09132 -0.23277 -0.0908 -0.35194 -0.09028 -0.47111 " pathEditMode="relative" rAng="0" ptsTypes="AAAA">
                                      <p:cBhvr>
                                        <p:cTn id="154" dur="2000" fill="hold"/>
                                        <p:tgtEl>
                                          <p:spTgt spid="77"/>
                                        </p:tgtEl>
                                        <p:attrNameLst>
                                          <p:attrName>ppt_x</p:attrName>
                                          <p:attrName>ppt_y</p:attrName>
                                        </p:attrNameLst>
                                      </p:cBhvr>
                                      <p:rCtr x="-4549" y="-23556"/>
                                    </p:animMotion>
                                  </p:childTnLst>
                                </p:cTn>
                              </p:par>
                            </p:childTnLst>
                          </p:cTn>
                        </p:par>
                        <p:par>
                          <p:cTn id="155" fill="hold">
                            <p:stCondLst>
                              <p:cond delay="2500"/>
                            </p:stCondLst>
                            <p:childTnLst>
                              <p:par>
                                <p:cTn id="156" presetID="12" presetClass="entr" presetSubtype="8" fill="hold" grpId="0" nodeType="afterEffect">
                                  <p:stCondLst>
                                    <p:cond delay="0"/>
                                  </p:stCondLst>
                                  <p:childTnLst>
                                    <p:set>
                                      <p:cBhvr>
                                        <p:cTn id="157" dur="1" fill="hold">
                                          <p:stCondLst>
                                            <p:cond delay="0"/>
                                          </p:stCondLst>
                                        </p:cTn>
                                        <p:tgtEl>
                                          <p:spTgt spid="79"/>
                                        </p:tgtEl>
                                        <p:attrNameLst>
                                          <p:attrName>style.visibility</p:attrName>
                                        </p:attrNameLst>
                                      </p:cBhvr>
                                      <p:to>
                                        <p:strVal val="visible"/>
                                      </p:to>
                                    </p:set>
                                    <p:anim calcmode="lin" valueType="num">
                                      <p:cBhvr additive="base">
                                        <p:cTn id="158" dur="1000"/>
                                        <p:tgtEl>
                                          <p:spTgt spid="79"/>
                                        </p:tgtEl>
                                        <p:attrNameLst>
                                          <p:attrName>ppt_x</p:attrName>
                                        </p:attrNameLst>
                                      </p:cBhvr>
                                      <p:tavLst>
                                        <p:tav tm="0">
                                          <p:val>
                                            <p:strVal val="#ppt_x-#ppt_w*1.125000"/>
                                          </p:val>
                                        </p:tav>
                                        <p:tav tm="100000">
                                          <p:val>
                                            <p:strVal val="#ppt_x"/>
                                          </p:val>
                                        </p:tav>
                                      </p:tavLst>
                                    </p:anim>
                                    <p:animEffect transition="in" filter="wipe(right)">
                                      <p:cBhvr>
                                        <p:cTn id="159" dur="1000"/>
                                        <p:tgtEl>
                                          <p:spTgt spid="79"/>
                                        </p:tgtEl>
                                      </p:cBhvr>
                                    </p:animEffect>
                                  </p:childTnLst>
                                </p:cTn>
                              </p:par>
                            </p:childTnLst>
                          </p:cTn>
                        </p:par>
                      </p:childTnLst>
                    </p:cTn>
                  </p:par>
                  <p:par>
                    <p:cTn id="160" fill="hold">
                      <p:stCondLst>
                        <p:cond delay="indefinite"/>
                      </p:stCondLst>
                      <p:childTnLst>
                        <p:par>
                          <p:cTn id="161" fill="hold">
                            <p:stCondLst>
                              <p:cond delay="0"/>
                            </p:stCondLst>
                            <p:childTnLst>
                              <p:par>
                                <p:cTn id="162" presetID="12" presetClass="entr" presetSubtype="8" fill="hold" grpId="0" nodeType="clickEffect">
                                  <p:stCondLst>
                                    <p:cond delay="0"/>
                                  </p:stCondLst>
                                  <p:childTnLst>
                                    <p:set>
                                      <p:cBhvr>
                                        <p:cTn id="163" dur="1" fill="hold">
                                          <p:stCondLst>
                                            <p:cond delay="0"/>
                                          </p:stCondLst>
                                        </p:cTn>
                                        <p:tgtEl>
                                          <p:spTgt spid="78"/>
                                        </p:tgtEl>
                                        <p:attrNameLst>
                                          <p:attrName>style.visibility</p:attrName>
                                        </p:attrNameLst>
                                      </p:cBhvr>
                                      <p:to>
                                        <p:strVal val="visible"/>
                                      </p:to>
                                    </p:set>
                                    <p:anim calcmode="lin" valueType="num">
                                      <p:cBhvr additive="base">
                                        <p:cTn id="164" dur="1000"/>
                                        <p:tgtEl>
                                          <p:spTgt spid="78"/>
                                        </p:tgtEl>
                                        <p:attrNameLst>
                                          <p:attrName>ppt_x</p:attrName>
                                        </p:attrNameLst>
                                      </p:cBhvr>
                                      <p:tavLst>
                                        <p:tav tm="0">
                                          <p:val>
                                            <p:strVal val="#ppt_x-#ppt_w*1.125000"/>
                                          </p:val>
                                        </p:tav>
                                        <p:tav tm="100000">
                                          <p:val>
                                            <p:strVal val="#ppt_x"/>
                                          </p:val>
                                        </p:tav>
                                      </p:tavLst>
                                    </p:anim>
                                    <p:animEffect transition="in" filter="wipe(right)">
                                      <p:cBhvr>
                                        <p:cTn id="165" dur="1000"/>
                                        <p:tgtEl>
                                          <p:spTgt spid="78"/>
                                        </p:tgtEl>
                                      </p:cBhvr>
                                    </p:animEffect>
                                  </p:childTnLst>
                                </p:cTn>
                              </p:par>
                            </p:childTnLst>
                          </p:cTn>
                        </p:par>
                        <p:par>
                          <p:cTn id="166" fill="hold">
                            <p:stCondLst>
                              <p:cond delay="1000"/>
                            </p:stCondLst>
                            <p:childTnLst>
                              <p:par>
                                <p:cTn id="167" presetID="1" presetClass="entr" presetSubtype="0" fill="hold" grpId="1" nodeType="afterEffect">
                                  <p:stCondLst>
                                    <p:cond delay="0"/>
                                  </p:stCondLst>
                                  <p:childTnLst>
                                    <p:set>
                                      <p:cBhvr>
                                        <p:cTn id="168" dur="1" fill="hold">
                                          <p:stCondLst>
                                            <p:cond delay="9"/>
                                          </p:stCondLst>
                                        </p:cTn>
                                        <p:tgtEl>
                                          <p:spTgt spid="76"/>
                                        </p:tgtEl>
                                        <p:attrNameLst>
                                          <p:attrName>style.visibility</p:attrName>
                                        </p:attrNameLst>
                                      </p:cBhvr>
                                      <p:to>
                                        <p:strVal val="visible"/>
                                      </p:to>
                                    </p:set>
                                  </p:childTnLst>
                                </p:cTn>
                              </p:par>
                            </p:childTnLst>
                          </p:cTn>
                        </p:par>
                        <p:par>
                          <p:cTn id="169" fill="hold">
                            <p:stCondLst>
                              <p:cond delay="1500"/>
                            </p:stCondLst>
                            <p:childTnLst>
                              <p:par>
                                <p:cTn id="170" presetID="0" presetClass="path" presetSubtype="0" accel="50000" decel="50000" fill="hold" grpId="0" nodeType="afterEffect">
                                  <p:stCondLst>
                                    <p:cond delay="0"/>
                                  </p:stCondLst>
                                  <p:childTnLst>
                                    <p:animMotion origin="layout" path="M 8.33333E-7 -3.33333E-6 C 0.00017 -0.02444 0.00035 -0.04889 0.00069 -0.07333 L -0.0757 -0.10889 L -0.0757 -0.12666 " pathEditMode="relative" rAng="0" ptsTypes="AAAA">
                                      <p:cBhvr>
                                        <p:cTn id="171" dur="2000" fill="hold"/>
                                        <p:tgtEl>
                                          <p:spTgt spid="76"/>
                                        </p:tgtEl>
                                        <p:attrNameLst>
                                          <p:attrName>ppt_x</p:attrName>
                                          <p:attrName>ppt_y</p:attrName>
                                        </p:attrNameLst>
                                      </p:cBhvr>
                                      <p:rCtr x="-3750" y="-6333"/>
                                    </p:animMotion>
                                  </p:childTnLst>
                                </p:cTn>
                              </p:par>
                            </p:childTnLst>
                          </p:cTn>
                        </p:par>
                        <p:par>
                          <p:cTn id="172" fill="hold">
                            <p:stCondLst>
                              <p:cond delay="3500"/>
                            </p:stCondLst>
                            <p:childTnLst>
                              <p:par>
                                <p:cTn id="173" presetID="12" presetClass="entr" presetSubtype="8" fill="hold" grpId="0" nodeType="afterEffect">
                                  <p:stCondLst>
                                    <p:cond delay="0"/>
                                  </p:stCondLst>
                                  <p:childTnLst>
                                    <p:set>
                                      <p:cBhvr>
                                        <p:cTn id="174" dur="1" fill="hold">
                                          <p:stCondLst>
                                            <p:cond delay="0"/>
                                          </p:stCondLst>
                                        </p:cTn>
                                        <p:tgtEl>
                                          <p:spTgt spid="80"/>
                                        </p:tgtEl>
                                        <p:attrNameLst>
                                          <p:attrName>style.visibility</p:attrName>
                                        </p:attrNameLst>
                                      </p:cBhvr>
                                      <p:to>
                                        <p:strVal val="visible"/>
                                      </p:to>
                                    </p:set>
                                    <p:anim calcmode="lin" valueType="num">
                                      <p:cBhvr additive="base">
                                        <p:cTn id="175" dur="1000"/>
                                        <p:tgtEl>
                                          <p:spTgt spid="80"/>
                                        </p:tgtEl>
                                        <p:attrNameLst>
                                          <p:attrName>ppt_x</p:attrName>
                                        </p:attrNameLst>
                                      </p:cBhvr>
                                      <p:tavLst>
                                        <p:tav tm="0">
                                          <p:val>
                                            <p:strVal val="#ppt_x-#ppt_w*1.125000"/>
                                          </p:val>
                                        </p:tav>
                                        <p:tav tm="100000">
                                          <p:val>
                                            <p:strVal val="#ppt_x"/>
                                          </p:val>
                                        </p:tav>
                                      </p:tavLst>
                                    </p:anim>
                                    <p:animEffect transition="in" filter="wipe(right)">
                                      <p:cBhvr>
                                        <p:cTn id="176" dur="1000"/>
                                        <p:tgtEl>
                                          <p:spTgt spid="80"/>
                                        </p:tgtEl>
                                      </p:cBhvr>
                                    </p:animEffect>
                                  </p:child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grpId="0" nodeType="clickEffect">
                                  <p:stCondLst>
                                    <p:cond delay="0"/>
                                  </p:stCondLst>
                                  <p:childTnLst>
                                    <p:set>
                                      <p:cBhvr>
                                        <p:cTn id="180" dur="1" fill="hold">
                                          <p:stCondLst>
                                            <p:cond delay="0"/>
                                          </p:stCondLst>
                                        </p:cTn>
                                        <p:tgtEl>
                                          <p:spTgt spid="90"/>
                                        </p:tgtEl>
                                        <p:attrNameLst>
                                          <p:attrName>style.visibility</p:attrName>
                                        </p:attrNameLst>
                                      </p:cBhvr>
                                      <p:to>
                                        <p:strVal val="visible"/>
                                      </p:to>
                                    </p:set>
                                    <p:animEffect transition="in" filter="wipe(left)">
                                      <p:cBhvr>
                                        <p:cTn id="181" dur="1000"/>
                                        <p:tgtEl>
                                          <p:spTgt spid="90"/>
                                        </p:tgtEl>
                                      </p:cBhvr>
                                    </p:animEffect>
                                  </p:childTnLst>
                                </p:cTn>
                              </p:par>
                            </p:childTnLst>
                          </p:cTn>
                        </p:par>
                        <p:par>
                          <p:cTn id="182" fill="hold">
                            <p:stCondLst>
                              <p:cond delay="1000"/>
                            </p:stCondLst>
                            <p:childTnLst>
                              <p:par>
                                <p:cTn id="183" presetID="12" presetClass="entr" presetSubtype="8" fill="hold" grpId="0" nodeType="afterEffect">
                                  <p:stCondLst>
                                    <p:cond delay="0"/>
                                  </p:stCondLst>
                                  <p:childTnLst>
                                    <p:set>
                                      <p:cBhvr>
                                        <p:cTn id="184" dur="1" fill="hold">
                                          <p:stCondLst>
                                            <p:cond delay="0"/>
                                          </p:stCondLst>
                                        </p:cTn>
                                        <p:tgtEl>
                                          <p:spTgt spid="82"/>
                                        </p:tgtEl>
                                        <p:attrNameLst>
                                          <p:attrName>style.visibility</p:attrName>
                                        </p:attrNameLst>
                                      </p:cBhvr>
                                      <p:to>
                                        <p:strVal val="visible"/>
                                      </p:to>
                                    </p:set>
                                    <p:anim calcmode="lin" valueType="num">
                                      <p:cBhvr additive="base">
                                        <p:cTn id="185" dur="1000"/>
                                        <p:tgtEl>
                                          <p:spTgt spid="82"/>
                                        </p:tgtEl>
                                        <p:attrNameLst>
                                          <p:attrName>ppt_x</p:attrName>
                                        </p:attrNameLst>
                                      </p:cBhvr>
                                      <p:tavLst>
                                        <p:tav tm="0">
                                          <p:val>
                                            <p:strVal val="#ppt_x-#ppt_w*1.125000"/>
                                          </p:val>
                                        </p:tav>
                                        <p:tav tm="100000">
                                          <p:val>
                                            <p:strVal val="#ppt_x"/>
                                          </p:val>
                                        </p:tav>
                                      </p:tavLst>
                                    </p:anim>
                                    <p:animEffect transition="in" filter="wipe(right)">
                                      <p:cBhvr>
                                        <p:cTn id="186" dur="1000"/>
                                        <p:tgtEl>
                                          <p:spTgt spid="82"/>
                                        </p:tgtEl>
                                      </p:cBhvr>
                                    </p:animEffect>
                                  </p:childTnLst>
                                </p:cTn>
                              </p:par>
                            </p:childTnLst>
                          </p:cTn>
                        </p:par>
                        <p:par>
                          <p:cTn id="187" fill="hold">
                            <p:stCondLst>
                              <p:cond delay="2000"/>
                            </p:stCondLst>
                            <p:childTnLst>
                              <p:par>
                                <p:cTn id="188" presetID="12" presetClass="entr" presetSubtype="8" fill="hold" grpId="0" nodeType="afterEffect">
                                  <p:stCondLst>
                                    <p:cond delay="0"/>
                                  </p:stCondLst>
                                  <p:childTnLst>
                                    <p:set>
                                      <p:cBhvr>
                                        <p:cTn id="189" dur="1" fill="hold">
                                          <p:stCondLst>
                                            <p:cond delay="0"/>
                                          </p:stCondLst>
                                        </p:cTn>
                                        <p:tgtEl>
                                          <p:spTgt spid="83"/>
                                        </p:tgtEl>
                                        <p:attrNameLst>
                                          <p:attrName>style.visibility</p:attrName>
                                        </p:attrNameLst>
                                      </p:cBhvr>
                                      <p:to>
                                        <p:strVal val="visible"/>
                                      </p:to>
                                    </p:set>
                                    <p:anim calcmode="lin" valueType="num">
                                      <p:cBhvr additive="base">
                                        <p:cTn id="190" dur="1000"/>
                                        <p:tgtEl>
                                          <p:spTgt spid="83"/>
                                        </p:tgtEl>
                                        <p:attrNameLst>
                                          <p:attrName>ppt_x</p:attrName>
                                        </p:attrNameLst>
                                      </p:cBhvr>
                                      <p:tavLst>
                                        <p:tav tm="0">
                                          <p:val>
                                            <p:strVal val="#ppt_x-#ppt_w*1.125000"/>
                                          </p:val>
                                        </p:tav>
                                        <p:tav tm="100000">
                                          <p:val>
                                            <p:strVal val="#ppt_x"/>
                                          </p:val>
                                        </p:tav>
                                      </p:tavLst>
                                    </p:anim>
                                    <p:animEffect transition="in" filter="wipe(right)">
                                      <p:cBhvr>
                                        <p:cTn id="191" dur="1000"/>
                                        <p:tgtEl>
                                          <p:spTgt spid="83"/>
                                        </p:tgtEl>
                                      </p:cBhvr>
                                    </p:animEffect>
                                  </p:childTnLst>
                                </p:cTn>
                              </p:par>
                            </p:childTnLst>
                          </p:cTn>
                        </p:par>
                      </p:childTnLst>
                    </p:cTn>
                  </p:par>
                  <p:par>
                    <p:cTn id="192" fill="hold">
                      <p:stCondLst>
                        <p:cond delay="indefinite"/>
                      </p:stCondLst>
                      <p:childTnLst>
                        <p:par>
                          <p:cTn id="193" fill="hold">
                            <p:stCondLst>
                              <p:cond delay="0"/>
                            </p:stCondLst>
                            <p:childTnLst>
                              <p:par>
                                <p:cTn id="194" presetID="17" presetClass="entr" presetSubtype="1" fill="hold" nodeType="clickEffect">
                                  <p:stCondLst>
                                    <p:cond delay="0"/>
                                  </p:stCondLst>
                                  <p:childTnLst>
                                    <p:set>
                                      <p:cBhvr>
                                        <p:cTn id="195" dur="1" fill="hold">
                                          <p:stCondLst>
                                            <p:cond delay="0"/>
                                          </p:stCondLst>
                                        </p:cTn>
                                        <p:tgtEl>
                                          <p:spTgt spid="85"/>
                                        </p:tgtEl>
                                        <p:attrNameLst>
                                          <p:attrName>style.visibility</p:attrName>
                                        </p:attrNameLst>
                                      </p:cBhvr>
                                      <p:to>
                                        <p:strVal val="visible"/>
                                      </p:to>
                                    </p:set>
                                    <p:anim calcmode="lin" valueType="num">
                                      <p:cBhvr>
                                        <p:cTn id="196" dur="1000" fill="hold"/>
                                        <p:tgtEl>
                                          <p:spTgt spid="85"/>
                                        </p:tgtEl>
                                        <p:attrNameLst>
                                          <p:attrName>ppt_x</p:attrName>
                                        </p:attrNameLst>
                                      </p:cBhvr>
                                      <p:tavLst>
                                        <p:tav tm="0">
                                          <p:val>
                                            <p:strVal val="#ppt_x"/>
                                          </p:val>
                                        </p:tav>
                                        <p:tav tm="100000">
                                          <p:val>
                                            <p:strVal val="#ppt_x"/>
                                          </p:val>
                                        </p:tav>
                                      </p:tavLst>
                                    </p:anim>
                                    <p:anim calcmode="lin" valueType="num">
                                      <p:cBhvr>
                                        <p:cTn id="197" dur="1000" fill="hold"/>
                                        <p:tgtEl>
                                          <p:spTgt spid="85"/>
                                        </p:tgtEl>
                                        <p:attrNameLst>
                                          <p:attrName>ppt_y</p:attrName>
                                        </p:attrNameLst>
                                      </p:cBhvr>
                                      <p:tavLst>
                                        <p:tav tm="0">
                                          <p:val>
                                            <p:strVal val="#ppt_y-#ppt_h/2"/>
                                          </p:val>
                                        </p:tav>
                                        <p:tav tm="100000">
                                          <p:val>
                                            <p:strVal val="#ppt_y"/>
                                          </p:val>
                                        </p:tav>
                                      </p:tavLst>
                                    </p:anim>
                                    <p:anim calcmode="lin" valueType="num">
                                      <p:cBhvr>
                                        <p:cTn id="198" dur="1000" fill="hold"/>
                                        <p:tgtEl>
                                          <p:spTgt spid="85"/>
                                        </p:tgtEl>
                                        <p:attrNameLst>
                                          <p:attrName>ppt_w</p:attrName>
                                        </p:attrNameLst>
                                      </p:cBhvr>
                                      <p:tavLst>
                                        <p:tav tm="0">
                                          <p:val>
                                            <p:strVal val="#ppt_w"/>
                                          </p:val>
                                        </p:tav>
                                        <p:tav tm="100000">
                                          <p:val>
                                            <p:strVal val="#ppt_w"/>
                                          </p:val>
                                        </p:tav>
                                      </p:tavLst>
                                    </p:anim>
                                    <p:anim calcmode="lin" valueType="num">
                                      <p:cBhvr>
                                        <p:cTn id="199" dur="1000" fill="hold"/>
                                        <p:tgtEl>
                                          <p:spTgt spid="85"/>
                                        </p:tgtEl>
                                        <p:attrNameLst>
                                          <p:attrName>ppt_h</p:attrName>
                                        </p:attrNameLst>
                                      </p:cBhvr>
                                      <p:tavLst>
                                        <p:tav tm="0">
                                          <p:val>
                                            <p:fltVal val="0"/>
                                          </p:val>
                                        </p:tav>
                                        <p:tav tm="100000">
                                          <p:val>
                                            <p:strVal val="#ppt_h"/>
                                          </p:val>
                                        </p:tav>
                                      </p:tavLst>
                                    </p:anim>
                                  </p:childTnLst>
                                </p:cTn>
                              </p:par>
                            </p:childTnLst>
                          </p:cTn>
                        </p:par>
                        <p:par>
                          <p:cTn id="200" fill="hold">
                            <p:stCondLst>
                              <p:cond delay="1000"/>
                            </p:stCondLst>
                            <p:childTnLst>
                              <p:par>
                                <p:cTn id="201" presetID="22" presetClass="entr" presetSubtype="8" fill="hold" grpId="0" nodeType="afterEffect">
                                  <p:stCondLst>
                                    <p:cond delay="0"/>
                                  </p:stCondLst>
                                  <p:childTnLst>
                                    <p:set>
                                      <p:cBhvr>
                                        <p:cTn id="202" dur="1" fill="hold">
                                          <p:stCondLst>
                                            <p:cond delay="0"/>
                                          </p:stCondLst>
                                        </p:cTn>
                                        <p:tgtEl>
                                          <p:spTgt spid="86"/>
                                        </p:tgtEl>
                                        <p:attrNameLst>
                                          <p:attrName>style.visibility</p:attrName>
                                        </p:attrNameLst>
                                      </p:cBhvr>
                                      <p:to>
                                        <p:strVal val="visible"/>
                                      </p:to>
                                    </p:set>
                                    <p:animEffect transition="in" filter="wipe(left)">
                                      <p:cBhvr>
                                        <p:cTn id="203"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51" grpId="0" animBg="1"/>
      <p:bldP spid="52" grpId="0" animBg="1"/>
      <p:bldP spid="55" grpId="0" animBg="1"/>
      <p:bldP spid="57" grpId="0" animBg="1"/>
      <p:bldP spid="57" grpId="1" animBg="1"/>
      <p:bldP spid="56" grpId="0" animBg="1"/>
      <p:bldP spid="56" grpId="1" animBg="1"/>
      <p:bldP spid="58" grpId="0" animBg="1"/>
      <p:bldP spid="59" grpId="0" animBg="1"/>
      <p:bldP spid="60" grpId="0" animBg="1"/>
      <p:bldP spid="62" grpId="0" animBg="1"/>
      <p:bldP spid="63" grpId="0" animBg="1"/>
      <p:bldP spid="68" grpId="0" animBg="1"/>
      <p:bldP spid="69" grpId="0" animBg="1"/>
      <p:bldP spid="70" grpId="0" animBg="1"/>
      <p:bldP spid="71" grpId="0" animBg="1"/>
      <p:bldP spid="75" grpId="0" animBg="1"/>
      <p:bldP spid="77" grpId="0" animBg="1"/>
      <p:bldP spid="77" grpId="1" animBg="1"/>
      <p:bldP spid="78" grpId="0" animBg="1"/>
      <p:bldP spid="79" grpId="0" animBg="1"/>
      <p:bldP spid="80" grpId="0" animBg="1"/>
      <p:bldP spid="82" grpId="0" animBg="1"/>
      <p:bldP spid="83" grpId="0" animBg="1"/>
      <p:bldP spid="76" grpId="0" animBg="1"/>
      <p:bldP spid="76" grpId="1" animBg="1"/>
      <p:bldP spid="47" grpId="0"/>
      <p:bldP spid="81" grpId="0" animBg="1"/>
      <p:bldP spid="84" grpId="0" animBg="1"/>
      <p:bldP spid="86" grpId="0" animBg="1"/>
      <p:bldP spid="89" grpId="0" animBg="1"/>
      <p:bldP spid="9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877035" y="1839925"/>
            <a:ext cx="3535426" cy="3375518"/>
            <a:chOff x="1870881" y="1750462"/>
            <a:chExt cx="3535426" cy="3375518"/>
          </a:xfrm>
        </p:grpSpPr>
        <p:graphicFrame>
          <p:nvGraphicFramePr>
            <p:cNvPr id="6" name="对象 5"/>
            <p:cNvGraphicFramePr>
              <a:graphicFrameLocks noChangeAspect="1"/>
            </p:cNvGraphicFramePr>
            <p:nvPr/>
          </p:nvGraphicFramePr>
          <p:xfrm>
            <a:off x="2091782" y="1802751"/>
            <a:ext cx="3174362" cy="3203575"/>
          </p:xfrm>
          <a:graphic>
            <a:graphicData uri="http://schemas.openxmlformats.org/presentationml/2006/ole">
              <mc:AlternateContent xmlns:mc="http://schemas.openxmlformats.org/markup-compatibility/2006">
                <mc:Choice xmlns:v="urn:schemas-microsoft-com:vml" Requires="v">
                  <p:oleObj spid="_x0000_s26634" name="Visio" r:id="rId1" imgW="1925955" imgH="2033270" progId="Visio.Drawing.11">
                    <p:embed/>
                  </p:oleObj>
                </mc:Choice>
                <mc:Fallback>
                  <p:oleObj name="Visio" r:id="rId1" imgW="1925955" imgH="2033270" progId="Visio.Drawing.11">
                    <p:embed/>
                    <p:pic>
                      <p:nvPicPr>
                        <p:cNvPr id="0" name="对象 5"/>
                        <p:cNvPicPr>
                          <a:picLocks noChangeAspect="1" noChangeArrowheads="1"/>
                        </p:cNvPicPr>
                        <p:nvPr/>
                      </p:nvPicPr>
                      <p:blipFill>
                        <a:blip r:embed="rId2"/>
                        <a:srcRect/>
                        <a:stretch>
                          <a:fillRect/>
                        </a:stretch>
                      </p:blipFill>
                      <p:spPr bwMode="auto">
                        <a:xfrm>
                          <a:off x="2091782" y="1802751"/>
                          <a:ext cx="3174362" cy="3203575"/>
                        </a:xfrm>
                        <a:prstGeom prst="rect">
                          <a:avLst/>
                        </a:prstGeom>
                        <a:noFill/>
                      </p:spPr>
                    </p:pic>
                  </p:oleObj>
                </mc:Fallback>
              </mc:AlternateContent>
            </a:graphicData>
          </a:graphic>
        </p:graphicFrame>
        <p:sp>
          <p:nvSpPr>
            <p:cNvPr id="29" name="剪去对角的矩形 28"/>
            <p:cNvSpPr/>
            <p:nvPr/>
          </p:nvSpPr>
          <p:spPr>
            <a:xfrm>
              <a:off x="1870881" y="1750462"/>
              <a:ext cx="3535426" cy="3375518"/>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5" name="Oval 36"/>
          <p:cNvSpPr>
            <a:spLocks noChangeArrowheads="1"/>
          </p:cNvSpPr>
          <p:nvPr/>
        </p:nvSpPr>
        <p:spPr bwMode="auto">
          <a:xfrm>
            <a:off x="1367658" y="469005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46" name="Oval 36"/>
          <p:cNvSpPr>
            <a:spLocks noChangeArrowheads="1"/>
          </p:cNvSpPr>
          <p:nvPr/>
        </p:nvSpPr>
        <p:spPr bwMode="auto">
          <a:xfrm>
            <a:off x="1353372" y="3387884"/>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2908995" y="2257507"/>
            <a:ext cx="1426062" cy="2009276"/>
            <a:chOff x="2908995" y="2162257"/>
            <a:chExt cx="1426062" cy="2009276"/>
          </a:xfrm>
        </p:grpSpPr>
        <p:sp>
          <p:nvSpPr>
            <p:cNvPr id="53" name="圆角矩形 52"/>
            <p:cNvSpPr/>
            <p:nvPr/>
          </p:nvSpPr>
          <p:spPr>
            <a:xfrm>
              <a:off x="2908995" y="2629735"/>
              <a:ext cx="1282562" cy="1541798"/>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标注 53"/>
            <p:cNvSpPr/>
            <p:nvPr/>
          </p:nvSpPr>
          <p:spPr>
            <a:xfrm>
              <a:off x="3324198" y="2162257"/>
              <a:ext cx="1010859" cy="347824"/>
            </a:xfrm>
            <a:prstGeom prst="wedgeRoundRectCallout">
              <a:avLst>
                <a:gd name="adj1" fmla="val -35071"/>
                <a:gd name="adj2" fmla="val 9087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58" name="Oval 36"/>
          <p:cNvSpPr>
            <a:spLocks noChangeArrowheads="1"/>
          </p:cNvSpPr>
          <p:nvPr/>
        </p:nvSpPr>
        <p:spPr bwMode="auto">
          <a:xfrm>
            <a:off x="1353372" y="339050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2" name="Oval 36"/>
          <p:cNvSpPr>
            <a:spLocks noChangeArrowheads="1"/>
          </p:cNvSpPr>
          <p:nvPr/>
        </p:nvSpPr>
        <p:spPr bwMode="auto">
          <a:xfrm>
            <a:off x="4103383" y="3779091"/>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3" name="Oval 36"/>
          <p:cNvSpPr>
            <a:spLocks noChangeArrowheads="1"/>
          </p:cNvSpPr>
          <p:nvPr/>
        </p:nvSpPr>
        <p:spPr bwMode="auto">
          <a:xfrm>
            <a:off x="4089761" y="302291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65" name="组合 64"/>
          <p:cNvGrpSpPr/>
          <p:nvPr/>
        </p:nvGrpSpPr>
        <p:grpSpPr>
          <a:xfrm>
            <a:off x="5039657" y="1839925"/>
            <a:ext cx="3535426" cy="3375518"/>
            <a:chOff x="1870881" y="1750462"/>
            <a:chExt cx="3535426" cy="3375518"/>
          </a:xfrm>
        </p:grpSpPr>
        <p:graphicFrame>
          <p:nvGraphicFramePr>
            <p:cNvPr id="66" name="对象 65"/>
            <p:cNvGraphicFramePr>
              <a:graphicFrameLocks noChangeAspect="1"/>
            </p:cNvGraphicFramePr>
            <p:nvPr/>
          </p:nvGraphicFramePr>
          <p:xfrm>
            <a:off x="2091782" y="1802751"/>
            <a:ext cx="3174362" cy="3203575"/>
          </p:xfrm>
          <a:graphic>
            <a:graphicData uri="http://schemas.openxmlformats.org/presentationml/2006/ole">
              <mc:AlternateContent xmlns:mc="http://schemas.openxmlformats.org/markup-compatibility/2006">
                <mc:Choice xmlns:v="urn:schemas-microsoft-com:vml" Requires="v">
                  <p:oleObj spid="_x0000_s26635" name="Visio" r:id="rId3" imgW="1925955" imgH="2033270" progId="Visio.Drawing.11">
                    <p:embed/>
                  </p:oleObj>
                </mc:Choice>
                <mc:Fallback>
                  <p:oleObj name="Visio" r:id="rId3" imgW="1925955" imgH="2033270" progId="Visio.Drawing.11">
                    <p:embed/>
                    <p:pic>
                      <p:nvPicPr>
                        <p:cNvPr id="0" name="对象 65"/>
                        <p:cNvPicPr>
                          <a:picLocks noChangeAspect="1" noChangeArrowheads="1"/>
                        </p:cNvPicPr>
                        <p:nvPr/>
                      </p:nvPicPr>
                      <p:blipFill>
                        <a:blip r:embed="rId2"/>
                        <a:srcRect/>
                        <a:stretch>
                          <a:fillRect/>
                        </a:stretch>
                      </p:blipFill>
                      <p:spPr bwMode="auto">
                        <a:xfrm>
                          <a:off x="2091782" y="1802751"/>
                          <a:ext cx="3174362" cy="3203575"/>
                        </a:xfrm>
                        <a:prstGeom prst="rect">
                          <a:avLst/>
                        </a:prstGeom>
                        <a:noFill/>
                      </p:spPr>
                    </p:pic>
                  </p:oleObj>
                </mc:Fallback>
              </mc:AlternateContent>
            </a:graphicData>
          </a:graphic>
        </p:graphicFrame>
        <p:sp>
          <p:nvSpPr>
            <p:cNvPr id="67" name="剪去对角的矩形 66"/>
            <p:cNvSpPr/>
            <p:nvPr/>
          </p:nvSpPr>
          <p:spPr>
            <a:xfrm>
              <a:off x="1870881" y="1750462"/>
              <a:ext cx="3535426" cy="3375518"/>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8" name="Oval 36"/>
          <p:cNvSpPr>
            <a:spLocks noChangeArrowheads="1"/>
          </p:cNvSpPr>
          <p:nvPr/>
        </p:nvSpPr>
        <p:spPr bwMode="auto">
          <a:xfrm>
            <a:off x="5530280" y="4690055"/>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69" name="Oval 36"/>
          <p:cNvSpPr>
            <a:spLocks noChangeArrowheads="1"/>
          </p:cNvSpPr>
          <p:nvPr/>
        </p:nvSpPr>
        <p:spPr bwMode="auto">
          <a:xfrm>
            <a:off x="5515994" y="3387884"/>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7071617" y="2257507"/>
            <a:ext cx="1426062" cy="2009276"/>
            <a:chOff x="2908995" y="2162257"/>
            <a:chExt cx="1426062" cy="2009276"/>
          </a:xfrm>
        </p:grpSpPr>
        <p:sp>
          <p:nvSpPr>
            <p:cNvPr id="73" name="圆角矩形 72"/>
            <p:cNvSpPr/>
            <p:nvPr/>
          </p:nvSpPr>
          <p:spPr>
            <a:xfrm>
              <a:off x="2908995" y="2629735"/>
              <a:ext cx="1282562" cy="1541798"/>
            </a:xfrm>
            <a:prstGeom prst="roundRect">
              <a:avLst>
                <a:gd name="adj" fmla="val 7233"/>
              </a:avLst>
            </a:prstGeom>
            <a:solidFill>
              <a:srgbClr val="00FF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标注 73"/>
            <p:cNvSpPr/>
            <p:nvPr/>
          </p:nvSpPr>
          <p:spPr>
            <a:xfrm>
              <a:off x="3324198" y="2162257"/>
              <a:ext cx="1010859" cy="347824"/>
            </a:xfrm>
            <a:prstGeom prst="wedgeRoundRectCallout">
              <a:avLst>
                <a:gd name="adj1" fmla="val -35071"/>
                <a:gd name="adj2" fmla="val 9087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状态保持</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78" name="Oval 36"/>
          <p:cNvSpPr>
            <a:spLocks noChangeArrowheads="1"/>
          </p:cNvSpPr>
          <p:nvPr/>
        </p:nvSpPr>
        <p:spPr bwMode="auto">
          <a:xfrm>
            <a:off x="5515994" y="3390503"/>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2" name="Oval 36"/>
          <p:cNvSpPr>
            <a:spLocks noChangeArrowheads="1"/>
          </p:cNvSpPr>
          <p:nvPr/>
        </p:nvSpPr>
        <p:spPr bwMode="auto">
          <a:xfrm>
            <a:off x="8247468" y="3022913"/>
            <a:ext cx="216000" cy="216000"/>
          </a:xfrm>
          <a:prstGeom prst="ellipse">
            <a:avLst/>
          </a:prstGeom>
          <a:solidFill>
            <a:srgbClr val="0000FF"/>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0</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3" name="Oval 36"/>
          <p:cNvSpPr>
            <a:spLocks noChangeArrowheads="1"/>
          </p:cNvSpPr>
          <p:nvPr/>
        </p:nvSpPr>
        <p:spPr bwMode="auto">
          <a:xfrm>
            <a:off x="8277557" y="3762325"/>
            <a:ext cx="216000" cy="216000"/>
          </a:xfrm>
          <a:prstGeom prst="ellipse">
            <a:avLst/>
          </a:prstGeom>
          <a:solidFill>
            <a:srgbClr val="FF0000"/>
          </a:solidFill>
          <a:ln w="9525">
            <a:noFill/>
            <a:round/>
          </a:ln>
        </p:spPr>
        <p:txBody>
          <a:bodyPr wrap="none" lIns="0" tIns="0" rIns="0" bIns="0" anchor="ctr"/>
          <a:lstStyle/>
          <a:p>
            <a:pPr algn="ctr"/>
            <a:r>
              <a:rPr lang="en-US" altLang="zh-CN" sz="1200" b="1" dirty="0">
                <a:solidFill>
                  <a:schemeClr val="bg1"/>
                </a:solidFill>
                <a:latin typeface="微软雅黑" panose="020B0503020204020204" pitchFamily="34" charset="-122"/>
                <a:ea typeface="微软雅黑" panose="020B0503020204020204" pitchFamily="34" charset="-122"/>
              </a:rPr>
              <a:t>1</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28" name="Rectangle 6"/>
          <p:cNvSpPr>
            <a:spLocks noChangeArrowheads="1"/>
          </p:cNvSpPr>
          <p:nvPr/>
        </p:nvSpPr>
        <p:spPr bwMode="auto">
          <a:xfrm>
            <a:off x="443078" y="1314047"/>
            <a:ext cx="2647950" cy="369332"/>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、工作原理</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392432" y="778617"/>
            <a:ext cx="3605564" cy="420971"/>
            <a:chOff x="670560" y="892917"/>
            <a:chExt cx="3605564" cy="420971"/>
          </a:xfrm>
        </p:grpSpPr>
        <p:sp>
          <p:nvSpPr>
            <p:cNvPr id="31" name="矩形 30"/>
            <p:cNvSpPr/>
            <p:nvPr/>
          </p:nvSpPr>
          <p:spPr>
            <a:xfrm>
              <a:off x="1035231" y="913778"/>
              <a:ext cx="3240893"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r>
                <a:rPr lang="zh-CN" altLang="en-US" sz="1400" b="1" dirty="0">
                  <a:solidFill>
                    <a:srgbClr val="6600FF"/>
                  </a:solidFill>
                  <a:latin typeface="微软雅黑" panose="020B0503020204020204" pitchFamily="34" charset="-122"/>
                  <a:ea typeface="微软雅黑" panose="020B0503020204020204" pitchFamily="34" charset="-122"/>
                </a:rPr>
                <a:t>维持阻塞</a:t>
              </a:r>
              <a:r>
                <a:rPr lang="en-US" altLang="zh-CN" sz="1400" b="1" dirty="0">
                  <a:solidFill>
                    <a:srgbClr val="6600FF"/>
                  </a:solidFill>
                  <a:latin typeface="微软雅黑" panose="020B0503020204020204" pitchFamily="34" charset="-122"/>
                  <a:ea typeface="微软雅黑" panose="020B0503020204020204" pitchFamily="34" charset="-122"/>
                </a:rPr>
                <a:t>D</a:t>
              </a:r>
              <a:r>
                <a:rPr lang="zh-CN" altLang="en-US" sz="1400" b="1" dirty="0">
                  <a:solidFill>
                    <a:srgbClr val="6600FF"/>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endParaRPr lang="zh-CN" altLang="en-US" sz="1400" b="1" dirty="0">
                <a:solidFill>
                  <a:srgbClr val="6600FF"/>
                </a:solidFill>
                <a:latin typeface="微软雅黑" panose="020B0503020204020204" pitchFamily="34" charset="-122"/>
                <a:ea typeface="微软雅黑" panose="020B0503020204020204" pitchFamily="34" charset="-122"/>
              </a:endParaRPr>
            </a:p>
          </p:txBody>
        </p:sp>
        <p:pic>
          <p:nvPicPr>
            <p:cNvPr id="3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6" name="圆角矩形 38"/>
          <p:cNvSpPr/>
          <p:nvPr/>
        </p:nvSpPr>
        <p:spPr>
          <a:xfrm>
            <a:off x="5623994" y="1170131"/>
            <a:ext cx="2415540" cy="480060"/>
          </a:xfrm>
          <a:prstGeom prst="roundRect">
            <a:avLst/>
          </a:prstGeom>
          <a:solidFill>
            <a:srgbClr val="FFC000"/>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特性方程：</a:t>
            </a:r>
            <a:r>
              <a:rPr kumimoji="1"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b="1" i="1" baseline="30000"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b="1" baseline="30000"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b="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b="1" i="1" dirty="0">
                <a:solidFill>
                  <a:srgbClr val="CC00CC"/>
                </a:solidFill>
                <a:latin typeface="Times New Roman" panose="02020603050405020304" pitchFamily="18" charset="0"/>
                <a:ea typeface="宋体" panose="02010600030101010101" pitchFamily="2" charset="-122"/>
                <a:cs typeface="Times New Roman" panose="02020603050405020304" pitchFamily="18" charset="0"/>
              </a:rPr>
              <a:t>D</a:t>
            </a:r>
            <a:endParaRPr lang="zh-CN" altLang="en-US" b="1" dirty="0">
              <a:solidFill>
                <a:srgbClr val="CC00CC"/>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additive="base">
                                        <p:cTn id="7" dur="1000"/>
                                        <p:tgtEl>
                                          <p:spTgt spid="46"/>
                                        </p:tgtEl>
                                        <p:attrNameLst>
                                          <p:attrName>ppt_x</p:attrName>
                                        </p:attrNameLst>
                                      </p:cBhvr>
                                      <p:tavLst>
                                        <p:tav tm="0">
                                          <p:val>
                                            <p:strVal val="#ppt_x-#ppt_w*1.125000"/>
                                          </p:val>
                                        </p:tav>
                                        <p:tav tm="100000">
                                          <p:val>
                                            <p:strVal val="#ppt_x"/>
                                          </p:val>
                                        </p:tav>
                                      </p:tavLst>
                                    </p:anim>
                                    <p:animEffect transition="in" filter="wipe(right)">
                                      <p:cBhvr>
                                        <p:cTn id="8" dur="1000"/>
                                        <p:tgtEl>
                                          <p:spTgt spid="46"/>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69"/>
                                        </p:tgtEl>
                                        <p:attrNameLst>
                                          <p:attrName>style.visibility</p:attrName>
                                        </p:attrNameLst>
                                      </p:cBhvr>
                                      <p:to>
                                        <p:strVal val="visible"/>
                                      </p:to>
                                    </p:set>
                                    <p:anim calcmode="lin" valueType="num">
                                      <p:cBhvr additive="base">
                                        <p:cTn id="11" dur="1000"/>
                                        <p:tgtEl>
                                          <p:spTgt spid="69"/>
                                        </p:tgtEl>
                                        <p:attrNameLst>
                                          <p:attrName>ppt_x</p:attrName>
                                        </p:attrNameLst>
                                      </p:cBhvr>
                                      <p:tavLst>
                                        <p:tav tm="0">
                                          <p:val>
                                            <p:strVal val="#ppt_x-#ppt_w*1.125000"/>
                                          </p:val>
                                        </p:tav>
                                        <p:tav tm="100000">
                                          <p:val>
                                            <p:strVal val="#ppt_x"/>
                                          </p:val>
                                        </p:tav>
                                      </p:tavLst>
                                    </p:anim>
                                    <p:animEffect transition="in" filter="wipe(right)">
                                      <p:cBhvr>
                                        <p:cTn id="12" dur="1000"/>
                                        <p:tgtEl>
                                          <p:spTgt spid="69"/>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1000"/>
                                        <p:tgtEl>
                                          <p:spTgt spid="12"/>
                                        </p:tgtEl>
                                      </p:cBhvr>
                                    </p:animEffect>
                                  </p:childTnLst>
                                </p:cTn>
                              </p:par>
                              <p:par>
                                <p:cTn id="17" presetID="22" presetClass="entr" presetSubtype="8" fill="hold" nodeType="withEffect">
                                  <p:stCondLst>
                                    <p:cond delay="0"/>
                                  </p:stCondLst>
                                  <p:childTnLst>
                                    <p:set>
                                      <p:cBhvr>
                                        <p:cTn id="18" dur="1" fill="hold">
                                          <p:stCondLst>
                                            <p:cond delay="0"/>
                                          </p:stCondLst>
                                        </p:cTn>
                                        <p:tgtEl>
                                          <p:spTgt spid="72"/>
                                        </p:tgtEl>
                                        <p:attrNameLst>
                                          <p:attrName>style.visibility</p:attrName>
                                        </p:attrNameLst>
                                      </p:cBhvr>
                                      <p:to>
                                        <p:strVal val="visible"/>
                                      </p:to>
                                    </p:set>
                                    <p:animEffect transition="in" filter="wipe(left)">
                                      <p:cBhvr>
                                        <p:cTn id="19" dur="1000"/>
                                        <p:tgtEl>
                                          <p:spTgt spid="72"/>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xit" presetSubtype="0" fill="hold" nodeType="clickEffect">
                                  <p:stCondLst>
                                    <p:cond delay="0"/>
                                  </p:stCondLst>
                                  <p:childTnLst>
                                    <p:animEffect transition="out" filter="fade">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par>
                                <p:cTn id="25" presetID="10" presetClass="exit" presetSubtype="0" fill="hold" nodeType="withEffect">
                                  <p:stCondLst>
                                    <p:cond delay="0"/>
                                  </p:stCondLst>
                                  <p:childTnLst>
                                    <p:animEffect transition="out" filter="fade">
                                      <p:cBhvr>
                                        <p:cTn id="26" dur="500"/>
                                        <p:tgtEl>
                                          <p:spTgt spid="72"/>
                                        </p:tgtEl>
                                      </p:cBhvr>
                                    </p:animEffect>
                                    <p:set>
                                      <p:cBhvr>
                                        <p:cTn id="27" dur="1" fill="hold">
                                          <p:stCondLst>
                                            <p:cond delay="499"/>
                                          </p:stCondLst>
                                        </p:cTn>
                                        <p:tgtEl>
                                          <p:spTgt spid="72"/>
                                        </p:tgtEl>
                                        <p:attrNameLst>
                                          <p:attrName>style.visibility</p:attrName>
                                        </p:attrNameLst>
                                      </p:cBhvr>
                                      <p:to>
                                        <p:strVal val="hidden"/>
                                      </p:to>
                                    </p:set>
                                  </p:childTnLst>
                                </p:cTn>
                              </p:par>
                            </p:childTnLst>
                          </p:cTn>
                        </p:par>
                        <p:par>
                          <p:cTn id="28" fill="hold">
                            <p:stCondLst>
                              <p:cond delay="500"/>
                            </p:stCondLst>
                            <p:childTnLst>
                              <p:par>
                                <p:cTn id="29" presetID="12" presetClass="entr" presetSubtype="8" fill="hold" grpId="0" nodeType="after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additive="base">
                                        <p:cTn id="31" dur="1000"/>
                                        <p:tgtEl>
                                          <p:spTgt spid="58"/>
                                        </p:tgtEl>
                                        <p:attrNameLst>
                                          <p:attrName>ppt_x</p:attrName>
                                        </p:attrNameLst>
                                      </p:cBhvr>
                                      <p:tavLst>
                                        <p:tav tm="0">
                                          <p:val>
                                            <p:strVal val="#ppt_x-#ppt_w*1.125000"/>
                                          </p:val>
                                        </p:tav>
                                        <p:tav tm="100000">
                                          <p:val>
                                            <p:strVal val="#ppt_x"/>
                                          </p:val>
                                        </p:tav>
                                      </p:tavLst>
                                    </p:anim>
                                    <p:animEffect transition="in" filter="wipe(right)">
                                      <p:cBhvr>
                                        <p:cTn id="32" dur="1000"/>
                                        <p:tgtEl>
                                          <p:spTgt spid="58"/>
                                        </p:tgtEl>
                                      </p:cBhvr>
                                    </p:animEffect>
                                  </p:childTnLst>
                                </p:cTn>
                              </p:par>
                              <p:par>
                                <p:cTn id="33" presetID="12" presetClass="entr" presetSubtype="8"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additive="base">
                                        <p:cTn id="35" dur="1000"/>
                                        <p:tgtEl>
                                          <p:spTgt spid="78"/>
                                        </p:tgtEl>
                                        <p:attrNameLst>
                                          <p:attrName>ppt_x</p:attrName>
                                        </p:attrNameLst>
                                      </p:cBhvr>
                                      <p:tavLst>
                                        <p:tav tm="0">
                                          <p:val>
                                            <p:strVal val="#ppt_x-#ppt_w*1.125000"/>
                                          </p:val>
                                        </p:tav>
                                        <p:tav tm="100000">
                                          <p:val>
                                            <p:strVal val="#ppt_x"/>
                                          </p:val>
                                        </p:tav>
                                      </p:tavLst>
                                    </p:anim>
                                    <p:animEffect transition="in" filter="wipe(right)">
                                      <p:cBhvr>
                                        <p:cTn id="36" dur="1000"/>
                                        <p:tgtEl>
                                          <p:spTgt spid="78"/>
                                        </p:tgtEl>
                                      </p:cBhvr>
                                    </p:animEffect>
                                  </p:childTnLst>
                                </p:cTn>
                              </p:par>
                            </p:childTnLst>
                          </p:cTn>
                        </p:par>
                        <p:par>
                          <p:cTn id="37" fill="hold">
                            <p:stCondLst>
                              <p:cond delay="1500"/>
                            </p:stCondLst>
                            <p:childTnLst>
                              <p:par>
                                <p:cTn id="38" presetID="12" presetClass="entr" presetSubtype="8"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 calcmode="lin" valueType="num">
                                      <p:cBhvr additive="base">
                                        <p:cTn id="40" dur="1000"/>
                                        <p:tgtEl>
                                          <p:spTgt spid="45"/>
                                        </p:tgtEl>
                                        <p:attrNameLst>
                                          <p:attrName>ppt_x</p:attrName>
                                        </p:attrNameLst>
                                      </p:cBhvr>
                                      <p:tavLst>
                                        <p:tav tm="0">
                                          <p:val>
                                            <p:strVal val="#ppt_x-#ppt_w*1.125000"/>
                                          </p:val>
                                        </p:tav>
                                        <p:tav tm="100000">
                                          <p:val>
                                            <p:strVal val="#ppt_x"/>
                                          </p:val>
                                        </p:tav>
                                      </p:tavLst>
                                    </p:anim>
                                    <p:animEffect transition="in" filter="wipe(right)">
                                      <p:cBhvr>
                                        <p:cTn id="41" dur="1000"/>
                                        <p:tgtEl>
                                          <p:spTgt spid="45"/>
                                        </p:tgtEl>
                                      </p:cBhvr>
                                    </p:animEffect>
                                  </p:childTnLst>
                                </p:cTn>
                              </p:par>
                            </p:childTnLst>
                          </p:cTn>
                        </p:par>
                        <p:par>
                          <p:cTn id="42" fill="hold">
                            <p:stCondLst>
                              <p:cond delay="2500"/>
                            </p:stCondLst>
                            <p:childTnLst>
                              <p:par>
                                <p:cTn id="43" presetID="12" presetClass="entr" presetSubtype="8" fill="hold" grpId="0" nodeType="afterEffect">
                                  <p:stCondLst>
                                    <p:cond delay="0"/>
                                  </p:stCondLst>
                                  <p:childTnLst>
                                    <p:set>
                                      <p:cBhvr>
                                        <p:cTn id="44" dur="1" fill="hold">
                                          <p:stCondLst>
                                            <p:cond delay="0"/>
                                          </p:stCondLst>
                                        </p:cTn>
                                        <p:tgtEl>
                                          <p:spTgt spid="62"/>
                                        </p:tgtEl>
                                        <p:attrNameLst>
                                          <p:attrName>style.visibility</p:attrName>
                                        </p:attrNameLst>
                                      </p:cBhvr>
                                      <p:to>
                                        <p:strVal val="visible"/>
                                      </p:to>
                                    </p:set>
                                    <p:anim calcmode="lin" valueType="num">
                                      <p:cBhvr additive="base">
                                        <p:cTn id="45" dur="1000"/>
                                        <p:tgtEl>
                                          <p:spTgt spid="62"/>
                                        </p:tgtEl>
                                        <p:attrNameLst>
                                          <p:attrName>ppt_x</p:attrName>
                                        </p:attrNameLst>
                                      </p:cBhvr>
                                      <p:tavLst>
                                        <p:tav tm="0">
                                          <p:val>
                                            <p:strVal val="#ppt_x-#ppt_w*1.125000"/>
                                          </p:val>
                                        </p:tav>
                                        <p:tav tm="100000">
                                          <p:val>
                                            <p:strVal val="#ppt_x"/>
                                          </p:val>
                                        </p:tav>
                                      </p:tavLst>
                                    </p:anim>
                                    <p:animEffect transition="in" filter="wipe(right)">
                                      <p:cBhvr>
                                        <p:cTn id="46" dur="1000"/>
                                        <p:tgtEl>
                                          <p:spTgt spid="62"/>
                                        </p:tgtEl>
                                      </p:cBhvr>
                                    </p:animEffect>
                                  </p:childTnLst>
                                </p:cTn>
                              </p:par>
                              <p:par>
                                <p:cTn id="47" presetID="12" presetClass="entr" presetSubtype="8" fill="hold" grpId="0" nodeType="withEffect">
                                  <p:stCondLst>
                                    <p:cond delay="0"/>
                                  </p:stCondLst>
                                  <p:childTnLst>
                                    <p:set>
                                      <p:cBhvr>
                                        <p:cTn id="48" dur="1" fill="hold">
                                          <p:stCondLst>
                                            <p:cond delay="0"/>
                                          </p:stCondLst>
                                        </p:cTn>
                                        <p:tgtEl>
                                          <p:spTgt spid="63"/>
                                        </p:tgtEl>
                                        <p:attrNameLst>
                                          <p:attrName>style.visibility</p:attrName>
                                        </p:attrNameLst>
                                      </p:cBhvr>
                                      <p:to>
                                        <p:strVal val="visible"/>
                                      </p:to>
                                    </p:set>
                                    <p:anim calcmode="lin" valueType="num">
                                      <p:cBhvr additive="base">
                                        <p:cTn id="49" dur="1000"/>
                                        <p:tgtEl>
                                          <p:spTgt spid="63"/>
                                        </p:tgtEl>
                                        <p:attrNameLst>
                                          <p:attrName>ppt_x</p:attrName>
                                        </p:attrNameLst>
                                      </p:cBhvr>
                                      <p:tavLst>
                                        <p:tav tm="0">
                                          <p:val>
                                            <p:strVal val="#ppt_x-#ppt_w*1.125000"/>
                                          </p:val>
                                        </p:tav>
                                        <p:tav tm="100000">
                                          <p:val>
                                            <p:strVal val="#ppt_x"/>
                                          </p:val>
                                        </p:tav>
                                      </p:tavLst>
                                    </p:anim>
                                    <p:animEffect transition="in" filter="wipe(right)">
                                      <p:cBhvr>
                                        <p:cTn id="50" dur="1000"/>
                                        <p:tgtEl>
                                          <p:spTgt spid="63"/>
                                        </p:tgtEl>
                                      </p:cBhvr>
                                    </p:animEffect>
                                  </p:childTnLst>
                                </p:cTn>
                              </p:par>
                            </p:childTnLst>
                          </p:cTn>
                        </p:par>
                        <p:par>
                          <p:cTn id="51" fill="hold">
                            <p:stCondLst>
                              <p:cond delay="3500"/>
                            </p:stCondLst>
                            <p:childTnLst>
                              <p:par>
                                <p:cTn id="52" presetID="12" presetClass="entr" presetSubtype="8" fill="hold" grpId="0" nodeType="afterEffect">
                                  <p:stCondLst>
                                    <p:cond delay="0"/>
                                  </p:stCondLst>
                                  <p:childTnLst>
                                    <p:set>
                                      <p:cBhvr>
                                        <p:cTn id="53" dur="1" fill="hold">
                                          <p:stCondLst>
                                            <p:cond delay="0"/>
                                          </p:stCondLst>
                                        </p:cTn>
                                        <p:tgtEl>
                                          <p:spTgt spid="68"/>
                                        </p:tgtEl>
                                        <p:attrNameLst>
                                          <p:attrName>style.visibility</p:attrName>
                                        </p:attrNameLst>
                                      </p:cBhvr>
                                      <p:to>
                                        <p:strVal val="visible"/>
                                      </p:to>
                                    </p:set>
                                    <p:anim calcmode="lin" valueType="num">
                                      <p:cBhvr additive="base">
                                        <p:cTn id="54" dur="1000"/>
                                        <p:tgtEl>
                                          <p:spTgt spid="68"/>
                                        </p:tgtEl>
                                        <p:attrNameLst>
                                          <p:attrName>ppt_x</p:attrName>
                                        </p:attrNameLst>
                                      </p:cBhvr>
                                      <p:tavLst>
                                        <p:tav tm="0">
                                          <p:val>
                                            <p:strVal val="#ppt_x-#ppt_w*1.125000"/>
                                          </p:val>
                                        </p:tav>
                                        <p:tav tm="100000">
                                          <p:val>
                                            <p:strVal val="#ppt_x"/>
                                          </p:val>
                                        </p:tav>
                                      </p:tavLst>
                                    </p:anim>
                                    <p:animEffect transition="in" filter="wipe(right)">
                                      <p:cBhvr>
                                        <p:cTn id="55" dur="1000"/>
                                        <p:tgtEl>
                                          <p:spTgt spid="68"/>
                                        </p:tgtEl>
                                      </p:cBhvr>
                                    </p:animEffect>
                                  </p:childTnLst>
                                </p:cTn>
                              </p:par>
                            </p:childTnLst>
                          </p:cTn>
                        </p:par>
                        <p:par>
                          <p:cTn id="56" fill="hold">
                            <p:stCondLst>
                              <p:cond delay="4500"/>
                            </p:stCondLst>
                            <p:childTnLst>
                              <p:par>
                                <p:cTn id="57" presetID="12" presetClass="entr" presetSubtype="8" fill="hold" grpId="0" nodeType="afterEffect">
                                  <p:stCondLst>
                                    <p:cond delay="0"/>
                                  </p:stCondLst>
                                  <p:childTnLst>
                                    <p:set>
                                      <p:cBhvr>
                                        <p:cTn id="58" dur="1" fill="hold">
                                          <p:stCondLst>
                                            <p:cond delay="0"/>
                                          </p:stCondLst>
                                        </p:cTn>
                                        <p:tgtEl>
                                          <p:spTgt spid="82"/>
                                        </p:tgtEl>
                                        <p:attrNameLst>
                                          <p:attrName>style.visibility</p:attrName>
                                        </p:attrNameLst>
                                      </p:cBhvr>
                                      <p:to>
                                        <p:strVal val="visible"/>
                                      </p:to>
                                    </p:set>
                                    <p:anim calcmode="lin" valueType="num">
                                      <p:cBhvr additive="base">
                                        <p:cTn id="59" dur="1000"/>
                                        <p:tgtEl>
                                          <p:spTgt spid="82"/>
                                        </p:tgtEl>
                                        <p:attrNameLst>
                                          <p:attrName>ppt_x</p:attrName>
                                        </p:attrNameLst>
                                      </p:cBhvr>
                                      <p:tavLst>
                                        <p:tav tm="0">
                                          <p:val>
                                            <p:strVal val="#ppt_x-#ppt_w*1.125000"/>
                                          </p:val>
                                        </p:tav>
                                        <p:tav tm="100000">
                                          <p:val>
                                            <p:strVal val="#ppt_x"/>
                                          </p:val>
                                        </p:tav>
                                      </p:tavLst>
                                    </p:anim>
                                    <p:animEffect transition="in" filter="wipe(right)">
                                      <p:cBhvr>
                                        <p:cTn id="60" dur="1000"/>
                                        <p:tgtEl>
                                          <p:spTgt spid="82"/>
                                        </p:tgtEl>
                                      </p:cBhvr>
                                    </p:animEffect>
                                  </p:childTnLst>
                                </p:cTn>
                              </p:par>
                              <p:par>
                                <p:cTn id="61" presetID="12" presetClass="entr" presetSubtype="8" fill="hold" grpId="0" nodeType="withEffect">
                                  <p:stCondLst>
                                    <p:cond delay="0"/>
                                  </p:stCondLst>
                                  <p:childTnLst>
                                    <p:set>
                                      <p:cBhvr>
                                        <p:cTn id="62" dur="1" fill="hold">
                                          <p:stCondLst>
                                            <p:cond delay="0"/>
                                          </p:stCondLst>
                                        </p:cTn>
                                        <p:tgtEl>
                                          <p:spTgt spid="83"/>
                                        </p:tgtEl>
                                        <p:attrNameLst>
                                          <p:attrName>style.visibility</p:attrName>
                                        </p:attrNameLst>
                                      </p:cBhvr>
                                      <p:to>
                                        <p:strVal val="visible"/>
                                      </p:to>
                                    </p:set>
                                    <p:anim calcmode="lin" valueType="num">
                                      <p:cBhvr additive="base">
                                        <p:cTn id="63" dur="1000"/>
                                        <p:tgtEl>
                                          <p:spTgt spid="83"/>
                                        </p:tgtEl>
                                        <p:attrNameLst>
                                          <p:attrName>ppt_x</p:attrName>
                                        </p:attrNameLst>
                                      </p:cBhvr>
                                      <p:tavLst>
                                        <p:tav tm="0">
                                          <p:val>
                                            <p:strVal val="#ppt_x-#ppt_w*1.125000"/>
                                          </p:val>
                                        </p:tav>
                                        <p:tav tm="100000">
                                          <p:val>
                                            <p:strVal val="#ppt_x"/>
                                          </p:val>
                                        </p:tav>
                                      </p:tavLst>
                                    </p:anim>
                                    <p:animEffect transition="in" filter="wipe(right)">
                                      <p:cBhvr>
                                        <p:cTn id="64" dur="1000"/>
                                        <p:tgtEl>
                                          <p:spTgt spid="83"/>
                                        </p:tgtEl>
                                      </p:cBhvr>
                                    </p:animEffect>
                                  </p:childTnLst>
                                </p:cTn>
                              </p:par>
                            </p:childTnLst>
                          </p:cTn>
                        </p:par>
                        <p:par>
                          <p:cTn id="65" fill="hold">
                            <p:stCondLst>
                              <p:cond delay="5500"/>
                            </p:stCondLst>
                            <p:childTnLst>
                              <p:par>
                                <p:cTn id="66" presetID="47" presetClass="entr" presetSubtype="0" fill="hold" grpId="0" nodeType="afterEffect">
                                  <p:stCondLst>
                                    <p:cond delay="0"/>
                                  </p:stCondLst>
                                  <p:childTnLst>
                                    <p:set>
                                      <p:cBhvr>
                                        <p:cTn id="67" dur="1" fill="hold">
                                          <p:stCondLst>
                                            <p:cond delay="0"/>
                                          </p:stCondLst>
                                        </p:cTn>
                                        <p:tgtEl>
                                          <p:spTgt spid="36"/>
                                        </p:tgtEl>
                                        <p:attrNameLst>
                                          <p:attrName>style.visibility</p:attrName>
                                        </p:attrNameLst>
                                      </p:cBhvr>
                                      <p:to>
                                        <p:strVal val="visible"/>
                                      </p:to>
                                    </p:set>
                                    <p:animEffect transition="in" filter="fade">
                                      <p:cBhvr>
                                        <p:cTn id="68" dur="1000"/>
                                        <p:tgtEl>
                                          <p:spTgt spid="36"/>
                                        </p:tgtEl>
                                      </p:cBhvr>
                                    </p:animEffect>
                                    <p:anim calcmode="lin" valueType="num">
                                      <p:cBhvr>
                                        <p:cTn id="69" dur="1000" fill="hold"/>
                                        <p:tgtEl>
                                          <p:spTgt spid="36"/>
                                        </p:tgtEl>
                                        <p:attrNameLst>
                                          <p:attrName>ppt_x</p:attrName>
                                        </p:attrNameLst>
                                      </p:cBhvr>
                                      <p:tavLst>
                                        <p:tav tm="0">
                                          <p:val>
                                            <p:strVal val="#ppt_x"/>
                                          </p:val>
                                        </p:tav>
                                        <p:tav tm="100000">
                                          <p:val>
                                            <p:strVal val="#ppt_x"/>
                                          </p:val>
                                        </p:tav>
                                      </p:tavLst>
                                    </p:anim>
                                    <p:anim calcmode="lin" valueType="num">
                                      <p:cBhvr>
                                        <p:cTn id="70"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58" grpId="0" animBg="1"/>
      <p:bldP spid="62" grpId="0" animBg="1"/>
      <p:bldP spid="63" grpId="0" animBg="1"/>
      <p:bldP spid="68" grpId="0" animBg="1"/>
      <p:bldP spid="69" grpId="0" animBg="1"/>
      <p:bldP spid="78" grpId="0" animBg="1"/>
      <p:bldP spid="82" grpId="0" animBg="1"/>
      <p:bldP spid="83" grpId="0" animBg="1"/>
      <p:bldP spid="3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nvGraphicFramePr>
        <p:xfrm>
          <a:off x="3117726" y="2173185"/>
          <a:ext cx="5102350" cy="2198790"/>
        </p:xfrm>
        <a:graphic>
          <a:graphicData uri="http://schemas.openxmlformats.org/presentationml/2006/ole">
            <mc:AlternateContent xmlns:mc="http://schemas.openxmlformats.org/markup-compatibility/2006">
              <mc:Choice xmlns:v="urn:schemas-microsoft-com:vml" Requires="v">
                <p:oleObj spid="_x0000_s27658" name="Visio" r:id="rId1" imgW="2295525" imgH="990600" progId="Visio.Drawing.11">
                  <p:embed/>
                </p:oleObj>
              </mc:Choice>
              <mc:Fallback>
                <p:oleObj name="Visio" r:id="rId1" imgW="2295525" imgH="990600" progId="Visio.Drawing.11">
                  <p:embed/>
                  <p:pic>
                    <p:nvPicPr>
                      <p:cNvPr id="0" name="对象 2"/>
                      <p:cNvPicPr>
                        <a:picLocks noChangeAspect="1" noChangeArrowheads="1"/>
                      </p:cNvPicPr>
                      <p:nvPr/>
                    </p:nvPicPr>
                    <p:blipFill>
                      <a:blip r:embed="rId2"/>
                      <a:srcRect/>
                      <a:stretch>
                        <a:fillRect/>
                      </a:stretch>
                    </p:blipFill>
                    <p:spPr bwMode="auto">
                      <a:xfrm>
                        <a:off x="3117726" y="2173185"/>
                        <a:ext cx="5102350" cy="2198790"/>
                      </a:xfrm>
                      <a:prstGeom prst="rect">
                        <a:avLst/>
                      </a:prstGeom>
                      <a:noFill/>
                      <a:ln>
                        <a:noFill/>
                      </a:ln>
                    </p:spPr>
                  </p:pic>
                </p:oleObj>
              </mc:Fallback>
            </mc:AlternateContent>
          </a:graphicData>
        </a:graphic>
      </p:graphicFrame>
      <p:grpSp>
        <p:nvGrpSpPr>
          <p:cNvPr id="5" name="组合 4"/>
          <p:cNvGrpSpPr/>
          <p:nvPr/>
        </p:nvGrpSpPr>
        <p:grpSpPr>
          <a:xfrm>
            <a:off x="392432" y="778617"/>
            <a:ext cx="3605564" cy="420971"/>
            <a:chOff x="670560" y="892917"/>
            <a:chExt cx="3605564" cy="420971"/>
          </a:xfrm>
        </p:grpSpPr>
        <p:sp>
          <p:nvSpPr>
            <p:cNvPr id="6" name="矩形 5"/>
            <p:cNvSpPr/>
            <p:nvPr/>
          </p:nvSpPr>
          <p:spPr>
            <a:xfrm>
              <a:off x="1035231" y="913778"/>
              <a:ext cx="3240893"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r>
                <a:rPr lang="zh-CN" altLang="en-US" sz="1400" b="1" dirty="0">
                  <a:solidFill>
                    <a:srgbClr val="6600FF"/>
                  </a:solidFill>
                  <a:latin typeface="微软雅黑" panose="020B0503020204020204" pitchFamily="34" charset="-122"/>
                  <a:ea typeface="微软雅黑" panose="020B0503020204020204" pitchFamily="34" charset="-122"/>
                </a:rPr>
                <a:t>维持阻塞</a:t>
              </a:r>
              <a:r>
                <a:rPr lang="en-US" altLang="zh-CN" sz="1400" b="1" dirty="0">
                  <a:solidFill>
                    <a:srgbClr val="6600FF"/>
                  </a:solidFill>
                  <a:latin typeface="微软雅黑" panose="020B0503020204020204" pitchFamily="34" charset="-122"/>
                  <a:ea typeface="微软雅黑" panose="020B0503020204020204" pitchFamily="34" charset="-122"/>
                </a:rPr>
                <a:t>D</a:t>
              </a:r>
              <a:r>
                <a:rPr lang="zh-CN" altLang="en-US" sz="1400" b="1" dirty="0">
                  <a:solidFill>
                    <a:srgbClr val="6600FF"/>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endParaRPr lang="zh-CN" altLang="en-US" sz="1400" b="1" dirty="0">
                <a:solidFill>
                  <a:srgbClr val="6600FF"/>
                </a:solidFill>
                <a:latin typeface="微软雅黑" panose="020B0503020204020204" pitchFamily="34" charset="-122"/>
                <a:ea typeface="微软雅黑" panose="020B0503020204020204" pitchFamily="34" charset="-122"/>
              </a:endParaRPr>
            </a:p>
          </p:txBody>
        </p:sp>
        <p:pic>
          <p:nvPicPr>
            <p:cNvPr id="7"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2" name="组合 11"/>
          <p:cNvGrpSpPr/>
          <p:nvPr/>
        </p:nvGrpSpPr>
        <p:grpSpPr>
          <a:xfrm>
            <a:off x="735332" y="2003908"/>
            <a:ext cx="1741167" cy="2659852"/>
            <a:chOff x="735332" y="2003908"/>
            <a:chExt cx="1741167" cy="2659852"/>
          </a:xfrm>
        </p:grpSpPr>
        <p:graphicFrame>
          <p:nvGraphicFramePr>
            <p:cNvPr id="9" name="对象 8"/>
            <p:cNvGraphicFramePr>
              <a:graphicFrameLocks noChangeAspect="1"/>
            </p:cNvGraphicFramePr>
            <p:nvPr/>
          </p:nvGraphicFramePr>
          <p:xfrm>
            <a:off x="735332" y="2239112"/>
            <a:ext cx="1741167" cy="2424648"/>
          </p:xfrm>
          <a:graphic>
            <a:graphicData uri="http://schemas.openxmlformats.org/presentationml/2006/ole">
              <mc:AlternateContent xmlns:mc="http://schemas.openxmlformats.org/markup-compatibility/2006">
                <mc:Choice xmlns:v="urn:schemas-microsoft-com:vml" Requires="v">
                  <p:oleObj spid="_x0000_s27659" name="Visio" r:id="rId4" imgW="904875" imgH="1313180" progId="Visio.Drawing.11">
                    <p:embed/>
                  </p:oleObj>
                </mc:Choice>
                <mc:Fallback>
                  <p:oleObj name="Visio" r:id="rId4" imgW="904875" imgH="1313180" progId="Visio.Drawing.11">
                    <p:embed/>
                    <p:pic>
                      <p:nvPicPr>
                        <p:cNvPr id="0" name="对象 8"/>
                        <p:cNvPicPr>
                          <a:picLocks noChangeAspect="1" noChangeArrowheads="1"/>
                        </p:cNvPicPr>
                        <p:nvPr/>
                      </p:nvPicPr>
                      <p:blipFill>
                        <a:blip r:embed="rId5"/>
                        <a:srcRect/>
                        <a:stretch>
                          <a:fillRect/>
                        </a:stretch>
                      </p:blipFill>
                      <p:spPr bwMode="auto">
                        <a:xfrm>
                          <a:off x="735332" y="2239112"/>
                          <a:ext cx="1741167" cy="2424648"/>
                        </a:xfrm>
                        <a:prstGeom prst="rect">
                          <a:avLst/>
                        </a:prstGeom>
                        <a:noFill/>
                        <a:ln>
                          <a:noFill/>
                        </a:ln>
                      </p:spPr>
                    </p:pic>
                  </p:oleObj>
                </mc:Fallback>
              </mc:AlternateContent>
            </a:graphicData>
          </a:graphic>
        </p:graphicFrame>
        <p:sp>
          <p:nvSpPr>
            <p:cNvPr id="10" name="矩形 9"/>
            <p:cNvSpPr/>
            <p:nvPr/>
          </p:nvSpPr>
          <p:spPr>
            <a:xfrm>
              <a:off x="1075962" y="3396734"/>
              <a:ext cx="962123" cy="338554"/>
            </a:xfrm>
            <a:prstGeom prst="rect">
              <a:avLst/>
            </a:prstGeom>
          </p:spPr>
          <p:txBody>
            <a:bodyPr wrap="none">
              <a:spAutoFit/>
            </a:bodyPr>
            <a:lstStyle/>
            <a:p>
              <a:r>
                <a:rPr lang="en-US" altLang="zh-CN" sz="1600" b="1" dirty="0">
                  <a:solidFill>
                    <a:srgbClr val="6600FF"/>
                  </a:solidFill>
                  <a:latin typeface="微软雅黑" panose="020B0503020204020204" pitchFamily="34" charset="-122"/>
                  <a:ea typeface="微软雅黑" panose="020B0503020204020204" pitchFamily="34" charset="-122"/>
                </a:rPr>
                <a:t>D</a:t>
              </a:r>
              <a:r>
                <a:rPr lang="zh-CN" altLang="en-US" sz="1600" b="1" dirty="0">
                  <a:solidFill>
                    <a:srgbClr val="6600FF"/>
                  </a:solidFill>
                  <a:latin typeface="微软雅黑" panose="020B0503020204020204" pitchFamily="34" charset="-122"/>
                  <a:ea typeface="微软雅黑" panose="020B0503020204020204" pitchFamily="34" charset="-122"/>
                </a:rPr>
                <a:t>触发器</a:t>
              </a:r>
              <a:endParaRPr lang="zh-CN" altLang="en-US" sz="1600" b="1" dirty="0">
                <a:solidFill>
                  <a:srgbClr val="6600FF"/>
                </a:solidFill>
                <a:latin typeface="微软雅黑" panose="020B0503020204020204" pitchFamily="34" charset="-122"/>
                <a:ea typeface="微软雅黑" panose="020B0503020204020204" pitchFamily="34" charset="-122"/>
              </a:endParaRPr>
            </a:p>
          </p:txBody>
        </p:sp>
        <p:sp>
          <p:nvSpPr>
            <p:cNvPr id="11" name="矩形 10"/>
            <p:cNvSpPr/>
            <p:nvPr/>
          </p:nvSpPr>
          <p:spPr>
            <a:xfrm>
              <a:off x="1075962" y="2003908"/>
              <a:ext cx="962123" cy="338554"/>
            </a:xfrm>
            <a:prstGeom prst="rect">
              <a:avLst/>
            </a:prstGeom>
          </p:spPr>
          <p:txBody>
            <a:bodyPr wrap="none">
              <a:spAutoFit/>
            </a:bodyPr>
            <a:lstStyle/>
            <a:p>
              <a:r>
                <a:rPr lang="en-US" altLang="zh-CN" sz="1600" b="1" dirty="0">
                  <a:solidFill>
                    <a:srgbClr val="6600FF"/>
                  </a:solidFill>
                  <a:latin typeface="微软雅黑" panose="020B0503020204020204" pitchFamily="34" charset="-122"/>
                  <a:ea typeface="微软雅黑" panose="020B0503020204020204" pitchFamily="34" charset="-122"/>
                </a:rPr>
                <a:t>D</a:t>
              </a:r>
              <a:r>
                <a:rPr lang="zh-CN" altLang="en-US" sz="1600" b="1" dirty="0">
                  <a:solidFill>
                    <a:srgbClr val="6600FF"/>
                  </a:solidFill>
                  <a:latin typeface="微软雅黑" panose="020B0503020204020204" pitchFamily="34" charset="-122"/>
                  <a:ea typeface="微软雅黑" panose="020B0503020204020204" pitchFamily="34" charset="-122"/>
                </a:rPr>
                <a:t>锁存器</a:t>
              </a:r>
              <a:endParaRPr lang="zh-CN" altLang="en-US" sz="1600" b="1" dirty="0">
                <a:solidFill>
                  <a:srgbClr val="6600FF"/>
                </a:solidFill>
                <a:latin typeface="微软雅黑" panose="020B0503020204020204" pitchFamily="34" charset="-122"/>
                <a:ea typeface="微软雅黑" panose="020B0503020204020204" pitchFamily="34" charset="-122"/>
              </a:endParaRPr>
            </a:p>
          </p:txBody>
        </p:sp>
      </p:grpSp>
      <p:sp>
        <p:nvSpPr>
          <p:cNvPr id="13" name="圆角矩形 12"/>
          <p:cNvSpPr/>
          <p:nvPr/>
        </p:nvSpPr>
        <p:spPr>
          <a:xfrm>
            <a:off x="4229053" y="2244469"/>
            <a:ext cx="579167" cy="1321542"/>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5409797" y="2267329"/>
            <a:ext cx="579523" cy="1321542"/>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6613757" y="2267329"/>
            <a:ext cx="579523" cy="1321542"/>
          </a:xfrm>
          <a:prstGeom prst="roundRect">
            <a:avLst>
              <a:gd name="adj" fmla="val 0"/>
            </a:avLst>
          </a:prstGeom>
          <a:solidFill>
            <a:srgbClr val="FF00FF">
              <a:alpha val="2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p:cNvGrpSpPr/>
          <p:nvPr/>
        </p:nvGrpSpPr>
        <p:grpSpPr>
          <a:xfrm>
            <a:off x="4229053" y="2267329"/>
            <a:ext cx="2376681" cy="1856903"/>
            <a:chOff x="4229053" y="2267329"/>
            <a:chExt cx="2376681" cy="1856903"/>
          </a:xfrm>
        </p:grpSpPr>
        <p:grpSp>
          <p:nvGrpSpPr>
            <p:cNvPr id="16" name="组合 15"/>
            <p:cNvGrpSpPr/>
            <p:nvPr/>
          </p:nvGrpSpPr>
          <p:grpSpPr>
            <a:xfrm>
              <a:off x="4229053" y="2267329"/>
              <a:ext cx="1180744" cy="1856903"/>
              <a:chOff x="6540964" y="2034397"/>
              <a:chExt cx="1180744" cy="1666403"/>
            </a:xfrm>
          </p:grpSpPr>
          <p:cxnSp>
            <p:nvCxnSpPr>
              <p:cNvPr id="17" name="直接连接符 16"/>
              <p:cNvCxnSpPr/>
              <p:nvPr/>
            </p:nvCxnSpPr>
            <p:spPr>
              <a:xfrm>
                <a:off x="6540964" y="2044800"/>
                <a:ext cx="0" cy="165600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7721708" y="2034397"/>
                <a:ext cx="0" cy="165600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cxnSp>
          <p:nvCxnSpPr>
            <p:cNvPr id="19" name="直接连接符 18"/>
            <p:cNvCxnSpPr/>
            <p:nvPr/>
          </p:nvCxnSpPr>
          <p:spPr>
            <a:xfrm>
              <a:off x="6605734" y="2267329"/>
              <a:ext cx="0" cy="1845311"/>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178789" y="2684683"/>
            <a:ext cx="1519191" cy="2104646"/>
            <a:chOff x="5178789" y="2684683"/>
            <a:chExt cx="1519191" cy="2104646"/>
          </a:xfrm>
        </p:grpSpPr>
        <p:sp>
          <p:nvSpPr>
            <p:cNvPr id="25" name="圆角矩形 52"/>
            <p:cNvSpPr/>
            <p:nvPr/>
          </p:nvSpPr>
          <p:spPr>
            <a:xfrm>
              <a:off x="6489439" y="2684683"/>
              <a:ext cx="208541" cy="477617"/>
            </a:xfrm>
            <a:prstGeom prst="roundRect">
              <a:avLst>
                <a:gd name="adj" fmla="val 42967"/>
              </a:avLst>
            </a:prstGeom>
            <a:solidFill>
              <a:srgbClr val="00FFFF">
                <a:alpha val="21000"/>
              </a:srgb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p:cNvSpPr/>
            <p:nvPr/>
          </p:nvSpPr>
          <p:spPr>
            <a:xfrm>
              <a:off x="6506928" y="2773457"/>
              <a:ext cx="155173" cy="1028700"/>
            </a:xfrm>
            <a:custGeom>
              <a:avLst/>
              <a:gdLst>
                <a:gd name="connsiteX0" fmla="*/ 71353 w 155173"/>
                <a:gd name="connsiteY0" fmla="*/ 0 h 1028700"/>
                <a:gd name="connsiteX1" fmla="*/ 2773 w 155173"/>
                <a:gd name="connsiteY1" fmla="*/ 594360 h 1028700"/>
                <a:gd name="connsiteX2" fmla="*/ 155173 w 155173"/>
                <a:gd name="connsiteY2" fmla="*/ 1028700 h 1028700"/>
              </a:gdLst>
              <a:ahLst/>
              <a:cxnLst>
                <a:cxn ang="0">
                  <a:pos x="connsiteX0" y="connsiteY0"/>
                </a:cxn>
                <a:cxn ang="0">
                  <a:pos x="connsiteX1" y="connsiteY1"/>
                </a:cxn>
                <a:cxn ang="0">
                  <a:pos x="connsiteX2" y="connsiteY2"/>
                </a:cxn>
              </a:cxnLst>
              <a:rect l="l" t="t" r="r" b="b"/>
              <a:pathLst>
                <a:path w="155173" h="1028700">
                  <a:moveTo>
                    <a:pt x="71353" y="0"/>
                  </a:moveTo>
                  <a:cubicBezTo>
                    <a:pt x="30078" y="211455"/>
                    <a:pt x="-11197" y="422910"/>
                    <a:pt x="2773" y="594360"/>
                  </a:cubicBezTo>
                  <a:cubicBezTo>
                    <a:pt x="16743" y="765810"/>
                    <a:pt x="85958" y="897255"/>
                    <a:pt x="155173" y="1028700"/>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标注 40"/>
            <p:cNvSpPr/>
            <p:nvPr/>
          </p:nvSpPr>
          <p:spPr>
            <a:xfrm>
              <a:off x="5178789" y="4207417"/>
              <a:ext cx="1519183" cy="581912"/>
            </a:xfrm>
            <a:prstGeom prst="wedgeRoundRectCallout">
              <a:avLst>
                <a:gd name="adj1" fmla="val 41347"/>
                <a:gd name="adj2" fmla="val -140958"/>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接收时钟沿前一时刻的</a:t>
              </a:r>
              <a:r>
                <a:rPr lang="en-US" altLang="zh-CN" sz="1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的数据</a:t>
              </a:r>
              <a:endParaRPr lang="zh-CN" altLang="en-US" sz="1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 name="Rectangle 6"/>
          <p:cNvSpPr>
            <a:spLocks noChangeArrowheads="1"/>
          </p:cNvSpPr>
          <p:nvPr/>
        </p:nvSpPr>
        <p:spPr bwMode="auto">
          <a:xfrm>
            <a:off x="443078" y="1314047"/>
            <a:ext cx="2647950" cy="369332"/>
          </a:xfrm>
          <a:prstGeom prst="rect">
            <a:avLst/>
          </a:prstGeom>
          <a:noFill/>
          <a:ln w="9525" algn="ctr">
            <a:noFill/>
            <a:miter lim="800000"/>
          </a:ln>
        </p:spPr>
        <p:txBody>
          <a:bodyPr>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2</a:t>
            </a:r>
            <a:r>
              <a:rPr lang="zh-CN" altLang="en-US" dirty="0">
                <a:solidFill>
                  <a:srgbClr val="FF0000"/>
                </a:solidFill>
                <a:latin typeface="微软雅黑" panose="020B0503020204020204" pitchFamily="34" charset="-122"/>
                <a:ea typeface="微软雅黑" panose="020B0503020204020204" pitchFamily="34" charset="-122"/>
              </a:rPr>
              <a:t>、工作原理</a:t>
            </a:r>
            <a:endParaRPr lang="zh-CN" altLang="en-US"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p:cTn id="20" dur="1000" fill="hold"/>
                                        <p:tgtEl>
                                          <p:spTgt spid="13"/>
                                        </p:tgtEl>
                                        <p:attrNameLst>
                                          <p:attrName>ppt_w</p:attrName>
                                        </p:attrNameLst>
                                      </p:cBhvr>
                                      <p:tavLst>
                                        <p:tav tm="0">
                                          <p:val>
                                            <p:fltVal val="0"/>
                                          </p:val>
                                        </p:tav>
                                        <p:tav tm="100000">
                                          <p:val>
                                            <p:strVal val="#ppt_w"/>
                                          </p:val>
                                        </p:tav>
                                      </p:tavLst>
                                    </p:anim>
                                    <p:anim calcmode="lin" valueType="num">
                                      <p:cBhvr>
                                        <p:cTn id="21" dur="1000" fill="hold"/>
                                        <p:tgtEl>
                                          <p:spTgt spid="13"/>
                                        </p:tgtEl>
                                        <p:attrNameLst>
                                          <p:attrName>ppt_h</p:attrName>
                                        </p:attrNameLst>
                                      </p:cBhvr>
                                      <p:tavLst>
                                        <p:tav tm="0">
                                          <p:val>
                                            <p:strVal val="#ppt_h"/>
                                          </p:val>
                                        </p:tav>
                                        <p:tav tm="100000">
                                          <p:val>
                                            <p:strVal val="#ppt_h"/>
                                          </p:val>
                                        </p:tav>
                                      </p:tavLst>
                                    </p:anim>
                                  </p:childTnLst>
                                </p:cTn>
                              </p:par>
                              <p:par>
                                <p:cTn id="22" presetID="17" presetClass="entr" presetSubtype="1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1000" fill="hold"/>
                                        <p:tgtEl>
                                          <p:spTgt spid="14"/>
                                        </p:tgtEl>
                                        <p:attrNameLst>
                                          <p:attrName>ppt_w</p:attrName>
                                        </p:attrNameLst>
                                      </p:cBhvr>
                                      <p:tavLst>
                                        <p:tav tm="0">
                                          <p:val>
                                            <p:fltVal val="0"/>
                                          </p:val>
                                        </p:tav>
                                        <p:tav tm="100000">
                                          <p:val>
                                            <p:strVal val="#ppt_w"/>
                                          </p:val>
                                        </p:tav>
                                      </p:tavLst>
                                    </p:anim>
                                    <p:anim calcmode="lin" valueType="num">
                                      <p:cBhvr>
                                        <p:cTn id="25" dur="1000" fill="hold"/>
                                        <p:tgtEl>
                                          <p:spTgt spid="14"/>
                                        </p:tgtEl>
                                        <p:attrNameLst>
                                          <p:attrName>ppt_h</p:attrName>
                                        </p:attrNameLst>
                                      </p:cBhvr>
                                      <p:tavLst>
                                        <p:tav tm="0">
                                          <p:val>
                                            <p:strVal val="#ppt_h"/>
                                          </p:val>
                                        </p:tav>
                                        <p:tav tm="100000">
                                          <p:val>
                                            <p:strVal val="#ppt_h"/>
                                          </p:val>
                                        </p:tav>
                                      </p:tavLst>
                                    </p:anim>
                                  </p:childTnLst>
                                </p:cTn>
                              </p:par>
                              <p:par>
                                <p:cTn id="26" presetID="17" presetClass="entr" presetSubtype="1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p:cTn id="28" dur="1000" fill="hold"/>
                                        <p:tgtEl>
                                          <p:spTgt spid="15"/>
                                        </p:tgtEl>
                                        <p:attrNameLst>
                                          <p:attrName>ppt_w</p:attrName>
                                        </p:attrNameLst>
                                      </p:cBhvr>
                                      <p:tavLst>
                                        <p:tav tm="0">
                                          <p:val>
                                            <p:fltVal val="0"/>
                                          </p:val>
                                        </p:tav>
                                        <p:tav tm="100000">
                                          <p:val>
                                            <p:strVal val="#ppt_w"/>
                                          </p:val>
                                        </p:tav>
                                      </p:tavLst>
                                    </p:anim>
                                    <p:anim calcmode="lin" valueType="num">
                                      <p:cBhvr>
                                        <p:cTn id="29" dur="1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2" presetClass="entr" presetSubtype="1" fill="hold"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1000"/>
                                        <p:tgtEl>
                                          <p:spTgt spid="21"/>
                                        </p:tgtEl>
                                        <p:attrNameLst>
                                          <p:attrName>ppt_y</p:attrName>
                                        </p:attrNameLst>
                                      </p:cBhvr>
                                      <p:tavLst>
                                        <p:tav tm="0">
                                          <p:val>
                                            <p:strVal val="#ppt_y-#ppt_h*1.125000"/>
                                          </p:val>
                                        </p:tav>
                                        <p:tav tm="100000">
                                          <p:val>
                                            <p:strVal val="#ppt_y"/>
                                          </p:val>
                                        </p:tav>
                                      </p:tavLst>
                                    </p:anim>
                                    <p:animEffect transition="in" filter="wipe(down)">
                                      <p:cBhvr>
                                        <p:cTn id="35" dur="1000"/>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908018" y="2413611"/>
            <a:ext cx="3789784" cy="2192020"/>
          </a:xfrm>
          <a:prstGeom prst="rect">
            <a:avLst/>
          </a:prstGeom>
        </p:spPr>
      </p:pic>
      <p:grpSp>
        <p:nvGrpSpPr>
          <p:cNvPr id="14" name="组合 13"/>
          <p:cNvGrpSpPr/>
          <p:nvPr/>
        </p:nvGrpSpPr>
        <p:grpSpPr>
          <a:xfrm>
            <a:off x="392432" y="778617"/>
            <a:ext cx="3605564" cy="420971"/>
            <a:chOff x="670560" y="892917"/>
            <a:chExt cx="3605564" cy="420971"/>
          </a:xfrm>
        </p:grpSpPr>
        <p:sp>
          <p:nvSpPr>
            <p:cNvPr id="15" name="矩形 14"/>
            <p:cNvSpPr/>
            <p:nvPr/>
          </p:nvSpPr>
          <p:spPr>
            <a:xfrm>
              <a:off x="1035231" y="913778"/>
              <a:ext cx="3240893"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r>
                <a:rPr lang="zh-CN" altLang="en-US" sz="1400" b="1" dirty="0">
                  <a:solidFill>
                    <a:srgbClr val="6600FF"/>
                  </a:solidFill>
                  <a:latin typeface="微软雅黑" panose="020B0503020204020204" pitchFamily="34" charset="-122"/>
                  <a:ea typeface="微软雅黑" panose="020B0503020204020204" pitchFamily="34" charset="-122"/>
                </a:rPr>
                <a:t>维持阻塞</a:t>
              </a:r>
              <a:r>
                <a:rPr lang="en-US" altLang="zh-CN" sz="1400" b="1" dirty="0">
                  <a:solidFill>
                    <a:srgbClr val="6600FF"/>
                  </a:solidFill>
                  <a:latin typeface="微软雅黑" panose="020B0503020204020204" pitchFamily="34" charset="-122"/>
                  <a:ea typeface="微软雅黑" panose="020B0503020204020204" pitchFamily="34" charset="-122"/>
                </a:rPr>
                <a:t>D</a:t>
              </a:r>
              <a:r>
                <a:rPr lang="zh-CN" altLang="en-US" sz="1400" b="1" dirty="0">
                  <a:solidFill>
                    <a:srgbClr val="6600FF"/>
                  </a:solidFill>
                  <a:latin typeface="微软雅黑" panose="020B0503020204020204" pitchFamily="34" charset="-122"/>
                  <a:ea typeface="微软雅黑" panose="020B0503020204020204" pitchFamily="34" charset="-122"/>
                </a:rPr>
                <a:t>触发器</a:t>
              </a:r>
              <a:r>
                <a:rPr lang="en-US" altLang="zh-CN" sz="1400" b="1" dirty="0">
                  <a:solidFill>
                    <a:srgbClr val="6600FF"/>
                  </a:solidFill>
                  <a:latin typeface="微软雅黑" panose="020B0503020204020204" pitchFamily="34" charset="-122"/>
                  <a:ea typeface="微软雅黑" panose="020B0503020204020204" pitchFamily="34" charset="-122"/>
                </a:rPr>
                <a:t>)</a:t>
              </a:r>
              <a:endParaRPr lang="zh-CN" altLang="en-US" sz="1400" b="1" dirty="0">
                <a:solidFill>
                  <a:srgbClr val="6600FF"/>
                </a:solidFill>
                <a:latin typeface="微软雅黑" panose="020B0503020204020204" pitchFamily="34" charset="-122"/>
                <a:ea typeface="微软雅黑" panose="020B0503020204020204" pitchFamily="34" charset="-122"/>
              </a:endParaRPr>
            </a:p>
          </p:txBody>
        </p:sp>
        <p:pic>
          <p:nvPicPr>
            <p:cNvPr id="16"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6"/>
          <p:cNvSpPr>
            <a:spLocks noChangeArrowheads="1"/>
          </p:cNvSpPr>
          <p:nvPr/>
        </p:nvSpPr>
        <p:spPr bwMode="auto">
          <a:xfrm>
            <a:off x="443078" y="1314047"/>
            <a:ext cx="3709822" cy="369332"/>
          </a:xfrm>
          <a:prstGeom prst="rect">
            <a:avLst/>
          </a:prstGeom>
          <a:noFill/>
          <a:ln w="9525" algn="ctr">
            <a:noFill/>
            <a:miter lim="800000"/>
          </a:ln>
        </p:spPr>
        <p:txBody>
          <a:bodyPr wrap="square">
            <a:spAutoFit/>
          </a:bodyPr>
          <a:lstStyle/>
          <a:p>
            <a:pPr algn="l"/>
            <a:r>
              <a:rPr lang="en-US" altLang="zh-CN" dirty="0">
                <a:solidFill>
                  <a:srgbClr val="FF0000"/>
                </a:solidFill>
                <a:latin typeface="微软雅黑" panose="020B0503020204020204" pitchFamily="34" charset="-122"/>
                <a:ea typeface="微软雅黑" panose="020B0503020204020204" pitchFamily="34" charset="-122"/>
              </a:rPr>
              <a:t>3</a:t>
            </a:r>
            <a:r>
              <a:rPr lang="zh-CN" altLang="en-US" dirty="0">
                <a:solidFill>
                  <a:srgbClr val="FF0000"/>
                </a:solidFill>
                <a:latin typeface="微软雅黑" panose="020B0503020204020204" pitchFamily="34" charset="-122"/>
                <a:ea typeface="微软雅黑" panose="020B0503020204020204" pitchFamily="34" charset="-122"/>
              </a:rPr>
              <a:t>、典型集成电路（</a:t>
            </a:r>
            <a:r>
              <a:rPr lang="en-US" altLang="zh-CN" dirty="0">
                <a:solidFill>
                  <a:srgbClr val="FF0000"/>
                </a:solidFill>
                <a:latin typeface="微软雅黑" panose="020B0503020204020204" pitchFamily="34" charset="-122"/>
                <a:ea typeface="微软雅黑" panose="020B0503020204020204" pitchFamily="34" charset="-122"/>
              </a:rPr>
              <a:t>74LS74</a:t>
            </a:r>
            <a:r>
              <a:rPr lang="zh-CN" altLang="en-US" dirty="0">
                <a:solidFill>
                  <a:srgbClr val="FF0000"/>
                </a:solidFill>
                <a:latin typeface="微软雅黑" panose="020B0503020204020204" pitchFamily="34" charset="-122"/>
                <a:ea typeface="微软雅黑" panose="020B0503020204020204" pitchFamily="34" charset="-122"/>
              </a:rPr>
              <a:t>）</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2" name="Rectangle 2"/>
          <p:cNvSpPr>
            <a:spLocks noChangeArrowheads="1"/>
          </p:cNvSpPr>
          <p:nvPr/>
        </p:nvSpPr>
        <p:spPr bwMode="auto">
          <a:xfrm>
            <a:off x="5089210" y="202651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pSp>
        <p:nvGrpSpPr>
          <p:cNvPr id="6" name="组合 5"/>
          <p:cNvGrpSpPr/>
          <p:nvPr/>
        </p:nvGrpSpPr>
        <p:grpSpPr>
          <a:xfrm>
            <a:off x="692358" y="2165113"/>
            <a:ext cx="3840478" cy="2663352"/>
            <a:chOff x="692358" y="1966993"/>
            <a:chExt cx="3840478" cy="2663352"/>
          </a:xfrm>
        </p:grpSpPr>
        <p:sp>
          <p:nvSpPr>
            <p:cNvPr id="42" name="剪去对角的矩形 41"/>
            <p:cNvSpPr/>
            <p:nvPr/>
          </p:nvSpPr>
          <p:spPr>
            <a:xfrm>
              <a:off x="692358" y="1966993"/>
              <a:ext cx="3840478" cy="2663352"/>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nvGraphicFramePr>
          <p:xfrm>
            <a:off x="827176" y="2034460"/>
            <a:ext cx="3580452" cy="2390143"/>
          </p:xfrm>
          <a:graphic>
            <a:graphicData uri="http://schemas.openxmlformats.org/presentationml/2006/ole">
              <mc:AlternateContent xmlns:mc="http://schemas.openxmlformats.org/markup-compatibility/2006">
                <mc:Choice xmlns:v="urn:schemas-microsoft-com:vml" Requires="v">
                  <p:oleObj spid="_x0000_s28678" name="Visio" r:id="rId3" imgW="2990850" imgH="2000250" progId="Visio.Drawing.11">
                    <p:embed/>
                  </p:oleObj>
                </mc:Choice>
                <mc:Fallback>
                  <p:oleObj name="Visio" r:id="rId3" imgW="2990850" imgH="2000250" progId="Visio.Drawing.11">
                    <p:embed/>
                    <p:pic>
                      <p:nvPicPr>
                        <p:cNvPr id="0" name="对象 2"/>
                        <p:cNvPicPr>
                          <a:picLocks noChangeAspect="1" noChangeArrowheads="1"/>
                        </p:cNvPicPr>
                        <p:nvPr/>
                      </p:nvPicPr>
                      <p:blipFill>
                        <a:blip r:embed="rId4"/>
                        <a:srcRect/>
                        <a:stretch>
                          <a:fillRect/>
                        </a:stretch>
                      </p:blipFill>
                      <p:spPr bwMode="auto">
                        <a:xfrm>
                          <a:off x="827176" y="2034460"/>
                          <a:ext cx="3580452" cy="2390143"/>
                        </a:xfrm>
                        <a:prstGeom prst="rect">
                          <a:avLst/>
                        </a:prstGeom>
                        <a:noFill/>
                      </p:spPr>
                    </p:pic>
                  </p:oleObj>
                </mc:Fallback>
              </mc:AlternateContent>
            </a:graphicData>
          </a:graphic>
        </p:graphicFrame>
      </p:grpSp>
      <p:sp>
        <p:nvSpPr>
          <p:cNvPr id="23" name="圆角矩形 12"/>
          <p:cNvSpPr/>
          <p:nvPr/>
        </p:nvSpPr>
        <p:spPr>
          <a:xfrm>
            <a:off x="4984910" y="3101341"/>
            <a:ext cx="3636000" cy="243839"/>
          </a:xfrm>
          <a:prstGeom prst="roundRect">
            <a:avLst>
              <a:gd name="adj" fmla="val 0"/>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圆角矩形 12"/>
          <p:cNvSpPr/>
          <p:nvPr/>
        </p:nvSpPr>
        <p:spPr>
          <a:xfrm>
            <a:off x="4984910" y="3345180"/>
            <a:ext cx="3636000" cy="243839"/>
          </a:xfrm>
          <a:prstGeom prst="roundRect">
            <a:avLst>
              <a:gd name="adj" fmla="val 0"/>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圆角矩形 12"/>
          <p:cNvSpPr/>
          <p:nvPr/>
        </p:nvSpPr>
        <p:spPr>
          <a:xfrm>
            <a:off x="4984910" y="3596639"/>
            <a:ext cx="3636000" cy="243839"/>
          </a:xfrm>
          <a:prstGeom prst="roundRect">
            <a:avLst>
              <a:gd name="adj" fmla="val 0"/>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圆角矩形 12"/>
          <p:cNvSpPr/>
          <p:nvPr/>
        </p:nvSpPr>
        <p:spPr>
          <a:xfrm>
            <a:off x="4992530" y="4237915"/>
            <a:ext cx="3636000" cy="273125"/>
          </a:xfrm>
          <a:prstGeom prst="roundRect">
            <a:avLst>
              <a:gd name="adj" fmla="val 0"/>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圆角矩形标注 73"/>
          <p:cNvSpPr/>
          <p:nvPr/>
        </p:nvSpPr>
        <p:spPr>
          <a:xfrm>
            <a:off x="967740" y="1873646"/>
            <a:ext cx="1097389" cy="259717"/>
          </a:xfrm>
          <a:prstGeom prst="wedgeRoundRectCallout">
            <a:avLst>
              <a:gd name="adj1" fmla="val -45007"/>
              <a:gd name="adj2" fmla="val 91847"/>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直接置位端</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圆角矩形标注 73"/>
          <p:cNvSpPr/>
          <p:nvPr/>
        </p:nvSpPr>
        <p:spPr>
          <a:xfrm>
            <a:off x="872950" y="4812990"/>
            <a:ext cx="1097389" cy="259717"/>
          </a:xfrm>
          <a:prstGeom prst="wedgeRoundRectCallout">
            <a:avLst>
              <a:gd name="adj1" fmla="val -39452"/>
              <a:gd name="adj2" fmla="val -122331"/>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直接复位端</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圆角矩形标注 73"/>
          <p:cNvSpPr/>
          <p:nvPr/>
        </p:nvSpPr>
        <p:spPr>
          <a:xfrm>
            <a:off x="2065129" y="1873646"/>
            <a:ext cx="1097389" cy="259717"/>
          </a:xfrm>
          <a:prstGeom prst="wedgeRoundRectCallout">
            <a:avLst>
              <a:gd name="adj1" fmla="val -46564"/>
              <a:gd name="adj2" fmla="val 19457"/>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异步置位端</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圆角矩形标注 73"/>
          <p:cNvSpPr/>
          <p:nvPr/>
        </p:nvSpPr>
        <p:spPr>
          <a:xfrm>
            <a:off x="1970339" y="4820728"/>
            <a:ext cx="1097389" cy="259717"/>
          </a:xfrm>
          <a:prstGeom prst="wedgeRoundRectCallout">
            <a:avLst>
              <a:gd name="adj1" fmla="val -46564"/>
              <a:gd name="adj2" fmla="val 19457"/>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异步复位端</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1000"/>
                                        <p:tgtEl>
                                          <p:spTgt spid="18"/>
                                        </p:tgtEl>
                                      </p:cBhvr>
                                    </p:animEffect>
                                  </p:childTnLst>
                                </p:cTn>
                              </p:par>
                            </p:childTnLst>
                          </p:cTn>
                        </p:par>
                        <p:par>
                          <p:cTn id="20" fill="hold">
                            <p:stCondLst>
                              <p:cond delay="3000"/>
                            </p:stCondLst>
                            <p:childTnLst>
                              <p:par>
                                <p:cTn id="21" presetID="22" presetClass="entr" presetSubtype="8" fill="hold" grpId="0" nodeType="after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left)">
                                      <p:cBhvr>
                                        <p:cTn id="23" dur="1000"/>
                                        <p:tgtEl>
                                          <p:spTgt spid="19"/>
                                        </p:tgtEl>
                                      </p:cBhvr>
                                    </p:animEffect>
                                  </p:childTnLst>
                                </p:cTn>
                              </p:par>
                            </p:childTnLst>
                          </p:cTn>
                        </p:par>
                        <p:par>
                          <p:cTn id="24" fill="hold">
                            <p:stCondLst>
                              <p:cond delay="4000"/>
                            </p:stCondLst>
                            <p:childTnLst>
                              <p:par>
                                <p:cTn id="25" presetID="42" presetClass="entr" presetSubtype="0"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 calcmode="lin" valueType="num">
                                      <p:cBhvr>
                                        <p:cTn id="34" dur="1000" fill="hold"/>
                                        <p:tgtEl>
                                          <p:spTgt spid="23"/>
                                        </p:tgtEl>
                                        <p:attrNameLst>
                                          <p:attrName>ppt_w</p:attrName>
                                        </p:attrNameLst>
                                      </p:cBhvr>
                                      <p:tavLst>
                                        <p:tav tm="0">
                                          <p:val>
                                            <p:fltVal val="0"/>
                                          </p:val>
                                        </p:tav>
                                        <p:tav tm="100000">
                                          <p:val>
                                            <p:strVal val="#ppt_w"/>
                                          </p:val>
                                        </p:tav>
                                      </p:tavLst>
                                    </p:anim>
                                    <p:anim calcmode="lin" valueType="num">
                                      <p:cBhvr>
                                        <p:cTn id="35" dur="1000" fill="hold"/>
                                        <p:tgtEl>
                                          <p:spTgt spid="2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24"/>
                                        </p:tgtEl>
                                        <p:attrNameLst>
                                          <p:attrName>style.visibility</p:attrName>
                                        </p:attrNameLst>
                                      </p:cBhvr>
                                      <p:to>
                                        <p:strVal val="visible"/>
                                      </p:to>
                                    </p:set>
                                    <p:anim calcmode="lin" valueType="num">
                                      <p:cBhvr>
                                        <p:cTn id="40" dur="1000" fill="hold"/>
                                        <p:tgtEl>
                                          <p:spTgt spid="24"/>
                                        </p:tgtEl>
                                        <p:attrNameLst>
                                          <p:attrName>ppt_w</p:attrName>
                                        </p:attrNameLst>
                                      </p:cBhvr>
                                      <p:tavLst>
                                        <p:tav tm="0">
                                          <p:val>
                                            <p:fltVal val="0"/>
                                          </p:val>
                                        </p:tav>
                                        <p:tav tm="100000">
                                          <p:val>
                                            <p:strVal val="#ppt_w"/>
                                          </p:val>
                                        </p:tav>
                                      </p:tavLst>
                                    </p:anim>
                                    <p:anim calcmode="lin" valueType="num">
                                      <p:cBhvr>
                                        <p:cTn id="41" dur="1000" fill="hold"/>
                                        <p:tgtEl>
                                          <p:spTgt spid="2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0" nodeType="clickEffect">
                                  <p:stCondLst>
                                    <p:cond delay="0"/>
                                  </p:stCondLst>
                                  <p:childTnLst>
                                    <p:set>
                                      <p:cBhvr>
                                        <p:cTn id="45" dur="1" fill="hold">
                                          <p:stCondLst>
                                            <p:cond delay="0"/>
                                          </p:stCondLst>
                                        </p:cTn>
                                        <p:tgtEl>
                                          <p:spTgt spid="25"/>
                                        </p:tgtEl>
                                        <p:attrNameLst>
                                          <p:attrName>style.visibility</p:attrName>
                                        </p:attrNameLst>
                                      </p:cBhvr>
                                      <p:to>
                                        <p:strVal val="visible"/>
                                      </p:to>
                                    </p:set>
                                    <p:anim calcmode="lin" valueType="num">
                                      <p:cBhvr>
                                        <p:cTn id="46" dur="1000" fill="hold"/>
                                        <p:tgtEl>
                                          <p:spTgt spid="25"/>
                                        </p:tgtEl>
                                        <p:attrNameLst>
                                          <p:attrName>ppt_w</p:attrName>
                                        </p:attrNameLst>
                                      </p:cBhvr>
                                      <p:tavLst>
                                        <p:tav tm="0">
                                          <p:val>
                                            <p:fltVal val="0"/>
                                          </p:val>
                                        </p:tav>
                                        <p:tav tm="100000">
                                          <p:val>
                                            <p:strVal val="#ppt_w"/>
                                          </p:val>
                                        </p:tav>
                                      </p:tavLst>
                                    </p:anim>
                                    <p:anim calcmode="lin" valueType="num">
                                      <p:cBhvr>
                                        <p:cTn id="47" dur="1000" fill="hold"/>
                                        <p:tgtEl>
                                          <p:spTgt spid="25"/>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7" presetClass="entr" presetSubtype="10" fill="hold" grpId="0" nodeType="clickEffect">
                                  <p:stCondLst>
                                    <p:cond delay="0"/>
                                  </p:stCondLst>
                                  <p:childTnLst>
                                    <p:set>
                                      <p:cBhvr>
                                        <p:cTn id="51" dur="1" fill="hold">
                                          <p:stCondLst>
                                            <p:cond delay="0"/>
                                          </p:stCondLst>
                                        </p:cTn>
                                        <p:tgtEl>
                                          <p:spTgt spid="26"/>
                                        </p:tgtEl>
                                        <p:attrNameLst>
                                          <p:attrName>style.visibility</p:attrName>
                                        </p:attrNameLst>
                                      </p:cBhvr>
                                      <p:to>
                                        <p:strVal val="visible"/>
                                      </p:to>
                                    </p:set>
                                    <p:anim calcmode="lin" valueType="num">
                                      <p:cBhvr>
                                        <p:cTn id="52" dur="1000" fill="hold"/>
                                        <p:tgtEl>
                                          <p:spTgt spid="26"/>
                                        </p:tgtEl>
                                        <p:attrNameLst>
                                          <p:attrName>ppt_w</p:attrName>
                                        </p:attrNameLst>
                                      </p:cBhvr>
                                      <p:tavLst>
                                        <p:tav tm="0">
                                          <p:val>
                                            <p:fltVal val="0"/>
                                          </p:val>
                                        </p:tav>
                                        <p:tav tm="100000">
                                          <p:val>
                                            <p:strVal val="#ppt_w"/>
                                          </p:val>
                                        </p:tav>
                                      </p:tavLst>
                                    </p:anim>
                                    <p:anim calcmode="lin" valueType="num">
                                      <p:cBhvr>
                                        <p:cTn id="53" dur="1000" fill="hold"/>
                                        <p:tgtEl>
                                          <p:spTgt spid="2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1000"/>
                                        <p:tgtEl>
                                          <p:spTgt spid="2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animBg="1"/>
      <p:bldP spid="24" grpId="0" animBg="1"/>
      <p:bldP spid="25" grpId="0" animBg="1"/>
      <p:bldP spid="26" grpId="0" animBg="1"/>
      <p:bldP spid="18" grpId="0" animBg="1"/>
      <p:bldP spid="19" grpId="0" animBg="1"/>
      <p:bldP spid="20" grpId="0" animBg="1"/>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392432" y="778617"/>
            <a:ext cx="5436868" cy="420971"/>
            <a:chOff x="670560" y="892917"/>
            <a:chExt cx="5436868" cy="420971"/>
          </a:xfrm>
        </p:grpSpPr>
        <p:sp>
          <p:nvSpPr>
            <p:cNvPr id="28" name="矩形 27"/>
            <p:cNvSpPr/>
            <p:nvPr/>
          </p:nvSpPr>
          <p:spPr>
            <a:xfrm>
              <a:off x="1035232" y="913778"/>
              <a:ext cx="5072196" cy="400110"/>
            </a:xfrm>
            <a:prstGeom prst="rect">
              <a:avLst/>
            </a:prstGeom>
          </p:spPr>
          <p:txBody>
            <a:bodyPr wrap="square">
              <a:spAutoFit/>
            </a:bodyPr>
            <a:lstStyle/>
            <a:p>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JK </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en-US" altLang="zh-CN" sz="20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(Jump-Key) –</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传输延迟</a:t>
              </a:r>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JK</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4" name="组合 3"/>
          <p:cNvGrpSpPr/>
          <p:nvPr/>
        </p:nvGrpSpPr>
        <p:grpSpPr>
          <a:xfrm>
            <a:off x="1843828" y="1584959"/>
            <a:ext cx="5678642" cy="3223257"/>
            <a:chOff x="1484906" y="1501139"/>
            <a:chExt cx="5678642" cy="3223257"/>
          </a:xfrm>
        </p:grpSpPr>
        <p:sp>
          <p:nvSpPr>
            <p:cNvPr id="30" name="剪去对角的矩形 29"/>
            <p:cNvSpPr/>
            <p:nvPr/>
          </p:nvSpPr>
          <p:spPr>
            <a:xfrm>
              <a:off x="1484906" y="1501139"/>
              <a:ext cx="5594074" cy="3223257"/>
            </a:xfrm>
            <a:prstGeom prst="snip2DiagRect">
              <a:avLst>
                <a:gd name="adj1" fmla="val 0"/>
                <a:gd name="adj2" fmla="val 8105"/>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p:cNvGraphicFramePr>
              <a:graphicFrameLocks noChangeAspect="1"/>
            </p:cNvGraphicFramePr>
            <p:nvPr/>
          </p:nvGraphicFramePr>
          <p:xfrm>
            <a:off x="1537886" y="1545038"/>
            <a:ext cx="5625662" cy="3087261"/>
          </p:xfrm>
          <a:graphic>
            <a:graphicData uri="http://schemas.openxmlformats.org/presentationml/2006/ole">
              <mc:AlternateContent xmlns:mc="http://schemas.openxmlformats.org/markup-compatibility/2006">
                <mc:Choice xmlns:v="urn:schemas-microsoft-com:vml" Requires="v">
                  <p:oleObj spid="_x0000_s29702" name="Visio" r:id="rId2" imgW="3295650" imgH="1781175" progId="Visio.Drawing.11">
                    <p:embed/>
                  </p:oleObj>
                </mc:Choice>
                <mc:Fallback>
                  <p:oleObj name="Visio" r:id="rId2" imgW="3295650" imgH="1781175" progId="Visio.Drawing.11">
                    <p:embed/>
                    <p:pic>
                      <p:nvPicPr>
                        <p:cNvPr id="0" name="对象 2"/>
                        <p:cNvPicPr>
                          <a:picLocks noChangeAspect="1" noChangeArrowheads="1"/>
                        </p:cNvPicPr>
                        <p:nvPr/>
                      </p:nvPicPr>
                      <p:blipFill>
                        <a:blip r:embed="rId3"/>
                        <a:srcRect/>
                        <a:stretch>
                          <a:fillRect/>
                        </a:stretch>
                      </p:blipFill>
                      <p:spPr bwMode="auto">
                        <a:xfrm>
                          <a:off x="1537886" y="1545038"/>
                          <a:ext cx="5625662" cy="3087261"/>
                        </a:xfrm>
                        <a:prstGeom prst="rect">
                          <a:avLst/>
                        </a:prstGeom>
                        <a:noFill/>
                      </p:spPr>
                    </p:pic>
                  </p:oleObj>
                </mc:Fallback>
              </mc:AlternateContent>
            </a:graphicData>
          </a:graphic>
        </p:graphicFrame>
      </p:grpSp>
      <p:grpSp>
        <p:nvGrpSpPr>
          <p:cNvPr id="5" name="组合 4"/>
          <p:cNvGrpSpPr/>
          <p:nvPr/>
        </p:nvGrpSpPr>
        <p:grpSpPr>
          <a:xfrm>
            <a:off x="1917566" y="2148840"/>
            <a:ext cx="351874" cy="2011680"/>
            <a:chOff x="1558644" y="2148840"/>
            <a:chExt cx="351874" cy="2011680"/>
          </a:xfrm>
        </p:grpSpPr>
        <p:sp>
          <p:nvSpPr>
            <p:cNvPr id="9" name="圆角矩形 29"/>
            <p:cNvSpPr/>
            <p:nvPr/>
          </p:nvSpPr>
          <p:spPr>
            <a:xfrm>
              <a:off x="1568366" y="2148840"/>
              <a:ext cx="342152" cy="434340"/>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29"/>
            <p:cNvSpPr/>
            <p:nvPr/>
          </p:nvSpPr>
          <p:spPr>
            <a:xfrm>
              <a:off x="1558644" y="3726180"/>
              <a:ext cx="342152" cy="434340"/>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圆角矩形 29"/>
          <p:cNvSpPr/>
          <p:nvPr/>
        </p:nvSpPr>
        <p:spPr>
          <a:xfrm>
            <a:off x="3481048" y="1644097"/>
            <a:ext cx="1785154" cy="3072021"/>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29"/>
          <p:cNvSpPr/>
          <p:nvPr/>
        </p:nvSpPr>
        <p:spPr>
          <a:xfrm>
            <a:off x="2423942" y="1802693"/>
            <a:ext cx="876300" cy="2715967"/>
          </a:xfrm>
          <a:prstGeom prst="roundRect">
            <a:avLst>
              <a:gd name="adj" fmla="val 7233"/>
            </a:avLst>
          </a:prstGeom>
          <a:solidFill>
            <a:srgbClr val="FF00FF">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29"/>
          <p:cNvSpPr/>
          <p:nvPr/>
        </p:nvSpPr>
        <p:spPr>
          <a:xfrm>
            <a:off x="5891818" y="1752595"/>
            <a:ext cx="1546084" cy="944886"/>
          </a:xfrm>
          <a:prstGeom prst="roundRect">
            <a:avLst>
              <a:gd name="adj" fmla="val 16910"/>
            </a:avLst>
          </a:prstGeom>
          <a:solidFill>
            <a:srgbClr val="FFFF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标注 73"/>
          <p:cNvSpPr/>
          <p:nvPr/>
        </p:nvSpPr>
        <p:spPr>
          <a:xfrm>
            <a:off x="4930922" y="1283406"/>
            <a:ext cx="1150620" cy="341471"/>
          </a:xfrm>
          <a:prstGeom prst="wedgeRoundRectCallout">
            <a:avLst>
              <a:gd name="adj1" fmla="val 50817"/>
              <a:gd name="adj2" fmla="val 170070"/>
              <a:gd name="adj3" fmla="val 16667"/>
            </a:avLst>
          </a:prstGeom>
          <a:solidFill>
            <a:schemeClr val="bg1"/>
          </a:solidFill>
          <a:ln w="1270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rPr>
              <a:t>下降沿触发</a:t>
            </a:r>
            <a:endParaRPr lang="zh-CN" altLang="en-US" sz="1400" b="1"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1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1000" fill="hold"/>
                                        <p:tgtEl>
                                          <p:spTgt spid="11"/>
                                        </p:tgtEl>
                                        <p:attrNameLst>
                                          <p:attrName>ppt_w</p:attrName>
                                        </p:attrNameLst>
                                      </p:cBhvr>
                                      <p:tavLst>
                                        <p:tav tm="0">
                                          <p:val>
                                            <p:fltVal val="0"/>
                                          </p:val>
                                        </p:tav>
                                        <p:tav tm="100000">
                                          <p:val>
                                            <p:strVal val="#ppt_w"/>
                                          </p:val>
                                        </p:tav>
                                      </p:tavLst>
                                    </p:anim>
                                    <p:anim calcmode="lin" valueType="num">
                                      <p:cBhvr>
                                        <p:cTn id="21" dur="10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7"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ppt_w</p:attrName>
                                        </p:attrNameLst>
                                      </p:cBhvr>
                                      <p:tavLst>
                                        <p:tav tm="0">
                                          <p:val>
                                            <p:fltVal val="0"/>
                                          </p:val>
                                        </p:tav>
                                        <p:tav tm="100000">
                                          <p:val>
                                            <p:strVal val="#ppt_w"/>
                                          </p:val>
                                        </p:tav>
                                      </p:tavLst>
                                    </p:anim>
                                    <p:anim calcmode="lin" valueType="num">
                                      <p:cBhvr>
                                        <p:cTn id="27" dur="1000" fill="hold"/>
                                        <p:tgtEl>
                                          <p:spTgt spid="12"/>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p:cTn id="32" dur="1000" fill="hold"/>
                                        <p:tgtEl>
                                          <p:spTgt spid="15"/>
                                        </p:tgtEl>
                                        <p:attrNameLst>
                                          <p:attrName>ppt_w</p:attrName>
                                        </p:attrNameLst>
                                      </p:cBhvr>
                                      <p:tavLst>
                                        <p:tav tm="0">
                                          <p:val>
                                            <p:fltVal val="0"/>
                                          </p:val>
                                        </p:tav>
                                        <p:tav tm="100000">
                                          <p:val>
                                            <p:strVal val="#ppt_w"/>
                                          </p:val>
                                        </p:tav>
                                      </p:tavLst>
                                    </p:anim>
                                    <p:anim calcmode="lin" valueType="num">
                                      <p:cBhvr>
                                        <p:cTn id="33" dur="1000" fill="hold"/>
                                        <p:tgtEl>
                                          <p:spTgt spid="15"/>
                                        </p:tgtEl>
                                        <p:attrNameLst>
                                          <p:attrName>ppt_h</p:attrName>
                                        </p:attrNameLst>
                                      </p:cBhvr>
                                      <p:tavLst>
                                        <p:tav tm="0">
                                          <p:val>
                                            <p:strVal val="#ppt_h"/>
                                          </p:val>
                                        </p:tav>
                                        <p:tav tm="100000">
                                          <p:val>
                                            <p:strVal val="#ppt_h"/>
                                          </p:val>
                                        </p:tav>
                                      </p:tavLst>
                                    </p:anim>
                                  </p:childTnLst>
                                </p:cTn>
                              </p:par>
                            </p:childTnLst>
                          </p:cTn>
                        </p:par>
                        <p:par>
                          <p:cTn id="34" fill="hold">
                            <p:stCondLst>
                              <p:cond delay="1000"/>
                            </p:stCondLst>
                            <p:childTnLst>
                              <p:par>
                                <p:cTn id="35" presetID="22" presetClass="entr" presetSubtype="4"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5" grpId="0" animBg="1"/>
      <p:bldP spid="1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1101090" y="182456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442710" y="334264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393722" y="215741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锁存器与触发器</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34" name="矩形 33"/>
          <p:cNvSpPr/>
          <p:nvPr/>
        </p:nvSpPr>
        <p:spPr>
          <a:xfrm>
            <a:off x="2286198" y="3070303"/>
            <a:ext cx="4365123" cy="523220"/>
          </a:xfrm>
          <a:prstGeom prst="rect">
            <a:avLst/>
          </a:prstGeom>
        </p:spPr>
        <p:txBody>
          <a:bodyPr wrap="square">
            <a:spAutoFit/>
          </a:bodyPr>
          <a:lstStyle/>
          <a:p>
            <a:pPr algn="ctr">
              <a:spcBef>
                <a:spcPts val="12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5.4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触发器的功能</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78617"/>
            <a:ext cx="4042408" cy="420971"/>
            <a:chOff x="670560" y="892917"/>
            <a:chExt cx="4042408" cy="420971"/>
          </a:xfrm>
        </p:grpSpPr>
        <p:sp>
          <p:nvSpPr>
            <p:cNvPr id="3" name="矩形 2"/>
            <p:cNvSpPr/>
            <p:nvPr/>
          </p:nvSpPr>
          <p:spPr>
            <a:xfrm>
              <a:off x="1035232" y="913778"/>
              <a:ext cx="367773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典型触发器及逻辑符号</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 name="组合 4"/>
          <p:cNvGrpSpPr/>
          <p:nvPr/>
        </p:nvGrpSpPr>
        <p:grpSpPr>
          <a:xfrm>
            <a:off x="1079500" y="1517650"/>
            <a:ext cx="7118350" cy="2940050"/>
            <a:chOff x="1079500" y="1517650"/>
            <a:chExt cx="7118350" cy="2940050"/>
          </a:xfrm>
        </p:grpSpPr>
        <p:grpSp>
          <p:nvGrpSpPr>
            <p:cNvPr id="100" name="组合 99"/>
            <p:cNvGrpSpPr/>
            <p:nvPr/>
          </p:nvGrpSpPr>
          <p:grpSpPr>
            <a:xfrm>
              <a:off x="1270318" y="1783398"/>
              <a:ext cx="1198562" cy="961827"/>
              <a:chOff x="1270318" y="1592898"/>
              <a:chExt cx="1198562" cy="961827"/>
            </a:xfrm>
          </p:grpSpPr>
          <p:sp>
            <p:nvSpPr>
              <p:cNvPr id="57" name="Rectangle 12"/>
              <p:cNvSpPr>
                <a:spLocks noChangeArrowheads="1"/>
              </p:cNvSpPr>
              <p:nvPr/>
            </p:nvSpPr>
            <p:spPr bwMode="auto">
              <a:xfrm>
                <a:off x="1454468" y="2246948"/>
                <a:ext cx="912429"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64" name="组合 63"/>
              <p:cNvGrpSpPr/>
              <p:nvPr/>
            </p:nvGrpSpPr>
            <p:grpSpPr>
              <a:xfrm>
                <a:off x="1270318" y="1592898"/>
                <a:ext cx="1198562" cy="679450"/>
                <a:chOff x="1226503" y="1827530"/>
                <a:chExt cx="1198562" cy="679450"/>
              </a:xfrm>
            </p:grpSpPr>
            <p:grpSp>
              <p:nvGrpSpPr>
                <p:cNvPr id="23558" name="Group 6"/>
                <p:cNvGrpSpPr/>
                <p:nvPr/>
              </p:nvGrpSpPr>
              <p:grpSpPr bwMode="auto">
                <a:xfrm>
                  <a:off x="1464691" y="1935480"/>
                  <a:ext cx="289001" cy="387985"/>
                  <a:chOff x="10083" y="9927"/>
                  <a:chExt cx="455" cy="611"/>
                </a:xfrm>
              </p:grpSpPr>
              <p:sp>
                <p:nvSpPr>
                  <p:cNvPr id="23559" name="Line 7"/>
                  <p:cNvSpPr>
                    <a:spLocks noChangeShapeType="1"/>
                  </p:cNvSpPr>
                  <p:nvPr/>
                </p:nvSpPr>
                <p:spPr bwMode="auto">
                  <a:xfrm flipH="1">
                    <a:off x="10083" y="9927"/>
                    <a:ext cx="29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60" name="Line 8"/>
                  <p:cNvSpPr>
                    <a:spLocks noChangeShapeType="1"/>
                  </p:cNvSpPr>
                  <p:nvPr/>
                </p:nvSpPr>
                <p:spPr bwMode="auto">
                  <a:xfrm flipH="1">
                    <a:off x="10083" y="10538"/>
                    <a:ext cx="45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3561" name="Line 9"/>
                <p:cNvSpPr>
                  <a:spLocks noChangeShapeType="1"/>
                </p:cNvSpPr>
                <p:nvPr/>
              </p:nvSpPr>
              <p:spPr bwMode="auto">
                <a:xfrm flipH="1">
                  <a:off x="2057303" y="1934210"/>
                  <a:ext cx="14291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62" name="Line 10"/>
                <p:cNvSpPr>
                  <a:spLocks noChangeShapeType="1"/>
                </p:cNvSpPr>
                <p:nvPr/>
              </p:nvSpPr>
              <p:spPr bwMode="auto">
                <a:xfrm flipH="1">
                  <a:off x="2060479" y="2327275"/>
                  <a:ext cx="14227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63" name="Rectangle 11"/>
                <p:cNvSpPr>
                  <a:spLocks noChangeArrowheads="1"/>
                </p:cNvSpPr>
                <p:nvPr/>
              </p:nvSpPr>
              <p:spPr bwMode="auto">
                <a:xfrm>
                  <a:off x="1619037" y="1827530"/>
                  <a:ext cx="454780" cy="604520"/>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64" name="Oval 12"/>
                <p:cNvSpPr>
                  <a:spLocks noChangeArrowheads="1"/>
                </p:cNvSpPr>
                <p:nvPr/>
              </p:nvSpPr>
              <p:spPr bwMode="auto">
                <a:xfrm>
                  <a:off x="2076993" y="2301875"/>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65" name="Text Box 13"/>
                <p:cNvSpPr txBox="1">
                  <a:spLocks noChangeArrowheads="1"/>
                </p:cNvSpPr>
                <p:nvPr/>
              </p:nvSpPr>
              <p:spPr bwMode="auto">
                <a:xfrm>
                  <a:off x="1626659" y="1861820"/>
                  <a:ext cx="164509" cy="13208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66" name="Text Box 14"/>
                <p:cNvSpPr txBox="1">
                  <a:spLocks noChangeArrowheads="1"/>
                </p:cNvSpPr>
                <p:nvPr/>
              </p:nvSpPr>
              <p:spPr bwMode="auto">
                <a:xfrm>
                  <a:off x="1703514" y="2245995"/>
                  <a:ext cx="264230" cy="16192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67" name="Text Box 15"/>
                <p:cNvSpPr txBox="1">
                  <a:spLocks noChangeArrowheads="1"/>
                </p:cNvSpPr>
                <p:nvPr/>
              </p:nvSpPr>
              <p:spPr bwMode="auto">
                <a:xfrm>
                  <a:off x="2195769" y="1864995"/>
                  <a:ext cx="229296" cy="24574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68" name="Text Box 16"/>
                <p:cNvSpPr txBox="1">
                  <a:spLocks noChangeArrowheads="1"/>
                </p:cNvSpPr>
                <p:nvPr/>
              </p:nvSpPr>
              <p:spPr bwMode="auto">
                <a:xfrm>
                  <a:off x="1603158" y="2249170"/>
                  <a:ext cx="128939" cy="142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69" name="Text Box 17"/>
                <p:cNvSpPr txBox="1">
                  <a:spLocks noChangeArrowheads="1"/>
                </p:cNvSpPr>
                <p:nvPr/>
              </p:nvSpPr>
              <p:spPr bwMode="auto">
                <a:xfrm>
                  <a:off x="1281763" y="1871345"/>
                  <a:ext cx="144183" cy="14033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70" name="Text Box 18"/>
                <p:cNvSpPr txBox="1">
                  <a:spLocks noChangeArrowheads="1"/>
                </p:cNvSpPr>
                <p:nvPr/>
              </p:nvSpPr>
              <p:spPr bwMode="auto">
                <a:xfrm>
                  <a:off x="1226503" y="2251710"/>
                  <a:ext cx="229931" cy="1562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71" name="Text Box 19"/>
                <p:cNvSpPr txBox="1">
                  <a:spLocks noChangeArrowheads="1"/>
                </p:cNvSpPr>
                <p:nvPr/>
              </p:nvSpPr>
              <p:spPr bwMode="auto">
                <a:xfrm>
                  <a:off x="2205297" y="2280920"/>
                  <a:ext cx="219768" cy="22606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72" name="Line 20"/>
                <p:cNvSpPr>
                  <a:spLocks noChangeShapeType="1"/>
                </p:cNvSpPr>
                <p:nvPr/>
              </p:nvSpPr>
              <p:spPr bwMode="auto">
                <a:xfrm>
                  <a:off x="2259925" y="2288540"/>
                  <a:ext cx="107979"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nvGrpSpPr>
            <p:cNvPr id="101" name="组合 100"/>
            <p:cNvGrpSpPr/>
            <p:nvPr/>
          </p:nvGrpSpPr>
          <p:grpSpPr>
            <a:xfrm>
              <a:off x="3003656" y="1783398"/>
              <a:ext cx="1198562" cy="961827"/>
              <a:chOff x="3003656" y="1592898"/>
              <a:chExt cx="1198562" cy="961827"/>
            </a:xfrm>
          </p:grpSpPr>
          <p:sp>
            <p:nvSpPr>
              <p:cNvPr id="58" name="Rectangle 15"/>
              <p:cNvSpPr>
                <a:spLocks noChangeArrowheads="1"/>
              </p:cNvSpPr>
              <p:nvPr/>
            </p:nvSpPr>
            <p:spPr bwMode="auto">
              <a:xfrm>
                <a:off x="3083243" y="2246948"/>
                <a:ext cx="968535"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JK</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3589" name="Group 37"/>
              <p:cNvGrpSpPr/>
              <p:nvPr/>
            </p:nvGrpSpPr>
            <p:grpSpPr bwMode="auto">
              <a:xfrm>
                <a:off x="3003656" y="1592898"/>
                <a:ext cx="1198562" cy="679450"/>
                <a:chOff x="7908" y="9757"/>
                <a:chExt cx="1887" cy="1070"/>
              </a:xfrm>
            </p:grpSpPr>
            <p:grpSp>
              <p:nvGrpSpPr>
                <p:cNvPr id="23590" name="Group 38"/>
                <p:cNvGrpSpPr/>
                <p:nvPr/>
              </p:nvGrpSpPr>
              <p:grpSpPr bwMode="auto">
                <a:xfrm>
                  <a:off x="8301" y="9911"/>
                  <a:ext cx="455" cy="653"/>
                  <a:chOff x="8255" y="9911"/>
                  <a:chExt cx="308" cy="653"/>
                </a:xfrm>
              </p:grpSpPr>
              <p:sp>
                <p:nvSpPr>
                  <p:cNvPr id="23591" name="Line 39"/>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2" name="Line 40"/>
                  <p:cNvSpPr>
                    <a:spLocks noChangeShapeType="1"/>
                  </p:cNvSpPr>
                  <p:nvPr/>
                </p:nvSpPr>
                <p:spPr bwMode="auto">
                  <a:xfrm flipH="1">
                    <a:off x="8255" y="10231"/>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3" name="Line 41"/>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3594" name="Line 42"/>
                <p:cNvSpPr>
                  <a:spLocks noChangeShapeType="1"/>
                </p:cNvSpPr>
                <p:nvPr/>
              </p:nvSpPr>
              <p:spPr bwMode="auto">
                <a:xfrm flipH="1">
                  <a:off x="9210"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5" name="Line 43"/>
                <p:cNvSpPr>
                  <a:spLocks noChangeShapeType="1"/>
                </p:cNvSpPr>
                <p:nvPr/>
              </p:nvSpPr>
              <p:spPr bwMode="auto">
                <a:xfrm flipH="1">
                  <a:off x="9216" y="10561"/>
                  <a:ext cx="224"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6" name="Rectangle 44"/>
                <p:cNvSpPr>
                  <a:spLocks noChangeArrowheads="1"/>
                </p:cNvSpPr>
                <p:nvPr/>
              </p:nvSpPr>
              <p:spPr bwMode="auto">
                <a:xfrm>
                  <a:off x="8521"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7" name="Oval 45"/>
                <p:cNvSpPr>
                  <a:spLocks noChangeArrowheads="1"/>
                </p:cNvSpPr>
                <p:nvPr/>
              </p:nvSpPr>
              <p:spPr bwMode="auto">
                <a:xfrm>
                  <a:off x="9246" y="1052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598" name="Text Box 46"/>
                <p:cNvSpPr txBox="1">
                  <a:spLocks noChangeArrowheads="1"/>
                </p:cNvSpPr>
                <p:nvPr/>
              </p:nvSpPr>
              <p:spPr bwMode="auto">
                <a:xfrm>
                  <a:off x="8533" y="9795"/>
                  <a:ext cx="362" cy="2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99" name="Text Box 47"/>
                <p:cNvSpPr txBox="1">
                  <a:spLocks noChangeArrowheads="1"/>
                </p:cNvSpPr>
                <p:nvPr/>
              </p:nvSpPr>
              <p:spPr bwMode="auto">
                <a:xfrm>
                  <a:off x="8654" y="10136"/>
                  <a:ext cx="421" cy="22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0" name="Text Box 48"/>
                <p:cNvSpPr txBox="1">
                  <a:spLocks noChangeArrowheads="1"/>
                </p:cNvSpPr>
                <p:nvPr/>
              </p:nvSpPr>
              <p:spPr bwMode="auto">
                <a:xfrm>
                  <a:off x="8533" y="10450"/>
                  <a:ext cx="362" cy="22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1" name="Text Box 49"/>
                <p:cNvSpPr txBox="1">
                  <a:spLocks noChangeArrowheads="1"/>
                </p:cNvSpPr>
                <p:nvPr/>
              </p:nvSpPr>
              <p:spPr bwMode="auto">
                <a:xfrm>
                  <a:off x="9429" y="9800"/>
                  <a:ext cx="366" cy="40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2" name="Text Box 50"/>
                <p:cNvSpPr txBox="1">
                  <a:spLocks noChangeArrowheads="1"/>
                </p:cNvSpPr>
                <p:nvPr/>
              </p:nvSpPr>
              <p:spPr bwMode="auto">
                <a:xfrm>
                  <a:off x="8495" y="10115"/>
                  <a:ext cx="203" cy="24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3" name="Text Box 51"/>
                <p:cNvSpPr txBox="1">
                  <a:spLocks noChangeArrowheads="1"/>
                </p:cNvSpPr>
                <p:nvPr/>
              </p:nvSpPr>
              <p:spPr bwMode="auto">
                <a:xfrm>
                  <a:off x="8037" y="9801"/>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4" name="Text Box 52"/>
                <p:cNvSpPr txBox="1">
                  <a:spLocks noChangeArrowheads="1"/>
                </p:cNvSpPr>
                <p:nvPr/>
              </p:nvSpPr>
              <p:spPr bwMode="auto">
                <a:xfrm>
                  <a:off x="7908" y="10119"/>
                  <a:ext cx="367"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5" name="Text Box 53"/>
                <p:cNvSpPr txBox="1">
                  <a:spLocks noChangeArrowheads="1"/>
                </p:cNvSpPr>
                <p:nvPr/>
              </p:nvSpPr>
              <p:spPr bwMode="auto">
                <a:xfrm>
                  <a:off x="8046" y="10419"/>
                  <a:ext cx="242"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6" name="Text Box 54"/>
                <p:cNvSpPr txBox="1">
                  <a:spLocks noChangeArrowheads="1"/>
                </p:cNvSpPr>
                <p:nvPr/>
              </p:nvSpPr>
              <p:spPr bwMode="auto">
                <a:xfrm>
                  <a:off x="9444" y="10487"/>
                  <a:ext cx="351" cy="3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07" name="Line 55"/>
                <p:cNvSpPr>
                  <a:spLocks noChangeShapeType="1"/>
                </p:cNvSpPr>
                <p:nvPr/>
              </p:nvSpPr>
              <p:spPr bwMode="auto">
                <a:xfrm>
                  <a:off x="9552" y="10501"/>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nvGrpSpPr>
            <p:cNvPr id="102" name="组合 101"/>
            <p:cNvGrpSpPr/>
            <p:nvPr/>
          </p:nvGrpSpPr>
          <p:grpSpPr>
            <a:xfrm>
              <a:off x="4736994" y="1783398"/>
              <a:ext cx="1177925" cy="961827"/>
              <a:chOff x="4736994" y="1592898"/>
              <a:chExt cx="1177925" cy="961827"/>
            </a:xfrm>
          </p:grpSpPr>
          <p:sp>
            <p:nvSpPr>
              <p:cNvPr id="59" name="Rectangle 18"/>
              <p:cNvSpPr>
                <a:spLocks noChangeArrowheads="1"/>
              </p:cNvSpPr>
              <p:nvPr/>
            </p:nvSpPr>
            <p:spPr bwMode="auto">
              <a:xfrm>
                <a:off x="4919662" y="2246948"/>
                <a:ext cx="864276"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3608" name="Group 56"/>
              <p:cNvGrpSpPr/>
              <p:nvPr/>
            </p:nvGrpSpPr>
            <p:grpSpPr bwMode="auto">
              <a:xfrm>
                <a:off x="4736994" y="1592898"/>
                <a:ext cx="1177925" cy="620712"/>
                <a:chOff x="9741" y="9757"/>
                <a:chExt cx="1854" cy="978"/>
              </a:xfrm>
            </p:grpSpPr>
            <p:grpSp>
              <p:nvGrpSpPr>
                <p:cNvPr id="23609" name="Group 57"/>
                <p:cNvGrpSpPr/>
                <p:nvPr/>
              </p:nvGrpSpPr>
              <p:grpSpPr bwMode="auto">
                <a:xfrm>
                  <a:off x="10083" y="9927"/>
                  <a:ext cx="455" cy="616"/>
                  <a:chOff x="10083" y="9927"/>
                  <a:chExt cx="455" cy="616"/>
                </a:xfrm>
              </p:grpSpPr>
              <p:sp>
                <p:nvSpPr>
                  <p:cNvPr id="23610" name="Line 58"/>
                  <p:cNvSpPr>
                    <a:spLocks noChangeShapeType="1"/>
                  </p:cNvSpPr>
                  <p:nvPr/>
                </p:nvSpPr>
                <p:spPr bwMode="auto">
                  <a:xfrm flipH="1">
                    <a:off x="10083" y="9927"/>
                    <a:ext cx="29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11" name="Line 59"/>
                  <p:cNvSpPr>
                    <a:spLocks noChangeShapeType="1"/>
                  </p:cNvSpPr>
                  <p:nvPr/>
                </p:nvSpPr>
                <p:spPr bwMode="auto">
                  <a:xfrm flipH="1">
                    <a:off x="10083" y="10543"/>
                    <a:ext cx="45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3612" name="Line 60"/>
                <p:cNvSpPr>
                  <a:spLocks noChangeShapeType="1"/>
                </p:cNvSpPr>
                <p:nvPr/>
              </p:nvSpPr>
              <p:spPr bwMode="auto">
                <a:xfrm flipH="1">
                  <a:off x="11016" y="9925"/>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13" name="Line 61"/>
                <p:cNvSpPr>
                  <a:spLocks noChangeShapeType="1"/>
                </p:cNvSpPr>
                <p:nvPr/>
              </p:nvSpPr>
              <p:spPr bwMode="auto">
                <a:xfrm flipH="1">
                  <a:off x="11021" y="10544"/>
                  <a:ext cx="28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14" name="Rectangle 62"/>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15" name="Oval 63"/>
                <p:cNvSpPr>
                  <a:spLocks noChangeArrowheads="1"/>
                </p:cNvSpPr>
                <p:nvPr/>
              </p:nvSpPr>
              <p:spPr bwMode="auto">
                <a:xfrm>
                  <a:off x="11047" y="1050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16" name="Text Box 64"/>
                <p:cNvSpPr txBox="1">
                  <a:spLocks noChangeArrowheads="1"/>
                </p:cNvSpPr>
                <p:nvPr/>
              </p:nvSpPr>
              <p:spPr bwMode="auto">
                <a:xfrm>
                  <a:off x="10338" y="9811"/>
                  <a:ext cx="357" cy="23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17" name="Text Box 65"/>
                <p:cNvSpPr txBox="1">
                  <a:spLocks noChangeArrowheads="1"/>
                </p:cNvSpPr>
                <p:nvPr/>
              </p:nvSpPr>
              <p:spPr bwMode="auto">
                <a:xfrm>
                  <a:off x="10459" y="10416"/>
                  <a:ext cx="416"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18" name="Text Box 66"/>
                <p:cNvSpPr txBox="1">
                  <a:spLocks noChangeArrowheads="1"/>
                </p:cNvSpPr>
                <p:nvPr/>
              </p:nvSpPr>
              <p:spPr bwMode="auto">
                <a:xfrm>
                  <a:off x="11234" y="9816"/>
                  <a:ext cx="361" cy="3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19" name="Text Box 67"/>
                <p:cNvSpPr txBox="1">
                  <a:spLocks noChangeArrowheads="1"/>
                </p:cNvSpPr>
                <p:nvPr/>
              </p:nvSpPr>
              <p:spPr bwMode="auto">
                <a:xfrm>
                  <a:off x="10301" y="10421"/>
                  <a:ext cx="203" cy="19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20" name="Text Box 68"/>
                <p:cNvSpPr txBox="1">
                  <a:spLocks noChangeArrowheads="1"/>
                </p:cNvSpPr>
                <p:nvPr/>
              </p:nvSpPr>
              <p:spPr bwMode="auto">
                <a:xfrm>
                  <a:off x="9823" y="9795"/>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21" name="Text Box 69"/>
                <p:cNvSpPr txBox="1">
                  <a:spLocks noChangeArrowheads="1"/>
                </p:cNvSpPr>
                <p:nvPr/>
              </p:nvSpPr>
              <p:spPr bwMode="auto">
                <a:xfrm>
                  <a:off x="9741" y="10421"/>
                  <a:ext cx="354" cy="28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22" name="Text Box 70"/>
                <p:cNvSpPr txBox="1">
                  <a:spLocks noChangeArrowheads="1"/>
                </p:cNvSpPr>
                <p:nvPr/>
              </p:nvSpPr>
              <p:spPr bwMode="auto">
                <a:xfrm>
                  <a:off x="11345" y="10423"/>
                  <a:ext cx="180" cy="31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23" name="Line 71"/>
                <p:cNvSpPr>
                  <a:spLocks noChangeShapeType="1"/>
                </p:cNvSpPr>
                <p:nvPr/>
              </p:nvSpPr>
              <p:spPr bwMode="auto">
                <a:xfrm>
                  <a:off x="11355" y="10433"/>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nvGrpSpPr>
            <p:cNvPr id="103" name="组合 102"/>
            <p:cNvGrpSpPr/>
            <p:nvPr/>
          </p:nvGrpSpPr>
          <p:grpSpPr>
            <a:xfrm>
              <a:off x="6449695" y="1783398"/>
              <a:ext cx="1111250" cy="961827"/>
              <a:chOff x="6449695" y="1592898"/>
              <a:chExt cx="1111250" cy="961827"/>
            </a:xfrm>
          </p:grpSpPr>
          <p:sp>
            <p:nvSpPr>
              <p:cNvPr id="60" name="Rectangle 21"/>
              <p:cNvSpPr>
                <a:spLocks noChangeArrowheads="1"/>
              </p:cNvSpPr>
              <p:nvPr/>
            </p:nvSpPr>
            <p:spPr bwMode="auto">
              <a:xfrm>
                <a:off x="6532562" y="2246948"/>
                <a:ext cx="966931"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SR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3624" name="Group 72"/>
              <p:cNvGrpSpPr/>
              <p:nvPr/>
            </p:nvGrpSpPr>
            <p:grpSpPr bwMode="auto">
              <a:xfrm>
                <a:off x="6449695" y="1592898"/>
                <a:ext cx="1111250" cy="636587"/>
                <a:chOff x="9741" y="9757"/>
                <a:chExt cx="1748" cy="1004"/>
              </a:xfrm>
            </p:grpSpPr>
            <p:grpSp>
              <p:nvGrpSpPr>
                <p:cNvPr id="23625" name="Group 73"/>
                <p:cNvGrpSpPr/>
                <p:nvPr/>
              </p:nvGrpSpPr>
              <p:grpSpPr bwMode="auto">
                <a:xfrm>
                  <a:off x="10083" y="9911"/>
                  <a:ext cx="455" cy="653"/>
                  <a:chOff x="8255" y="9911"/>
                  <a:chExt cx="308" cy="653"/>
                </a:xfrm>
              </p:grpSpPr>
              <p:sp>
                <p:nvSpPr>
                  <p:cNvPr id="23626" name="Line 74"/>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27" name="Line 75"/>
                  <p:cNvSpPr>
                    <a:spLocks noChangeShapeType="1"/>
                  </p:cNvSpPr>
                  <p:nvPr/>
                </p:nvSpPr>
                <p:spPr bwMode="auto">
                  <a:xfrm flipH="1">
                    <a:off x="8255" y="10236"/>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28" name="Line 76"/>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3629" name="Line 77"/>
                <p:cNvSpPr>
                  <a:spLocks noChangeShapeType="1"/>
                </p:cNvSpPr>
                <p:nvPr/>
              </p:nvSpPr>
              <p:spPr bwMode="auto">
                <a:xfrm flipH="1">
                  <a:off x="11016"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30" name="Line 78"/>
                <p:cNvSpPr>
                  <a:spLocks noChangeShapeType="1"/>
                </p:cNvSpPr>
                <p:nvPr/>
              </p:nvSpPr>
              <p:spPr bwMode="auto">
                <a:xfrm flipH="1">
                  <a:off x="11021" y="10561"/>
                  <a:ext cx="227"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31" name="Rectangle 79"/>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32" name="Oval 80"/>
                <p:cNvSpPr>
                  <a:spLocks noChangeArrowheads="1"/>
                </p:cNvSpPr>
                <p:nvPr/>
              </p:nvSpPr>
              <p:spPr bwMode="auto">
                <a:xfrm>
                  <a:off x="11047" y="10520"/>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633" name="Text Box 81"/>
                <p:cNvSpPr txBox="1">
                  <a:spLocks noChangeArrowheads="1"/>
                </p:cNvSpPr>
                <p:nvPr/>
              </p:nvSpPr>
              <p:spPr bwMode="auto">
                <a:xfrm>
                  <a:off x="10338" y="9795"/>
                  <a:ext cx="303"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4" name="Text Box 82"/>
                <p:cNvSpPr txBox="1">
                  <a:spLocks noChangeArrowheads="1"/>
                </p:cNvSpPr>
                <p:nvPr/>
              </p:nvSpPr>
              <p:spPr bwMode="auto">
                <a:xfrm>
                  <a:off x="10459" y="10136"/>
                  <a:ext cx="350" cy="3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5" name="Text Box 83"/>
                <p:cNvSpPr txBox="1">
                  <a:spLocks noChangeArrowheads="1"/>
                </p:cNvSpPr>
                <p:nvPr/>
              </p:nvSpPr>
              <p:spPr bwMode="auto">
                <a:xfrm>
                  <a:off x="10338" y="10450"/>
                  <a:ext cx="268" cy="20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6" name="Text Box 84"/>
                <p:cNvSpPr txBox="1">
                  <a:spLocks noChangeArrowheads="1"/>
                </p:cNvSpPr>
                <p:nvPr/>
              </p:nvSpPr>
              <p:spPr bwMode="auto">
                <a:xfrm>
                  <a:off x="11234" y="9800"/>
                  <a:ext cx="255" cy="28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7" name="Text Box 85"/>
                <p:cNvSpPr txBox="1">
                  <a:spLocks noChangeArrowheads="1"/>
                </p:cNvSpPr>
                <p:nvPr/>
              </p:nvSpPr>
              <p:spPr bwMode="auto">
                <a:xfrm>
                  <a:off x="10301" y="10115"/>
                  <a:ext cx="203" cy="25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8" name="Text Box 86"/>
                <p:cNvSpPr txBox="1">
                  <a:spLocks noChangeArrowheads="1"/>
                </p:cNvSpPr>
                <p:nvPr/>
              </p:nvSpPr>
              <p:spPr bwMode="auto">
                <a:xfrm>
                  <a:off x="9875" y="9770"/>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39" name="Text Box 87"/>
                <p:cNvSpPr txBox="1">
                  <a:spLocks noChangeArrowheads="1"/>
                </p:cNvSpPr>
                <p:nvPr/>
              </p:nvSpPr>
              <p:spPr bwMode="auto">
                <a:xfrm>
                  <a:off x="9741" y="10119"/>
                  <a:ext cx="348" cy="24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40" name="Text Box 88"/>
                <p:cNvSpPr txBox="1">
                  <a:spLocks noChangeArrowheads="1"/>
                </p:cNvSpPr>
                <p:nvPr/>
              </p:nvSpPr>
              <p:spPr bwMode="auto">
                <a:xfrm>
                  <a:off x="9833" y="10432"/>
                  <a:ext cx="256" cy="2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41" name="Text Box 89"/>
                <p:cNvSpPr txBox="1">
                  <a:spLocks noChangeArrowheads="1"/>
                </p:cNvSpPr>
                <p:nvPr/>
              </p:nvSpPr>
              <p:spPr bwMode="auto">
                <a:xfrm>
                  <a:off x="11277" y="10455"/>
                  <a:ext cx="210" cy="3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42" name="Line 90"/>
                <p:cNvSpPr>
                  <a:spLocks noChangeShapeType="1"/>
                </p:cNvSpPr>
                <p:nvPr/>
              </p:nvSpPr>
              <p:spPr bwMode="auto">
                <a:xfrm>
                  <a:off x="11317" y="10467"/>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nvGrpSpPr>
            <p:cNvPr id="290" name="组合 289"/>
            <p:cNvGrpSpPr/>
            <p:nvPr/>
          </p:nvGrpSpPr>
          <p:grpSpPr>
            <a:xfrm>
              <a:off x="1270318" y="3310573"/>
              <a:ext cx="6290627" cy="961827"/>
              <a:chOff x="1270318" y="3310573"/>
              <a:chExt cx="6290627" cy="961827"/>
            </a:xfrm>
          </p:grpSpPr>
          <p:grpSp>
            <p:nvGrpSpPr>
              <p:cNvPr id="288" name="组合 287"/>
              <p:cNvGrpSpPr/>
              <p:nvPr/>
            </p:nvGrpSpPr>
            <p:grpSpPr>
              <a:xfrm>
                <a:off x="1270318" y="3310573"/>
                <a:ext cx="1198562" cy="961827"/>
                <a:chOff x="1270318" y="3183573"/>
                <a:chExt cx="1198562" cy="961827"/>
              </a:xfrm>
            </p:grpSpPr>
            <p:grpSp>
              <p:nvGrpSpPr>
                <p:cNvPr id="280" name="组合 279"/>
                <p:cNvGrpSpPr/>
                <p:nvPr/>
              </p:nvGrpSpPr>
              <p:grpSpPr>
                <a:xfrm>
                  <a:off x="1502156" y="3301048"/>
                  <a:ext cx="289001" cy="387985"/>
                  <a:chOff x="1660906" y="2043748"/>
                  <a:chExt cx="289001" cy="387985"/>
                </a:xfrm>
              </p:grpSpPr>
              <p:sp>
                <p:nvSpPr>
                  <p:cNvPr id="278" name="Line 7"/>
                  <p:cNvSpPr>
                    <a:spLocks noChangeShapeType="1"/>
                  </p:cNvSpPr>
                  <p:nvPr/>
                </p:nvSpPr>
                <p:spPr bwMode="auto">
                  <a:xfrm flipH="1">
                    <a:off x="1660906" y="2043748"/>
                    <a:ext cx="186104"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79" name="Line 8"/>
                  <p:cNvSpPr>
                    <a:spLocks noChangeShapeType="1"/>
                  </p:cNvSpPr>
                  <p:nvPr/>
                </p:nvSpPr>
                <p:spPr bwMode="auto">
                  <a:xfrm flipH="1">
                    <a:off x="1660906" y="2431733"/>
                    <a:ext cx="289001"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nvGrpSpPr>
                <p:cNvPr id="182" name="组合 181"/>
                <p:cNvGrpSpPr/>
                <p:nvPr/>
              </p:nvGrpSpPr>
              <p:grpSpPr>
                <a:xfrm>
                  <a:off x="1270318" y="3183573"/>
                  <a:ext cx="1198562" cy="961827"/>
                  <a:chOff x="1270318" y="1592898"/>
                  <a:chExt cx="1198562" cy="961827"/>
                </a:xfrm>
              </p:grpSpPr>
              <p:sp>
                <p:nvSpPr>
                  <p:cNvPr id="183" name="Rectangle 12"/>
                  <p:cNvSpPr>
                    <a:spLocks noChangeArrowheads="1"/>
                  </p:cNvSpPr>
                  <p:nvPr/>
                </p:nvSpPr>
                <p:spPr bwMode="auto">
                  <a:xfrm>
                    <a:off x="1454468" y="2246948"/>
                    <a:ext cx="912429"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84" name="组合 63"/>
                  <p:cNvGrpSpPr/>
                  <p:nvPr/>
                </p:nvGrpSpPr>
                <p:grpSpPr>
                  <a:xfrm>
                    <a:off x="1270318" y="1592898"/>
                    <a:ext cx="1198562" cy="679450"/>
                    <a:chOff x="1226503" y="1827530"/>
                    <a:chExt cx="1198562" cy="679450"/>
                  </a:xfrm>
                </p:grpSpPr>
                <p:sp>
                  <p:nvSpPr>
                    <p:cNvPr id="186" name="Line 9"/>
                    <p:cNvSpPr>
                      <a:spLocks noChangeShapeType="1"/>
                    </p:cNvSpPr>
                    <p:nvPr/>
                  </p:nvSpPr>
                  <p:spPr bwMode="auto">
                    <a:xfrm flipH="1">
                      <a:off x="2057303" y="1934210"/>
                      <a:ext cx="14291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87" name="Line 10"/>
                    <p:cNvSpPr>
                      <a:spLocks noChangeShapeType="1"/>
                    </p:cNvSpPr>
                    <p:nvPr/>
                  </p:nvSpPr>
                  <p:spPr bwMode="auto">
                    <a:xfrm flipH="1">
                      <a:off x="2060479" y="2327275"/>
                      <a:ext cx="14227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88" name="Rectangle 11"/>
                    <p:cNvSpPr>
                      <a:spLocks noChangeArrowheads="1"/>
                    </p:cNvSpPr>
                    <p:nvPr/>
                  </p:nvSpPr>
                  <p:spPr bwMode="auto">
                    <a:xfrm>
                      <a:off x="1619037" y="1827530"/>
                      <a:ext cx="454780" cy="604520"/>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89" name="Oval 12"/>
                    <p:cNvSpPr>
                      <a:spLocks noChangeArrowheads="1"/>
                    </p:cNvSpPr>
                    <p:nvPr/>
                  </p:nvSpPr>
                  <p:spPr bwMode="auto">
                    <a:xfrm>
                      <a:off x="2076993" y="2301875"/>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90" name="Text Box 13"/>
                    <p:cNvSpPr txBox="1">
                      <a:spLocks noChangeArrowheads="1"/>
                    </p:cNvSpPr>
                    <p:nvPr/>
                  </p:nvSpPr>
                  <p:spPr bwMode="auto">
                    <a:xfrm>
                      <a:off x="1626659" y="1861820"/>
                      <a:ext cx="164509" cy="13208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1" name="Text Box 14"/>
                    <p:cNvSpPr txBox="1">
                      <a:spLocks noChangeArrowheads="1"/>
                    </p:cNvSpPr>
                    <p:nvPr/>
                  </p:nvSpPr>
                  <p:spPr bwMode="auto">
                    <a:xfrm>
                      <a:off x="1703514" y="2245995"/>
                      <a:ext cx="264230" cy="16192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2" name="Text Box 15"/>
                    <p:cNvSpPr txBox="1">
                      <a:spLocks noChangeArrowheads="1"/>
                    </p:cNvSpPr>
                    <p:nvPr/>
                  </p:nvSpPr>
                  <p:spPr bwMode="auto">
                    <a:xfrm>
                      <a:off x="2195769" y="1864995"/>
                      <a:ext cx="229296" cy="24574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Text Box 16"/>
                    <p:cNvSpPr txBox="1">
                      <a:spLocks noChangeArrowheads="1"/>
                    </p:cNvSpPr>
                    <p:nvPr/>
                  </p:nvSpPr>
                  <p:spPr bwMode="auto">
                    <a:xfrm>
                      <a:off x="1603158" y="2249170"/>
                      <a:ext cx="128939" cy="142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4" name="Text Box 17"/>
                    <p:cNvSpPr txBox="1">
                      <a:spLocks noChangeArrowheads="1"/>
                    </p:cNvSpPr>
                    <p:nvPr/>
                  </p:nvSpPr>
                  <p:spPr bwMode="auto">
                    <a:xfrm>
                      <a:off x="1281763" y="1871345"/>
                      <a:ext cx="144183" cy="14033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5" name="Text Box 18"/>
                    <p:cNvSpPr txBox="1">
                      <a:spLocks noChangeArrowheads="1"/>
                    </p:cNvSpPr>
                    <p:nvPr/>
                  </p:nvSpPr>
                  <p:spPr bwMode="auto">
                    <a:xfrm>
                      <a:off x="1226503" y="2251710"/>
                      <a:ext cx="229931" cy="1562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6" name="Text Box 19"/>
                    <p:cNvSpPr txBox="1">
                      <a:spLocks noChangeArrowheads="1"/>
                    </p:cNvSpPr>
                    <p:nvPr/>
                  </p:nvSpPr>
                  <p:spPr bwMode="auto">
                    <a:xfrm>
                      <a:off x="2205297" y="2280920"/>
                      <a:ext cx="219768" cy="22606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7" name="Line 20"/>
                    <p:cNvSpPr>
                      <a:spLocks noChangeShapeType="1"/>
                    </p:cNvSpPr>
                    <p:nvPr/>
                  </p:nvSpPr>
                  <p:spPr bwMode="auto">
                    <a:xfrm>
                      <a:off x="2259925" y="2288540"/>
                      <a:ext cx="107979"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281" name="Oval 12"/>
                <p:cNvSpPr>
                  <a:spLocks noChangeArrowheads="1"/>
                </p:cNvSpPr>
                <p:nvPr/>
              </p:nvSpPr>
              <p:spPr bwMode="auto">
                <a:xfrm>
                  <a:off x="1594552" y="3660299"/>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nvGrpSpPr>
              <p:cNvPr id="287" name="组合 286"/>
              <p:cNvGrpSpPr/>
              <p:nvPr/>
            </p:nvGrpSpPr>
            <p:grpSpPr>
              <a:xfrm>
                <a:off x="3003656" y="3310573"/>
                <a:ext cx="1198562" cy="961827"/>
                <a:chOff x="3003656" y="3183573"/>
                <a:chExt cx="1198562" cy="961827"/>
              </a:xfrm>
            </p:grpSpPr>
            <p:grpSp>
              <p:nvGrpSpPr>
                <p:cNvPr id="200" name="组合 199"/>
                <p:cNvGrpSpPr/>
                <p:nvPr/>
              </p:nvGrpSpPr>
              <p:grpSpPr>
                <a:xfrm>
                  <a:off x="3003656" y="3183573"/>
                  <a:ext cx="1198562" cy="961827"/>
                  <a:chOff x="3003656" y="1592898"/>
                  <a:chExt cx="1198562" cy="961827"/>
                </a:xfrm>
              </p:grpSpPr>
              <p:sp>
                <p:nvSpPr>
                  <p:cNvPr id="201" name="Rectangle 15"/>
                  <p:cNvSpPr>
                    <a:spLocks noChangeArrowheads="1"/>
                  </p:cNvSpPr>
                  <p:nvPr/>
                </p:nvSpPr>
                <p:spPr bwMode="auto">
                  <a:xfrm>
                    <a:off x="3083243" y="2246948"/>
                    <a:ext cx="968535"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JK</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02" name="Group 37"/>
                  <p:cNvGrpSpPr/>
                  <p:nvPr/>
                </p:nvGrpSpPr>
                <p:grpSpPr bwMode="auto">
                  <a:xfrm>
                    <a:off x="3003652" y="1592898"/>
                    <a:ext cx="1198561" cy="679450"/>
                    <a:chOff x="7908" y="9757"/>
                    <a:chExt cx="1887" cy="1070"/>
                  </a:xfrm>
                </p:grpSpPr>
                <p:grpSp>
                  <p:nvGrpSpPr>
                    <p:cNvPr id="203" name="Group 38"/>
                    <p:cNvGrpSpPr/>
                    <p:nvPr/>
                  </p:nvGrpSpPr>
                  <p:grpSpPr bwMode="auto">
                    <a:xfrm>
                      <a:off x="8328" y="9911"/>
                      <a:ext cx="456" cy="653"/>
                      <a:chOff x="8255" y="9911"/>
                      <a:chExt cx="308" cy="653"/>
                    </a:xfrm>
                  </p:grpSpPr>
                  <p:sp>
                    <p:nvSpPr>
                      <p:cNvPr id="218" name="Line 39"/>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19" name="Line 40"/>
                      <p:cNvSpPr>
                        <a:spLocks noChangeShapeType="1"/>
                      </p:cNvSpPr>
                      <p:nvPr/>
                    </p:nvSpPr>
                    <p:spPr bwMode="auto">
                      <a:xfrm flipH="1">
                        <a:off x="8255" y="10242"/>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20" name="Line 41"/>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04" name="Line 42"/>
                    <p:cNvSpPr>
                      <a:spLocks noChangeShapeType="1"/>
                    </p:cNvSpPr>
                    <p:nvPr/>
                  </p:nvSpPr>
                  <p:spPr bwMode="auto">
                    <a:xfrm flipH="1">
                      <a:off x="9210"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05" name="Line 43"/>
                    <p:cNvSpPr>
                      <a:spLocks noChangeShapeType="1"/>
                    </p:cNvSpPr>
                    <p:nvPr/>
                  </p:nvSpPr>
                  <p:spPr bwMode="auto">
                    <a:xfrm flipH="1">
                      <a:off x="9216" y="10561"/>
                      <a:ext cx="224"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06" name="Rectangle 44"/>
                    <p:cNvSpPr>
                      <a:spLocks noChangeArrowheads="1"/>
                    </p:cNvSpPr>
                    <p:nvPr/>
                  </p:nvSpPr>
                  <p:spPr bwMode="auto">
                    <a:xfrm>
                      <a:off x="8521"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07" name="Oval 45"/>
                    <p:cNvSpPr>
                      <a:spLocks noChangeArrowheads="1"/>
                    </p:cNvSpPr>
                    <p:nvPr/>
                  </p:nvSpPr>
                  <p:spPr bwMode="auto">
                    <a:xfrm>
                      <a:off x="9246" y="1052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08" name="Text Box 46"/>
                    <p:cNvSpPr txBox="1">
                      <a:spLocks noChangeArrowheads="1"/>
                    </p:cNvSpPr>
                    <p:nvPr/>
                  </p:nvSpPr>
                  <p:spPr bwMode="auto">
                    <a:xfrm>
                      <a:off x="8533" y="9795"/>
                      <a:ext cx="362" cy="2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9" name="Text Box 47"/>
                    <p:cNvSpPr txBox="1">
                      <a:spLocks noChangeArrowheads="1"/>
                    </p:cNvSpPr>
                    <p:nvPr/>
                  </p:nvSpPr>
                  <p:spPr bwMode="auto">
                    <a:xfrm>
                      <a:off x="8654" y="10136"/>
                      <a:ext cx="421" cy="22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0" name="Text Box 48"/>
                    <p:cNvSpPr txBox="1">
                      <a:spLocks noChangeArrowheads="1"/>
                    </p:cNvSpPr>
                    <p:nvPr/>
                  </p:nvSpPr>
                  <p:spPr bwMode="auto">
                    <a:xfrm>
                      <a:off x="8533" y="10450"/>
                      <a:ext cx="362" cy="22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1" name="Text Box 49"/>
                    <p:cNvSpPr txBox="1">
                      <a:spLocks noChangeArrowheads="1"/>
                    </p:cNvSpPr>
                    <p:nvPr/>
                  </p:nvSpPr>
                  <p:spPr bwMode="auto">
                    <a:xfrm>
                      <a:off x="9429" y="9800"/>
                      <a:ext cx="366" cy="40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2" name="Text Box 50"/>
                    <p:cNvSpPr txBox="1">
                      <a:spLocks noChangeArrowheads="1"/>
                    </p:cNvSpPr>
                    <p:nvPr/>
                  </p:nvSpPr>
                  <p:spPr bwMode="auto">
                    <a:xfrm>
                      <a:off x="8495" y="10115"/>
                      <a:ext cx="203" cy="24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3" name="Text Box 51"/>
                    <p:cNvSpPr txBox="1">
                      <a:spLocks noChangeArrowheads="1"/>
                    </p:cNvSpPr>
                    <p:nvPr/>
                  </p:nvSpPr>
                  <p:spPr bwMode="auto">
                    <a:xfrm>
                      <a:off x="8037" y="9801"/>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4" name="Text Box 52"/>
                    <p:cNvSpPr txBox="1">
                      <a:spLocks noChangeArrowheads="1"/>
                    </p:cNvSpPr>
                    <p:nvPr/>
                  </p:nvSpPr>
                  <p:spPr bwMode="auto">
                    <a:xfrm>
                      <a:off x="7908" y="10119"/>
                      <a:ext cx="367"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5" name="Text Box 53"/>
                    <p:cNvSpPr txBox="1">
                      <a:spLocks noChangeArrowheads="1"/>
                    </p:cNvSpPr>
                    <p:nvPr/>
                  </p:nvSpPr>
                  <p:spPr bwMode="auto">
                    <a:xfrm>
                      <a:off x="8046" y="10419"/>
                      <a:ext cx="242"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6" name="Text Box 54"/>
                    <p:cNvSpPr txBox="1">
                      <a:spLocks noChangeArrowheads="1"/>
                    </p:cNvSpPr>
                    <p:nvPr/>
                  </p:nvSpPr>
                  <p:spPr bwMode="auto">
                    <a:xfrm>
                      <a:off x="9444" y="10487"/>
                      <a:ext cx="351" cy="3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7" name="Line 55"/>
                    <p:cNvSpPr>
                      <a:spLocks noChangeShapeType="1"/>
                    </p:cNvSpPr>
                    <p:nvPr/>
                  </p:nvSpPr>
                  <p:spPr bwMode="auto">
                    <a:xfrm>
                      <a:off x="9552" y="10501"/>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282" name="Oval 12"/>
                <p:cNvSpPr>
                  <a:spLocks noChangeArrowheads="1"/>
                </p:cNvSpPr>
                <p:nvPr/>
              </p:nvSpPr>
              <p:spPr bwMode="auto">
                <a:xfrm>
                  <a:off x="3332864" y="3460275"/>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nvGrpSpPr>
              <p:cNvPr id="286" name="组合 285"/>
              <p:cNvGrpSpPr/>
              <p:nvPr/>
            </p:nvGrpSpPr>
            <p:grpSpPr>
              <a:xfrm>
                <a:off x="4736994" y="3310573"/>
                <a:ext cx="1177925" cy="961827"/>
                <a:chOff x="4736994" y="3183573"/>
                <a:chExt cx="1177925" cy="961827"/>
              </a:xfrm>
            </p:grpSpPr>
            <p:grpSp>
              <p:nvGrpSpPr>
                <p:cNvPr id="221" name="组合 220"/>
                <p:cNvGrpSpPr/>
                <p:nvPr/>
              </p:nvGrpSpPr>
              <p:grpSpPr>
                <a:xfrm>
                  <a:off x="4736994" y="3183573"/>
                  <a:ext cx="1177925" cy="961827"/>
                  <a:chOff x="4736994" y="1592898"/>
                  <a:chExt cx="1177925" cy="961827"/>
                </a:xfrm>
              </p:grpSpPr>
              <p:sp>
                <p:nvSpPr>
                  <p:cNvPr id="222" name="Rectangle 18"/>
                  <p:cNvSpPr>
                    <a:spLocks noChangeArrowheads="1"/>
                  </p:cNvSpPr>
                  <p:nvPr/>
                </p:nvSpPr>
                <p:spPr bwMode="auto">
                  <a:xfrm>
                    <a:off x="4919662" y="2246948"/>
                    <a:ext cx="864276"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23" name="Group 56"/>
                  <p:cNvGrpSpPr/>
                  <p:nvPr/>
                </p:nvGrpSpPr>
                <p:grpSpPr bwMode="auto">
                  <a:xfrm>
                    <a:off x="4736998" y="1592906"/>
                    <a:ext cx="1177926" cy="620713"/>
                    <a:chOff x="9741" y="9757"/>
                    <a:chExt cx="1854" cy="978"/>
                  </a:xfrm>
                </p:grpSpPr>
                <p:grpSp>
                  <p:nvGrpSpPr>
                    <p:cNvPr id="224" name="Group 57"/>
                    <p:cNvGrpSpPr/>
                    <p:nvPr/>
                  </p:nvGrpSpPr>
                  <p:grpSpPr bwMode="auto">
                    <a:xfrm>
                      <a:off x="10083" y="9927"/>
                      <a:ext cx="455" cy="616"/>
                      <a:chOff x="10083" y="9927"/>
                      <a:chExt cx="455" cy="616"/>
                    </a:xfrm>
                  </p:grpSpPr>
                  <p:sp>
                    <p:nvSpPr>
                      <p:cNvPr id="237" name="Line 58"/>
                      <p:cNvSpPr>
                        <a:spLocks noChangeShapeType="1"/>
                      </p:cNvSpPr>
                      <p:nvPr/>
                    </p:nvSpPr>
                    <p:spPr bwMode="auto">
                      <a:xfrm flipH="1">
                        <a:off x="10083" y="9927"/>
                        <a:ext cx="29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38" name="Line 59"/>
                      <p:cNvSpPr>
                        <a:spLocks noChangeShapeType="1"/>
                      </p:cNvSpPr>
                      <p:nvPr/>
                    </p:nvSpPr>
                    <p:spPr bwMode="auto">
                      <a:xfrm flipH="1">
                        <a:off x="10083" y="10543"/>
                        <a:ext cx="45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25" name="Line 60"/>
                    <p:cNvSpPr>
                      <a:spLocks noChangeShapeType="1"/>
                    </p:cNvSpPr>
                    <p:nvPr/>
                  </p:nvSpPr>
                  <p:spPr bwMode="auto">
                    <a:xfrm flipH="1">
                      <a:off x="11016" y="9925"/>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26" name="Line 61"/>
                    <p:cNvSpPr>
                      <a:spLocks noChangeShapeType="1"/>
                    </p:cNvSpPr>
                    <p:nvPr/>
                  </p:nvSpPr>
                  <p:spPr bwMode="auto">
                    <a:xfrm flipH="1">
                      <a:off x="11021" y="10544"/>
                      <a:ext cx="28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27" name="Rectangle 62"/>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28" name="Oval 63"/>
                    <p:cNvSpPr>
                      <a:spLocks noChangeArrowheads="1"/>
                    </p:cNvSpPr>
                    <p:nvPr/>
                  </p:nvSpPr>
                  <p:spPr bwMode="auto">
                    <a:xfrm>
                      <a:off x="11047" y="1050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29" name="Text Box 64"/>
                    <p:cNvSpPr txBox="1">
                      <a:spLocks noChangeArrowheads="1"/>
                    </p:cNvSpPr>
                    <p:nvPr/>
                  </p:nvSpPr>
                  <p:spPr bwMode="auto">
                    <a:xfrm>
                      <a:off x="10338" y="9811"/>
                      <a:ext cx="357" cy="23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0" name="Text Box 65"/>
                    <p:cNvSpPr txBox="1">
                      <a:spLocks noChangeArrowheads="1"/>
                    </p:cNvSpPr>
                    <p:nvPr/>
                  </p:nvSpPr>
                  <p:spPr bwMode="auto">
                    <a:xfrm>
                      <a:off x="10459" y="10416"/>
                      <a:ext cx="416"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1" name="Text Box 66"/>
                    <p:cNvSpPr txBox="1">
                      <a:spLocks noChangeArrowheads="1"/>
                    </p:cNvSpPr>
                    <p:nvPr/>
                  </p:nvSpPr>
                  <p:spPr bwMode="auto">
                    <a:xfrm>
                      <a:off x="11234" y="9816"/>
                      <a:ext cx="361" cy="3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2" name="Text Box 67"/>
                    <p:cNvSpPr txBox="1">
                      <a:spLocks noChangeArrowheads="1"/>
                    </p:cNvSpPr>
                    <p:nvPr/>
                  </p:nvSpPr>
                  <p:spPr bwMode="auto">
                    <a:xfrm>
                      <a:off x="10301" y="10421"/>
                      <a:ext cx="203" cy="19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3" name="Text Box 68"/>
                    <p:cNvSpPr txBox="1">
                      <a:spLocks noChangeArrowheads="1"/>
                    </p:cNvSpPr>
                    <p:nvPr/>
                  </p:nvSpPr>
                  <p:spPr bwMode="auto">
                    <a:xfrm>
                      <a:off x="9823" y="9795"/>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4" name="Text Box 69"/>
                    <p:cNvSpPr txBox="1">
                      <a:spLocks noChangeArrowheads="1"/>
                    </p:cNvSpPr>
                    <p:nvPr/>
                  </p:nvSpPr>
                  <p:spPr bwMode="auto">
                    <a:xfrm>
                      <a:off x="9741" y="10421"/>
                      <a:ext cx="354" cy="28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5" name="Text Box 70"/>
                    <p:cNvSpPr txBox="1">
                      <a:spLocks noChangeArrowheads="1"/>
                    </p:cNvSpPr>
                    <p:nvPr/>
                  </p:nvSpPr>
                  <p:spPr bwMode="auto">
                    <a:xfrm>
                      <a:off x="11345" y="10423"/>
                      <a:ext cx="180" cy="31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6" name="Line 71"/>
                    <p:cNvSpPr>
                      <a:spLocks noChangeShapeType="1"/>
                    </p:cNvSpPr>
                    <p:nvPr/>
                  </p:nvSpPr>
                  <p:spPr bwMode="auto">
                    <a:xfrm>
                      <a:off x="11355" y="10433"/>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283" name="Oval 12"/>
                <p:cNvSpPr>
                  <a:spLocks noChangeArrowheads="1"/>
                </p:cNvSpPr>
                <p:nvPr/>
              </p:nvSpPr>
              <p:spPr bwMode="auto">
                <a:xfrm>
                  <a:off x="5042602" y="3650774"/>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nvGrpSpPr>
              <p:cNvPr id="285" name="组合 284"/>
              <p:cNvGrpSpPr/>
              <p:nvPr/>
            </p:nvGrpSpPr>
            <p:grpSpPr>
              <a:xfrm>
                <a:off x="6449695" y="3310573"/>
                <a:ext cx="1111250" cy="961827"/>
                <a:chOff x="6449695" y="3183573"/>
                <a:chExt cx="1111250" cy="961827"/>
              </a:xfrm>
            </p:grpSpPr>
            <p:grpSp>
              <p:nvGrpSpPr>
                <p:cNvPr id="239" name="组合 238"/>
                <p:cNvGrpSpPr/>
                <p:nvPr/>
              </p:nvGrpSpPr>
              <p:grpSpPr>
                <a:xfrm>
                  <a:off x="6449695" y="3183573"/>
                  <a:ext cx="1111250" cy="961827"/>
                  <a:chOff x="6449695" y="1592898"/>
                  <a:chExt cx="1111250" cy="961827"/>
                </a:xfrm>
              </p:grpSpPr>
              <p:sp>
                <p:nvSpPr>
                  <p:cNvPr id="240" name="Rectangle 21"/>
                  <p:cNvSpPr>
                    <a:spLocks noChangeArrowheads="1"/>
                  </p:cNvSpPr>
                  <p:nvPr/>
                </p:nvSpPr>
                <p:spPr bwMode="auto">
                  <a:xfrm>
                    <a:off x="6532562" y="2246948"/>
                    <a:ext cx="966931"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SR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41" name="Group 72"/>
                  <p:cNvGrpSpPr/>
                  <p:nvPr/>
                </p:nvGrpSpPr>
                <p:grpSpPr bwMode="auto">
                  <a:xfrm>
                    <a:off x="6449688" y="1592888"/>
                    <a:ext cx="1111249" cy="636586"/>
                    <a:chOff x="9741" y="9757"/>
                    <a:chExt cx="1748" cy="1004"/>
                  </a:xfrm>
                </p:grpSpPr>
                <p:grpSp>
                  <p:nvGrpSpPr>
                    <p:cNvPr id="242" name="Group 73"/>
                    <p:cNvGrpSpPr/>
                    <p:nvPr/>
                  </p:nvGrpSpPr>
                  <p:grpSpPr bwMode="auto">
                    <a:xfrm>
                      <a:off x="10110" y="9911"/>
                      <a:ext cx="456" cy="653"/>
                      <a:chOff x="8255" y="9911"/>
                      <a:chExt cx="308" cy="653"/>
                    </a:xfrm>
                  </p:grpSpPr>
                  <p:sp>
                    <p:nvSpPr>
                      <p:cNvPr id="257" name="Line 74"/>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58" name="Line 75"/>
                      <p:cNvSpPr>
                        <a:spLocks noChangeShapeType="1"/>
                      </p:cNvSpPr>
                      <p:nvPr/>
                    </p:nvSpPr>
                    <p:spPr bwMode="auto">
                      <a:xfrm flipH="1">
                        <a:off x="8255" y="10236"/>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59" name="Line 76"/>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243" name="Line 77"/>
                    <p:cNvSpPr>
                      <a:spLocks noChangeShapeType="1"/>
                    </p:cNvSpPr>
                    <p:nvPr/>
                  </p:nvSpPr>
                  <p:spPr bwMode="auto">
                    <a:xfrm flipH="1">
                      <a:off x="11016"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44" name="Line 78"/>
                    <p:cNvSpPr>
                      <a:spLocks noChangeShapeType="1"/>
                    </p:cNvSpPr>
                    <p:nvPr/>
                  </p:nvSpPr>
                  <p:spPr bwMode="auto">
                    <a:xfrm flipH="1">
                      <a:off x="11021" y="10561"/>
                      <a:ext cx="227"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45" name="Rectangle 79"/>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46" name="Oval 80"/>
                    <p:cNvSpPr>
                      <a:spLocks noChangeArrowheads="1"/>
                    </p:cNvSpPr>
                    <p:nvPr/>
                  </p:nvSpPr>
                  <p:spPr bwMode="auto">
                    <a:xfrm>
                      <a:off x="11047" y="10520"/>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47" name="Text Box 81"/>
                    <p:cNvSpPr txBox="1">
                      <a:spLocks noChangeArrowheads="1"/>
                    </p:cNvSpPr>
                    <p:nvPr/>
                  </p:nvSpPr>
                  <p:spPr bwMode="auto">
                    <a:xfrm>
                      <a:off x="10338" y="9795"/>
                      <a:ext cx="303"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8" name="Text Box 82"/>
                    <p:cNvSpPr txBox="1">
                      <a:spLocks noChangeArrowheads="1"/>
                    </p:cNvSpPr>
                    <p:nvPr/>
                  </p:nvSpPr>
                  <p:spPr bwMode="auto">
                    <a:xfrm>
                      <a:off x="10459" y="10136"/>
                      <a:ext cx="350" cy="3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9" name="Text Box 83"/>
                    <p:cNvSpPr txBox="1">
                      <a:spLocks noChangeArrowheads="1"/>
                    </p:cNvSpPr>
                    <p:nvPr/>
                  </p:nvSpPr>
                  <p:spPr bwMode="auto">
                    <a:xfrm>
                      <a:off x="10338" y="10450"/>
                      <a:ext cx="268" cy="20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0" name="Text Box 84"/>
                    <p:cNvSpPr txBox="1">
                      <a:spLocks noChangeArrowheads="1"/>
                    </p:cNvSpPr>
                    <p:nvPr/>
                  </p:nvSpPr>
                  <p:spPr bwMode="auto">
                    <a:xfrm>
                      <a:off x="11234" y="9800"/>
                      <a:ext cx="255" cy="28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1" name="Text Box 85"/>
                    <p:cNvSpPr txBox="1">
                      <a:spLocks noChangeArrowheads="1"/>
                    </p:cNvSpPr>
                    <p:nvPr/>
                  </p:nvSpPr>
                  <p:spPr bwMode="auto">
                    <a:xfrm>
                      <a:off x="10301" y="10115"/>
                      <a:ext cx="203" cy="25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2" name="Text Box 86"/>
                    <p:cNvSpPr txBox="1">
                      <a:spLocks noChangeArrowheads="1"/>
                    </p:cNvSpPr>
                    <p:nvPr/>
                  </p:nvSpPr>
                  <p:spPr bwMode="auto">
                    <a:xfrm>
                      <a:off x="9875" y="9770"/>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3" name="Text Box 87"/>
                    <p:cNvSpPr txBox="1">
                      <a:spLocks noChangeArrowheads="1"/>
                    </p:cNvSpPr>
                    <p:nvPr/>
                  </p:nvSpPr>
                  <p:spPr bwMode="auto">
                    <a:xfrm>
                      <a:off x="9741" y="10119"/>
                      <a:ext cx="348" cy="24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4" name="Text Box 88"/>
                    <p:cNvSpPr txBox="1">
                      <a:spLocks noChangeArrowheads="1"/>
                    </p:cNvSpPr>
                    <p:nvPr/>
                  </p:nvSpPr>
                  <p:spPr bwMode="auto">
                    <a:xfrm>
                      <a:off x="9833" y="10432"/>
                      <a:ext cx="256" cy="2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5" name="Text Box 89"/>
                    <p:cNvSpPr txBox="1">
                      <a:spLocks noChangeArrowheads="1"/>
                    </p:cNvSpPr>
                    <p:nvPr/>
                  </p:nvSpPr>
                  <p:spPr bwMode="auto">
                    <a:xfrm>
                      <a:off x="11277" y="10455"/>
                      <a:ext cx="210" cy="3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6" name="Line 90"/>
                    <p:cNvSpPr>
                      <a:spLocks noChangeShapeType="1"/>
                    </p:cNvSpPr>
                    <p:nvPr/>
                  </p:nvSpPr>
                  <p:spPr bwMode="auto">
                    <a:xfrm>
                      <a:off x="11317" y="10467"/>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284" name="Oval 12"/>
                <p:cNvSpPr>
                  <a:spLocks noChangeArrowheads="1"/>
                </p:cNvSpPr>
                <p:nvPr/>
              </p:nvSpPr>
              <p:spPr bwMode="auto">
                <a:xfrm>
                  <a:off x="6754721" y="3457893"/>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289" name="圆角矩形 288"/>
            <p:cNvSpPr/>
            <p:nvPr/>
          </p:nvSpPr>
          <p:spPr>
            <a:xfrm>
              <a:off x="1079500" y="1517650"/>
              <a:ext cx="7118350" cy="2940050"/>
            </a:xfrm>
            <a:prstGeom prst="roundRect">
              <a:avLst>
                <a:gd name="adj" fmla="val 41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392432" y="778617"/>
            <a:ext cx="4042408" cy="420971"/>
            <a:chOff x="670560" y="892917"/>
            <a:chExt cx="4042408" cy="420971"/>
          </a:xfrm>
        </p:grpSpPr>
        <p:sp>
          <p:nvSpPr>
            <p:cNvPr id="67" name="矩形 66"/>
            <p:cNvSpPr/>
            <p:nvPr/>
          </p:nvSpPr>
          <p:spPr>
            <a:xfrm>
              <a:off x="1035232" y="913778"/>
              <a:ext cx="367773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触发器逻辑功能的描述方法</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15" name="组合 114"/>
          <p:cNvGrpSpPr/>
          <p:nvPr/>
        </p:nvGrpSpPr>
        <p:grpSpPr>
          <a:xfrm>
            <a:off x="1677036" y="1498600"/>
            <a:ext cx="4545964" cy="914400"/>
            <a:chOff x="1677036" y="1568450"/>
            <a:chExt cx="4545964" cy="914400"/>
          </a:xfrm>
        </p:grpSpPr>
        <p:sp>
          <p:nvSpPr>
            <p:cNvPr id="110" name="圆角矩形 109"/>
            <p:cNvSpPr/>
            <p:nvPr/>
          </p:nvSpPr>
          <p:spPr>
            <a:xfrm>
              <a:off x="2921000" y="1568450"/>
              <a:ext cx="3302000" cy="914400"/>
            </a:xfrm>
            <a:prstGeom prst="roundRect">
              <a:avLst/>
            </a:prstGeom>
            <a:ln w="19050">
              <a:solidFill>
                <a:srgbClr val="6600FF"/>
              </a:solidFill>
            </a:ln>
          </p:spPr>
          <p:style>
            <a:lnRef idx="1">
              <a:schemeClr val="accent4"/>
            </a:lnRef>
            <a:fillRef idx="2">
              <a:schemeClr val="accent4"/>
            </a:fillRef>
            <a:effectRef idx="1">
              <a:schemeClr val="accent4"/>
            </a:effectRef>
            <a:fontRef idx="minor">
              <a:schemeClr val="dk1"/>
            </a:fontRef>
          </p:style>
          <p:txBody>
            <a:bodyPr rtlCol="0" anchor="ctr"/>
            <a:lstStyle/>
            <a:p>
              <a:pPr marL="177800"/>
              <a:r>
                <a:rPr kumimoji="1" lang="zh-CN" altLang="en-US" sz="1600" dirty="0">
                  <a:solidFill>
                    <a:schemeClr val="tx1"/>
                  </a:solidFill>
                  <a:latin typeface="微软雅黑" panose="020B0503020204020204" pitchFamily="34" charset="-122"/>
                  <a:ea typeface="微软雅黑" panose="020B0503020204020204" pitchFamily="34" charset="-122"/>
                </a:rPr>
                <a:t>以触发器的现态和输入信号为变量，以次态为函数，描述它们之间逻辑关系的真值表。</a:t>
              </a:r>
              <a:endParaRPr lang="zh-CN" altLang="en-US" sz="1600" dirty="0">
                <a:solidFill>
                  <a:schemeClr val="tx1"/>
                </a:solidFill>
              </a:endParaRPr>
            </a:p>
          </p:txBody>
        </p:sp>
        <p:sp>
          <p:nvSpPr>
            <p:cNvPr id="78" name="圆角矩形 77"/>
            <p:cNvSpPr/>
            <p:nvPr/>
          </p:nvSpPr>
          <p:spPr>
            <a:xfrm>
              <a:off x="1677036" y="1809650"/>
              <a:ext cx="1368000" cy="432000"/>
            </a:xfrm>
            <a:prstGeom prst="roundRect">
              <a:avLst/>
            </a:prstGeom>
            <a:solidFill>
              <a:srgbClr val="FFC00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特征表</a:t>
              </a:r>
              <a:endParaRPr lang="zh-CN" altLang="en-US" dirty="0">
                <a:solidFill>
                  <a:srgbClr val="7030A0"/>
                </a:solidFill>
                <a:latin typeface="黑体" panose="02010609060101010101" pitchFamily="49" charset="-122"/>
                <a:ea typeface="黑体" panose="02010609060101010101" pitchFamily="49" charset="-122"/>
              </a:endParaRPr>
            </a:p>
          </p:txBody>
        </p:sp>
      </p:grpSp>
      <p:grpSp>
        <p:nvGrpSpPr>
          <p:cNvPr id="114" name="组合 113"/>
          <p:cNvGrpSpPr/>
          <p:nvPr/>
        </p:nvGrpSpPr>
        <p:grpSpPr>
          <a:xfrm>
            <a:off x="1677036" y="2568575"/>
            <a:ext cx="4545964" cy="914400"/>
            <a:chOff x="1677036" y="2603500"/>
            <a:chExt cx="4545964" cy="914400"/>
          </a:xfrm>
        </p:grpSpPr>
        <p:sp>
          <p:nvSpPr>
            <p:cNvPr id="111" name="圆角矩形 110"/>
            <p:cNvSpPr/>
            <p:nvPr/>
          </p:nvSpPr>
          <p:spPr>
            <a:xfrm>
              <a:off x="2921000" y="2603500"/>
              <a:ext cx="3302000" cy="914400"/>
            </a:xfrm>
            <a:prstGeom prst="roundRect">
              <a:avLst/>
            </a:prstGeom>
            <a:solidFill>
              <a:srgbClr val="66FF66">
                <a:alpha val="36000"/>
              </a:srgbClr>
            </a:solidFill>
            <a:ln w="19050">
              <a:solidFill>
                <a:srgbClr val="6600FF"/>
              </a:solidFill>
            </a:ln>
          </p:spPr>
          <p:style>
            <a:lnRef idx="1">
              <a:schemeClr val="accent4"/>
            </a:lnRef>
            <a:fillRef idx="2">
              <a:schemeClr val="accent4"/>
            </a:fillRef>
            <a:effectRef idx="1">
              <a:schemeClr val="accent4"/>
            </a:effectRef>
            <a:fontRef idx="minor">
              <a:schemeClr val="dk1"/>
            </a:fontRef>
          </p:style>
          <p:txBody>
            <a:bodyPr rtlCol="0" anchor="ctr"/>
            <a:lstStyle/>
            <a:p>
              <a:pPr marL="177800"/>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描述触发器的次态</a:t>
              </a:r>
              <a:r>
                <a:rPr kumimoji="1"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en-US" altLang="zh-CN" sz="1600" baseline="30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n+1</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与输入信号、现态</a:t>
              </a:r>
              <a:r>
                <a:rPr kumimoji="1" lang="en-US" altLang="zh-CN" sz="16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Q</a:t>
              </a:r>
              <a:r>
                <a:rPr kumimoji="1" lang="en-US" altLang="zh-CN" sz="1600"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之间关系的逻辑表达式。</a:t>
              </a:r>
              <a:endParaRPr lang="zh-CN" altLang="en-US" sz="1600" dirty="0">
                <a:solidFill>
                  <a:schemeClr val="tx1"/>
                </a:solidFill>
                <a:latin typeface="Times New Roman" panose="02020603050405020304" pitchFamily="18" charset="0"/>
                <a:cs typeface="Times New Roman" panose="02020603050405020304" pitchFamily="18" charset="0"/>
              </a:endParaRPr>
            </a:p>
          </p:txBody>
        </p:sp>
        <p:sp>
          <p:nvSpPr>
            <p:cNvPr id="82" name="圆角矩形 81"/>
            <p:cNvSpPr/>
            <p:nvPr/>
          </p:nvSpPr>
          <p:spPr>
            <a:xfrm>
              <a:off x="1677036" y="2844700"/>
              <a:ext cx="1368000" cy="43200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特征方程</a:t>
              </a:r>
              <a:endParaRPr lang="zh-CN" altLang="en-US" dirty="0">
                <a:solidFill>
                  <a:srgbClr val="7030A0"/>
                </a:solidFill>
                <a:latin typeface="黑体" panose="02010609060101010101" pitchFamily="49" charset="-122"/>
                <a:ea typeface="黑体" panose="02010609060101010101" pitchFamily="49" charset="-122"/>
              </a:endParaRPr>
            </a:p>
          </p:txBody>
        </p:sp>
      </p:grpSp>
      <p:grpSp>
        <p:nvGrpSpPr>
          <p:cNvPr id="113" name="组合 112"/>
          <p:cNvGrpSpPr/>
          <p:nvPr/>
        </p:nvGrpSpPr>
        <p:grpSpPr>
          <a:xfrm>
            <a:off x="1677036" y="3638550"/>
            <a:ext cx="4545964" cy="914400"/>
            <a:chOff x="1677036" y="3613150"/>
            <a:chExt cx="4545964" cy="914400"/>
          </a:xfrm>
        </p:grpSpPr>
        <p:sp>
          <p:nvSpPr>
            <p:cNvPr id="112" name="圆角矩形 111"/>
            <p:cNvSpPr/>
            <p:nvPr/>
          </p:nvSpPr>
          <p:spPr>
            <a:xfrm>
              <a:off x="2921000" y="3613150"/>
              <a:ext cx="3302000" cy="914400"/>
            </a:xfrm>
            <a:prstGeom prst="roundRect">
              <a:avLst/>
            </a:prstGeom>
            <a:solidFill>
              <a:srgbClr val="3399FF">
                <a:alpha val="35686"/>
              </a:srgbClr>
            </a:solidFill>
            <a:ln w="19050">
              <a:solidFill>
                <a:srgbClr val="6600FF"/>
              </a:solidFill>
            </a:ln>
          </p:spPr>
          <p:style>
            <a:lnRef idx="1">
              <a:schemeClr val="accent4"/>
            </a:lnRef>
            <a:fillRef idx="2">
              <a:schemeClr val="accent4"/>
            </a:fillRef>
            <a:effectRef idx="1">
              <a:schemeClr val="accent4"/>
            </a:effectRef>
            <a:fontRef idx="minor">
              <a:schemeClr val="dk1"/>
            </a:fontRef>
          </p:style>
          <p:txBody>
            <a:bodyPr rtlCol="0" anchor="ctr"/>
            <a:lstStyle/>
            <a:p>
              <a:pPr marL="177800"/>
              <a:r>
                <a:rPr kumimoji="1" lang="zh-CN" altLang="en-US" sz="1600" dirty="0">
                  <a:solidFill>
                    <a:srgbClr val="000000"/>
                  </a:solidFill>
                  <a:latin typeface="微软雅黑" panose="020B0503020204020204" pitchFamily="34" charset="-122"/>
                  <a:ea typeface="微软雅黑" panose="020B0503020204020204" pitchFamily="34" charset="-122"/>
                </a:rPr>
                <a:t>描述</a:t>
              </a:r>
              <a:r>
                <a:rPr kumimoji="1" lang="zh-CN" altLang="zh-CN" sz="1600" dirty="0">
                  <a:solidFill>
                    <a:srgbClr val="000000"/>
                  </a:solidFill>
                  <a:latin typeface="微软雅黑" panose="020B0503020204020204" pitchFamily="34" charset="-122"/>
                  <a:ea typeface="微软雅黑" panose="020B0503020204020204" pitchFamily="34" charset="-122"/>
                </a:rPr>
                <a:t>触发器在特定的输入信号作用下，其输出状态转换规律的图形。 </a:t>
              </a:r>
              <a:endParaRPr lang="zh-CN" altLang="en-US" sz="1600" dirty="0">
                <a:solidFill>
                  <a:schemeClr val="tx1"/>
                </a:solidFill>
                <a:latin typeface="Times New Roman" panose="02020603050405020304" pitchFamily="18" charset="0"/>
                <a:cs typeface="Times New Roman" panose="02020603050405020304" pitchFamily="18" charset="0"/>
              </a:endParaRPr>
            </a:p>
          </p:txBody>
        </p:sp>
        <p:sp>
          <p:nvSpPr>
            <p:cNvPr id="92" name="圆角矩形 91"/>
            <p:cNvSpPr/>
            <p:nvPr/>
          </p:nvSpPr>
          <p:spPr>
            <a:xfrm>
              <a:off x="1677036" y="3854350"/>
              <a:ext cx="1368000" cy="432000"/>
            </a:xfrm>
            <a:prstGeom prst="roundRect">
              <a:avLst/>
            </a:prstGeom>
            <a:solidFill>
              <a:srgbClr val="00B0F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状态转换图</a:t>
              </a:r>
              <a:endParaRPr lang="zh-CN" altLang="en-US" dirty="0">
                <a:solidFill>
                  <a:srgbClr val="7030A0"/>
                </a:solidFill>
                <a:latin typeface="黑体" panose="02010609060101010101" pitchFamily="49" charset="-122"/>
                <a:ea typeface="黑体" panose="02010609060101010101" pitchFamily="49" charset="-122"/>
              </a:endParaRPr>
            </a:p>
          </p:txBody>
        </p:sp>
      </p:grpSp>
      <p:grpSp>
        <p:nvGrpSpPr>
          <p:cNvPr id="116" name="组合 115"/>
          <p:cNvGrpSpPr/>
          <p:nvPr/>
        </p:nvGrpSpPr>
        <p:grpSpPr>
          <a:xfrm>
            <a:off x="656590" y="1532890"/>
            <a:ext cx="986790" cy="2895600"/>
            <a:chOff x="656590" y="1532890"/>
            <a:chExt cx="986790" cy="2895600"/>
          </a:xfrm>
        </p:grpSpPr>
        <p:sp>
          <p:nvSpPr>
            <p:cNvPr id="95" name="左大括号 94"/>
            <p:cNvSpPr/>
            <p:nvPr/>
          </p:nvSpPr>
          <p:spPr>
            <a:xfrm>
              <a:off x="1262380" y="1532890"/>
              <a:ext cx="381000" cy="2895600"/>
            </a:xfrm>
            <a:prstGeom prst="leftBrace">
              <a:avLst>
                <a:gd name="adj1" fmla="val 61333"/>
                <a:gd name="adj2" fmla="val 501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6" name="圆角矩形 95"/>
            <p:cNvSpPr/>
            <p:nvPr/>
          </p:nvSpPr>
          <p:spPr>
            <a:xfrm>
              <a:off x="656590" y="2310130"/>
              <a:ext cx="47244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描述方法</a:t>
              </a:r>
              <a:endParaRPr lang="zh-CN" altLang="en-US" dirty="0">
                <a:solidFill>
                  <a:schemeClr val="bg1"/>
                </a:solidFill>
              </a:endParaRPr>
            </a:p>
          </p:txBody>
        </p:sp>
      </p:grpSp>
      <p:grpSp>
        <p:nvGrpSpPr>
          <p:cNvPr id="117" name="组合 116"/>
          <p:cNvGrpSpPr/>
          <p:nvPr/>
        </p:nvGrpSpPr>
        <p:grpSpPr>
          <a:xfrm>
            <a:off x="6343650" y="895350"/>
            <a:ext cx="2641600" cy="3657600"/>
            <a:chOff x="838200" y="1835150"/>
            <a:chExt cx="2641600" cy="3657600"/>
          </a:xfrm>
        </p:grpSpPr>
        <p:sp>
          <p:nvSpPr>
            <p:cNvPr id="118" name="圆角矩形 117"/>
            <p:cNvSpPr/>
            <p:nvPr/>
          </p:nvSpPr>
          <p:spPr>
            <a:xfrm>
              <a:off x="838200" y="2051050"/>
              <a:ext cx="2641600" cy="3441700"/>
            </a:xfrm>
            <a:prstGeom prst="roundRect">
              <a:avLst>
                <a:gd name="adj" fmla="val 6090"/>
              </a:avLst>
            </a:prstGeom>
            <a:solidFill>
              <a:schemeClr val="bg1"/>
            </a:solidFill>
            <a:ln w="19050">
              <a:solidFill>
                <a:srgbClr val="6600FF"/>
              </a:solidFill>
            </a:ln>
          </p:spPr>
          <p:style>
            <a:lnRef idx="1">
              <a:schemeClr val="accent4"/>
            </a:lnRef>
            <a:fillRef idx="2">
              <a:schemeClr val="accent4"/>
            </a:fillRef>
            <a:effectRef idx="1">
              <a:schemeClr val="accent4"/>
            </a:effectRef>
            <a:fontRef idx="minor">
              <a:schemeClr val="dk1"/>
            </a:fontRef>
          </p:style>
          <p:txBody>
            <a:bodyPr rtlCol="0" anchor="ctr"/>
            <a:lstStyle/>
            <a:p>
              <a:pPr marL="177800"/>
              <a:endParaRPr lang="zh-CN" altLang="en-US" sz="1600" dirty="0">
                <a:solidFill>
                  <a:schemeClr val="tx1"/>
                </a:solidFill>
              </a:endParaRPr>
            </a:p>
          </p:txBody>
        </p:sp>
        <p:sp>
          <p:nvSpPr>
            <p:cNvPr id="119" name="圆角矩形 118"/>
            <p:cNvSpPr/>
            <p:nvPr/>
          </p:nvSpPr>
          <p:spPr>
            <a:xfrm>
              <a:off x="1473836" y="1835150"/>
              <a:ext cx="1368000" cy="406500"/>
            </a:xfrm>
            <a:prstGeom prst="roundRect">
              <a:avLst/>
            </a:prstGeom>
            <a:solidFill>
              <a:schemeClr val="accent2">
                <a:lumMod val="20000"/>
                <a:lumOff val="80000"/>
              </a:schemeClr>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D</a:t>
              </a:r>
              <a:r>
                <a:rPr lang="zh-CN" altLang="en-US" dirty="0">
                  <a:solidFill>
                    <a:srgbClr val="7030A0"/>
                  </a:solidFill>
                  <a:latin typeface="黑体" panose="02010609060101010101" pitchFamily="49" charset="-122"/>
                  <a:ea typeface="黑体" panose="02010609060101010101" pitchFamily="49" charset="-122"/>
                </a:rPr>
                <a:t>触发器</a:t>
              </a:r>
              <a:endParaRPr lang="zh-CN" altLang="en-US" dirty="0">
                <a:solidFill>
                  <a:srgbClr val="7030A0"/>
                </a:solidFill>
                <a:latin typeface="黑体" panose="02010609060101010101" pitchFamily="49" charset="-122"/>
                <a:ea typeface="黑体" panose="02010609060101010101" pitchFamily="49" charset="-122"/>
              </a:endParaRPr>
            </a:p>
          </p:txBody>
        </p:sp>
      </p:grpSp>
      <p:graphicFrame>
        <p:nvGraphicFramePr>
          <p:cNvPr id="120" name="Group 31"/>
          <p:cNvGraphicFramePr>
            <a:graphicFrameLocks noGrp="1"/>
          </p:cNvGraphicFramePr>
          <p:nvPr/>
        </p:nvGraphicFramePr>
        <p:xfrm>
          <a:off x="6762750" y="1460500"/>
          <a:ext cx="1836000" cy="1066800"/>
        </p:xfrm>
        <a:graphic>
          <a:graphicData uri="http://schemas.openxmlformats.org/drawingml/2006/table">
            <a:tbl>
              <a:tblPr/>
              <a:tblGrid>
                <a:gridCol w="612000"/>
                <a:gridCol w="492900"/>
                <a:gridCol w="731100"/>
              </a:tblGrid>
              <a:tr h="2088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defRPr/>
                      </a:pPr>
                      <a:r>
                        <a:rPr kumimoji="1" lang="en-US" altLang="zh-CN" sz="1400" b="1"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400" b="1" i="1" u="none" strike="noStrike" cap="none" normalizeH="0" baseline="3000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400" b="1" i="1"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4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088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088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lnTlToBr>
                      <a:noFill/>
                    </a:lnTlToBr>
                    <a:lnBlToTr>
                      <a:noFill/>
                    </a:lnBlToTr>
                    <a:noFill/>
                  </a:tcPr>
                </a:tc>
              </a:tr>
              <a:tr h="2088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lnTlToBr>
                      <a:noFill/>
                    </a:lnTlToBr>
                    <a:lnBlToTr>
                      <a:noFill/>
                    </a:lnBlToTr>
                    <a:noFill/>
                  </a:tcPr>
                </a:tc>
              </a:tr>
              <a:tr h="175261">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21" name="Rectangle 136"/>
          <p:cNvSpPr>
            <a:spLocks noChangeArrowheads="1"/>
          </p:cNvSpPr>
          <p:nvPr/>
        </p:nvSpPr>
        <p:spPr bwMode="auto">
          <a:xfrm>
            <a:off x="7118350" y="2884488"/>
            <a:ext cx="1172116" cy="400110"/>
          </a:xfrm>
          <a:prstGeom prst="rect">
            <a:avLst/>
          </a:prstGeom>
          <a:noFill/>
          <a:ln w="9525">
            <a:noFill/>
            <a:miter lim="800000"/>
          </a:ln>
        </p:spPr>
        <p:txBody>
          <a:bodyPr wrap="none" anchor="ctr">
            <a:spAutoFit/>
          </a:bodyPr>
          <a:lstStyle/>
          <a:p>
            <a:pPr algn="ctr"/>
            <a:r>
              <a:rPr kumimoji="1" lang="en-US" altLang="zh-CN" sz="2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0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0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2" name="Picture 1"/>
          <p:cNvPicPr>
            <a:picLocks noChangeAspect="1" noChangeArrowheads="1"/>
          </p:cNvPicPr>
          <p:nvPr/>
        </p:nvPicPr>
        <p:blipFill>
          <a:blip r:embed="rId2" cstate="print"/>
          <a:srcRect/>
          <a:stretch>
            <a:fillRect/>
          </a:stretch>
        </p:blipFill>
        <p:spPr bwMode="auto">
          <a:xfrm>
            <a:off x="6475414" y="3623108"/>
            <a:ext cx="2427838" cy="771092"/>
          </a:xfrm>
          <a:prstGeom prst="rect">
            <a:avLst/>
          </a:prstGeom>
          <a:noFill/>
          <a:ln w="9525">
            <a:noFill/>
            <a:miter lim="800000"/>
            <a:headEnd/>
            <a:tailEnd/>
          </a:ln>
          <a:effec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7" presetClass="entr" presetSubtype="8" fill="hold" nodeType="clickEffect">
                                  <p:stCondLst>
                                    <p:cond delay="0"/>
                                  </p:stCondLst>
                                  <p:childTnLst>
                                    <p:set>
                                      <p:cBhvr>
                                        <p:cTn id="13" dur="1" fill="hold">
                                          <p:stCondLst>
                                            <p:cond delay="0"/>
                                          </p:stCondLst>
                                        </p:cTn>
                                        <p:tgtEl>
                                          <p:spTgt spid="116"/>
                                        </p:tgtEl>
                                        <p:attrNameLst>
                                          <p:attrName>style.visibility</p:attrName>
                                        </p:attrNameLst>
                                      </p:cBhvr>
                                      <p:to>
                                        <p:strVal val="visible"/>
                                      </p:to>
                                    </p:set>
                                    <p:anim calcmode="lin" valueType="num">
                                      <p:cBhvr>
                                        <p:cTn id="14" dur="500" fill="hold"/>
                                        <p:tgtEl>
                                          <p:spTgt spid="116"/>
                                        </p:tgtEl>
                                        <p:attrNameLst>
                                          <p:attrName>ppt_x</p:attrName>
                                        </p:attrNameLst>
                                      </p:cBhvr>
                                      <p:tavLst>
                                        <p:tav tm="0">
                                          <p:val>
                                            <p:strVal val="#ppt_x-#ppt_w/2"/>
                                          </p:val>
                                        </p:tav>
                                        <p:tav tm="100000">
                                          <p:val>
                                            <p:strVal val="#ppt_x"/>
                                          </p:val>
                                        </p:tav>
                                      </p:tavLst>
                                    </p:anim>
                                    <p:anim calcmode="lin" valueType="num">
                                      <p:cBhvr>
                                        <p:cTn id="15" dur="500" fill="hold"/>
                                        <p:tgtEl>
                                          <p:spTgt spid="116"/>
                                        </p:tgtEl>
                                        <p:attrNameLst>
                                          <p:attrName>ppt_y</p:attrName>
                                        </p:attrNameLst>
                                      </p:cBhvr>
                                      <p:tavLst>
                                        <p:tav tm="0">
                                          <p:val>
                                            <p:strVal val="#ppt_y"/>
                                          </p:val>
                                        </p:tav>
                                        <p:tav tm="100000">
                                          <p:val>
                                            <p:strVal val="#ppt_y"/>
                                          </p:val>
                                        </p:tav>
                                      </p:tavLst>
                                    </p:anim>
                                    <p:anim calcmode="lin" valueType="num">
                                      <p:cBhvr>
                                        <p:cTn id="16" dur="500" fill="hold"/>
                                        <p:tgtEl>
                                          <p:spTgt spid="116"/>
                                        </p:tgtEl>
                                        <p:attrNameLst>
                                          <p:attrName>ppt_w</p:attrName>
                                        </p:attrNameLst>
                                      </p:cBhvr>
                                      <p:tavLst>
                                        <p:tav tm="0">
                                          <p:val>
                                            <p:fltVal val="0"/>
                                          </p:val>
                                        </p:tav>
                                        <p:tav tm="100000">
                                          <p:val>
                                            <p:strVal val="#ppt_w"/>
                                          </p:val>
                                        </p:tav>
                                      </p:tavLst>
                                    </p:anim>
                                    <p:anim calcmode="lin" valueType="num">
                                      <p:cBhvr>
                                        <p:cTn id="17" dur="500" fill="hold"/>
                                        <p:tgtEl>
                                          <p:spTgt spid="116"/>
                                        </p:tgtEl>
                                        <p:attrNameLst>
                                          <p:attrName>ppt_h</p:attrName>
                                        </p:attrNameLst>
                                      </p:cBhvr>
                                      <p:tavLst>
                                        <p:tav tm="0">
                                          <p:val>
                                            <p:strVal val="#ppt_h"/>
                                          </p:val>
                                        </p:tav>
                                        <p:tav tm="100000">
                                          <p:val>
                                            <p:strVal val="#ppt_h"/>
                                          </p:val>
                                        </p:tav>
                                      </p:tavLst>
                                    </p:anim>
                                  </p:childTnLst>
                                </p:cTn>
                              </p:par>
                            </p:childTnLst>
                          </p:cTn>
                        </p:par>
                        <p:par>
                          <p:cTn id="18" fill="hold">
                            <p:stCondLst>
                              <p:cond delay="500"/>
                            </p:stCondLst>
                            <p:childTnLst>
                              <p:par>
                                <p:cTn id="19" presetID="17" presetClass="entr" presetSubtype="8" fill="hold" nodeType="afterEffect">
                                  <p:stCondLst>
                                    <p:cond delay="0"/>
                                  </p:stCondLst>
                                  <p:childTnLst>
                                    <p:set>
                                      <p:cBhvr>
                                        <p:cTn id="20" dur="1" fill="hold">
                                          <p:stCondLst>
                                            <p:cond delay="0"/>
                                          </p:stCondLst>
                                        </p:cTn>
                                        <p:tgtEl>
                                          <p:spTgt spid="115"/>
                                        </p:tgtEl>
                                        <p:attrNameLst>
                                          <p:attrName>style.visibility</p:attrName>
                                        </p:attrNameLst>
                                      </p:cBhvr>
                                      <p:to>
                                        <p:strVal val="visible"/>
                                      </p:to>
                                    </p:set>
                                    <p:anim calcmode="lin" valueType="num">
                                      <p:cBhvr>
                                        <p:cTn id="21" dur="500" fill="hold"/>
                                        <p:tgtEl>
                                          <p:spTgt spid="115"/>
                                        </p:tgtEl>
                                        <p:attrNameLst>
                                          <p:attrName>ppt_x</p:attrName>
                                        </p:attrNameLst>
                                      </p:cBhvr>
                                      <p:tavLst>
                                        <p:tav tm="0">
                                          <p:val>
                                            <p:strVal val="#ppt_x-#ppt_w/2"/>
                                          </p:val>
                                        </p:tav>
                                        <p:tav tm="100000">
                                          <p:val>
                                            <p:strVal val="#ppt_x"/>
                                          </p:val>
                                        </p:tav>
                                      </p:tavLst>
                                    </p:anim>
                                    <p:anim calcmode="lin" valueType="num">
                                      <p:cBhvr>
                                        <p:cTn id="22" dur="500" fill="hold"/>
                                        <p:tgtEl>
                                          <p:spTgt spid="115"/>
                                        </p:tgtEl>
                                        <p:attrNameLst>
                                          <p:attrName>ppt_y</p:attrName>
                                        </p:attrNameLst>
                                      </p:cBhvr>
                                      <p:tavLst>
                                        <p:tav tm="0">
                                          <p:val>
                                            <p:strVal val="#ppt_y"/>
                                          </p:val>
                                        </p:tav>
                                        <p:tav tm="100000">
                                          <p:val>
                                            <p:strVal val="#ppt_y"/>
                                          </p:val>
                                        </p:tav>
                                      </p:tavLst>
                                    </p:anim>
                                    <p:anim calcmode="lin" valueType="num">
                                      <p:cBhvr>
                                        <p:cTn id="23" dur="500" fill="hold"/>
                                        <p:tgtEl>
                                          <p:spTgt spid="115"/>
                                        </p:tgtEl>
                                        <p:attrNameLst>
                                          <p:attrName>ppt_w</p:attrName>
                                        </p:attrNameLst>
                                      </p:cBhvr>
                                      <p:tavLst>
                                        <p:tav tm="0">
                                          <p:val>
                                            <p:fltVal val="0"/>
                                          </p:val>
                                        </p:tav>
                                        <p:tav tm="100000">
                                          <p:val>
                                            <p:strVal val="#ppt_w"/>
                                          </p:val>
                                        </p:tav>
                                      </p:tavLst>
                                    </p:anim>
                                    <p:anim calcmode="lin" valueType="num">
                                      <p:cBhvr>
                                        <p:cTn id="24" dur="500" fill="hold"/>
                                        <p:tgtEl>
                                          <p:spTgt spid="115"/>
                                        </p:tgtEl>
                                        <p:attrNameLst>
                                          <p:attrName>ppt_h</p:attrName>
                                        </p:attrNameLst>
                                      </p:cBhvr>
                                      <p:tavLst>
                                        <p:tav tm="0">
                                          <p:val>
                                            <p:strVal val="#ppt_h"/>
                                          </p:val>
                                        </p:tav>
                                        <p:tav tm="100000">
                                          <p:val>
                                            <p:strVal val="#ppt_h"/>
                                          </p:val>
                                        </p:tav>
                                      </p:tavLst>
                                    </p:anim>
                                  </p:childTnLst>
                                </p:cTn>
                              </p:par>
                            </p:childTnLst>
                          </p:cTn>
                        </p:par>
                        <p:par>
                          <p:cTn id="25" fill="hold">
                            <p:stCondLst>
                              <p:cond delay="1000"/>
                            </p:stCondLst>
                            <p:childTnLst>
                              <p:par>
                                <p:cTn id="26" presetID="17" presetClass="entr" presetSubtype="8" fill="hold" nodeType="afterEffect">
                                  <p:stCondLst>
                                    <p:cond delay="0"/>
                                  </p:stCondLst>
                                  <p:childTnLst>
                                    <p:set>
                                      <p:cBhvr>
                                        <p:cTn id="27" dur="1" fill="hold">
                                          <p:stCondLst>
                                            <p:cond delay="0"/>
                                          </p:stCondLst>
                                        </p:cTn>
                                        <p:tgtEl>
                                          <p:spTgt spid="114"/>
                                        </p:tgtEl>
                                        <p:attrNameLst>
                                          <p:attrName>style.visibility</p:attrName>
                                        </p:attrNameLst>
                                      </p:cBhvr>
                                      <p:to>
                                        <p:strVal val="visible"/>
                                      </p:to>
                                    </p:set>
                                    <p:anim calcmode="lin" valueType="num">
                                      <p:cBhvr>
                                        <p:cTn id="28" dur="500" fill="hold"/>
                                        <p:tgtEl>
                                          <p:spTgt spid="114"/>
                                        </p:tgtEl>
                                        <p:attrNameLst>
                                          <p:attrName>ppt_x</p:attrName>
                                        </p:attrNameLst>
                                      </p:cBhvr>
                                      <p:tavLst>
                                        <p:tav tm="0">
                                          <p:val>
                                            <p:strVal val="#ppt_x-#ppt_w/2"/>
                                          </p:val>
                                        </p:tav>
                                        <p:tav tm="100000">
                                          <p:val>
                                            <p:strVal val="#ppt_x"/>
                                          </p:val>
                                        </p:tav>
                                      </p:tavLst>
                                    </p:anim>
                                    <p:anim calcmode="lin" valueType="num">
                                      <p:cBhvr>
                                        <p:cTn id="29" dur="500" fill="hold"/>
                                        <p:tgtEl>
                                          <p:spTgt spid="114"/>
                                        </p:tgtEl>
                                        <p:attrNameLst>
                                          <p:attrName>ppt_y</p:attrName>
                                        </p:attrNameLst>
                                      </p:cBhvr>
                                      <p:tavLst>
                                        <p:tav tm="0">
                                          <p:val>
                                            <p:strVal val="#ppt_y"/>
                                          </p:val>
                                        </p:tav>
                                        <p:tav tm="100000">
                                          <p:val>
                                            <p:strVal val="#ppt_y"/>
                                          </p:val>
                                        </p:tav>
                                      </p:tavLst>
                                    </p:anim>
                                    <p:anim calcmode="lin" valueType="num">
                                      <p:cBhvr>
                                        <p:cTn id="30" dur="500" fill="hold"/>
                                        <p:tgtEl>
                                          <p:spTgt spid="114"/>
                                        </p:tgtEl>
                                        <p:attrNameLst>
                                          <p:attrName>ppt_w</p:attrName>
                                        </p:attrNameLst>
                                      </p:cBhvr>
                                      <p:tavLst>
                                        <p:tav tm="0">
                                          <p:val>
                                            <p:fltVal val="0"/>
                                          </p:val>
                                        </p:tav>
                                        <p:tav tm="100000">
                                          <p:val>
                                            <p:strVal val="#ppt_w"/>
                                          </p:val>
                                        </p:tav>
                                      </p:tavLst>
                                    </p:anim>
                                    <p:anim calcmode="lin" valueType="num">
                                      <p:cBhvr>
                                        <p:cTn id="31" dur="500" fill="hold"/>
                                        <p:tgtEl>
                                          <p:spTgt spid="114"/>
                                        </p:tgtEl>
                                        <p:attrNameLst>
                                          <p:attrName>ppt_h</p:attrName>
                                        </p:attrNameLst>
                                      </p:cBhvr>
                                      <p:tavLst>
                                        <p:tav tm="0">
                                          <p:val>
                                            <p:strVal val="#ppt_h"/>
                                          </p:val>
                                        </p:tav>
                                        <p:tav tm="100000">
                                          <p:val>
                                            <p:strVal val="#ppt_h"/>
                                          </p:val>
                                        </p:tav>
                                      </p:tavLst>
                                    </p:anim>
                                  </p:childTnLst>
                                </p:cTn>
                              </p:par>
                            </p:childTnLst>
                          </p:cTn>
                        </p:par>
                        <p:par>
                          <p:cTn id="32" fill="hold">
                            <p:stCondLst>
                              <p:cond delay="1500"/>
                            </p:stCondLst>
                            <p:childTnLst>
                              <p:par>
                                <p:cTn id="33" presetID="17" presetClass="entr" presetSubtype="8" fill="hold" nodeType="afterEffect">
                                  <p:stCondLst>
                                    <p:cond delay="0"/>
                                  </p:stCondLst>
                                  <p:childTnLst>
                                    <p:set>
                                      <p:cBhvr>
                                        <p:cTn id="34" dur="1" fill="hold">
                                          <p:stCondLst>
                                            <p:cond delay="0"/>
                                          </p:stCondLst>
                                        </p:cTn>
                                        <p:tgtEl>
                                          <p:spTgt spid="113"/>
                                        </p:tgtEl>
                                        <p:attrNameLst>
                                          <p:attrName>style.visibility</p:attrName>
                                        </p:attrNameLst>
                                      </p:cBhvr>
                                      <p:to>
                                        <p:strVal val="visible"/>
                                      </p:to>
                                    </p:set>
                                    <p:anim calcmode="lin" valueType="num">
                                      <p:cBhvr>
                                        <p:cTn id="35" dur="500" fill="hold"/>
                                        <p:tgtEl>
                                          <p:spTgt spid="113"/>
                                        </p:tgtEl>
                                        <p:attrNameLst>
                                          <p:attrName>ppt_x</p:attrName>
                                        </p:attrNameLst>
                                      </p:cBhvr>
                                      <p:tavLst>
                                        <p:tav tm="0">
                                          <p:val>
                                            <p:strVal val="#ppt_x-#ppt_w/2"/>
                                          </p:val>
                                        </p:tav>
                                        <p:tav tm="100000">
                                          <p:val>
                                            <p:strVal val="#ppt_x"/>
                                          </p:val>
                                        </p:tav>
                                      </p:tavLst>
                                    </p:anim>
                                    <p:anim calcmode="lin" valueType="num">
                                      <p:cBhvr>
                                        <p:cTn id="36" dur="500" fill="hold"/>
                                        <p:tgtEl>
                                          <p:spTgt spid="113"/>
                                        </p:tgtEl>
                                        <p:attrNameLst>
                                          <p:attrName>ppt_y</p:attrName>
                                        </p:attrNameLst>
                                      </p:cBhvr>
                                      <p:tavLst>
                                        <p:tav tm="0">
                                          <p:val>
                                            <p:strVal val="#ppt_y"/>
                                          </p:val>
                                        </p:tav>
                                        <p:tav tm="100000">
                                          <p:val>
                                            <p:strVal val="#ppt_y"/>
                                          </p:val>
                                        </p:tav>
                                      </p:tavLst>
                                    </p:anim>
                                    <p:anim calcmode="lin" valueType="num">
                                      <p:cBhvr>
                                        <p:cTn id="37" dur="500" fill="hold"/>
                                        <p:tgtEl>
                                          <p:spTgt spid="113"/>
                                        </p:tgtEl>
                                        <p:attrNameLst>
                                          <p:attrName>ppt_w</p:attrName>
                                        </p:attrNameLst>
                                      </p:cBhvr>
                                      <p:tavLst>
                                        <p:tav tm="0">
                                          <p:val>
                                            <p:fltVal val="0"/>
                                          </p:val>
                                        </p:tav>
                                        <p:tav tm="100000">
                                          <p:val>
                                            <p:strVal val="#ppt_w"/>
                                          </p:val>
                                        </p:tav>
                                      </p:tavLst>
                                    </p:anim>
                                    <p:anim calcmode="lin" valueType="num">
                                      <p:cBhvr>
                                        <p:cTn id="38" dur="500" fill="hold"/>
                                        <p:tgtEl>
                                          <p:spTgt spid="113"/>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 fill="hold" nodeType="clickEffect">
                                  <p:stCondLst>
                                    <p:cond delay="0"/>
                                  </p:stCondLst>
                                  <p:childTnLst>
                                    <p:set>
                                      <p:cBhvr>
                                        <p:cTn id="42" dur="1" fill="hold">
                                          <p:stCondLst>
                                            <p:cond delay="0"/>
                                          </p:stCondLst>
                                        </p:cTn>
                                        <p:tgtEl>
                                          <p:spTgt spid="117"/>
                                        </p:tgtEl>
                                        <p:attrNameLst>
                                          <p:attrName>style.visibility</p:attrName>
                                        </p:attrNameLst>
                                      </p:cBhvr>
                                      <p:to>
                                        <p:strVal val="visible"/>
                                      </p:to>
                                    </p:set>
                                    <p:anim calcmode="lin" valueType="num">
                                      <p:cBhvr>
                                        <p:cTn id="43" dur="500" fill="hold"/>
                                        <p:tgtEl>
                                          <p:spTgt spid="117"/>
                                        </p:tgtEl>
                                        <p:attrNameLst>
                                          <p:attrName>ppt_x</p:attrName>
                                        </p:attrNameLst>
                                      </p:cBhvr>
                                      <p:tavLst>
                                        <p:tav tm="0">
                                          <p:val>
                                            <p:strVal val="#ppt_x"/>
                                          </p:val>
                                        </p:tav>
                                        <p:tav tm="100000">
                                          <p:val>
                                            <p:strVal val="#ppt_x"/>
                                          </p:val>
                                        </p:tav>
                                      </p:tavLst>
                                    </p:anim>
                                    <p:anim calcmode="lin" valueType="num">
                                      <p:cBhvr>
                                        <p:cTn id="44" dur="500" fill="hold"/>
                                        <p:tgtEl>
                                          <p:spTgt spid="117"/>
                                        </p:tgtEl>
                                        <p:attrNameLst>
                                          <p:attrName>ppt_y</p:attrName>
                                        </p:attrNameLst>
                                      </p:cBhvr>
                                      <p:tavLst>
                                        <p:tav tm="0">
                                          <p:val>
                                            <p:strVal val="#ppt_y-#ppt_h/2"/>
                                          </p:val>
                                        </p:tav>
                                        <p:tav tm="100000">
                                          <p:val>
                                            <p:strVal val="#ppt_y"/>
                                          </p:val>
                                        </p:tav>
                                      </p:tavLst>
                                    </p:anim>
                                    <p:anim calcmode="lin" valueType="num">
                                      <p:cBhvr>
                                        <p:cTn id="45" dur="500" fill="hold"/>
                                        <p:tgtEl>
                                          <p:spTgt spid="117"/>
                                        </p:tgtEl>
                                        <p:attrNameLst>
                                          <p:attrName>ppt_w</p:attrName>
                                        </p:attrNameLst>
                                      </p:cBhvr>
                                      <p:tavLst>
                                        <p:tav tm="0">
                                          <p:val>
                                            <p:strVal val="#ppt_w"/>
                                          </p:val>
                                        </p:tav>
                                        <p:tav tm="100000">
                                          <p:val>
                                            <p:strVal val="#ppt_w"/>
                                          </p:val>
                                        </p:tav>
                                      </p:tavLst>
                                    </p:anim>
                                    <p:anim calcmode="lin" valueType="num">
                                      <p:cBhvr>
                                        <p:cTn id="46" dur="500" fill="hold"/>
                                        <p:tgtEl>
                                          <p:spTgt spid="117"/>
                                        </p:tgtEl>
                                        <p:attrNameLst>
                                          <p:attrName>ppt_h</p:attrName>
                                        </p:attrNameLst>
                                      </p:cBhvr>
                                      <p:tavLst>
                                        <p:tav tm="0">
                                          <p:val>
                                            <p:fltVal val="0"/>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fade">
                                      <p:cBhvr>
                                        <p:cTn id="51" dur="1000"/>
                                        <p:tgtEl>
                                          <p:spTgt spid="120"/>
                                        </p:tgtEl>
                                      </p:cBhvr>
                                    </p:animEffect>
                                    <p:anim calcmode="lin" valueType="num">
                                      <p:cBhvr>
                                        <p:cTn id="52" dur="1000" fill="hold"/>
                                        <p:tgtEl>
                                          <p:spTgt spid="120"/>
                                        </p:tgtEl>
                                        <p:attrNameLst>
                                          <p:attrName>ppt_x</p:attrName>
                                        </p:attrNameLst>
                                      </p:cBhvr>
                                      <p:tavLst>
                                        <p:tav tm="0">
                                          <p:val>
                                            <p:strVal val="#ppt_x"/>
                                          </p:val>
                                        </p:tav>
                                        <p:tav tm="100000">
                                          <p:val>
                                            <p:strVal val="#ppt_x"/>
                                          </p:val>
                                        </p:tav>
                                      </p:tavLst>
                                    </p:anim>
                                    <p:anim calcmode="lin" valueType="num">
                                      <p:cBhvr>
                                        <p:cTn id="53" dur="1000" fill="hold"/>
                                        <p:tgtEl>
                                          <p:spTgt spid="12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21"/>
                                        </p:tgtEl>
                                        <p:attrNameLst>
                                          <p:attrName>style.visibility</p:attrName>
                                        </p:attrNameLst>
                                      </p:cBhvr>
                                      <p:to>
                                        <p:strVal val="visible"/>
                                      </p:to>
                                    </p:set>
                                    <p:animEffect transition="in" filter="fade">
                                      <p:cBhvr>
                                        <p:cTn id="58" dur="1000"/>
                                        <p:tgtEl>
                                          <p:spTgt spid="121"/>
                                        </p:tgtEl>
                                      </p:cBhvr>
                                    </p:animEffect>
                                    <p:anim calcmode="lin" valueType="num">
                                      <p:cBhvr>
                                        <p:cTn id="59" dur="1000" fill="hold"/>
                                        <p:tgtEl>
                                          <p:spTgt spid="121"/>
                                        </p:tgtEl>
                                        <p:attrNameLst>
                                          <p:attrName>ppt_x</p:attrName>
                                        </p:attrNameLst>
                                      </p:cBhvr>
                                      <p:tavLst>
                                        <p:tav tm="0">
                                          <p:val>
                                            <p:strVal val="#ppt_x"/>
                                          </p:val>
                                        </p:tav>
                                        <p:tav tm="100000">
                                          <p:val>
                                            <p:strVal val="#ppt_x"/>
                                          </p:val>
                                        </p:tav>
                                      </p:tavLst>
                                    </p:anim>
                                    <p:anim calcmode="lin" valueType="num">
                                      <p:cBhvr>
                                        <p:cTn id="60" dur="1000" fill="hold"/>
                                        <p:tgtEl>
                                          <p:spTgt spid="121"/>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nodeType="click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1000"/>
                                        <p:tgtEl>
                                          <p:spTgt spid="22"/>
                                        </p:tgtEl>
                                      </p:cBhvr>
                                    </p:animEffect>
                                    <p:anim calcmode="lin" valueType="num">
                                      <p:cBhvr>
                                        <p:cTn id="66" dur="1000" fill="hold"/>
                                        <p:tgtEl>
                                          <p:spTgt spid="22"/>
                                        </p:tgtEl>
                                        <p:attrNameLst>
                                          <p:attrName>ppt_x</p:attrName>
                                        </p:attrNameLst>
                                      </p:cBhvr>
                                      <p:tavLst>
                                        <p:tav tm="0">
                                          <p:val>
                                            <p:strVal val="#ppt_x"/>
                                          </p:val>
                                        </p:tav>
                                        <p:tav tm="100000">
                                          <p:val>
                                            <p:strVal val="#ppt_x"/>
                                          </p:val>
                                        </p:tav>
                                      </p:tavLst>
                                    </p:anim>
                                    <p:anim calcmode="lin" valueType="num">
                                      <p:cBhvr>
                                        <p:cTn id="6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392432" y="778617"/>
            <a:ext cx="4042408" cy="420971"/>
            <a:chOff x="670560" y="892917"/>
            <a:chExt cx="4042408" cy="420971"/>
          </a:xfrm>
        </p:grpSpPr>
        <p:sp>
          <p:nvSpPr>
            <p:cNvPr id="24" name="矩形 23"/>
            <p:cNvSpPr/>
            <p:nvPr/>
          </p:nvSpPr>
          <p:spPr>
            <a:xfrm>
              <a:off x="1035232" y="913778"/>
              <a:ext cx="3677736"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D</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26" name="Group 31"/>
          <p:cNvGraphicFramePr>
            <a:graphicFrameLocks noGrp="1"/>
          </p:cNvGraphicFramePr>
          <p:nvPr/>
        </p:nvGraphicFramePr>
        <p:xfrm>
          <a:off x="1181100" y="1778000"/>
          <a:ext cx="2203450" cy="1219200"/>
        </p:xfrm>
        <a:graphic>
          <a:graphicData uri="http://schemas.openxmlformats.org/drawingml/2006/table">
            <a:tbl>
              <a:tblPr/>
              <a:tblGrid>
                <a:gridCol w="734483"/>
                <a:gridCol w="591547"/>
                <a:gridCol w="877420"/>
              </a:tblGrid>
              <a:tr h="2438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defRPr/>
                      </a:pPr>
                      <a:r>
                        <a:rPr kumimoji="1" lang="en-US" altLang="zh-CN" sz="1400" b="1"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400" b="1" i="1" u="none" strike="noStrike" cap="none" normalizeH="0" baseline="30000" dirty="0" err="1">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400" b="1" i="1"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4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lnTlToBr>
                      <a:noFill/>
                    </a:lnTlToBr>
                    <a:lnBlToTr>
                      <a:noFill/>
                    </a:lnBlToTr>
                    <a:noFill/>
                  </a:tcPr>
                </a:tc>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a:noFill/>
                    </a:lnB>
                    <a:lnTlToBr>
                      <a:noFill/>
                    </a:lnTlToBr>
                    <a:lnBlToTr>
                      <a:noFill/>
                    </a:lnBlToTr>
                    <a:noFill/>
                  </a:tcPr>
                </a:tc>
              </a:tr>
              <a:tr h="24384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7" name="Rectangle 136"/>
          <p:cNvSpPr>
            <a:spLocks noChangeArrowheads="1"/>
          </p:cNvSpPr>
          <p:nvPr/>
        </p:nvSpPr>
        <p:spPr bwMode="auto">
          <a:xfrm>
            <a:off x="1479550" y="3900488"/>
            <a:ext cx="1172116" cy="400110"/>
          </a:xfrm>
          <a:prstGeom prst="rect">
            <a:avLst/>
          </a:prstGeom>
          <a:noFill/>
          <a:ln w="9525">
            <a:noFill/>
            <a:miter lim="800000"/>
          </a:ln>
        </p:spPr>
        <p:txBody>
          <a:bodyPr wrap="none" anchor="ctr">
            <a:spAutoFit/>
          </a:bodyPr>
          <a:lstStyle/>
          <a:p>
            <a:pPr algn="ctr"/>
            <a:r>
              <a:rPr kumimoji="1" lang="en-US" altLang="zh-CN" sz="2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20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20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r>
              <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 </a:t>
            </a:r>
            <a:r>
              <a:rPr kumimoji="1" lang="en-US" altLang="zh-CN" sz="2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D</a:t>
            </a:r>
            <a:r>
              <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endParaRPr kumimoji="1" lang="en-US" altLang="zh-CN" sz="2000"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8" name="Picture 1"/>
          <p:cNvPicPr>
            <a:picLocks noChangeAspect="1" noChangeArrowheads="1"/>
          </p:cNvPicPr>
          <p:nvPr/>
        </p:nvPicPr>
        <p:blipFill>
          <a:blip r:embed="rId2" cstate="print"/>
          <a:srcRect/>
          <a:stretch>
            <a:fillRect/>
          </a:stretch>
        </p:blipFill>
        <p:spPr bwMode="auto">
          <a:xfrm>
            <a:off x="4494214" y="3546908"/>
            <a:ext cx="2907680" cy="923492"/>
          </a:xfrm>
          <a:prstGeom prst="rect">
            <a:avLst/>
          </a:prstGeom>
          <a:noFill/>
          <a:ln w="9525">
            <a:noFill/>
            <a:miter lim="800000"/>
            <a:headEnd/>
            <a:tailEnd/>
          </a:ln>
          <a:effectLst/>
        </p:spPr>
      </p:pic>
      <p:sp>
        <p:nvSpPr>
          <p:cNvPr id="29" name="Rectangle 9"/>
          <p:cNvSpPr>
            <a:spLocks noChangeArrowheads="1"/>
          </p:cNvSpPr>
          <p:nvPr/>
        </p:nvSpPr>
        <p:spPr bwMode="auto">
          <a:xfrm>
            <a:off x="763588" y="1279525"/>
            <a:ext cx="28829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、特性表 </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0" name="Rectangle 135"/>
          <p:cNvSpPr>
            <a:spLocks noChangeArrowheads="1"/>
          </p:cNvSpPr>
          <p:nvPr/>
        </p:nvSpPr>
        <p:spPr bwMode="auto">
          <a:xfrm>
            <a:off x="763588" y="3222625"/>
            <a:ext cx="25146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、特性方程</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Rectangle 138"/>
          <p:cNvSpPr>
            <a:spLocks noChangeArrowheads="1"/>
          </p:cNvSpPr>
          <p:nvPr/>
        </p:nvSpPr>
        <p:spPr bwMode="auto">
          <a:xfrm>
            <a:off x="3665538" y="3222625"/>
            <a:ext cx="249555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、状态图</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0" name="组合 39"/>
          <p:cNvGrpSpPr/>
          <p:nvPr/>
        </p:nvGrpSpPr>
        <p:grpSpPr>
          <a:xfrm>
            <a:off x="3747066" y="1891722"/>
            <a:ext cx="2491469" cy="995363"/>
            <a:chOff x="4468131" y="1663700"/>
            <a:chExt cx="2491469" cy="995363"/>
          </a:xfrm>
        </p:grpSpPr>
        <p:pic>
          <p:nvPicPr>
            <p:cNvPr id="39937" name="Picture 1"/>
            <p:cNvPicPr>
              <a:picLocks noChangeAspect="1" noChangeArrowheads="1"/>
            </p:cNvPicPr>
            <p:nvPr/>
          </p:nvPicPr>
          <p:blipFill>
            <a:blip r:embed="rId3" cstate="print"/>
            <a:srcRect/>
            <a:stretch>
              <a:fillRect/>
            </a:stretch>
          </p:blipFill>
          <p:spPr bwMode="auto">
            <a:xfrm>
              <a:off x="4714875" y="1849918"/>
              <a:ext cx="2244725" cy="809145"/>
            </a:xfrm>
            <a:prstGeom prst="rect">
              <a:avLst/>
            </a:prstGeom>
            <a:noFill/>
            <a:ln w="9525">
              <a:noFill/>
              <a:miter lim="800000"/>
              <a:headEnd/>
              <a:tailEnd/>
            </a:ln>
            <a:effectLst/>
          </p:spPr>
        </p:pic>
        <p:sp>
          <p:nvSpPr>
            <p:cNvPr id="36" name="矩形 35"/>
            <p:cNvSpPr/>
            <p:nvPr/>
          </p:nvSpPr>
          <p:spPr>
            <a:xfrm>
              <a:off x="4757645" y="1772145"/>
              <a:ext cx="418704" cy="246221"/>
            </a:xfrm>
            <a:prstGeom prst="rect">
              <a:avLst/>
            </a:prstGeom>
          </p:spPr>
          <p:txBody>
            <a:bodyPr wrap="none">
              <a:spAutoFit/>
            </a:bodyPr>
            <a:lstStyle/>
            <a:p>
              <a:pPr lvl="0" algn="ctr" fontAlgn="base">
                <a:spcBef>
                  <a:spcPct val="0"/>
                </a:spcBef>
                <a:spcAft>
                  <a:spcPct val="0"/>
                </a:spcAft>
                <a:tabLst>
                  <a:tab pos="5130800" algn="r"/>
                </a:tabLst>
              </a:pPr>
              <a:r>
                <a:rPr kumimoji="1" lang="en-US" altLang="zh-CN" sz="1000" b="1" i="1"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DQ</a:t>
              </a:r>
              <a:r>
                <a:rPr kumimoji="1" lang="en-US" altLang="zh-CN" sz="1000" b="1" i="1" baseline="30000" dirty="0" err="1">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endParaRPr kumimoji="1" lang="en-US" altLang="zh-CN" sz="10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grpSp>
          <p:nvGrpSpPr>
            <p:cNvPr id="38" name="组合 37"/>
            <p:cNvGrpSpPr/>
            <p:nvPr/>
          </p:nvGrpSpPr>
          <p:grpSpPr>
            <a:xfrm>
              <a:off x="4468131" y="1663700"/>
              <a:ext cx="439544" cy="288000"/>
              <a:chOff x="4468131" y="1663700"/>
              <a:chExt cx="439544" cy="288000"/>
            </a:xfrm>
          </p:grpSpPr>
          <p:sp>
            <p:nvSpPr>
              <p:cNvPr id="34" name="椭圆 33"/>
              <p:cNvSpPr/>
              <p:nvPr/>
            </p:nvSpPr>
            <p:spPr>
              <a:xfrm>
                <a:off x="4536569" y="1663700"/>
                <a:ext cx="288000" cy="288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37" name="矩形 36"/>
              <p:cNvSpPr/>
              <p:nvPr/>
            </p:nvSpPr>
            <p:spPr>
              <a:xfrm>
                <a:off x="4468131" y="1682234"/>
                <a:ext cx="439544" cy="261610"/>
              </a:xfrm>
              <a:prstGeom prst="rect">
                <a:avLst/>
              </a:prstGeom>
            </p:spPr>
            <p:txBody>
              <a:bodyPr wrap="none">
                <a:spAutoFit/>
              </a:bodyPr>
              <a:lstStyle/>
              <a:p>
                <a:r>
                  <a:rPr kumimoji="1" lang="en-US" altLang="zh-CN" sz="11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1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1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100" dirty="0"/>
              </a:p>
            </p:txBody>
          </p:sp>
        </p:grpSp>
        <p:sp>
          <p:nvSpPr>
            <p:cNvPr id="39" name="圆角矩形 38"/>
            <p:cNvSpPr/>
            <p:nvPr/>
          </p:nvSpPr>
          <p:spPr>
            <a:xfrm>
              <a:off x="6045200" y="2178050"/>
              <a:ext cx="774700" cy="317500"/>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p:cNvGrpSpPr/>
          <p:nvPr/>
        </p:nvGrpSpPr>
        <p:grpSpPr>
          <a:xfrm>
            <a:off x="7156450" y="808907"/>
            <a:ext cx="1385570" cy="1191260"/>
            <a:chOff x="7392670" y="858520"/>
            <a:chExt cx="1385570" cy="1191260"/>
          </a:xfrm>
        </p:grpSpPr>
        <p:grpSp>
          <p:nvGrpSpPr>
            <p:cNvPr id="53" name="组合 52"/>
            <p:cNvGrpSpPr/>
            <p:nvPr/>
          </p:nvGrpSpPr>
          <p:grpSpPr>
            <a:xfrm>
              <a:off x="7442518" y="1037908"/>
              <a:ext cx="1198562" cy="961827"/>
              <a:chOff x="7442518" y="1053148"/>
              <a:chExt cx="1198562" cy="961827"/>
            </a:xfrm>
          </p:grpSpPr>
          <p:sp>
            <p:nvSpPr>
              <p:cNvPr id="51" name="Line 7"/>
              <p:cNvSpPr>
                <a:spLocks noChangeShapeType="1"/>
              </p:cNvSpPr>
              <p:nvPr/>
            </p:nvSpPr>
            <p:spPr bwMode="auto">
              <a:xfrm flipH="1">
                <a:off x="7665466" y="1164591"/>
                <a:ext cx="186104"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52" name="Line 8"/>
              <p:cNvSpPr>
                <a:spLocks noChangeShapeType="1"/>
              </p:cNvSpPr>
              <p:nvPr/>
            </p:nvSpPr>
            <p:spPr bwMode="auto">
              <a:xfrm flipH="1">
                <a:off x="7665466" y="1552576"/>
                <a:ext cx="289001"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7442518" y="1053148"/>
                <a:ext cx="1198562" cy="961827"/>
                <a:chOff x="1270318" y="1592898"/>
                <a:chExt cx="1198562" cy="961827"/>
              </a:xfrm>
            </p:grpSpPr>
            <p:sp>
              <p:nvSpPr>
                <p:cNvPr id="19" name="Rectangle 12"/>
                <p:cNvSpPr>
                  <a:spLocks noChangeArrowheads="1"/>
                </p:cNvSpPr>
                <p:nvPr/>
              </p:nvSpPr>
              <p:spPr bwMode="auto">
                <a:xfrm>
                  <a:off x="1454468" y="2246948"/>
                  <a:ext cx="912429"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0" name="组合 63"/>
                <p:cNvGrpSpPr/>
                <p:nvPr/>
              </p:nvGrpSpPr>
              <p:grpSpPr>
                <a:xfrm>
                  <a:off x="1270318" y="1592898"/>
                  <a:ext cx="1198562" cy="679450"/>
                  <a:chOff x="1226503" y="1827530"/>
                  <a:chExt cx="1198562" cy="679450"/>
                </a:xfrm>
              </p:grpSpPr>
              <p:sp>
                <p:nvSpPr>
                  <p:cNvPr id="22" name="Line 9"/>
                  <p:cNvSpPr>
                    <a:spLocks noChangeShapeType="1"/>
                  </p:cNvSpPr>
                  <p:nvPr/>
                </p:nvSpPr>
                <p:spPr bwMode="auto">
                  <a:xfrm flipH="1">
                    <a:off x="2057303" y="1934210"/>
                    <a:ext cx="14291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32" name="Line 10"/>
                  <p:cNvSpPr>
                    <a:spLocks noChangeShapeType="1"/>
                  </p:cNvSpPr>
                  <p:nvPr/>
                </p:nvSpPr>
                <p:spPr bwMode="auto">
                  <a:xfrm flipH="1">
                    <a:off x="2060479" y="2327275"/>
                    <a:ext cx="14227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33" name="Rectangle 11"/>
                  <p:cNvSpPr>
                    <a:spLocks noChangeArrowheads="1"/>
                  </p:cNvSpPr>
                  <p:nvPr/>
                </p:nvSpPr>
                <p:spPr bwMode="auto">
                  <a:xfrm>
                    <a:off x="1619037" y="1827530"/>
                    <a:ext cx="454780" cy="604520"/>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35" name="Oval 12"/>
                  <p:cNvSpPr>
                    <a:spLocks noChangeArrowheads="1"/>
                  </p:cNvSpPr>
                  <p:nvPr/>
                </p:nvSpPr>
                <p:spPr bwMode="auto">
                  <a:xfrm>
                    <a:off x="2076993" y="2301875"/>
                    <a:ext cx="53989" cy="5397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1" name="Text Box 13"/>
                  <p:cNvSpPr txBox="1">
                    <a:spLocks noChangeArrowheads="1"/>
                  </p:cNvSpPr>
                  <p:nvPr/>
                </p:nvSpPr>
                <p:spPr bwMode="auto">
                  <a:xfrm>
                    <a:off x="1626659" y="1861820"/>
                    <a:ext cx="164509" cy="13208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1D</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Text Box 14"/>
                  <p:cNvSpPr txBox="1">
                    <a:spLocks noChangeArrowheads="1"/>
                  </p:cNvSpPr>
                  <p:nvPr/>
                </p:nvSpPr>
                <p:spPr bwMode="auto">
                  <a:xfrm>
                    <a:off x="1703514" y="2245995"/>
                    <a:ext cx="264230" cy="16192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Text Box 15"/>
                  <p:cNvSpPr txBox="1">
                    <a:spLocks noChangeArrowheads="1"/>
                  </p:cNvSpPr>
                  <p:nvPr/>
                </p:nvSpPr>
                <p:spPr bwMode="auto">
                  <a:xfrm>
                    <a:off x="2195769" y="1864995"/>
                    <a:ext cx="229296" cy="24574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Text Box 16"/>
                  <p:cNvSpPr txBox="1">
                    <a:spLocks noChangeArrowheads="1"/>
                  </p:cNvSpPr>
                  <p:nvPr/>
                </p:nvSpPr>
                <p:spPr bwMode="auto">
                  <a:xfrm>
                    <a:off x="1603158" y="2249170"/>
                    <a:ext cx="128939" cy="142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Text Box 17"/>
                  <p:cNvSpPr txBox="1">
                    <a:spLocks noChangeArrowheads="1"/>
                  </p:cNvSpPr>
                  <p:nvPr/>
                </p:nvSpPr>
                <p:spPr bwMode="auto">
                  <a:xfrm>
                    <a:off x="1281763" y="1871345"/>
                    <a:ext cx="144183" cy="14033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Text Box 18"/>
                  <p:cNvSpPr txBox="1">
                    <a:spLocks noChangeArrowheads="1"/>
                  </p:cNvSpPr>
                  <p:nvPr/>
                </p:nvSpPr>
                <p:spPr bwMode="auto">
                  <a:xfrm>
                    <a:off x="1226503" y="2251710"/>
                    <a:ext cx="229931" cy="1562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Text Box 19"/>
                  <p:cNvSpPr txBox="1">
                    <a:spLocks noChangeArrowheads="1"/>
                  </p:cNvSpPr>
                  <p:nvPr/>
                </p:nvSpPr>
                <p:spPr bwMode="auto">
                  <a:xfrm>
                    <a:off x="2205297" y="2280920"/>
                    <a:ext cx="219768" cy="22606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Line 20"/>
                  <p:cNvSpPr>
                    <a:spLocks noChangeShapeType="1"/>
                  </p:cNvSpPr>
                  <p:nvPr/>
                </p:nvSpPr>
                <p:spPr bwMode="auto">
                  <a:xfrm>
                    <a:off x="2259925" y="2288540"/>
                    <a:ext cx="107979"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sp>
          <p:nvSpPr>
            <p:cNvPr id="54" name="圆角矩形 53"/>
            <p:cNvSpPr/>
            <p:nvPr/>
          </p:nvSpPr>
          <p:spPr>
            <a:xfrm>
              <a:off x="7392670" y="858520"/>
              <a:ext cx="1385570" cy="1191260"/>
            </a:xfrm>
            <a:prstGeom prst="roundRect">
              <a:avLst>
                <a:gd name="adj" fmla="val 14108"/>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椭圆 48"/>
          <p:cNvSpPr/>
          <p:nvPr/>
        </p:nvSpPr>
        <p:spPr>
          <a:xfrm>
            <a:off x="5041900" y="3810000"/>
            <a:ext cx="396000" cy="396000"/>
          </a:xfrm>
          <a:prstGeom prst="ellipse">
            <a:avLst/>
          </a:prstGeom>
          <a:solidFill>
            <a:schemeClr val="accent1">
              <a:alpha val="4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6451600" y="3810000"/>
            <a:ext cx="396000" cy="396000"/>
          </a:xfrm>
          <a:prstGeom prst="ellipse">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7054850" y="3873500"/>
            <a:ext cx="396000" cy="228600"/>
          </a:xfrm>
          <a:prstGeom prst="ellipse">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5759450" y="3467100"/>
            <a:ext cx="396000" cy="228600"/>
          </a:xfrm>
          <a:prstGeom prst="ellipse">
            <a:avLst/>
          </a:prstGeom>
          <a:solidFill>
            <a:srgbClr val="FF0000">
              <a:alpha val="46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759450" y="4286250"/>
            <a:ext cx="396000" cy="228600"/>
          </a:xfrm>
          <a:prstGeom prst="ellipse">
            <a:avLst/>
          </a:prstGeom>
          <a:solidFill>
            <a:srgbClr val="0070C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4464050" y="3879850"/>
            <a:ext cx="396000" cy="228600"/>
          </a:xfrm>
          <a:prstGeom prst="ellipse">
            <a:avLst/>
          </a:prstGeom>
          <a:solidFill>
            <a:srgbClr val="0070C0">
              <a:alpha val="3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12"/>
          <p:cNvSpPr/>
          <p:nvPr/>
        </p:nvSpPr>
        <p:spPr>
          <a:xfrm>
            <a:off x="1181100" y="2057802"/>
            <a:ext cx="2203450" cy="426318"/>
          </a:xfrm>
          <a:prstGeom prst="roundRect">
            <a:avLst>
              <a:gd name="adj" fmla="val 14725"/>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圆角矩形 12"/>
          <p:cNvSpPr/>
          <p:nvPr/>
        </p:nvSpPr>
        <p:spPr>
          <a:xfrm>
            <a:off x="1181100" y="2531068"/>
            <a:ext cx="2203450" cy="426318"/>
          </a:xfrm>
          <a:prstGeom prst="roundRect">
            <a:avLst>
              <a:gd name="adj" fmla="val 14725"/>
            </a:avLst>
          </a:prstGeom>
          <a:solidFill>
            <a:srgbClr val="FFFF00">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1000"/>
                                        <p:tgtEl>
                                          <p:spTgt spid="23"/>
                                        </p:tgtEl>
                                      </p:cBhvr>
                                    </p:animEffect>
                                    <p:anim calcmode="lin" valueType="num">
                                      <p:cBhvr>
                                        <p:cTn id="8" dur="1000" fill="hold"/>
                                        <p:tgtEl>
                                          <p:spTgt spid="23"/>
                                        </p:tgtEl>
                                        <p:attrNameLst>
                                          <p:attrName>ppt_x</p:attrName>
                                        </p:attrNameLst>
                                      </p:cBhvr>
                                      <p:tavLst>
                                        <p:tav tm="0">
                                          <p:val>
                                            <p:strVal val="#ppt_x"/>
                                          </p:val>
                                        </p:tav>
                                        <p:tav tm="100000">
                                          <p:val>
                                            <p:strVal val="#ppt_x"/>
                                          </p:val>
                                        </p:tav>
                                      </p:tavLst>
                                    </p:anim>
                                    <p:anim calcmode="lin" valueType="num">
                                      <p:cBhvr>
                                        <p:cTn id="9" dur="1000" fill="hold"/>
                                        <p:tgtEl>
                                          <p:spTgt spid="2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fade">
                                      <p:cBhvr>
                                        <p:cTn id="12" dur="1000"/>
                                        <p:tgtEl>
                                          <p:spTgt spid="55"/>
                                        </p:tgtEl>
                                      </p:cBhvr>
                                    </p:animEffect>
                                    <p:anim calcmode="lin" valueType="num">
                                      <p:cBhvr>
                                        <p:cTn id="13" dur="1000" fill="hold"/>
                                        <p:tgtEl>
                                          <p:spTgt spid="55"/>
                                        </p:tgtEl>
                                        <p:attrNameLst>
                                          <p:attrName>ppt_x</p:attrName>
                                        </p:attrNameLst>
                                      </p:cBhvr>
                                      <p:tavLst>
                                        <p:tav tm="0">
                                          <p:val>
                                            <p:strVal val="#ppt_x"/>
                                          </p:val>
                                        </p:tav>
                                        <p:tav tm="100000">
                                          <p:val>
                                            <p:strVal val="#ppt_x"/>
                                          </p:val>
                                        </p:tav>
                                      </p:tavLst>
                                    </p:anim>
                                    <p:anim calcmode="lin" valueType="num">
                                      <p:cBhvr>
                                        <p:cTn id="14" dur="1000" fill="hold"/>
                                        <p:tgtEl>
                                          <p:spTgt spid="5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42" presetClass="entr" presetSubtype="0"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1000"/>
                                        <p:tgtEl>
                                          <p:spTgt spid="26"/>
                                        </p:tgtEl>
                                      </p:cBhvr>
                                    </p:animEffect>
                                    <p:anim calcmode="lin" valueType="num">
                                      <p:cBhvr>
                                        <p:cTn id="25" dur="1000" fill="hold"/>
                                        <p:tgtEl>
                                          <p:spTgt spid="26"/>
                                        </p:tgtEl>
                                        <p:attrNameLst>
                                          <p:attrName>ppt_x</p:attrName>
                                        </p:attrNameLst>
                                      </p:cBhvr>
                                      <p:tavLst>
                                        <p:tav tm="0">
                                          <p:val>
                                            <p:strVal val="#ppt_x"/>
                                          </p:val>
                                        </p:tav>
                                        <p:tav tm="100000">
                                          <p:val>
                                            <p:strVal val="#ppt_x"/>
                                          </p:val>
                                        </p:tav>
                                      </p:tavLst>
                                    </p:anim>
                                    <p:anim calcmode="lin" valueType="num">
                                      <p:cBhvr>
                                        <p:cTn id="2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p:cTn id="31" dur="1000" fill="hold"/>
                                        <p:tgtEl>
                                          <p:spTgt spid="56"/>
                                        </p:tgtEl>
                                        <p:attrNameLst>
                                          <p:attrName>ppt_w</p:attrName>
                                        </p:attrNameLst>
                                      </p:cBhvr>
                                      <p:tavLst>
                                        <p:tav tm="0">
                                          <p:val>
                                            <p:fltVal val="0"/>
                                          </p:val>
                                        </p:tav>
                                        <p:tav tm="100000">
                                          <p:val>
                                            <p:strVal val="#ppt_w"/>
                                          </p:val>
                                        </p:tav>
                                      </p:tavLst>
                                    </p:anim>
                                    <p:anim calcmode="lin" valueType="num">
                                      <p:cBhvr>
                                        <p:cTn id="32" dur="1000" fill="hold"/>
                                        <p:tgtEl>
                                          <p:spTgt spid="56"/>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56"/>
                                        </p:tgtEl>
                                        <p:attrNameLst>
                                          <p:attrName>style.visibility</p:attrName>
                                        </p:attrNameLst>
                                      </p:cBhvr>
                                      <p:to>
                                        <p:strVal val="hidden"/>
                                      </p:to>
                                    </p:set>
                                  </p:subTnLst>
                                </p:cTn>
                              </p:par>
                            </p:childTnLst>
                          </p:cTn>
                        </p:par>
                        <p:par>
                          <p:cTn id="33" fill="hold">
                            <p:stCondLst>
                              <p:cond delay="1000"/>
                            </p:stCondLst>
                            <p:childTnLst>
                              <p:par>
                                <p:cTn id="34" presetID="17" presetClass="entr" presetSubtype="10" fill="hold" grpId="0" nodeType="afterEffect">
                                  <p:stCondLst>
                                    <p:cond delay="0"/>
                                  </p:stCondLst>
                                  <p:childTnLst>
                                    <p:set>
                                      <p:cBhvr>
                                        <p:cTn id="35" dur="1" fill="hold">
                                          <p:stCondLst>
                                            <p:cond delay="0"/>
                                          </p:stCondLst>
                                        </p:cTn>
                                        <p:tgtEl>
                                          <p:spTgt spid="57"/>
                                        </p:tgtEl>
                                        <p:attrNameLst>
                                          <p:attrName>style.visibility</p:attrName>
                                        </p:attrNameLst>
                                      </p:cBhvr>
                                      <p:to>
                                        <p:strVal val="visible"/>
                                      </p:to>
                                    </p:set>
                                    <p:anim calcmode="lin" valueType="num">
                                      <p:cBhvr>
                                        <p:cTn id="36" dur="1000" fill="hold"/>
                                        <p:tgtEl>
                                          <p:spTgt spid="57"/>
                                        </p:tgtEl>
                                        <p:attrNameLst>
                                          <p:attrName>ppt_w</p:attrName>
                                        </p:attrNameLst>
                                      </p:cBhvr>
                                      <p:tavLst>
                                        <p:tav tm="0">
                                          <p:val>
                                            <p:fltVal val="0"/>
                                          </p:val>
                                        </p:tav>
                                        <p:tav tm="100000">
                                          <p:val>
                                            <p:strVal val="#ppt_w"/>
                                          </p:val>
                                        </p:tav>
                                      </p:tavLst>
                                    </p:anim>
                                    <p:anim calcmode="lin" valueType="num">
                                      <p:cBhvr>
                                        <p:cTn id="37" dur="1000" fill="hold"/>
                                        <p:tgtEl>
                                          <p:spTgt spid="5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57"/>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1000"/>
                                        <p:tgtEl>
                                          <p:spTgt spid="30"/>
                                        </p:tgtEl>
                                      </p:cBhvr>
                                    </p:animEffect>
                                    <p:anim calcmode="lin" valueType="num">
                                      <p:cBhvr>
                                        <p:cTn id="43" dur="1000" fill="hold"/>
                                        <p:tgtEl>
                                          <p:spTgt spid="30"/>
                                        </p:tgtEl>
                                        <p:attrNameLst>
                                          <p:attrName>ppt_x</p:attrName>
                                        </p:attrNameLst>
                                      </p:cBhvr>
                                      <p:tavLst>
                                        <p:tav tm="0">
                                          <p:val>
                                            <p:strVal val="#ppt_x"/>
                                          </p:val>
                                        </p:tav>
                                        <p:tav tm="100000">
                                          <p:val>
                                            <p:strVal val="#ppt_x"/>
                                          </p:val>
                                        </p:tav>
                                      </p:tavLst>
                                    </p:anim>
                                    <p:anim calcmode="lin" valueType="num">
                                      <p:cBhvr>
                                        <p:cTn id="44" dur="1000" fill="hold"/>
                                        <p:tgtEl>
                                          <p:spTgt spid="30"/>
                                        </p:tgtEl>
                                        <p:attrNameLst>
                                          <p:attrName>ppt_y</p:attrName>
                                        </p:attrNameLst>
                                      </p:cBhvr>
                                      <p:tavLst>
                                        <p:tav tm="0">
                                          <p:val>
                                            <p:strVal val="#ppt_y+.1"/>
                                          </p:val>
                                        </p:tav>
                                        <p:tav tm="100000">
                                          <p:val>
                                            <p:strVal val="#ppt_y"/>
                                          </p:val>
                                        </p:tav>
                                      </p:tavLst>
                                    </p:anim>
                                  </p:childTnLst>
                                </p:cTn>
                              </p:par>
                            </p:childTnLst>
                          </p:cTn>
                        </p:par>
                        <p:par>
                          <p:cTn id="45" fill="hold">
                            <p:stCondLst>
                              <p:cond delay="1000"/>
                            </p:stCondLst>
                            <p:childTnLst>
                              <p:par>
                                <p:cTn id="46" presetID="42" presetClass="entr" presetSubtype="0" fill="hold" nodeType="after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fade">
                                      <p:cBhvr>
                                        <p:cTn id="48" dur="1000"/>
                                        <p:tgtEl>
                                          <p:spTgt spid="40"/>
                                        </p:tgtEl>
                                      </p:cBhvr>
                                    </p:animEffect>
                                    <p:anim calcmode="lin" valueType="num">
                                      <p:cBhvr>
                                        <p:cTn id="49" dur="1000" fill="hold"/>
                                        <p:tgtEl>
                                          <p:spTgt spid="40"/>
                                        </p:tgtEl>
                                        <p:attrNameLst>
                                          <p:attrName>ppt_x</p:attrName>
                                        </p:attrNameLst>
                                      </p:cBhvr>
                                      <p:tavLst>
                                        <p:tav tm="0">
                                          <p:val>
                                            <p:strVal val="#ppt_x"/>
                                          </p:val>
                                        </p:tav>
                                        <p:tav tm="100000">
                                          <p:val>
                                            <p:strVal val="#ppt_x"/>
                                          </p:val>
                                        </p:tav>
                                      </p:tavLst>
                                    </p:anim>
                                    <p:anim calcmode="lin" valueType="num">
                                      <p:cBhvr>
                                        <p:cTn id="50" dur="1000" fill="hold"/>
                                        <p:tgtEl>
                                          <p:spTgt spid="40"/>
                                        </p:tgtEl>
                                        <p:attrNameLst>
                                          <p:attrName>ppt_y</p:attrName>
                                        </p:attrNameLst>
                                      </p:cBhvr>
                                      <p:tavLst>
                                        <p:tav tm="0">
                                          <p:val>
                                            <p:strVal val="#ppt_y+.1"/>
                                          </p:val>
                                        </p:tav>
                                        <p:tav tm="100000">
                                          <p:val>
                                            <p:strVal val="#ppt_y"/>
                                          </p:val>
                                        </p:tav>
                                      </p:tavLst>
                                    </p:anim>
                                  </p:childTnLst>
                                </p:cTn>
                              </p:par>
                            </p:childTnLst>
                          </p:cTn>
                        </p:par>
                        <p:par>
                          <p:cTn id="51" fill="hold">
                            <p:stCondLst>
                              <p:cond delay="2000"/>
                            </p:stCondLst>
                            <p:childTnLst>
                              <p:par>
                                <p:cTn id="52" presetID="42" presetClass="entr" presetSubtype="0"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1000"/>
                                        <p:tgtEl>
                                          <p:spTgt spid="27"/>
                                        </p:tgtEl>
                                      </p:cBhvr>
                                    </p:animEffect>
                                    <p:anim calcmode="lin" valueType="num">
                                      <p:cBhvr>
                                        <p:cTn id="55" dur="1000" fill="hold"/>
                                        <p:tgtEl>
                                          <p:spTgt spid="27"/>
                                        </p:tgtEl>
                                        <p:attrNameLst>
                                          <p:attrName>ppt_x</p:attrName>
                                        </p:attrNameLst>
                                      </p:cBhvr>
                                      <p:tavLst>
                                        <p:tav tm="0">
                                          <p:val>
                                            <p:strVal val="#ppt_x"/>
                                          </p:val>
                                        </p:tav>
                                        <p:tav tm="100000">
                                          <p:val>
                                            <p:strVal val="#ppt_x"/>
                                          </p:val>
                                        </p:tav>
                                      </p:tavLst>
                                    </p:anim>
                                    <p:anim calcmode="lin" valueType="num">
                                      <p:cBhvr>
                                        <p:cTn id="56"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fade">
                                      <p:cBhvr>
                                        <p:cTn id="61" dur="1000"/>
                                        <p:tgtEl>
                                          <p:spTgt spid="31"/>
                                        </p:tgtEl>
                                      </p:cBhvr>
                                    </p:animEffect>
                                    <p:anim calcmode="lin" valueType="num">
                                      <p:cBhvr>
                                        <p:cTn id="62" dur="1000" fill="hold"/>
                                        <p:tgtEl>
                                          <p:spTgt spid="31"/>
                                        </p:tgtEl>
                                        <p:attrNameLst>
                                          <p:attrName>ppt_x</p:attrName>
                                        </p:attrNameLst>
                                      </p:cBhvr>
                                      <p:tavLst>
                                        <p:tav tm="0">
                                          <p:val>
                                            <p:strVal val="#ppt_x"/>
                                          </p:val>
                                        </p:tav>
                                        <p:tav tm="100000">
                                          <p:val>
                                            <p:strVal val="#ppt_x"/>
                                          </p:val>
                                        </p:tav>
                                      </p:tavLst>
                                    </p:anim>
                                    <p:anim calcmode="lin" valueType="num">
                                      <p:cBhvr>
                                        <p:cTn id="63" dur="1000" fill="hold"/>
                                        <p:tgtEl>
                                          <p:spTgt spid="31"/>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42" presetClass="entr" presetSubtype="0" fill="hold"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1000"/>
                                        <p:tgtEl>
                                          <p:spTgt spid="28"/>
                                        </p:tgtEl>
                                      </p:cBhvr>
                                    </p:animEffect>
                                    <p:anim calcmode="lin" valueType="num">
                                      <p:cBhvr>
                                        <p:cTn id="68" dur="1000" fill="hold"/>
                                        <p:tgtEl>
                                          <p:spTgt spid="28"/>
                                        </p:tgtEl>
                                        <p:attrNameLst>
                                          <p:attrName>ppt_x</p:attrName>
                                        </p:attrNameLst>
                                      </p:cBhvr>
                                      <p:tavLst>
                                        <p:tav tm="0">
                                          <p:val>
                                            <p:strVal val="#ppt_x"/>
                                          </p:val>
                                        </p:tav>
                                        <p:tav tm="100000">
                                          <p:val>
                                            <p:strVal val="#ppt_x"/>
                                          </p:val>
                                        </p:tav>
                                      </p:tavLst>
                                    </p:anim>
                                    <p:anim calcmode="lin" valueType="num">
                                      <p:cBhvr>
                                        <p:cTn id="6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62"/>
                                        </p:tgtEl>
                                        <p:attrNameLst>
                                          <p:attrName>style.visibility</p:attrName>
                                        </p:attrNameLst>
                                      </p:cBhvr>
                                      <p:to>
                                        <p:strVal val="visible"/>
                                      </p:to>
                                    </p:set>
                                    <p:anim calcmode="lin" valueType="num">
                                      <p:cBhvr>
                                        <p:cTn id="74" dur="1000" fill="hold"/>
                                        <p:tgtEl>
                                          <p:spTgt spid="62"/>
                                        </p:tgtEl>
                                        <p:attrNameLst>
                                          <p:attrName>ppt_w</p:attrName>
                                        </p:attrNameLst>
                                      </p:cBhvr>
                                      <p:tavLst>
                                        <p:tav tm="0">
                                          <p:val>
                                            <p:fltVal val="0"/>
                                          </p:val>
                                        </p:tav>
                                        <p:tav tm="100000">
                                          <p:val>
                                            <p:strVal val="#ppt_w"/>
                                          </p:val>
                                        </p:tav>
                                      </p:tavLst>
                                    </p:anim>
                                    <p:anim calcmode="lin" valueType="num">
                                      <p:cBhvr>
                                        <p:cTn id="75" dur="1000" fill="hold"/>
                                        <p:tgtEl>
                                          <p:spTgt spid="62"/>
                                        </p:tgtEl>
                                        <p:attrNameLst>
                                          <p:attrName>ppt_h</p:attrName>
                                        </p:attrNameLst>
                                      </p:cBhvr>
                                      <p:tavLst>
                                        <p:tav tm="0">
                                          <p:val>
                                            <p:fltVal val="0"/>
                                          </p:val>
                                        </p:tav>
                                        <p:tav tm="100000">
                                          <p:val>
                                            <p:strVal val="#ppt_h"/>
                                          </p:val>
                                        </p:tav>
                                      </p:tavLst>
                                    </p:anim>
                                    <p:animEffect transition="in" filter="fade">
                                      <p:cBhvr>
                                        <p:cTn id="76" dur="1000"/>
                                        <p:tgtEl>
                                          <p:spTgt spid="62"/>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63"/>
                                        </p:tgtEl>
                                        <p:attrNameLst>
                                          <p:attrName>style.visibility</p:attrName>
                                        </p:attrNameLst>
                                      </p:cBhvr>
                                      <p:to>
                                        <p:strVal val="visible"/>
                                      </p:to>
                                    </p:set>
                                    <p:anim calcmode="lin" valueType="num">
                                      <p:cBhvr>
                                        <p:cTn id="79" dur="1000" fill="hold"/>
                                        <p:tgtEl>
                                          <p:spTgt spid="63"/>
                                        </p:tgtEl>
                                        <p:attrNameLst>
                                          <p:attrName>ppt_w</p:attrName>
                                        </p:attrNameLst>
                                      </p:cBhvr>
                                      <p:tavLst>
                                        <p:tav tm="0">
                                          <p:val>
                                            <p:fltVal val="0"/>
                                          </p:val>
                                        </p:tav>
                                        <p:tav tm="100000">
                                          <p:val>
                                            <p:strVal val="#ppt_w"/>
                                          </p:val>
                                        </p:tav>
                                      </p:tavLst>
                                    </p:anim>
                                    <p:anim calcmode="lin" valueType="num">
                                      <p:cBhvr>
                                        <p:cTn id="80" dur="1000" fill="hold"/>
                                        <p:tgtEl>
                                          <p:spTgt spid="63"/>
                                        </p:tgtEl>
                                        <p:attrNameLst>
                                          <p:attrName>ppt_h</p:attrName>
                                        </p:attrNameLst>
                                      </p:cBhvr>
                                      <p:tavLst>
                                        <p:tav tm="0">
                                          <p:val>
                                            <p:fltVal val="0"/>
                                          </p:val>
                                        </p:tav>
                                        <p:tav tm="100000">
                                          <p:val>
                                            <p:strVal val="#ppt_h"/>
                                          </p:val>
                                        </p:tav>
                                      </p:tavLst>
                                    </p:anim>
                                    <p:animEffect transition="in" filter="fade">
                                      <p:cBhvr>
                                        <p:cTn id="81" dur="1000"/>
                                        <p:tgtEl>
                                          <p:spTgt spid="63"/>
                                        </p:tgtEl>
                                      </p:cBhvr>
                                    </p:animEffect>
                                  </p:childTnLst>
                                </p:cTn>
                              </p:par>
                            </p:childTnLst>
                          </p:cTn>
                        </p:par>
                        <p:par>
                          <p:cTn id="82" fill="hold">
                            <p:stCondLst>
                              <p:cond delay="1000"/>
                            </p:stCondLst>
                            <p:childTnLst>
                              <p:par>
                                <p:cTn id="83" presetID="53" presetClass="entr" presetSubtype="16" fill="hold" grpId="0" nodeType="afterEffect">
                                  <p:stCondLst>
                                    <p:cond delay="0"/>
                                  </p:stCondLst>
                                  <p:childTnLst>
                                    <p:set>
                                      <p:cBhvr>
                                        <p:cTn id="84" dur="1" fill="hold">
                                          <p:stCondLst>
                                            <p:cond delay="0"/>
                                          </p:stCondLst>
                                        </p:cTn>
                                        <p:tgtEl>
                                          <p:spTgt spid="49"/>
                                        </p:tgtEl>
                                        <p:attrNameLst>
                                          <p:attrName>style.visibility</p:attrName>
                                        </p:attrNameLst>
                                      </p:cBhvr>
                                      <p:to>
                                        <p:strVal val="visible"/>
                                      </p:to>
                                    </p:set>
                                    <p:anim calcmode="lin" valueType="num">
                                      <p:cBhvr>
                                        <p:cTn id="85" dur="1000" fill="hold"/>
                                        <p:tgtEl>
                                          <p:spTgt spid="49"/>
                                        </p:tgtEl>
                                        <p:attrNameLst>
                                          <p:attrName>ppt_w</p:attrName>
                                        </p:attrNameLst>
                                      </p:cBhvr>
                                      <p:tavLst>
                                        <p:tav tm="0">
                                          <p:val>
                                            <p:fltVal val="0"/>
                                          </p:val>
                                        </p:tav>
                                        <p:tav tm="100000">
                                          <p:val>
                                            <p:strVal val="#ppt_w"/>
                                          </p:val>
                                        </p:tav>
                                      </p:tavLst>
                                    </p:anim>
                                    <p:anim calcmode="lin" valueType="num">
                                      <p:cBhvr>
                                        <p:cTn id="86" dur="1000" fill="hold"/>
                                        <p:tgtEl>
                                          <p:spTgt spid="49"/>
                                        </p:tgtEl>
                                        <p:attrNameLst>
                                          <p:attrName>ppt_h</p:attrName>
                                        </p:attrNameLst>
                                      </p:cBhvr>
                                      <p:tavLst>
                                        <p:tav tm="0">
                                          <p:val>
                                            <p:fltVal val="0"/>
                                          </p:val>
                                        </p:tav>
                                        <p:tav tm="100000">
                                          <p:val>
                                            <p:strVal val="#ppt_h"/>
                                          </p:val>
                                        </p:tav>
                                      </p:tavLst>
                                    </p:anim>
                                    <p:animEffect transition="in" filter="fade">
                                      <p:cBhvr>
                                        <p:cTn id="87" dur="1000"/>
                                        <p:tgtEl>
                                          <p:spTgt spid="49"/>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59"/>
                                        </p:tgtEl>
                                        <p:attrNameLst>
                                          <p:attrName>style.visibility</p:attrName>
                                        </p:attrNameLst>
                                      </p:cBhvr>
                                      <p:to>
                                        <p:strVal val="visible"/>
                                      </p:to>
                                    </p:set>
                                    <p:anim calcmode="lin" valueType="num">
                                      <p:cBhvr>
                                        <p:cTn id="92" dur="1000" fill="hold"/>
                                        <p:tgtEl>
                                          <p:spTgt spid="59"/>
                                        </p:tgtEl>
                                        <p:attrNameLst>
                                          <p:attrName>ppt_w</p:attrName>
                                        </p:attrNameLst>
                                      </p:cBhvr>
                                      <p:tavLst>
                                        <p:tav tm="0">
                                          <p:val>
                                            <p:fltVal val="0"/>
                                          </p:val>
                                        </p:tav>
                                        <p:tav tm="100000">
                                          <p:val>
                                            <p:strVal val="#ppt_w"/>
                                          </p:val>
                                        </p:tav>
                                      </p:tavLst>
                                    </p:anim>
                                    <p:anim calcmode="lin" valueType="num">
                                      <p:cBhvr>
                                        <p:cTn id="93" dur="1000" fill="hold"/>
                                        <p:tgtEl>
                                          <p:spTgt spid="59"/>
                                        </p:tgtEl>
                                        <p:attrNameLst>
                                          <p:attrName>ppt_h</p:attrName>
                                        </p:attrNameLst>
                                      </p:cBhvr>
                                      <p:tavLst>
                                        <p:tav tm="0">
                                          <p:val>
                                            <p:fltVal val="0"/>
                                          </p:val>
                                        </p:tav>
                                        <p:tav tm="100000">
                                          <p:val>
                                            <p:strVal val="#ppt_h"/>
                                          </p:val>
                                        </p:tav>
                                      </p:tavLst>
                                    </p:anim>
                                    <p:animEffect transition="in" filter="fade">
                                      <p:cBhvr>
                                        <p:cTn id="94" dur="1000"/>
                                        <p:tgtEl>
                                          <p:spTgt spid="59"/>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p:cTn id="97" dur="1000" fill="hold"/>
                                        <p:tgtEl>
                                          <p:spTgt spid="58"/>
                                        </p:tgtEl>
                                        <p:attrNameLst>
                                          <p:attrName>ppt_w</p:attrName>
                                        </p:attrNameLst>
                                      </p:cBhvr>
                                      <p:tavLst>
                                        <p:tav tm="0">
                                          <p:val>
                                            <p:fltVal val="0"/>
                                          </p:val>
                                        </p:tav>
                                        <p:tav tm="100000">
                                          <p:val>
                                            <p:strVal val="#ppt_w"/>
                                          </p:val>
                                        </p:tav>
                                      </p:tavLst>
                                    </p:anim>
                                    <p:anim calcmode="lin" valueType="num">
                                      <p:cBhvr>
                                        <p:cTn id="98" dur="1000" fill="hold"/>
                                        <p:tgtEl>
                                          <p:spTgt spid="58"/>
                                        </p:tgtEl>
                                        <p:attrNameLst>
                                          <p:attrName>ppt_h</p:attrName>
                                        </p:attrNameLst>
                                      </p:cBhvr>
                                      <p:tavLst>
                                        <p:tav tm="0">
                                          <p:val>
                                            <p:fltVal val="0"/>
                                          </p:val>
                                        </p:tav>
                                        <p:tav tm="100000">
                                          <p:val>
                                            <p:strVal val="#ppt_h"/>
                                          </p:val>
                                        </p:tav>
                                      </p:tavLst>
                                    </p:anim>
                                    <p:animEffect transition="in" filter="fade">
                                      <p:cBhvr>
                                        <p:cTn id="99" dur="1000"/>
                                        <p:tgtEl>
                                          <p:spTgt spid="58"/>
                                        </p:tgtEl>
                                      </p:cBhvr>
                                    </p:animEffect>
                                  </p:childTnLst>
                                </p:cTn>
                              </p:par>
                            </p:childTnLst>
                          </p:cTn>
                        </p:par>
                        <p:par>
                          <p:cTn id="100" fill="hold">
                            <p:stCondLst>
                              <p:cond delay="1000"/>
                            </p:stCondLst>
                            <p:childTnLst>
                              <p:par>
                                <p:cTn id="101" presetID="53" presetClass="entr" presetSubtype="16" fill="hold" grpId="0" nodeType="afterEffect">
                                  <p:stCondLst>
                                    <p:cond delay="0"/>
                                  </p:stCondLst>
                                  <p:childTnLst>
                                    <p:set>
                                      <p:cBhvr>
                                        <p:cTn id="102" dur="1" fill="hold">
                                          <p:stCondLst>
                                            <p:cond delay="0"/>
                                          </p:stCondLst>
                                        </p:cTn>
                                        <p:tgtEl>
                                          <p:spTgt spid="50"/>
                                        </p:tgtEl>
                                        <p:attrNameLst>
                                          <p:attrName>style.visibility</p:attrName>
                                        </p:attrNameLst>
                                      </p:cBhvr>
                                      <p:to>
                                        <p:strVal val="visible"/>
                                      </p:to>
                                    </p:set>
                                    <p:anim calcmode="lin" valueType="num">
                                      <p:cBhvr>
                                        <p:cTn id="103" dur="1000" fill="hold"/>
                                        <p:tgtEl>
                                          <p:spTgt spid="50"/>
                                        </p:tgtEl>
                                        <p:attrNameLst>
                                          <p:attrName>ppt_w</p:attrName>
                                        </p:attrNameLst>
                                      </p:cBhvr>
                                      <p:tavLst>
                                        <p:tav tm="0">
                                          <p:val>
                                            <p:fltVal val="0"/>
                                          </p:val>
                                        </p:tav>
                                        <p:tav tm="100000">
                                          <p:val>
                                            <p:strVal val="#ppt_w"/>
                                          </p:val>
                                        </p:tav>
                                      </p:tavLst>
                                    </p:anim>
                                    <p:anim calcmode="lin" valueType="num">
                                      <p:cBhvr>
                                        <p:cTn id="104" dur="1000" fill="hold"/>
                                        <p:tgtEl>
                                          <p:spTgt spid="50"/>
                                        </p:tgtEl>
                                        <p:attrNameLst>
                                          <p:attrName>ppt_h</p:attrName>
                                        </p:attrNameLst>
                                      </p:cBhvr>
                                      <p:tavLst>
                                        <p:tav tm="0">
                                          <p:val>
                                            <p:fltVal val="0"/>
                                          </p:val>
                                        </p:tav>
                                        <p:tav tm="100000">
                                          <p:val>
                                            <p:strVal val="#ppt_h"/>
                                          </p:val>
                                        </p:tav>
                                      </p:tavLst>
                                    </p:anim>
                                    <p:animEffect transition="in" filter="fade">
                                      <p:cBhvr>
                                        <p:cTn id="105"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9" grpId="0"/>
      <p:bldP spid="30" grpId="0"/>
      <p:bldP spid="31" grpId="0"/>
      <p:bldP spid="49" grpId="0" animBg="1"/>
      <p:bldP spid="50" grpId="0" animBg="1"/>
      <p:bldP spid="58" grpId="0" animBg="1"/>
      <p:bldP spid="59" grpId="0" animBg="1"/>
      <p:bldP spid="62" grpId="0" animBg="1"/>
      <p:bldP spid="63" grpId="0" animBg="1"/>
      <p:bldP spid="56" grpId="0" animBg="1"/>
      <p:bldP spid="5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Group 67"/>
          <p:cNvGraphicFramePr>
            <a:graphicFrameLocks noGrp="1"/>
          </p:cNvGraphicFramePr>
          <p:nvPr/>
        </p:nvGraphicFramePr>
        <p:xfrm>
          <a:off x="973137" y="1709247"/>
          <a:ext cx="2072640" cy="2194560"/>
        </p:xfrm>
        <a:graphic>
          <a:graphicData uri="http://schemas.openxmlformats.org/drawingml/2006/table">
            <a:tbl>
              <a:tblPr/>
              <a:tblGrid>
                <a:gridCol w="472440"/>
                <a:gridCol w="434340"/>
                <a:gridCol w="571500"/>
                <a:gridCol w="594360"/>
              </a:tblGrid>
              <a:tr h="24384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J</a:t>
                      </a:r>
                      <a:endPar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K</a:t>
                      </a:r>
                      <a:endPar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400" b="1" i="1" u="none" strike="noStrike" cap="none" normalizeH="0" baseline="30000" dirty="0" err="1">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n</a:t>
                      </a:r>
                      <a:endPar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400" b="1" i="1" u="none" strike="noStrike" cap="none" normalizeH="0" baseline="3000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n+1</a:t>
                      </a:r>
                      <a:r>
                        <a:rPr kumimoji="0" lang="en-US" altLang="zh-CN"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rPr>
                        <a:t>      </a:t>
                      </a:r>
                      <a:endParaRPr kumimoji="0" lang="zh-CN" altLang="en-US" sz="1400" b="1" i="1" u="none" strike="noStrike" cap="none" normalizeH="0" baseline="0" dirty="0">
                        <a:ln>
                          <a:noFill/>
                        </a:ln>
                        <a:solidFill>
                          <a:schemeClr val="tx1"/>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4384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r>
              <a:tr h="243840">
                <a:tc vMerge="1">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r>
              <a:tr h="24384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r>
              <a:tr h="243840">
                <a:tc vMerge="1">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r>
              <a:tr h="24384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r>
              <a:tr h="243840">
                <a:tc vMerge="1">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9525" cap="flat" cmpd="sng" algn="ctr">
                      <a:solidFill>
                        <a:srgbClr val="6600FF"/>
                      </a:solidFill>
                      <a:prstDash val="sysDot"/>
                      <a:round/>
                      <a:headEnd type="none" w="med" len="med"/>
                      <a:tailEnd type="none" w="med" len="med"/>
                    </a:lnB>
                    <a:lnTlToBr>
                      <a:noFill/>
                    </a:lnTlToBr>
                    <a:lnBlToTr>
                      <a:noFill/>
                    </a:lnBlToTr>
                    <a:solidFill>
                      <a:srgbClr val="FFFFFF"/>
                    </a:solidFill>
                  </a:tcPr>
                </a:tc>
              </a:tr>
              <a:tr h="243840">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row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6600FF"/>
                      </a:solidFill>
                      <a:prstDash val="sysDot"/>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FFFFFF"/>
                    </a:solidFill>
                  </a:tcPr>
                </a:tc>
              </a:tr>
              <a:tr h="243840">
                <a:tc vMerge="1">
                  <a:tcPr/>
                </a:tc>
                <a:tc v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9050" cap="flat" cmpd="sng" algn="ctr">
                      <a:no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pic>
        <p:nvPicPr>
          <p:cNvPr id="40964" name="Picture 4"/>
          <p:cNvPicPr>
            <a:picLocks noChangeAspect="1" noChangeArrowheads="1"/>
          </p:cNvPicPr>
          <p:nvPr/>
        </p:nvPicPr>
        <p:blipFill>
          <a:blip r:embed="rId1" cstate="print"/>
          <a:srcRect/>
          <a:stretch>
            <a:fillRect/>
          </a:stretch>
        </p:blipFill>
        <p:spPr bwMode="auto">
          <a:xfrm>
            <a:off x="4947820" y="3569468"/>
            <a:ext cx="3128961" cy="1383632"/>
          </a:xfrm>
          <a:prstGeom prst="rect">
            <a:avLst/>
          </a:prstGeom>
          <a:noFill/>
          <a:ln w="9525">
            <a:noFill/>
            <a:miter lim="800000"/>
            <a:headEnd/>
            <a:tailEnd/>
          </a:ln>
          <a:effectLst/>
        </p:spPr>
      </p:pic>
      <p:grpSp>
        <p:nvGrpSpPr>
          <p:cNvPr id="2" name="组合 22"/>
          <p:cNvGrpSpPr/>
          <p:nvPr/>
        </p:nvGrpSpPr>
        <p:grpSpPr>
          <a:xfrm>
            <a:off x="392432" y="778617"/>
            <a:ext cx="4042408" cy="420971"/>
            <a:chOff x="670560" y="892917"/>
            <a:chExt cx="4042408" cy="420971"/>
          </a:xfrm>
        </p:grpSpPr>
        <p:sp>
          <p:nvSpPr>
            <p:cNvPr id="24" name="矩形 23"/>
            <p:cNvSpPr/>
            <p:nvPr/>
          </p:nvSpPr>
          <p:spPr>
            <a:xfrm>
              <a:off x="1035232" y="913778"/>
              <a:ext cx="3677736" cy="400110"/>
            </a:xfrm>
            <a:prstGeom prst="rect">
              <a:avLst/>
            </a:prstGeom>
          </p:spPr>
          <p:txBody>
            <a:bodyPr wrap="squar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JK</a:t>
              </a:r>
              <a:r>
                <a:rPr lang="zh-CN" altLang="en-US" sz="2000" b="1" dirty="0">
                  <a:solidFill>
                    <a:srgbClr val="002060"/>
                  </a:solidFill>
                  <a:latin typeface="微软雅黑" panose="020B0503020204020204" pitchFamily="34" charset="-122"/>
                  <a:ea typeface="微软雅黑" panose="020B0503020204020204" pitchFamily="34" charset="-122"/>
                </a:rPr>
                <a:t>触发器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5"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9" name="Rectangle 9"/>
          <p:cNvSpPr>
            <a:spLocks noChangeArrowheads="1"/>
          </p:cNvSpPr>
          <p:nvPr/>
        </p:nvSpPr>
        <p:spPr bwMode="auto">
          <a:xfrm>
            <a:off x="763588" y="1266825"/>
            <a:ext cx="28829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、特性表 </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0" name="Rectangle 135"/>
          <p:cNvSpPr>
            <a:spLocks noChangeArrowheads="1"/>
          </p:cNvSpPr>
          <p:nvPr/>
        </p:nvSpPr>
        <p:spPr bwMode="auto">
          <a:xfrm>
            <a:off x="4014686" y="753964"/>
            <a:ext cx="25146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、特性方程</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Rectangle 138"/>
          <p:cNvSpPr>
            <a:spLocks noChangeArrowheads="1"/>
          </p:cNvSpPr>
          <p:nvPr/>
        </p:nvSpPr>
        <p:spPr bwMode="auto">
          <a:xfrm>
            <a:off x="4136289" y="3437672"/>
            <a:ext cx="249555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、状态图</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37"/>
          <p:cNvGrpSpPr/>
          <p:nvPr/>
        </p:nvGrpSpPr>
        <p:grpSpPr>
          <a:xfrm>
            <a:off x="4121880" y="1282088"/>
            <a:ext cx="2637519" cy="1373188"/>
            <a:chOff x="6023881" y="1168400"/>
            <a:chExt cx="2637519" cy="1373188"/>
          </a:xfrm>
        </p:grpSpPr>
        <p:graphicFrame>
          <p:nvGraphicFramePr>
            <p:cNvPr id="20" name="Object 60"/>
            <p:cNvGraphicFramePr>
              <a:graphicFrameLocks noChangeAspect="1"/>
            </p:cNvGraphicFramePr>
            <p:nvPr/>
          </p:nvGraphicFramePr>
          <p:xfrm>
            <a:off x="6205538" y="1226728"/>
            <a:ext cx="2455862" cy="1314860"/>
          </p:xfrm>
          <a:graphic>
            <a:graphicData uri="http://schemas.openxmlformats.org/presentationml/2006/ole">
              <mc:AlternateContent xmlns:mc="http://schemas.openxmlformats.org/markup-compatibility/2006">
                <mc:Choice xmlns:v="urn:schemas-microsoft-com:vml" Requires="v">
                  <p:oleObj spid="_x0000_s30728" name="Picture" r:id="rId3" imgW="1695450" imgH="1057275" progId="Word.Picture.8">
                    <p:embed/>
                  </p:oleObj>
                </mc:Choice>
                <mc:Fallback>
                  <p:oleObj name="Picture" r:id="rId3" imgW="1695450" imgH="1057275" progId="Word.Picture.8">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5538" y="1226728"/>
                          <a:ext cx="2455862" cy="1314860"/>
                        </a:xfrm>
                        <a:prstGeom prst="rect">
                          <a:avLst/>
                        </a:prstGeom>
                        <a:solidFill>
                          <a:srgbClr val="FFFFFF"/>
                        </a:solidFill>
                      </p:spPr>
                    </p:pic>
                  </p:oleObj>
                </mc:Fallback>
              </mc:AlternateContent>
            </a:graphicData>
          </a:graphic>
        </p:graphicFrame>
        <p:sp>
          <p:nvSpPr>
            <p:cNvPr id="21" name="AutoShape 61"/>
            <p:cNvSpPr>
              <a:spLocks noChangeArrowheads="1"/>
            </p:cNvSpPr>
            <p:nvPr/>
          </p:nvSpPr>
          <p:spPr bwMode="auto">
            <a:xfrm>
              <a:off x="7140575" y="1670174"/>
              <a:ext cx="297743" cy="666625"/>
            </a:xfrm>
            <a:prstGeom prst="roundRect">
              <a:avLst>
                <a:gd name="adj" fmla="val 39167"/>
              </a:avLst>
            </a:prstGeom>
            <a:noFill/>
            <a:ln w="19050">
              <a:solidFill>
                <a:srgbClr val="FF0000"/>
              </a:solidFill>
              <a:round/>
            </a:ln>
          </p:spPr>
          <p:txBody>
            <a:bodyPr/>
            <a:lstStyle/>
            <a:p>
              <a:pPr>
                <a:defRPr/>
              </a:pPr>
              <a:endParaRPr lang="zh-CN" altLang="en-US">
                <a:solidFill>
                  <a:srgbClr val="000000"/>
                </a:solidFill>
                <a:effectLst>
                  <a:outerShdw blurRad="38100" dist="38100" dir="2700000" algn="tl">
                    <a:srgbClr val="C0C0C0"/>
                  </a:outerShdw>
                </a:effectLst>
              </a:endParaRPr>
            </a:p>
          </p:txBody>
        </p:sp>
        <p:grpSp>
          <p:nvGrpSpPr>
            <p:cNvPr id="4" name="Group 62"/>
            <p:cNvGrpSpPr/>
            <p:nvPr/>
          </p:nvGrpSpPr>
          <p:grpSpPr bwMode="auto">
            <a:xfrm>
              <a:off x="6619876" y="2072694"/>
              <a:ext cx="1817692" cy="272044"/>
              <a:chOff x="3674" y="1774"/>
              <a:chExt cx="1746" cy="323"/>
            </a:xfrm>
          </p:grpSpPr>
          <p:sp>
            <p:nvSpPr>
              <p:cNvPr id="23" name="AutoShape 63" descr="75%"/>
              <p:cNvSpPr/>
              <p:nvPr/>
            </p:nvSpPr>
            <p:spPr bwMode="auto">
              <a:xfrm rot="10800000">
                <a:off x="3674" y="1774"/>
                <a:ext cx="295" cy="323"/>
              </a:xfrm>
              <a:prstGeom prst="leftBracket">
                <a:avLst>
                  <a:gd name="adj" fmla="val 9124"/>
                </a:avLst>
              </a:prstGeom>
              <a:noFill/>
              <a:ln w="19050">
                <a:solidFill>
                  <a:srgbClr val="3366CC"/>
                </a:solidFill>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sp>
            <p:nvSpPr>
              <p:cNvPr id="26" name="AutoShape 64" descr="75%"/>
              <p:cNvSpPr/>
              <p:nvPr/>
            </p:nvSpPr>
            <p:spPr bwMode="auto">
              <a:xfrm rot="10800000">
                <a:off x="5103" y="1774"/>
                <a:ext cx="317" cy="323"/>
              </a:xfrm>
              <a:prstGeom prst="rightBracket">
                <a:avLst>
                  <a:gd name="adj" fmla="val 10449"/>
                </a:avLst>
              </a:prstGeom>
              <a:noFill/>
              <a:ln w="19050">
                <a:solidFill>
                  <a:srgbClr val="3366CC"/>
                </a:solidFill>
                <a:round/>
              </a:ln>
              <a:effectLst/>
            </p:spPr>
            <p:txBody>
              <a:bodyPr wrap="none" anchor="ctr"/>
              <a:lstStyle/>
              <a:p>
                <a:pPr>
                  <a:defRPr/>
                </a:pPr>
                <a:endParaRPr lang="zh-CN" altLang="en-US">
                  <a:solidFill>
                    <a:srgbClr val="000000"/>
                  </a:solidFill>
                  <a:effectLst>
                    <a:outerShdw blurRad="38100" dist="38100" dir="2700000" algn="tl">
                      <a:srgbClr val="C0C0C0"/>
                    </a:outerShdw>
                  </a:effectLst>
                </a:endParaRPr>
              </a:p>
            </p:txBody>
          </p:sp>
        </p:grpSp>
        <p:grpSp>
          <p:nvGrpSpPr>
            <p:cNvPr id="5" name="组合 34"/>
            <p:cNvGrpSpPr/>
            <p:nvPr/>
          </p:nvGrpSpPr>
          <p:grpSpPr>
            <a:xfrm>
              <a:off x="6023881" y="1168400"/>
              <a:ext cx="439544" cy="288000"/>
              <a:chOff x="5966731" y="1104900"/>
              <a:chExt cx="439544" cy="288000"/>
            </a:xfrm>
          </p:grpSpPr>
          <p:sp>
            <p:nvSpPr>
              <p:cNvPr id="32" name="矩形 31"/>
              <p:cNvSpPr/>
              <p:nvPr/>
            </p:nvSpPr>
            <p:spPr>
              <a:xfrm>
                <a:off x="5966731" y="1129784"/>
                <a:ext cx="439544" cy="261610"/>
              </a:xfrm>
              <a:prstGeom prst="rect">
                <a:avLst/>
              </a:prstGeom>
            </p:spPr>
            <p:txBody>
              <a:bodyPr wrap="none">
                <a:spAutoFit/>
              </a:bodyPr>
              <a:lstStyle/>
              <a:p>
                <a:r>
                  <a:rPr kumimoji="1" lang="en-US" altLang="zh-CN" sz="11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1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1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100" dirty="0"/>
              </a:p>
            </p:txBody>
          </p:sp>
          <p:sp>
            <p:nvSpPr>
              <p:cNvPr id="33" name="椭圆 32"/>
              <p:cNvSpPr/>
              <p:nvPr/>
            </p:nvSpPr>
            <p:spPr>
              <a:xfrm>
                <a:off x="6041519" y="1104900"/>
                <a:ext cx="288000" cy="288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grpSp>
      </p:grpSp>
      <p:graphicFrame>
        <p:nvGraphicFramePr>
          <p:cNvPr id="40" name="Object 8"/>
          <p:cNvGraphicFramePr>
            <a:graphicFrameLocks noChangeAspect="1"/>
          </p:cNvGraphicFramePr>
          <p:nvPr/>
        </p:nvGraphicFramePr>
        <p:xfrm>
          <a:off x="4732337" y="2740195"/>
          <a:ext cx="1698625" cy="365125"/>
        </p:xfrm>
        <a:graphic>
          <a:graphicData uri="http://schemas.openxmlformats.org/presentationml/2006/ole">
            <mc:AlternateContent xmlns:mc="http://schemas.openxmlformats.org/markup-compatibility/2006">
              <mc:Choice xmlns:v="urn:schemas-microsoft-com:vml" Requires="v">
                <p:oleObj spid="_x0000_s30729" name="Equation" r:id="rId5" imgW="26822400" imgH="5791200" progId="Equation.DSMT4">
                  <p:embed/>
                </p:oleObj>
              </mc:Choice>
              <mc:Fallback>
                <p:oleObj name="Equation" r:id="rId5" imgW="26822400" imgH="57912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2337" y="2740195"/>
                        <a:ext cx="169862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3" name="组合 82"/>
          <p:cNvGrpSpPr/>
          <p:nvPr/>
        </p:nvGrpSpPr>
        <p:grpSpPr>
          <a:xfrm>
            <a:off x="7499350" y="820420"/>
            <a:ext cx="1385570" cy="1191260"/>
            <a:chOff x="7613650" y="2169160"/>
            <a:chExt cx="1385570" cy="1191260"/>
          </a:xfrm>
        </p:grpSpPr>
        <p:grpSp>
          <p:nvGrpSpPr>
            <p:cNvPr id="61" name="组合 60"/>
            <p:cNvGrpSpPr/>
            <p:nvPr/>
          </p:nvGrpSpPr>
          <p:grpSpPr>
            <a:xfrm>
              <a:off x="7720436" y="2347278"/>
              <a:ext cx="1198562" cy="961827"/>
              <a:chOff x="3003656" y="1592898"/>
              <a:chExt cx="1198562" cy="961827"/>
            </a:xfrm>
          </p:grpSpPr>
          <p:sp>
            <p:nvSpPr>
              <p:cNvPr id="62" name="Rectangle 15"/>
              <p:cNvSpPr>
                <a:spLocks noChangeArrowheads="1"/>
              </p:cNvSpPr>
              <p:nvPr/>
            </p:nvSpPr>
            <p:spPr bwMode="auto">
              <a:xfrm>
                <a:off x="3083243" y="2246948"/>
                <a:ext cx="968535"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JK</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63" name="Group 37"/>
              <p:cNvGrpSpPr/>
              <p:nvPr/>
            </p:nvGrpSpPr>
            <p:grpSpPr bwMode="auto">
              <a:xfrm>
                <a:off x="3003652" y="1592898"/>
                <a:ext cx="1198561" cy="679450"/>
                <a:chOff x="7908" y="9757"/>
                <a:chExt cx="1887" cy="1070"/>
              </a:xfrm>
            </p:grpSpPr>
            <p:grpSp>
              <p:nvGrpSpPr>
                <p:cNvPr id="64" name="Group 38"/>
                <p:cNvGrpSpPr/>
                <p:nvPr/>
              </p:nvGrpSpPr>
              <p:grpSpPr bwMode="auto">
                <a:xfrm>
                  <a:off x="8328" y="9911"/>
                  <a:ext cx="456" cy="653"/>
                  <a:chOff x="8255" y="9911"/>
                  <a:chExt cx="308" cy="653"/>
                </a:xfrm>
              </p:grpSpPr>
              <p:sp>
                <p:nvSpPr>
                  <p:cNvPr id="79" name="Line 39"/>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80" name="Line 40"/>
                  <p:cNvSpPr>
                    <a:spLocks noChangeShapeType="1"/>
                  </p:cNvSpPr>
                  <p:nvPr/>
                </p:nvSpPr>
                <p:spPr bwMode="auto">
                  <a:xfrm flipH="1">
                    <a:off x="8255" y="10231"/>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81" name="Line 41"/>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65" name="Line 42"/>
                <p:cNvSpPr>
                  <a:spLocks noChangeShapeType="1"/>
                </p:cNvSpPr>
                <p:nvPr/>
              </p:nvSpPr>
              <p:spPr bwMode="auto">
                <a:xfrm flipH="1">
                  <a:off x="9210"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66" name="Line 43"/>
                <p:cNvSpPr>
                  <a:spLocks noChangeShapeType="1"/>
                </p:cNvSpPr>
                <p:nvPr/>
              </p:nvSpPr>
              <p:spPr bwMode="auto">
                <a:xfrm flipH="1">
                  <a:off x="9216" y="10561"/>
                  <a:ext cx="224"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67" name="Rectangle 44"/>
                <p:cNvSpPr>
                  <a:spLocks noChangeArrowheads="1"/>
                </p:cNvSpPr>
                <p:nvPr/>
              </p:nvSpPr>
              <p:spPr bwMode="auto">
                <a:xfrm>
                  <a:off x="8521"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68" name="Oval 45"/>
                <p:cNvSpPr>
                  <a:spLocks noChangeArrowheads="1"/>
                </p:cNvSpPr>
                <p:nvPr/>
              </p:nvSpPr>
              <p:spPr bwMode="auto">
                <a:xfrm>
                  <a:off x="9246" y="1052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69" name="Text Box 46"/>
                <p:cNvSpPr txBox="1">
                  <a:spLocks noChangeArrowheads="1"/>
                </p:cNvSpPr>
                <p:nvPr/>
              </p:nvSpPr>
              <p:spPr bwMode="auto">
                <a:xfrm>
                  <a:off x="8533" y="9795"/>
                  <a:ext cx="362" cy="25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Text Box 47"/>
                <p:cNvSpPr txBox="1">
                  <a:spLocks noChangeArrowheads="1"/>
                </p:cNvSpPr>
                <p:nvPr/>
              </p:nvSpPr>
              <p:spPr bwMode="auto">
                <a:xfrm>
                  <a:off x="8654" y="10136"/>
                  <a:ext cx="421" cy="22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Text Box 48"/>
                <p:cNvSpPr txBox="1">
                  <a:spLocks noChangeArrowheads="1"/>
                </p:cNvSpPr>
                <p:nvPr/>
              </p:nvSpPr>
              <p:spPr bwMode="auto">
                <a:xfrm>
                  <a:off x="8533" y="10450"/>
                  <a:ext cx="362" cy="221"/>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2" name="Text Box 49"/>
                <p:cNvSpPr txBox="1">
                  <a:spLocks noChangeArrowheads="1"/>
                </p:cNvSpPr>
                <p:nvPr/>
              </p:nvSpPr>
              <p:spPr bwMode="auto">
                <a:xfrm>
                  <a:off x="9429" y="9800"/>
                  <a:ext cx="366" cy="403"/>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Text Box 50"/>
                <p:cNvSpPr txBox="1">
                  <a:spLocks noChangeArrowheads="1"/>
                </p:cNvSpPr>
                <p:nvPr/>
              </p:nvSpPr>
              <p:spPr bwMode="auto">
                <a:xfrm>
                  <a:off x="8495" y="10115"/>
                  <a:ext cx="203" cy="24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Text Box 51"/>
                <p:cNvSpPr txBox="1">
                  <a:spLocks noChangeArrowheads="1"/>
                </p:cNvSpPr>
                <p:nvPr/>
              </p:nvSpPr>
              <p:spPr bwMode="auto">
                <a:xfrm>
                  <a:off x="8037" y="9801"/>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J</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Text Box 52"/>
                <p:cNvSpPr txBox="1">
                  <a:spLocks noChangeArrowheads="1"/>
                </p:cNvSpPr>
                <p:nvPr/>
              </p:nvSpPr>
              <p:spPr bwMode="auto">
                <a:xfrm>
                  <a:off x="7908" y="10119"/>
                  <a:ext cx="367" cy="2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Text Box 53"/>
                <p:cNvSpPr txBox="1">
                  <a:spLocks noChangeArrowheads="1"/>
                </p:cNvSpPr>
                <p:nvPr/>
              </p:nvSpPr>
              <p:spPr bwMode="auto">
                <a:xfrm>
                  <a:off x="8046" y="10419"/>
                  <a:ext cx="242"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7" name="Text Box 54"/>
                <p:cNvSpPr txBox="1">
                  <a:spLocks noChangeArrowheads="1"/>
                </p:cNvSpPr>
                <p:nvPr/>
              </p:nvSpPr>
              <p:spPr bwMode="auto">
                <a:xfrm>
                  <a:off x="9444" y="10487"/>
                  <a:ext cx="351" cy="34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8" name="Line 55"/>
                <p:cNvSpPr>
                  <a:spLocks noChangeShapeType="1"/>
                </p:cNvSpPr>
                <p:nvPr/>
              </p:nvSpPr>
              <p:spPr bwMode="auto">
                <a:xfrm>
                  <a:off x="9552" y="10501"/>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sp>
          <p:nvSpPr>
            <p:cNvPr id="82" name="圆角矩形 81"/>
            <p:cNvSpPr/>
            <p:nvPr/>
          </p:nvSpPr>
          <p:spPr>
            <a:xfrm>
              <a:off x="7613650" y="2169160"/>
              <a:ext cx="1385570" cy="1191260"/>
            </a:xfrm>
            <a:prstGeom prst="roundRect">
              <a:avLst>
                <a:gd name="adj" fmla="val 14108"/>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圆角矩形 59"/>
          <p:cNvSpPr/>
          <p:nvPr/>
        </p:nvSpPr>
        <p:spPr>
          <a:xfrm>
            <a:off x="4919561" y="4000051"/>
            <a:ext cx="685800" cy="503786"/>
          </a:xfrm>
          <a:prstGeom prst="roundRect">
            <a:avLst>
              <a:gd name="adj" fmla="val 13865"/>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圆角矩形 83"/>
          <p:cNvSpPr/>
          <p:nvPr/>
        </p:nvSpPr>
        <p:spPr>
          <a:xfrm>
            <a:off x="6157811" y="3509285"/>
            <a:ext cx="742950" cy="467502"/>
          </a:xfrm>
          <a:prstGeom prst="roundRect">
            <a:avLst>
              <a:gd name="adj" fmla="val 16299"/>
            </a:avLst>
          </a:prstGeom>
          <a:solidFill>
            <a:srgbClr val="0070C0">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圆角矩形 84"/>
          <p:cNvSpPr/>
          <p:nvPr/>
        </p:nvSpPr>
        <p:spPr>
          <a:xfrm>
            <a:off x="7426610" y="4021237"/>
            <a:ext cx="718751" cy="457885"/>
          </a:xfrm>
          <a:prstGeom prst="roundRect">
            <a:avLst>
              <a:gd name="adj" fmla="val 20802"/>
            </a:avLst>
          </a:prstGeom>
          <a:solidFill>
            <a:srgbClr val="FFFF00">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圆角矩形 85"/>
          <p:cNvSpPr/>
          <p:nvPr/>
        </p:nvSpPr>
        <p:spPr>
          <a:xfrm>
            <a:off x="6188360" y="4528913"/>
            <a:ext cx="756852" cy="432123"/>
          </a:xfrm>
          <a:prstGeom prst="roundRect">
            <a:avLst>
              <a:gd name="adj" fmla="val 22042"/>
            </a:avLst>
          </a:prstGeom>
          <a:solidFill>
            <a:srgbClr val="FF0000">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12"/>
          <p:cNvSpPr/>
          <p:nvPr/>
        </p:nvSpPr>
        <p:spPr>
          <a:xfrm>
            <a:off x="984566" y="1965447"/>
            <a:ext cx="2072641" cy="472560"/>
          </a:xfrm>
          <a:prstGeom prst="roundRect">
            <a:avLst>
              <a:gd name="adj" fmla="val 14725"/>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8" name="圆角矩形 12"/>
          <p:cNvSpPr/>
          <p:nvPr/>
        </p:nvSpPr>
        <p:spPr>
          <a:xfrm>
            <a:off x="984567" y="2442746"/>
            <a:ext cx="2072641" cy="472560"/>
          </a:xfrm>
          <a:prstGeom prst="roundRect">
            <a:avLst>
              <a:gd name="adj" fmla="val 14725"/>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9" name="圆角矩形 12"/>
          <p:cNvSpPr/>
          <p:nvPr/>
        </p:nvSpPr>
        <p:spPr>
          <a:xfrm>
            <a:off x="970596" y="2920439"/>
            <a:ext cx="2072641" cy="472560"/>
          </a:xfrm>
          <a:prstGeom prst="roundRect">
            <a:avLst>
              <a:gd name="adj" fmla="val 14725"/>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0" name="圆角矩形 12"/>
          <p:cNvSpPr/>
          <p:nvPr/>
        </p:nvSpPr>
        <p:spPr>
          <a:xfrm>
            <a:off x="970595" y="3402478"/>
            <a:ext cx="2072641" cy="472560"/>
          </a:xfrm>
          <a:prstGeom prst="roundRect">
            <a:avLst>
              <a:gd name="adj" fmla="val 14725"/>
            </a:avLst>
          </a:prstGeom>
          <a:solidFill>
            <a:srgbClr val="0000FF">
              <a:alpha val="31000"/>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p:cNvSpPr txBox="1"/>
          <p:nvPr/>
        </p:nvSpPr>
        <p:spPr>
          <a:xfrm>
            <a:off x="3009588" y="2019322"/>
            <a:ext cx="595035" cy="338554"/>
          </a:xfrm>
          <a:prstGeom prst="rect">
            <a:avLst/>
          </a:prstGeom>
          <a:noFill/>
        </p:spPr>
        <p:txBody>
          <a:bodyPr wrap="none" rtlCol="0">
            <a:spAutoFit/>
          </a:bodyPr>
          <a:lstStyle/>
          <a:p>
            <a:r>
              <a:rPr lang="zh-CN" altLang="en-US" sz="1600" dirty="0">
                <a:solidFill>
                  <a:srgbClr val="6600FF"/>
                </a:solidFill>
                <a:latin typeface="微软雅黑" panose="020B0503020204020204" pitchFamily="34" charset="-122"/>
                <a:ea typeface="微软雅黑" panose="020B0503020204020204" pitchFamily="34" charset="-122"/>
              </a:rPr>
              <a:t>保持</a:t>
            </a:r>
            <a:endParaRPr lang="zh-CN" altLang="en-US" sz="1600" dirty="0">
              <a:solidFill>
                <a:srgbClr val="6600FF"/>
              </a:solidFill>
              <a:latin typeface="微软雅黑" panose="020B0503020204020204" pitchFamily="34" charset="-122"/>
              <a:ea typeface="微软雅黑" panose="020B0503020204020204" pitchFamily="34" charset="-122"/>
            </a:endParaRPr>
          </a:p>
        </p:txBody>
      </p:sp>
      <p:sp>
        <p:nvSpPr>
          <p:cNvPr id="91" name="文本框 90"/>
          <p:cNvSpPr txBox="1"/>
          <p:nvPr/>
        </p:nvSpPr>
        <p:spPr>
          <a:xfrm>
            <a:off x="3009588" y="2551623"/>
            <a:ext cx="595035" cy="338554"/>
          </a:xfrm>
          <a:prstGeom prst="rect">
            <a:avLst/>
          </a:prstGeom>
          <a:noFill/>
        </p:spPr>
        <p:txBody>
          <a:bodyPr wrap="none" rtlCol="0">
            <a:spAutoFit/>
          </a:bodyPr>
          <a:lstStyle/>
          <a:p>
            <a:r>
              <a:rPr lang="zh-CN" altLang="en-US" sz="1600" dirty="0">
                <a:solidFill>
                  <a:srgbClr val="6600FF"/>
                </a:solidFill>
                <a:latin typeface="微软雅黑" panose="020B0503020204020204" pitchFamily="34" charset="-122"/>
                <a:ea typeface="微软雅黑" panose="020B0503020204020204" pitchFamily="34" charset="-122"/>
              </a:rPr>
              <a:t>复位</a:t>
            </a:r>
            <a:endParaRPr lang="zh-CN" altLang="en-US" sz="1600" dirty="0">
              <a:solidFill>
                <a:srgbClr val="6600FF"/>
              </a:solidFill>
              <a:latin typeface="微软雅黑" panose="020B0503020204020204" pitchFamily="34" charset="-122"/>
              <a:ea typeface="微软雅黑" panose="020B0503020204020204" pitchFamily="34" charset="-122"/>
            </a:endParaRPr>
          </a:p>
        </p:txBody>
      </p:sp>
      <p:sp>
        <p:nvSpPr>
          <p:cNvPr id="92" name="文本框 91"/>
          <p:cNvSpPr txBox="1"/>
          <p:nvPr/>
        </p:nvSpPr>
        <p:spPr>
          <a:xfrm>
            <a:off x="3013716" y="3034222"/>
            <a:ext cx="595035" cy="338554"/>
          </a:xfrm>
          <a:prstGeom prst="rect">
            <a:avLst/>
          </a:prstGeom>
          <a:noFill/>
        </p:spPr>
        <p:txBody>
          <a:bodyPr wrap="none" rtlCol="0">
            <a:spAutoFit/>
          </a:bodyPr>
          <a:lstStyle/>
          <a:p>
            <a:r>
              <a:rPr lang="zh-CN" altLang="en-US" sz="1600" dirty="0">
                <a:solidFill>
                  <a:srgbClr val="6600FF"/>
                </a:solidFill>
                <a:latin typeface="微软雅黑" panose="020B0503020204020204" pitchFamily="34" charset="-122"/>
                <a:ea typeface="微软雅黑" panose="020B0503020204020204" pitchFamily="34" charset="-122"/>
              </a:rPr>
              <a:t>置位</a:t>
            </a:r>
            <a:endParaRPr lang="zh-CN" altLang="en-US" sz="1600" dirty="0">
              <a:solidFill>
                <a:srgbClr val="6600FF"/>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3024421" y="3528689"/>
            <a:ext cx="1143262" cy="338554"/>
          </a:xfrm>
          <a:prstGeom prst="rect">
            <a:avLst/>
          </a:prstGeom>
          <a:noFill/>
        </p:spPr>
        <p:txBody>
          <a:bodyPr wrap="none" rtlCol="0">
            <a:spAutoFit/>
          </a:bodyPr>
          <a:lstStyle/>
          <a:p>
            <a:r>
              <a:rPr lang="zh-CN" altLang="en-US" sz="1600" dirty="0">
                <a:solidFill>
                  <a:srgbClr val="6600FF"/>
                </a:solidFill>
                <a:latin typeface="微软雅黑" panose="020B0503020204020204" pitchFamily="34" charset="-122"/>
                <a:ea typeface="微软雅黑" panose="020B0503020204020204" pitchFamily="34" charset="-122"/>
              </a:rPr>
              <a:t>翻转</a:t>
            </a:r>
            <a:r>
              <a:rPr lang="en-US" altLang="zh-CN" sz="1600" dirty="0">
                <a:solidFill>
                  <a:srgbClr val="6600FF"/>
                </a:solidFill>
                <a:latin typeface="微软雅黑" panose="020B0503020204020204" pitchFamily="34" charset="-122"/>
                <a:ea typeface="微软雅黑" panose="020B0503020204020204" pitchFamily="34" charset="-122"/>
              </a:rPr>
              <a:t>(</a:t>
            </a:r>
            <a:r>
              <a:rPr lang="zh-CN" altLang="en-US" sz="1600" dirty="0">
                <a:solidFill>
                  <a:srgbClr val="6600FF"/>
                </a:solidFill>
                <a:latin typeface="微软雅黑" panose="020B0503020204020204" pitchFamily="34" charset="-122"/>
                <a:ea typeface="微软雅黑" panose="020B0503020204020204" pitchFamily="34" charset="-122"/>
              </a:rPr>
              <a:t>计数</a:t>
            </a:r>
            <a:r>
              <a:rPr lang="en-US" altLang="zh-CN" sz="1600" dirty="0">
                <a:solidFill>
                  <a:srgbClr val="6600FF"/>
                </a:solidFill>
                <a:latin typeface="微软雅黑" panose="020B0503020204020204" pitchFamily="34" charset="-122"/>
                <a:ea typeface="微软雅黑" panose="020B0503020204020204" pitchFamily="34" charset="-122"/>
              </a:rPr>
              <a:t>)</a:t>
            </a:r>
            <a:endParaRPr lang="zh-CN" altLang="en-US" sz="1600" dirty="0">
              <a:solidFill>
                <a:srgbClr val="6600FF"/>
              </a:solidFill>
              <a:latin typeface="微软雅黑" panose="020B0503020204020204" pitchFamily="34" charset="-122"/>
              <a:ea typeface="微软雅黑" panose="020B0503020204020204" pitchFamily="34" charset="-122"/>
            </a:endParaRPr>
          </a:p>
        </p:txBody>
      </p:sp>
      <p:sp>
        <p:nvSpPr>
          <p:cNvPr id="95" name="圆角矩形 59"/>
          <p:cNvSpPr/>
          <p:nvPr/>
        </p:nvSpPr>
        <p:spPr>
          <a:xfrm>
            <a:off x="896703" y="4026533"/>
            <a:ext cx="2127718" cy="1117323"/>
          </a:xfrm>
          <a:prstGeom prst="roundRect">
            <a:avLst>
              <a:gd name="adj" fmla="val 8409"/>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ea"/>
              <a:buAutoNum type="circleNumDbPlain"/>
            </a:pPr>
            <a:r>
              <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J=K=0</a:t>
            </a:r>
            <a:r>
              <a:rPr lang="zh-CN"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，状态保持；</a:t>
            </a:r>
            <a:endPar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ea"/>
              <a:buAutoNum type="circleNumDbPlain"/>
            </a:pPr>
            <a:r>
              <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J≠K</a:t>
            </a:r>
            <a:r>
              <a:rPr lang="zh-CN"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，状态同</a:t>
            </a:r>
            <a:r>
              <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J</a:t>
            </a:r>
            <a:r>
              <a:rPr lang="zh-CN"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50000"/>
              </a:lnSpc>
              <a:buFont typeface="+mj-ea"/>
              <a:buAutoNum type="circleNumDbPlain"/>
            </a:pPr>
            <a:r>
              <a:rPr lang="en-US"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J=K=1</a:t>
            </a:r>
            <a:r>
              <a:rPr lang="zh-CN" altLang="zh-CN" sz="1400" kern="100" dirty="0">
                <a:solidFill>
                  <a:srgbClr val="6600FF"/>
                </a:solidFill>
                <a:effectLst/>
                <a:latin typeface="Times New Roman" panose="02020603050405020304" pitchFamily="18" charset="0"/>
                <a:ea typeface="微软雅黑" panose="020B0503020204020204" pitchFamily="34" charset="-122"/>
                <a:cs typeface="Times New Roman" panose="02020603050405020304" pitchFamily="18" charset="0"/>
              </a:rPr>
              <a:t>，状态计数。</a:t>
            </a:r>
            <a:endParaRPr lang="zh-CN" altLang="en-US" sz="1400" dirty="0">
              <a:solidFill>
                <a:srgbClr val="66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 name="组合 50"/>
          <p:cNvGrpSpPr/>
          <p:nvPr/>
        </p:nvGrpSpPr>
        <p:grpSpPr>
          <a:xfrm>
            <a:off x="1948571" y="2185603"/>
            <a:ext cx="1055302" cy="1192084"/>
            <a:chOff x="1967299" y="2204035"/>
            <a:chExt cx="1055302" cy="1192084"/>
          </a:xfrm>
        </p:grpSpPr>
        <p:sp>
          <p:nvSpPr>
            <p:cNvPr id="45" name="圆角矩形 44"/>
            <p:cNvSpPr/>
            <p:nvPr/>
          </p:nvSpPr>
          <p:spPr>
            <a:xfrm>
              <a:off x="1967299" y="3180119"/>
              <a:ext cx="1055302" cy="216000"/>
            </a:xfrm>
            <a:prstGeom prst="roundRect">
              <a:avLst>
                <a:gd name="adj" fmla="val 0"/>
              </a:avLst>
            </a:prstGeom>
            <a:solidFill>
              <a:srgbClr val="FFFF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1967299" y="2204035"/>
              <a:ext cx="1055302" cy="216000"/>
            </a:xfrm>
            <a:prstGeom prst="roundRect">
              <a:avLst>
                <a:gd name="adj" fmla="val 0"/>
              </a:avLst>
            </a:prstGeom>
            <a:solidFill>
              <a:srgbClr val="FFFF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48"/>
          <p:cNvGrpSpPr/>
          <p:nvPr/>
        </p:nvGrpSpPr>
        <p:grpSpPr>
          <a:xfrm>
            <a:off x="1948571" y="2682951"/>
            <a:ext cx="1055302" cy="1192087"/>
            <a:chOff x="1967299" y="2692077"/>
            <a:chExt cx="1055302" cy="1192087"/>
          </a:xfrm>
        </p:grpSpPr>
        <p:sp>
          <p:nvSpPr>
            <p:cNvPr id="47" name="圆角矩形 46"/>
            <p:cNvSpPr/>
            <p:nvPr/>
          </p:nvSpPr>
          <p:spPr>
            <a:xfrm>
              <a:off x="1967299" y="3668164"/>
              <a:ext cx="1055302" cy="216000"/>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1967299" y="2692077"/>
              <a:ext cx="1055302" cy="216000"/>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49"/>
          <p:cNvGrpSpPr/>
          <p:nvPr/>
        </p:nvGrpSpPr>
        <p:grpSpPr>
          <a:xfrm>
            <a:off x="1948571" y="1959431"/>
            <a:ext cx="1055302" cy="704042"/>
            <a:chOff x="1967299" y="1960014"/>
            <a:chExt cx="1055302" cy="704042"/>
          </a:xfrm>
        </p:grpSpPr>
        <p:sp>
          <p:nvSpPr>
            <p:cNvPr id="27" name="圆角矩形 26"/>
            <p:cNvSpPr/>
            <p:nvPr/>
          </p:nvSpPr>
          <p:spPr>
            <a:xfrm>
              <a:off x="1967299" y="1960014"/>
              <a:ext cx="1055302" cy="216000"/>
            </a:xfrm>
            <a:prstGeom prst="roundRect">
              <a:avLst>
                <a:gd name="adj" fmla="val 0"/>
              </a:avLst>
            </a:prstGeom>
            <a:solidFill>
              <a:srgbClr val="66FF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1967299" y="2448056"/>
              <a:ext cx="1055302" cy="216000"/>
            </a:xfrm>
            <a:prstGeom prst="roundRect">
              <a:avLst>
                <a:gd name="adj" fmla="val 0"/>
              </a:avLst>
            </a:prstGeom>
            <a:solidFill>
              <a:srgbClr val="66FF66">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51"/>
          <p:cNvGrpSpPr/>
          <p:nvPr/>
        </p:nvGrpSpPr>
        <p:grpSpPr>
          <a:xfrm>
            <a:off x="1948571" y="2943388"/>
            <a:ext cx="1055302" cy="704042"/>
            <a:chOff x="1967299" y="2936098"/>
            <a:chExt cx="1055302" cy="704042"/>
          </a:xfrm>
        </p:grpSpPr>
        <p:sp>
          <p:nvSpPr>
            <p:cNvPr id="34" name="圆角矩形 33"/>
            <p:cNvSpPr/>
            <p:nvPr/>
          </p:nvSpPr>
          <p:spPr>
            <a:xfrm>
              <a:off x="1967299" y="2936098"/>
              <a:ext cx="1055302" cy="216000"/>
            </a:xfrm>
            <a:prstGeom prst="roundRect">
              <a:avLst>
                <a:gd name="adj" fmla="val 0"/>
              </a:avLst>
            </a:prstGeom>
            <a:solidFill>
              <a:srgbClr val="0070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a:off x="1967299" y="3424140"/>
              <a:ext cx="1055302" cy="216000"/>
            </a:xfrm>
            <a:prstGeom prst="roundRect">
              <a:avLst>
                <a:gd name="adj" fmla="val 0"/>
              </a:avLst>
            </a:prstGeom>
            <a:solidFill>
              <a:srgbClr val="0070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p:cTn id="12" dur="1000"/>
                                        <p:tgtEl>
                                          <p:spTgt spid="83"/>
                                        </p:tgtEl>
                                      </p:cBhvr>
                                    </p:animEffect>
                                    <p:anim calcmode="lin" valueType="num">
                                      <p:cBhvr>
                                        <p:cTn id="13" dur="1000" fill="hold"/>
                                        <p:tgtEl>
                                          <p:spTgt spid="83"/>
                                        </p:tgtEl>
                                        <p:attrNameLst>
                                          <p:attrName>ppt_x</p:attrName>
                                        </p:attrNameLst>
                                      </p:cBhvr>
                                      <p:tavLst>
                                        <p:tav tm="0">
                                          <p:val>
                                            <p:strVal val="#ppt_x"/>
                                          </p:val>
                                        </p:tav>
                                        <p:tav tm="100000">
                                          <p:val>
                                            <p:strVal val="#ppt_x"/>
                                          </p:val>
                                        </p:tav>
                                      </p:tavLst>
                                    </p:anim>
                                    <p:anim calcmode="lin" valueType="num">
                                      <p:cBhvr>
                                        <p:cTn id="14" dur="1000" fill="hold"/>
                                        <p:tgtEl>
                                          <p:spTgt spid="83"/>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29"/>
                                        </p:tgtEl>
                                        <p:attrNameLst>
                                          <p:attrName>style.visibility</p:attrName>
                                        </p:attrNameLst>
                                      </p:cBhvr>
                                      <p:to>
                                        <p:strVal val="visible"/>
                                      </p:to>
                                    </p:set>
                                    <p:animEffect transition="in" filter="fade">
                                      <p:cBhvr>
                                        <p:cTn id="18" dur="1000"/>
                                        <p:tgtEl>
                                          <p:spTgt spid="29"/>
                                        </p:tgtEl>
                                      </p:cBhvr>
                                    </p:animEffect>
                                    <p:anim calcmode="lin" valueType="num">
                                      <p:cBhvr>
                                        <p:cTn id="19" dur="1000" fill="hold"/>
                                        <p:tgtEl>
                                          <p:spTgt spid="29"/>
                                        </p:tgtEl>
                                        <p:attrNameLst>
                                          <p:attrName>ppt_x</p:attrName>
                                        </p:attrNameLst>
                                      </p:cBhvr>
                                      <p:tavLst>
                                        <p:tav tm="0">
                                          <p:val>
                                            <p:strVal val="#ppt_x"/>
                                          </p:val>
                                        </p:tav>
                                        <p:tav tm="100000">
                                          <p:val>
                                            <p:strVal val="#ppt_x"/>
                                          </p:val>
                                        </p:tav>
                                      </p:tavLst>
                                    </p:anim>
                                    <p:anim calcmode="lin" valueType="num">
                                      <p:cBhvr>
                                        <p:cTn id="20" dur="1000" fill="hold"/>
                                        <p:tgtEl>
                                          <p:spTgt spid="29"/>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1000"/>
                                        <p:tgtEl>
                                          <p:spTgt spid="18"/>
                                        </p:tgtEl>
                                      </p:cBhvr>
                                    </p:animEffect>
                                    <p:anim calcmode="lin" valueType="num">
                                      <p:cBhvr>
                                        <p:cTn id="24" dur="1000" fill="hold"/>
                                        <p:tgtEl>
                                          <p:spTgt spid="18"/>
                                        </p:tgtEl>
                                        <p:attrNameLst>
                                          <p:attrName>ppt_x</p:attrName>
                                        </p:attrNameLst>
                                      </p:cBhvr>
                                      <p:tavLst>
                                        <p:tav tm="0">
                                          <p:val>
                                            <p:strVal val="#ppt_x"/>
                                          </p:val>
                                        </p:tav>
                                        <p:tav tm="100000">
                                          <p:val>
                                            <p:strVal val="#ppt_x"/>
                                          </p:val>
                                        </p:tav>
                                      </p:tavLst>
                                    </p:anim>
                                    <p:anim calcmode="lin" valueType="num">
                                      <p:cBhvr>
                                        <p:cTn id="2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2" presetClass="entr" presetSubtype="1" fill="hold" grpId="0" nodeType="clickEffect">
                                  <p:stCondLst>
                                    <p:cond delay="0"/>
                                  </p:stCondLst>
                                  <p:childTnLst>
                                    <p:set>
                                      <p:cBhvr>
                                        <p:cTn id="29" dur="1" fill="hold">
                                          <p:stCondLst>
                                            <p:cond delay="0"/>
                                          </p:stCondLst>
                                        </p:cTn>
                                        <p:tgtEl>
                                          <p:spTgt spid="87"/>
                                        </p:tgtEl>
                                        <p:attrNameLst>
                                          <p:attrName>style.visibility</p:attrName>
                                        </p:attrNameLst>
                                      </p:cBhvr>
                                      <p:to>
                                        <p:strVal val="visible"/>
                                      </p:to>
                                    </p:set>
                                    <p:anim calcmode="lin" valueType="num">
                                      <p:cBhvr additive="base">
                                        <p:cTn id="30" dur="1000"/>
                                        <p:tgtEl>
                                          <p:spTgt spid="87"/>
                                        </p:tgtEl>
                                        <p:attrNameLst>
                                          <p:attrName>ppt_y</p:attrName>
                                        </p:attrNameLst>
                                      </p:cBhvr>
                                      <p:tavLst>
                                        <p:tav tm="0">
                                          <p:val>
                                            <p:strVal val="#ppt_y-#ppt_h*1.125000"/>
                                          </p:val>
                                        </p:tav>
                                        <p:tav tm="100000">
                                          <p:val>
                                            <p:strVal val="#ppt_y"/>
                                          </p:val>
                                        </p:tav>
                                      </p:tavLst>
                                    </p:anim>
                                    <p:animEffect transition="in" filter="wipe(down)">
                                      <p:cBhvr>
                                        <p:cTn id="31" dur="1000"/>
                                        <p:tgtEl>
                                          <p:spTgt spid="87"/>
                                        </p:tgtEl>
                                      </p:cBhvr>
                                    </p:animEffect>
                                  </p:childTnLst>
                                </p:cTn>
                              </p:par>
                            </p:childTnLst>
                          </p:cTn>
                        </p:par>
                        <p:par>
                          <p:cTn id="32" fill="hold">
                            <p:stCondLst>
                              <p:cond delay="1000"/>
                            </p:stCondLst>
                            <p:childTnLst>
                              <p:par>
                                <p:cTn id="33" presetID="12" presetClass="entr" presetSubtype="8" fill="hold" grpId="0" nodeType="after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1000"/>
                                        <p:tgtEl>
                                          <p:spTgt spid="12"/>
                                        </p:tgtEl>
                                        <p:attrNameLst>
                                          <p:attrName>ppt_x</p:attrName>
                                        </p:attrNameLst>
                                      </p:cBhvr>
                                      <p:tavLst>
                                        <p:tav tm="0">
                                          <p:val>
                                            <p:strVal val="#ppt_x-#ppt_w*1.125000"/>
                                          </p:val>
                                        </p:tav>
                                        <p:tav tm="100000">
                                          <p:val>
                                            <p:strVal val="#ppt_x"/>
                                          </p:val>
                                        </p:tav>
                                      </p:tavLst>
                                    </p:anim>
                                    <p:animEffect transition="in" filter="wipe(right)">
                                      <p:cBhvr>
                                        <p:cTn id="36" dur="10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87"/>
                                        </p:tgtEl>
                                        <p:attrNameLst>
                                          <p:attrName>style.visibility</p:attrName>
                                        </p:attrNameLst>
                                      </p:cBhvr>
                                      <p:to>
                                        <p:strVal val="hidden"/>
                                      </p:to>
                                    </p:set>
                                  </p:childTnLst>
                                </p:cTn>
                              </p:par>
                              <p:par>
                                <p:cTn id="41" presetID="12" presetClass="entr" presetSubtype="1" fill="hold" grpId="0" nodeType="withEffect">
                                  <p:stCondLst>
                                    <p:cond delay="0"/>
                                  </p:stCondLst>
                                  <p:childTnLst>
                                    <p:set>
                                      <p:cBhvr>
                                        <p:cTn id="42" dur="1" fill="hold">
                                          <p:stCondLst>
                                            <p:cond delay="0"/>
                                          </p:stCondLst>
                                        </p:cTn>
                                        <p:tgtEl>
                                          <p:spTgt spid="88"/>
                                        </p:tgtEl>
                                        <p:attrNameLst>
                                          <p:attrName>style.visibility</p:attrName>
                                        </p:attrNameLst>
                                      </p:cBhvr>
                                      <p:to>
                                        <p:strVal val="visible"/>
                                      </p:to>
                                    </p:set>
                                    <p:anim calcmode="lin" valueType="num">
                                      <p:cBhvr additive="base">
                                        <p:cTn id="43" dur="1000"/>
                                        <p:tgtEl>
                                          <p:spTgt spid="88"/>
                                        </p:tgtEl>
                                        <p:attrNameLst>
                                          <p:attrName>ppt_y</p:attrName>
                                        </p:attrNameLst>
                                      </p:cBhvr>
                                      <p:tavLst>
                                        <p:tav tm="0">
                                          <p:val>
                                            <p:strVal val="#ppt_y-#ppt_h*1.125000"/>
                                          </p:val>
                                        </p:tav>
                                        <p:tav tm="100000">
                                          <p:val>
                                            <p:strVal val="#ppt_y"/>
                                          </p:val>
                                        </p:tav>
                                      </p:tavLst>
                                    </p:anim>
                                    <p:animEffect transition="in" filter="wipe(down)">
                                      <p:cBhvr>
                                        <p:cTn id="44" dur="1000"/>
                                        <p:tgtEl>
                                          <p:spTgt spid="88"/>
                                        </p:tgtEl>
                                      </p:cBhvr>
                                    </p:animEffect>
                                  </p:childTnLst>
                                </p:cTn>
                              </p:par>
                            </p:childTnLst>
                          </p:cTn>
                        </p:par>
                        <p:par>
                          <p:cTn id="45" fill="hold">
                            <p:stCondLst>
                              <p:cond delay="0"/>
                            </p:stCondLst>
                            <p:childTnLst>
                              <p:par>
                                <p:cTn id="46" presetID="12" presetClass="entr" presetSubtype="8" fill="hold" grpId="0" nodeType="afterEffect">
                                  <p:stCondLst>
                                    <p:cond delay="0"/>
                                  </p:stCondLst>
                                  <p:childTnLst>
                                    <p:set>
                                      <p:cBhvr>
                                        <p:cTn id="47" dur="1" fill="hold">
                                          <p:stCondLst>
                                            <p:cond delay="0"/>
                                          </p:stCondLst>
                                        </p:cTn>
                                        <p:tgtEl>
                                          <p:spTgt spid="91"/>
                                        </p:tgtEl>
                                        <p:attrNameLst>
                                          <p:attrName>style.visibility</p:attrName>
                                        </p:attrNameLst>
                                      </p:cBhvr>
                                      <p:to>
                                        <p:strVal val="visible"/>
                                      </p:to>
                                    </p:set>
                                    <p:anim calcmode="lin" valueType="num">
                                      <p:cBhvr additive="base">
                                        <p:cTn id="48" dur="1000"/>
                                        <p:tgtEl>
                                          <p:spTgt spid="91"/>
                                        </p:tgtEl>
                                        <p:attrNameLst>
                                          <p:attrName>ppt_x</p:attrName>
                                        </p:attrNameLst>
                                      </p:cBhvr>
                                      <p:tavLst>
                                        <p:tav tm="0">
                                          <p:val>
                                            <p:strVal val="#ppt_x-#ppt_w*1.125000"/>
                                          </p:val>
                                        </p:tav>
                                        <p:tav tm="100000">
                                          <p:val>
                                            <p:strVal val="#ppt_x"/>
                                          </p:val>
                                        </p:tav>
                                      </p:tavLst>
                                    </p:anim>
                                    <p:animEffect transition="in" filter="wipe(right)">
                                      <p:cBhvr>
                                        <p:cTn id="49" dur="1000"/>
                                        <p:tgtEl>
                                          <p:spTgt spid="9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88"/>
                                        </p:tgtEl>
                                        <p:attrNameLst>
                                          <p:attrName>style.visibility</p:attrName>
                                        </p:attrNameLst>
                                      </p:cBhvr>
                                      <p:to>
                                        <p:strVal val="hidden"/>
                                      </p:to>
                                    </p:set>
                                  </p:childTnLst>
                                </p:cTn>
                              </p:par>
                              <p:par>
                                <p:cTn id="54" presetID="12" presetClass="entr" presetSubtype="1" fill="hold" grpId="0" nodeType="withEffect">
                                  <p:stCondLst>
                                    <p:cond delay="0"/>
                                  </p:stCondLst>
                                  <p:childTnLst>
                                    <p:set>
                                      <p:cBhvr>
                                        <p:cTn id="55" dur="1" fill="hold">
                                          <p:stCondLst>
                                            <p:cond delay="0"/>
                                          </p:stCondLst>
                                        </p:cTn>
                                        <p:tgtEl>
                                          <p:spTgt spid="89"/>
                                        </p:tgtEl>
                                        <p:attrNameLst>
                                          <p:attrName>style.visibility</p:attrName>
                                        </p:attrNameLst>
                                      </p:cBhvr>
                                      <p:to>
                                        <p:strVal val="visible"/>
                                      </p:to>
                                    </p:set>
                                    <p:anim calcmode="lin" valueType="num">
                                      <p:cBhvr additive="base">
                                        <p:cTn id="56" dur="1000"/>
                                        <p:tgtEl>
                                          <p:spTgt spid="89"/>
                                        </p:tgtEl>
                                        <p:attrNameLst>
                                          <p:attrName>ppt_y</p:attrName>
                                        </p:attrNameLst>
                                      </p:cBhvr>
                                      <p:tavLst>
                                        <p:tav tm="0">
                                          <p:val>
                                            <p:strVal val="#ppt_y-#ppt_h*1.125000"/>
                                          </p:val>
                                        </p:tav>
                                        <p:tav tm="100000">
                                          <p:val>
                                            <p:strVal val="#ppt_y"/>
                                          </p:val>
                                        </p:tav>
                                      </p:tavLst>
                                    </p:anim>
                                    <p:animEffect transition="in" filter="wipe(down)">
                                      <p:cBhvr>
                                        <p:cTn id="57" dur="1000"/>
                                        <p:tgtEl>
                                          <p:spTgt spid="89"/>
                                        </p:tgtEl>
                                      </p:cBhvr>
                                    </p:animEffect>
                                  </p:childTnLst>
                                </p:cTn>
                              </p:par>
                            </p:childTnLst>
                          </p:cTn>
                        </p:par>
                        <p:par>
                          <p:cTn id="58" fill="hold">
                            <p:stCondLst>
                              <p:cond delay="0"/>
                            </p:stCondLst>
                            <p:childTnLst>
                              <p:par>
                                <p:cTn id="59" presetID="12" presetClass="entr" presetSubtype="8" fill="hold" grpId="0" nodeType="afterEffect">
                                  <p:stCondLst>
                                    <p:cond delay="0"/>
                                  </p:stCondLst>
                                  <p:childTnLst>
                                    <p:set>
                                      <p:cBhvr>
                                        <p:cTn id="60" dur="1" fill="hold">
                                          <p:stCondLst>
                                            <p:cond delay="0"/>
                                          </p:stCondLst>
                                        </p:cTn>
                                        <p:tgtEl>
                                          <p:spTgt spid="92"/>
                                        </p:tgtEl>
                                        <p:attrNameLst>
                                          <p:attrName>style.visibility</p:attrName>
                                        </p:attrNameLst>
                                      </p:cBhvr>
                                      <p:to>
                                        <p:strVal val="visible"/>
                                      </p:to>
                                    </p:set>
                                    <p:anim calcmode="lin" valueType="num">
                                      <p:cBhvr additive="base">
                                        <p:cTn id="61" dur="1000"/>
                                        <p:tgtEl>
                                          <p:spTgt spid="92"/>
                                        </p:tgtEl>
                                        <p:attrNameLst>
                                          <p:attrName>ppt_x</p:attrName>
                                        </p:attrNameLst>
                                      </p:cBhvr>
                                      <p:tavLst>
                                        <p:tav tm="0">
                                          <p:val>
                                            <p:strVal val="#ppt_x-#ppt_w*1.125000"/>
                                          </p:val>
                                        </p:tav>
                                        <p:tav tm="100000">
                                          <p:val>
                                            <p:strVal val="#ppt_x"/>
                                          </p:val>
                                        </p:tav>
                                      </p:tavLst>
                                    </p:anim>
                                    <p:animEffect transition="in" filter="wipe(right)">
                                      <p:cBhvr>
                                        <p:cTn id="62" dur="1000"/>
                                        <p:tgtEl>
                                          <p:spTgt spid="92"/>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89"/>
                                        </p:tgtEl>
                                        <p:attrNameLst>
                                          <p:attrName>style.visibility</p:attrName>
                                        </p:attrNameLst>
                                      </p:cBhvr>
                                      <p:to>
                                        <p:strVal val="hidden"/>
                                      </p:to>
                                    </p:set>
                                  </p:childTnLst>
                                </p:cTn>
                              </p:par>
                            </p:childTnLst>
                          </p:cTn>
                        </p:par>
                        <p:par>
                          <p:cTn id="67" fill="hold">
                            <p:stCondLst>
                              <p:cond delay="0"/>
                            </p:stCondLst>
                            <p:childTnLst>
                              <p:par>
                                <p:cTn id="68" presetID="12" presetClass="entr" presetSubtype="1" fill="hold" grpId="0" nodeType="afterEffect">
                                  <p:stCondLst>
                                    <p:cond delay="0"/>
                                  </p:stCondLst>
                                  <p:childTnLst>
                                    <p:set>
                                      <p:cBhvr>
                                        <p:cTn id="69" dur="1" fill="hold">
                                          <p:stCondLst>
                                            <p:cond delay="0"/>
                                          </p:stCondLst>
                                        </p:cTn>
                                        <p:tgtEl>
                                          <p:spTgt spid="90"/>
                                        </p:tgtEl>
                                        <p:attrNameLst>
                                          <p:attrName>style.visibility</p:attrName>
                                        </p:attrNameLst>
                                      </p:cBhvr>
                                      <p:to>
                                        <p:strVal val="visible"/>
                                      </p:to>
                                    </p:set>
                                    <p:anim calcmode="lin" valueType="num">
                                      <p:cBhvr additive="base">
                                        <p:cTn id="70" dur="1000"/>
                                        <p:tgtEl>
                                          <p:spTgt spid="90"/>
                                        </p:tgtEl>
                                        <p:attrNameLst>
                                          <p:attrName>ppt_y</p:attrName>
                                        </p:attrNameLst>
                                      </p:cBhvr>
                                      <p:tavLst>
                                        <p:tav tm="0">
                                          <p:val>
                                            <p:strVal val="#ppt_y-#ppt_h*1.125000"/>
                                          </p:val>
                                        </p:tav>
                                        <p:tav tm="100000">
                                          <p:val>
                                            <p:strVal val="#ppt_y"/>
                                          </p:val>
                                        </p:tav>
                                      </p:tavLst>
                                    </p:anim>
                                    <p:animEffect transition="in" filter="wipe(down)">
                                      <p:cBhvr>
                                        <p:cTn id="71" dur="1000"/>
                                        <p:tgtEl>
                                          <p:spTgt spid="90"/>
                                        </p:tgtEl>
                                      </p:cBhvr>
                                    </p:animEffect>
                                  </p:childTnLst>
                                </p:cTn>
                              </p:par>
                            </p:childTnLst>
                          </p:cTn>
                        </p:par>
                        <p:par>
                          <p:cTn id="72" fill="hold">
                            <p:stCondLst>
                              <p:cond delay="1000"/>
                            </p:stCondLst>
                            <p:childTnLst>
                              <p:par>
                                <p:cTn id="73" presetID="12" presetClass="entr" presetSubtype="8" fill="hold" grpId="0" nodeType="afterEffect">
                                  <p:stCondLst>
                                    <p:cond delay="0"/>
                                  </p:stCondLst>
                                  <p:childTnLst>
                                    <p:set>
                                      <p:cBhvr>
                                        <p:cTn id="74" dur="1" fill="hold">
                                          <p:stCondLst>
                                            <p:cond delay="0"/>
                                          </p:stCondLst>
                                        </p:cTn>
                                        <p:tgtEl>
                                          <p:spTgt spid="93"/>
                                        </p:tgtEl>
                                        <p:attrNameLst>
                                          <p:attrName>style.visibility</p:attrName>
                                        </p:attrNameLst>
                                      </p:cBhvr>
                                      <p:to>
                                        <p:strVal val="visible"/>
                                      </p:to>
                                    </p:set>
                                    <p:anim calcmode="lin" valueType="num">
                                      <p:cBhvr additive="base">
                                        <p:cTn id="75" dur="1000"/>
                                        <p:tgtEl>
                                          <p:spTgt spid="93"/>
                                        </p:tgtEl>
                                        <p:attrNameLst>
                                          <p:attrName>ppt_x</p:attrName>
                                        </p:attrNameLst>
                                      </p:cBhvr>
                                      <p:tavLst>
                                        <p:tav tm="0">
                                          <p:val>
                                            <p:strVal val="#ppt_x-#ppt_w*1.125000"/>
                                          </p:val>
                                        </p:tav>
                                        <p:tav tm="100000">
                                          <p:val>
                                            <p:strVal val="#ppt_x"/>
                                          </p:val>
                                        </p:tav>
                                      </p:tavLst>
                                    </p:anim>
                                    <p:animEffect transition="in" filter="wipe(right)">
                                      <p:cBhvr>
                                        <p:cTn id="76" dur="1000"/>
                                        <p:tgtEl>
                                          <p:spTgt spid="93"/>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xit" presetSubtype="0" fill="hold" grpId="1" nodeType="clickEffect">
                                  <p:stCondLst>
                                    <p:cond delay="0"/>
                                  </p:stCondLst>
                                  <p:childTnLst>
                                    <p:set>
                                      <p:cBhvr>
                                        <p:cTn id="80" dur="1" fill="hold">
                                          <p:stCondLst>
                                            <p:cond delay="0"/>
                                          </p:stCondLst>
                                        </p:cTn>
                                        <p:tgtEl>
                                          <p:spTgt spid="90"/>
                                        </p:tgtEl>
                                        <p:attrNameLst>
                                          <p:attrName>style.visibility</p:attrName>
                                        </p:attrNameLst>
                                      </p:cBhvr>
                                      <p:to>
                                        <p:strVal val="hidden"/>
                                      </p:to>
                                    </p:set>
                                  </p:childTnLst>
                                </p:cTn>
                              </p:par>
                            </p:childTnLst>
                          </p:cTn>
                        </p:par>
                        <p:par>
                          <p:cTn id="81" fill="hold">
                            <p:stCondLst>
                              <p:cond delay="0"/>
                            </p:stCondLst>
                            <p:childTnLst>
                              <p:par>
                                <p:cTn id="82" presetID="42" presetClass="entr" presetSubtype="0" fill="hold" grpId="0" nodeType="afterEffect">
                                  <p:stCondLst>
                                    <p:cond delay="0"/>
                                  </p:stCondLst>
                                  <p:childTnLst>
                                    <p:set>
                                      <p:cBhvr>
                                        <p:cTn id="83" dur="1" fill="hold">
                                          <p:stCondLst>
                                            <p:cond delay="0"/>
                                          </p:stCondLst>
                                        </p:cTn>
                                        <p:tgtEl>
                                          <p:spTgt spid="95"/>
                                        </p:tgtEl>
                                        <p:attrNameLst>
                                          <p:attrName>style.visibility</p:attrName>
                                        </p:attrNameLst>
                                      </p:cBhvr>
                                      <p:to>
                                        <p:strVal val="visible"/>
                                      </p:to>
                                    </p:set>
                                    <p:animEffect transition="in" filter="fade">
                                      <p:cBhvr>
                                        <p:cTn id="84" dur="1000"/>
                                        <p:tgtEl>
                                          <p:spTgt spid="95"/>
                                        </p:tgtEl>
                                      </p:cBhvr>
                                    </p:animEffect>
                                    <p:anim calcmode="lin" valueType="num">
                                      <p:cBhvr>
                                        <p:cTn id="85" dur="1000" fill="hold"/>
                                        <p:tgtEl>
                                          <p:spTgt spid="95"/>
                                        </p:tgtEl>
                                        <p:attrNameLst>
                                          <p:attrName>ppt_x</p:attrName>
                                        </p:attrNameLst>
                                      </p:cBhvr>
                                      <p:tavLst>
                                        <p:tav tm="0">
                                          <p:val>
                                            <p:strVal val="#ppt_x"/>
                                          </p:val>
                                        </p:tav>
                                        <p:tav tm="100000">
                                          <p:val>
                                            <p:strVal val="#ppt_x"/>
                                          </p:val>
                                        </p:tav>
                                      </p:tavLst>
                                    </p:anim>
                                    <p:anim calcmode="lin" valueType="num">
                                      <p:cBhvr>
                                        <p:cTn id="86"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1000"/>
                                        <p:tgtEl>
                                          <p:spTgt spid="30"/>
                                        </p:tgtEl>
                                      </p:cBhvr>
                                    </p:animEffect>
                                    <p:anim calcmode="lin" valueType="num">
                                      <p:cBhvr>
                                        <p:cTn id="92" dur="1000" fill="hold"/>
                                        <p:tgtEl>
                                          <p:spTgt spid="30"/>
                                        </p:tgtEl>
                                        <p:attrNameLst>
                                          <p:attrName>ppt_x</p:attrName>
                                        </p:attrNameLst>
                                      </p:cBhvr>
                                      <p:tavLst>
                                        <p:tav tm="0">
                                          <p:val>
                                            <p:strVal val="#ppt_x"/>
                                          </p:val>
                                        </p:tav>
                                        <p:tav tm="100000">
                                          <p:val>
                                            <p:strVal val="#ppt_x"/>
                                          </p:val>
                                        </p:tav>
                                      </p:tavLst>
                                    </p:anim>
                                    <p:anim calcmode="lin" valueType="num">
                                      <p:cBhvr>
                                        <p:cTn id="93" dur="1000" fill="hold"/>
                                        <p:tgtEl>
                                          <p:spTgt spid="30"/>
                                        </p:tgtEl>
                                        <p:attrNameLst>
                                          <p:attrName>ppt_y</p:attrName>
                                        </p:attrNameLst>
                                      </p:cBhvr>
                                      <p:tavLst>
                                        <p:tav tm="0">
                                          <p:val>
                                            <p:strVal val="#ppt_y+.1"/>
                                          </p:val>
                                        </p:tav>
                                        <p:tav tm="100000">
                                          <p:val>
                                            <p:strVal val="#ppt_y"/>
                                          </p:val>
                                        </p:tav>
                                      </p:tavLst>
                                    </p:anim>
                                  </p:childTnLst>
                                </p:cTn>
                              </p:par>
                            </p:childTnLst>
                          </p:cTn>
                        </p:par>
                        <p:par>
                          <p:cTn id="94" fill="hold">
                            <p:stCondLst>
                              <p:cond delay="1000"/>
                            </p:stCondLst>
                            <p:childTnLst>
                              <p:par>
                                <p:cTn id="95" presetID="42" presetClass="entr" presetSubtype="0" fill="hold" nodeType="afterEffect">
                                  <p:stCondLst>
                                    <p:cond delay="0"/>
                                  </p:stCondLst>
                                  <p:childTnLst>
                                    <p:set>
                                      <p:cBhvr>
                                        <p:cTn id="96" dur="1" fill="hold">
                                          <p:stCondLst>
                                            <p:cond delay="0"/>
                                          </p:stCondLst>
                                        </p:cTn>
                                        <p:tgtEl>
                                          <p:spTgt spid="3"/>
                                        </p:tgtEl>
                                        <p:attrNameLst>
                                          <p:attrName>style.visibility</p:attrName>
                                        </p:attrNameLst>
                                      </p:cBhvr>
                                      <p:to>
                                        <p:strVal val="visible"/>
                                      </p:to>
                                    </p:set>
                                    <p:animEffect transition="in" filter="fade">
                                      <p:cBhvr>
                                        <p:cTn id="97" dur="1000"/>
                                        <p:tgtEl>
                                          <p:spTgt spid="3"/>
                                        </p:tgtEl>
                                      </p:cBhvr>
                                    </p:animEffect>
                                    <p:anim calcmode="lin" valueType="num">
                                      <p:cBhvr>
                                        <p:cTn id="98" dur="1000" fill="hold"/>
                                        <p:tgtEl>
                                          <p:spTgt spid="3"/>
                                        </p:tgtEl>
                                        <p:attrNameLst>
                                          <p:attrName>ppt_x</p:attrName>
                                        </p:attrNameLst>
                                      </p:cBhvr>
                                      <p:tavLst>
                                        <p:tav tm="0">
                                          <p:val>
                                            <p:strVal val="#ppt_x"/>
                                          </p:val>
                                        </p:tav>
                                        <p:tav tm="100000">
                                          <p:val>
                                            <p:strVal val="#ppt_x"/>
                                          </p:val>
                                        </p:tav>
                                      </p:tavLst>
                                    </p:anim>
                                    <p:anim calcmode="lin" valueType="num">
                                      <p:cBhvr>
                                        <p:cTn id="99" dur="1000" fill="hold"/>
                                        <p:tgtEl>
                                          <p:spTgt spid="3"/>
                                        </p:tgtEl>
                                        <p:attrNameLst>
                                          <p:attrName>ppt_y</p:attrName>
                                        </p:attrNameLst>
                                      </p:cBhvr>
                                      <p:tavLst>
                                        <p:tav tm="0">
                                          <p:val>
                                            <p:strVal val="#ppt_y+.1"/>
                                          </p:val>
                                        </p:tav>
                                        <p:tav tm="100000">
                                          <p:val>
                                            <p:strVal val="#ppt_y"/>
                                          </p:val>
                                        </p:tav>
                                      </p:tavLst>
                                    </p:anim>
                                  </p:childTnLst>
                                </p:cTn>
                              </p:par>
                            </p:childTnLst>
                          </p:cTn>
                        </p:par>
                        <p:par>
                          <p:cTn id="100" fill="hold">
                            <p:stCondLst>
                              <p:cond delay="2000"/>
                            </p:stCondLst>
                            <p:childTnLst>
                              <p:par>
                                <p:cTn id="101" presetID="42" presetClass="entr" presetSubtype="0" fill="hold" nodeType="afterEffect">
                                  <p:stCondLst>
                                    <p:cond delay="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1000"/>
                                        <p:tgtEl>
                                          <p:spTgt spid="40"/>
                                        </p:tgtEl>
                                      </p:cBhvr>
                                    </p:animEffect>
                                    <p:anim calcmode="lin" valueType="num">
                                      <p:cBhvr>
                                        <p:cTn id="104" dur="1000" fill="hold"/>
                                        <p:tgtEl>
                                          <p:spTgt spid="40"/>
                                        </p:tgtEl>
                                        <p:attrNameLst>
                                          <p:attrName>ppt_x</p:attrName>
                                        </p:attrNameLst>
                                      </p:cBhvr>
                                      <p:tavLst>
                                        <p:tav tm="0">
                                          <p:val>
                                            <p:strVal val="#ppt_x"/>
                                          </p:val>
                                        </p:tav>
                                        <p:tav tm="100000">
                                          <p:val>
                                            <p:strVal val="#ppt_x"/>
                                          </p:val>
                                        </p:tav>
                                      </p:tavLst>
                                    </p:anim>
                                    <p:anim calcmode="lin" valueType="num">
                                      <p:cBhvr>
                                        <p:cTn id="105"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31"/>
                                        </p:tgtEl>
                                        <p:attrNameLst>
                                          <p:attrName>style.visibility</p:attrName>
                                        </p:attrNameLst>
                                      </p:cBhvr>
                                      <p:to>
                                        <p:strVal val="visible"/>
                                      </p:to>
                                    </p:set>
                                    <p:animEffect transition="in" filter="fade">
                                      <p:cBhvr>
                                        <p:cTn id="110" dur="1000"/>
                                        <p:tgtEl>
                                          <p:spTgt spid="31"/>
                                        </p:tgtEl>
                                      </p:cBhvr>
                                    </p:animEffect>
                                    <p:anim calcmode="lin" valueType="num">
                                      <p:cBhvr>
                                        <p:cTn id="111" dur="1000" fill="hold"/>
                                        <p:tgtEl>
                                          <p:spTgt spid="31"/>
                                        </p:tgtEl>
                                        <p:attrNameLst>
                                          <p:attrName>ppt_x</p:attrName>
                                        </p:attrNameLst>
                                      </p:cBhvr>
                                      <p:tavLst>
                                        <p:tav tm="0">
                                          <p:val>
                                            <p:strVal val="#ppt_x"/>
                                          </p:val>
                                        </p:tav>
                                        <p:tav tm="100000">
                                          <p:val>
                                            <p:strVal val="#ppt_x"/>
                                          </p:val>
                                        </p:tav>
                                      </p:tavLst>
                                    </p:anim>
                                    <p:anim calcmode="lin" valueType="num">
                                      <p:cBhvr>
                                        <p:cTn id="112" dur="1000" fill="hold"/>
                                        <p:tgtEl>
                                          <p:spTgt spid="31"/>
                                        </p:tgtEl>
                                        <p:attrNameLst>
                                          <p:attrName>ppt_y</p:attrName>
                                        </p:attrNameLst>
                                      </p:cBhvr>
                                      <p:tavLst>
                                        <p:tav tm="0">
                                          <p:val>
                                            <p:strVal val="#ppt_y+.1"/>
                                          </p:val>
                                        </p:tav>
                                        <p:tav tm="100000">
                                          <p:val>
                                            <p:strVal val="#ppt_y"/>
                                          </p:val>
                                        </p:tav>
                                      </p:tavLst>
                                    </p:anim>
                                  </p:childTnLst>
                                </p:cTn>
                              </p:par>
                            </p:childTnLst>
                          </p:cTn>
                        </p:par>
                        <p:par>
                          <p:cTn id="113" fill="hold">
                            <p:stCondLst>
                              <p:cond delay="1000"/>
                            </p:stCondLst>
                            <p:childTnLst>
                              <p:par>
                                <p:cTn id="114" presetID="42" presetClass="entr" presetSubtype="0" fill="hold" nodeType="afterEffect">
                                  <p:stCondLst>
                                    <p:cond delay="0"/>
                                  </p:stCondLst>
                                  <p:childTnLst>
                                    <p:set>
                                      <p:cBhvr>
                                        <p:cTn id="115" dur="1" fill="hold">
                                          <p:stCondLst>
                                            <p:cond delay="0"/>
                                          </p:stCondLst>
                                        </p:cTn>
                                        <p:tgtEl>
                                          <p:spTgt spid="40964"/>
                                        </p:tgtEl>
                                        <p:attrNameLst>
                                          <p:attrName>style.visibility</p:attrName>
                                        </p:attrNameLst>
                                      </p:cBhvr>
                                      <p:to>
                                        <p:strVal val="visible"/>
                                      </p:to>
                                    </p:set>
                                    <p:animEffect transition="in" filter="fade">
                                      <p:cBhvr>
                                        <p:cTn id="116" dur="1000"/>
                                        <p:tgtEl>
                                          <p:spTgt spid="40964"/>
                                        </p:tgtEl>
                                      </p:cBhvr>
                                    </p:animEffect>
                                    <p:anim calcmode="lin" valueType="num">
                                      <p:cBhvr>
                                        <p:cTn id="117" dur="1000" fill="hold"/>
                                        <p:tgtEl>
                                          <p:spTgt spid="40964"/>
                                        </p:tgtEl>
                                        <p:attrNameLst>
                                          <p:attrName>ppt_x</p:attrName>
                                        </p:attrNameLst>
                                      </p:cBhvr>
                                      <p:tavLst>
                                        <p:tav tm="0">
                                          <p:val>
                                            <p:strVal val="#ppt_x"/>
                                          </p:val>
                                        </p:tav>
                                        <p:tav tm="100000">
                                          <p:val>
                                            <p:strVal val="#ppt_x"/>
                                          </p:val>
                                        </p:tav>
                                      </p:tavLst>
                                    </p:anim>
                                    <p:anim calcmode="lin" valueType="num">
                                      <p:cBhvr>
                                        <p:cTn id="118" dur="1000" fill="hold"/>
                                        <p:tgtEl>
                                          <p:spTgt spid="40964"/>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17" presetClass="entr" presetSubtype="10" fill="hold" nodeType="clickEffect">
                                  <p:stCondLst>
                                    <p:cond delay="0"/>
                                  </p:stCondLst>
                                  <p:childTnLst>
                                    <p:set>
                                      <p:cBhvr>
                                        <p:cTn id="122" dur="1" fill="hold">
                                          <p:stCondLst>
                                            <p:cond delay="0"/>
                                          </p:stCondLst>
                                        </p:cTn>
                                        <p:tgtEl>
                                          <p:spTgt spid="6"/>
                                        </p:tgtEl>
                                        <p:attrNameLst>
                                          <p:attrName>style.visibility</p:attrName>
                                        </p:attrNameLst>
                                      </p:cBhvr>
                                      <p:to>
                                        <p:strVal val="visible"/>
                                      </p:to>
                                    </p:set>
                                    <p:anim calcmode="lin" valueType="num">
                                      <p:cBhvr>
                                        <p:cTn id="123" dur="1000" fill="hold"/>
                                        <p:tgtEl>
                                          <p:spTgt spid="6"/>
                                        </p:tgtEl>
                                        <p:attrNameLst>
                                          <p:attrName>ppt_w</p:attrName>
                                        </p:attrNameLst>
                                      </p:cBhvr>
                                      <p:tavLst>
                                        <p:tav tm="0">
                                          <p:val>
                                            <p:fltVal val="0"/>
                                          </p:val>
                                        </p:tav>
                                        <p:tav tm="100000">
                                          <p:val>
                                            <p:strVal val="#ppt_w"/>
                                          </p:val>
                                        </p:tav>
                                      </p:tavLst>
                                    </p:anim>
                                    <p:anim calcmode="lin" valueType="num">
                                      <p:cBhvr>
                                        <p:cTn id="124" dur="1000" fill="hold"/>
                                        <p:tgtEl>
                                          <p:spTgt spid="6"/>
                                        </p:tgtEl>
                                        <p:attrNameLst>
                                          <p:attrName>ppt_h</p:attrName>
                                        </p:attrNameLst>
                                      </p:cBhvr>
                                      <p:tavLst>
                                        <p:tav tm="0">
                                          <p:val>
                                            <p:strVal val="#ppt_h"/>
                                          </p:val>
                                        </p:tav>
                                        <p:tav tm="100000">
                                          <p:val>
                                            <p:strVal val="#ppt_h"/>
                                          </p:val>
                                        </p:tav>
                                      </p:tavLst>
                                    </p:anim>
                                  </p:childTnLst>
                                </p:cTn>
                              </p:par>
                            </p:childTnLst>
                          </p:cTn>
                        </p:par>
                        <p:par>
                          <p:cTn id="125" fill="hold">
                            <p:stCondLst>
                              <p:cond delay="1000"/>
                            </p:stCondLst>
                            <p:childTnLst>
                              <p:par>
                                <p:cTn id="126" presetID="53" presetClass="entr" presetSubtype="16" fill="hold" grpId="0" nodeType="afterEffect">
                                  <p:stCondLst>
                                    <p:cond delay="0"/>
                                  </p:stCondLst>
                                  <p:childTnLst>
                                    <p:set>
                                      <p:cBhvr>
                                        <p:cTn id="127" dur="1" fill="hold">
                                          <p:stCondLst>
                                            <p:cond delay="0"/>
                                          </p:stCondLst>
                                        </p:cTn>
                                        <p:tgtEl>
                                          <p:spTgt spid="60"/>
                                        </p:tgtEl>
                                        <p:attrNameLst>
                                          <p:attrName>style.visibility</p:attrName>
                                        </p:attrNameLst>
                                      </p:cBhvr>
                                      <p:to>
                                        <p:strVal val="visible"/>
                                      </p:to>
                                    </p:set>
                                    <p:anim calcmode="lin" valueType="num">
                                      <p:cBhvr>
                                        <p:cTn id="128" dur="1000" fill="hold"/>
                                        <p:tgtEl>
                                          <p:spTgt spid="60"/>
                                        </p:tgtEl>
                                        <p:attrNameLst>
                                          <p:attrName>ppt_w</p:attrName>
                                        </p:attrNameLst>
                                      </p:cBhvr>
                                      <p:tavLst>
                                        <p:tav tm="0">
                                          <p:val>
                                            <p:fltVal val="0"/>
                                          </p:val>
                                        </p:tav>
                                        <p:tav tm="100000">
                                          <p:val>
                                            <p:strVal val="#ppt_w"/>
                                          </p:val>
                                        </p:tav>
                                      </p:tavLst>
                                    </p:anim>
                                    <p:anim calcmode="lin" valueType="num">
                                      <p:cBhvr>
                                        <p:cTn id="129" dur="1000" fill="hold"/>
                                        <p:tgtEl>
                                          <p:spTgt spid="60"/>
                                        </p:tgtEl>
                                        <p:attrNameLst>
                                          <p:attrName>ppt_h</p:attrName>
                                        </p:attrNameLst>
                                      </p:cBhvr>
                                      <p:tavLst>
                                        <p:tav tm="0">
                                          <p:val>
                                            <p:fltVal val="0"/>
                                          </p:val>
                                        </p:tav>
                                        <p:tav tm="100000">
                                          <p:val>
                                            <p:strVal val="#ppt_h"/>
                                          </p:val>
                                        </p:tav>
                                      </p:tavLst>
                                    </p:anim>
                                    <p:animEffect transition="in" filter="fade">
                                      <p:cBhvr>
                                        <p:cTn id="130" dur="1000"/>
                                        <p:tgtEl>
                                          <p:spTgt spid="60"/>
                                        </p:tgtEl>
                                      </p:cBhvr>
                                    </p:animEffect>
                                  </p:childTnLst>
                                </p:cTn>
                              </p:par>
                            </p:childTnLst>
                          </p:cTn>
                        </p:par>
                      </p:childTnLst>
                    </p:cTn>
                  </p:par>
                  <p:par>
                    <p:cTn id="131" fill="hold">
                      <p:stCondLst>
                        <p:cond delay="indefinite"/>
                      </p:stCondLst>
                      <p:childTnLst>
                        <p:par>
                          <p:cTn id="132" fill="hold">
                            <p:stCondLst>
                              <p:cond delay="0"/>
                            </p:stCondLst>
                            <p:childTnLst>
                              <p:par>
                                <p:cTn id="133" presetID="17" presetClass="entr" presetSubtype="10" fill="hold" nodeType="clickEffect">
                                  <p:stCondLst>
                                    <p:cond delay="0"/>
                                  </p:stCondLst>
                                  <p:childTnLst>
                                    <p:set>
                                      <p:cBhvr>
                                        <p:cTn id="134" dur="1" fill="hold">
                                          <p:stCondLst>
                                            <p:cond delay="0"/>
                                          </p:stCondLst>
                                        </p:cTn>
                                        <p:tgtEl>
                                          <p:spTgt spid="7"/>
                                        </p:tgtEl>
                                        <p:attrNameLst>
                                          <p:attrName>style.visibility</p:attrName>
                                        </p:attrNameLst>
                                      </p:cBhvr>
                                      <p:to>
                                        <p:strVal val="visible"/>
                                      </p:to>
                                    </p:set>
                                    <p:anim calcmode="lin" valueType="num">
                                      <p:cBhvr>
                                        <p:cTn id="135" dur="1000" fill="hold"/>
                                        <p:tgtEl>
                                          <p:spTgt spid="7"/>
                                        </p:tgtEl>
                                        <p:attrNameLst>
                                          <p:attrName>ppt_w</p:attrName>
                                        </p:attrNameLst>
                                      </p:cBhvr>
                                      <p:tavLst>
                                        <p:tav tm="0">
                                          <p:val>
                                            <p:fltVal val="0"/>
                                          </p:val>
                                        </p:tav>
                                        <p:tav tm="100000">
                                          <p:val>
                                            <p:strVal val="#ppt_w"/>
                                          </p:val>
                                        </p:tav>
                                      </p:tavLst>
                                    </p:anim>
                                    <p:anim calcmode="lin" valueType="num">
                                      <p:cBhvr>
                                        <p:cTn id="136" dur="1000" fill="hold"/>
                                        <p:tgtEl>
                                          <p:spTgt spid="7"/>
                                        </p:tgtEl>
                                        <p:attrNameLst>
                                          <p:attrName>ppt_h</p:attrName>
                                        </p:attrNameLst>
                                      </p:cBhvr>
                                      <p:tavLst>
                                        <p:tav tm="0">
                                          <p:val>
                                            <p:strVal val="#ppt_h"/>
                                          </p:val>
                                        </p:tav>
                                        <p:tav tm="100000">
                                          <p:val>
                                            <p:strVal val="#ppt_h"/>
                                          </p:val>
                                        </p:tav>
                                      </p:tavLst>
                                    </p:anim>
                                  </p:childTnLst>
                                </p:cTn>
                              </p:par>
                            </p:childTnLst>
                          </p:cTn>
                        </p:par>
                        <p:par>
                          <p:cTn id="137" fill="hold">
                            <p:stCondLst>
                              <p:cond delay="1000"/>
                            </p:stCondLst>
                            <p:childTnLst>
                              <p:par>
                                <p:cTn id="138" presetID="53" presetClass="entr" presetSubtype="16" fill="hold" grpId="0" nodeType="afterEffect">
                                  <p:stCondLst>
                                    <p:cond delay="0"/>
                                  </p:stCondLst>
                                  <p:childTnLst>
                                    <p:set>
                                      <p:cBhvr>
                                        <p:cTn id="139" dur="1" fill="hold">
                                          <p:stCondLst>
                                            <p:cond delay="0"/>
                                          </p:stCondLst>
                                        </p:cTn>
                                        <p:tgtEl>
                                          <p:spTgt spid="84"/>
                                        </p:tgtEl>
                                        <p:attrNameLst>
                                          <p:attrName>style.visibility</p:attrName>
                                        </p:attrNameLst>
                                      </p:cBhvr>
                                      <p:to>
                                        <p:strVal val="visible"/>
                                      </p:to>
                                    </p:set>
                                    <p:anim calcmode="lin" valueType="num">
                                      <p:cBhvr>
                                        <p:cTn id="140" dur="1000" fill="hold"/>
                                        <p:tgtEl>
                                          <p:spTgt spid="84"/>
                                        </p:tgtEl>
                                        <p:attrNameLst>
                                          <p:attrName>ppt_w</p:attrName>
                                        </p:attrNameLst>
                                      </p:cBhvr>
                                      <p:tavLst>
                                        <p:tav tm="0">
                                          <p:val>
                                            <p:fltVal val="0"/>
                                          </p:val>
                                        </p:tav>
                                        <p:tav tm="100000">
                                          <p:val>
                                            <p:strVal val="#ppt_w"/>
                                          </p:val>
                                        </p:tav>
                                      </p:tavLst>
                                    </p:anim>
                                    <p:anim calcmode="lin" valueType="num">
                                      <p:cBhvr>
                                        <p:cTn id="141" dur="1000" fill="hold"/>
                                        <p:tgtEl>
                                          <p:spTgt spid="84"/>
                                        </p:tgtEl>
                                        <p:attrNameLst>
                                          <p:attrName>ppt_h</p:attrName>
                                        </p:attrNameLst>
                                      </p:cBhvr>
                                      <p:tavLst>
                                        <p:tav tm="0">
                                          <p:val>
                                            <p:fltVal val="0"/>
                                          </p:val>
                                        </p:tav>
                                        <p:tav tm="100000">
                                          <p:val>
                                            <p:strVal val="#ppt_h"/>
                                          </p:val>
                                        </p:tav>
                                      </p:tavLst>
                                    </p:anim>
                                    <p:animEffect transition="in" filter="fade">
                                      <p:cBhvr>
                                        <p:cTn id="142" dur="1000"/>
                                        <p:tgtEl>
                                          <p:spTgt spid="84"/>
                                        </p:tgtEl>
                                      </p:cBhvr>
                                    </p:animEffect>
                                  </p:childTnLst>
                                </p:cTn>
                              </p:par>
                            </p:childTnLst>
                          </p:cTn>
                        </p:par>
                      </p:childTnLst>
                    </p:cTn>
                  </p:par>
                  <p:par>
                    <p:cTn id="143" fill="hold">
                      <p:stCondLst>
                        <p:cond delay="indefinite"/>
                      </p:stCondLst>
                      <p:childTnLst>
                        <p:par>
                          <p:cTn id="144" fill="hold">
                            <p:stCondLst>
                              <p:cond delay="0"/>
                            </p:stCondLst>
                            <p:childTnLst>
                              <p:par>
                                <p:cTn id="145" presetID="17" presetClass="entr" presetSubtype="10" fill="hold" nodeType="clickEffect">
                                  <p:stCondLst>
                                    <p:cond delay="0"/>
                                  </p:stCondLst>
                                  <p:childTnLst>
                                    <p:set>
                                      <p:cBhvr>
                                        <p:cTn id="146" dur="1" fill="hold">
                                          <p:stCondLst>
                                            <p:cond delay="0"/>
                                          </p:stCondLst>
                                        </p:cTn>
                                        <p:tgtEl>
                                          <p:spTgt spid="8"/>
                                        </p:tgtEl>
                                        <p:attrNameLst>
                                          <p:attrName>style.visibility</p:attrName>
                                        </p:attrNameLst>
                                      </p:cBhvr>
                                      <p:to>
                                        <p:strVal val="visible"/>
                                      </p:to>
                                    </p:set>
                                    <p:anim calcmode="lin" valueType="num">
                                      <p:cBhvr>
                                        <p:cTn id="147" dur="1000" fill="hold"/>
                                        <p:tgtEl>
                                          <p:spTgt spid="8"/>
                                        </p:tgtEl>
                                        <p:attrNameLst>
                                          <p:attrName>ppt_w</p:attrName>
                                        </p:attrNameLst>
                                      </p:cBhvr>
                                      <p:tavLst>
                                        <p:tav tm="0">
                                          <p:val>
                                            <p:fltVal val="0"/>
                                          </p:val>
                                        </p:tav>
                                        <p:tav tm="100000">
                                          <p:val>
                                            <p:strVal val="#ppt_w"/>
                                          </p:val>
                                        </p:tav>
                                      </p:tavLst>
                                    </p:anim>
                                    <p:anim calcmode="lin" valueType="num">
                                      <p:cBhvr>
                                        <p:cTn id="148" dur="1000" fill="hold"/>
                                        <p:tgtEl>
                                          <p:spTgt spid="8"/>
                                        </p:tgtEl>
                                        <p:attrNameLst>
                                          <p:attrName>ppt_h</p:attrName>
                                        </p:attrNameLst>
                                      </p:cBhvr>
                                      <p:tavLst>
                                        <p:tav tm="0">
                                          <p:val>
                                            <p:strVal val="#ppt_h"/>
                                          </p:val>
                                        </p:tav>
                                        <p:tav tm="100000">
                                          <p:val>
                                            <p:strVal val="#ppt_h"/>
                                          </p:val>
                                        </p:tav>
                                      </p:tavLst>
                                    </p:anim>
                                  </p:childTnLst>
                                </p:cTn>
                              </p:par>
                            </p:childTnLst>
                          </p:cTn>
                        </p:par>
                        <p:par>
                          <p:cTn id="149" fill="hold">
                            <p:stCondLst>
                              <p:cond delay="1000"/>
                            </p:stCondLst>
                            <p:childTnLst>
                              <p:par>
                                <p:cTn id="150" presetID="53" presetClass="entr" presetSubtype="16" fill="hold" grpId="0" nodeType="afterEffect">
                                  <p:stCondLst>
                                    <p:cond delay="0"/>
                                  </p:stCondLst>
                                  <p:childTnLst>
                                    <p:set>
                                      <p:cBhvr>
                                        <p:cTn id="151" dur="1" fill="hold">
                                          <p:stCondLst>
                                            <p:cond delay="0"/>
                                          </p:stCondLst>
                                        </p:cTn>
                                        <p:tgtEl>
                                          <p:spTgt spid="85"/>
                                        </p:tgtEl>
                                        <p:attrNameLst>
                                          <p:attrName>style.visibility</p:attrName>
                                        </p:attrNameLst>
                                      </p:cBhvr>
                                      <p:to>
                                        <p:strVal val="visible"/>
                                      </p:to>
                                    </p:set>
                                    <p:anim calcmode="lin" valueType="num">
                                      <p:cBhvr>
                                        <p:cTn id="152" dur="1000" fill="hold"/>
                                        <p:tgtEl>
                                          <p:spTgt spid="85"/>
                                        </p:tgtEl>
                                        <p:attrNameLst>
                                          <p:attrName>ppt_w</p:attrName>
                                        </p:attrNameLst>
                                      </p:cBhvr>
                                      <p:tavLst>
                                        <p:tav tm="0">
                                          <p:val>
                                            <p:fltVal val="0"/>
                                          </p:val>
                                        </p:tav>
                                        <p:tav tm="100000">
                                          <p:val>
                                            <p:strVal val="#ppt_w"/>
                                          </p:val>
                                        </p:tav>
                                      </p:tavLst>
                                    </p:anim>
                                    <p:anim calcmode="lin" valueType="num">
                                      <p:cBhvr>
                                        <p:cTn id="153" dur="1000" fill="hold"/>
                                        <p:tgtEl>
                                          <p:spTgt spid="85"/>
                                        </p:tgtEl>
                                        <p:attrNameLst>
                                          <p:attrName>ppt_h</p:attrName>
                                        </p:attrNameLst>
                                      </p:cBhvr>
                                      <p:tavLst>
                                        <p:tav tm="0">
                                          <p:val>
                                            <p:fltVal val="0"/>
                                          </p:val>
                                        </p:tav>
                                        <p:tav tm="100000">
                                          <p:val>
                                            <p:strVal val="#ppt_h"/>
                                          </p:val>
                                        </p:tav>
                                      </p:tavLst>
                                    </p:anim>
                                    <p:animEffect transition="in" filter="fade">
                                      <p:cBhvr>
                                        <p:cTn id="154" dur="1000"/>
                                        <p:tgtEl>
                                          <p:spTgt spid="85"/>
                                        </p:tgtEl>
                                      </p:cBhvr>
                                    </p:animEffect>
                                  </p:childTnLst>
                                </p:cTn>
                              </p:par>
                            </p:childTnLst>
                          </p:cTn>
                        </p:par>
                      </p:childTnLst>
                    </p:cTn>
                  </p:par>
                  <p:par>
                    <p:cTn id="155" fill="hold">
                      <p:stCondLst>
                        <p:cond delay="indefinite"/>
                      </p:stCondLst>
                      <p:childTnLst>
                        <p:par>
                          <p:cTn id="156" fill="hold">
                            <p:stCondLst>
                              <p:cond delay="0"/>
                            </p:stCondLst>
                            <p:childTnLst>
                              <p:par>
                                <p:cTn id="157" presetID="17" presetClass="entr" presetSubtype="10" fill="hold" nodeType="clickEffect">
                                  <p:stCondLst>
                                    <p:cond delay="0"/>
                                  </p:stCondLst>
                                  <p:childTnLst>
                                    <p:set>
                                      <p:cBhvr>
                                        <p:cTn id="158" dur="1" fill="hold">
                                          <p:stCondLst>
                                            <p:cond delay="0"/>
                                          </p:stCondLst>
                                        </p:cTn>
                                        <p:tgtEl>
                                          <p:spTgt spid="9"/>
                                        </p:tgtEl>
                                        <p:attrNameLst>
                                          <p:attrName>style.visibility</p:attrName>
                                        </p:attrNameLst>
                                      </p:cBhvr>
                                      <p:to>
                                        <p:strVal val="visible"/>
                                      </p:to>
                                    </p:set>
                                    <p:anim calcmode="lin" valueType="num">
                                      <p:cBhvr>
                                        <p:cTn id="159" dur="1000" fill="hold"/>
                                        <p:tgtEl>
                                          <p:spTgt spid="9"/>
                                        </p:tgtEl>
                                        <p:attrNameLst>
                                          <p:attrName>ppt_w</p:attrName>
                                        </p:attrNameLst>
                                      </p:cBhvr>
                                      <p:tavLst>
                                        <p:tav tm="0">
                                          <p:val>
                                            <p:fltVal val="0"/>
                                          </p:val>
                                        </p:tav>
                                        <p:tav tm="100000">
                                          <p:val>
                                            <p:strVal val="#ppt_w"/>
                                          </p:val>
                                        </p:tav>
                                      </p:tavLst>
                                    </p:anim>
                                    <p:anim calcmode="lin" valueType="num">
                                      <p:cBhvr>
                                        <p:cTn id="160" dur="1000" fill="hold"/>
                                        <p:tgtEl>
                                          <p:spTgt spid="9"/>
                                        </p:tgtEl>
                                        <p:attrNameLst>
                                          <p:attrName>ppt_h</p:attrName>
                                        </p:attrNameLst>
                                      </p:cBhvr>
                                      <p:tavLst>
                                        <p:tav tm="0">
                                          <p:val>
                                            <p:strVal val="#ppt_h"/>
                                          </p:val>
                                        </p:tav>
                                        <p:tav tm="100000">
                                          <p:val>
                                            <p:strVal val="#ppt_h"/>
                                          </p:val>
                                        </p:tav>
                                      </p:tavLst>
                                    </p:anim>
                                  </p:childTnLst>
                                </p:cTn>
                              </p:par>
                            </p:childTnLst>
                          </p:cTn>
                        </p:par>
                        <p:par>
                          <p:cTn id="161" fill="hold">
                            <p:stCondLst>
                              <p:cond delay="1000"/>
                            </p:stCondLst>
                            <p:childTnLst>
                              <p:par>
                                <p:cTn id="162" presetID="53" presetClass="entr" presetSubtype="16" fill="hold" grpId="0" nodeType="afterEffect">
                                  <p:stCondLst>
                                    <p:cond delay="0"/>
                                  </p:stCondLst>
                                  <p:childTnLst>
                                    <p:set>
                                      <p:cBhvr>
                                        <p:cTn id="163" dur="1" fill="hold">
                                          <p:stCondLst>
                                            <p:cond delay="0"/>
                                          </p:stCondLst>
                                        </p:cTn>
                                        <p:tgtEl>
                                          <p:spTgt spid="86"/>
                                        </p:tgtEl>
                                        <p:attrNameLst>
                                          <p:attrName>style.visibility</p:attrName>
                                        </p:attrNameLst>
                                      </p:cBhvr>
                                      <p:to>
                                        <p:strVal val="visible"/>
                                      </p:to>
                                    </p:set>
                                    <p:anim calcmode="lin" valueType="num">
                                      <p:cBhvr>
                                        <p:cTn id="164" dur="1000" fill="hold"/>
                                        <p:tgtEl>
                                          <p:spTgt spid="86"/>
                                        </p:tgtEl>
                                        <p:attrNameLst>
                                          <p:attrName>ppt_w</p:attrName>
                                        </p:attrNameLst>
                                      </p:cBhvr>
                                      <p:tavLst>
                                        <p:tav tm="0">
                                          <p:val>
                                            <p:fltVal val="0"/>
                                          </p:val>
                                        </p:tav>
                                        <p:tav tm="100000">
                                          <p:val>
                                            <p:strVal val="#ppt_w"/>
                                          </p:val>
                                        </p:tav>
                                      </p:tavLst>
                                    </p:anim>
                                    <p:anim calcmode="lin" valueType="num">
                                      <p:cBhvr>
                                        <p:cTn id="165" dur="1000" fill="hold"/>
                                        <p:tgtEl>
                                          <p:spTgt spid="86"/>
                                        </p:tgtEl>
                                        <p:attrNameLst>
                                          <p:attrName>ppt_h</p:attrName>
                                        </p:attrNameLst>
                                      </p:cBhvr>
                                      <p:tavLst>
                                        <p:tav tm="0">
                                          <p:val>
                                            <p:fltVal val="0"/>
                                          </p:val>
                                        </p:tav>
                                        <p:tav tm="100000">
                                          <p:val>
                                            <p:strVal val="#ppt_h"/>
                                          </p:val>
                                        </p:tav>
                                      </p:tavLst>
                                    </p:anim>
                                    <p:animEffect transition="in" filter="fade">
                                      <p:cBhvr>
                                        <p:cTn id="166" dur="10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60" grpId="0" animBg="1"/>
      <p:bldP spid="84" grpId="0" animBg="1"/>
      <p:bldP spid="85" grpId="0" animBg="1"/>
      <p:bldP spid="86" grpId="0" animBg="1"/>
      <p:bldP spid="87" grpId="0" animBg="1"/>
      <p:bldP spid="87" grpId="1" animBg="1"/>
      <p:bldP spid="88" grpId="0" animBg="1"/>
      <p:bldP spid="88" grpId="1" animBg="1"/>
      <p:bldP spid="89" grpId="0" animBg="1"/>
      <p:bldP spid="89" grpId="1" animBg="1"/>
      <p:bldP spid="90" grpId="0" animBg="1"/>
      <p:bldP spid="90" grpId="1" animBg="1"/>
      <p:bldP spid="12" grpId="0"/>
      <p:bldP spid="91" grpId="0"/>
      <p:bldP spid="92" grpId="0"/>
      <p:bldP spid="93" grpId="0"/>
      <p:bldP spid="9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2"/>
          <p:cNvGrpSpPr/>
          <p:nvPr/>
        </p:nvGrpSpPr>
        <p:grpSpPr>
          <a:xfrm>
            <a:off x="392432" y="778617"/>
            <a:ext cx="4042408" cy="420971"/>
            <a:chOff x="670560" y="892917"/>
            <a:chExt cx="4042408" cy="420971"/>
          </a:xfrm>
        </p:grpSpPr>
        <p:sp>
          <p:nvSpPr>
            <p:cNvPr id="4" name="矩形 3"/>
            <p:cNvSpPr/>
            <p:nvPr/>
          </p:nvSpPr>
          <p:spPr>
            <a:xfrm>
              <a:off x="1035232" y="913778"/>
              <a:ext cx="3677736" cy="400110"/>
            </a:xfrm>
            <a:prstGeom prst="rect">
              <a:avLst/>
            </a:prstGeom>
          </p:spPr>
          <p:txBody>
            <a:bodyPr wrap="square">
              <a:spAutoFit/>
            </a:bodyPr>
            <a:lstStyle/>
            <a:p>
              <a:r>
                <a:rPr lang="en-US" altLang="zh-CN" sz="2000" b="1" i="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1600" i="1" dirty="0">
                  <a:solidFill>
                    <a:srgbClr val="CC00CC"/>
                  </a:solidFill>
                  <a:latin typeface="Times New Roman" panose="02020603050405020304" pitchFamily="18" charset="0"/>
                  <a:cs typeface="Times New Roman" panose="02020603050405020304" pitchFamily="18" charset="0"/>
                </a:rPr>
                <a:t>T</a:t>
              </a:r>
              <a:r>
                <a:rPr lang="en-US" sz="1600" dirty="0">
                  <a:solidFill>
                    <a:srgbClr val="CC00CC"/>
                  </a:solidFill>
                  <a:latin typeface="Times New Roman" panose="02020603050405020304" pitchFamily="18" charset="0"/>
                  <a:cs typeface="Times New Roman" panose="02020603050405020304" pitchFamily="18" charset="0"/>
                </a:rPr>
                <a:t>oggle</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 name="Rectangle 9"/>
          <p:cNvSpPr>
            <a:spLocks noChangeArrowheads="1"/>
          </p:cNvSpPr>
          <p:nvPr/>
        </p:nvSpPr>
        <p:spPr bwMode="auto">
          <a:xfrm>
            <a:off x="763588" y="1279525"/>
            <a:ext cx="28829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、特性表 </a:t>
            </a:r>
            <a:endParaRPr lang="zh-CN" altLang="en-US" sz="1600" dirty="0">
              <a:solidFill>
                <a:srgbClr val="FF0000"/>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7499350" y="820420"/>
            <a:ext cx="1385570" cy="1191260"/>
            <a:chOff x="7499350" y="820420"/>
            <a:chExt cx="1385570" cy="1191260"/>
          </a:xfrm>
        </p:grpSpPr>
        <p:sp>
          <p:nvSpPr>
            <p:cNvPr id="2" name="圆角矩形 1"/>
            <p:cNvSpPr/>
            <p:nvPr/>
          </p:nvSpPr>
          <p:spPr>
            <a:xfrm>
              <a:off x="7499350" y="820420"/>
              <a:ext cx="1385570" cy="1191260"/>
            </a:xfrm>
            <a:prstGeom prst="roundRect">
              <a:avLst>
                <a:gd name="adj" fmla="val 14108"/>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600844" y="932498"/>
              <a:ext cx="1177925" cy="961827"/>
              <a:chOff x="4736994" y="1592898"/>
              <a:chExt cx="1177925" cy="961827"/>
            </a:xfrm>
          </p:grpSpPr>
          <p:sp>
            <p:nvSpPr>
              <p:cNvPr id="10" name="Rectangle 18"/>
              <p:cNvSpPr>
                <a:spLocks noChangeArrowheads="1"/>
              </p:cNvSpPr>
              <p:nvPr/>
            </p:nvSpPr>
            <p:spPr bwMode="auto">
              <a:xfrm>
                <a:off x="4919662" y="2246948"/>
                <a:ext cx="864276"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1" name="Group 56"/>
              <p:cNvGrpSpPr/>
              <p:nvPr/>
            </p:nvGrpSpPr>
            <p:grpSpPr bwMode="auto">
              <a:xfrm>
                <a:off x="4736998" y="1592906"/>
                <a:ext cx="1177926" cy="620713"/>
                <a:chOff x="9741" y="9757"/>
                <a:chExt cx="1854" cy="978"/>
              </a:xfrm>
            </p:grpSpPr>
            <p:grpSp>
              <p:nvGrpSpPr>
                <p:cNvPr id="12" name="Group 57"/>
                <p:cNvGrpSpPr/>
                <p:nvPr/>
              </p:nvGrpSpPr>
              <p:grpSpPr bwMode="auto">
                <a:xfrm>
                  <a:off x="10083" y="9927"/>
                  <a:ext cx="455" cy="616"/>
                  <a:chOff x="10083" y="9927"/>
                  <a:chExt cx="455" cy="616"/>
                </a:xfrm>
              </p:grpSpPr>
              <p:sp>
                <p:nvSpPr>
                  <p:cNvPr id="25" name="Line 58"/>
                  <p:cNvSpPr>
                    <a:spLocks noChangeShapeType="1"/>
                  </p:cNvSpPr>
                  <p:nvPr/>
                </p:nvSpPr>
                <p:spPr bwMode="auto">
                  <a:xfrm flipH="1">
                    <a:off x="10083" y="9927"/>
                    <a:ext cx="29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6" name="Line 59"/>
                  <p:cNvSpPr>
                    <a:spLocks noChangeShapeType="1"/>
                  </p:cNvSpPr>
                  <p:nvPr/>
                </p:nvSpPr>
                <p:spPr bwMode="auto">
                  <a:xfrm flipH="1">
                    <a:off x="10083" y="10543"/>
                    <a:ext cx="45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13" name="Line 60"/>
                <p:cNvSpPr>
                  <a:spLocks noChangeShapeType="1"/>
                </p:cNvSpPr>
                <p:nvPr/>
              </p:nvSpPr>
              <p:spPr bwMode="auto">
                <a:xfrm flipH="1">
                  <a:off x="11016" y="9925"/>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4" name="Line 61"/>
                <p:cNvSpPr>
                  <a:spLocks noChangeShapeType="1"/>
                </p:cNvSpPr>
                <p:nvPr/>
              </p:nvSpPr>
              <p:spPr bwMode="auto">
                <a:xfrm flipH="1">
                  <a:off x="11021" y="10544"/>
                  <a:ext cx="28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5" name="Rectangle 62"/>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6" name="Oval 63"/>
                <p:cNvSpPr>
                  <a:spLocks noChangeArrowheads="1"/>
                </p:cNvSpPr>
                <p:nvPr/>
              </p:nvSpPr>
              <p:spPr bwMode="auto">
                <a:xfrm>
                  <a:off x="11047" y="1050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7" name="Text Box 64"/>
                <p:cNvSpPr txBox="1">
                  <a:spLocks noChangeArrowheads="1"/>
                </p:cNvSpPr>
                <p:nvPr/>
              </p:nvSpPr>
              <p:spPr bwMode="auto">
                <a:xfrm>
                  <a:off x="10338" y="9811"/>
                  <a:ext cx="357" cy="23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Text Box 65"/>
                <p:cNvSpPr txBox="1">
                  <a:spLocks noChangeArrowheads="1"/>
                </p:cNvSpPr>
                <p:nvPr/>
              </p:nvSpPr>
              <p:spPr bwMode="auto">
                <a:xfrm>
                  <a:off x="10459" y="10416"/>
                  <a:ext cx="416"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Text Box 66"/>
                <p:cNvSpPr txBox="1">
                  <a:spLocks noChangeArrowheads="1"/>
                </p:cNvSpPr>
                <p:nvPr/>
              </p:nvSpPr>
              <p:spPr bwMode="auto">
                <a:xfrm>
                  <a:off x="11234" y="9816"/>
                  <a:ext cx="361" cy="3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Text Box 67"/>
                <p:cNvSpPr txBox="1">
                  <a:spLocks noChangeArrowheads="1"/>
                </p:cNvSpPr>
                <p:nvPr/>
              </p:nvSpPr>
              <p:spPr bwMode="auto">
                <a:xfrm>
                  <a:off x="10301" y="10421"/>
                  <a:ext cx="203" cy="19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Text Box 68"/>
                <p:cNvSpPr txBox="1">
                  <a:spLocks noChangeArrowheads="1"/>
                </p:cNvSpPr>
                <p:nvPr/>
              </p:nvSpPr>
              <p:spPr bwMode="auto">
                <a:xfrm>
                  <a:off x="9823" y="9795"/>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Text Box 69"/>
                <p:cNvSpPr txBox="1">
                  <a:spLocks noChangeArrowheads="1"/>
                </p:cNvSpPr>
                <p:nvPr/>
              </p:nvSpPr>
              <p:spPr bwMode="auto">
                <a:xfrm>
                  <a:off x="9741" y="10421"/>
                  <a:ext cx="354" cy="28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Text Box 70"/>
                <p:cNvSpPr txBox="1">
                  <a:spLocks noChangeArrowheads="1"/>
                </p:cNvSpPr>
                <p:nvPr/>
              </p:nvSpPr>
              <p:spPr bwMode="auto">
                <a:xfrm>
                  <a:off x="11345" y="10423"/>
                  <a:ext cx="180" cy="31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Line 71"/>
                <p:cNvSpPr>
                  <a:spLocks noChangeShapeType="1"/>
                </p:cNvSpPr>
                <p:nvPr/>
              </p:nvSpPr>
              <p:spPr bwMode="auto">
                <a:xfrm>
                  <a:off x="11355" y="10433"/>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graphicFrame>
        <p:nvGraphicFramePr>
          <p:cNvPr id="28" name="Group 157"/>
          <p:cNvGraphicFramePr>
            <a:graphicFrameLocks noGrp="1"/>
          </p:cNvGraphicFramePr>
          <p:nvPr/>
        </p:nvGraphicFramePr>
        <p:xfrm>
          <a:off x="923925" y="1676401"/>
          <a:ext cx="1793875" cy="1403348"/>
        </p:xfrm>
        <a:graphic>
          <a:graphicData uri="http://schemas.openxmlformats.org/drawingml/2006/table">
            <a:tbl>
              <a:tblPr/>
              <a:tblGrid>
                <a:gridCol w="570342"/>
                <a:gridCol w="476686"/>
                <a:gridCol w="746847"/>
              </a:tblGrid>
              <a:tr h="330989">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T</a:t>
                      </a:r>
                      <a:endParaRPr kumimoji="0" lang="en-US" altLang="zh-CN" sz="14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400" b="1" i="0"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n+1</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279551">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solidFill>
                      <a:srgbClr val="FFFFFF"/>
                    </a:solidFill>
                  </a:tcPr>
                </a:tc>
              </a:tr>
              <a:tr h="23035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27731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a:noFill/>
                    </a:lnB>
                    <a:lnTlToBr>
                      <a:noFill/>
                    </a:lnTlToBr>
                    <a:lnBlToTr>
                      <a:noFill/>
                    </a:lnBlToTr>
                    <a:solidFill>
                      <a:srgbClr val="FFFFFF"/>
                    </a:solidFill>
                  </a:tcPr>
                </a:tc>
              </a:tr>
              <a:tr h="285143">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a:noFill/>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a:noFill/>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sp>
        <p:nvSpPr>
          <p:cNvPr id="29" name="圆角矩形 28"/>
          <p:cNvSpPr/>
          <p:nvPr/>
        </p:nvSpPr>
        <p:spPr>
          <a:xfrm>
            <a:off x="938598" y="2012626"/>
            <a:ext cx="1798251" cy="527374"/>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925898" y="2546350"/>
            <a:ext cx="1798251" cy="501649"/>
          </a:xfrm>
          <a:prstGeom prst="roundRect">
            <a:avLst>
              <a:gd name="adj" fmla="val 0"/>
            </a:avLst>
          </a:prstGeom>
          <a:solidFill>
            <a:srgbClr val="0070C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2923858" y="1287145"/>
            <a:ext cx="2514600" cy="1176655"/>
            <a:chOff x="2923858" y="1287145"/>
            <a:chExt cx="2514600" cy="1176655"/>
          </a:xfrm>
        </p:grpSpPr>
        <p:sp>
          <p:nvSpPr>
            <p:cNvPr id="7" name="Rectangle 135"/>
            <p:cNvSpPr>
              <a:spLocks noChangeArrowheads="1"/>
            </p:cNvSpPr>
            <p:nvPr/>
          </p:nvSpPr>
          <p:spPr bwMode="auto">
            <a:xfrm>
              <a:off x="2923858" y="1287145"/>
              <a:ext cx="25146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、特性方程</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203784" name="Object 8"/>
            <p:cNvGraphicFramePr>
              <a:graphicFrameLocks noChangeAspect="1"/>
            </p:cNvGraphicFramePr>
            <p:nvPr/>
          </p:nvGraphicFramePr>
          <p:xfrm>
            <a:off x="3354388" y="1738801"/>
            <a:ext cx="1916112" cy="724999"/>
          </p:xfrm>
          <a:graphic>
            <a:graphicData uri="http://schemas.openxmlformats.org/presentationml/2006/ole">
              <mc:AlternateContent xmlns:mc="http://schemas.openxmlformats.org/markup-compatibility/2006">
                <mc:Choice xmlns:v="urn:schemas-microsoft-com:vml" Requires="v">
                  <p:oleObj spid="_x0000_s31752" name="Equation" r:id="rId2" imgW="27432000" imgH="11582400" progId="Equation.DSMT4">
                    <p:embed/>
                  </p:oleObj>
                </mc:Choice>
                <mc:Fallback>
                  <p:oleObj name="Equation" r:id="rId2" imgW="27432000" imgH="11582400" progId="Equation.DSMT4">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4388" y="1738801"/>
                          <a:ext cx="1916112" cy="724999"/>
                        </a:xfrm>
                        <a:prstGeom prst="rect">
                          <a:avLst/>
                        </a:prstGeom>
                        <a:solidFill>
                          <a:srgbClr val="FFFFFF"/>
                        </a:solidFill>
                      </p:spPr>
                    </p:pic>
                  </p:oleObj>
                </mc:Fallback>
              </mc:AlternateContent>
            </a:graphicData>
          </a:graphic>
        </p:graphicFrame>
      </p:grpSp>
      <p:grpSp>
        <p:nvGrpSpPr>
          <p:cNvPr id="46" name="组合 45"/>
          <p:cNvGrpSpPr/>
          <p:nvPr/>
        </p:nvGrpSpPr>
        <p:grpSpPr>
          <a:xfrm>
            <a:off x="2973388" y="2751455"/>
            <a:ext cx="3725862" cy="987160"/>
            <a:chOff x="2973388" y="2751455"/>
            <a:chExt cx="3725862" cy="987160"/>
          </a:xfrm>
        </p:grpSpPr>
        <p:sp>
          <p:nvSpPr>
            <p:cNvPr id="8" name="Rectangle 138"/>
            <p:cNvSpPr>
              <a:spLocks noChangeArrowheads="1"/>
            </p:cNvSpPr>
            <p:nvPr/>
          </p:nvSpPr>
          <p:spPr bwMode="auto">
            <a:xfrm>
              <a:off x="2973388" y="2751455"/>
              <a:ext cx="249555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、状态图</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2" name="Picture 1"/>
            <p:cNvPicPr>
              <a:picLocks noChangeAspect="1" noChangeArrowheads="1"/>
            </p:cNvPicPr>
            <p:nvPr/>
          </p:nvPicPr>
          <p:blipFill>
            <a:blip r:embed="rId4" cstate="print"/>
            <a:srcRect/>
            <a:stretch>
              <a:fillRect/>
            </a:stretch>
          </p:blipFill>
          <p:spPr bwMode="auto">
            <a:xfrm>
              <a:off x="4122738" y="2911513"/>
              <a:ext cx="2576512" cy="827102"/>
            </a:xfrm>
            <a:prstGeom prst="rect">
              <a:avLst/>
            </a:prstGeom>
            <a:noFill/>
            <a:ln w="9525">
              <a:noFill/>
              <a:miter lim="800000"/>
              <a:headEnd/>
              <a:tailEnd/>
            </a:ln>
            <a:effectLst/>
          </p:spPr>
        </p:pic>
      </p:grpSp>
      <p:grpSp>
        <p:nvGrpSpPr>
          <p:cNvPr id="41" name="组合 40"/>
          <p:cNvGrpSpPr/>
          <p:nvPr/>
        </p:nvGrpSpPr>
        <p:grpSpPr>
          <a:xfrm>
            <a:off x="392432" y="3324967"/>
            <a:ext cx="4042408" cy="1829963"/>
            <a:chOff x="392432" y="3324967"/>
            <a:chExt cx="4042408" cy="1829963"/>
          </a:xfrm>
        </p:grpSpPr>
        <p:grpSp>
          <p:nvGrpSpPr>
            <p:cNvPr id="33" name="组合 22"/>
            <p:cNvGrpSpPr/>
            <p:nvPr/>
          </p:nvGrpSpPr>
          <p:grpSpPr>
            <a:xfrm>
              <a:off x="392432" y="3324967"/>
              <a:ext cx="4042408" cy="420971"/>
              <a:chOff x="670560" y="892917"/>
              <a:chExt cx="4042408" cy="420971"/>
            </a:xfrm>
          </p:grpSpPr>
          <p:sp>
            <p:nvSpPr>
              <p:cNvPr id="34" name="矩形 33"/>
              <p:cNvSpPr/>
              <p:nvPr/>
            </p:nvSpPr>
            <p:spPr>
              <a:xfrm>
                <a:off x="1035232" y="913778"/>
                <a:ext cx="3677736" cy="400110"/>
              </a:xfrm>
              <a:prstGeom prst="rect">
                <a:avLst/>
              </a:prstGeom>
            </p:spPr>
            <p:txBody>
              <a:bodyPr wrap="square">
                <a:spAutoFit/>
              </a:bodyPr>
              <a:lstStyle/>
              <a:p>
                <a:r>
                  <a:rPr lang="en-US" altLang="zh-CN" sz="2000" b="1" i="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T </a:t>
                </a:r>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1</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6" name="组合 35"/>
            <p:cNvGrpSpPr/>
            <p:nvPr/>
          </p:nvGrpSpPr>
          <p:grpSpPr>
            <a:xfrm>
              <a:off x="1028700" y="3963670"/>
              <a:ext cx="1385570" cy="1191260"/>
              <a:chOff x="7499350" y="820420"/>
              <a:chExt cx="1385570" cy="1191260"/>
            </a:xfrm>
          </p:grpSpPr>
          <p:sp>
            <p:nvSpPr>
              <p:cNvPr id="37" name="圆角矩形 36"/>
              <p:cNvSpPr/>
              <p:nvPr/>
            </p:nvSpPr>
            <p:spPr>
              <a:xfrm>
                <a:off x="7499350" y="820420"/>
                <a:ext cx="1385570" cy="1191260"/>
              </a:xfrm>
              <a:prstGeom prst="roundRect">
                <a:avLst>
                  <a:gd name="adj" fmla="val 14108"/>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8"/>
              <p:cNvGrpSpPr/>
              <p:nvPr/>
            </p:nvGrpSpPr>
            <p:grpSpPr>
              <a:xfrm>
                <a:off x="7600846" y="932504"/>
                <a:ext cx="1177926" cy="961821"/>
                <a:chOff x="4736996" y="1592904"/>
                <a:chExt cx="1177926" cy="961821"/>
              </a:xfrm>
            </p:grpSpPr>
            <p:sp>
              <p:nvSpPr>
                <p:cNvPr id="39" name="Rectangle 18"/>
                <p:cNvSpPr>
                  <a:spLocks noChangeArrowheads="1"/>
                </p:cNvSpPr>
                <p:nvPr/>
              </p:nvSpPr>
              <p:spPr bwMode="auto">
                <a:xfrm>
                  <a:off x="4919662" y="2246948"/>
                  <a:ext cx="907621"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T′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0" name="Group 56"/>
                <p:cNvGrpSpPr/>
                <p:nvPr/>
              </p:nvGrpSpPr>
              <p:grpSpPr bwMode="auto">
                <a:xfrm>
                  <a:off x="4736996" y="1592904"/>
                  <a:ext cx="1177926" cy="620713"/>
                  <a:chOff x="9741" y="9757"/>
                  <a:chExt cx="1854" cy="978"/>
                </a:xfrm>
              </p:grpSpPr>
              <p:sp>
                <p:nvSpPr>
                  <p:cNvPr id="55" name="Line 59"/>
                  <p:cNvSpPr>
                    <a:spLocks noChangeShapeType="1"/>
                  </p:cNvSpPr>
                  <p:nvPr/>
                </p:nvSpPr>
                <p:spPr bwMode="auto">
                  <a:xfrm flipH="1">
                    <a:off x="10083" y="10243"/>
                    <a:ext cx="45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2" name="Line 60"/>
                  <p:cNvSpPr>
                    <a:spLocks noChangeShapeType="1"/>
                  </p:cNvSpPr>
                  <p:nvPr/>
                </p:nvSpPr>
                <p:spPr bwMode="auto">
                  <a:xfrm flipH="1">
                    <a:off x="11016" y="9925"/>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3" name="Line 61"/>
                  <p:cNvSpPr>
                    <a:spLocks noChangeShapeType="1"/>
                  </p:cNvSpPr>
                  <p:nvPr/>
                </p:nvSpPr>
                <p:spPr bwMode="auto">
                  <a:xfrm flipH="1">
                    <a:off x="11021" y="10544"/>
                    <a:ext cx="283"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4" name="Rectangle 62"/>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5" name="Oval 63"/>
                  <p:cNvSpPr>
                    <a:spLocks noChangeArrowheads="1"/>
                  </p:cNvSpPr>
                  <p:nvPr/>
                </p:nvSpPr>
                <p:spPr bwMode="auto">
                  <a:xfrm>
                    <a:off x="11047" y="10504"/>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47" name="Text Box 65"/>
                  <p:cNvSpPr txBox="1">
                    <a:spLocks noChangeArrowheads="1"/>
                  </p:cNvSpPr>
                  <p:nvPr/>
                </p:nvSpPr>
                <p:spPr bwMode="auto">
                  <a:xfrm>
                    <a:off x="10459" y="10116"/>
                    <a:ext cx="416"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Text Box 66"/>
                  <p:cNvSpPr txBox="1">
                    <a:spLocks noChangeArrowheads="1"/>
                  </p:cNvSpPr>
                  <p:nvPr/>
                </p:nvSpPr>
                <p:spPr bwMode="auto">
                  <a:xfrm>
                    <a:off x="11234" y="9816"/>
                    <a:ext cx="361" cy="38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Text Box 67"/>
                  <p:cNvSpPr txBox="1">
                    <a:spLocks noChangeArrowheads="1"/>
                  </p:cNvSpPr>
                  <p:nvPr/>
                </p:nvSpPr>
                <p:spPr bwMode="auto">
                  <a:xfrm>
                    <a:off x="10301" y="10121"/>
                    <a:ext cx="203" cy="194"/>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Text Box 69"/>
                  <p:cNvSpPr txBox="1">
                    <a:spLocks noChangeArrowheads="1"/>
                  </p:cNvSpPr>
                  <p:nvPr/>
                </p:nvSpPr>
                <p:spPr bwMode="auto">
                  <a:xfrm>
                    <a:off x="9741" y="10121"/>
                    <a:ext cx="354" cy="28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2" name="Text Box 70"/>
                  <p:cNvSpPr txBox="1">
                    <a:spLocks noChangeArrowheads="1"/>
                  </p:cNvSpPr>
                  <p:nvPr/>
                </p:nvSpPr>
                <p:spPr bwMode="auto">
                  <a:xfrm>
                    <a:off x="11345" y="10423"/>
                    <a:ext cx="180" cy="312"/>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Line 71"/>
                  <p:cNvSpPr>
                    <a:spLocks noChangeShapeType="1"/>
                  </p:cNvSpPr>
                  <p:nvPr/>
                </p:nvSpPr>
                <p:spPr bwMode="auto">
                  <a:xfrm>
                    <a:off x="11355" y="10433"/>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graphicFrame>
          <p:nvGraphicFramePr>
            <p:cNvPr id="31" name="Object 8"/>
            <p:cNvGraphicFramePr>
              <a:graphicFrameLocks noChangeAspect="1"/>
            </p:cNvGraphicFramePr>
            <p:nvPr/>
          </p:nvGraphicFramePr>
          <p:xfrm>
            <a:off x="3171825" y="4424363"/>
            <a:ext cx="1085850" cy="342900"/>
          </p:xfrm>
          <a:graphic>
            <a:graphicData uri="http://schemas.openxmlformats.org/presentationml/2006/ole">
              <mc:AlternateContent xmlns:mc="http://schemas.openxmlformats.org/markup-compatibility/2006">
                <mc:Choice xmlns:v="urn:schemas-microsoft-com:vml" Requires="v">
                  <p:oleObj spid="_x0000_s31753" name="Equation" r:id="rId5" imgW="15544800" imgH="5486400" progId="Equation.DSMT4">
                    <p:embed/>
                  </p:oleObj>
                </mc:Choice>
                <mc:Fallback>
                  <p:oleObj name="Equation" r:id="rId5" imgW="15544800" imgH="54864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1825" y="4424363"/>
                          <a:ext cx="1085850" cy="342900"/>
                        </a:xfrm>
                        <a:prstGeom prst="rect">
                          <a:avLst/>
                        </a:prstGeom>
                        <a:solidFill>
                          <a:srgbClr val="FFFFFF"/>
                        </a:solidFill>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1000"/>
                                        <p:tgtEl>
                                          <p:spTgt spid="27"/>
                                        </p:tgtEl>
                                      </p:cBhvr>
                                    </p:animEffect>
                                    <p:anim calcmode="lin" valueType="num">
                                      <p:cBhvr>
                                        <p:cTn id="13" dur="1000" fill="hold"/>
                                        <p:tgtEl>
                                          <p:spTgt spid="27"/>
                                        </p:tgtEl>
                                        <p:attrNameLst>
                                          <p:attrName>ppt_x</p:attrName>
                                        </p:attrNameLst>
                                      </p:cBhvr>
                                      <p:tavLst>
                                        <p:tav tm="0">
                                          <p:val>
                                            <p:strVal val="#ppt_x"/>
                                          </p:val>
                                        </p:tav>
                                        <p:tav tm="100000">
                                          <p:val>
                                            <p:strVal val="#ppt_x"/>
                                          </p:val>
                                        </p:tav>
                                      </p:tavLst>
                                    </p:anim>
                                    <p:anim calcmode="lin" valueType="num">
                                      <p:cBhvr>
                                        <p:cTn id="14" dur="1000" fill="hold"/>
                                        <p:tgtEl>
                                          <p:spTgt spid="27"/>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28"/>
                                        </p:tgtEl>
                                        <p:attrNameLst>
                                          <p:attrName>style.visibility</p:attrName>
                                        </p:attrNameLst>
                                      </p:cBhvr>
                                      <p:to>
                                        <p:strVal val="visible"/>
                                      </p:to>
                                    </p:set>
                                    <p:animEffect transition="in" filter="fade">
                                      <p:cBhvr>
                                        <p:cTn id="18" dur="1000"/>
                                        <p:tgtEl>
                                          <p:spTgt spid="28"/>
                                        </p:tgtEl>
                                      </p:cBhvr>
                                    </p:animEffect>
                                    <p:anim calcmode="lin" valueType="num">
                                      <p:cBhvr>
                                        <p:cTn id="19" dur="1000" fill="hold"/>
                                        <p:tgtEl>
                                          <p:spTgt spid="28"/>
                                        </p:tgtEl>
                                        <p:attrNameLst>
                                          <p:attrName>ppt_x</p:attrName>
                                        </p:attrNameLst>
                                      </p:cBhvr>
                                      <p:tavLst>
                                        <p:tav tm="0">
                                          <p:val>
                                            <p:strVal val="#ppt_x"/>
                                          </p:val>
                                        </p:tav>
                                        <p:tav tm="100000">
                                          <p:val>
                                            <p:strVal val="#ppt_x"/>
                                          </p:val>
                                        </p:tav>
                                      </p:tavLst>
                                    </p:anim>
                                    <p:anim calcmode="lin" valueType="num">
                                      <p:cBhvr>
                                        <p:cTn id="20" dur="1000" fill="hold"/>
                                        <p:tgtEl>
                                          <p:spTgt spid="28"/>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 calcmode="lin" valueType="num">
                                      <p:cBhvr>
                                        <p:cTn id="30" dur="1000" fill="hold"/>
                                        <p:tgtEl>
                                          <p:spTgt spid="29"/>
                                        </p:tgtEl>
                                        <p:attrNameLst>
                                          <p:attrName>ppt_w</p:attrName>
                                        </p:attrNameLst>
                                      </p:cBhvr>
                                      <p:tavLst>
                                        <p:tav tm="0">
                                          <p:val>
                                            <p:fltVal val="0"/>
                                          </p:val>
                                        </p:tav>
                                        <p:tav tm="100000">
                                          <p:val>
                                            <p:strVal val="#ppt_w"/>
                                          </p:val>
                                        </p:tav>
                                      </p:tavLst>
                                    </p:anim>
                                    <p:anim calcmode="lin" valueType="num">
                                      <p:cBhvr>
                                        <p:cTn id="31" dur="1000" fill="hold"/>
                                        <p:tgtEl>
                                          <p:spTgt spid="29"/>
                                        </p:tgtEl>
                                        <p:attrNameLst>
                                          <p:attrName>ppt_h</p:attrName>
                                        </p:attrNameLst>
                                      </p:cBhvr>
                                      <p:tavLst>
                                        <p:tav tm="0">
                                          <p:val>
                                            <p:strVal val="#ppt_h"/>
                                          </p:val>
                                        </p:tav>
                                        <p:tav tm="100000">
                                          <p:val>
                                            <p:strVal val="#ppt_h"/>
                                          </p:val>
                                        </p:tav>
                                      </p:tavLst>
                                    </p:anim>
                                  </p:childTnLst>
                                </p:cTn>
                              </p:par>
                            </p:childTnLst>
                          </p:cTn>
                        </p:par>
                        <p:par>
                          <p:cTn id="32" fill="hold">
                            <p:stCondLst>
                              <p:cond delay="1000"/>
                            </p:stCondLst>
                            <p:childTnLst>
                              <p:par>
                                <p:cTn id="33" presetID="17" presetClass="entr" presetSubtype="1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p:cTn id="35" dur="1000" fill="hold"/>
                                        <p:tgtEl>
                                          <p:spTgt spid="30"/>
                                        </p:tgtEl>
                                        <p:attrNameLst>
                                          <p:attrName>ppt_w</p:attrName>
                                        </p:attrNameLst>
                                      </p:cBhvr>
                                      <p:tavLst>
                                        <p:tav tm="0">
                                          <p:val>
                                            <p:fltVal val="0"/>
                                          </p:val>
                                        </p:tav>
                                        <p:tav tm="100000">
                                          <p:val>
                                            <p:strVal val="#ppt_w"/>
                                          </p:val>
                                        </p:tav>
                                      </p:tavLst>
                                    </p:anim>
                                    <p:anim calcmode="lin" valueType="num">
                                      <p:cBhvr>
                                        <p:cTn id="36" dur="1000" fill="hold"/>
                                        <p:tgtEl>
                                          <p:spTgt spid="30"/>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1000"/>
                                        <p:tgtEl>
                                          <p:spTgt spid="50"/>
                                        </p:tgtEl>
                                      </p:cBhvr>
                                    </p:animEffect>
                                    <p:anim calcmode="lin" valueType="num">
                                      <p:cBhvr>
                                        <p:cTn id="42" dur="1000" fill="hold"/>
                                        <p:tgtEl>
                                          <p:spTgt spid="50"/>
                                        </p:tgtEl>
                                        <p:attrNameLst>
                                          <p:attrName>ppt_x</p:attrName>
                                        </p:attrNameLst>
                                      </p:cBhvr>
                                      <p:tavLst>
                                        <p:tav tm="0">
                                          <p:val>
                                            <p:strVal val="#ppt_x"/>
                                          </p:val>
                                        </p:tav>
                                        <p:tav tm="100000">
                                          <p:val>
                                            <p:strVal val="#ppt_x"/>
                                          </p:val>
                                        </p:tav>
                                      </p:tavLst>
                                    </p:anim>
                                    <p:anim calcmode="lin" valueType="num">
                                      <p:cBhvr>
                                        <p:cTn id="43"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1000"/>
                                        <p:tgtEl>
                                          <p:spTgt spid="46"/>
                                        </p:tgtEl>
                                      </p:cBhvr>
                                    </p:animEffect>
                                    <p:anim calcmode="lin" valueType="num">
                                      <p:cBhvr>
                                        <p:cTn id="49" dur="1000" fill="hold"/>
                                        <p:tgtEl>
                                          <p:spTgt spid="46"/>
                                        </p:tgtEl>
                                        <p:attrNameLst>
                                          <p:attrName>ppt_x</p:attrName>
                                        </p:attrNameLst>
                                      </p:cBhvr>
                                      <p:tavLst>
                                        <p:tav tm="0">
                                          <p:val>
                                            <p:strVal val="#ppt_x"/>
                                          </p:val>
                                        </p:tav>
                                        <p:tav tm="100000">
                                          <p:val>
                                            <p:strVal val="#ppt_x"/>
                                          </p:val>
                                        </p:tav>
                                      </p:tavLst>
                                    </p:anim>
                                    <p:anim calcmode="lin" valueType="num">
                                      <p:cBhvr>
                                        <p:cTn id="50"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1000"/>
                                        <p:tgtEl>
                                          <p:spTgt spid="41"/>
                                        </p:tgtEl>
                                      </p:cBhvr>
                                    </p:animEffect>
                                    <p:anim calcmode="lin" valueType="num">
                                      <p:cBhvr>
                                        <p:cTn id="56" dur="1000" fill="hold"/>
                                        <p:tgtEl>
                                          <p:spTgt spid="41"/>
                                        </p:tgtEl>
                                        <p:attrNameLst>
                                          <p:attrName>ppt_x</p:attrName>
                                        </p:attrNameLst>
                                      </p:cBhvr>
                                      <p:tavLst>
                                        <p:tav tm="0">
                                          <p:val>
                                            <p:strVal val="#ppt_x"/>
                                          </p:val>
                                        </p:tav>
                                        <p:tav tm="100000">
                                          <p:val>
                                            <p:strVal val="#ppt_x"/>
                                          </p:val>
                                        </p:tav>
                                      </p:tavLst>
                                    </p:anim>
                                    <p:anim calcmode="lin" valueType="num">
                                      <p:cBhvr>
                                        <p:cTn id="5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9" grpId="0" animBg="1"/>
      <p:bldP spid="30"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22"/>
          <p:cNvGrpSpPr/>
          <p:nvPr/>
        </p:nvGrpSpPr>
        <p:grpSpPr>
          <a:xfrm>
            <a:off x="392432" y="778617"/>
            <a:ext cx="4042408" cy="420971"/>
            <a:chOff x="670560" y="892917"/>
            <a:chExt cx="4042408" cy="420971"/>
          </a:xfrm>
        </p:grpSpPr>
        <p:sp>
          <p:nvSpPr>
            <p:cNvPr id="35" name="矩形 34"/>
            <p:cNvSpPr/>
            <p:nvPr/>
          </p:nvSpPr>
          <p:spPr>
            <a:xfrm>
              <a:off x="1035232" y="913778"/>
              <a:ext cx="3677736" cy="400110"/>
            </a:xfrm>
            <a:prstGeom prst="rect">
              <a:avLst/>
            </a:prstGeom>
          </p:spPr>
          <p:txBody>
            <a:bodyPr wrap="square">
              <a:spAutoFit/>
            </a:bodyPr>
            <a:lstStyle/>
            <a:p>
              <a:r>
                <a:rPr lang="en-US" altLang="zh-CN" sz="2000" b="1" i="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SR</a:t>
              </a:r>
              <a:r>
                <a:rPr lang="zh-CN" altLang="en-US" sz="2000" b="1" dirty="0">
                  <a:solidFill>
                    <a:srgbClr val="002060"/>
                  </a:solidFill>
                  <a:latin typeface="微软雅黑" panose="020B0503020204020204" pitchFamily="34" charset="-122"/>
                  <a:ea typeface="微软雅黑" panose="020B0503020204020204" pitchFamily="34" charset="-122"/>
                </a:rPr>
                <a:t>触发器</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SR</a:t>
              </a:r>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et-</a:t>
              </a:r>
              <a:r>
                <a:rPr lang="en-US" altLang="zh-CN" sz="1600" i="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R</a:t>
              </a:r>
              <a:r>
                <a:rPr lang="en-US" altLang="zh-CN" sz="16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eset</a:t>
              </a:r>
              <a:r>
                <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7" name="Rectangle 9"/>
          <p:cNvSpPr>
            <a:spLocks noChangeArrowheads="1"/>
          </p:cNvSpPr>
          <p:nvPr/>
        </p:nvSpPr>
        <p:spPr bwMode="auto">
          <a:xfrm>
            <a:off x="763588" y="1279525"/>
            <a:ext cx="28829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rPr>
              <a:t>1</a:t>
            </a:r>
            <a:r>
              <a:rPr lang="zh-CN" altLang="en-US" sz="1600" dirty="0">
                <a:solidFill>
                  <a:srgbClr val="FF0000"/>
                </a:solidFill>
                <a:latin typeface="微软雅黑" panose="020B0503020204020204" pitchFamily="34" charset="-122"/>
                <a:ea typeface="微软雅黑" panose="020B0503020204020204" pitchFamily="34" charset="-122"/>
              </a:rPr>
              <a:t>、特性表 </a:t>
            </a:r>
            <a:endParaRPr lang="zh-CN" altLang="en-US" sz="1600" dirty="0">
              <a:solidFill>
                <a:srgbClr val="FF0000"/>
              </a:solidFill>
              <a:latin typeface="微软雅黑" panose="020B0503020204020204" pitchFamily="34" charset="-122"/>
              <a:ea typeface="微软雅黑" panose="020B0503020204020204" pitchFamily="34" charset="-122"/>
            </a:endParaRPr>
          </a:p>
        </p:txBody>
      </p:sp>
      <p:sp>
        <p:nvSpPr>
          <p:cNvPr id="38" name="Rectangle 135"/>
          <p:cNvSpPr>
            <a:spLocks noChangeArrowheads="1"/>
          </p:cNvSpPr>
          <p:nvPr/>
        </p:nvSpPr>
        <p:spPr bwMode="auto">
          <a:xfrm>
            <a:off x="3171508" y="1287145"/>
            <a:ext cx="251460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、特性方程</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Rectangle 138"/>
          <p:cNvSpPr>
            <a:spLocks noChangeArrowheads="1"/>
          </p:cNvSpPr>
          <p:nvPr/>
        </p:nvSpPr>
        <p:spPr bwMode="auto">
          <a:xfrm>
            <a:off x="3138488" y="2941955"/>
            <a:ext cx="2495550" cy="338554"/>
          </a:xfrm>
          <a:prstGeom prst="rect">
            <a:avLst/>
          </a:prstGeom>
          <a:noFill/>
          <a:ln w="9525" algn="ctr">
            <a:noFill/>
            <a:miter lim="800000"/>
          </a:ln>
        </p:spPr>
        <p:txBody>
          <a:bodyPr>
            <a:spAutoFit/>
          </a:bodyPr>
          <a:lstStyle/>
          <a:p>
            <a:pPr algn="l"/>
            <a:r>
              <a:rPr lang="en-US" altLang="zh-CN"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、状态图</a:t>
            </a:r>
            <a:endPar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1" name="组合 30"/>
          <p:cNvGrpSpPr/>
          <p:nvPr/>
        </p:nvGrpSpPr>
        <p:grpSpPr>
          <a:xfrm>
            <a:off x="7499350" y="820420"/>
            <a:ext cx="1385570" cy="1191260"/>
            <a:chOff x="7499350" y="820420"/>
            <a:chExt cx="1385570" cy="1191260"/>
          </a:xfrm>
        </p:grpSpPr>
        <p:sp>
          <p:nvSpPr>
            <p:cNvPr id="33" name="圆角矩形 32"/>
            <p:cNvSpPr/>
            <p:nvPr/>
          </p:nvSpPr>
          <p:spPr>
            <a:xfrm>
              <a:off x="7499350" y="820420"/>
              <a:ext cx="1385570" cy="1191260"/>
            </a:xfrm>
            <a:prstGeom prst="roundRect">
              <a:avLst>
                <a:gd name="adj" fmla="val 14108"/>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7643495" y="945198"/>
              <a:ext cx="1111250" cy="961827"/>
              <a:chOff x="6449695" y="1592898"/>
              <a:chExt cx="1111250" cy="961827"/>
            </a:xfrm>
          </p:grpSpPr>
          <p:sp>
            <p:nvSpPr>
              <p:cNvPr id="11" name="Rectangle 21"/>
              <p:cNvSpPr>
                <a:spLocks noChangeArrowheads="1"/>
              </p:cNvSpPr>
              <p:nvPr/>
            </p:nvSpPr>
            <p:spPr bwMode="auto">
              <a:xfrm>
                <a:off x="6532562" y="2246948"/>
                <a:ext cx="966931" cy="307777"/>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none">
                <a:spAutoFit/>
              </a:bodyPr>
              <a:lstStyle/>
              <a:p>
                <a:pPr>
                  <a:defRPr/>
                </a:pPr>
                <a:r>
                  <a:rPr lang="en-US" altLang="zh-CN" sz="1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SR </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2" name="Group 72"/>
              <p:cNvGrpSpPr/>
              <p:nvPr/>
            </p:nvGrpSpPr>
            <p:grpSpPr bwMode="auto">
              <a:xfrm>
                <a:off x="6449688" y="1592888"/>
                <a:ext cx="1111249" cy="636586"/>
                <a:chOff x="9741" y="9757"/>
                <a:chExt cx="1748" cy="1004"/>
              </a:xfrm>
            </p:grpSpPr>
            <p:grpSp>
              <p:nvGrpSpPr>
                <p:cNvPr id="13" name="Group 73"/>
                <p:cNvGrpSpPr/>
                <p:nvPr/>
              </p:nvGrpSpPr>
              <p:grpSpPr bwMode="auto">
                <a:xfrm>
                  <a:off x="10110" y="9911"/>
                  <a:ext cx="456" cy="653"/>
                  <a:chOff x="8255" y="9911"/>
                  <a:chExt cx="308" cy="653"/>
                </a:xfrm>
              </p:grpSpPr>
              <p:sp>
                <p:nvSpPr>
                  <p:cNvPr id="28" name="Line 74"/>
                  <p:cNvSpPr>
                    <a:spLocks noChangeShapeType="1"/>
                  </p:cNvSpPr>
                  <p:nvPr/>
                </p:nvSpPr>
                <p:spPr bwMode="auto">
                  <a:xfrm flipH="1">
                    <a:off x="8255" y="9911"/>
                    <a:ext cx="19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29" name="Line 75"/>
                  <p:cNvSpPr>
                    <a:spLocks noChangeShapeType="1"/>
                  </p:cNvSpPr>
                  <p:nvPr/>
                </p:nvSpPr>
                <p:spPr bwMode="auto">
                  <a:xfrm flipH="1">
                    <a:off x="8255" y="10236"/>
                    <a:ext cx="308"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30" name="Line 76"/>
                  <p:cNvSpPr>
                    <a:spLocks noChangeShapeType="1"/>
                  </p:cNvSpPr>
                  <p:nvPr/>
                </p:nvSpPr>
                <p:spPr bwMode="auto">
                  <a:xfrm flipH="1">
                    <a:off x="8258" y="10564"/>
                    <a:ext cx="19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sp>
              <p:nvSpPr>
                <p:cNvPr id="14" name="Line 77"/>
                <p:cNvSpPr>
                  <a:spLocks noChangeShapeType="1"/>
                </p:cNvSpPr>
                <p:nvPr/>
              </p:nvSpPr>
              <p:spPr bwMode="auto">
                <a:xfrm flipH="1">
                  <a:off x="11016" y="9909"/>
                  <a:ext cx="225"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5" name="Line 78"/>
                <p:cNvSpPr>
                  <a:spLocks noChangeShapeType="1"/>
                </p:cNvSpPr>
                <p:nvPr/>
              </p:nvSpPr>
              <p:spPr bwMode="auto">
                <a:xfrm flipH="1">
                  <a:off x="11021" y="10561"/>
                  <a:ext cx="227" cy="0"/>
                </a:xfrm>
                <a:prstGeom prst="line">
                  <a:avLst/>
                </a:prstGeom>
                <a:noFill/>
                <a:ln w="9525">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6" name="Rectangle 79"/>
                <p:cNvSpPr>
                  <a:spLocks noChangeArrowheads="1"/>
                </p:cNvSpPr>
                <p:nvPr/>
              </p:nvSpPr>
              <p:spPr bwMode="auto">
                <a:xfrm>
                  <a:off x="10326" y="9757"/>
                  <a:ext cx="716" cy="952"/>
                </a:xfrm>
                <a:prstGeom prst="rect">
                  <a:avLst/>
                </a:prstGeom>
                <a:solidFill>
                  <a:srgbClr val="FFFFFF"/>
                </a:solidFill>
                <a:ln w="19050">
                  <a:solidFill>
                    <a:srgbClr val="000000"/>
                  </a:solidFill>
                  <a:miter lim="800000"/>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7" name="Oval 80"/>
                <p:cNvSpPr>
                  <a:spLocks noChangeArrowheads="1"/>
                </p:cNvSpPr>
                <p:nvPr/>
              </p:nvSpPr>
              <p:spPr bwMode="auto">
                <a:xfrm>
                  <a:off x="11047" y="10520"/>
                  <a:ext cx="85" cy="85"/>
                </a:xfrm>
                <a:prstGeom prst="ellipse">
                  <a:avLst/>
                </a:prstGeom>
                <a:solidFill>
                  <a:srgbClr val="FFFFFF"/>
                </a:solid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sp>
              <p:nvSpPr>
                <p:cNvPr id="18" name="Text Box 81"/>
                <p:cNvSpPr txBox="1">
                  <a:spLocks noChangeArrowheads="1"/>
                </p:cNvSpPr>
                <p:nvPr/>
              </p:nvSpPr>
              <p:spPr bwMode="auto">
                <a:xfrm>
                  <a:off x="10338" y="9795"/>
                  <a:ext cx="303" cy="25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Text Box 82"/>
                <p:cNvSpPr txBox="1">
                  <a:spLocks noChangeArrowheads="1"/>
                </p:cNvSpPr>
                <p:nvPr/>
              </p:nvSpPr>
              <p:spPr bwMode="auto">
                <a:xfrm>
                  <a:off x="10459" y="10136"/>
                  <a:ext cx="350" cy="31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C1</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Text Box 83"/>
                <p:cNvSpPr txBox="1">
                  <a:spLocks noChangeArrowheads="1"/>
                </p:cNvSpPr>
                <p:nvPr/>
              </p:nvSpPr>
              <p:spPr bwMode="auto">
                <a:xfrm>
                  <a:off x="10338" y="10450"/>
                  <a:ext cx="268" cy="207"/>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1" name="Text Box 84"/>
                <p:cNvSpPr txBox="1">
                  <a:spLocks noChangeArrowheads="1"/>
                </p:cNvSpPr>
                <p:nvPr/>
              </p:nvSpPr>
              <p:spPr bwMode="auto">
                <a:xfrm>
                  <a:off x="11234" y="9800"/>
                  <a:ext cx="255" cy="28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2" name="Text Box 85"/>
                <p:cNvSpPr txBox="1">
                  <a:spLocks noChangeArrowheads="1"/>
                </p:cNvSpPr>
                <p:nvPr/>
              </p:nvSpPr>
              <p:spPr bwMode="auto">
                <a:xfrm>
                  <a:off x="10301" y="10115"/>
                  <a:ext cx="203" cy="250"/>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Text Box 86"/>
                <p:cNvSpPr txBox="1">
                  <a:spLocks noChangeArrowheads="1"/>
                </p:cNvSpPr>
                <p:nvPr/>
              </p:nvSpPr>
              <p:spPr bwMode="auto">
                <a:xfrm>
                  <a:off x="9875" y="9770"/>
                  <a:ext cx="214" cy="208"/>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Text Box 87"/>
                <p:cNvSpPr txBox="1">
                  <a:spLocks noChangeArrowheads="1"/>
                </p:cNvSpPr>
                <p:nvPr/>
              </p:nvSpPr>
              <p:spPr bwMode="auto">
                <a:xfrm>
                  <a:off x="9741" y="10119"/>
                  <a:ext cx="348" cy="24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CP</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Text Box 88"/>
                <p:cNvSpPr txBox="1">
                  <a:spLocks noChangeArrowheads="1"/>
                </p:cNvSpPr>
                <p:nvPr/>
              </p:nvSpPr>
              <p:spPr bwMode="auto">
                <a:xfrm>
                  <a:off x="9833" y="10432"/>
                  <a:ext cx="256" cy="285"/>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6" name="Text Box 89"/>
                <p:cNvSpPr txBox="1">
                  <a:spLocks noChangeArrowheads="1"/>
                </p:cNvSpPr>
                <p:nvPr/>
              </p:nvSpPr>
              <p:spPr bwMode="auto">
                <a:xfrm>
                  <a:off x="11277" y="10455"/>
                  <a:ext cx="210" cy="306"/>
                </a:xfrm>
                <a:prstGeom prst="rect">
                  <a:avLst/>
                </a:prstGeom>
                <a:noFill/>
                <a:ln w="9525">
                  <a:noFill/>
                  <a:miter lim="800000"/>
                </a:ln>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Q</a:t>
                  </a:r>
                  <a:endParaRPr kumimoji="0"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27" name="Line 90"/>
                <p:cNvSpPr>
                  <a:spLocks noChangeShapeType="1"/>
                </p:cNvSpPr>
                <p:nvPr/>
              </p:nvSpPr>
              <p:spPr bwMode="auto">
                <a:xfrm>
                  <a:off x="11317" y="10467"/>
                  <a:ext cx="170" cy="0"/>
                </a:xfrm>
                <a:prstGeom prst="line">
                  <a:avLst/>
                </a:prstGeom>
                <a:noFill/>
                <a:ln w="12700">
                  <a:solidFill>
                    <a:srgbClr val="000000"/>
                  </a:solidFill>
                  <a:round/>
                </a:ln>
              </p:spPr>
              <p:txBody>
                <a:bodyPr vert="horz" wrap="square" lIns="91440" tIns="45720" rIns="91440" bIns="45720" numCol="1" anchor="t" anchorCtr="0" compatLnSpc="1"/>
                <a:lstStyle/>
                <a:p>
                  <a:endParaRPr lang="zh-CN" altLang="en-US">
                    <a:latin typeface="Times New Roman" panose="02020603050405020304" pitchFamily="18" charset="0"/>
                    <a:cs typeface="Times New Roman" panose="02020603050405020304" pitchFamily="18" charset="0"/>
                  </a:endParaRPr>
                </a:p>
              </p:txBody>
            </p:sp>
          </p:grpSp>
        </p:grpSp>
      </p:grpSp>
      <p:graphicFrame>
        <p:nvGraphicFramePr>
          <p:cNvPr id="32" name="Group 56"/>
          <p:cNvGraphicFramePr>
            <a:graphicFrameLocks noGrp="1"/>
          </p:cNvGraphicFramePr>
          <p:nvPr/>
        </p:nvGraphicFramePr>
        <p:xfrm>
          <a:off x="914400" y="1692275"/>
          <a:ext cx="2006602" cy="2052000"/>
        </p:xfrm>
        <a:graphic>
          <a:graphicData uri="http://schemas.openxmlformats.org/drawingml/2006/table">
            <a:tbl>
              <a:tblPr/>
              <a:tblGrid>
                <a:gridCol w="467387"/>
                <a:gridCol w="467387"/>
                <a:gridCol w="467387"/>
                <a:gridCol w="604441"/>
              </a:tblGrid>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S</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R</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algn="ctr"/>
                      <a:r>
                        <a:rPr kumimoji="1" lang="en-US" altLang="zh-CN" sz="14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1" lang="en-US" altLang="zh-CN" sz="1400" b="1" i="1"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endParaRPr lang="zh-CN" altLang="en-US" sz="1400" dirty="0"/>
                    </a:p>
                  </a:txBody>
                  <a:tcPr marL="0" marR="0" marT="0" marB="0" anchor="ctr" horzOverflow="overflow">
                    <a:lnL>
                      <a:noFill/>
                    </a:lnL>
                    <a:lnR w="952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1"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Q</a:t>
                      </a:r>
                      <a:r>
                        <a:rPr kumimoji="1" lang="en-US" altLang="zh-CN" sz="1400" b="1" i="1" u="none" strike="noStrike" cap="none" normalizeH="0" baseline="30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n</a:t>
                      </a:r>
                      <a:r>
                        <a:rPr kumimoji="1" lang="en-US" altLang="zh-CN" sz="1400" b="1" i="0" u="none" strike="noStrike" cap="none" normalizeH="0" baseline="30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a:noFill/>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solidFill>
                        <a:srgbClr val="CC00CC"/>
                      </a:solidFill>
                      <a:prstDash val="sysDot"/>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solidFill>
                        <a:srgbClr val="CC00CC"/>
                      </a:solidFill>
                      <a:prstDash val="sysDot"/>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a:noFill/>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zh-CN" altLang="en-US"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a:noFill/>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noFill/>
                      <a:prstDash val="solid"/>
                      <a:round/>
                      <a:headEnd type="none" w="med" len="med"/>
                      <a:tailEnd type="none" w="med" len="med"/>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CC00CC"/>
                      </a:solidFill>
                      <a:prstDash val="sysDot"/>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 pos="5255895" algn="r"/>
                        </a:tabLst>
                      </a:pPr>
                      <a:r>
                        <a:rPr kumimoji="1" lang="zh-CN" altLang="en-US"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禁止态</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solidFill>
                        <a:srgbClr val="CC00CC"/>
                      </a:solidFill>
                      <a:prstDash val="sysDot"/>
                      <a:round/>
                      <a:headEnd type="none" w="med" len="med"/>
                      <a:tailEnd type="none" w="med" len="med"/>
                    </a:lnT>
                    <a:lnB w="9525" cap="flat" cmpd="sng" algn="ctr">
                      <a:noFill/>
                      <a:prstDash val="solid"/>
                      <a:round/>
                      <a:headEnd type="none" w="med" len="med"/>
                      <a:tailEnd type="none" w="med" len="med"/>
                    </a:lnB>
                    <a:lnTlToBr>
                      <a:noFill/>
                    </a:lnTlToBr>
                    <a:lnBlToTr>
                      <a:noFill/>
                    </a:lnBlToTr>
                    <a:solidFill>
                      <a:srgbClr val="FFFFFF"/>
                    </a:solidFill>
                  </a:tcPr>
                </a:tc>
              </a:tr>
              <a:tr h="228000">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9050" cap="flat" cmpd="sng" algn="ctr">
                      <a:solidFill>
                        <a:schemeClr val="tx1"/>
                      </a:solidFill>
                      <a:prstDash val="solid"/>
                      <a:round/>
                      <a:headEnd type="none" w="med" len="med"/>
                      <a:tailEnd type="none" w="med" len="med"/>
                    </a:lnL>
                    <a:lnR>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pPr>
                      <a:r>
                        <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9525"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tab pos="5130800" algn="r"/>
                        </a:tabLst>
                        <a:defRPr/>
                      </a:pPr>
                      <a:r>
                        <a:rPr kumimoji="1" lang="zh-CN" altLang="en-US"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不定态</a:t>
                      </a:r>
                      <a:endParaRPr kumimoji="1" lang="zh-CN" altLang="en-US"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952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40" name="Group 205"/>
          <p:cNvGrpSpPr/>
          <p:nvPr/>
        </p:nvGrpSpPr>
        <p:grpSpPr bwMode="auto">
          <a:xfrm>
            <a:off x="3594101" y="1795465"/>
            <a:ext cx="2166938" cy="787400"/>
            <a:chOff x="1746" y="3035"/>
            <a:chExt cx="1365" cy="496"/>
          </a:xfrm>
        </p:grpSpPr>
        <p:graphicFrame>
          <p:nvGraphicFramePr>
            <p:cNvPr id="42" name="Object 206"/>
            <p:cNvGraphicFramePr>
              <a:graphicFrameLocks noChangeAspect="1"/>
            </p:cNvGraphicFramePr>
            <p:nvPr/>
          </p:nvGraphicFramePr>
          <p:xfrm>
            <a:off x="1834" y="3035"/>
            <a:ext cx="1008" cy="253"/>
          </p:xfrm>
          <a:graphic>
            <a:graphicData uri="http://schemas.openxmlformats.org/presentationml/2006/ole">
              <mc:AlternateContent xmlns:mc="http://schemas.openxmlformats.org/markup-compatibility/2006">
                <mc:Choice xmlns:v="urn:schemas-microsoft-com:vml" Requires="v">
                  <p:oleObj spid="_x0000_s32776" name="Equation" r:id="rId2" imgW="22860000" imgH="5791200" progId="Equation.DSMT4">
                    <p:embed/>
                  </p:oleObj>
                </mc:Choice>
                <mc:Fallback>
                  <p:oleObj name="Equation" r:id="rId2" imgW="22860000" imgH="5791200" progId="Equation.DSMT4">
                    <p:embed/>
                    <p:pic>
                      <p:nvPicPr>
                        <p:cNvPr id="0" name="Object 2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 y="3035"/>
                          <a:ext cx="1008"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 name="AutoShape 207"/>
            <p:cNvSpPr/>
            <p:nvPr/>
          </p:nvSpPr>
          <p:spPr bwMode="auto">
            <a:xfrm>
              <a:off x="1746" y="3067"/>
              <a:ext cx="60" cy="453"/>
            </a:xfrm>
            <a:prstGeom prst="leftBrace">
              <a:avLst>
                <a:gd name="adj1" fmla="val 75556"/>
                <a:gd name="adj2" fmla="val 50000"/>
              </a:avLst>
            </a:prstGeom>
            <a:noFill/>
            <a:ln w="28575">
              <a:solidFill>
                <a:schemeClr val="tx1">
                  <a:lumMod val="10000"/>
                </a:schemeClr>
              </a:solidFill>
              <a:round/>
            </a:ln>
          </p:spPr>
          <p:txBody>
            <a:bodyPr/>
            <a:lstStyle/>
            <a:p>
              <a:pPr>
                <a:defRPr/>
              </a:pPr>
              <a:endParaRPr lang="zh-CN" altLang="en-US">
                <a:solidFill>
                  <a:srgbClr val="000000"/>
                </a:solidFill>
                <a:effectLst>
                  <a:outerShdw blurRad="38100" dist="38100" dir="2700000" algn="tl">
                    <a:srgbClr val="C0C0C0"/>
                  </a:outerShdw>
                </a:effectLst>
              </a:endParaRPr>
            </a:p>
          </p:txBody>
        </p:sp>
        <p:sp>
          <p:nvSpPr>
            <p:cNvPr id="44" name="Rectangle 208"/>
            <p:cNvSpPr>
              <a:spLocks noChangeArrowheads="1"/>
            </p:cNvSpPr>
            <p:nvPr/>
          </p:nvSpPr>
          <p:spPr bwMode="auto">
            <a:xfrm>
              <a:off x="1806" y="3298"/>
              <a:ext cx="1305" cy="233"/>
            </a:xfrm>
            <a:prstGeom prst="rect">
              <a:avLst/>
            </a:prstGeom>
            <a:noFill/>
            <a:ln w="9525">
              <a:noFill/>
              <a:miter lim="800000"/>
            </a:ln>
          </p:spPr>
          <p:txBody>
            <a:bodyPr wrap="none">
              <a:spAutoFit/>
            </a:bodyPr>
            <a:lstStyle/>
            <a:p>
              <a:r>
                <a:rPr kumimoji="1" lang="en-US" altLang="zh-CN" i="1" dirty="0">
                  <a:solidFill>
                    <a:srgbClr val="000000"/>
                  </a:solidFill>
                  <a:latin typeface="Times New Roman" panose="02020603050405020304" pitchFamily="18" charset="0"/>
                  <a:cs typeface="Times New Roman" panose="02020603050405020304" pitchFamily="18" charset="0"/>
                </a:rPr>
                <a:t>SR</a:t>
              </a:r>
              <a:r>
                <a:rPr kumimoji="1" lang="en-US" altLang="zh-CN" dirty="0">
                  <a:solidFill>
                    <a:srgbClr val="000000"/>
                  </a:solidFill>
                  <a:latin typeface="Times New Roman" panose="02020603050405020304" pitchFamily="18" charset="0"/>
                  <a:cs typeface="Times New Roman" panose="02020603050405020304" pitchFamily="18" charset="0"/>
                </a:rPr>
                <a:t>=0</a:t>
              </a:r>
              <a:r>
                <a:rPr kumimoji="1" lang="zh-CN" altLang="en-US" dirty="0">
                  <a:solidFill>
                    <a:srgbClr val="000000"/>
                  </a:solidFill>
                  <a:latin typeface="Times New Roman" panose="02020603050405020304" pitchFamily="18" charset="0"/>
                  <a:cs typeface="Times New Roman" panose="02020603050405020304" pitchFamily="18" charset="0"/>
                </a:rPr>
                <a:t>（约束条件）</a:t>
              </a:r>
              <a:endParaRPr kumimoji="1" lang="zh-CN" altLang="en-US" dirty="0">
                <a:solidFill>
                  <a:srgbClr val="000000"/>
                </a:solidFill>
                <a:latin typeface="Times New Roman" panose="02020603050405020304" pitchFamily="18" charset="0"/>
                <a:cs typeface="Times New Roman" panose="02020603050405020304" pitchFamily="18" charset="0"/>
              </a:endParaRPr>
            </a:p>
          </p:txBody>
        </p:sp>
      </p:grpSp>
      <p:grpSp>
        <p:nvGrpSpPr>
          <p:cNvPr id="55" name="组合 54"/>
          <p:cNvGrpSpPr/>
          <p:nvPr/>
        </p:nvGrpSpPr>
        <p:grpSpPr>
          <a:xfrm>
            <a:off x="749571" y="3848100"/>
            <a:ext cx="2368279" cy="1169988"/>
            <a:chOff x="749571" y="3848100"/>
            <a:chExt cx="2368279" cy="1169988"/>
          </a:xfrm>
        </p:grpSpPr>
        <p:grpSp>
          <p:nvGrpSpPr>
            <p:cNvPr id="52" name="组合 51"/>
            <p:cNvGrpSpPr/>
            <p:nvPr/>
          </p:nvGrpSpPr>
          <p:grpSpPr>
            <a:xfrm>
              <a:off x="749571" y="3848100"/>
              <a:ext cx="2368279" cy="1169988"/>
              <a:chOff x="749571" y="3848100"/>
              <a:chExt cx="2368279" cy="1169988"/>
            </a:xfrm>
          </p:grpSpPr>
          <p:grpSp>
            <p:nvGrpSpPr>
              <p:cNvPr id="39" name="组合 38"/>
              <p:cNvGrpSpPr/>
              <p:nvPr/>
            </p:nvGrpSpPr>
            <p:grpSpPr>
              <a:xfrm>
                <a:off x="820739" y="3848100"/>
                <a:ext cx="2297111" cy="1169988"/>
                <a:chOff x="3621088" y="1539875"/>
                <a:chExt cx="3014663" cy="1643063"/>
              </a:xfrm>
            </p:grpSpPr>
            <p:graphicFrame>
              <p:nvGraphicFramePr>
                <p:cNvPr id="45" name="Object 9"/>
                <p:cNvGraphicFramePr>
                  <a:graphicFrameLocks noChangeAspect="1"/>
                </p:cNvGraphicFramePr>
                <p:nvPr/>
              </p:nvGraphicFramePr>
              <p:xfrm>
                <a:off x="3621088" y="1539875"/>
                <a:ext cx="3014663" cy="1643063"/>
              </p:xfrm>
              <a:graphic>
                <a:graphicData uri="http://schemas.openxmlformats.org/presentationml/2006/ole">
                  <mc:AlternateContent xmlns:mc="http://schemas.openxmlformats.org/markup-compatibility/2006">
                    <mc:Choice xmlns:v="urn:schemas-microsoft-com:vml" Requires="v">
                      <p:oleObj spid="_x0000_s32777" name="Visio" r:id="rId4" imgW="1514475" imgH="838200" progId="Visio.Drawing.11">
                        <p:embed/>
                      </p:oleObj>
                    </mc:Choice>
                    <mc:Fallback>
                      <p:oleObj name="Visio" r:id="rId4" imgW="1514475" imgH="838200" progId="Visio.Drawing.11">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21088" y="1539875"/>
                              <a:ext cx="3014663" cy="1643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TextBox 45"/>
                <p:cNvSpPr txBox="1"/>
                <p:nvPr/>
              </p:nvSpPr>
              <p:spPr>
                <a:xfrm>
                  <a:off x="5470532" y="2633759"/>
                  <a:ext cx="415498" cy="369332"/>
                </a:xfrm>
                <a:prstGeom prst="rect">
                  <a:avLst/>
                </a:prstGeom>
                <a:noFill/>
              </p:spPr>
              <p:txBody>
                <a:bodyPr wrap="none" rtlCol="0">
                  <a:spAutoFit/>
                </a:bodyPr>
                <a:lstStyle/>
                <a:p>
                  <a:r>
                    <a:rPr lang="en-US" altLang="zh-CN" b="1" dirty="0"/>
                    <a:t>×</a:t>
                  </a:r>
                  <a:endParaRPr lang="zh-CN" altLang="en-US" b="1" dirty="0"/>
                </a:p>
              </p:txBody>
            </p:sp>
            <p:sp>
              <p:nvSpPr>
                <p:cNvPr id="47" name="TextBox 46"/>
                <p:cNvSpPr txBox="1"/>
                <p:nvPr/>
              </p:nvSpPr>
              <p:spPr>
                <a:xfrm>
                  <a:off x="6022981" y="2633759"/>
                  <a:ext cx="415498" cy="369332"/>
                </a:xfrm>
                <a:prstGeom prst="rect">
                  <a:avLst/>
                </a:prstGeom>
                <a:noFill/>
              </p:spPr>
              <p:txBody>
                <a:bodyPr wrap="none" rtlCol="0">
                  <a:spAutoFit/>
                </a:bodyPr>
                <a:lstStyle/>
                <a:p>
                  <a:r>
                    <a:rPr lang="en-US" altLang="zh-CN" b="1" dirty="0"/>
                    <a:t>×</a:t>
                  </a:r>
                  <a:endParaRPr lang="zh-CN" altLang="en-US" b="1" dirty="0"/>
                </a:p>
              </p:txBody>
            </p:sp>
          </p:grpSp>
          <p:sp>
            <p:nvSpPr>
              <p:cNvPr id="48" name="矩形 47"/>
              <p:cNvSpPr/>
              <p:nvPr/>
            </p:nvSpPr>
            <p:spPr>
              <a:xfrm>
                <a:off x="749571" y="3872984"/>
                <a:ext cx="439544" cy="261610"/>
              </a:xfrm>
              <a:prstGeom prst="rect">
                <a:avLst/>
              </a:prstGeom>
            </p:spPr>
            <p:txBody>
              <a:bodyPr wrap="none">
                <a:spAutoFit/>
              </a:bodyPr>
              <a:lstStyle/>
              <a:p>
                <a:r>
                  <a:rPr kumimoji="1" lang="en-US" altLang="zh-CN" sz="1100"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Q</a:t>
                </a:r>
                <a:r>
                  <a:rPr kumimoji="1" lang="en-US" altLang="zh-CN" sz="1100" b="1" i="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n</a:t>
                </a:r>
                <a:r>
                  <a:rPr kumimoji="1" lang="en-US" altLang="zh-CN" sz="1100" b="1" baseline="30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+1</a:t>
                </a:r>
                <a:endParaRPr lang="zh-CN" altLang="en-US" sz="1100" dirty="0"/>
              </a:p>
            </p:txBody>
          </p:sp>
          <p:sp>
            <p:nvSpPr>
              <p:cNvPr id="49" name="椭圆 48"/>
              <p:cNvSpPr/>
              <p:nvPr/>
            </p:nvSpPr>
            <p:spPr>
              <a:xfrm>
                <a:off x="824359" y="3848100"/>
                <a:ext cx="288000" cy="288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a:p>
            </p:txBody>
          </p:sp>
          <p:sp>
            <p:nvSpPr>
              <p:cNvPr id="50" name="矩形 49"/>
              <p:cNvSpPr/>
              <p:nvPr/>
            </p:nvSpPr>
            <p:spPr>
              <a:xfrm>
                <a:off x="973227" y="4114284"/>
                <a:ext cx="261610" cy="276999"/>
              </a:xfrm>
              <a:prstGeom prst="rect">
                <a:avLst/>
              </a:prstGeom>
            </p:spPr>
            <p:txBody>
              <a:bodyPr wrap="none">
                <a:spAutoFit/>
              </a:bodyPr>
              <a:lstStyle/>
              <a:p>
                <a:r>
                  <a:rPr kumimoji="1" lang="en-US" altLang="zh-CN" sz="1200" i="1" dirty="0">
                    <a:solidFill>
                      <a:srgbClr val="000000"/>
                    </a:solidFill>
                    <a:latin typeface="Times New Roman" panose="02020603050405020304" pitchFamily="18" charset="0"/>
                    <a:cs typeface="Times New Roman" panose="02020603050405020304" pitchFamily="18" charset="0"/>
                  </a:rPr>
                  <a:t>S</a:t>
                </a:r>
                <a:endParaRPr lang="zh-CN" altLang="en-US" sz="1200" dirty="0"/>
              </a:p>
            </p:txBody>
          </p:sp>
          <p:sp>
            <p:nvSpPr>
              <p:cNvPr id="51" name="矩形 50"/>
              <p:cNvSpPr/>
              <p:nvPr/>
            </p:nvSpPr>
            <p:spPr>
              <a:xfrm>
                <a:off x="1049427" y="3879334"/>
                <a:ext cx="441146" cy="276999"/>
              </a:xfrm>
              <a:prstGeom prst="rect">
                <a:avLst/>
              </a:prstGeom>
            </p:spPr>
            <p:txBody>
              <a:bodyPr wrap="none">
                <a:spAutoFit/>
              </a:bodyPr>
              <a:lstStyle/>
              <a:p>
                <a:r>
                  <a:rPr kumimoji="1" lang="en-US" altLang="zh-CN" sz="1200" i="1" dirty="0" err="1">
                    <a:solidFill>
                      <a:srgbClr val="000000"/>
                    </a:solidFill>
                    <a:latin typeface="Times New Roman" panose="02020603050405020304" pitchFamily="18" charset="0"/>
                    <a:cs typeface="Times New Roman" panose="02020603050405020304" pitchFamily="18" charset="0"/>
                  </a:rPr>
                  <a:t>RQ</a:t>
                </a:r>
                <a:r>
                  <a:rPr kumimoji="1" lang="en-US" altLang="zh-CN" sz="1200" i="1" baseline="30000" dirty="0" err="1">
                    <a:solidFill>
                      <a:srgbClr val="000000"/>
                    </a:solidFill>
                    <a:latin typeface="Times New Roman" panose="02020603050405020304" pitchFamily="18" charset="0"/>
                    <a:cs typeface="Times New Roman" panose="02020603050405020304" pitchFamily="18" charset="0"/>
                  </a:rPr>
                  <a:t>n</a:t>
                </a:r>
                <a:endParaRPr lang="zh-CN" altLang="en-US" sz="1200" baseline="30000" dirty="0"/>
              </a:p>
            </p:txBody>
          </p:sp>
        </p:grpSp>
        <p:sp>
          <p:nvSpPr>
            <p:cNvPr id="53" name="圆角矩形 52"/>
            <p:cNvSpPr/>
            <p:nvPr/>
          </p:nvSpPr>
          <p:spPr>
            <a:xfrm>
              <a:off x="1365250" y="4667250"/>
              <a:ext cx="1651000" cy="260350"/>
            </a:xfrm>
            <a:prstGeom prst="round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1828800" y="4368800"/>
              <a:ext cx="285750" cy="552450"/>
            </a:xfrm>
            <a:prstGeom prst="roundRect">
              <a:avLst/>
            </a:prstGeom>
            <a:noFill/>
            <a:ln w="19050">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6" name="Picture 2"/>
          <p:cNvPicPr>
            <a:picLocks noChangeAspect="1" noChangeArrowheads="1"/>
          </p:cNvPicPr>
          <p:nvPr/>
        </p:nvPicPr>
        <p:blipFill>
          <a:blip r:embed="rId6" cstate="print"/>
          <a:srcRect/>
          <a:stretch>
            <a:fillRect/>
          </a:stretch>
        </p:blipFill>
        <p:spPr bwMode="auto">
          <a:xfrm>
            <a:off x="4032250" y="3209058"/>
            <a:ext cx="3185696" cy="1375642"/>
          </a:xfrm>
          <a:prstGeom prst="rect">
            <a:avLst/>
          </a:prstGeom>
          <a:noFill/>
          <a:ln w="9525">
            <a:noFill/>
            <a:miter lim="800000"/>
            <a:headEnd/>
            <a:tailEnd/>
          </a:ln>
          <a:effectLst/>
        </p:spPr>
      </p:pic>
      <p:sp>
        <p:nvSpPr>
          <p:cNvPr id="57" name="圆角矩形 28"/>
          <p:cNvSpPr/>
          <p:nvPr/>
        </p:nvSpPr>
        <p:spPr>
          <a:xfrm>
            <a:off x="914400" y="1932797"/>
            <a:ext cx="1991328" cy="418491"/>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28"/>
          <p:cNvSpPr/>
          <p:nvPr/>
        </p:nvSpPr>
        <p:spPr>
          <a:xfrm>
            <a:off x="914400" y="2390903"/>
            <a:ext cx="1991328" cy="418491"/>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28"/>
          <p:cNvSpPr/>
          <p:nvPr/>
        </p:nvSpPr>
        <p:spPr>
          <a:xfrm>
            <a:off x="914400" y="2831896"/>
            <a:ext cx="1991328" cy="418491"/>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28"/>
          <p:cNvSpPr/>
          <p:nvPr/>
        </p:nvSpPr>
        <p:spPr>
          <a:xfrm>
            <a:off x="914400" y="3288611"/>
            <a:ext cx="1991328" cy="418491"/>
          </a:xfrm>
          <a:prstGeom prst="roundRect">
            <a:avLst>
              <a:gd name="adj" fmla="val 0"/>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圆角矩形 59"/>
          <p:cNvSpPr/>
          <p:nvPr/>
        </p:nvSpPr>
        <p:spPr>
          <a:xfrm>
            <a:off x="4011612" y="3680711"/>
            <a:ext cx="685800" cy="503786"/>
          </a:xfrm>
          <a:prstGeom prst="roundRect">
            <a:avLst>
              <a:gd name="adj" fmla="val 13865"/>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 59"/>
          <p:cNvSpPr/>
          <p:nvPr/>
        </p:nvSpPr>
        <p:spPr>
          <a:xfrm>
            <a:off x="5223192" y="3132135"/>
            <a:ext cx="685800" cy="503786"/>
          </a:xfrm>
          <a:prstGeom prst="roundRect">
            <a:avLst>
              <a:gd name="adj" fmla="val 13865"/>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59"/>
          <p:cNvSpPr/>
          <p:nvPr/>
        </p:nvSpPr>
        <p:spPr>
          <a:xfrm>
            <a:off x="6552784" y="3665747"/>
            <a:ext cx="685800" cy="503786"/>
          </a:xfrm>
          <a:prstGeom prst="roundRect">
            <a:avLst>
              <a:gd name="adj" fmla="val 13865"/>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59"/>
          <p:cNvSpPr/>
          <p:nvPr/>
        </p:nvSpPr>
        <p:spPr>
          <a:xfrm>
            <a:off x="5311360" y="4134594"/>
            <a:ext cx="685800" cy="503786"/>
          </a:xfrm>
          <a:prstGeom prst="roundRect">
            <a:avLst>
              <a:gd name="adj" fmla="val 13865"/>
            </a:avLst>
          </a:prstGeom>
          <a:solidFill>
            <a:srgbClr val="66FF66">
              <a:alpha val="37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1000"/>
                                        <p:tgtEl>
                                          <p:spTgt spid="32"/>
                                        </p:tgtEl>
                                      </p:cBhvr>
                                    </p:animEffect>
                                    <p:anim calcmode="lin" valueType="num">
                                      <p:cBhvr>
                                        <p:cTn id="19" dur="1000" fill="hold"/>
                                        <p:tgtEl>
                                          <p:spTgt spid="32"/>
                                        </p:tgtEl>
                                        <p:attrNameLst>
                                          <p:attrName>ppt_x</p:attrName>
                                        </p:attrNameLst>
                                      </p:cBhvr>
                                      <p:tavLst>
                                        <p:tav tm="0">
                                          <p:val>
                                            <p:strVal val="#ppt_x"/>
                                          </p:val>
                                        </p:tav>
                                        <p:tav tm="100000">
                                          <p:val>
                                            <p:strVal val="#ppt_x"/>
                                          </p:val>
                                        </p:tav>
                                      </p:tavLst>
                                    </p:anim>
                                    <p:anim calcmode="lin" valueType="num">
                                      <p:cBhvr>
                                        <p:cTn id="20" dur="1000" fill="hold"/>
                                        <p:tgtEl>
                                          <p:spTgt spid="32"/>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1000"/>
                                        <p:tgtEl>
                                          <p:spTgt spid="37"/>
                                        </p:tgtEl>
                                      </p:cBhvr>
                                    </p:animEffect>
                                    <p:anim calcmode="lin" valueType="num">
                                      <p:cBhvr>
                                        <p:cTn id="24" dur="1000" fill="hold"/>
                                        <p:tgtEl>
                                          <p:spTgt spid="37"/>
                                        </p:tgtEl>
                                        <p:attrNameLst>
                                          <p:attrName>ppt_x</p:attrName>
                                        </p:attrNameLst>
                                      </p:cBhvr>
                                      <p:tavLst>
                                        <p:tav tm="0">
                                          <p:val>
                                            <p:strVal val="#ppt_x"/>
                                          </p:val>
                                        </p:tav>
                                        <p:tav tm="100000">
                                          <p:val>
                                            <p:strVal val="#ppt_x"/>
                                          </p:val>
                                        </p:tav>
                                      </p:tavLst>
                                    </p:anim>
                                    <p:anim calcmode="lin" valueType="num">
                                      <p:cBhvr>
                                        <p:cTn id="2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57"/>
                                        </p:tgtEl>
                                        <p:attrNameLst>
                                          <p:attrName>style.visibility</p:attrName>
                                        </p:attrNameLst>
                                      </p:cBhvr>
                                      <p:to>
                                        <p:strVal val="visible"/>
                                      </p:to>
                                    </p:set>
                                    <p:anim calcmode="lin" valueType="num">
                                      <p:cBhvr>
                                        <p:cTn id="30" dur="1000" fill="hold"/>
                                        <p:tgtEl>
                                          <p:spTgt spid="57"/>
                                        </p:tgtEl>
                                        <p:attrNameLst>
                                          <p:attrName>ppt_w</p:attrName>
                                        </p:attrNameLst>
                                      </p:cBhvr>
                                      <p:tavLst>
                                        <p:tav tm="0">
                                          <p:val>
                                            <p:fltVal val="0"/>
                                          </p:val>
                                        </p:tav>
                                        <p:tav tm="100000">
                                          <p:val>
                                            <p:strVal val="#ppt_w"/>
                                          </p:val>
                                        </p:tav>
                                      </p:tavLst>
                                    </p:anim>
                                    <p:anim calcmode="lin" valueType="num">
                                      <p:cBhvr>
                                        <p:cTn id="31" dur="1000" fill="hold"/>
                                        <p:tgtEl>
                                          <p:spTgt spid="57"/>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57"/>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p:cTn id="36" dur="1000" fill="hold"/>
                                        <p:tgtEl>
                                          <p:spTgt spid="59"/>
                                        </p:tgtEl>
                                        <p:attrNameLst>
                                          <p:attrName>ppt_w</p:attrName>
                                        </p:attrNameLst>
                                      </p:cBhvr>
                                      <p:tavLst>
                                        <p:tav tm="0">
                                          <p:val>
                                            <p:fltVal val="0"/>
                                          </p:val>
                                        </p:tav>
                                        <p:tav tm="100000">
                                          <p:val>
                                            <p:strVal val="#ppt_w"/>
                                          </p:val>
                                        </p:tav>
                                      </p:tavLst>
                                    </p:anim>
                                    <p:anim calcmode="lin" valueType="num">
                                      <p:cBhvr>
                                        <p:cTn id="37" dur="1000" fill="hold"/>
                                        <p:tgtEl>
                                          <p:spTgt spid="5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5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60"/>
                                        </p:tgtEl>
                                        <p:attrNameLst>
                                          <p:attrName>style.visibility</p:attrName>
                                        </p:attrNameLst>
                                      </p:cBhvr>
                                      <p:to>
                                        <p:strVal val="visible"/>
                                      </p:to>
                                    </p:set>
                                    <p:anim calcmode="lin" valueType="num">
                                      <p:cBhvr>
                                        <p:cTn id="42" dur="1000" fill="hold"/>
                                        <p:tgtEl>
                                          <p:spTgt spid="60"/>
                                        </p:tgtEl>
                                        <p:attrNameLst>
                                          <p:attrName>ppt_w</p:attrName>
                                        </p:attrNameLst>
                                      </p:cBhvr>
                                      <p:tavLst>
                                        <p:tav tm="0">
                                          <p:val>
                                            <p:fltVal val="0"/>
                                          </p:val>
                                        </p:tav>
                                        <p:tav tm="100000">
                                          <p:val>
                                            <p:strVal val="#ppt_w"/>
                                          </p:val>
                                        </p:tav>
                                      </p:tavLst>
                                    </p:anim>
                                    <p:anim calcmode="lin" valueType="num">
                                      <p:cBhvr>
                                        <p:cTn id="43" dur="1000" fill="hold"/>
                                        <p:tgtEl>
                                          <p:spTgt spid="6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60"/>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17" presetClass="entr" presetSubtype="10" fill="hold" grpId="0" nodeType="clickEffect">
                                  <p:stCondLst>
                                    <p:cond delay="0"/>
                                  </p:stCondLst>
                                  <p:childTnLst>
                                    <p:set>
                                      <p:cBhvr>
                                        <p:cTn id="47" dur="1" fill="hold">
                                          <p:stCondLst>
                                            <p:cond delay="0"/>
                                          </p:stCondLst>
                                        </p:cTn>
                                        <p:tgtEl>
                                          <p:spTgt spid="61"/>
                                        </p:tgtEl>
                                        <p:attrNameLst>
                                          <p:attrName>style.visibility</p:attrName>
                                        </p:attrNameLst>
                                      </p:cBhvr>
                                      <p:to>
                                        <p:strVal val="visible"/>
                                      </p:to>
                                    </p:set>
                                    <p:anim calcmode="lin" valueType="num">
                                      <p:cBhvr>
                                        <p:cTn id="48" dur="1000" fill="hold"/>
                                        <p:tgtEl>
                                          <p:spTgt spid="61"/>
                                        </p:tgtEl>
                                        <p:attrNameLst>
                                          <p:attrName>ppt_w</p:attrName>
                                        </p:attrNameLst>
                                      </p:cBhvr>
                                      <p:tavLst>
                                        <p:tav tm="0">
                                          <p:val>
                                            <p:fltVal val="0"/>
                                          </p:val>
                                        </p:tav>
                                        <p:tav tm="100000">
                                          <p:val>
                                            <p:strVal val="#ppt_w"/>
                                          </p:val>
                                        </p:tav>
                                      </p:tavLst>
                                    </p:anim>
                                    <p:anim calcmode="lin" valueType="num">
                                      <p:cBhvr>
                                        <p:cTn id="49" dur="1000" fill="hold"/>
                                        <p:tgtEl>
                                          <p:spTgt spid="6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61"/>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55"/>
                                        </p:tgtEl>
                                        <p:attrNameLst>
                                          <p:attrName>style.visibility</p:attrName>
                                        </p:attrNameLst>
                                      </p:cBhvr>
                                      <p:to>
                                        <p:strVal val="visible"/>
                                      </p:to>
                                    </p:set>
                                    <p:animEffect transition="in" filter="fade">
                                      <p:cBhvr>
                                        <p:cTn id="54" dur="1000"/>
                                        <p:tgtEl>
                                          <p:spTgt spid="55"/>
                                        </p:tgtEl>
                                      </p:cBhvr>
                                    </p:animEffect>
                                    <p:anim calcmode="lin" valueType="num">
                                      <p:cBhvr>
                                        <p:cTn id="55" dur="1000" fill="hold"/>
                                        <p:tgtEl>
                                          <p:spTgt spid="55"/>
                                        </p:tgtEl>
                                        <p:attrNameLst>
                                          <p:attrName>ppt_x</p:attrName>
                                        </p:attrNameLst>
                                      </p:cBhvr>
                                      <p:tavLst>
                                        <p:tav tm="0">
                                          <p:val>
                                            <p:strVal val="#ppt_x"/>
                                          </p:val>
                                        </p:tav>
                                        <p:tav tm="100000">
                                          <p:val>
                                            <p:strVal val="#ppt_x"/>
                                          </p:val>
                                        </p:tav>
                                      </p:tavLst>
                                    </p:anim>
                                    <p:anim calcmode="lin" valueType="num">
                                      <p:cBhvr>
                                        <p:cTn id="56" dur="1000" fill="hold"/>
                                        <p:tgtEl>
                                          <p:spTgt spid="55"/>
                                        </p:tgtEl>
                                        <p:attrNameLst>
                                          <p:attrName>ppt_y</p:attrName>
                                        </p:attrNameLst>
                                      </p:cBhvr>
                                      <p:tavLst>
                                        <p:tav tm="0">
                                          <p:val>
                                            <p:strVal val="#ppt_y+.1"/>
                                          </p:val>
                                        </p:tav>
                                        <p:tav tm="100000">
                                          <p:val>
                                            <p:strVal val="#ppt_y"/>
                                          </p:val>
                                        </p:tav>
                                      </p:tavLst>
                                    </p:anim>
                                  </p:childTnLst>
                                </p:cTn>
                              </p:par>
                            </p:childTnLst>
                          </p:cTn>
                        </p:par>
                        <p:par>
                          <p:cTn id="57" fill="hold">
                            <p:stCondLst>
                              <p:cond delay="1000"/>
                            </p:stCondLst>
                            <p:childTnLst>
                              <p:par>
                                <p:cTn id="58" presetID="42" presetClass="entr" presetSubtype="0" fill="hold" grpId="0" nodeType="after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fade">
                                      <p:cBhvr>
                                        <p:cTn id="60" dur="1000"/>
                                        <p:tgtEl>
                                          <p:spTgt spid="38"/>
                                        </p:tgtEl>
                                      </p:cBhvr>
                                    </p:animEffect>
                                    <p:anim calcmode="lin" valueType="num">
                                      <p:cBhvr>
                                        <p:cTn id="61" dur="1000" fill="hold"/>
                                        <p:tgtEl>
                                          <p:spTgt spid="38"/>
                                        </p:tgtEl>
                                        <p:attrNameLst>
                                          <p:attrName>ppt_x</p:attrName>
                                        </p:attrNameLst>
                                      </p:cBhvr>
                                      <p:tavLst>
                                        <p:tav tm="0">
                                          <p:val>
                                            <p:strVal val="#ppt_x"/>
                                          </p:val>
                                        </p:tav>
                                        <p:tav tm="100000">
                                          <p:val>
                                            <p:strVal val="#ppt_x"/>
                                          </p:val>
                                        </p:tav>
                                      </p:tavLst>
                                    </p:anim>
                                    <p:anim calcmode="lin" valueType="num">
                                      <p:cBhvr>
                                        <p:cTn id="62" dur="1000" fill="hold"/>
                                        <p:tgtEl>
                                          <p:spTgt spid="38"/>
                                        </p:tgtEl>
                                        <p:attrNameLst>
                                          <p:attrName>ppt_y</p:attrName>
                                        </p:attrNameLst>
                                      </p:cBhvr>
                                      <p:tavLst>
                                        <p:tav tm="0">
                                          <p:val>
                                            <p:strVal val="#ppt_y+.1"/>
                                          </p:val>
                                        </p:tav>
                                        <p:tav tm="100000">
                                          <p:val>
                                            <p:strVal val="#ppt_y"/>
                                          </p:val>
                                        </p:tav>
                                      </p:tavLst>
                                    </p:anim>
                                  </p:childTnLst>
                                </p:cTn>
                              </p:par>
                            </p:childTnLst>
                          </p:cTn>
                        </p:par>
                        <p:par>
                          <p:cTn id="63" fill="hold">
                            <p:stCondLst>
                              <p:cond delay="2000"/>
                            </p:stCondLst>
                            <p:childTnLst>
                              <p:par>
                                <p:cTn id="64" presetID="42" presetClass="entr" presetSubtype="0" fill="hold"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fade">
                                      <p:cBhvr>
                                        <p:cTn id="66" dur="1000"/>
                                        <p:tgtEl>
                                          <p:spTgt spid="40"/>
                                        </p:tgtEl>
                                      </p:cBhvr>
                                    </p:animEffect>
                                    <p:anim calcmode="lin" valueType="num">
                                      <p:cBhvr>
                                        <p:cTn id="67" dur="1000" fill="hold"/>
                                        <p:tgtEl>
                                          <p:spTgt spid="40"/>
                                        </p:tgtEl>
                                        <p:attrNameLst>
                                          <p:attrName>ppt_x</p:attrName>
                                        </p:attrNameLst>
                                      </p:cBhvr>
                                      <p:tavLst>
                                        <p:tav tm="0">
                                          <p:val>
                                            <p:strVal val="#ppt_x"/>
                                          </p:val>
                                        </p:tav>
                                        <p:tav tm="100000">
                                          <p:val>
                                            <p:strVal val="#ppt_x"/>
                                          </p:val>
                                        </p:tav>
                                      </p:tavLst>
                                    </p:anim>
                                    <p:anim calcmode="lin" valueType="num">
                                      <p:cBhvr>
                                        <p:cTn id="68"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41"/>
                                        </p:tgtEl>
                                        <p:attrNameLst>
                                          <p:attrName>style.visibility</p:attrName>
                                        </p:attrNameLst>
                                      </p:cBhvr>
                                      <p:to>
                                        <p:strVal val="visible"/>
                                      </p:to>
                                    </p:set>
                                    <p:animEffect transition="in" filter="fade">
                                      <p:cBhvr>
                                        <p:cTn id="73" dur="1000"/>
                                        <p:tgtEl>
                                          <p:spTgt spid="41"/>
                                        </p:tgtEl>
                                      </p:cBhvr>
                                    </p:animEffect>
                                    <p:anim calcmode="lin" valueType="num">
                                      <p:cBhvr>
                                        <p:cTn id="74" dur="1000" fill="hold"/>
                                        <p:tgtEl>
                                          <p:spTgt spid="41"/>
                                        </p:tgtEl>
                                        <p:attrNameLst>
                                          <p:attrName>ppt_x</p:attrName>
                                        </p:attrNameLst>
                                      </p:cBhvr>
                                      <p:tavLst>
                                        <p:tav tm="0">
                                          <p:val>
                                            <p:strVal val="#ppt_x"/>
                                          </p:val>
                                        </p:tav>
                                        <p:tav tm="100000">
                                          <p:val>
                                            <p:strVal val="#ppt_x"/>
                                          </p:val>
                                        </p:tav>
                                      </p:tavLst>
                                    </p:anim>
                                    <p:anim calcmode="lin" valueType="num">
                                      <p:cBhvr>
                                        <p:cTn id="75" dur="1000" fill="hold"/>
                                        <p:tgtEl>
                                          <p:spTgt spid="41"/>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56"/>
                                        </p:tgtEl>
                                        <p:attrNameLst>
                                          <p:attrName>style.visibility</p:attrName>
                                        </p:attrNameLst>
                                      </p:cBhvr>
                                      <p:to>
                                        <p:strVal val="visible"/>
                                      </p:to>
                                    </p:set>
                                    <p:animEffect transition="in" filter="fade">
                                      <p:cBhvr>
                                        <p:cTn id="78" dur="1000"/>
                                        <p:tgtEl>
                                          <p:spTgt spid="56"/>
                                        </p:tgtEl>
                                      </p:cBhvr>
                                    </p:animEffect>
                                    <p:anim calcmode="lin" valueType="num">
                                      <p:cBhvr>
                                        <p:cTn id="79" dur="1000" fill="hold"/>
                                        <p:tgtEl>
                                          <p:spTgt spid="56"/>
                                        </p:tgtEl>
                                        <p:attrNameLst>
                                          <p:attrName>ppt_x</p:attrName>
                                        </p:attrNameLst>
                                      </p:cBhvr>
                                      <p:tavLst>
                                        <p:tav tm="0">
                                          <p:val>
                                            <p:strVal val="#ppt_x"/>
                                          </p:val>
                                        </p:tav>
                                        <p:tav tm="100000">
                                          <p:val>
                                            <p:strVal val="#ppt_x"/>
                                          </p:val>
                                        </p:tav>
                                      </p:tavLst>
                                    </p:anim>
                                    <p:anim calcmode="lin" valueType="num">
                                      <p:cBhvr>
                                        <p:cTn id="80"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62"/>
                                        </p:tgtEl>
                                        <p:attrNameLst>
                                          <p:attrName>style.visibility</p:attrName>
                                        </p:attrNameLst>
                                      </p:cBhvr>
                                      <p:to>
                                        <p:strVal val="visible"/>
                                      </p:to>
                                    </p:set>
                                    <p:anim calcmode="lin" valueType="num">
                                      <p:cBhvr>
                                        <p:cTn id="85" dur="1000" fill="hold"/>
                                        <p:tgtEl>
                                          <p:spTgt spid="62"/>
                                        </p:tgtEl>
                                        <p:attrNameLst>
                                          <p:attrName>ppt_w</p:attrName>
                                        </p:attrNameLst>
                                      </p:cBhvr>
                                      <p:tavLst>
                                        <p:tav tm="0">
                                          <p:val>
                                            <p:fltVal val="0"/>
                                          </p:val>
                                        </p:tav>
                                        <p:tav tm="100000">
                                          <p:val>
                                            <p:strVal val="#ppt_w"/>
                                          </p:val>
                                        </p:tav>
                                      </p:tavLst>
                                    </p:anim>
                                    <p:anim calcmode="lin" valueType="num">
                                      <p:cBhvr>
                                        <p:cTn id="86" dur="1000" fill="hold"/>
                                        <p:tgtEl>
                                          <p:spTgt spid="62"/>
                                        </p:tgtEl>
                                        <p:attrNameLst>
                                          <p:attrName>ppt_h</p:attrName>
                                        </p:attrNameLst>
                                      </p:cBhvr>
                                      <p:tavLst>
                                        <p:tav tm="0">
                                          <p:val>
                                            <p:fltVal val="0"/>
                                          </p:val>
                                        </p:tav>
                                        <p:tav tm="100000">
                                          <p:val>
                                            <p:strVal val="#ppt_h"/>
                                          </p:val>
                                        </p:tav>
                                      </p:tavLst>
                                    </p:anim>
                                    <p:animEffect transition="in" filter="fade">
                                      <p:cBhvr>
                                        <p:cTn id="87" dur="1000"/>
                                        <p:tgtEl>
                                          <p:spTgt spid="62"/>
                                        </p:tgtEl>
                                      </p:cBhvr>
                                    </p:animEffect>
                                  </p:childTnLst>
                                </p:cTn>
                              </p:par>
                            </p:childTnLst>
                          </p:cTn>
                        </p:par>
                        <p:par>
                          <p:cTn id="88" fill="hold">
                            <p:stCondLst>
                              <p:cond delay="1000"/>
                            </p:stCondLst>
                            <p:childTnLst>
                              <p:par>
                                <p:cTn id="89" presetID="53" presetClass="entr" presetSubtype="16" fill="hold" grpId="0" nodeType="afterEffect">
                                  <p:stCondLst>
                                    <p:cond delay="0"/>
                                  </p:stCondLst>
                                  <p:childTnLst>
                                    <p:set>
                                      <p:cBhvr>
                                        <p:cTn id="90" dur="1" fill="hold">
                                          <p:stCondLst>
                                            <p:cond delay="0"/>
                                          </p:stCondLst>
                                        </p:cTn>
                                        <p:tgtEl>
                                          <p:spTgt spid="63"/>
                                        </p:tgtEl>
                                        <p:attrNameLst>
                                          <p:attrName>style.visibility</p:attrName>
                                        </p:attrNameLst>
                                      </p:cBhvr>
                                      <p:to>
                                        <p:strVal val="visible"/>
                                      </p:to>
                                    </p:set>
                                    <p:anim calcmode="lin" valueType="num">
                                      <p:cBhvr>
                                        <p:cTn id="91" dur="1000" fill="hold"/>
                                        <p:tgtEl>
                                          <p:spTgt spid="63"/>
                                        </p:tgtEl>
                                        <p:attrNameLst>
                                          <p:attrName>ppt_w</p:attrName>
                                        </p:attrNameLst>
                                      </p:cBhvr>
                                      <p:tavLst>
                                        <p:tav tm="0">
                                          <p:val>
                                            <p:fltVal val="0"/>
                                          </p:val>
                                        </p:tav>
                                        <p:tav tm="100000">
                                          <p:val>
                                            <p:strVal val="#ppt_w"/>
                                          </p:val>
                                        </p:tav>
                                      </p:tavLst>
                                    </p:anim>
                                    <p:anim calcmode="lin" valueType="num">
                                      <p:cBhvr>
                                        <p:cTn id="92" dur="1000" fill="hold"/>
                                        <p:tgtEl>
                                          <p:spTgt spid="63"/>
                                        </p:tgtEl>
                                        <p:attrNameLst>
                                          <p:attrName>ppt_h</p:attrName>
                                        </p:attrNameLst>
                                      </p:cBhvr>
                                      <p:tavLst>
                                        <p:tav tm="0">
                                          <p:val>
                                            <p:fltVal val="0"/>
                                          </p:val>
                                        </p:tav>
                                        <p:tav tm="100000">
                                          <p:val>
                                            <p:strVal val="#ppt_h"/>
                                          </p:val>
                                        </p:tav>
                                      </p:tavLst>
                                    </p:anim>
                                    <p:animEffect transition="in" filter="fade">
                                      <p:cBhvr>
                                        <p:cTn id="93" dur="1000"/>
                                        <p:tgtEl>
                                          <p:spTgt spid="63"/>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64"/>
                                        </p:tgtEl>
                                        <p:attrNameLst>
                                          <p:attrName>style.visibility</p:attrName>
                                        </p:attrNameLst>
                                      </p:cBhvr>
                                      <p:to>
                                        <p:strVal val="visible"/>
                                      </p:to>
                                    </p:set>
                                    <p:anim calcmode="lin" valueType="num">
                                      <p:cBhvr>
                                        <p:cTn id="98" dur="1000" fill="hold"/>
                                        <p:tgtEl>
                                          <p:spTgt spid="64"/>
                                        </p:tgtEl>
                                        <p:attrNameLst>
                                          <p:attrName>ppt_w</p:attrName>
                                        </p:attrNameLst>
                                      </p:cBhvr>
                                      <p:tavLst>
                                        <p:tav tm="0">
                                          <p:val>
                                            <p:fltVal val="0"/>
                                          </p:val>
                                        </p:tav>
                                        <p:tav tm="100000">
                                          <p:val>
                                            <p:strVal val="#ppt_w"/>
                                          </p:val>
                                        </p:tav>
                                      </p:tavLst>
                                    </p:anim>
                                    <p:anim calcmode="lin" valueType="num">
                                      <p:cBhvr>
                                        <p:cTn id="99" dur="1000" fill="hold"/>
                                        <p:tgtEl>
                                          <p:spTgt spid="64"/>
                                        </p:tgtEl>
                                        <p:attrNameLst>
                                          <p:attrName>ppt_h</p:attrName>
                                        </p:attrNameLst>
                                      </p:cBhvr>
                                      <p:tavLst>
                                        <p:tav tm="0">
                                          <p:val>
                                            <p:fltVal val="0"/>
                                          </p:val>
                                        </p:tav>
                                        <p:tav tm="100000">
                                          <p:val>
                                            <p:strVal val="#ppt_h"/>
                                          </p:val>
                                        </p:tav>
                                      </p:tavLst>
                                    </p:anim>
                                    <p:animEffect transition="in" filter="fade">
                                      <p:cBhvr>
                                        <p:cTn id="100" dur="1000"/>
                                        <p:tgtEl>
                                          <p:spTgt spid="64"/>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65"/>
                                        </p:tgtEl>
                                        <p:attrNameLst>
                                          <p:attrName>style.visibility</p:attrName>
                                        </p:attrNameLst>
                                      </p:cBhvr>
                                      <p:to>
                                        <p:strVal val="visible"/>
                                      </p:to>
                                    </p:set>
                                    <p:anim calcmode="lin" valueType="num">
                                      <p:cBhvr>
                                        <p:cTn id="105" dur="1000" fill="hold"/>
                                        <p:tgtEl>
                                          <p:spTgt spid="65"/>
                                        </p:tgtEl>
                                        <p:attrNameLst>
                                          <p:attrName>ppt_w</p:attrName>
                                        </p:attrNameLst>
                                      </p:cBhvr>
                                      <p:tavLst>
                                        <p:tav tm="0">
                                          <p:val>
                                            <p:fltVal val="0"/>
                                          </p:val>
                                        </p:tav>
                                        <p:tav tm="100000">
                                          <p:val>
                                            <p:strVal val="#ppt_w"/>
                                          </p:val>
                                        </p:tav>
                                      </p:tavLst>
                                    </p:anim>
                                    <p:anim calcmode="lin" valueType="num">
                                      <p:cBhvr>
                                        <p:cTn id="106" dur="1000" fill="hold"/>
                                        <p:tgtEl>
                                          <p:spTgt spid="65"/>
                                        </p:tgtEl>
                                        <p:attrNameLst>
                                          <p:attrName>ppt_h</p:attrName>
                                        </p:attrNameLst>
                                      </p:cBhvr>
                                      <p:tavLst>
                                        <p:tav tm="0">
                                          <p:val>
                                            <p:fltVal val="0"/>
                                          </p:val>
                                        </p:tav>
                                        <p:tav tm="100000">
                                          <p:val>
                                            <p:strVal val="#ppt_h"/>
                                          </p:val>
                                        </p:tav>
                                      </p:tavLst>
                                    </p:anim>
                                    <p:animEffect transition="in" filter="fade">
                                      <p:cBhvr>
                                        <p:cTn id="107"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41" grpId="0"/>
      <p:bldP spid="57" grpId="0" animBg="1"/>
      <p:bldP spid="59" grpId="0" animBg="1"/>
      <p:bldP spid="60" grpId="0" animBg="1"/>
      <p:bldP spid="61" grpId="0" animBg="1"/>
      <p:bldP spid="62" grpId="0" animBg="1"/>
      <p:bldP spid="63" grpId="0" animBg="1"/>
      <p:bldP spid="64" grpId="0" animBg="1"/>
      <p:bldP spid="6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22"/>
          <p:cNvGrpSpPr/>
          <p:nvPr/>
        </p:nvGrpSpPr>
        <p:grpSpPr>
          <a:xfrm>
            <a:off x="392432" y="778617"/>
            <a:ext cx="4042408" cy="420971"/>
            <a:chOff x="670560" y="892917"/>
            <a:chExt cx="4042408" cy="420971"/>
          </a:xfrm>
        </p:grpSpPr>
        <p:sp>
          <p:nvSpPr>
            <p:cNvPr id="8" name="矩形 7"/>
            <p:cNvSpPr/>
            <p:nvPr/>
          </p:nvSpPr>
          <p:spPr>
            <a:xfrm>
              <a:off x="1035232" y="913778"/>
              <a:ext cx="367773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触发器逻辑功能转换</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5" name="Rectangle 8"/>
          <p:cNvSpPr>
            <a:spLocks noChangeArrowheads="1"/>
          </p:cNvSpPr>
          <p:nvPr/>
        </p:nvSpPr>
        <p:spPr bwMode="auto">
          <a:xfrm>
            <a:off x="541338" y="1309688"/>
            <a:ext cx="3427411" cy="369332"/>
          </a:xfrm>
          <a:prstGeom prst="rect">
            <a:avLst/>
          </a:prstGeom>
          <a:noFill/>
          <a:ln w="9525" algn="ctr">
            <a:noFill/>
            <a:miter lim="800000"/>
          </a:ln>
        </p:spPr>
        <p:txBody>
          <a:bodyPr wrap="square">
            <a:spAutoFit/>
          </a:bodyPr>
          <a:lstStyle/>
          <a:p>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触发器构成</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J K</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4" name="组合 23"/>
          <p:cNvGrpSpPr/>
          <p:nvPr/>
        </p:nvGrpSpPr>
        <p:grpSpPr>
          <a:xfrm>
            <a:off x="1017589" y="3464384"/>
            <a:ext cx="3382961" cy="1524970"/>
            <a:chOff x="1017589" y="3464384"/>
            <a:chExt cx="3382961" cy="1524970"/>
          </a:xfrm>
        </p:grpSpPr>
        <p:graphicFrame>
          <p:nvGraphicFramePr>
            <p:cNvPr id="51" name="Object 49"/>
            <p:cNvGraphicFramePr>
              <a:graphicFrameLocks noChangeAspect="1"/>
            </p:cNvGraphicFramePr>
            <p:nvPr/>
          </p:nvGraphicFramePr>
          <p:xfrm>
            <a:off x="1017589" y="3464384"/>
            <a:ext cx="3382961" cy="1524970"/>
          </p:xfrm>
          <a:graphic>
            <a:graphicData uri="http://schemas.openxmlformats.org/presentationml/2006/ole">
              <mc:AlternateContent xmlns:mc="http://schemas.openxmlformats.org/markup-compatibility/2006">
                <mc:Choice xmlns:v="urn:schemas-microsoft-com:vml" Requires="v">
                  <p:oleObj spid="_x0000_s33806" name="位图图像" r:id="rId2" imgW="5000625" imgH="2219325" progId="PBrush">
                    <p:embed/>
                  </p:oleObj>
                </mc:Choice>
                <mc:Fallback>
                  <p:oleObj name="位图图像" r:id="rId2" imgW="5000625" imgH="2219325" progId="PBrush">
                    <p:embed/>
                    <p:pic>
                      <p:nvPicPr>
                        <p:cNvPr id="0" name="Object 4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589" y="3464384"/>
                          <a:ext cx="3382961" cy="152497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52" name="AutoShape 50"/>
            <p:cNvSpPr>
              <a:spLocks noChangeArrowheads="1"/>
            </p:cNvSpPr>
            <p:nvPr/>
          </p:nvSpPr>
          <p:spPr bwMode="auto">
            <a:xfrm>
              <a:off x="1416953" y="3585846"/>
              <a:ext cx="1442115" cy="1316353"/>
            </a:xfrm>
            <a:prstGeom prst="roundRect">
              <a:avLst>
                <a:gd name="adj" fmla="val 6167"/>
              </a:avLst>
            </a:prstGeom>
            <a:noFill/>
            <a:ln w="28575" algn="ctr">
              <a:solidFill>
                <a:srgbClr val="FF0000"/>
              </a:solidFill>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grpSp>
      <p:pic>
        <p:nvPicPr>
          <p:cNvPr id="81928" name="Picture 8"/>
          <p:cNvPicPr>
            <a:picLocks noChangeAspect="1" noChangeArrowheads="1"/>
          </p:cNvPicPr>
          <p:nvPr/>
        </p:nvPicPr>
        <p:blipFill>
          <a:blip r:embed="rId4" cstate="print"/>
          <a:srcRect/>
          <a:stretch>
            <a:fillRect/>
          </a:stretch>
        </p:blipFill>
        <p:spPr bwMode="auto">
          <a:xfrm>
            <a:off x="2397125" y="2058988"/>
            <a:ext cx="1733550" cy="962025"/>
          </a:xfrm>
          <a:prstGeom prst="rect">
            <a:avLst/>
          </a:prstGeom>
          <a:noFill/>
          <a:ln w="9525">
            <a:noFill/>
            <a:miter lim="800000"/>
            <a:headEnd/>
            <a:tailEnd/>
          </a:ln>
        </p:spPr>
      </p:pic>
      <p:grpSp>
        <p:nvGrpSpPr>
          <p:cNvPr id="25" name="组合 24"/>
          <p:cNvGrpSpPr/>
          <p:nvPr/>
        </p:nvGrpSpPr>
        <p:grpSpPr>
          <a:xfrm>
            <a:off x="1098550" y="2082800"/>
            <a:ext cx="1301750" cy="927100"/>
            <a:chOff x="1098550" y="2362200"/>
            <a:chExt cx="1301750" cy="927100"/>
          </a:xfrm>
        </p:grpSpPr>
        <p:sp>
          <p:nvSpPr>
            <p:cNvPr id="40" name="Line 33"/>
            <p:cNvSpPr>
              <a:spLocks noChangeShapeType="1"/>
            </p:cNvSpPr>
            <p:nvPr/>
          </p:nvSpPr>
          <p:spPr bwMode="auto">
            <a:xfrm flipH="1">
              <a:off x="1308100" y="2559050"/>
              <a:ext cx="406400" cy="0"/>
            </a:xfrm>
            <a:prstGeom prst="line">
              <a:avLst/>
            </a:prstGeom>
            <a:noFill/>
            <a:ln w="38100">
              <a:solidFill>
                <a:schemeClr val="tx1"/>
              </a:solidFill>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41" name="Line 34"/>
            <p:cNvSpPr>
              <a:spLocks noChangeShapeType="1"/>
            </p:cNvSpPr>
            <p:nvPr/>
          </p:nvSpPr>
          <p:spPr bwMode="auto">
            <a:xfrm flipH="1">
              <a:off x="1309688" y="3055938"/>
              <a:ext cx="406400" cy="0"/>
            </a:xfrm>
            <a:prstGeom prst="line">
              <a:avLst/>
            </a:prstGeom>
            <a:noFill/>
            <a:ln w="38100">
              <a:solidFill>
                <a:schemeClr val="tx1"/>
              </a:solidFill>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43" name="Text Box 37"/>
            <p:cNvSpPr txBox="1">
              <a:spLocks noChangeArrowheads="1"/>
            </p:cNvSpPr>
            <p:nvPr/>
          </p:nvSpPr>
          <p:spPr bwMode="auto">
            <a:xfrm>
              <a:off x="1098550" y="2363788"/>
              <a:ext cx="331788" cy="830997"/>
            </a:xfrm>
            <a:prstGeom prst="rect">
              <a:avLst/>
            </a:prstGeom>
            <a:noFill/>
            <a:ln w="9525" algn="ctr">
              <a:noFill/>
              <a:miter lim="800000"/>
            </a:ln>
            <a:effectLst/>
          </p:spPr>
          <p:txBody>
            <a:bodyPr lIns="0" tIns="0" rIns="0" bIns="0">
              <a:spAutoFit/>
            </a:bodyPr>
            <a:lstStyle/>
            <a:p>
              <a:pPr>
                <a:lnSpc>
                  <a:spcPct val="150000"/>
                </a:lnSpc>
                <a:defRPr/>
              </a:pPr>
              <a:r>
                <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J</a:t>
              </a:r>
              <a:endPar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nSpc>
                  <a:spcPct val="150000"/>
                </a:lnSpc>
                <a:defRPr/>
              </a:pPr>
              <a:r>
                <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K</a:t>
              </a:r>
              <a:endPar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39" name="AutoShape 32"/>
            <p:cNvSpPr>
              <a:spLocks noChangeArrowheads="1"/>
            </p:cNvSpPr>
            <p:nvPr/>
          </p:nvSpPr>
          <p:spPr bwMode="auto">
            <a:xfrm>
              <a:off x="1720850" y="2362200"/>
              <a:ext cx="679450" cy="927100"/>
            </a:xfrm>
            <a:prstGeom prst="roundRect">
              <a:avLst>
                <a:gd name="adj" fmla="val 10000"/>
              </a:avLst>
            </a:prstGeom>
            <a:solidFill>
              <a:srgbClr val="FFFFFF"/>
            </a:solidFill>
            <a:ln w="28575" algn="ctr">
              <a:solidFill>
                <a:srgbClr val="FF0000"/>
              </a:solidFill>
              <a:round/>
            </a:ln>
          </p:spPr>
          <p:txBody>
            <a:bodyPr lIns="0" rIns="0" anchor="ctr"/>
            <a:lstStyle/>
            <a:p>
              <a:pPr algn="ctr"/>
              <a:r>
                <a:rPr lang="zh-CN" altLang="en-US" dirty="0">
                  <a:solidFill>
                    <a:srgbClr val="000000"/>
                  </a:solidFill>
                  <a:latin typeface="微软雅黑" panose="020B0503020204020204" pitchFamily="34" charset="-122"/>
                  <a:ea typeface="微软雅黑" panose="020B0503020204020204" pitchFamily="34" charset="-122"/>
                </a:rPr>
                <a:t>组合逻辑电路</a:t>
              </a:r>
              <a:endParaRPr lang="zh-CN" altLang="en-US" dirty="0">
                <a:solidFill>
                  <a:srgbClr val="000000"/>
                </a:solidFill>
                <a:latin typeface="微软雅黑" panose="020B0503020204020204" pitchFamily="34" charset="-122"/>
                <a:ea typeface="微软雅黑" panose="020B0503020204020204" pitchFamily="34" charset="-122"/>
              </a:endParaRPr>
            </a:p>
          </p:txBody>
        </p:sp>
      </p:grpSp>
      <p:sp>
        <p:nvSpPr>
          <p:cNvPr id="42" name="AutoShape 35"/>
          <p:cNvSpPr>
            <a:spLocks noChangeArrowheads="1"/>
          </p:cNvSpPr>
          <p:nvPr/>
        </p:nvSpPr>
        <p:spPr bwMode="auto">
          <a:xfrm>
            <a:off x="1409700" y="1968500"/>
            <a:ext cx="2705100" cy="1162050"/>
          </a:xfrm>
          <a:prstGeom prst="roundRect">
            <a:avLst>
              <a:gd name="adj" fmla="val 6866"/>
            </a:avLst>
          </a:prstGeom>
          <a:noFill/>
          <a:ln w="28575" algn="ctr">
            <a:solidFill>
              <a:srgbClr val="6600FF"/>
            </a:solidFill>
            <a:prstDash val="dash"/>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graphicFrame>
        <p:nvGraphicFramePr>
          <p:cNvPr id="81929" name="Object 9"/>
          <p:cNvGraphicFramePr>
            <a:graphicFrameLocks noChangeAspect="1"/>
          </p:cNvGraphicFramePr>
          <p:nvPr/>
        </p:nvGraphicFramePr>
        <p:xfrm>
          <a:off x="4838699" y="2044700"/>
          <a:ext cx="1682751" cy="359239"/>
        </p:xfrm>
        <a:graphic>
          <a:graphicData uri="http://schemas.openxmlformats.org/presentationml/2006/ole">
            <mc:AlternateContent xmlns:mc="http://schemas.openxmlformats.org/markup-compatibility/2006">
              <mc:Choice xmlns:v="urn:schemas-microsoft-com:vml" Requires="v">
                <p:oleObj spid="_x0000_s33807" name="Equation" r:id="rId5" imgW="27127200" imgH="5791200" progId="Equation.DSMT4">
                  <p:embed/>
                </p:oleObj>
              </mc:Choice>
              <mc:Fallback>
                <p:oleObj name="Equation" r:id="rId5" imgW="27127200" imgH="57912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8699" y="2044700"/>
                        <a:ext cx="1682751" cy="35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30" name="Object 10"/>
          <p:cNvGraphicFramePr>
            <a:graphicFrameLocks noChangeAspect="1"/>
          </p:cNvGraphicFramePr>
          <p:nvPr/>
        </p:nvGraphicFramePr>
        <p:xfrm>
          <a:off x="4832349" y="2508250"/>
          <a:ext cx="908757" cy="355600"/>
        </p:xfrm>
        <a:graphic>
          <a:graphicData uri="http://schemas.openxmlformats.org/presentationml/2006/ole">
            <mc:AlternateContent xmlns:mc="http://schemas.openxmlformats.org/markup-compatibility/2006">
              <mc:Choice xmlns:v="urn:schemas-microsoft-com:vml" Requires="v">
                <p:oleObj spid="_x0000_s33808" name="Equation" r:id="rId7" imgW="14020800" imgH="5486400" progId="Equation.DSMT4">
                  <p:embed/>
                </p:oleObj>
              </mc:Choice>
              <mc:Fallback>
                <p:oleObj name="Equation" r:id="rId7" imgW="14020800" imgH="54864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32349" y="2508250"/>
                        <a:ext cx="908757"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 name="AutoShape 35"/>
          <p:cNvSpPr>
            <a:spLocks noChangeArrowheads="1"/>
          </p:cNvSpPr>
          <p:nvPr/>
        </p:nvSpPr>
        <p:spPr bwMode="auto">
          <a:xfrm>
            <a:off x="5467350" y="2006600"/>
            <a:ext cx="1085850" cy="863600"/>
          </a:xfrm>
          <a:prstGeom prst="roundRect">
            <a:avLst>
              <a:gd name="adj" fmla="val 6866"/>
            </a:avLst>
          </a:prstGeom>
          <a:noFill/>
          <a:ln w="28575" algn="ctr">
            <a:solidFill>
              <a:srgbClr val="6600FF"/>
            </a:solidFill>
            <a:prstDash val="dash"/>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grpSp>
        <p:nvGrpSpPr>
          <p:cNvPr id="23" name="组合 22"/>
          <p:cNvGrpSpPr/>
          <p:nvPr/>
        </p:nvGrpSpPr>
        <p:grpSpPr>
          <a:xfrm>
            <a:off x="5213350" y="2876550"/>
            <a:ext cx="1619250" cy="908050"/>
            <a:chOff x="5213350" y="2876550"/>
            <a:chExt cx="1619250" cy="908050"/>
          </a:xfrm>
        </p:grpSpPr>
        <p:grpSp>
          <p:nvGrpSpPr>
            <p:cNvPr id="21" name="组合 20"/>
            <p:cNvGrpSpPr/>
            <p:nvPr/>
          </p:nvGrpSpPr>
          <p:grpSpPr>
            <a:xfrm>
              <a:off x="5213350" y="3333750"/>
              <a:ext cx="1619250" cy="450850"/>
              <a:chOff x="5022850" y="3219450"/>
              <a:chExt cx="1619250" cy="450850"/>
            </a:xfrm>
          </p:grpSpPr>
          <p:sp>
            <p:nvSpPr>
              <p:cNvPr id="20" name="圆角矩形 19"/>
              <p:cNvSpPr/>
              <p:nvPr/>
            </p:nvSpPr>
            <p:spPr>
              <a:xfrm>
                <a:off x="5022850" y="3219450"/>
                <a:ext cx="1619250" cy="450850"/>
              </a:xfrm>
              <a:prstGeom prst="roundRect">
                <a:avLst/>
              </a:prstGeom>
              <a:solidFill>
                <a:srgbClr val="FFFF00"/>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1931" name="Object 11"/>
              <p:cNvGraphicFramePr>
                <a:graphicFrameLocks noChangeAspect="1"/>
              </p:cNvGraphicFramePr>
              <p:nvPr/>
            </p:nvGraphicFramePr>
            <p:xfrm>
              <a:off x="5062538" y="3263900"/>
              <a:ext cx="1474787" cy="358775"/>
            </p:xfrm>
            <a:graphic>
              <a:graphicData uri="http://schemas.openxmlformats.org/presentationml/2006/ole">
                <mc:AlternateContent xmlns:mc="http://schemas.openxmlformats.org/markup-compatibility/2006">
                  <mc:Choice xmlns:v="urn:schemas-microsoft-com:vml" Requires="v">
                    <p:oleObj spid="_x0000_s33809" name="Equation" r:id="rId9" imgW="23774400" imgH="5791200" progId="Equation.DSMT4">
                      <p:embed/>
                    </p:oleObj>
                  </mc:Choice>
                  <mc:Fallback>
                    <p:oleObj name="Equation" r:id="rId9" imgW="23774400" imgH="57912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2538" y="3263900"/>
                            <a:ext cx="1474787" cy="35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 name="下箭头 21"/>
            <p:cNvSpPr/>
            <p:nvPr/>
          </p:nvSpPr>
          <p:spPr>
            <a:xfrm>
              <a:off x="5778500" y="2876550"/>
              <a:ext cx="484632" cy="419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81928"/>
                                        </p:tgtEl>
                                        <p:attrNameLst>
                                          <p:attrName>style.visibility</p:attrName>
                                        </p:attrNameLst>
                                      </p:cBhvr>
                                      <p:to>
                                        <p:strVal val="visible"/>
                                      </p:to>
                                    </p:set>
                                    <p:animEffect transition="in" filter="fade">
                                      <p:cBhvr>
                                        <p:cTn id="17" dur="1000"/>
                                        <p:tgtEl>
                                          <p:spTgt spid="81928"/>
                                        </p:tgtEl>
                                      </p:cBhvr>
                                    </p:animEffect>
                                    <p:anim calcmode="lin" valueType="num">
                                      <p:cBhvr>
                                        <p:cTn id="18" dur="1000" fill="hold"/>
                                        <p:tgtEl>
                                          <p:spTgt spid="81928"/>
                                        </p:tgtEl>
                                        <p:attrNameLst>
                                          <p:attrName>ppt_x</p:attrName>
                                        </p:attrNameLst>
                                      </p:cBhvr>
                                      <p:tavLst>
                                        <p:tav tm="0">
                                          <p:val>
                                            <p:strVal val="#ppt_x"/>
                                          </p:val>
                                        </p:tav>
                                        <p:tav tm="100000">
                                          <p:val>
                                            <p:strVal val="#ppt_x"/>
                                          </p:val>
                                        </p:tav>
                                      </p:tavLst>
                                    </p:anim>
                                    <p:anim calcmode="lin" valueType="num">
                                      <p:cBhvr>
                                        <p:cTn id="19" dur="1000" fill="hold"/>
                                        <p:tgtEl>
                                          <p:spTgt spid="8192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wipe(right)">
                                      <p:cBhvr>
                                        <p:cTn id="24" dur="1000"/>
                                        <p:tgtEl>
                                          <p:spTgt spid="25"/>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wipe(left)">
                                      <p:cBhvr>
                                        <p:cTn id="28" dur="1000"/>
                                        <p:tgtEl>
                                          <p:spTgt spid="42"/>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1929"/>
                                        </p:tgtEl>
                                        <p:attrNameLst>
                                          <p:attrName>style.visibility</p:attrName>
                                        </p:attrNameLst>
                                      </p:cBhvr>
                                      <p:to>
                                        <p:strVal val="visible"/>
                                      </p:to>
                                    </p:set>
                                    <p:animEffect transition="in" filter="fade">
                                      <p:cBhvr>
                                        <p:cTn id="33" dur="1000"/>
                                        <p:tgtEl>
                                          <p:spTgt spid="81929"/>
                                        </p:tgtEl>
                                      </p:cBhvr>
                                    </p:animEffect>
                                    <p:anim calcmode="lin" valueType="num">
                                      <p:cBhvr>
                                        <p:cTn id="34" dur="1000" fill="hold"/>
                                        <p:tgtEl>
                                          <p:spTgt spid="81929"/>
                                        </p:tgtEl>
                                        <p:attrNameLst>
                                          <p:attrName>ppt_x</p:attrName>
                                        </p:attrNameLst>
                                      </p:cBhvr>
                                      <p:tavLst>
                                        <p:tav tm="0">
                                          <p:val>
                                            <p:strVal val="#ppt_x"/>
                                          </p:val>
                                        </p:tav>
                                        <p:tav tm="100000">
                                          <p:val>
                                            <p:strVal val="#ppt_x"/>
                                          </p:val>
                                        </p:tav>
                                      </p:tavLst>
                                    </p:anim>
                                    <p:anim calcmode="lin" valueType="num">
                                      <p:cBhvr>
                                        <p:cTn id="35" dur="1000" fill="hold"/>
                                        <p:tgtEl>
                                          <p:spTgt spid="81929"/>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81930"/>
                                        </p:tgtEl>
                                        <p:attrNameLst>
                                          <p:attrName>style.visibility</p:attrName>
                                        </p:attrNameLst>
                                      </p:cBhvr>
                                      <p:to>
                                        <p:strVal val="visible"/>
                                      </p:to>
                                    </p:set>
                                    <p:animEffect transition="in" filter="fade">
                                      <p:cBhvr>
                                        <p:cTn id="38" dur="1000"/>
                                        <p:tgtEl>
                                          <p:spTgt spid="81930"/>
                                        </p:tgtEl>
                                      </p:cBhvr>
                                    </p:animEffect>
                                    <p:anim calcmode="lin" valueType="num">
                                      <p:cBhvr>
                                        <p:cTn id="39" dur="1000" fill="hold"/>
                                        <p:tgtEl>
                                          <p:spTgt spid="81930"/>
                                        </p:tgtEl>
                                        <p:attrNameLst>
                                          <p:attrName>ppt_x</p:attrName>
                                        </p:attrNameLst>
                                      </p:cBhvr>
                                      <p:tavLst>
                                        <p:tav tm="0">
                                          <p:val>
                                            <p:strVal val="#ppt_x"/>
                                          </p:val>
                                        </p:tav>
                                        <p:tav tm="100000">
                                          <p:val>
                                            <p:strVal val="#ppt_x"/>
                                          </p:val>
                                        </p:tav>
                                      </p:tavLst>
                                    </p:anim>
                                    <p:anim calcmode="lin" valueType="num">
                                      <p:cBhvr>
                                        <p:cTn id="40" dur="1000" fill="hold"/>
                                        <p:tgtEl>
                                          <p:spTgt spid="8193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 fill="hold" grpId="0" nodeType="click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p:cTn id="45" dur="1000" fill="hold"/>
                                        <p:tgtEl>
                                          <p:spTgt spid="28"/>
                                        </p:tgtEl>
                                        <p:attrNameLst>
                                          <p:attrName>ppt_x</p:attrName>
                                        </p:attrNameLst>
                                      </p:cBhvr>
                                      <p:tavLst>
                                        <p:tav tm="0">
                                          <p:val>
                                            <p:strVal val="#ppt_x"/>
                                          </p:val>
                                        </p:tav>
                                        <p:tav tm="100000">
                                          <p:val>
                                            <p:strVal val="#ppt_x"/>
                                          </p:val>
                                        </p:tav>
                                      </p:tavLst>
                                    </p:anim>
                                    <p:anim calcmode="lin" valueType="num">
                                      <p:cBhvr>
                                        <p:cTn id="46" dur="1000" fill="hold"/>
                                        <p:tgtEl>
                                          <p:spTgt spid="28"/>
                                        </p:tgtEl>
                                        <p:attrNameLst>
                                          <p:attrName>ppt_y</p:attrName>
                                        </p:attrNameLst>
                                      </p:cBhvr>
                                      <p:tavLst>
                                        <p:tav tm="0">
                                          <p:val>
                                            <p:strVal val="#ppt_y-#ppt_h/2"/>
                                          </p:val>
                                        </p:tav>
                                        <p:tav tm="100000">
                                          <p:val>
                                            <p:strVal val="#ppt_y"/>
                                          </p:val>
                                        </p:tav>
                                      </p:tavLst>
                                    </p:anim>
                                    <p:anim calcmode="lin" valueType="num">
                                      <p:cBhvr>
                                        <p:cTn id="47" dur="1000" fill="hold"/>
                                        <p:tgtEl>
                                          <p:spTgt spid="28"/>
                                        </p:tgtEl>
                                        <p:attrNameLst>
                                          <p:attrName>ppt_w</p:attrName>
                                        </p:attrNameLst>
                                      </p:cBhvr>
                                      <p:tavLst>
                                        <p:tav tm="0">
                                          <p:val>
                                            <p:strVal val="#ppt_w"/>
                                          </p:val>
                                        </p:tav>
                                        <p:tav tm="100000">
                                          <p:val>
                                            <p:strVal val="#ppt_w"/>
                                          </p:val>
                                        </p:tav>
                                      </p:tavLst>
                                    </p:anim>
                                    <p:anim calcmode="lin" valueType="num">
                                      <p:cBhvr>
                                        <p:cTn id="48" dur="1000" fill="hold"/>
                                        <p:tgtEl>
                                          <p:spTgt spid="28"/>
                                        </p:tgtEl>
                                        <p:attrNameLst>
                                          <p:attrName>ppt_h</p:attrName>
                                        </p:attrNameLst>
                                      </p:cBhvr>
                                      <p:tavLst>
                                        <p:tav tm="0">
                                          <p:val>
                                            <p:fltVal val="0"/>
                                          </p:val>
                                        </p:tav>
                                        <p:tav tm="100000">
                                          <p:val>
                                            <p:strVal val="#ppt_h"/>
                                          </p:val>
                                        </p:tav>
                                      </p:tavLst>
                                    </p:anim>
                                  </p:childTnLst>
                                </p:cTn>
                              </p:par>
                            </p:childTnLst>
                          </p:cTn>
                        </p:par>
                        <p:par>
                          <p:cTn id="49" fill="hold">
                            <p:stCondLst>
                              <p:cond delay="1000"/>
                            </p:stCondLst>
                            <p:childTnLst>
                              <p:par>
                                <p:cTn id="50" presetID="17" presetClass="entr" presetSubtype="1" fill="hold" nodeType="afterEffect">
                                  <p:stCondLst>
                                    <p:cond delay="0"/>
                                  </p:stCondLst>
                                  <p:childTnLst>
                                    <p:set>
                                      <p:cBhvr>
                                        <p:cTn id="51" dur="1" fill="hold">
                                          <p:stCondLst>
                                            <p:cond delay="0"/>
                                          </p:stCondLst>
                                        </p:cTn>
                                        <p:tgtEl>
                                          <p:spTgt spid="23"/>
                                        </p:tgtEl>
                                        <p:attrNameLst>
                                          <p:attrName>style.visibility</p:attrName>
                                        </p:attrNameLst>
                                      </p:cBhvr>
                                      <p:to>
                                        <p:strVal val="visible"/>
                                      </p:to>
                                    </p:set>
                                    <p:anim calcmode="lin" valueType="num">
                                      <p:cBhvr>
                                        <p:cTn id="52" dur="1000" fill="hold"/>
                                        <p:tgtEl>
                                          <p:spTgt spid="23"/>
                                        </p:tgtEl>
                                        <p:attrNameLst>
                                          <p:attrName>ppt_x</p:attrName>
                                        </p:attrNameLst>
                                      </p:cBhvr>
                                      <p:tavLst>
                                        <p:tav tm="0">
                                          <p:val>
                                            <p:strVal val="#ppt_x"/>
                                          </p:val>
                                        </p:tav>
                                        <p:tav tm="100000">
                                          <p:val>
                                            <p:strVal val="#ppt_x"/>
                                          </p:val>
                                        </p:tav>
                                      </p:tavLst>
                                    </p:anim>
                                    <p:anim calcmode="lin" valueType="num">
                                      <p:cBhvr>
                                        <p:cTn id="53" dur="1000" fill="hold"/>
                                        <p:tgtEl>
                                          <p:spTgt spid="23"/>
                                        </p:tgtEl>
                                        <p:attrNameLst>
                                          <p:attrName>ppt_y</p:attrName>
                                        </p:attrNameLst>
                                      </p:cBhvr>
                                      <p:tavLst>
                                        <p:tav tm="0">
                                          <p:val>
                                            <p:strVal val="#ppt_y-#ppt_h/2"/>
                                          </p:val>
                                        </p:tav>
                                        <p:tav tm="100000">
                                          <p:val>
                                            <p:strVal val="#ppt_y"/>
                                          </p:val>
                                        </p:tav>
                                      </p:tavLst>
                                    </p:anim>
                                    <p:anim calcmode="lin" valueType="num">
                                      <p:cBhvr>
                                        <p:cTn id="54" dur="1000" fill="hold"/>
                                        <p:tgtEl>
                                          <p:spTgt spid="23"/>
                                        </p:tgtEl>
                                        <p:attrNameLst>
                                          <p:attrName>ppt_w</p:attrName>
                                        </p:attrNameLst>
                                      </p:cBhvr>
                                      <p:tavLst>
                                        <p:tav tm="0">
                                          <p:val>
                                            <p:strVal val="#ppt_w"/>
                                          </p:val>
                                        </p:tav>
                                        <p:tav tm="100000">
                                          <p:val>
                                            <p:strVal val="#ppt_w"/>
                                          </p:val>
                                        </p:tav>
                                      </p:tavLst>
                                    </p:anim>
                                    <p:anim calcmode="lin" valueType="num">
                                      <p:cBhvr>
                                        <p:cTn id="55" dur="1000" fill="hold"/>
                                        <p:tgtEl>
                                          <p:spTgt spid="23"/>
                                        </p:tgtEl>
                                        <p:attrNameLst>
                                          <p:attrName>ppt_h</p:attrName>
                                        </p:attrNameLst>
                                      </p:cBhvr>
                                      <p:tavLst>
                                        <p:tav tm="0">
                                          <p:val>
                                            <p:fltVal val="0"/>
                                          </p:val>
                                        </p:tav>
                                        <p:tav tm="100000">
                                          <p:val>
                                            <p:strVal val="#ppt_h"/>
                                          </p:val>
                                        </p:tav>
                                      </p:tavLst>
                                    </p:anim>
                                  </p:childTnLst>
                                </p:cTn>
                              </p:par>
                            </p:childTnLst>
                          </p:cTn>
                        </p:par>
                        <p:par>
                          <p:cTn id="56" fill="hold">
                            <p:stCondLst>
                              <p:cond delay="2000"/>
                            </p:stCondLst>
                            <p:childTnLst>
                              <p:par>
                                <p:cTn id="57" presetID="42" presetClass="entr" presetSubtype="0"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1000"/>
                                        <p:tgtEl>
                                          <p:spTgt spid="24"/>
                                        </p:tgtEl>
                                      </p:cBhvr>
                                    </p:animEffect>
                                    <p:anim calcmode="lin" valueType="num">
                                      <p:cBhvr>
                                        <p:cTn id="60" dur="1000" fill="hold"/>
                                        <p:tgtEl>
                                          <p:spTgt spid="24"/>
                                        </p:tgtEl>
                                        <p:attrNameLst>
                                          <p:attrName>ppt_x</p:attrName>
                                        </p:attrNameLst>
                                      </p:cBhvr>
                                      <p:tavLst>
                                        <p:tav tm="0">
                                          <p:val>
                                            <p:strVal val="#ppt_x"/>
                                          </p:val>
                                        </p:tav>
                                        <p:tav tm="100000">
                                          <p:val>
                                            <p:strVal val="#ppt_x"/>
                                          </p:val>
                                        </p:tav>
                                      </p:tavLst>
                                    </p:anim>
                                    <p:anim calcmode="lin" valueType="num">
                                      <p:cBhvr>
                                        <p:cTn id="6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42" grpId="0" animBg="1"/>
      <p:bldP spid="2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22"/>
          <p:cNvGrpSpPr/>
          <p:nvPr/>
        </p:nvGrpSpPr>
        <p:grpSpPr>
          <a:xfrm>
            <a:off x="392432" y="778617"/>
            <a:ext cx="4042408" cy="420971"/>
            <a:chOff x="670560" y="892917"/>
            <a:chExt cx="4042408" cy="420971"/>
          </a:xfrm>
        </p:grpSpPr>
        <p:sp>
          <p:nvSpPr>
            <p:cNvPr id="18" name="矩形 17"/>
            <p:cNvSpPr/>
            <p:nvPr/>
          </p:nvSpPr>
          <p:spPr>
            <a:xfrm>
              <a:off x="1035232" y="913778"/>
              <a:ext cx="367773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触发器逻辑功能转换</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0" name="Rectangle 8"/>
          <p:cNvSpPr>
            <a:spLocks noChangeArrowheads="1"/>
          </p:cNvSpPr>
          <p:nvPr/>
        </p:nvSpPr>
        <p:spPr bwMode="auto">
          <a:xfrm>
            <a:off x="541338" y="1309688"/>
            <a:ext cx="3427411" cy="369332"/>
          </a:xfrm>
          <a:prstGeom prst="rect">
            <a:avLst/>
          </a:prstGeom>
          <a:noFill/>
          <a:ln w="9525" algn="ctr">
            <a:noFill/>
            <a:miter lim="800000"/>
          </a:ln>
        </p:spPr>
        <p:txBody>
          <a:bodyPr wrap="square">
            <a:spAutoFit/>
          </a:bodyPr>
          <a:lstStyle/>
          <a:p>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触发器构成</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4" name="组合 23"/>
          <p:cNvGrpSpPr/>
          <p:nvPr/>
        </p:nvGrpSpPr>
        <p:grpSpPr>
          <a:xfrm>
            <a:off x="1098550" y="1968500"/>
            <a:ext cx="3032125" cy="1162050"/>
            <a:chOff x="1098550" y="1968500"/>
            <a:chExt cx="3032125" cy="1162050"/>
          </a:xfrm>
        </p:grpSpPr>
        <p:pic>
          <p:nvPicPr>
            <p:cNvPr id="21" name="Picture 8"/>
            <p:cNvPicPr>
              <a:picLocks noChangeAspect="1" noChangeArrowheads="1"/>
            </p:cNvPicPr>
            <p:nvPr/>
          </p:nvPicPr>
          <p:blipFill>
            <a:blip r:embed="rId2" cstate="print"/>
            <a:srcRect/>
            <a:stretch>
              <a:fillRect/>
            </a:stretch>
          </p:blipFill>
          <p:spPr bwMode="auto">
            <a:xfrm>
              <a:off x="2397125" y="2058988"/>
              <a:ext cx="1733550" cy="962025"/>
            </a:xfrm>
            <a:prstGeom prst="rect">
              <a:avLst/>
            </a:prstGeom>
            <a:noFill/>
            <a:ln w="9525">
              <a:noFill/>
              <a:miter lim="800000"/>
              <a:headEnd/>
              <a:tailEnd/>
            </a:ln>
          </p:spPr>
        </p:pic>
        <p:grpSp>
          <p:nvGrpSpPr>
            <p:cNvPr id="22" name="组合 21"/>
            <p:cNvGrpSpPr/>
            <p:nvPr/>
          </p:nvGrpSpPr>
          <p:grpSpPr>
            <a:xfrm>
              <a:off x="1098550" y="2082800"/>
              <a:ext cx="1301750" cy="927100"/>
              <a:chOff x="1098550" y="2362200"/>
              <a:chExt cx="1301750" cy="927100"/>
            </a:xfrm>
          </p:grpSpPr>
          <p:sp>
            <p:nvSpPr>
              <p:cNvPr id="23" name="Line 33"/>
              <p:cNvSpPr>
                <a:spLocks noChangeShapeType="1"/>
              </p:cNvSpPr>
              <p:nvPr/>
            </p:nvSpPr>
            <p:spPr bwMode="auto">
              <a:xfrm flipH="1">
                <a:off x="1308100" y="2774950"/>
                <a:ext cx="406400" cy="0"/>
              </a:xfrm>
              <a:prstGeom prst="line">
                <a:avLst/>
              </a:prstGeom>
              <a:noFill/>
              <a:ln w="38100">
                <a:solidFill>
                  <a:schemeClr val="tx1"/>
                </a:solidFill>
                <a:round/>
              </a:ln>
              <a:effectLst/>
            </p:spPr>
            <p:txBody>
              <a:bodyPr lIns="0" rIns="0" anchor="ctr"/>
              <a:lstStyle/>
              <a:p>
                <a:pPr>
                  <a:defRPr/>
                </a:pPr>
                <a:endParaRPr lang="zh-CN" altLang="en-US">
                  <a:effectLst>
                    <a:outerShdw blurRad="38100" dist="38100" dir="2700000" algn="tl">
                      <a:srgbClr val="000000">
                        <a:alpha val="43137"/>
                      </a:srgbClr>
                    </a:outerShdw>
                  </a:effectLst>
                </a:endParaRPr>
              </a:p>
            </p:txBody>
          </p:sp>
          <p:sp>
            <p:nvSpPr>
              <p:cNvPr id="25" name="Text Box 37"/>
              <p:cNvSpPr txBox="1">
                <a:spLocks noChangeArrowheads="1"/>
              </p:cNvSpPr>
              <p:nvPr/>
            </p:nvSpPr>
            <p:spPr bwMode="auto">
              <a:xfrm>
                <a:off x="1098550" y="2554288"/>
                <a:ext cx="331788" cy="365741"/>
              </a:xfrm>
              <a:prstGeom prst="rect">
                <a:avLst/>
              </a:prstGeom>
              <a:noFill/>
              <a:ln w="9525" algn="ctr">
                <a:noFill/>
                <a:miter lim="800000"/>
              </a:ln>
              <a:effectLst/>
            </p:spPr>
            <p:txBody>
              <a:bodyPr lIns="0" tIns="0" rIns="0" bIns="0">
                <a:spAutoFit/>
              </a:bodyPr>
              <a:lstStyle/>
              <a:p>
                <a:pPr>
                  <a:lnSpc>
                    <a:spcPct val="150000"/>
                  </a:lnSpc>
                  <a:defRPr/>
                </a:pPr>
                <a:r>
                  <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T</a:t>
                </a:r>
                <a:endParaRPr lang="en-US" altLang="zh-CN" b="1" i="1" dirty="0">
                  <a:solidFill>
                    <a:srgbClr val="00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26" name="AutoShape 32"/>
              <p:cNvSpPr>
                <a:spLocks noChangeArrowheads="1"/>
              </p:cNvSpPr>
              <p:nvPr/>
            </p:nvSpPr>
            <p:spPr bwMode="auto">
              <a:xfrm>
                <a:off x="1720850" y="2362200"/>
                <a:ext cx="679450" cy="927100"/>
              </a:xfrm>
              <a:prstGeom prst="roundRect">
                <a:avLst>
                  <a:gd name="adj" fmla="val 10000"/>
                </a:avLst>
              </a:prstGeom>
              <a:solidFill>
                <a:srgbClr val="FFFFFF"/>
              </a:solidFill>
              <a:ln w="28575" algn="ctr">
                <a:solidFill>
                  <a:srgbClr val="FF0000"/>
                </a:solidFill>
                <a:round/>
              </a:ln>
            </p:spPr>
            <p:txBody>
              <a:bodyPr lIns="0" rIns="0" anchor="ctr"/>
              <a:lstStyle/>
              <a:p>
                <a:pPr algn="ctr"/>
                <a:r>
                  <a:rPr lang="zh-CN" altLang="en-US" dirty="0">
                    <a:solidFill>
                      <a:srgbClr val="000000"/>
                    </a:solidFill>
                    <a:latin typeface="微软雅黑" panose="020B0503020204020204" pitchFamily="34" charset="-122"/>
                    <a:ea typeface="微软雅黑" panose="020B0503020204020204" pitchFamily="34" charset="-122"/>
                  </a:rPr>
                  <a:t>组合逻辑电路</a:t>
                </a:r>
                <a:endParaRPr lang="zh-CN" altLang="en-US" dirty="0">
                  <a:solidFill>
                    <a:srgbClr val="000000"/>
                  </a:solidFill>
                  <a:latin typeface="微软雅黑" panose="020B0503020204020204" pitchFamily="34" charset="-122"/>
                  <a:ea typeface="微软雅黑" panose="020B0503020204020204" pitchFamily="34" charset="-122"/>
                </a:endParaRPr>
              </a:p>
            </p:txBody>
          </p:sp>
        </p:grpSp>
        <p:sp>
          <p:nvSpPr>
            <p:cNvPr id="27" name="AutoShape 35"/>
            <p:cNvSpPr>
              <a:spLocks noChangeArrowheads="1"/>
            </p:cNvSpPr>
            <p:nvPr/>
          </p:nvSpPr>
          <p:spPr bwMode="auto">
            <a:xfrm>
              <a:off x="1409700" y="1968500"/>
              <a:ext cx="2705100" cy="1162050"/>
            </a:xfrm>
            <a:prstGeom prst="roundRect">
              <a:avLst>
                <a:gd name="adj" fmla="val 6866"/>
              </a:avLst>
            </a:prstGeom>
            <a:noFill/>
            <a:ln w="28575" algn="ctr">
              <a:solidFill>
                <a:srgbClr val="6600FF"/>
              </a:solidFill>
              <a:prstDash val="dash"/>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grpSp>
      <p:graphicFrame>
        <p:nvGraphicFramePr>
          <p:cNvPr id="28" name="Object 9"/>
          <p:cNvGraphicFramePr>
            <a:graphicFrameLocks noChangeAspect="1"/>
          </p:cNvGraphicFramePr>
          <p:nvPr/>
        </p:nvGraphicFramePr>
        <p:xfrm>
          <a:off x="4857750" y="1897063"/>
          <a:ext cx="1644650" cy="717550"/>
        </p:xfrm>
        <a:graphic>
          <a:graphicData uri="http://schemas.openxmlformats.org/presentationml/2006/ole">
            <mc:AlternateContent xmlns:mc="http://schemas.openxmlformats.org/markup-compatibility/2006">
              <mc:Choice xmlns:v="urn:schemas-microsoft-com:vml" Requires="v">
                <p:oleObj spid="_x0000_s34830" name="Equation" r:id="rId3" imgW="26517600" imgH="11582400" progId="Equation.DSMT4">
                  <p:embed/>
                </p:oleObj>
              </mc:Choice>
              <mc:Fallback>
                <p:oleObj name="Equation" r:id="rId3" imgW="26517600" imgH="11582400"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0" y="1897063"/>
                        <a:ext cx="1644650" cy="71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0"/>
          <p:cNvGraphicFramePr>
            <a:graphicFrameLocks noChangeAspect="1"/>
          </p:cNvGraphicFramePr>
          <p:nvPr/>
        </p:nvGraphicFramePr>
        <p:xfrm>
          <a:off x="4832349" y="2584450"/>
          <a:ext cx="908757" cy="355600"/>
        </p:xfrm>
        <a:graphic>
          <a:graphicData uri="http://schemas.openxmlformats.org/presentationml/2006/ole">
            <mc:AlternateContent xmlns:mc="http://schemas.openxmlformats.org/markup-compatibility/2006">
              <mc:Choice xmlns:v="urn:schemas-microsoft-com:vml" Requires="v">
                <p:oleObj spid="_x0000_s34831" name="Equation" r:id="rId5" imgW="584200" imgH="228600" progId="Equation.DSMT4">
                  <p:embed/>
                </p:oleObj>
              </mc:Choice>
              <mc:Fallback>
                <p:oleObj name="Equation" r:id="rId5" imgW="584200" imgH="228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2349" y="2584450"/>
                        <a:ext cx="908757"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1" name="组合 30"/>
          <p:cNvGrpSpPr/>
          <p:nvPr/>
        </p:nvGrpSpPr>
        <p:grpSpPr>
          <a:xfrm>
            <a:off x="5213350" y="2927350"/>
            <a:ext cx="1619250" cy="857250"/>
            <a:chOff x="5213350" y="2927350"/>
            <a:chExt cx="1619250" cy="857250"/>
          </a:xfrm>
        </p:grpSpPr>
        <p:grpSp>
          <p:nvGrpSpPr>
            <p:cNvPr id="32" name="组合 20"/>
            <p:cNvGrpSpPr/>
            <p:nvPr/>
          </p:nvGrpSpPr>
          <p:grpSpPr>
            <a:xfrm>
              <a:off x="5213350" y="3333750"/>
              <a:ext cx="1619250" cy="450850"/>
              <a:chOff x="5022850" y="3219450"/>
              <a:chExt cx="1619250" cy="450850"/>
            </a:xfrm>
          </p:grpSpPr>
          <p:sp>
            <p:nvSpPr>
              <p:cNvPr id="34" name="圆角矩形 33"/>
              <p:cNvSpPr/>
              <p:nvPr/>
            </p:nvSpPr>
            <p:spPr>
              <a:xfrm>
                <a:off x="5022850" y="3219450"/>
                <a:ext cx="1619250" cy="450850"/>
              </a:xfrm>
              <a:prstGeom prst="roundRect">
                <a:avLst/>
              </a:prstGeom>
              <a:solidFill>
                <a:srgbClr val="FFFF00"/>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5" name="Object 11"/>
              <p:cNvGraphicFramePr>
                <a:graphicFrameLocks noChangeAspect="1"/>
              </p:cNvGraphicFramePr>
              <p:nvPr/>
            </p:nvGraphicFramePr>
            <p:xfrm>
              <a:off x="5251450" y="3273425"/>
              <a:ext cx="1095375" cy="339725"/>
            </p:xfrm>
            <a:graphic>
              <a:graphicData uri="http://schemas.openxmlformats.org/presentationml/2006/ole">
                <mc:AlternateContent xmlns:mc="http://schemas.openxmlformats.org/markup-compatibility/2006">
                  <mc:Choice xmlns:v="urn:schemas-microsoft-com:vml" Requires="v">
                    <p:oleObj spid="_x0000_s34832" name="Equation" r:id="rId7" imgW="17678400" imgH="5486400" progId="Equation.DSMT4">
                      <p:embed/>
                    </p:oleObj>
                  </mc:Choice>
                  <mc:Fallback>
                    <p:oleObj name="Equation" r:id="rId7" imgW="17678400" imgH="5486400" progId="Equation.DSMT4">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1450" y="3273425"/>
                            <a:ext cx="1095375"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3" name="下箭头 32"/>
            <p:cNvSpPr/>
            <p:nvPr/>
          </p:nvSpPr>
          <p:spPr>
            <a:xfrm>
              <a:off x="5778500" y="2927350"/>
              <a:ext cx="484632" cy="3683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1576389" y="3543300"/>
            <a:ext cx="2316161" cy="989012"/>
            <a:chOff x="1525589" y="3562350"/>
            <a:chExt cx="2316161" cy="989012"/>
          </a:xfrm>
        </p:grpSpPr>
        <p:graphicFrame>
          <p:nvGraphicFramePr>
            <p:cNvPr id="12" name="Object 18"/>
            <p:cNvGraphicFramePr>
              <a:graphicFrameLocks noChangeAspect="1"/>
            </p:cNvGraphicFramePr>
            <p:nvPr/>
          </p:nvGraphicFramePr>
          <p:xfrm>
            <a:off x="1525589" y="3571161"/>
            <a:ext cx="2316161" cy="980201"/>
          </p:xfrm>
          <a:graphic>
            <a:graphicData uri="http://schemas.openxmlformats.org/presentationml/2006/ole">
              <mc:AlternateContent xmlns:mc="http://schemas.openxmlformats.org/markup-compatibility/2006">
                <mc:Choice xmlns:v="urn:schemas-microsoft-com:vml" Requires="v">
                  <p:oleObj spid="_x0000_s34833" name="图片" r:id="rId9" imgW="4648200" imgH="1847850" progId="Word.Picture.8">
                    <p:embed/>
                  </p:oleObj>
                </mc:Choice>
                <mc:Fallback>
                  <p:oleObj name="图片" r:id="rId9" imgW="4648200" imgH="1847850" progId="Word.Picture.8">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t="-6459"/>
                        <a:stretch>
                          <a:fillRect/>
                        </a:stretch>
                      </p:blipFill>
                      <p:spPr bwMode="auto">
                        <a:xfrm>
                          <a:off x="1525589" y="3571161"/>
                          <a:ext cx="2316161" cy="980201"/>
                        </a:xfrm>
                        <a:prstGeom prst="rect">
                          <a:avLst/>
                        </a:prstGeom>
                        <a:solidFill>
                          <a:srgbClr val="FFFFFF"/>
                        </a:solidFill>
                      </p:spPr>
                    </p:pic>
                  </p:oleObj>
                </mc:Fallback>
              </mc:AlternateContent>
            </a:graphicData>
          </a:graphic>
        </p:graphicFrame>
        <p:sp>
          <p:nvSpPr>
            <p:cNvPr id="36" name="AutoShape 32"/>
            <p:cNvSpPr>
              <a:spLocks noChangeArrowheads="1"/>
            </p:cNvSpPr>
            <p:nvPr/>
          </p:nvSpPr>
          <p:spPr bwMode="auto">
            <a:xfrm>
              <a:off x="1816100" y="3562350"/>
              <a:ext cx="679450" cy="654050"/>
            </a:xfrm>
            <a:prstGeom prst="roundRect">
              <a:avLst>
                <a:gd name="adj" fmla="val 10000"/>
              </a:avLst>
            </a:prstGeom>
            <a:noFill/>
            <a:ln w="28575" algn="ctr">
              <a:solidFill>
                <a:srgbClr val="FF0000"/>
              </a:solidFill>
              <a:round/>
            </a:ln>
          </p:spPr>
          <p:txBody>
            <a:bodyPr lIns="0" rIns="0" anchor="ctr"/>
            <a:lstStyle/>
            <a:p>
              <a:pPr algn="ctr"/>
              <a:endParaRPr lang="zh-CN" altLang="en-US" dirty="0">
                <a:solidFill>
                  <a:srgbClr val="000000"/>
                </a:solidFill>
                <a:latin typeface="微软雅黑" panose="020B0503020204020204" pitchFamily="34" charset="-122"/>
                <a:ea typeface="微软雅黑" panose="020B0503020204020204" pitchFamily="34" charset="-122"/>
              </a:endParaRPr>
            </a:p>
          </p:txBody>
        </p:sp>
      </p:grpSp>
      <p:sp>
        <p:nvSpPr>
          <p:cNvPr id="38" name="AutoShape 35"/>
          <p:cNvSpPr>
            <a:spLocks noChangeArrowheads="1"/>
          </p:cNvSpPr>
          <p:nvPr/>
        </p:nvSpPr>
        <p:spPr bwMode="auto">
          <a:xfrm>
            <a:off x="5467350" y="1897063"/>
            <a:ext cx="1085850" cy="973137"/>
          </a:xfrm>
          <a:prstGeom prst="roundRect">
            <a:avLst>
              <a:gd name="adj" fmla="val 6866"/>
            </a:avLst>
          </a:prstGeom>
          <a:noFill/>
          <a:ln w="28575" algn="ctr">
            <a:solidFill>
              <a:srgbClr val="6600FF"/>
            </a:solidFill>
            <a:prstDash val="dash"/>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1000"/>
                                        <p:tgtEl>
                                          <p:spTgt spid="24"/>
                                        </p:tgtEl>
                                      </p:cBhvr>
                                    </p:animEffect>
                                    <p:anim calcmode="lin" valueType="num">
                                      <p:cBhvr>
                                        <p:cTn id="14" dur="1000" fill="hold"/>
                                        <p:tgtEl>
                                          <p:spTgt spid="24"/>
                                        </p:tgtEl>
                                        <p:attrNameLst>
                                          <p:attrName>ppt_x</p:attrName>
                                        </p:attrNameLst>
                                      </p:cBhvr>
                                      <p:tavLst>
                                        <p:tav tm="0">
                                          <p:val>
                                            <p:strVal val="#ppt_x"/>
                                          </p:val>
                                        </p:tav>
                                        <p:tav tm="100000">
                                          <p:val>
                                            <p:strVal val="#ppt_x"/>
                                          </p:val>
                                        </p:tav>
                                      </p:tavLst>
                                    </p:anim>
                                    <p:anim calcmode="lin" valueType="num">
                                      <p:cBhvr>
                                        <p:cTn id="15"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1000"/>
                                        <p:tgtEl>
                                          <p:spTgt spid="28"/>
                                        </p:tgtEl>
                                      </p:cBhvr>
                                    </p:animEffect>
                                    <p:anim calcmode="lin" valueType="num">
                                      <p:cBhvr>
                                        <p:cTn id="21" dur="1000" fill="hold"/>
                                        <p:tgtEl>
                                          <p:spTgt spid="28"/>
                                        </p:tgtEl>
                                        <p:attrNameLst>
                                          <p:attrName>ppt_x</p:attrName>
                                        </p:attrNameLst>
                                      </p:cBhvr>
                                      <p:tavLst>
                                        <p:tav tm="0">
                                          <p:val>
                                            <p:strVal val="#ppt_x"/>
                                          </p:val>
                                        </p:tav>
                                        <p:tav tm="100000">
                                          <p:val>
                                            <p:strVal val="#ppt_x"/>
                                          </p:val>
                                        </p:tav>
                                      </p:tavLst>
                                    </p:anim>
                                    <p:anim calcmode="lin" valueType="num">
                                      <p:cBhvr>
                                        <p:cTn id="22" dur="1000" fill="hold"/>
                                        <p:tgtEl>
                                          <p:spTgt spid="28"/>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1000"/>
                                        <p:tgtEl>
                                          <p:spTgt spid="29"/>
                                        </p:tgtEl>
                                      </p:cBhvr>
                                    </p:animEffect>
                                    <p:anim calcmode="lin" valueType="num">
                                      <p:cBhvr>
                                        <p:cTn id="26" dur="1000" fill="hold"/>
                                        <p:tgtEl>
                                          <p:spTgt spid="29"/>
                                        </p:tgtEl>
                                        <p:attrNameLst>
                                          <p:attrName>ppt_x</p:attrName>
                                        </p:attrNameLst>
                                      </p:cBhvr>
                                      <p:tavLst>
                                        <p:tav tm="0">
                                          <p:val>
                                            <p:strVal val="#ppt_x"/>
                                          </p:val>
                                        </p:tav>
                                        <p:tav tm="100000">
                                          <p:val>
                                            <p:strVal val="#ppt_x"/>
                                          </p:val>
                                        </p:tav>
                                      </p:tavLst>
                                    </p:anim>
                                    <p:anim calcmode="lin" valueType="num">
                                      <p:cBhvr>
                                        <p:cTn id="27" dur="1000" fill="hold"/>
                                        <p:tgtEl>
                                          <p:spTgt spid="29"/>
                                        </p:tgtEl>
                                        <p:attrNameLst>
                                          <p:attrName>ppt_y</p:attrName>
                                        </p:attrNameLst>
                                      </p:cBhvr>
                                      <p:tavLst>
                                        <p:tav tm="0">
                                          <p:val>
                                            <p:strVal val="#ppt_y+.1"/>
                                          </p:val>
                                        </p:tav>
                                        <p:tav tm="100000">
                                          <p:val>
                                            <p:strVal val="#ppt_y"/>
                                          </p:val>
                                        </p:tav>
                                      </p:tavLst>
                                    </p:anim>
                                  </p:childTnLst>
                                </p:cTn>
                              </p:par>
                            </p:childTnLst>
                          </p:cTn>
                        </p:par>
                        <p:par>
                          <p:cTn id="28" fill="hold">
                            <p:stCondLst>
                              <p:cond delay="1000"/>
                            </p:stCondLst>
                            <p:childTnLst>
                              <p:par>
                                <p:cTn id="29" presetID="17" presetClass="entr" presetSubtype="1" fill="hold" grpId="0" nodeType="afterEffect">
                                  <p:stCondLst>
                                    <p:cond delay="0"/>
                                  </p:stCondLst>
                                  <p:childTnLst>
                                    <p:set>
                                      <p:cBhvr>
                                        <p:cTn id="30" dur="1" fill="hold">
                                          <p:stCondLst>
                                            <p:cond delay="0"/>
                                          </p:stCondLst>
                                        </p:cTn>
                                        <p:tgtEl>
                                          <p:spTgt spid="38"/>
                                        </p:tgtEl>
                                        <p:attrNameLst>
                                          <p:attrName>style.visibility</p:attrName>
                                        </p:attrNameLst>
                                      </p:cBhvr>
                                      <p:to>
                                        <p:strVal val="visible"/>
                                      </p:to>
                                    </p:set>
                                    <p:anim calcmode="lin" valueType="num">
                                      <p:cBhvr>
                                        <p:cTn id="31" dur="1000" fill="hold"/>
                                        <p:tgtEl>
                                          <p:spTgt spid="38"/>
                                        </p:tgtEl>
                                        <p:attrNameLst>
                                          <p:attrName>ppt_x</p:attrName>
                                        </p:attrNameLst>
                                      </p:cBhvr>
                                      <p:tavLst>
                                        <p:tav tm="0">
                                          <p:val>
                                            <p:strVal val="#ppt_x"/>
                                          </p:val>
                                        </p:tav>
                                        <p:tav tm="100000">
                                          <p:val>
                                            <p:strVal val="#ppt_x"/>
                                          </p:val>
                                        </p:tav>
                                      </p:tavLst>
                                    </p:anim>
                                    <p:anim calcmode="lin" valueType="num">
                                      <p:cBhvr>
                                        <p:cTn id="32" dur="1000" fill="hold"/>
                                        <p:tgtEl>
                                          <p:spTgt spid="38"/>
                                        </p:tgtEl>
                                        <p:attrNameLst>
                                          <p:attrName>ppt_y</p:attrName>
                                        </p:attrNameLst>
                                      </p:cBhvr>
                                      <p:tavLst>
                                        <p:tav tm="0">
                                          <p:val>
                                            <p:strVal val="#ppt_y-#ppt_h/2"/>
                                          </p:val>
                                        </p:tav>
                                        <p:tav tm="100000">
                                          <p:val>
                                            <p:strVal val="#ppt_y"/>
                                          </p:val>
                                        </p:tav>
                                      </p:tavLst>
                                    </p:anim>
                                    <p:anim calcmode="lin" valueType="num">
                                      <p:cBhvr>
                                        <p:cTn id="33" dur="1000" fill="hold"/>
                                        <p:tgtEl>
                                          <p:spTgt spid="38"/>
                                        </p:tgtEl>
                                        <p:attrNameLst>
                                          <p:attrName>ppt_w</p:attrName>
                                        </p:attrNameLst>
                                      </p:cBhvr>
                                      <p:tavLst>
                                        <p:tav tm="0">
                                          <p:val>
                                            <p:strVal val="#ppt_w"/>
                                          </p:val>
                                        </p:tav>
                                        <p:tav tm="100000">
                                          <p:val>
                                            <p:strVal val="#ppt_w"/>
                                          </p:val>
                                        </p:tav>
                                      </p:tavLst>
                                    </p:anim>
                                    <p:anim calcmode="lin" valueType="num">
                                      <p:cBhvr>
                                        <p:cTn id="34" dur="1000" fill="hold"/>
                                        <p:tgtEl>
                                          <p:spTgt spid="38"/>
                                        </p:tgtEl>
                                        <p:attrNameLst>
                                          <p:attrName>ppt_h</p:attrName>
                                        </p:attrNameLst>
                                      </p:cBhvr>
                                      <p:tavLst>
                                        <p:tav tm="0">
                                          <p:val>
                                            <p:fltVal val="0"/>
                                          </p:val>
                                        </p:tav>
                                        <p:tav tm="100000">
                                          <p:val>
                                            <p:strVal val="#ppt_h"/>
                                          </p:val>
                                        </p:tav>
                                      </p:tavLst>
                                    </p:anim>
                                  </p:childTnLst>
                                </p:cTn>
                              </p:par>
                            </p:childTnLst>
                          </p:cTn>
                        </p:par>
                        <p:par>
                          <p:cTn id="35" fill="hold">
                            <p:stCondLst>
                              <p:cond delay="2000"/>
                            </p:stCondLst>
                            <p:childTnLst>
                              <p:par>
                                <p:cTn id="36" presetID="17" presetClass="entr" presetSubtype="1"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 calcmode="lin" valueType="num">
                                      <p:cBhvr>
                                        <p:cTn id="38" dur="1000" fill="hold"/>
                                        <p:tgtEl>
                                          <p:spTgt spid="31"/>
                                        </p:tgtEl>
                                        <p:attrNameLst>
                                          <p:attrName>ppt_x</p:attrName>
                                        </p:attrNameLst>
                                      </p:cBhvr>
                                      <p:tavLst>
                                        <p:tav tm="0">
                                          <p:val>
                                            <p:strVal val="#ppt_x"/>
                                          </p:val>
                                        </p:tav>
                                        <p:tav tm="100000">
                                          <p:val>
                                            <p:strVal val="#ppt_x"/>
                                          </p:val>
                                        </p:tav>
                                      </p:tavLst>
                                    </p:anim>
                                    <p:anim calcmode="lin" valueType="num">
                                      <p:cBhvr>
                                        <p:cTn id="39" dur="1000" fill="hold"/>
                                        <p:tgtEl>
                                          <p:spTgt spid="31"/>
                                        </p:tgtEl>
                                        <p:attrNameLst>
                                          <p:attrName>ppt_y</p:attrName>
                                        </p:attrNameLst>
                                      </p:cBhvr>
                                      <p:tavLst>
                                        <p:tav tm="0">
                                          <p:val>
                                            <p:strVal val="#ppt_y-#ppt_h/2"/>
                                          </p:val>
                                        </p:tav>
                                        <p:tav tm="100000">
                                          <p:val>
                                            <p:strVal val="#ppt_y"/>
                                          </p:val>
                                        </p:tav>
                                      </p:tavLst>
                                    </p:anim>
                                    <p:anim calcmode="lin" valueType="num">
                                      <p:cBhvr>
                                        <p:cTn id="40" dur="1000" fill="hold"/>
                                        <p:tgtEl>
                                          <p:spTgt spid="31"/>
                                        </p:tgtEl>
                                        <p:attrNameLst>
                                          <p:attrName>ppt_w</p:attrName>
                                        </p:attrNameLst>
                                      </p:cBhvr>
                                      <p:tavLst>
                                        <p:tav tm="0">
                                          <p:val>
                                            <p:strVal val="#ppt_w"/>
                                          </p:val>
                                        </p:tav>
                                        <p:tav tm="100000">
                                          <p:val>
                                            <p:strVal val="#ppt_w"/>
                                          </p:val>
                                        </p:tav>
                                      </p:tavLst>
                                    </p:anim>
                                    <p:anim calcmode="lin" valueType="num">
                                      <p:cBhvr>
                                        <p:cTn id="41" dur="1000" fill="hold"/>
                                        <p:tgtEl>
                                          <p:spTgt spid="31"/>
                                        </p:tgtEl>
                                        <p:attrNameLst>
                                          <p:attrName>ppt_h</p:attrName>
                                        </p:attrNameLst>
                                      </p:cBhvr>
                                      <p:tavLst>
                                        <p:tav tm="0">
                                          <p:val>
                                            <p:fltVal val="0"/>
                                          </p:val>
                                        </p:tav>
                                        <p:tav tm="100000">
                                          <p:val>
                                            <p:strVal val="#ppt_h"/>
                                          </p:val>
                                        </p:tav>
                                      </p:tavLst>
                                    </p:anim>
                                  </p:childTnLst>
                                </p:cTn>
                              </p:par>
                            </p:childTnLst>
                          </p:cTn>
                        </p:par>
                        <p:par>
                          <p:cTn id="42" fill="hold">
                            <p:stCondLst>
                              <p:cond delay="3000"/>
                            </p:stCondLst>
                            <p:childTnLst>
                              <p:par>
                                <p:cTn id="43" presetID="42" presetClass="entr" presetSubtype="0" fill="hold" nodeType="after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1000"/>
                                        <p:tgtEl>
                                          <p:spTgt spid="37"/>
                                        </p:tgtEl>
                                      </p:cBhvr>
                                    </p:animEffect>
                                    <p:anim calcmode="lin" valueType="num">
                                      <p:cBhvr>
                                        <p:cTn id="46" dur="1000" fill="hold"/>
                                        <p:tgtEl>
                                          <p:spTgt spid="37"/>
                                        </p:tgtEl>
                                        <p:attrNameLst>
                                          <p:attrName>ppt_x</p:attrName>
                                        </p:attrNameLst>
                                      </p:cBhvr>
                                      <p:tavLst>
                                        <p:tav tm="0">
                                          <p:val>
                                            <p:strVal val="#ppt_x"/>
                                          </p:val>
                                        </p:tav>
                                        <p:tav tm="100000">
                                          <p:val>
                                            <p:strVal val="#ppt_x"/>
                                          </p:val>
                                        </p:tav>
                                      </p:tavLst>
                                    </p:anim>
                                    <p:anim calcmode="lin" valueType="num">
                                      <p:cBhvr>
                                        <p:cTn id="47"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2"/>
          <p:cNvGrpSpPr/>
          <p:nvPr/>
        </p:nvGrpSpPr>
        <p:grpSpPr>
          <a:xfrm>
            <a:off x="392432" y="778617"/>
            <a:ext cx="3234688" cy="420971"/>
            <a:chOff x="670560" y="892917"/>
            <a:chExt cx="3234688" cy="420971"/>
          </a:xfrm>
        </p:grpSpPr>
        <p:sp>
          <p:nvSpPr>
            <p:cNvPr id="3" name="矩形 2"/>
            <p:cNvSpPr/>
            <p:nvPr/>
          </p:nvSpPr>
          <p:spPr>
            <a:xfrm>
              <a:off x="1035232" y="913778"/>
              <a:ext cx="287001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触发器逻辑功能转换</a:t>
              </a:r>
              <a:endParaRPr lang="zh-CN" altLang="en-US"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8"/>
          <p:cNvSpPr>
            <a:spLocks noChangeArrowheads="1"/>
          </p:cNvSpPr>
          <p:nvPr/>
        </p:nvSpPr>
        <p:spPr bwMode="auto">
          <a:xfrm>
            <a:off x="541338" y="1309688"/>
            <a:ext cx="3427411" cy="369332"/>
          </a:xfrm>
          <a:prstGeom prst="rect">
            <a:avLst/>
          </a:prstGeom>
          <a:noFill/>
          <a:ln w="9525" algn="ctr">
            <a:noFill/>
            <a:miter lim="800000"/>
          </a:ln>
        </p:spPr>
        <p:txBody>
          <a:bodyPr wrap="square">
            <a:spAutoFit/>
          </a:bodyPr>
          <a:lstStyle/>
          <a:p>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触发器构成</a:t>
            </a:r>
            <a:r>
              <a:rPr lang="en-US" altLang="zh-CN"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T</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ˊ</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触发器</a:t>
            </a:r>
            <a:endPar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3970" name="Object 2"/>
          <p:cNvGraphicFramePr>
            <a:graphicFrameLocks noChangeAspect="1"/>
          </p:cNvGraphicFramePr>
          <p:nvPr/>
        </p:nvGraphicFramePr>
        <p:xfrm>
          <a:off x="1187450" y="1844675"/>
          <a:ext cx="927100" cy="339725"/>
        </p:xfrm>
        <a:graphic>
          <a:graphicData uri="http://schemas.openxmlformats.org/presentationml/2006/ole">
            <mc:AlternateContent xmlns:mc="http://schemas.openxmlformats.org/markup-compatibility/2006">
              <mc:Choice xmlns:v="urn:schemas-microsoft-com:vml" Requires="v">
                <p:oleObj spid="_x0000_s35851" name="Equation" r:id="rId2" imgW="14935200" imgH="5486400" progId="Equation.DSMT4">
                  <p:embed/>
                </p:oleObj>
              </mc:Choice>
              <mc:Fallback>
                <p:oleObj name="Equation" r:id="rId2" imgW="14935200" imgH="54864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844675"/>
                        <a:ext cx="9271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971" name="Object 3"/>
          <p:cNvGraphicFramePr>
            <a:graphicFrameLocks noChangeAspect="1"/>
          </p:cNvGraphicFramePr>
          <p:nvPr/>
        </p:nvGraphicFramePr>
        <p:xfrm>
          <a:off x="1187450" y="2343150"/>
          <a:ext cx="908050" cy="355600"/>
        </p:xfrm>
        <a:graphic>
          <a:graphicData uri="http://schemas.openxmlformats.org/presentationml/2006/ole">
            <mc:AlternateContent xmlns:mc="http://schemas.openxmlformats.org/markup-compatibility/2006">
              <mc:Choice xmlns:v="urn:schemas-microsoft-com:vml" Requires="v">
                <p:oleObj spid="_x0000_s35852" name="Equation" r:id="rId4" imgW="584200" imgH="228600" progId="Equation.DSMT4">
                  <p:embed/>
                </p:oleObj>
              </mc:Choice>
              <mc:Fallback>
                <p:oleObj name="Equation" r:id="rId4" imgW="584200"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2343150"/>
                        <a:ext cx="908050" cy="35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68" name="组合 67"/>
          <p:cNvGrpSpPr/>
          <p:nvPr/>
        </p:nvGrpSpPr>
        <p:grpSpPr>
          <a:xfrm>
            <a:off x="2127250" y="1949450"/>
            <a:ext cx="1314450" cy="628650"/>
            <a:chOff x="2127250" y="1949450"/>
            <a:chExt cx="1314450" cy="628650"/>
          </a:xfrm>
        </p:grpSpPr>
        <p:sp>
          <p:nvSpPr>
            <p:cNvPr id="8" name="右大括号 7"/>
            <p:cNvSpPr/>
            <p:nvPr/>
          </p:nvSpPr>
          <p:spPr>
            <a:xfrm>
              <a:off x="2127250" y="1949450"/>
              <a:ext cx="184150" cy="628650"/>
            </a:xfrm>
            <a:prstGeom prst="rightBrace">
              <a:avLst>
                <a:gd name="adj1" fmla="val 6166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圆角矩形 8"/>
            <p:cNvSpPr/>
            <p:nvPr/>
          </p:nvSpPr>
          <p:spPr>
            <a:xfrm>
              <a:off x="2438400" y="2032000"/>
              <a:ext cx="1003300" cy="450850"/>
            </a:xfrm>
            <a:prstGeom prst="roundRect">
              <a:avLst/>
            </a:prstGeom>
            <a:solidFill>
              <a:srgbClr val="FFFF00"/>
            </a:solidFill>
            <a:ln w="28575">
              <a:solidFill>
                <a:srgbClr val="66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 name="Object 11"/>
            <p:cNvGraphicFramePr>
              <a:graphicFrameLocks noChangeAspect="1"/>
            </p:cNvGraphicFramePr>
            <p:nvPr/>
          </p:nvGraphicFramePr>
          <p:xfrm>
            <a:off x="2576513" y="2085975"/>
            <a:ext cx="717550" cy="339725"/>
          </p:xfrm>
          <a:graphic>
            <a:graphicData uri="http://schemas.openxmlformats.org/presentationml/2006/ole">
              <mc:AlternateContent xmlns:mc="http://schemas.openxmlformats.org/markup-compatibility/2006">
                <mc:Choice xmlns:v="urn:schemas-microsoft-com:vml" Requires="v">
                  <p:oleObj spid="_x0000_s35853" name="Equation" r:id="rId6" imgW="11582400" imgH="5486400" progId="Equation.DSMT4">
                    <p:embed/>
                  </p:oleObj>
                </mc:Choice>
                <mc:Fallback>
                  <p:oleObj name="Equation" r:id="rId6" imgW="11582400" imgH="548640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6513" y="2085975"/>
                          <a:ext cx="71755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6" name="Group 11"/>
          <p:cNvGrpSpPr/>
          <p:nvPr/>
        </p:nvGrpSpPr>
        <p:grpSpPr bwMode="auto">
          <a:xfrm>
            <a:off x="4989543" y="2377817"/>
            <a:ext cx="2730094" cy="372420"/>
            <a:chOff x="3292" y="232"/>
            <a:chExt cx="1910" cy="649"/>
          </a:xfrm>
        </p:grpSpPr>
        <p:grpSp>
          <p:nvGrpSpPr>
            <p:cNvPr id="53" name="Group 12"/>
            <p:cNvGrpSpPr/>
            <p:nvPr/>
          </p:nvGrpSpPr>
          <p:grpSpPr bwMode="auto">
            <a:xfrm>
              <a:off x="3292" y="253"/>
              <a:ext cx="1434" cy="628"/>
              <a:chOff x="1444" y="1536"/>
              <a:chExt cx="1436" cy="768"/>
            </a:xfrm>
          </p:grpSpPr>
          <p:sp>
            <p:nvSpPr>
              <p:cNvPr id="55" name="Line 13"/>
              <p:cNvSpPr>
                <a:spLocks noChangeShapeType="1"/>
              </p:cNvSpPr>
              <p:nvPr/>
            </p:nvSpPr>
            <p:spPr bwMode="auto">
              <a:xfrm>
                <a:off x="1444" y="1536"/>
                <a:ext cx="0" cy="723"/>
              </a:xfrm>
              <a:prstGeom prst="line">
                <a:avLst/>
              </a:prstGeom>
              <a:noFill/>
              <a:ln w="28575">
                <a:solidFill>
                  <a:srgbClr val="D04506"/>
                </a:solidFill>
                <a:prstDash val="sysDot"/>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6" name="Line 14"/>
              <p:cNvSpPr>
                <a:spLocks noChangeShapeType="1"/>
              </p:cNvSpPr>
              <p:nvPr/>
            </p:nvSpPr>
            <p:spPr bwMode="auto">
              <a:xfrm>
                <a:off x="1924" y="1536"/>
                <a:ext cx="0" cy="768"/>
              </a:xfrm>
              <a:prstGeom prst="line">
                <a:avLst/>
              </a:prstGeom>
              <a:noFill/>
              <a:ln w="28575">
                <a:solidFill>
                  <a:srgbClr val="D04506"/>
                </a:solidFill>
                <a:prstDash val="sysDot"/>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7" name="Line 15"/>
              <p:cNvSpPr>
                <a:spLocks noChangeShapeType="1"/>
              </p:cNvSpPr>
              <p:nvPr/>
            </p:nvSpPr>
            <p:spPr bwMode="auto">
              <a:xfrm>
                <a:off x="2400" y="1536"/>
                <a:ext cx="0" cy="723"/>
              </a:xfrm>
              <a:prstGeom prst="line">
                <a:avLst/>
              </a:prstGeom>
              <a:noFill/>
              <a:ln w="28575">
                <a:solidFill>
                  <a:srgbClr val="D04506"/>
                </a:solidFill>
                <a:prstDash val="sysDot"/>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8" name="Line 16"/>
              <p:cNvSpPr>
                <a:spLocks noChangeShapeType="1"/>
              </p:cNvSpPr>
              <p:nvPr/>
            </p:nvSpPr>
            <p:spPr bwMode="auto">
              <a:xfrm>
                <a:off x="2880" y="1537"/>
                <a:ext cx="0" cy="724"/>
              </a:xfrm>
              <a:prstGeom prst="line">
                <a:avLst/>
              </a:prstGeom>
              <a:noFill/>
              <a:ln w="28575">
                <a:solidFill>
                  <a:srgbClr val="D04506"/>
                </a:solidFill>
                <a:prstDash val="sysDot"/>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sp>
          <p:nvSpPr>
            <p:cNvPr id="54" name="Line 17"/>
            <p:cNvSpPr>
              <a:spLocks noChangeShapeType="1"/>
            </p:cNvSpPr>
            <p:nvPr/>
          </p:nvSpPr>
          <p:spPr bwMode="auto">
            <a:xfrm>
              <a:off x="5202" y="232"/>
              <a:ext cx="0" cy="555"/>
            </a:xfrm>
            <a:prstGeom prst="line">
              <a:avLst/>
            </a:prstGeom>
            <a:noFill/>
            <a:ln w="28575">
              <a:solidFill>
                <a:srgbClr val="D04506"/>
              </a:solidFill>
              <a:prstDash val="sysDot"/>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59" name="组合 58"/>
          <p:cNvGrpSpPr/>
          <p:nvPr/>
        </p:nvGrpSpPr>
        <p:grpSpPr>
          <a:xfrm>
            <a:off x="4425951" y="2639119"/>
            <a:ext cx="3986975" cy="312043"/>
            <a:chOff x="4052232" y="2676525"/>
            <a:chExt cx="4448831" cy="528638"/>
          </a:xfrm>
        </p:grpSpPr>
        <p:sp>
          <p:nvSpPr>
            <p:cNvPr id="39" name="Line 43"/>
            <p:cNvSpPr>
              <a:spLocks noChangeShapeType="1"/>
            </p:cNvSpPr>
            <p:nvPr/>
          </p:nvSpPr>
          <p:spPr bwMode="auto">
            <a:xfrm>
              <a:off x="5445125" y="3179763"/>
              <a:ext cx="754063"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0" name="Line 44"/>
            <p:cNvSpPr>
              <a:spLocks noChangeShapeType="1"/>
            </p:cNvSpPr>
            <p:nvPr/>
          </p:nvSpPr>
          <p:spPr bwMode="auto">
            <a:xfrm flipV="1">
              <a:off x="4686300" y="2747963"/>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1" name="Line 45"/>
            <p:cNvSpPr>
              <a:spLocks noChangeShapeType="1"/>
            </p:cNvSpPr>
            <p:nvPr/>
          </p:nvSpPr>
          <p:spPr bwMode="auto">
            <a:xfrm>
              <a:off x="4397375" y="3205163"/>
              <a:ext cx="27305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2" name="Line 46"/>
            <p:cNvSpPr>
              <a:spLocks noChangeShapeType="1"/>
            </p:cNvSpPr>
            <p:nvPr/>
          </p:nvSpPr>
          <p:spPr bwMode="auto">
            <a:xfrm flipV="1">
              <a:off x="6969125" y="2705100"/>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3" name="Line 47"/>
            <p:cNvSpPr>
              <a:spLocks noChangeShapeType="1"/>
            </p:cNvSpPr>
            <p:nvPr/>
          </p:nvSpPr>
          <p:spPr bwMode="auto">
            <a:xfrm>
              <a:off x="4244975" y="3205163"/>
              <a:ext cx="1524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4" name="Text Box 48"/>
            <p:cNvSpPr txBox="1">
              <a:spLocks noChangeArrowheads="1"/>
            </p:cNvSpPr>
            <p:nvPr/>
          </p:nvSpPr>
          <p:spPr bwMode="auto">
            <a:xfrm>
              <a:off x="4052232" y="2889605"/>
              <a:ext cx="304800" cy="220662"/>
            </a:xfrm>
            <a:prstGeom prst="rect">
              <a:avLst/>
            </a:prstGeom>
            <a:noFill/>
            <a:ln w="28575">
              <a:noFill/>
              <a:miter lim="800000"/>
            </a:ln>
          </p:spPr>
          <p:txBody>
            <a:bodyPr lIns="0" tIns="0" rIns="0" bIns="0">
              <a:spAutoFit/>
            </a:bodyPr>
            <a:lstStyle/>
            <a:p>
              <a:pPr>
                <a:lnSpc>
                  <a:spcPct val="90000"/>
                </a:lnSpc>
                <a:spcBef>
                  <a:spcPct val="50000"/>
                </a:spcBef>
              </a:pPr>
              <a:r>
                <a:rPr kumimoji="1" lang="en-US" altLang="zh-CN" sz="1600" b="1" i="1" dirty="0">
                  <a:solidFill>
                    <a:srgbClr val="000000"/>
                  </a:solidFill>
                  <a:latin typeface="Times New Roman" panose="02020603050405020304" pitchFamily="18" charset="0"/>
                  <a:ea typeface="宋体-方正超大字符集" pitchFamily="65" charset="-122"/>
                  <a:cs typeface="Times New Roman" panose="02020603050405020304" pitchFamily="18" charset="0"/>
                </a:rPr>
                <a:t>Q</a:t>
              </a:r>
              <a:endParaRPr kumimoji="1" lang="en-US" altLang="zh-CN" sz="1600" b="1" i="1" baseline="-25000" dirty="0">
                <a:solidFill>
                  <a:srgbClr val="000000"/>
                </a:solidFill>
                <a:latin typeface="Times New Roman" panose="02020603050405020304" pitchFamily="18" charset="0"/>
                <a:ea typeface="宋体-方正超大字符集" pitchFamily="65" charset="-122"/>
                <a:cs typeface="Times New Roman" panose="02020603050405020304" pitchFamily="18" charset="0"/>
              </a:endParaRPr>
            </a:p>
          </p:txBody>
        </p:sp>
        <p:sp>
          <p:nvSpPr>
            <p:cNvPr id="45" name="Line 49"/>
            <p:cNvSpPr>
              <a:spLocks noChangeShapeType="1"/>
            </p:cNvSpPr>
            <p:nvPr/>
          </p:nvSpPr>
          <p:spPr bwMode="auto">
            <a:xfrm>
              <a:off x="4686300" y="2747963"/>
              <a:ext cx="754063"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6" name="Line 50"/>
            <p:cNvSpPr>
              <a:spLocks noChangeShapeType="1"/>
            </p:cNvSpPr>
            <p:nvPr/>
          </p:nvSpPr>
          <p:spPr bwMode="auto">
            <a:xfrm flipV="1">
              <a:off x="5443538" y="2747963"/>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7" name="Line 51"/>
            <p:cNvSpPr>
              <a:spLocks noChangeShapeType="1"/>
            </p:cNvSpPr>
            <p:nvPr/>
          </p:nvSpPr>
          <p:spPr bwMode="auto">
            <a:xfrm flipV="1">
              <a:off x="6205538" y="2725738"/>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8" name="Line 52"/>
            <p:cNvSpPr>
              <a:spLocks noChangeShapeType="1"/>
            </p:cNvSpPr>
            <p:nvPr/>
          </p:nvSpPr>
          <p:spPr bwMode="auto">
            <a:xfrm flipV="1">
              <a:off x="7747000" y="26765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9" name="Line 53"/>
            <p:cNvSpPr>
              <a:spLocks noChangeShapeType="1"/>
            </p:cNvSpPr>
            <p:nvPr/>
          </p:nvSpPr>
          <p:spPr bwMode="auto">
            <a:xfrm>
              <a:off x="6202363" y="2711450"/>
              <a:ext cx="754063"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0" name="Line 54"/>
            <p:cNvSpPr>
              <a:spLocks noChangeShapeType="1"/>
            </p:cNvSpPr>
            <p:nvPr/>
          </p:nvSpPr>
          <p:spPr bwMode="auto">
            <a:xfrm>
              <a:off x="6991350" y="3143250"/>
              <a:ext cx="754063"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1" name="Line 55"/>
            <p:cNvSpPr>
              <a:spLocks noChangeShapeType="1"/>
            </p:cNvSpPr>
            <p:nvPr/>
          </p:nvSpPr>
          <p:spPr bwMode="auto">
            <a:xfrm>
              <a:off x="7747000" y="2676525"/>
              <a:ext cx="754063"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grpSp>
        <p:nvGrpSpPr>
          <p:cNvPr id="61" name="组合 60"/>
          <p:cNvGrpSpPr/>
          <p:nvPr/>
        </p:nvGrpSpPr>
        <p:grpSpPr>
          <a:xfrm>
            <a:off x="1187450" y="3016250"/>
            <a:ext cx="2635250" cy="1517650"/>
            <a:chOff x="1104900" y="2813050"/>
            <a:chExt cx="2635250" cy="1517650"/>
          </a:xfrm>
        </p:grpSpPr>
        <p:sp>
          <p:nvSpPr>
            <p:cNvPr id="62" name="剪去对角的矩形 61"/>
            <p:cNvSpPr/>
            <p:nvPr/>
          </p:nvSpPr>
          <p:spPr>
            <a:xfrm>
              <a:off x="1104900" y="2813050"/>
              <a:ext cx="2635250" cy="1517650"/>
            </a:xfrm>
            <a:prstGeom prst="snip2DiagRect">
              <a:avLst>
                <a:gd name="adj1" fmla="val 0"/>
                <a:gd name="adj2" fmla="val 12483"/>
              </a:avLst>
            </a:prstGeom>
            <a:solidFill>
              <a:schemeClr val="bg1"/>
            </a:solid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3" name="Picture 2"/>
            <p:cNvPicPr>
              <a:picLocks noChangeAspect="1" noChangeArrowheads="1"/>
            </p:cNvPicPr>
            <p:nvPr/>
          </p:nvPicPr>
          <p:blipFill>
            <a:blip r:embed="rId8" cstate="print"/>
            <a:srcRect l="4453" t="9338" b="3192"/>
            <a:stretch>
              <a:fillRect/>
            </a:stretch>
          </p:blipFill>
          <p:spPr bwMode="auto">
            <a:xfrm>
              <a:off x="1250950" y="2971800"/>
              <a:ext cx="2384425" cy="1174750"/>
            </a:xfrm>
            <a:prstGeom prst="rect">
              <a:avLst/>
            </a:prstGeom>
            <a:noFill/>
            <a:ln w="9525">
              <a:noFill/>
              <a:miter lim="800000"/>
              <a:headEnd/>
              <a:tailEnd/>
            </a:ln>
          </p:spPr>
        </p:pic>
      </p:grpSp>
      <p:grpSp>
        <p:nvGrpSpPr>
          <p:cNvPr id="6" name="组合 5"/>
          <p:cNvGrpSpPr/>
          <p:nvPr/>
        </p:nvGrpSpPr>
        <p:grpSpPr>
          <a:xfrm>
            <a:off x="4140200" y="1968500"/>
            <a:ext cx="4470400" cy="1352550"/>
            <a:chOff x="4140200" y="1968500"/>
            <a:chExt cx="4470400" cy="1352550"/>
          </a:xfrm>
        </p:grpSpPr>
        <p:grpSp>
          <p:nvGrpSpPr>
            <p:cNvPr id="60" name="组合 59"/>
            <p:cNvGrpSpPr/>
            <p:nvPr/>
          </p:nvGrpSpPr>
          <p:grpSpPr>
            <a:xfrm>
              <a:off x="4344988" y="2165349"/>
              <a:ext cx="4062411" cy="269875"/>
              <a:chOff x="3968056" y="1304925"/>
              <a:chExt cx="4533007" cy="457200"/>
            </a:xfrm>
          </p:grpSpPr>
          <p:sp>
            <p:nvSpPr>
              <p:cNvPr id="17" name="Line 19"/>
              <p:cNvSpPr>
                <a:spLocks noChangeShapeType="1"/>
              </p:cNvSpPr>
              <p:nvPr/>
            </p:nvSpPr>
            <p:spPr bwMode="auto">
              <a:xfrm>
                <a:off x="4233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Line 20"/>
              <p:cNvSpPr>
                <a:spLocks noChangeShapeType="1"/>
              </p:cNvSpPr>
              <p:nvPr/>
            </p:nvSpPr>
            <p:spPr bwMode="auto">
              <a:xfrm flipV="1">
                <a:off x="46910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 name="Line 21"/>
              <p:cNvSpPr>
                <a:spLocks noChangeShapeType="1"/>
              </p:cNvSpPr>
              <p:nvPr/>
            </p:nvSpPr>
            <p:spPr bwMode="auto">
              <a:xfrm>
                <a:off x="4691063" y="1304925"/>
                <a:ext cx="3048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0" name="Line 22"/>
              <p:cNvSpPr>
                <a:spLocks noChangeShapeType="1"/>
              </p:cNvSpPr>
              <p:nvPr/>
            </p:nvSpPr>
            <p:spPr bwMode="auto">
              <a:xfrm flipV="1">
                <a:off x="49958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1" name="Line 23"/>
              <p:cNvSpPr>
                <a:spLocks noChangeShapeType="1"/>
              </p:cNvSpPr>
              <p:nvPr/>
            </p:nvSpPr>
            <p:spPr bwMode="auto">
              <a:xfrm>
                <a:off x="4995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2" name="Line 24"/>
              <p:cNvSpPr>
                <a:spLocks noChangeShapeType="1"/>
              </p:cNvSpPr>
              <p:nvPr/>
            </p:nvSpPr>
            <p:spPr bwMode="auto">
              <a:xfrm flipV="1">
                <a:off x="54530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Line 25"/>
              <p:cNvSpPr>
                <a:spLocks noChangeShapeType="1"/>
              </p:cNvSpPr>
              <p:nvPr/>
            </p:nvSpPr>
            <p:spPr bwMode="auto">
              <a:xfrm>
                <a:off x="5453063" y="1304925"/>
                <a:ext cx="3048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4" name="Line 26"/>
              <p:cNvSpPr>
                <a:spLocks noChangeShapeType="1"/>
              </p:cNvSpPr>
              <p:nvPr/>
            </p:nvSpPr>
            <p:spPr bwMode="auto">
              <a:xfrm flipV="1">
                <a:off x="57578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5" name="Line 27"/>
              <p:cNvSpPr>
                <a:spLocks noChangeShapeType="1"/>
              </p:cNvSpPr>
              <p:nvPr/>
            </p:nvSpPr>
            <p:spPr bwMode="auto">
              <a:xfrm>
                <a:off x="5757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6" name="Line 28"/>
              <p:cNvSpPr>
                <a:spLocks noChangeShapeType="1"/>
              </p:cNvSpPr>
              <p:nvPr/>
            </p:nvSpPr>
            <p:spPr bwMode="auto">
              <a:xfrm flipV="1">
                <a:off x="62150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7" name="Line 29"/>
              <p:cNvSpPr>
                <a:spLocks noChangeShapeType="1"/>
              </p:cNvSpPr>
              <p:nvPr/>
            </p:nvSpPr>
            <p:spPr bwMode="auto">
              <a:xfrm>
                <a:off x="6215063" y="1304925"/>
                <a:ext cx="3048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Line 30"/>
              <p:cNvSpPr>
                <a:spLocks noChangeShapeType="1"/>
              </p:cNvSpPr>
              <p:nvPr/>
            </p:nvSpPr>
            <p:spPr bwMode="auto">
              <a:xfrm flipV="1">
                <a:off x="65198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9" name="Line 31"/>
              <p:cNvSpPr>
                <a:spLocks noChangeShapeType="1"/>
              </p:cNvSpPr>
              <p:nvPr/>
            </p:nvSpPr>
            <p:spPr bwMode="auto">
              <a:xfrm>
                <a:off x="6519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0" name="Line 32"/>
              <p:cNvSpPr>
                <a:spLocks noChangeShapeType="1"/>
              </p:cNvSpPr>
              <p:nvPr/>
            </p:nvSpPr>
            <p:spPr bwMode="auto">
              <a:xfrm flipV="1">
                <a:off x="69770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1" name="Line 33"/>
              <p:cNvSpPr>
                <a:spLocks noChangeShapeType="1"/>
              </p:cNvSpPr>
              <p:nvPr/>
            </p:nvSpPr>
            <p:spPr bwMode="auto">
              <a:xfrm>
                <a:off x="6977063" y="1304925"/>
                <a:ext cx="3048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2" name="Line 34"/>
              <p:cNvSpPr>
                <a:spLocks noChangeShapeType="1"/>
              </p:cNvSpPr>
              <p:nvPr/>
            </p:nvSpPr>
            <p:spPr bwMode="auto">
              <a:xfrm flipV="1">
                <a:off x="72818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3" name="Line 35"/>
              <p:cNvSpPr>
                <a:spLocks noChangeShapeType="1"/>
              </p:cNvSpPr>
              <p:nvPr/>
            </p:nvSpPr>
            <p:spPr bwMode="auto">
              <a:xfrm>
                <a:off x="7281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4" name="Line 36"/>
              <p:cNvSpPr>
                <a:spLocks noChangeShapeType="1"/>
              </p:cNvSpPr>
              <p:nvPr/>
            </p:nvSpPr>
            <p:spPr bwMode="auto">
              <a:xfrm flipV="1">
                <a:off x="77390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5" name="Line 37"/>
              <p:cNvSpPr>
                <a:spLocks noChangeShapeType="1"/>
              </p:cNvSpPr>
              <p:nvPr/>
            </p:nvSpPr>
            <p:spPr bwMode="auto">
              <a:xfrm>
                <a:off x="7739063" y="1304925"/>
                <a:ext cx="3048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6" name="Line 38"/>
              <p:cNvSpPr>
                <a:spLocks noChangeShapeType="1"/>
              </p:cNvSpPr>
              <p:nvPr/>
            </p:nvSpPr>
            <p:spPr bwMode="auto">
              <a:xfrm flipV="1">
                <a:off x="8043863" y="1304925"/>
                <a:ext cx="0" cy="45720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7" name="Line 39"/>
              <p:cNvSpPr>
                <a:spLocks noChangeShapeType="1"/>
              </p:cNvSpPr>
              <p:nvPr/>
            </p:nvSpPr>
            <p:spPr bwMode="auto">
              <a:xfrm>
                <a:off x="8043863" y="1762125"/>
                <a:ext cx="457200" cy="0"/>
              </a:xfrm>
              <a:prstGeom prst="line">
                <a:avLst/>
              </a:prstGeom>
              <a:noFill/>
              <a:ln w="28575">
                <a:solidFill>
                  <a:srgbClr val="0000FF"/>
                </a:solidFill>
                <a:round/>
              </a:ln>
              <a:effectLst/>
            </p:spPr>
            <p:txBody>
              <a:bodyPr wrap="none" anchor="ctr"/>
              <a:lstStyle/>
              <a:p>
                <a:pPr>
                  <a:defRPr/>
                </a:pPr>
                <a:endParaRPr lang="zh-CN" altLang="en-US" sz="16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8" name="Text Box 40"/>
              <p:cNvSpPr txBox="1">
                <a:spLocks noChangeArrowheads="1"/>
              </p:cNvSpPr>
              <p:nvPr/>
            </p:nvSpPr>
            <p:spPr bwMode="auto">
              <a:xfrm>
                <a:off x="3968056" y="1457324"/>
                <a:ext cx="304800" cy="220662"/>
              </a:xfrm>
              <a:prstGeom prst="rect">
                <a:avLst/>
              </a:prstGeom>
              <a:noFill/>
              <a:ln w="28575">
                <a:noFill/>
                <a:miter lim="800000"/>
              </a:ln>
            </p:spPr>
            <p:txBody>
              <a:bodyPr lIns="0" tIns="0" rIns="0" bIns="0">
                <a:spAutoFit/>
              </a:bodyPr>
              <a:lstStyle/>
              <a:p>
                <a:pPr>
                  <a:lnSpc>
                    <a:spcPct val="90000"/>
                  </a:lnSpc>
                  <a:spcBef>
                    <a:spcPct val="50000"/>
                  </a:spcBef>
                </a:pPr>
                <a:r>
                  <a:rPr kumimoji="1" lang="en-US" altLang="zh-CN" sz="1600" b="1" i="1" dirty="0">
                    <a:solidFill>
                      <a:srgbClr val="000000"/>
                    </a:solidFill>
                    <a:latin typeface="Times New Roman" panose="02020603050405020304" pitchFamily="18" charset="0"/>
                    <a:ea typeface="宋体-方正超大字符集" pitchFamily="65" charset="-122"/>
                    <a:cs typeface="Times New Roman" panose="02020603050405020304" pitchFamily="18" charset="0"/>
                  </a:rPr>
                  <a:t>CP</a:t>
                </a:r>
                <a:endParaRPr kumimoji="1" lang="en-US" altLang="zh-CN" sz="1600" b="1" i="1" baseline="-25000" dirty="0">
                  <a:solidFill>
                    <a:srgbClr val="000000"/>
                  </a:solidFill>
                  <a:latin typeface="Times New Roman" panose="02020603050405020304" pitchFamily="18" charset="0"/>
                  <a:ea typeface="宋体-方正超大字符集" pitchFamily="65" charset="-122"/>
                  <a:cs typeface="Times New Roman" panose="02020603050405020304" pitchFamily="18" charset="0"/>
                </a:endParaRPr>
              </a:p>
            </p:txBody>
          </p:sp>
        </p:grpSp>
        <p:sp>
          <p:nvSpPr>
            <p:cNvPr id="64" name="剪去对角的矩形 63"/>
            <p:cNvSpPr/>
            <p:nvPr/>
          </p:nvSpPr>
          <p:spPr>
            <a:xfrm>
              <a:off x="4140200" y="1968500"/>
              <a:ext cx="4470400" cy="1352550"/>
            </a:xfrm>
            <a:prstGeom prst="snip2DiagRect">
              <a:avLst>
                <a:gd name="adj1" fmla="val 0"/>
                <a:gd name="adj2" fmla="val 12483"/>
              </a:avLst>
            </a:prstGeom>
            <a:noFill/>
            <a:ln w="28575">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4991100" y="1601256"/>
            <a:ext cx="685800" cy="557944"/>
            <a:chOff x="4991100" y="1601256"/>
            <a:chExt cx="685800" cy="557944"/>
          </a:xfrm>
        </p:grpSpPr>
        <p:cxnSp>
          <p:nvCxnSpPr>
            <p:cNvPr id="70" name="直接连接符 69"/>
            <p:cNvCxnSpPr/>
            <p:nvPr/>
          </p:nvCxnSpPr>
          <p:spPr>
            <a:xfrm flipH="1">
              <a:off x="4991100" y="1727200"/>
              <a:ext cx="0" cy="432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5676900" y="1727200"/>
              <a:ext cx="0" cy="432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10150" y="1854200"/>
              <a:ext cx="648000" cy="20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75" name="Text Box 40"/>
            <p:cNvSpPr txBox="1">
              <a:spLocks noChangeArrowheads="1"/>
            </p:cNvSpPr>
            <p:nvPr/>
          </p:nvSpPr>
          <p:spPr bwMode="auto">
            <a:xfrm>
              <a:off x="5183188" y="1601256"/>
              <a:ext cx="341312" cy="221599"/>
            </a:xfrm>
            <a:prstGeom prst="rect">
              <a:avLst/>
            </a:prstGeom>
            <a:noFill/>
            <a:ln w="28575">
              <a:noFill/>
              <a:miter lim="800000"/>
            </a:ln>
          </p:spPr>
          <p:txBody>
            <a:bodyPr wrap="square" lIns="0" tIns="0" rIns="0" bIns="0">
              <a:spAutoFit/>
            </a:bodyPr>
            <a:lstStyle/>
            <a:p>
              <a:pPr>
                <a:lnSpc>
                  <a:spcPct val="90000"/>
                </a:lnSpc>
                <a:spcBef>
                  <a:spcPct val="50000"/>
                </a:spcBef>
              </a:pPr>
              <a:r>
                <a:rPr kumimoji="1" lang="en-US" altLang="zh-CN" sz="1600" b="1" i="1"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T</a:t>
              </a:r>
              <a:r>
                <a:rPr kumimoji="1" lang="en-US" altLang="zh-CN" sz="1600" b="1" i="1" baseline="-25000"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CP</a:t>
              </a:r>
              <a:endParaRPr kumimoji="1" lang="en-US" altLang="zh-CN" sz="1600" b="1" i="1" baseline="-25000" dirty="0">
                <a:solidFill>
                  <a:srgbClr val="6600FF"/>
                </a:solidFill>
                <a:latin typeface="Times New Roman" panose="02020603050405020304" pitchFamily="18" charset="0"/>
                <a:ea typeface="宋体-方正超大字符集" pitchFamily="65" charset="-122"/>
                <a:cs typeface="Times New Roman" panose="02020603050405020304" pitchFamily="18" charset="0"/>
              </a:endParaRPr>
            </a:p>
          </p:txBody>
        </p:sp>
      </p:grpSp>
      <p:grpSp>
        <p:nvGrpSpPr>
          <p:cNvPr id="77" name="组合 76"/>
          <p:cNvGrpSpPr/>
          <p:nvPr/>
        </p:nvGrpSpPr>
        <p:grpSpPr>
          <a:xfrm>
            <a:off x="4991100" y="1175806"/>
            <a:ext cx="1358900" cy="1512994"/>
            <a:chOff x="4991100" y="1582206"/>
            <a:chExt cx="685800" cy="1512994"/>
          </a:xfrm>
        </p:grpSpPr>
        <p:cxnSp>
          <p:nvCxnSpPr>
            <p:cNvPr id="78" name="直接连接符 77"/>
            <p:cNvCxnSpPr/>
            <p:nvPr/>
          </p:nvCxnSpPr>
          <p:spPr>
            <a:xfrm flipH="1">
              <a:off x="4991100" y="1727200"/>
              <a:ext cx="0" cy="136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676900" y="1727200"/>
              <a:ext cx="0" cy="13680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010150" y="1854200"/>
              <a:ext cx="648000" cy="200"/>
            </a:xfrm>
            <a:prstGeom prst="line">
              <a:avLst/>
            </a:prstGeom>
            <a:ln w="28575">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81" name="Text Box 40"/>
            <p:cNvSpPr txBox="1">
              <a:spLocks noChangeArrowheads="1"/>
            </p:cNvSpPr>
            <p:nvPr/>
          </p:nvSpPr>
          <p:spPr bwMode="auto">
            <a:xfrm>
              <a:off x="5103264" y="1582206"/>
              <a:ext cx="474291" cy="221599"/>
            </a:xfrm>
            <a:prstGeom prst="rect">
              <a:avLst/>
            </a:prstGeom>
            <a:noFill/>
            <a:ln w="28575">
              <a:noFill/>
              <a:miter lim="800000"/>
            </a:ln>
          </p:spPr>
          <p:txBody>
            <a:bodyPr wrap="square" lIns="0" tIns="0" rIns="0" bIns="0">
              <a:spAutoFit/>
            </a:bodyPr>
            <a:lstStyle/>
            <a:p>
              <a:pPr algn="ctr">
                <a:lnSpc>
                  <a:spcPct val="90000"/>
                </a:lnSpc>
                <a:spcBef>
                  <a:spcPct val="50000"/>
                </a:spcBef>
              </a:pPr>
              <a:r>
                <a:rPr kumimoji="1" lang="en-US" altLang="zh-CN" sz="1600" b="1" i="1"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T</a:t>
              </a:r>
              <a:r>
                <a:rPr kumimoji="1" lang="en-US" altLang="zh-CN" sz="1600" b="1" i="1" baseline="-25000"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Q</a:t>
              </a:r>
              <a:r>
                <a:rPr kumimoji="1" lang="en-US" altLang="zh-CN" sz="1600" b="1" i="1"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 </a:t>
              </a:r>
              <a:r>
                <a:rPr kumimoji="1" lang="en-US" altLang="zh-CN" sz="1600" b="1"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2</a:t>
              </a:r>
              <a:r>
                <a:rPr kumimoji="1" lang="en-US" altLang="zh-CN" sz="1600" b="1" i="1"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T</a:t>
              </a:r>
              <a:r>
                <a:rPr kumimoji="1" lang="en-US" altLang="zh-CN" sz="1600" b="1" i="1" baseline="-25000" dirty="0">
                  <a:solidFill>
                    <a:srgbClr val="6600FF"/>
                  </a:solidFill>
                  <a:latin typeface="Times New Roman" panose="02020603050405020304" pitchFamily="18" charset="0"/>
                  <a:ea typeface="宋体-方正超大字符集" pitchFamily="65" charset="-122"/>
                  <a:cs typeface="Times New Roman" panose="02020603050405020304" pitchFamily="18" charset="0"/>
                </a:rPr>
                <a:t>CP</a:t>
              </a:r>
              <a:endParaRPr kumimoji="1" lang="en-US" altLang="zh-CN" sz="1600" b="1" i="1" dirty="0">
                <a:solidFill>
                  <a:srgbClr val="6600FF"/>
                </a:solidFill>
                <a:latin typeface="Times New Roman" panose="02020603050405020304" pitchFamily="18" charset="0"/>
                <a:ea typeface="宋体-方正超大字符集" pitchFamily="65" charset="-122"/>
                <a:cs typeface="Times New Roman" panose="02020603050405020304" pitchFamily="18" charset="0"/>
              </a:endParaRPr>
            </a:p>
          </p:txBody>
        </p:sp>
      </p:grpSp>
      <p:sp>
        <p:nvSpPr>
          <p:cNvPr id="74" name="圆角矩形 65"/>
          <p:cNvSpPr/>
          <p:nvPr/>
        </p:nvSpPr>
        <p:spPr>
          <a:xfrm>
            <a:off x="5683250" y="3155950"/>
            <a:ext cx="1231900" cy="3492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FF00"/>
                </a:solidFill>
                <a:latin typeface="微软雅黑" panose="020B0503020204020204" pitchFamily="34" charset="-122"/>
                <a:ea typeface="微软雅黑" panose="020B0503020204020204" pitchFamily="34" charset="-122"/>
                <a:cs typeface="Times New Roman" panose="02020603050405020304" pitchFamily="18" charset="0"/>
              </a:rPr>
              <a:t>二分频</a:t>
            </a:r>
            <a:endParaRPr lang="zh-CN" altLang="en-US"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83970"/>
                                        </p:tgtEl>
                                        <p:attrNameLst>
                                          <p:attrName>style.visibility</p:attrName>
                                        </p:attrNameLst>
                                      </p:cBhvr>
                                      <p:to>
                                        <p:strVal val="visible"/>
                                      </p:to>
                                    </p:set>
                                    <p:animEffect transition="in" filter="fade">
                                      <p:cBhvr>
                                        <p:cTn id="13" dur="1000"/>
                                        <p:tgtEl>
                                          <p:spTgt spid="83970"/>
                                        </p:tgtEl>
                                      </p:cBhvr>
                                    </p:animEffect>
                                    <p:anim calcmode="lin" valueType="num">
                                      <p:cBhvr>
                                        <p:cTn id="14" dur="1000" fill="hold"/>
                                        <p:tgtEl>
                                          <p:spTgt spid="83970"/>
                                        </p:tgtEl>
                                        <p:attrNameLst>
                                          <p:attrName>ppt_x</p:attrName>
                                        </p:attrNameLst>
                                      </p:cBhvr>
                                      <p:tavLst>
                                        <p:tav tm="0">
                                          <p:val>
                                            <p:strVal val="#ppt_x"/>
                                          </p:val>
                                        </p:tav>
                                        <p:tav tm="100000">
                                          <p:val>
                                            <p:strVal val="#ppt_x"/>
                                          </p:val>
                                        </p:tav>
                                      </p:tavLst>
                                    </p:anim>
                                    <p:anim calcmode="lin" valueType="num">
                                      <p:cBhvr>
                                        <p:cTn id="15" dur="1000" fill="hold"/>
                                        <p:tgtEl>
                                          <p:spTgt spid="83970"/>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83971"/>
                                        </p:tgtEl>
                                        <p:attrNameLst>
                                          <p:attrName>style.visibility</p:attrName>
                                        </p:attrNameLst>
                                      </p:cBhvr>
                                      <p:to>
                                        <p:strVal val="visible"/>
                                      </p:to>
                                    </p:set>
                                    <p:animEffect transition="in" filter="fade">
                                      <p:cBhvr>
                                        <p:cTn id="18" dur="1000"/>
                                        <p:tgtEl>
                                          <p:spTgt spid="83971"/>
                                        </p:tgtEl>
                                      </p:cBhvr>
                                    </p:animEffect>
                                    <p:anim calcmode="lin" valueType="num">
                                      <p:cBhvr>
                                        <p:cTn id="19" dur="1000" fill="hold"/>
                                        <p:tgtEl>
                                          <p:spTgt spid="83971"/>
                                        </p:tgtEl>
                                        <p:attrNameLst>
                                          <p:attrName>ppt_x</p:attrName>
                                        </p:attrNameLst>
                                      </p:cBhvr>
                                      <p:tavLst>
                                        <p:tav tm="0">
                                          <p:val>
                                            <p:strVal val="#ppt_x"/>
                                          </p:val>
                                        </p:tav>
                                        <p:tav tm="100000">
                                          <p:val>
                                            <p:strVal val="#ppt_x"/>
                                          </p:val>
                                        </p:tav>
                                      </p:tavLst>
                                    </p:anim>
                                    <p:anim calcmode="lin" valueType="num">
                                      <p:cBhvr>
                                        <p:cTn id="20" dur="1000" fill="hold"/>
                                        <p:tgtEl>
                                          <p:spTgt spid="83971"/>
                                        </p:tgtEl>
                                        <p:attrNameLst>
                                          <p:attrName>ppt_y</p:attrName>
                                        </p:attrNameLst>
                                      </p:cBhvr>
                                      <p:tavLst>
                                        <p:tav tm="0">
                                          <p:val>
                                            <p:strVal val="#ppt_y+.1"/>
                                          </p:val>
                                        </p:tav>
                                        <p:tav tm="100000">
                                          <p:val>
                                            <p:strVal val="#ppt_y"/>
                                          </p:val>
                                        </p:tav>
                                      </p:tavLst>
                                    </p:anim>
                                  </p:childTnLst>
                                </p:cTn>
                              </p:par>
                            </p:childTnLst>
                          </p:cTn>
                        </p:par>
                        <p:par>
                          <p:cTn id="21" fill="hold">
                            <p:stCondLst>
                              <p:cond delay="2000"/>
                            </p:stCondLst>
                            <p:childTnLst>
                              <p:par>
                                <p:cTn id="22" presetID="17" presetClass="entr" presetSubtype="8" fill="hold" nodeType="afterEffect">
                                  <p:stCondLst>
                                    <p:cond delay="0"/>
                                  </p:stCondLst>
                                  <p:childTnLst>
                                    <p:set>
                                      <p:cBhvr>
                                        <p:cTn id="23" dur="1" fill="hold">
                                          <p:stCondLst>
                                            <p:cond delay="0"/>
                                          </p:stCondLst>
                                        </p:cTn>
                                        <p:tgtEl>
                                          <p:spTgt spid="68"/>
                                        </p:tgtEl>
                                        <p:attrNameLst>
                                          <p:attrName>style.visibility</p:attrName>
                                        </p:attrNameLst>
                                      </p:cBhvr>
                                      <p:to>
                                        <p:strVal val="visible"/>
                                      </p:to>
                                    </p:set>
                                    <p:anim calcmode="lin" valueType="num">
                                      <p:cBhvr>
                                        <p:cTn id="24" dur="1000" fill="hold"/>
                                        <p:tgtEl>
                                          <p:spTgt spid="68"/>
                                        </p:tgtEl>
                                        <p:attrNameLst>
                                          <p:attrName>ppt_x</p:attrName>
                                        </p:attrNameLst>
                                      </p:cBhvr>
                                      <p:tavLst>
                                        <p:tav tm="0">
                                          <p:val>
                                            <p:strVal val="#ppt_x-#ppt_w/2"/>
                                          </p:val>
                                        </p:tav>
                                        <p:tav tm="100000">
                                          <p:val>
                                            <p:strVal val="#ppt_x"/>
                                          </p:val>
                                        </p:tav>
                                      </p:tavLst>
                                    </p:anim>
                                    <p:anim calcmode="lin" valueType="num">
                                      <p:cBhvr>
                                        <p:cTn id="25" dur="1000" fill="hold"/>
                                        <p:tgtEl>
                                          <p:spTgt spid="68"/>
                                        </p:tgtEl>
                                        <p:attrNameLst>
                                          <p:attrName>ppt_y</p:attrName>
                                        </p:attrNameLst>
                                      </p:cBhvr>
                                      <p:tavLst>
                                        <p:tav tm="0">
                                          <p:val>
                                            <p:strVal val="#ppt_y"/>
                                          </p:val>
                                        </p:tav>
                                        <p:tav tm="100000">
                                          <p:val>
                                            <p:strVal val="#ppt_y"/>
                                          </p:val>
                                        </p:tav>
                                      </p:tavLst>
                                    </p:anim>
                                    <p:anim calcmode="lin" valueType="num">
                                      <p:cBhvr>
                                        <p:cTn id="26" dur="1000" fill="hold"/>
                                        <p:tgtEl>
                                          <p:spTgt spid="68"/>
                                        </p:tgtEl>
                                        <p:attrNameLst>
                                          <p:attrName>ppt_w</p:attrName>
                                        </p:attrNameLst>
                                      </p:cBhvr>
                                      <p:tavLst>
                                        <p:tav tm="0">
                                          <p:val>
                                            <p:fltVal val="0"/>
                                          </p:val>
                                        </p:tav>
                                        <p:tav tm="100000">
                                          <p:val>
                                            <p:strVal val="#ppt_w"/>
                                          </p:val>
                                        </p:tav>
                                      </p:tavLst>
                                    </p:anim>
                                    <p:anim calcmode="lin" valueType="num">
                                      <p:cBhvr>
                                        <p:cTn id="27" dur="1000" fill="hold"/>
                                        <p:tgtEl>
                                          <p:spTgt spid="68"/>
                                        </p:tgtEl>
                                        <p:attrNameLst>
                                          <p:attrName>ppt_h</p:attrName>
                                        </p:attrNameLst>
                                      </p:cBhvr>
                                      <p:tavLst>
                                        <p:tav tm="0">
                                          <p:val>
                                            <p:strVal val="#ppt_h"/>
                                          </p:val>
                                        </p:tav>
                                        <p:tav tm="100000">
                                          <p:val>
                                            <p:strVal val="#ppt_h"/>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1000"/>
                                        <p:tgtEl>
                                          <p:spTgt spid="61"/>
                                        </p:tgtEl>
                                      </p:cBhvr>
                                    </p:animEffect>
                                    <p:anim calcmode="lin" valueType="num">
                                      <p:cBhvr>
                                        <p:cTn id="32" dur="1000" fill="hold"/>
                                        <p:tgtEl>
                                          <p:spTgt spid="61"/>
                                        </p:tgtEl>
                                        <p:attrNameLst>
                                          <p:attrName>ppt_x</p:attrName>
                                        </p:attrNameLst>
                                      </p:cBhvr>
                                      <p:tavLst>
                                        <p:tav tm="0">
                                          <p:val>
                                            <p:strVal val="#ppt_x"/>
                                          </p:val>
                                        </p:tav>
                                        <p:tav tm="100000">
                                          <p:val>
                                            <p:strVal val="#ppt_x"/>
                                          </p:val>
                                        </p:tav>
                                      </p:tavLst>
                                    </p:anim>
                                    <p:anim calcmode="lin" valueType="num">
                                      <p:cBhvr>
                                        <p:cTn id="33"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7" presetClass="entr" presetSubtype="1"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ppt_h/2"/>
                                          </p:val>
                                        </p:tav>
                                        <p:tav tm="100000">
                                          <p:val>
                                            <p:strVal val="#ppt_y"/>
                                          </p:val>
                                        </p:tav>
                                      </p:tavLst>
                                    </p:anim>
                                    <p:anim calcmode="lin" valueType="num">
                                      <p:cBhvr>
                                        <p:cTn id="40" dur="1000" fill="hold"/>
                                        <p:tgtEl>
                                          <p:spTgt spid="6"/>
                                        </p:tgtEl>
                                        <p:attrNameLst>
                                          <p:attrName>ppt_w</p:attrName>
                                        </p:attrNameLst>
                                      </p:cBhvr>
                                      <p:tavLst>
                                        <p:tav tm="0">
                                          <p:val>
                                            <p:strVal val="#ppt_w"/>
                                          </p:val>
                                        </p:tav>
                                        <p:tav tm="100000">
                                          <p:val>
                                            <p:strVal val="#ppt_w"/>
                                          </p:val>
                                        </p:tav>
                                      </p:tavLst>
                                    </p:anim>
                                    <p:anim calcmode="lin" valueType="num">
                                      <p:cBhvr>
                                        <p:cTn id="41" dur="1000" fill="hold"/>
                                        <p:tgtEl>
                                          <p:spTgt spid="6"/>
                                        </p:tgtEl>
                                        <p:attrNameLst>
                                          <p:attrName>ppt_h</p:attrName>
                                        </p:attrNameLst>
                                      </p:cBhvr>
                                      <p:tavLst>
                                        <p:tav tm="0">
                                          <p:val>
                                            <p:fltVal val="0"/>
                                          </p:val>
                                        </p:tav>
                                        <p:tav tm="100000">
                                          <p:val>
                                            <p:strVal val="#ppt_h"/>
                                          </p:val>
                                        </p:tav>
                                      </p:tavLst>
                                    </p:anim>
                                  </p:childTnLst>
                                </p:cTn>
                              </p:par>
                            </p:childTnLst>
                          </p:cTn>
                        </p:par>
                        <p:par>
                          <p:cTn id="42" fill="hold">
                            <p:stCondLst>
                              <p:cond delay="1000"/>
                            </p:stCondLst>
                            <p:childTnLst>
                              <p:par>
                                <p:cTn id="43" presetID="17" presetClass="entr" presetSubtype="1" fill="hold" nodeType="after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ppt_h/2"/>
                                          </p:val>
                                        </p:tav>
                                        <p:tav tm="100000">
                                          <p:val>
                                            <p:strVal val="#ppt_y"/>
                                          </p:val>
                                        </p:tav>
                                      </p:tavLst>
                                    </p:anim>
                                    <p:anim calcmode="lin" valueType="num">
                                      <p:cBhvr>
                                        <p:cTn id="47" dur="1000" fill="hold"/>
                                        <p:tgtEl>
                                          <p:spTgt spid="16"/>
                                        </p:tgtEl>
                                        <p:attrNameLst>
                                          <p:attrName>ppt_w</p:attrName>
                                        </p:attrNameLst>
                                      </p:cBhvr>
                                      <p:tavLst>
                                        <p:tav tm="0">
                                          <p:val>
                                            <p:strVal val="#ppt_w"/>
                                          </p:val>
                                        </p:tav>
                                        <p:tav tm="100000">
                                          <p:val>
                                            <p:strVal val="#ppt_w"/>
                                          </p:val>
                                        </p:tav>
                                      </p:tavLst>
                                    </p:anim>
                                    <p:anim calcmode="lin" valueType="num">
                                      <p:cBhvr>
                                        <p:cTn id="48" dur="10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wipe(left)">
                                      <p:cBhvr>
                                        <p:cTn id="53" dur="1000"/>
                                        <p:tgtEl>
                                          <p:spTgt spid="59"/>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8" fill="hold" nodeType="clickEffect">
                                  <p:stCondLst>
                                    <p:cond delay="0"/>
                                  </p:stCondLst>
                                  <p:childTnLst>
                                    <p:set>
                                      <p:cBhvr>
                                        <p:cTn id="57" dur="1" fill="hold">
                                          <p:stCondLst>
                                            <p:cond delay="0"/>
                                          </p:stCondLst>
                                        </p:cTn>
                                        <p:tgtEl>
                                          <p:spTgt spid="76"/>
                                        </p:tgtEl>
                                        <p:attrNameLst>
                                          <p:attrName>style.visibility</p:attrName>
                                        </p:attrNameLst>
                                      </p:cBhvr>
                                      <p:to>
                                        <p:strVal val="visible"/>
                                      </p:to>
                                    </p:set>
                                    <p:anim calcmode="lin" valueType="num">
                                      <p:cBhvr>
                                        <p:cTn id="58" dur="1000" fill="hold"/>
                                        <p:tgtEl>
                                          <p:spTgt spid="76"/>
                                        </p:tgtEl>
                                        <p:attrNameLst>
                                          <p:attrName>ppt_x</p:attrName>
                                        </p:attrNameLst>
                                      </p:cBhvr>
                                      <p:tavLst>
                                        <p:tav tm="0">
                                          <p:val>
                                            <p:strVal val="#ppt_x-#ppt_w/2"/>
                                          </p:val>
                                        </p:tav>
                                        <p:tav tm="100000">
                                          <p:val>
                                            <p:strVal val="#ppt_x"/>
                                          </p:val>
                                        </p:tav>
                                      </p:tavLst>
                                    </p:anim>
                                    <p:anim calcmode="lin" valueType="num">
                                      <p:cBhvr>
                                        <p:cTn id="59" dur="1000" fill="hold"/>
                                        <p:tgtEl>
                                          <p:spTgt spid="76"/>
                                        </p:tgtEl>
                                        <p:attrNameLst>
                                          <p:attrName>ppt_y</p:attrName>
                                        </p:attrNameLst>
                                      </p:cBhvr>
                                      <p:tavLst>
                                        <p:tav tm="0">
                                          <p:val>
                                            <p:strVal val="#ppt_y"/>
                                          </p:val>
                                        </p:tav>
                                        <p:tav tm="100000">
                                          <p:val>
                                            <p:strVal val="#ppt_y"/>
                                          </p:val>
                                        </p:tav>
                                      </p:tavLst>
                                    </p:anim>
                                    <p:anim calcmode="lin" valueType="num">
                                      <p:cBhvr>
                                        <p:cTn id="60" dur="1000" fill="hold"/>
                                        <p:tgtEl>
                                          <p:spTgt spid="76"/>
                                        </p:tgtEl>
                                        <p:attrNameLst>
                                          <p:attrName>ppt_w</p:attrName>
                                        </p:attrNameLst>
                                      </p:cBhvr>
                                      <p:tavLst>
                                        <p:tav tm="0">
                                          <p:val>
                                            <p:fltVal val="0"/>
                                          </p:val>
                                        </p:tav>
                                        <p:tav tm="100000">
                                          <p:val>
                                            <p:strVal val="#ppt_w"/>
                                          </p:val>
                                        </p:tav>
                                      </p:tavLst>
                                    </p:anim>
                                    <p:anim calcmode="lin" valueType="num">
                                      <p:cBhvr>
                                        <p:cTn id="61" dur="1000" fill="hold"/>
                                        <p:tgtEl>
                                          <p:spTgt spid="76"/>
                                        </p:tgtEl>
                                        <p:attrNameLst>
                                          <p:attrName>ppt_h</p:attrName>
                                        </p:attrNameLst>
                                      </p:cBhvr>
                                      <p:tavLst>
                                        <p:tav tm="0">
                                          <p:val>
                                            <p:strVal val="#ppt_h"/>
                                          </p:val>
                                        </p:tav>
                                        <p:tav tm="100000">
                                          <p:val>
                                            <p:strVal val="#ppt_h"/>
                                          </p:val>
                                        </p:tav>
                                      </p:tavLst>
                                    </p:anim>
                                  </p:childTnLst>
                                </p:cTn>
                              </p:par>
                            </p:childTnLst>
                          </p:cTn>
                        </p:par>
                        <p:par>
                          <p:cTn id="62" fill="hold">
                            <p:stCondLst>
                              <p:cond delay="1000"/>
                            </p:stCondLst>
                            <p:childTnLst>
                              <p:par>
                                <p:cTn id="63" presetID="17" presetClass="entr" presetSubtype="8" fill="hold" nodeType="afterEffect">
                                  <p:stCondLst>
                                    <p:cond delay="0"/>
                                  </p:stCondLst>
                                  <p:childTnLst>
                                    <p:set>
                                      <p:cBhvr>
                                        <p:cTn id="64" dur="1" fill="hold">
                                          <p:stCondLst>
                                            <p:cond delay="0"/>
                                          </p:stCondLst>
                                        </p:cTn>
                                        <p:tgtEl>
                                          <p:spTgt spid="77"/>
                                        </p:tgtEl>
                                        <p:attrNameLst>
                                          <p:attrName>style.visibility</p:attrName>
                                        </p:attrNameLst>
                                      </p:cBhvr>
                                      <p:to>
                                        <p:strVal val="visible"/>
                                      </p:to>
                                    </p:set>
                                    <p:anim calcmode="lin" valueType="num">
                                      <p:cBhvr>
                                        <p:cTn id="65" dur="1000" fill="hold"/>
                                        <p:tgtEl>
                                          <p:spTgt spid="77"/>
                                        </p:tgtEl>
                                        <p:attrNameLst>
                                          <p:attrName>ppt_x</p:attrName>
                                        </p:attrNameLst>
                                      </p:cBhvr>
                                      <p:tavLst>
                                        <p:tav tm="0">
                                          <p:val>
                                            <p:strVal val="#ppt_x-#ppt_w/2"/>
                                          </p:val>
                                        </p:tav>
                                        <p:tav tm="100000">
                                          <p:val>
                                            <p:strVal val="#ppt_x"/>
                                          </p:val>
                                        </p:tav>
                                      </p:tavLst>
                                    </p:anim>
                                    <p:anim calcmode="lin" valueType="num">
                                      <p:cBhvr>
                                        <p:cTn id="66" dur="1000" fill="hold"/>
                                        <p:tgtEl>
                                          <p:spTgt spid="77"/>
                                        </p:tgtEl>
                                        <p:attrNameLst>
                                          <p:attrName>ppt_y</p:attrName>
                                        </p:attrNameLst>
                                      </p:cBhvr>
                                      <p:tavLst>
                                        <p:tav tm="0">
                                          <p:val>
                                            <p:strVal val="#ppt_y"/>
                                          </p:val>
                                        </p:tav>
                                        <p:tav tm="100000">
                                          <p:val>
                                            <p:strVal val="#ppt_y"/>
                                          </p:val>
                                        </p:tav>
                                      </p:tavLst>
                                    </p:anim>
                                    <p:anim calcmode="lin" valueType="num">
                                      <p:cBhvr>
                                        <p:cTn id="67" dur="1000" fill="hold"/>
                                        <p:tgtEl>
                                          <p:spTgt spid="77"/>
                                        </p:tgtEl>
                                        <p:attrNameLst>
                                          <p:attrName>ppt_w</p:attrName>
                                        </p:attrNameLst>
                                      </p:cBhvr>
                                      <p:tavLst>
                                        <p:tav tm="0">
                                          <p:val>
                                            <p:fltVal val="0"/>
                                          </p:val>
                                        </p:tav>
                                        <p:tav tm="100000">
                                          <p:val>
                                            <p:strVal val="#ppt_w"/>
                                          </p:val>
                                        </p:tav>
                                      </p:tavLst>
                                    </p:anim>
                                    <p:anim calcmode="lin" valueType="num">
                                      <p:cBhvr>
                                        <p:cTn id="68" dur="1000" fill="hold"/>
                                        <p:tgtEl>
                                          <p:spTgt spid="77"/>
                                        </p:tgtEl>
                                        <p:attrNameLst>
                                          <p:attrName>ppt_h</p:attrName>
                                        </p:attrNameLst>
                                      </p:cBhvr>
                                      <p:tavLst>
                                        <p:tav tm="0">
                                          <p:val>
                                            <p:strVal val="#ppt_h"/>
                                          </p:val>
                                        </p:tav>
                                        <p:tav tm="100000">
                                          <p:val>
                                            <p:strVal val="#ppt_h"/>
                                          </p:val>
                                        </p:tav>
                                      </p:tavLst>
                                    </p:anim>
                                  </p:childTnLst>
                                </p:cTn>
                              </p:par>
                            </p:childTnLst>
                          </p:cTn>
                        </p:par>
                        <p:par>
                          <p:cTn id="69" fill="hold">
                            <p:stCondLst>
                              <p:cond delay="2000"/>
                            </p:stCondLst>
                            <p:childTnLst>
                              <p:par>
                                <p:cTn id="70" presetID="42" presetClass="entr" presetSubtype="0" fill="hold" grpId="0" nodeType="after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fade">
                                      <p:cBhvr>
                                        <p:cTn id="72" dur="1000"/>
                                        <p:tgtEl>
                                          <p:spTgt spid="74"/>
                                        </p:tgtEl>
                                      </p:cBhvr>
                                    </p:animEffect>
                                    <p:anim calcmode="lin" valueType="num">
                                      <p:cBhvr>
                                        <p:cTn id="73" dur="1000" fill="hold"/>
                                        <p:tgtEl>
                                          <p:spTgt spid="74"/>
                                        </p:tgtEl>
                                        <p:attrNameLst>
                                          <p:attrName>ppt_x</p:attrName>
                                        </p:attrNameLst>
                                      </p:cBhvr>
                                      <p:tavLst>
                                        <p:tav tm="0">
                                          <p:val>
                                            <p:strVal val="#ppt_x"/>
                                          </p:val>
                                        </p:tav>
                                        <p:tav tm="100000">
                                          <p:val>
                                            <p:strVal val="#ppt_x"/>
                                          </p:val>
                                        </p:tav>
                                      </p:tavLst>
                                    </p:anim>
                                    <p:anim calcmode="lin" valueType="num">
                                      <p:cBhvr>
                                        <p:cTn id="74"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4" grpId="0" animBg="1"/>
    </p:bldLst>
  </p:timing>
</p:sld>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4294</Words>
  <Application>WPS 演示</Application>
  <PresentationFormat>全屏显示(16:10)</PresentationFormat>
  <Paragraphs>1443</Paragraphs>
  <Slides>52</Slides>
  <Notes>15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65</vt:i4>
      </vt:variant>
      <vt:variant>
        <vt:lpstr>幻灯片标题</vt:lpstr>
      </vt:variant>
      <vt:variant>
        <vt:i4>52</vt:i4>
      </vt:variant>
    </vt:vector>
  </HeadingPairs>
  <TitlesOfParts>
    <vt:vector size="132" baseType="lpstr">
      <vt:lpstr>Arial</vt:lpstr>
      <vt:lpstr>宋体</vt:lpstr>
      <vt:lpstr>Wingdings</vt:lpstr>
      <vt:lpstr>微软雅黑</vt:lpstr>
      <vt:lpstr>方正粗黑宋简体</vt:lpstr>
      <vt:lpstr>Times New Roman</vt:lpstr>
      <vt:lpstr>楷体</vt:lpstr>
      <vt:lpstr>Calibri</vt:lpstr>
      <vt:lpstr>黑体</vt:lpstr>
      <vt:lpstr>Arial Unicode MS</vt:lpstr>
      <vt:lpstr>楷体_GB2312</vt:lpstr>
      <vt:lpstr>新宋体</vt:lpstr>
      <vt:lpstr>华文琥珀</vt:lpstr>
      <vt:lpstr>宋体-方正超大字符集</vt:lpstr>
      <vt:lpstr>Office 主题</vt:lpstr>
      <vt:lpstr>PBrush</vt:lpstr>
      <vt:lpstr>Visio.Drawing.11</vt:lpstr>
      <vt:lpstr>Paint.Picture</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Equation.3</vt:lpstr>
      <vt:lpstr>Equation.3</vt:lpstr>
      <vt:lpstr>Equation.3</vt:lpstr>
      <vt:lpstr>Equation.3</vt:lpstr>
      <vt:lpstr>Equation.3</vt:lpstr>
      <vt:lpstr>Visio.Drawing.11</vt:lpstr>
      <vt:lpstr>Visio.Drawing.11</vt:lpstr>
      <vt:lpstr>PBrush</vt:lpstr>
      <vt:lpstr>Visio.Drawing.11</vt:lpstr>
      <vt:lpstr>Equation.DSMT4</vt:lpstr>
      <vt:lpstr>Visio.Drawing.11</vt:lpstr>
      <vt:lpstr>Equation.DSMT4</vt:lpstr>
      <vt:lpstr>Visio.Drawing.11</vt:lpstr>
      <vt:lpstr>Equation.DSMT4</vt:lpstr>
      <vt:lpstr>Visio.Drawing.11</vt:lpstr>
      <vt:lpstr>Visio.Drawing.11</vt:lpstr>
      <vt:lpstr>Visio.Drawing.11</vt:lpstr>
      <vt:lpstr>Equation.DSMT4</vt:lpstr>
      <vt:lpstr>PBrush</vt:lpstr>
      <vt:lpstr>Visio.Drawing.11</vt:lpstr>
      <vt:lpstr>Visio.Drawing.11</vt:lpstr>
      <vt:lpstr>Visio.Drawing.11</vt:lpstr>
      <vt:lpstr>Visio.Drawing.11</vt:lpstr>
      <vt:lpstr>Visio.Drawing.11</vt:lpstr>
      <vt:lpstr>Visio.Drawing.11</vt:lpstr>
      <vt:lpstr>Visio.Drawing.11</vt:lpstr>
      <vt:lpstr>Visio.Drawing.11</vt:lpstr>
      <vt:lpstr>Visio.Drawing.11</vt:lpstr>
      <vt:lpstr>Word.Picture.8</vt:lpstr>
      <vt:lpstr>PBrush</vt:lpstr>
      <vt:lpstr>Equation.DSMT4</vt:lpstr>
      <vt:lpstr>Equation.DSMT4</vt:lpstr>
      <vt:lpstr>Equation.DSMT4</vt:lpstr>
      <vt:lpstr>Equation.DSMT4</vt:lpstr>
      <vt:lpstr>Visio.Drawing.11</vt:lpstr>
      <vt:lpstr>PBrush</vt:lpstr>
      <vt:lpstr>Equation.DSMT4</vt:lpstr>
      <vt:lpstr>Equation.DSMT4</vt:lpstr>
      <vt:lpstr>Equation.DSMT4</vt:lpstr>
      <vt:lpstr>Equation.DSMT4</vt:lpstr>
      <vt:lpstr>PBrush</vt:lpstr>
      <vt:lpstr>Equation.DSMT4</vt:lpstr>
      <vt:lpstr>Equation.DSMT4</vt:lpstr>
      <vt:lpstr>Word.Picture.8</vt:lpstr>
      <vt:lpstr>Equation.DSMT4</vt:lpstr>
      <vt:lpstr>Equation.DSMT4</vt:lpstr>
      <vt:lpstr>Equation.DSMT4</vt:lpstr>
      <vt:lpstr>PBrush</vt:lpstr>
      <vt:lpstr>PBrush</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鼎鼎</cp:lastModifiedBy>
  <cp:revision>837</cp:revision>
  <dcterms:created xsi:type="dcterms:W3CDTF">2015-01-13T10:49:00Z</dcterms:created>
  <dcterms:modified xsi:type="dcterms:W3CDTF">2025-10-09T12:12:48Z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2B8464CEAF5A48ED9A579C8FE636AAD4_12</vt:lpwstr>
  </property>
  <property fmtid="{D5CDD505-2E9C-101B-9397-08002B2CF9AE}" pid="3" name="KSOProductBuildVer">
    <vt:lpwstr>2052-12.1.0.22529</vt:lpwstr>
  </property>
</Properties>
</file>