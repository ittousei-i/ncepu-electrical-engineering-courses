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60" r:id="rId1"/>
  </p:sldMasterIdLst>
  <p:notesMasterIdLst>
    <p:notesMasterId r:id="rId44"/>
  </p:notesMasterIdLst>
  <p:sldIdLst>
    <p:sldId id="256" r:id="rId2"/>
    <p:sldId id="333" r:id="rId3"/>
    <p:sldId id="364" r:id="rId4"/>
    <p:sldId id="334" r:id="rId5"/>
    <p:sldId id="349" r:id="rId6"/>
    <p:sldId id="335" r:id="rId7"/>
    <p:sldId id="350" r:id="rId8"/>
    <p:sldId id="351" r:id="rId9"/>
    <p:sldId id="352" r:id="rId10"/>
    <p:sldId id="353" r:id="rId11"/>
    <p:sldId id="354" r:id="rId12"/>
    <p:sldId id="365" r:id="rId13"/>
    <p:sldId id="366" r:id="rId14"/>
    <p:sldId id="363" r:id="rId15"/>
    <p:sldId id="367" r:id="rId16"/>
    <p:sldId id="368" r:id="rId17"/>
    <p:sldId id="369" r:id="rId18"/>
    <p:sldId id="370" r:id="rId19"/>
    <p:sldId id="346" r:id="rId20"/>
    <p:sldId id="371" r:id="rId21"/>
    <p:sldId id="372" r:id="rId22"/>
    <p:sldId id="373" r:id="rId23"/>
    <p:sldId id="374" r:id="rId24"/>
    <p:sldId id="375" r:id="rId25"/>
    <p:sldId id="376" r:id="rId26"/>
    <p:sldId id="377" r:id="rId27"/>
    <p:sldId id="378" r:id="rId28"/>
    <p:sldId id="379" r:id="rId29"/>
    <p:sldId id="380" r:id="rId30"/>
    <p:sldId id="381" r:id="rId31"/>
    <p:sldId id="382" r:id="rId32"/>
    <p:sldId id="355" r:id="rId33"/>
    <p:sldId id="383" r:id="rId34"/>
    <p:sldId id="360" r:id="rId35"/>
    <p:sldId id="361" r:id="rId36"/>
    <p:sldId id="362" r:id="rId37"/>
    <p:sldId id="384" r:id="rId38"/>
    <p:sldId id="385" r:id="rId39"/>
    <p:sldId id="386" r:id="rId40"/>
    <p:sldId id="387" r:id="rId41"/>
    <p:sldId id="388" r:id="rId42"/>
    <p:sldId id="389" r:id="rId43"/>
  </p:sldIdLst>
  <p:sldSz cx="9144000" cy="5715000" type="screen16x1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46" userDrawn="1">
          <p15:clr>
            <a:srgbClr val="A4A3A4"/>
          </p15:clr>
        </p15:guide>
        <p15:guide id="2" pos="5375" userDrawn="1">
          <p15:clr>
            <a:srgbClr val="A4A3A4"/>
          </p15:clr>
        </p15:guide>
        <p15:guide id="3" pos="385" userDrawn="1">
          <p15:clr>
            <a:srgbClr val="A4A3A4"/>
          </p15:clr>
        </p15:guide>
        <p15:guide id="4" orient="horz" pos="3997" userDrawn="1">
          <p15:clr>
            <a:srgbClr val="A4A3A4"/>
          </p15:clr>
        </p15:guide>
        <p15:guide id="5" orient="horz" pos="288">
          <p15:clr>
            <a:srgbClr val="A4A3A4"/>
          </p15:clr>
        </p15:guide>
        <p15:guide id="6" orient="horz" pos="333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6600FF"/>
    <a:srgbClr val="CC00CC"/>
    <a:srgbClr val="0070C0"/>
    <a:srgbClr val="66FF66"/>
    <a:srgbClr val="0000FF"/>
    <a:srgbClr val="66FFCC"/>
    <a:srgbClr val="262626"/>
    <a:srgbClr val="FF66FF"/>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267" autoAdjust="0"/>
    <p:restoredTop sz="94645" autoAdjust="0"/>
  </p:normalViewPr>
  <p:slideViewPr>
    <p:cSldViewPr snapToGrid="0" showGuides="1">
      <p:cViewPr varScale="1">
        <p:scale>
          <a:sx n="125" d="100"/>
          <a:sy n="125" d="100"/>
        </p:scale>
        <p:origin x="1422" y="90"/>
      </p:cViewPr>
      <p:guideLst>
        <p:guide orient="horz" pos="346"/>
        <p:guide pos="5375"/>
        <p:guide pos="385"/>
        <p:guide orient="horz" pos="3997"/>
        <p:guide orient="horz" pos="288"/>
        <p:guide orient="horz" pos="3331"/>
      </p:guideLst>
    </p:cSldViewPr>
  </p:slideViewPr>
  <p:notesTextViewPr>
    <p:cViewPr>
      <p:scale>
        <a:sx n="1" d="1"/>
        <a:sy n="1" d="1"/>
      </p:scale>
      <p:origin x="0" y="0"/>
    </p:cViewPr>
  </p:notesTextViewPr>
  <p:sorterViewPr>
    <p:cViewPr>
      <p:scale>
        <a:sx n="125" d="100"/>
        <a:sy n="125"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image" Target="../media/image12.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7.e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21.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image" Target="../media/image25.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33.emf"/><Relationship Id="rId1" Type="http://schemas.openxmlformats.org/officeDocument/2006/relationships/image" Target="../media/image32.e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emf"/><Relationship Id="rId1" Type="http://schemas.openxmlformats.org/officeDocument/2006/relationships/image" Target="../media/image37.emf"/><Relationship Id="rId5" Type="http://schemas.openxmlformats.org/officeDocument/2006/relationships/image" Target="../media/image41.wmf"/><Relationship Id="rId4" Type="http://schemas.openxmlformats.org/officeDocument/2006/relationships/image" Target="../media/image40.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44.wmf"/><Relationship Id="rId1" Type="http://schemas.openxmlformats.org/officeDocument/2006/relationships/image" Target="../media/image43.e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46.wmf"/><Relationship Id="rId1" Type="http://schemas.openxmlformats.org/officeDocument/2006/relationships/image" Target="../media/image45.e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54.wmf"/><Relationship Id="rId3" Type="http://schemas.openxmlformats.org/officeDocument/2006/relationships/image" Target="../media/image49.wmf"/><Relationship Id="rId7" Type="http://schemas.openxmlformats.org/officeDocument/2006/relationships/image" Target="../media/image53.wmf"/><Relationship Id="rId2" Type="http://schemas.openxmlformats.org/officeDocument/2006/relationships/image" Target="../media/image48.emf"/><Relationship Id="rId1" Type="http://schemas.openxmlformats.org/officeDocument/2006/relationships/image" Target="../media/image47.emf"/><Relationship Id="rId6" Type="http://schemas.openxmlformats.org/officeDocument/2006/relationships/image" Target="../media/image52.wmf"/><Relationship Id="rId5" Type="http://schemas.openxmlformats.org/officeDocument/2006/relationships/image" Target="../media/image51.wmf"/><Relationship Id="rId4" Type="http://schemas.openxmlformats.org/officeDocument/2006/relationships/image" Target="../media/image50.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60.e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image" Target="../media/image63.wmf"/><Relationship Id="rId1" Type="http://schemas.openxmlformats.org/officeDocument/2006/relationships/image" Target="../media/image62.e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image" Target="../media/image67.wmf"/><Relationship Id="rId1" Type="http://schemas.openxmlformats.org/officeDocument/2006/relationships/image" Target="../media/image66.emf"/><Relationship Id="rId6" Type="http://schemas.openxmlformats.org/officeDocument/2006/relationships/image" Target="../media/image71.wmf"/><Relationship Id="rId5" Type="http://schemas.openxmlformats.org/officeDocument/2006/relationships/image" Target="../media/image70.wmf"/><Relationship Id="rId4" Type="http://schemas.openxmlformats.org/officeDocument/2006/relationships/image" Target="../media/image69.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74.wmf"/><Relationship Id="rId1" Type="http://schemas.openxmlformats.org/officeDocument/2006/relationships/image" Target="../media/image73.e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79.wmf"/><Relationship Id="rId2" Type="http://schemas.openxmlformats.org/officeDocument/2006/relationships/image" Target="../media/image78.wmf"/><Relationship Id="rId1" Type="http://schemas.openxmlformats.org/officeDocument/2006/relationships/image" Target="../media/image77.wmf"/><Relationship Id="rId4" Type="http://schemas.openxmlformats.org/officeDocument/2006/relationships/image" Target="../media/image80.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81.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82.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8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AD77B4-E4B4-4D3C-A9C5-EB900FF3B15E}" type="datetimeFigureOut">
              <a:rPr lang="zh-CN" altLang="en-US" smtClean="0"/>
              <a:pPr/>
              <a:t>2022/4/18</a:t>
            </a:fld>
            <a:endParaRPr lang="zh-CN" altLang="en-US"/>
          </a:p>
        </p:txBody>
      </p:sp>
      <p:sp>
        <p:nvSpPr>
          <p:cNvPr id="4" name="幻灯片图像占位符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AD5EBB-275F-4C24-B082-C5EEF143550F}" type="slidenum">
              <a:rPr lang="zh-CN" altLang="en-US" smtClean="0"/>
              <a:pPr/>
              <a:t>‹#›</a:t>
            </a:fld>
            <a:endParaRPr lang="zh-CN" altLang="en-US"/>
          </a:p>
        </p:txBody>
      </p:sp>
    </p:spTree>
    <p:extLst>
      <p:ext uri="{BB962C8B-B14F-4D97-AF65-F5344CB8AC3E}">
        <p14:creationId xmlns:p14="http://schemas.microsoft.com/office/powerpoint/2010/main" val="544490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pPr/>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3</a:t>
            </a:fld>
            <a:endParaRPr lang="zh-CN" altLang="en-US"/>
          </a:p>
        </p:txBody>
      </p:sp>
    </p:spTree>
    <p:extLst>
      <p:ext uri="{BB962C8B-B14F-4D97-AF65-F5344CB8AC3E}">
        <p14:creationId xmlns:p14="http://schemas.microsoft.com/office/powerpoint/2010/main" val="5742997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pPr/>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5</a:t>
            </a:fld>
            <a:endParaRPr lang="zh-CN" altLang="en-US"/>
          </a:p>
        </p:txBody>
      </p:sp>
    </p:spTree>
    <p:extLst>
      <p:ext uri="{BB962C8B-B14F-4D97-AF65-F5344CB8AC3E}">
        <p14:creationId xmlns:p14="http://schemas.microsoft.com/office/powerpoint/2010/main" val="3699677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6</a:t>
            </a:fld>
            <a:endParaRPr lang="zh-CN" altLang="en-US"/>
          </a:p>
        </p:txBody>
      </p:sp>
    </p:spTree>
    <p:extLst>
      <p:ext uri="{BB962C8B-B14F-4D97-AF65-F5344CB8AC3E}">
        <p14:creationId xmlns:p14="http://schemas.microsoft.com/office/powerpoint/2010/main" val="14829785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7</a:t>
            </a:fld>
            <a:endParaRPr lang="zh-CN" altLang="en-US"/>
          </a:p>
        </p:txBody>
      </p:sp>
    </p:spTree>
    <p:extLst>
      <p:ext uri="{BB962C8B-B14F-4D97-AF65-F5344CB8AC3E}">
        <p14:creationId xmlns:p14="http://schemas.microsoft.com/office/powerpoint/2010/main" val="22361379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8</a:t>
            </a:fld>
            <a:endParaRPr lang="zh-CN" altLang="en-US"/>
          </a:p>
        </p:txBody>
      </p:sp>
    </p:spTree>
    <p:extLst>
      <p:ext uri="{BB962C8B-B14F-4D97-AF65-F5344CB8AC3E}">
        <p14:creationId xmlns:p14="http://schemas.microsoft.com/office/powerpoint/2010/main" val="40585734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9</a:t>
            </a:fld>
            <a:endParaRPr lang="zh-CN" altLang="en-US"/>
          </a:p>
        </p:txBody>
      </p:sp>
    </p:spTree>
    <p:extLst>
      <p:ext uri="{BB962C8B-B14F-4D97-AF65-F5344CB8AC3E}">
        <p14:creationId xmlns:p14="http://schemas.microsoft.com/office/powerpoint/2010/main" val="6316229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10</a:t>
            </a:fld>
            <a:endParaRPr lang="zh-CN" altLang="en-US"/>
          </a:p>
        </p:txBody>
      </p:sp>
    </p:spTree>
    <p:extLst>
      <p:ext uri="{BB962C8B-B14F-4D97-AF65-F5344CB8AC3E}">
        <p14:creationId xmlns:p14="http://schemas.microsoft.com/office/powerpoint/2010/main" val="18214542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11</a:t>
            </a:fld>
            <a:endParaRPr lang="zh-CN" altLang="en-US"/>
          </a:p>
        </p:txBody>
      </p:sp>
    </p:spTree>
    <p:extLst>
      <p:ext uri="{BB962C8B-B14F-4D97-AF65-F5344CB8AC3E}">
        <p14:creationId xmlns:p14="http://schemas.microsoft.com/office/powerpoint/2010/main" val="22368946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pPr/>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pPr/>
              <a:t>26</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37</a:t>
            </a:fld>
            <a:endParaRPr lang="zh-CN" altLang="en-US"/>
          </a:p>
        </p:txBody>
      </p:sp>
    </p:spTree>
    <p:extLst>
      <p:ext uri="{BB962C8B-B14F-4D97-AF65-F5344CB8AC3E}">
        <p14:creationId xmlns:p14="http://schemas.microsoft.com/office/powerpoint/2010/main" val="34058932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38</a:t>
            </a:fld>
            <a:endParaRPr lang="zh-CN" altLang="en-US"/>
          </a:p>
        </p:txBody>
      </p:sp>
    </p:spTree>
    <p:extLst>
      <p:ext uri="{BB962C8B-B14F-4D97-AF65-F5344CB8AC3E}">
        <p14:creationId xmlns:p14="http://schemas.microsoft.com/office/powerpoint/2010/main" val="16749591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39</a:t>
            </a:fld>
            <a:endParaRPr lang="zh-CN" altLang="en-US"/>
          </a:p>
        </p:txBody>
      </p:sp>
    </p:spTree>
    <p:extLst>
      <p:ext uri="{BB962C8B-B14F-4D97-AF65-F5344CB8AC3E}">
        <p14:creationId xmlns:p14="http://schemas.microsoft.com/office/powerpoint/2010/main" val="8080290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40</a:t>
            </a:fld>
            <a:endParaRPr lang="zh-CN" altLang="en-US"/>
          </a:p>
        </p:txBody>
      </p:sp>
    </p:spTree>
    <p:extLst>
      <p:ext uri="{BB962C8B-B14F-4D97-AF65-F5344CB8AC3E}">
        <p14:creationId xmlns:p14="http://schemas.microsoft.com/office/powerpoint/2010/main" val="379842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41</a:t>
            </a:fld>
            <a:endParaRPr lang="zh-CN" altLang="en-US"/>
          </a:p>
        </p:txBody>
      </p:sp>
    </p:spTree>
    <p:extLst>
      <p:ext uri="{BB962C8B-B14F-4D97-AF65-F5344CB8AC3E}">
        <p14:creationId xmlns:p14="http://schemas.microsoft.com/office/powerpoint/2010/main" val="15635240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42</a:t>
            </a:fld>
            <a:endParaRPr lang="zh-CN" altLang="en-US"/>
          </a:p>
        </p:txBody>
      </p:sp>
    </p:spTree>
    <p:extLst>
      <p:ext uri="{BB962C8B-B14F-4D97-AF65-F5344CB8AC3E}">
        <p14:creationId xmlns:p14="http://schemas.microsoft.com/office/powerpoint/2010/main" val="9463589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675159130"/>
      </p:ext>
    </p:extLst>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5559803"/>
      </p:ext>
    </p:extLst>
  </p:cSld>
  <p:clrMapOvr>
    <a:masterClrMapping/>
  </p:clrMapOvr>
  <p:transition>
    <p:random/>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矩形 18"/>
          <p:cNvSpPr/>
          <p:nvPr/>
        </p:nvSpPr>
        <p:spPr>
          <a:xfrm>
            <a:off x="0" y="0"/>
            <a:ext cx="5737860" cy="6011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3" y="556042"/>
            <a:ext cx="9143999" cy="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50" name="Picture 2"/>
          <p:cNvPicPr>
            <a:picLocks noChangeAspect="1" noChangeArrowheads="1"/>
          </p:cNvPicPr>
          <p:nvPr/>
        </p:nvPicPr>
        <p:blipFill>
          <a:blip r:embed="rId4" cstate="print"/>
          <a:srcRect/>
          <a:stretch>
            <a:fillRect/>
          </a:stretch>
        </p:blipFill>
        <p:spPr bwMode="auto">
          <a:xfrm>
            <a:off x="91442" y="25401"/>
            <a:ext cx="2307724" cy="478836"/>
          </a:xfrm>
          <a:prstGeom prst="rect">
            <a:avLst/>
          </a:prstGeom>
          <a:noFill/>
          <a:ln w="9525">
            <a:noFill/>
            <a:miter lim="800000"/>
            <a:headEnd/>
            <a:tailEnd/>
          </a:ln>
        </p:spPr>
      </p:pic>
      <p:sp>
        <p:nvSpPr>
          <p:cNvPr id="14" name="矩形 13"/>
          <p:cNvSpPr/>
          <p:nvPr/>
        </p:nvSpPr>
        <p:spPr>
          <a:xfrm>
            <a:off x="6789420" y="0"/>
            <a:ext cx="2354580" cy="558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流程图: 数据 12"/>
          <p:cNvSpPr/>
          <p:nvPr/>
        </p:nvSpPr>
        <p:spPr>
          <a:xfrm>
            <a:off x="4846320" y="0"/>
            <a:ext cx="3855720" cy="558800"/>
          </a:xfrm>
          <a:prstGeom prst="flowChartInputOutpu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5638803" y="1"/>
            <a:ext cx="3228975" cy="553998"/>
          </a:xfrm>
          <a:prstGeom prst="rect">
            <a:avLst/>
          </a:prstGeom>
        </p:spPr>
        <p:txBody>
          <a:bodyPr wrap="square">
            <a:spAutoFit/>
          </a:bodyPr>
          <a:lstStyle/>
          <a:p>
            <a:pPr algn="r">
              <a:lnSpc>
                <a:spcPct val="125000"/>
              </a:lnSpc>
            </a:pPr>
            <a:r>
              <a:rPr lang="zh-CN" altLang="en-US" sz="2400" b="1" cap="none" spc="0" dirty="0">
                <a:ln w="12700">
                  <a:solidFill>
                    <a:schemeClr val="bg2">
                      <a:lumMod val="75000"/>
                    </a:schemeClr>
                  </a:solidFill>
                  <a:prstDash val="solid"/>
                </a:ln>
                <a:solidFill>
                  <a:schemeClr val="bg1"/>
                </a:solidFill>
                <a:effectLst>
                  <a:outerShdw blurRad="41275" dist="20320" dir="1800000" algn="tl" rotWithShape="0">
                    <a:srgbClr val="000000">
                      <a:alpha val="40000"/>
                    </a:srgbClr>
                  </a:outerShdw>
                </a:effectLst>
                <a:latin typeface="微软雅黑" panose="020B0503020204020204" pitchFamily="34" charset="-122"/>
                <a:ea typeface="微软雅黑" panose="020B0503020204020204" pitchFamily="34" charset="-122"/>
              </a:rPr>
              <a:t>数字电子技术基础</a:t>
            </a:r>
          </a:p>
        </p:txBody>
      </p:sp>
    </p:spTree>
    <p:extLst>
      <p:ext uri="{BB962C8B-B14F-4D97-AF65-F5344CB8AC3E}">
        <p14:creationId xmlns:p14="http://schemas.microsoft.com/office/powerpoint/2010/main" val="4035107080"/>
      </p:ext>
    </p:extLst>
  </p:cSld>
  <p:clrMap bg1="lt1" tx1="dk1" bg2="lt2" tx2="dk2" accent1="accent1" accent2="accent2" accent3="accent3" accent4="accent4" accent5="accent5" accent6="accent6" hlink="hlink" folHlink="folHlink"/>
  <p:sldLayoutIdLst>
    <p:sldLayoutId id="2147483661" r:id="rId1"/>
    <p:sldLayoutId id="2147483662" r:id="rId2"/>
  </p:sldLayoutIdLst>
  <p:transition>
    <p:random/>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4.png"/><Relationship Id="rId5" Type="http://schemas.openxmlformats.org/officeDocument/2006/relationships/image" Target="../media/image6.emf"/><Relationship Id="rId4"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notesSlide" Target="../notesSlides/notesSlide9.xml"/><Relationship Id="rId7" Type="http://schemas.openxmlformats.org/officeDocument/2006/relationships/image" Target="../media/image7.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image" Target="../media/image5.png"/><Relationship Id="rId10" Type="http://schemas.openxmlformats.org/officeDocument/2006/relationships/image" Target="../media/image8.wmf"/><Relationship Id="rId4" Type="http://schemas.openxmlformats.org/officeDocument/2006/relationships/image" Target="../media/image4.png"/><Relationship Id="rId9" Type="http://schemas.openxmlformats.org/officeDocument/2006/relationships/oleObject" Target="../embeddings/oleObject3.bin"/></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11.w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4.bin"/><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13.emf"/><Relationship Id="rId3" Type="http://schemas.openxmlformats.org/officeDocument/2006/relationships/image" Target="../media/image14.png"/><Relationship Id="rId7"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2.emf"/><Relationship Id="rId5" Type="http://schemas.openxmlformats.org/officeDocument/2006/relationships/oleObject" Target="../embeddings/oleObject5.bin"/><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16.emf"/><Relationship Id="rId5" Type="http://schemas.openxmlformats.org/officeDocument/2006/relationships/image" Target="../media/image15.emf"/><Relationship Id="rId4" Type="http://schemas.openxmlformats.org/officeDocument/2006/relationships/oleObject" Target="../embeddings/oleObject7.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image" Target="../media/image5.png"/><Relationship Id="rId7" Type="http://schemas.openxmlformats.org/officeDocument/2006/relationships/image" Target="../media/image17.e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8.bin"/><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18.wmf"/></Relationships>
</file>

<file path=ppt/slides/_rels/slide20.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image" Target="../media/image5.png"/><Relationship Id="rId7"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21.emf"/><Relationship Id="rId5" Type="http://schemas.openxmlformats.org/officeDocument/2006/relationships/oleObject" Target="../embeddings/oleObject10.bin"/><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29.emf"/><Relationship Id="rId3" Type="http://schemas.openxmlformats.org/officeDocument/2006/relationships/image" Target="../media/image27.png"/><Relationship Id="rId7" Type="http://schemas.openxmlformats.org/officeDocument/2006/relationships/image" Target="../media/image28.png"/><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25.wmf"/><Relationship Id="rId5" Type="http://schemas.openxmlformats.org/officeDocument/2006/relationships/oleObject" Target="../embeddings/oleObject12.bin"/><Relationship Id="rId10" Type="http://schemas.openxmlformats.org/officeDocument/2006/relationships/image" Target="../media/image26.wmf"/><Relationship Id="rId4" Type="http://schemas.openxmlformats.org/officeDocument/2006/relationships/image" Target="../media/image5.png"/><Relationship Id="rId9" Type="http://schemas.openxmlformats.org/officeDocument/2006/relationships/oleObject" Target="../embeddings/oleObject13.bin"/></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31.png"/><Relationship Id="rId5" Type="http://schemas.openxmlformats.org/officeDocument/2006/relationships/image" Target="../media/image30.wmf"/><Relationship Id="rId4" Type="http://schemas.openxmlformats.org/officeDocument/2006/relationships/oleObject" Target="../embeddings/oleObject14.bin"/></Relationships>
</file>

<file path=ppt/slides/_rels/slide24.xml.rels><?xml version="1.0" encoding="UTF-8" standalone="yes"?>
<Relationships xmlns="http://schemas.openxmlformats.org/package/2006/relationships"><Relationship Id="rId8" Type="http://schemas.openxmlformats.org/officeDocument/2006/relationships/image" Target="../media/image33.emf"/><Relationship Id="rId3" Type="http://schemas.openxmlformats.org/officeDocument/2006/relationships/image" Target="../media/image5.png"/><Relationship Id="rId7"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32.emf"/><Relationship Id="rId5" Type="http://schemas.openxmlformats.org/officeDocument/2006/relationships/oleObject" Target="../embeddings/oleObject15.bin"/><Relationship Id="rId10" Type="http://schemas.openxmlformats.org/officeDocument/2006/relationships/image" Target="../media/image30.wmf"/><Relationship Id="rId4" Type="http://schemas.openxmlformats.org/officeDocument/2006/relationships/image" Target="../media/image31.png"/><Relationship Id="rId9" Type="http://schemas.openxmlformats.org/officeDocument/2006/relationships/oleObject" Target="../embeddings/oleObject17.bin"/></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20.bin"/><Relationship Id="rId13" Type="http://schemas.openxmlformats.org/officeDocument/2006/relationships/image" Target="../media/image41.wmf"/><Relationship Id="rId3" Type="http://schemas.openxmlformats.org/officeDocument/2006/relationships/oleObject" Target="../embeddings/oleObject18.bin"/><Relationship Id="rId7" Type="http://schemas.openxmlformats.org/officeDocument/2006/relationships/image" Target="../media/image38.emf"/><Relationship Id="rId12"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oleObject" Target="../embeddings/oleObject19.bin"/><Relationship Id="rId11" Type="http://schemas.openxmlformats.org/officeDocument/2006/relationships/image" Target="../media/image40.wmf"/><Relationship Id="rId5" Type="http://schemas.openxmlformats.org/officeDocument/2006/relationships/image" Target="../media/image5.png"/><Relationship Id="rId10" Type="http://schemas.openxmlformats.org/officeDocument/2006/relationships/oleObject" Target="../embeddings/oleObject21.bin"/><Relationship Id="rId4" Type="http://schemas.openxmlformats.org/officeDocument/2006/relationships/image" Target="../media/image37.emf"/><Relationship Id="rId9" Type="http://schemas.openxmlformats.org/officeDocument/2006/relationships/image" Target="../media/image39.wmf"/><Relationship Id="rId14" Type="http://schemas.openxmlformats.org/officeDocument/2006/relationships/image" Target="../media/image42.emf"/></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44.wmf"/><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oleObject" Target="../embeddings/oleObject24.bin"/><Relationship Id="rId5" Type="http://schemas.openxmlformats.org/officeDocument/2006/relationships/image" Target="../media/image43.emf"/><Relationship Id="rId4" Type="http://schemas.openxmlformats.org/officeDocument/2006/relationships/oleObject" Target="../embeddings/oleObject23.bin"/></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25.bin"/><Relationship Id="rId7"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46.wmf"/><Relationship Id="rId5" Type="http://schemas.openxmlformats.org/officeDocument/2006/relationships/oleObject" Target="../embeddings/oleObject26.bin"/><Relationship Id="rId4" Type="http://schemas.openxmlformats.org/officeDocument/2006/relationships/image" Target="../media/image45.emf"/></Relationships>
</file>

<file path=ppt/slides/_rels/slide31.xml.rels><?xml version="1.0" encoding="UTF-8" standalone="yes"?>
<Relationships xmlns="http://schemas.openxmlformats.org/package/2006/relationships"><Relationship Id="rId8" Type="http://schemas.openxmlformats.org/officeDocument/2006/relationships/image" Target="../media/image49.wmf"/><Relationship Id="rId13" Type="http://schemas.openxmlformats.org/officeDocument/2006/relationships/oleObject" Target="../embeddings/oleObject32.bin"/><Relationship Id="rId18" Type="http://schemas.openxmlformats.org/officeDocument/2006/relationships/image" Target="../media/image54.wmf"/><Relationship Id="rId3" Type="http://schemas.openxmlformats.org/officeDocument/2006/relationships/oleObject" Target="../embeddings/oleObject27.bin"/><Relationship Id="rId7" Type="http://schemas.openxmlformats.org/officeDocument/2006/relationships/oleObject" Target="../embeddings/oleObject29.bin"/><Relationship Id="rId12" Type="http://schemas.openxmlformats.org/officeDocument/2006/relationships/image" Target="../media/image51.wmf"/><Relationship Id="rId17" Type="http://schemas.openxmlformats.org/officeDocument/2006/relationships/oleObject" Target="../embeddings/oleObject34.bin"/><Relationship Id="rId2" Type="http://schemas.openxmlformats.org/officeDocument/2006/relationships/slideLayout" Target="../slideLayouts/slideLayout2.xml"/><Relationship Id="rId16" Type="http://schemas.openxmlformats.org/officeDocument/2006/relationships/image" Target="../media/image53.wmf"/><Relationship Id="rId1" Type="http://schemas.openxmlformats.org/officeDocument/2006/relationships/vmlDrawing" Target="../drawings/vmlDrawing14.vml"/><Relationship Id="rId6" Type="http://schemas.openxmlformats.org/officeDocument/2006/relationships/image" Target="../media/image48.emf"/><Relationship Id="rId11" Type="http://schemas.openxmlformats.org/officeDocument/2006/relationships/oleObject" Target="../embeddings/oleObject31.bin"/><Relationship Id="rId5" Type="http://schemas.openxmlformats.org/officeDocument/2006/relationships/oleObject" Target="../embeddings/oleObject28.bin"/><Relationship Id="rId15" Type="http://schemas.openxmlformats.org/officeDocument/2006/relationships/oleObject" Target="../embeddings/oleObject33.bin"/><Relationship Id="rId10" Type="http://schemas.openxmlformats.org/officeDocument/2006/relationships/image" Target="../media/image50.emf"/><Relationship Id="rId19" Type="http://schemas.openxmlformats.org/officeDocument/2006/relationships/image" Target="../media/image5.png"/><Relationship Id="rId4" Type="http://schemas.openxmlformats.org/officeDocument/2006/relationships/image" Target="../media/image47.emf"/><Relationship Id="rId9" Type="http://schemas.openxmlformats.org/officeDocument/2006/relationships/oleObject" Target="../embeddings/oleObject30.bin"/><Relationship Id="rId14" Type="http://schemas.openxmlformats.org/officeDocument/2006/relationships/image" Target="../media/image52.wmf"/></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35.bin"/><Relationship Id="rId3" Type="http://schemas.openxmlformats.org/officeDocument/2006/relationships/image" Target="../media/image56.emf"/><Relationship Id="rId7" Type="http://schemas.openxmlformats.org/officeDocument/2006/relationships/image" Target="../media/image59.png"/><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58.emf"/><Relationship Id="rId5" Type="http://schemas.openxmlformats.org/officeDocument/2006/relationships/image" Target="../media/image57.emf"/><Relationship Id="rId4" Type="http://schemas.openxmlformats.org/officeDocument/2006/relationships/image" Target="../media/image5.png"/><Relationship Id="rId9" Type="http://schemas.openxmlformats.org/officeDocument/2006/relationships/image" Target="../media/image55.wmf"/></Relationships>
</file>

<file path=ppt/slides/_rels/slide33.xml.rels><?xml version="1.0" encoding="UTF-8" standalone="yes"?>
<Relationships xmlns="http://schemas.openxmlformats.org/package/2006/relationships"><Relationship Id="rId3" Type="http://schemas.openxmlformats.org/officeDocument/2006/relationships/image" Target="../media/image61.png"/><Relationship Id="rId7" Type="http://schemas.openxmlformats.org/officeDocument/2006/relationships/image" Target="../media/image5.png"/><Relationship Id="rId2" Type="http://schemas.openxmlformats.org/officeDocument/2006/relationships/slideLayout" Target="../slideLayouts/slideLayout1.xml"/><Relationship Id="rId1" Type="http://schemas.openxmlformats.org/officeDocument/2006/relationships/vmlDrawing" Target="../drawings/vmlDrawing16.vml"/><Relationship Id="rId6" Type="http://schemas.openxmlformats.org/officeDocument/2006/relationships/image" Target="../media/image60.emf"/><Relationship Id="rId5" Type="http://schemas.openxmlformats.org/officeDocument/2006/relationships/oleObject" Target="../embeddings/oleObject36.bin"/><Relationship Id="rId4" Type="http://schemas.openxmlformats.org/officeDocument/2006/relationships/image" Target="NULL"/></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39.bin"/><Relationship Id="rId3" Type="http://schemas.openxmlformats.org/officeDocument/2006/relationships/oleObject" Target="../embeddings/oleObject37.bin"/><Relationship Id="rId7" Type="http://schemas.openxmlformats.org/officeDocument/2006/relationships/image" Target="../media/image63.wmf"/><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oleObject" Target="../embeddings/oleObject38.bin"/><Relationship Id="rId5" Type="http://schemas.openxmlformats.org/officeDocument/2006/relationships/image" Target="../media/image65.png"/><Relationship Id="rId10" Type="http://schemas.openxmlformats.org/officeDocument/2006/relationships/image" Target="../media/image5.png"/><Relationship Id="rId4" Type="http://schemas.openxmlformats.org/officeDocument/2006/relationships/image" Target="../media/image62.emf"/><Relationship Id="rId9" Type="http://schemas.openxmlformats.org/officeDocument/2006/relationships/image" Target="../media/image64.wmf"/></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42.bin"/><Relationship Id="rId13" Type="http://schemas.openxmlformats.org/officeDocument/2006/relationships/image" Target="../media/image69.wmf"/><Relationship Id="rId3" Type="http://schemas.openxmlformats.org/officeDocument/2006/relationships/oleObject" Target="../embeddings/oleObject40.bin"/><Relationship Id="rId7" Type="http://schemas.openxmlformats.org/officeDocument/2006/relationships/image" Target="../media/image67.wmf"/><Relationship Id="rId12" Type="http://schemas.openxmlformats.org/officeDocument/2006/relationships/oleObject" Target="../embeddings/oleObject43.bin"/><Relationship Id="rId17" Type="http://schemas.openxmlformats.org/officeDocument/2006/relationships/image" Target="../media/image71.wmf"/><Relationship Id="rId2" Type="http://schemas.openxmlformats.org/officeDocument/2006/relationships/slideLayout" Target="../slideLayouts/slideLayout2.xml"/><Relationship Id="rId16" Type="http://schemas.openxmlformats.org/officeDocument/2006/relationships/oleObject" Target="../embeddings/oleObject45.bin"/><Relationship Id="rId1" Type="http://schemas.openxmlformats.org/officeDocument/2006/relationships/vmlDrawing" Target="../drawings/vmlDrawing18.vml"/><Relationship Id="rId6" Type="http://schemas.openxmlformats.org/officeDocument/2006/relationships/oleObject" Target="../embeddings/oleObject41.bin"/><Relationship Id="rId11" Type="http://schemas.openxmlformats.org/officeDocument/2006/relationships/image" Target="../media/image72.png"/><Relationship Id="rId5" Type="http://schemas.openxmlformats.org/officeDocument/2006/relationships/image" Target="../media/image65.png"/><Relationship Id="rId15" Type="http://schemas.openxmlformats.org/officeDocument/2006/relationships/image" Target="../media/image70.wmf"/><Relationship Id="rId10" Type="http://schemas.openxmlformats.org/officeDocument/2006/relationships/image" Target="../media/image5.png"/><Relationship Id="rId4" Type="http://schemas.openxmlformats.org/officeDocument/2006/relationships/image" Target="../media/image66.emf"/><Relationship Id="rId9" Type="http://schemas.openxmlformats.org/officeDocument/2006/relationships/image" Target="../media/image68.wmf"/><Relationship Id="rId14" Type="http://schemas.openxmlformats.org/officeDocument/2006/relationships/oleObject" Target="../embeddings/oleObject44.bin"/></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46.bin"/><Relationship Id="rId7" Type="http://schemas.openxmlformats.org/officeDocument/2006/relationships/image" Target="../media/image74.wmf"/><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oleObject" Target="../embeddings/oleObject47.bin"/><Relationship Id="rId5" Type="http://schemas.openxmlformats.org/officeDocument/2006/relationships/image" Target="../media/image5.png"/><Relationship Id="rId4" Type="http://schemas.openxmlformats.org/officeDocument/2006/relationships/image" Target="../media/image73.emf"/></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76.png"/><Relationship Id="rId4" Type="http://schemas.openxmlformats.org/officeDocument/2006/relationships/image" Target="../media/image75.png"/></Relationships>
</file>

<file path=ppt/slides/_rels/slide39.xml.rels><?xml version="1.0" encoding="UTF-8" standalone="yes"?>
<Relationships xmlns="http://schemas.openxmlformats.org/package/2006/relationships"><Relationship Id="rId8" Type="http://schemas.openxmlformats.org/officeDocument/2006/relationships/image" Target="../media/image78.wmf"/><Relationship Id="rId3" Type="http://schemas.openxmlformats.org/officeDocument/2006/relationships/notesSlide" Target="../notesSlides/notesSlide16.xml"/><Relationship Id="rId7" Type="http://schemas.openxmlformats.org/officeDocument/2006/relationships/oleObject" Target="../embeddings/oleObject49.bin"/><Relationship Id="rId12" Type="http://schemas.openxmlformats.org/officeDocument/2006/relationships/image" Target="../media/image80.wmf"/><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image" Target="../media/image77.wmf"/><Relationship Id="rId11" Type="http://schemas.openxmlformats.org/officeDocument/2006/relationships/oleObject" Target="../embeddings/oleObject51.bin"/><Relationship Id="rId5" Type="http://schemas.openxmlformats.org/officeDocument/2006/relationships/oleObject" Target="../embeddings/oleObject48.bin"/><Relationship Id="rId10" Type="http://schemas.openxmlformats.org/officeDocument/2006/relationships/image" Target="../media/image79.wmf"/><Relationship Id="rId4" Type="http://schemas.openxmlformats.org/officeDocument/2006/relationships/image" Target="../media/image5.png"/><Relationship Id="rId9" Type="http://schemas.openxmlformats.org/officeDocument/2006/relationships/oleObject" Target="../embeddings/oleObject50.bin"/></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image" Target="../media/image81.emf"/><Relationship Id="rId5" Type="http://schemas.openxmlformats.org/officeDocument/2006/relationships/oleObject" Target="../embeddings/oleObject52.bin"/><Relationship Id="rId4" Type="http://schemas.openxmlformats.org/officeDocument/2006/relationships/image" Target="../media/image5.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image" Target="../media/image82.emf"/><Relationship Id="rId5" Type="http://schemas.openxmlformats.org/officeDocument/2006/relationships/oleObject" Target="../embeddings/oleObject53.bin"/><Relationship Id="rId4" Type="http://schemas.openxmlformats.org/officeDocument/2006/relationships/image" Target="../media/image5.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vmlDrawing" Target="../drawings/vmlDrawing23.vml"/><Relationship Id="rId6" Type="http://schemas.openxmlformats.org/officeDocument/2006/relationships/image" Target="../media/image83.emf"/><Relationship Id="rId5" Type="http://schemas.openxmlformats.org/officeDocument/2006/relationships/oleObject" Target="../embeddings/oleObject54.bin"/><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p:cNvSpPr/>
          <p:nvPr/>
        </p:nvSpPr>
        <p:spPr>
          <a:xfrm>
            <a:off x="0" y="1"/>
            <a:ext cx="9144000" cy="571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https://timgsa.baidu.com/timg?image&amp;quality=80&amp;size=b9999_10000&amp;sec=1580725348395&amp;di=7d0f97d144a87161ca1f8c https://timgsa.baidu.com/timg?image&amp;quality=80&amp;size=b9999_10000&amp;sec=1580725348395&amp;di=7d0f97d144a87161ca1f8c49f6249c5f&amp;imgtype=0&amp;src=http%3A%2F%2Fpic1.16pic.com%2F00%2F54%2F86%2F16pic_5486472_b.jpg 49f6249c5f&amp;imgtype=0&amp;src=http%3A%2F%2Fpic1.16pic.com%2F00%2F54%2F86%2F16pic_5486472_b.jpg</a:t>
            </a:r>
            <a:endParaRPr lang="zh-CN" altLang="en-US" dirty="0"/>
          </a:p>
        </p:txBody>
      </p:sp>
      <p:sp>
        <p:nvSpPr>
          <p:cNvPr id="23" name="矩形 22"/>
          <p:cNvSpPr/>
          <p:nvPr/>
        </p:nvSpPr>
        <p:spPr>
          <a:xfrm>
            <a:off x="3" y="1008476"/>
            <a:ext cx="9143999" cy="227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0" y="2"/>
            <a:ext cx="9144000" cy="10953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Picture 2"/>
          <p:cNvPicPr>
            <a:picLocks noChangeArrowheads="1"/>
          </p:cNvPicPr>
          <p:nvPr/>
        </p:nvPicPr>
        <p:blipFill>
          <a:blip r:embed="rId3" cstate="print"/>
          <a:srcRect/>
          <a:stretch>
            <a:fillRect/>
          </a:stretch>
        </p:blipFill>
        <p:spPr bwMode="auto">
          <a:xfrm>
            <a:off x="150496" y="220419"/>
            <a:ext cx="3261360" cy="671226"/>
          </a:xfrm>
          <a:prstGeom prst="rect">
            <a:avLst/>
          </a:prstGeom>
          <a:noFill/>
          <a:ln w="9525">
            <a:noFill/>
            <a:miter lim="800000"/>
            <a:headEnd/>
            <a:tailEnd/>
          </a:ln>
        </p:spPr>
      </p:pic>
      <p:sp>
        <p:nvSpPr>
          <p:cNvPr id="9" name="文本框 8"/>
          <p:cNvSpPr txBox="1"/>
          <p:nvPr/>
        </p:nvSpPr>
        <p:spPr>
          <a:xfrm>
            <a:off x="5829300" y="107104"/>
            <a:ext cx="3070860" cy="707886"/>
          </a:xfrm>
          <a:prstGeom prst="rect">
            <a:avLst/>
          </a:prstGeom>
          <a:noFill/>
        </p:spPr>
        <p:txBody>
          <a:bodyPr wrap="square" rtlCol="0">
            <a:spAutoFit/>
          </a:bodyPr>
          <a:lstStyle>
            <a:defPPr>
              <a:defRPr lang="zh-CN"/>
            </a:defPPr>
            <a:lvl1pPr>
              <a:defRPr b="1">
                <a:solidFill>
                  <a:schemeClr val="accent1"/>
                </a:solidFill>
                <a:latin typeface="微软雅黑" panose="020B0503020204020204" pitchFamily="34" charset="-122"/>
                <a:ea typeface="微软雅黑" panose="020B0503020204020204" pitchFamily="34" charset="-122"/>
              </a:defRPr>
            </a:lvl1pPr>
          </a:lstStyle>
          <a:p>
            <a:pPr algn="ctr">
              <a:lnSpc>
                <a:spcPct val="200000"/>
              </a:lnSpc>
            </a:pPr>
            <a:r>
              <a:rPr lang="zh-CN" altLang="en-US" sz="2000" dirty="0">
                <a:solidFill>
                  <a:srgbClr val="002060"/>
                </a:solidFill>
              </a:rPr>
              <a:t>电子与通信工程系</a:t>
            </a:r>
          </a:p>
        </p:txBody>
      </p:sp>
      <p:pic>
        <p:nvPicPr>
          <p:cNvPr id="14" name="Picture 4" descr="http://img.mp.itc.cn/upload/20170309/9f3693de49bf44d791994c44caa6c12c_th.jpeg"/>
          <p:cNvPicPr>
            <a:picLocks noChangeAspect="1" noChangeArrowheads="1"/>
          </p:cNvPicPr>
          <p:nvPr/>
        </p:nvPicPr>
        <p:blipFill>
          <a:blip r:embed="rId4"/>
          <a:srcRect/>
          <a:stretch>
            <a:fillRect/>
          </a:stretch>
        </p:blipFill>
        <p:spPr bwMode="auto">
          <a:xfrm>
            <a:off x="1958497" y="2053086"/>
            <a:ext cx="5356703" cy="2743606"/>
          </a:xfrm>
          <a:prstGeom prst="ellipse">
            <a:avLst/>
          </a:prstGeom>
          <a:ln>
            <a:noFill/>
          </a:ln>
          <a:effectLst>
            <a:softEdge rad="112500"/>
          </a:effectLst>
        </p:spPr>
      </p:pic>
      <p:sp>
        <p:nvSpPr>
          <p:cNvPr id="15" name="文本框 6"/>
          <p:cNvSpPr txBox="1"/>
          <p:nvPr/>
        </p:nvSpPr>
        <p:spPr>
          <a:xfrm>
            <a:off x="1387452" y="1357495"/>
            <a:ext cx="6498792" cy="746358"/>
          </a:xfrm>
          <a:prstGeom prst="rect">
            <a:avLst/>
          </a:prstGeom>
          <a:noFill/>
        </p:spPr>
        <p:txBody>
          <a:bodyPr wrap="square" rtlCol="0">
            <a:spAutoFit/>
          </a:bodyPr>
          <a:lstStyle/>
          <a:p>
            <a:pPr algn="ctr">
              <a:lnSpc>
                <a:spcPct val="125000"/>
              </a:lnSpc>
            </a:pPr>
            <a:r>
              <a:rPr lang="zh-CN" altLang="en-US"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微软雅黑" panose="020B0503020204020204" pitchFamily="34" charset="-122"/>
                <a:ea typeface="微软雅黑" panose="020B0503020204020204" pitchFamily="34" charset="-122"/>
              </a:rPr>
              <a:t>数字电子技术基础</a:t>
            </a:r>
          </a:p>
        </p:txBody>
      </p:sp>
      <p:sp>
        <p:nvSpPr>
          <p:cNvPr id="16" name="文本框 8"/>
          <p:cNvSpPr txBox="1"/>
          <p:nvPr/>
        </p:nvSpPr>
        <p:spPr>
          <a:xfrm>
            <a:off x="3080919" y="4547960"/>
            <a:ext cx="3390900" cy="707886"/>
          </a:xfrm>
          <a:prstGeom prst="rect">
            <a:avLst/>
          </a:prstGeom>
          <a:noFill/>
        </p:spPr>
        <p:txBody>
          <a:bodyPr wrap="square" rtlCol="0">
            <a:spAutoFit/>
          </a:bodyPr>
          <a:lstStyle>
            <a:defPPr>
              <a:defRPr lang="zh-CN"/>
            </a:defPPr>
            <a:lvl1pPr>
              <a:defRPr b="1">
                <a:solidFill>
                  <a:schemeClr val="accent1"/>
                </a:solidFill>
                <a:latin typeface="微软雅黑" panose="020B0503020204020204" pitchFamily="34" charset="-122"/>
                <a:ea typeface="微软雅黑" panose="020B0503020204020204" pitchFamily="34" charset="-122"/>
              </a:defRPr>
            </a:lvl1pPr>
          </a:lstStyle>
          <a:p>
            <a:pPr algn="ctr">
              <a:lnSpc>
                <a:spcPct val="200000"/>
              </a:lnSpc>
            </a:pPr>
            <a:r>
              <a:rPr lang="zh-CN" altLang="en-US" sz="2000" dirty="0">
                <a:solidFill>
                  <a:srgbClr val="002060"/>
                </a:solidFill>
              </a:rPr>
              <a:t>主讲人：何玉钧</a:t>
            </a:r>
          </a:p>
        </p:txBody>
      </p:sp>
    </p:spTree>
    <p:extLst>
      <p:ext uri="{BB962C8B-B14F-4D97-AF65-F5344CB8AC3E}">
        <p14:creationId xmlns:p14="http://schemas.microsoft.com/office/powerpoint/2010/main" val="32149485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1000" fill="hold"/>
                                        <p:tgtEl>
                                          <p:spTgt spid="15"/>
                                        </p:tgtEl>
                                        <p:attrNameLst>
                                          <p:attrName>ppt_w</p:attrName>
                                        </p:attrNameLst>
                                      </p:cBhvr>
                                      <p:tavLst>
                                        <p:tav tm="0">
                                          <p:val>
                                            <p:fltVal val="0"/>
                                          </p:val>
                                        </p:tav>
                                        <p:tav tm="100000">
                                          <p:val>
                                            <p:strVal val="#ppt_w"/>
                                          </p:val>
                                        </p:tav>
                                      </p:tavLst>
                                    </p:anim>
                                    <p:anim calcmode="lin" valueType="num">
                                      <p:cBhvr>
                                        <p:cTn id="8" dur="1000" fill="hold"/>
                                        <p:tgtEl>
                                          <p:spTgt spid="15"/>
                                        </p:tgtEl>
                                        <p:attrNameLst>
                                          <p:attrName>ppt_h</p:attrName>
                                        </p:attrNameLst>
                                      </p:cBhvr>
                                      <p:tavLst>
                                        <p:tav tm="0">
                                          <p:val>
                                            <p:flt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p:cTn id="11" dur="1000" fill="hold"/>
                                        <p:tgtEl>
                                          <p:spTgt spid="14"/>
                                        </p:tgtEl>
                                        <p:attrNameLst>
                                          <p:attrName>ppt_w</p:attrName>
                                        </p:attrNameLst>
                                      </p:cBhvr>
                                      <p:tavLst>
                                        <p:tav tm="0">
                                          <p:val>
                                            <p:fltVal val="0"/>
                                          </p:val>
                                        </p:tav>
                                        <p:tav tm="100000">
                                          <p:val>
                                            <p:strVal val="#ppt_w"/>
                                          </p:val>
                                        </p:tav>
                                      </p:tavLst>
                                    </p:anim>
                                    <p:anim calcmode="lin" valueType="num">
                                      <p:cBhvr>
                                        <p:cTn id="12" dur="1000" fill="hold"/>
                                        <p:tgtEl>
                                          <p:spTgt spid="14"/>
                                        </p:tgtEl>
                                        <p:attrNameLst>
                                          <p:attrName>ppt_h</p:attrName>
                                        </p:attrNameLst>
                                      </p:cBhvr>
                                      <p:tavLst>
                                        <p:tav tm="0">
                                          <p:val>
                                            <p:fltVal val="0"/>
                                          </p:val>
                                        </p:tav>
                                        <p:tav tm="100000">
                                          <p:val>
                                            <p:strVal val="#ppt_h"/>
                                          </p:val>
                                        </p:tav>
                                      </p:tavLst>
                                    </p:anim>
                                  </p:childTnLst>
                                </p:cTn>
                              </p:par>
                              <p:par>
                                <p:cTn id="13" presetID="23" presetClass="entr" presetSubtype="16"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 calcmode="lin" valueType="num">
                                      <p:cBhvr>
                                        <p:cTn id="15" dur="1000" fill="hold"/>
                                        <p:tgtEl>
                                          <p:spTgt spid="16"/>
                                        </p:tgtEl>
                                        <p:attrNameLst>
                                          <p:attrName>ppt_w</p:attrName>
                                        </p:attrNameLst>
                                      </p:cBhvr>
                                      <p:tavLst>
                                        <p:tav tm="0">
                                          <p:val>
                                            <p:fltVal val="0"/>
                                          </p:val>
                                        </p:tav>
                                        <p:tav tm="100000">
                                          <p:val>
                                            <p:strVal val="#ppt_w"/>
                                          </p:val>
                                        </p:tav>
                                      </p:tavLst>
                                    </p:anim>
                                    <p:anim calcmode="lin" valueType="num">
                                      <p:cBhvr>
                                        <p:cTn id="16" dur="1000" fill="hold"/>
                                        <p:tgtEl>
                                          <p:spTgt spid="1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1101090" y="1927861"/>
            <a:ext cx="6713220" cy="1865100"/>
            <a:chOff x="1101090" y="1824567"/>
            <a:chExt cx="6713220" cy="2072333"/>
          </a:xfrm>
        </p:grpSpPr>
        <p:grpSp>
          <p:nvGrpSpPr>
            <p:cNvPr id="43" name="组合 42"/>
            <p:cNvGrpSpPr/>
            <p:nvPr/>
          </p:nvGrpSpPr>
          <p:grpSpPr>
            <a:xfrm>
              <a:off x="1101090" y="1824567"/>
              <a:ext cx="1371600" cy="760000"/>
              <a:chOff x="910590" y="1565910"/>
              <a:chExt cx="1371600" cy="684000"/>
            </a:xfrm>
          </p:grpSpPr>
          <p:grpSp>
            <p:nvGrpSpPr>
              <p:cNvPr id="36" name="组合 35"/>
              <p:cNvGrpSpPr/>
              <p:nvPr/>
            </p:nvGrpSpPr>
            <p:grpSpPr>
              <a:xfrm>
                <a:off x="910590" y="1699260"/>
                <a:ext cx="1371600" cy="99060"/>
                <a:chOff x="910590" y="1699260"/>
                <a:chExt cx="1371600" cy="99060"/>
              </a:xfrm>
            </p:grpSpPr>
            <p:cxnSp>
              <p:nvCxnSpPr>
                <p:cNvPr id="29" name="直接连接符 28"/>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5" name="直接连接符 34"/>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37" name="组合 36"/>
              <p:cNvGrpSpPr/>
              <p:nvPr/>
            </p:nvGrpSpPr>
            <p:grpSpPr>
              <a:xfrm rot="5400000">
                <a:off x="728610" y="1866000"/>
                <a:ext cx="684000" cy="83820"/>
                <a:chOff x="910590" y="1699260"/>
                <a:chExt cx="1371600" cy="99060"/>
              </a:xfrm>
            </p:grpSpPr>
            <p:cxnSp>
              <p:nvCxnSpPr>
                <p:cNvPr id="38" name="直接连接符 37"/>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42" name="直接连接符 41"/>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grpSp>
          <p:nvGrpSpPr>
            <p:cNvPr id="44" name="组合 43"/>
            <p:cNvGrpSpPr/>
            <p:nvPr/>
          </p:nvGrpSpPr>
          <p:grpSpPr>
            <a:xfrm rot="10800000">
              <a:off x="6442710" y="3136900"/>
              <a:ext cx="1371600" cy="760000"/>
              <a:chOff x="910590" y="1565910"/>
              <a:chExt cx="1371600" cy="684000"/>
            </a:xfrm>
          </p:grpSpPr>
          <p:grpSp>
            <p:nvGrpSpPr>
              <p:cNvPr id="45" name="组合 35"/>
              <p:cNvGrpSpPr/>
              <p:nvPr/>
            </p:nvGrpSpPr>
            <p:grpSpPr>
              <a:xfrm>
                <a:off x="910590" y="1699260"/>
                <a:ext cx="1371600" cy="99060"/>
                <a:chOff x="910590" y="1699260"/>
                <a:chExt cx="1371600" cy="99060"/>
              </a:xfrm>
            </p:grpSpPr>
            <p:cxnSp>
              <p:nvCxnSpPr>
                <p:cNvPr id="49" name="直接连接符 48"/>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50" name="直接连接符 49"/>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46" name="组合 36"/>
              <p:cNvGrpSpPr/>
              <p:nvPr/>
            </p:nvGrpSpPr>
            <p:grpSpPr>
              <a:xfrm rot="5400000">
                <a:off x="728610" y="1866000"/>
                <a:ext cx="684000" cy="83820"/>
                <a:chOff x="910590" y="1699260"/>
                <a:chExt cx="1371600" cy="99060"/>
              </a:xfrm>
            </p:grpSpPr>
            <p:cxnSp>
              <p:nvCxnSpPr>
                <p:cNvPr id="47" name="直接连接符 46"/>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48" name="直接连接符 47"/>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sp>
          <p:nvSpPr>
            <p:cNvPr id="17" name="文本框 6"/>
            <p:cNvSpPr txBox="1"/>
            <p:nvPr/>
          </p:nvSpPr>
          <p:spPr>
            <a:xfrm>
              <a:off x="1108483" y="2545562"/>
              <a:ext cx="6498792" cy="771508"/>
            </a:xfrm>
            <a:prstGeom prst="rect">
              <a:avLst/>
            </a:prstGeom>
            <a:noFill/>
          </p:spPr>
          <p:txBody>
            <a:bodyPr wrap="square" rtlCol="0">
              <a:spAutoFit/>
            </a:bodyPr>
            <a:lstStyle/>
            <a:p>
              <a:pPr algn="ctr">
                <a:lnSpc>
                  <a:spcPct val="125000"/>
                </a:lnSpc>
              </a:pPr>
              <a:r>
                <a:rPr lang="zh-CN"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大黑简体" panose="02010601030101010101" pitchFamily="2" charset="-122"/>
                  <a:ea typeface="方正大黑简体" panose="02010601030101010101" pitchFamily="2" charset="-122"/>
                </a:rPr>
                <a:t>第</a:t>
              </a:r>
              <a:r>
                <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大黑简体" panose="02010601030101010101" pitchFamily="2" charset="-122"/>
                  <a:ea typeface="方正大黑简体" panose="02010601030101010101" pitchFamily="2" charset="-122"/>
                </a:rPr>
                <a:t>3</a:t>
              </a:r>
              <a:r>
                <a:rPr lang="zh-CN"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大黑简体" panose="02010601030101010101" pitchFamily="2" charset="-122"/>
                  <a:ea typeface="方正大黑简体" panose="02010601030101010101" pitchFamily="2" charset="-122"/>
                </a:rPr>
                <a:t>章</a:t>
              </a:r>
              <a:r>
                <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大黑简体" panose="02010601030101010101" pitchFamily="2" charset="-122"/>
                  <a:ea typeface="方正大黑简体" panose="02010601030101010101" pitchFamily="2" charset="-122"/>
                </a:rPr>
                <a:t>  </a:t>
              </a:r>
              <a:r>
                <a:rPr lang="zh-CN" altLang="en-US"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大黑简体" panose="02010601030101010101" pitchFamily="2" charset="-122"/>
                  <a:ea typeface="方正大黑简体" panose="02010601030101010101" pitchFamily="2" charset="-122"/>
                </a:rPr>
                <a:t>逻辑门电路</a:t>
              </a:r>
              <a:endPar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大黑简体" panose="02010601030101010101" pitchFamily="2" charset="-122"/>
                <a:ea typeface="方正大黑简体" panose="02010601030101010101" pitchFamily="2" charset="-122"/>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1000" fill="hold"/>
                                        <p:tgtEl>
                                          <p:spTgt spid="18"/>
                                        </p:tgtEl>
                                        <p:attrNameLst>
                                          <p:attrName>ppt_w</p:attrName>
                                        </p:attrNameLst>
                                      </p:cBhvr>
                                      <p:tavLst>
                                        <p:tav tm="0">
                                          <p:val>
                                            <p:fltVal val="0"/>
                                          </p:val>
                                        </p:tav>
                                        <p:tav tm="100000">
                                          <p:val>
                                            <p:strVal val="#ppt_w"/>
                                          </p:val>
                                        </p:tav>
                                      </p:tavLst>
                                    </p:anim>
                                    <p:anim calcmode="lin" valueType="num">
                                      <p:cBhvr>
                                        <p:cTn id="8" dur="1000" fill="hold"/>
                                        <p:tgtEl>
                                          <p:spTgt spid="18"/>
                                        </p:tgtEl>
                                        <p:attrNameLst>
                                          <p:attrName>ppt_h</p:attrName>
                                        </p:attrNameLst>
                                      </p:cBhvr>
                                      <p:tavLst>
                                        <p:tav tm="0">
                                          <p:val>
                                            <p:fltVal val="0"/>
                                          </p:val>
                                        </p:tav>
                                        <p:tav tm="100000">
                                          <p:val>
                                            <p:strVal val="#ppt_h"/>
                                          </p:val>
                                        </p:tav>
                                      </p:tavLst>
                                    </p:anim>
                                    <p:animEffect transition="in" filter="fade">
                                      <p:cBhvr>
                                        <p:cTn id="9"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79213" y="1375954"/>
            <a:ext cx="8631294" cy="3573236"/>
            <a:chOff x="256353" y="1058938"/>
            <a:chExt cx="8631294" cy="3822780"/>
          </a:xfrm>
        </p:grpSpPr>
        <p:sp>
          <p:nvSpPr>
            <p:cNvPr id="4" name="矩形 3">
              <a:extLst>
                <a:ext uri="{FF2B5EF4-FFF2-40B4-BE49-F238E27FC236}">
                  <a16:creationId xmlns:a16="http://schemas.microsoft.com/office/drawing/2014/main" id="{DD99E520-B893-474A-A840-13599A7C4162}"/>
                </a:ext>
              </a:extLst>
            </p:cNvPr>
            <p:cNvSpPr/>
            <p:nvPr/>
          </p:nvSpPr>
          <p:spPr>
            <a:xfrm>
              <a:off x="256353" y="1426524"/>
              <a:ext cx="8631294" cy="3427416"/>
            </a:xfrm>
            <a:prstGeom prst="rect">
              <a:avLst/>
            </a:prstGeom>
            <a:solidFill>
              <a:sysClr val="window" lastClr="FFFFFF">
                <a:alpha val="0"/>
              </a:sysClr>
            </a:solidFill>
            <a:ln w="25400" cap="flat" cmpd="sng" algn="ctr">
              <a:solidFill>
                <a:srgbClr val="2090EC"/>
              </a:solidFill>
              <a:prstDash val="solid"/>
            </a:ln>
            <a:effectLst/>
          </p:spPr>
          <p:txBody>
            <a:bodyPr lIns="0" tIns="72000" rIns="0" bIns="0" numCol="3" spcCol="180000" anchor="ctr"/>
            <a:lstStyle/>
            <a:p>
              <a:pPr marL="357496" indent="-268599">
                <a:spcBef>
                  <a:spcPts val="600"/>
                </a:spcBef>
                <a:buSzPct val="100000"/>
                <a:buFont typeface="Wingdings" panose="05000000000000000000" pitchFamily="2" charset="2"/>
                <a:buChar char="n"/>
              </a:pPr>
              <a:endParaRPr sz="1400" kern="100" dirty="0">
                <a:solidFill>
                  <a:srgbClr val="002060"/>
                </a:solidFill>
                <a:latin typeface="微软雅黑" panose="020B0503020204020204" pitchFamily="34" charset="-122"/>
                <a:ea typeface="微软雅黑" panose="020B0503020204020204" pitchFamily="34" charset="-122"/>
                <a:sym typeface="+mn-ea"/>
              </a:endParaRPr>
            </a:p>
          </p:txBody>
        </p:sp>
        <p:sp>
          <p:nvSpPr>
            <p:cNvPr id="3" name="文本框 2">
              <a:extLst>
                <a:ext uri="{FF2B5EF4-FFF2-40B4-BE49-F238E27FC236}">
                  <a16:creationId xmlns:a16="http://schemas.microsoft.com/office/drawing/2014/main" id="{20AAD544-EAE7-46C3-8E19-956FA907F7BC}"/>
                </a:ext>
              </a:extLst>
            </p:cNvPr>
            <p:cNvSpPr txBox="1"/>
            <p:nvPr/>
          </p:nvSpPr>
          <p:spPr>
            <a:xfrm>
              <a:off x="568913" y="1815352"/>
              <a:ext cx="8006174" cy="3066366"/>
            </a:xfrm>
            <a:prstGeom prst="rect">
              <a:avLst/>
            </a:prstGeom>
            <a:noFill/>
          </p:spPr>
          <p:txBody>
            <a:bodyPr wrap="square">
              <a:spAutoFit/>
            </a:bodyPr>
            <a:lstStyle/>
            <a:p>
              <a:pPr marL="342900" indent="-342900">
                <a:spcAft>
                  <a:spcPts val="800"/>
                </a:spcAft>
                <a:buFont typeface="Wingdings" panose="05000000000000000000" pitchFamily="2" charset="2"/>
                <a:buChar char=""/>
              </a:pPr>
              <a:r>
                <a:rPr lang="zh-CN" altLang="zh-CN" sz="2000" dirty="0">
                  <a:latin typeface="Times New Roman" panose="02020603050405020304" pitchFamily="18" charset="0"/>
                  <a:ea typeface="黑体" panose="02010609060101010101" pitchFamily="49" charset="-122"/>
                  <a:cs typeface="Times New Roman" panose="02020603050405020304" pitchFamily="18" charset="0"/>
                </a:rPr>
                <a:t>逻辑门电路的一般特性及参数；</a:t>
              </a:r>
            </a:p>
            <a:p>
              <a:pPr marL="342900" indent="-342900">
                <a:spcAft>
                  <a:spcPts val="800"/>
                </a:spcAft>
                <a:buFont typeface="Wingdings" panose="05000000000000000000" pitchFamily="2" charset="2"/>
                <a:buChar char=""/>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BJT</a:t>
              </a:r>
              <a:r>
                <a:rPr lang="zh-CN" altLang="zh-CN" sz="2000" dirty="0">
                  <a:latin typeface="Times New Roman" panose="02020603050405020304" pitchFamily="18" charset="0"/>
                  <a:ea typeface="黑体" panose="02010609060101010101" pitchFamily="49" charset="-122"/>
                  <a:cs typeface="Times New Roman" panose="02020603050405020304" pitchFamily="18" charset="0"/>
                </a:rPr>
                <a:t>的开关特性，</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TTL</a:t>
              </a:r>
              <a:r>
                <a:rPr lang="zh-CN" altLang="zh-CN" sz="2000" dirty="0">
                  <a:latin typeface="Times New Roman" panose="02020603050405020304" pitchFamily="18" charset="0"/>
                  <a:ea typeface="黑体" panose="02010609060101010101" pitchFamily="49" charset="-122"/>
                  <a:cs typeface="Times New Roman" panose="02020603050405020304" pitchFamily="18" charset="0"/>
                </a:rPr>
                <a:t>非门的电路结构及工作原理；</a:t>
              </a:r>
            </a:p>
            <a:p>
              <a:pPr marL="342900" indent="-342900">
                <a:spcAft>
                  <a:spcPts val="800"/>
                </a:spcAft>
                <a:buFont typeface="Wingdings" panose="05000000000000000000" pitchFamily="2" charset="2"/>
                <a:buChar char=""/>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TTL</a:t>
              </a:r>
              <a:r>
                <a:rPr lang="zh-CN" altLang="zh-CN" sz="2000" dirty="0">
                  <a:latin typeface="Times New Roman" panose="02020603050405020304" pitchFamily="18" charset="0"/>
                  <a:ea typeface="黑体" panose="02010609060101010101" pitchFamily="49" charset="-122"/>
                  <a:cs typeface="Times New Roman" panose="02020603050405020304" pitchFamily="18" charset="0"/>
                </a:rPr>
                <a:t>与非门、或非门、</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OC</a:t>
              </a:r>
              <a:r>
                <a:rPr lang="zh-CN" altLang="zh-CN" sz="2000" dirty="0">
                  <a:latin typeface="Times New Roman" panose="02020603050405020304" pitchFamily="18" charset="0"/>
                  <a:ea typeface="黑体" panose="02010609060101010101" pitchFamily="49" charset="-122"/>
                  <a:cs typeface="Times New Roman" panose="02020603050405020304" pitchFamily="18" charset="0"/>
                </a:rPr>
                <a:t>门及三态门的结构、工作原理及应用；</a:t>
              </a:r>
            </a:p>
            <a:p>
              <a:pPr marL="342900" indent="-342900">
                <a:spcAft>
                  <a:spcPts val="800"/>
                </a:spcAft>
                <a:buFont typeface="Wingdings" panose="05000000000000000000" pitchFamily="2" charset="2"/>
                <a:buChar char=""/>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MOS</a:t>
              </a:r>
              <a:r>
                <a:rPr lang="zh-CN" altLang="zh-CN" sz="2000" dirty="0">
                  <a:latin typeface="Times New Roman" panose="02020603050405020304" pitchFamily="18" charset="0"/>
                  <a:ea typeface="黑体" panose="02010609060101010101" pitchFamily="49" charset="-122"/>
                  <a:cs typeface="Times New Roman" panose="02020603050405020304" pitchFamily="18" charset="0"/>
                </a:rPr>
                <a:t>管的开关特性，</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CMOS</a:t>
              </a:r>
              <a:r>
                <a:rPr lang="zh-CN" altLang="zh-CN" sz="2000" dirty="0">
                  <a:latin typeface="Times New Roman" panose="02020603050405020304" pitchFamily="18" charset="0"/>
                  <a:ea typeface="黑体" panose="02010609060101010101" pitchFamily="49" charset="-122"/>
                  <a:cs typeface="Times New Roman" panose="02020603050405020304" pitchFamily="18" charset="0"/>
                </a:rPr>
                <a:t>非门的电路结构及工作原理；</a:t>
              </a:r>
            </a:p>
            <a:p>
              <a:pPr marL="342900" indent="-342900">
                <a:spcAft>
                  <a:spcPts val="800"/>
                </a:spcAft>
                <a:buFont typeface="Wingdings" panose="05000000000000000000" pitchFamily="2" charset="2"/>
                <a:buChar char=""/>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CMOS</a:t>
              </a:r>
              <a:r>
                <a:rPr lang="zh-CN" altLang="zh-CN" sz="2000" dirty="0">
                  <a:latin typeface="Times New Roman" panose="02020603050405020304" pitchFamily="18" charset="0"/>
                  <a:ea typeface="黑体" panose="02010609060101010101" pitchFamily="49" charset="-122"/>
                  <a:cs typeface="Times New Roman" panose="02020603050405020304" pitchFamily="18" charset="0"/>
                </a:rPr>
                <a:t>与非门、或非门、异或门、</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OD</a:t>
              </a:r>
              <a:r>
                <a:rPr lang="zh-CN" altLang="zh-CN" sz="2000" dirty="0">
                  <a:latin typeface="Times New Roman" panose="02020603050405020304" pitchFamily="18" charset="0"/>
                  <a:ea typeface="黑体" panose="02010609060101010101" pitchFamily="49" charset="-122"/>
                  <a:cs typeface="Times New Roman" panose="02020603050405020304" pitchFamily="18" charset="0"/>
                </a:rPr>
                <a:t>门、三态门、传输门的电路结构及工作原理；</a:t>
              </a:r>
            </a:p>
            <a:p>
              <a:pPr marL="342900" indent="-342900">
                <a:spcAft>
                  <a:spcPts val="800"/>
                </a:spcAft>
                <a:buFont typeface="Wingdings" panose="05000000000000000000" pitchFamily="2" charset="2"/>
                <a:buChar char=""/>
              </a:pPr>
              <a:r>
                <a:rPr lang="zh-CN" altLang="zh-CN" sz="2000" dirty="0">
                  <a:latin typeface="Times New Roman" panose="02020603050405020304" pitchFamily="18" charset="0"/>
                  <a:ea typeface="黑体" panose="02010609060101010101" pitchFamily="49" charset="-122"/>
                  <a:cs typeface="Times New Roman" panose="02020603050405020304" pitchFamily="18" charset="0"/>
                </a:rPr>
                <a:t>逻辑门电路</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在</a:t>
              </a:r>
              <a:r>
                <a:rPr lang="zh-CN" altLang="zh-CN" sz="2000" dirty="0">
                  <a:latin typeface="Times New Roman" panose="02020603050405020304" pitchFamily="18" charset="0"/>
                  <a:ea typeface="黑体" panose="02010609060101010101" pitchFamily="49" charset="-122"/>
                  <a:cs typeface="Times New Roman" panose="02020603050405020304" pitchFamily="18" charset="0"/>
                </a:rPr>
                <a:t>使用中的几个实际问题。</a:t>
              </a:r>
            </a:p>
          </p:txBody>
        </p:sp>
        <p:sp>
          <p:nvSpPr>
            <p:cNvPr id="5" name="平行四边形 4">
              <a:extLst>
                <a:ext uri="{FF2B5EF4-FFF2-40B4-BE49-F238E27FC236}">
                  <a16:creationId xmlns:a16="http://schemas.microsoft.com/office/drawing/2014/main" id="{04804CD1-8332-45D4-9B92-208C342F9875}"/>
                </a:ext>
              </a:extLst>
            </p:cNvPr>
            <p:cNvSpPr/>
            <p:nvPr/>
          </p:nvSpPr>
          <p:spPr>
            <a:xfrm>
              <a:off x="256353" y="1058938"/>
              <a:ext cx="7344511" cy="374964"/>
            </a:xfrm>
            <a:prstGeom prst="parallelogram">
              <a:avLst>
                <a:gd name="adj" fmla="val 64377"/>
              </a:avLst>
            </a:prstGeom>
            <a:solidFill>
              <a:srgbClr val="005DA2"/>
            </a:solidFill>
            <a:ln w="15875" cap="flat" cmpd="sng" algn="ctr">
              <a:solidFill>
                <a:srgbClr val="005DA2"/>
              </a:solidFill>
              <a:prstDash val="solid"/>
            </a:ln>
            <a:effectLst>
              <a:outerShdw blurRad="50800" dist="38100" dir="2700000" algn="tl" rotWithShape="0">
                <a:prstClr val="black">
                  <a:alpha val="40000"/>
                </a:prstClr>
              </a:outerShdw>
            </a:effectLst>
          </p:spPr>
          <p:txBody>
            <a:bodyPr lIns="0" tIns="0" rIns="0" bIns="0" rtlCol="0" anchor="ctr"/>
            <a:lstStyle/>
            <a:p>
              <a:pPr defTabSz="914377">
                <a:defRPr/>
              </a:pPr>
              <a:r>
                <a:rPr lang="zh-CN" altLang="en-US" sz="2000" b="1" kern="1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内 容 提 要</a:t>
              </a:r>
              <a:endParaRPr lang="zh-CN" altLang="en-US" sz="2000" b="1" kern="0" dirty="0">
                <a:solidFill>
                  <a:schemeClr val="bg1"/>
                </a:solidFill>
                <a:latin typeface="Calibri" panose="020F0502020204030204"/>
              </a:endParaRPr>
            </a:p>
          </p:txBody>
        </p:sp>
      </p:grpSp>
    </p:spTree>
    <p:extLst>
      <p:ext uri="{BB962C8B-B14F-4D97-AF65-F5344CB8AC3E}">
        <p14:creationId xmlns:p14="http://schemas.microsoft.com/office/powerpoint/2010/main" val="331459564"/>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组合 23"/>
          <p:cNvGrpSpPr/>
          <p:nvPr/>
        </p:nvGrpSpPr>
        <p:grpSpPr>
          <a:xfrm>
            <a:off x="1041354" y="1824567"/>
            <a:ext cx="6772956" cy="2072333"/>
            <a:chOff x="1041354" y="1824567"/>
            <a:chExt cx="6772956" cy="2072333"/>
          </a:xfrm>
        </p:grpSpPr>
        <p:grpSp>
          <p:nvGrpSpPr>
            <p:cNvPr id="19" name="组合 18"/>
            <p:cNvGrpSpPr/>
            <p:nvPr/>
          </p:nvGrpSpPr>
          <p:grpSpPr>
            <a:xfrm>
              <a:off x="1101090" y="1824567"/>
              <a:ext cx="6713220" cy="2072333"/>
              <a:chOff x="1101090" y="1824567"/>
              <a:chExt cx="6713220" cy="2072333"/>
            </a:xfrm>
          </p:grpSpPr>
          <p:grpSp>
            <p:nvGrpSpPr>
              <p:cNvPr id="17" name="组合 16"/>
              <p:cNvGrpSpPr/>
              <p:nvPr/>
            </p:nvGrpSpPr>
            <p:grpSpPr>
              <a:xfrm>
                <a:off x="1101090" y="1824567"/>
                <a:ext cx="1371600" cy="760000"/>
                <a:chOff x="1101090" y="1824567"/>
                <a:chExt cx="1371600" cy="760000"/>
              </a:xfrm>
            </p:grpSpPr>
            <p:grpSp>
              <p:nvGrpSpPr>
                <p:cNvPr id="3" name="组合 35"/>
                <p:cNvGrpSpPr/>
                <p:nvPr/>
              </p:nvGrpSpPr>
              <p:grpSpPr>
                <a:xfrm>
                  <a:off x="1101090" y="1972734"/>
                  <a:ext cx="1371600" cy="110067"/>
                  <a:chOff x="910590" y="1699260"/>
                  <a:chExt cx="1371600" cy="99060"/>
                </a:xfrm>
              </p:grpSpPr>
              <p:cxnSp>
                <p:nvCxnSpPr>
                  <p:cNvPr id="22" name="直接连接符 21"/>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3" name="直接连接符 22"/>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4" name="组合 36"/>
                <p:cNvGrpSpPr/>
                <p:nvPr/>
              </p:nvGrpSpPr>
              <p:grpSpPr>
                <a:xfrm rot="5400000">
                  <a:off x="986715" y="2155037"/>
                  <a:ext cx="760000" cy="99060"/>
                  <a:chOff x="910590" y="1699260"/>
                  <a:chExt cx="1371600" cy="99060"/>
                </a:xfrm>
              </p:grpSpPr>
              <p:cxnSp>
                <p:nvCxnSpPr>
                  <p:cNvPr id="20" name="直接连接符 19"/>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1" name="直接连接符 20"/>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grpSp>
            <p:nvGrpSpPr>
              <p:cNvPr id="18" name="组合 17"/>
              <p:cNvGrpSpPr/>
              <p:nvPr/>
            </p:nvGrpSpPr>
            <p:grpSpPr>
              <a:xfrm>
                <a:off x="6442710" y="3136900"/>
                <a:ext cx="1371600" cy="760000"/>
                <a:chOff x="6442710" y="3136900"/>
                <a:chExt cx="1371600" cy="760000"/>
              </a:xfrm>
            </p:grpSpPr>
            <p:grpSp>
              <p:nvGrpSpPr>
                <p:cNvPr id="6" name="组合 35"/>
                <p:cNvGrpSpPr/>
                <p:nvPr/>
              </p:nvGrpSpPr>
              <p:grpSpPr>
                <a:xfrm rot="10800000">
                  <a:off x="6442710" y="3638667"/>
                  <a:ext cx="1371600" cy="110067"/>
                  <a:chOff x="910590" y="1699260"/>
                  <a:chExt cx="1371600" cy="99060"/>
                </a:xfrm>
              </p:grpSpPr>
              <p:cxnSp>
                <p:nvCxnSpPr>
                  <p:cNvPr id="31" name="直接连接符 30"/>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2" name="直接连接符 31"/>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7" name="组合 36"/>
                <p:cNvGrpSpPr/>
                <p:nvPr/>
              </p:nvGrpSpPr>
              <p:grpSpPr>
                <a:xfrm rot="16200000">
                  <a:off x="7092485" y="3467370"/>
                  <a:ext cx="760000" cy="99060"/>
                  <a:chOff x="910590" y="1699260"/>
                  <a:chExt cx="1371600" cy="99060"/>
                </a:xfrm>
              </p:grpSpPr>
              <p:cxnSp>
                <p:nvCxnSpPr>
                  <p:cNvPr id="28" name="直接连接符 27"/>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0" name="直接连接符 29"/>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grpSp>
        <p:sp>
          <p:nvSpPr>
            <p:cNvPr id="33" name="文本框 6"/>
            <p:cNvSpPr txBox="1"/>
            <p:nvPr/>
          </p:nvSpPr>
          <p:spPr>
            <a:xfrm>
              <a:off x="1041354" y="2166579"/>
              <a:ext cx="6498792" cy="1284967"/>
            </a:xfrm>
            <a:prstGeom prst="rect">
              <a:avLst/>
            </a:prstGeom>
            <a:noFill/>
          </p:spPr>
          <p:txBody>
            <a:bodyPr wrap="square" rtlCol="0">
              <a:spAutoFit/>
            </a:bodyPr>
            <a:lstStyle/>
            <a:p>
              <a:pPr algn="ctr">
                <a:lnSpc>
                  <a:spcPct val="125000"/>
                </a:lnSpc>
              </a:pPr>
              <a:r>
                <a:rPr lang="zh-CN" altLang="en-US"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微软雅黑" panose="020B0503020204020204" pitchFamily="34" charset="-122"/>
                  <a:ea typeface="微软雅黑" panose="020B0503020204020204" pitchFamily="34" charset="-122"/>
                </a:rPr>
                <a:t>第</a:t>
              </a:r>
              <a:r>
                <a:rPr lang="en-US" altLang="zh-CN"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微软雅黑" panose="020B0503020204020204" pitchFamily="34" charset="-122"/>
                  <a:ea typeface="微软雅黑" panose="020B0503020204020204" pitchFamily="34" charset="-122"/>
                </a:rPr>
                <a:t>3</a:t>
              </a:r>
              <a:r>
                <a:rPr lang="zh-CN" altLang="en-US"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微软雅黑" panose="020B0503020204020204" pitchFamily="34" charset="-122"/>
                  <a:ea typeface="微软雅黑" panose="020B0503020204020204" pitchFamily="34" charset="-122"/>
                </a:rPr>
                <a:t>章 逻辑门电路</a:t>
              </a:r>
              <a:endParaRPr lang="en-US" altLang="zh-CN"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微软雅黑" panose="020B0503020204020204" pitchFamily="34" charset="-122"/>
                <a:ea typeface="微软雅黑" panose="020B0503020204020204" pitchFamily="34" charset="-122"/>
              </a:endParaRPr>
            </a:p>
            <a:p>
              <a:pPr algn="ctr">
                <a:lnSpc>
                  <a:spcPct val="125000"/>
                </a:lnSpc>
              </a:pPr>
              <a:r>
                <a:rPr lang="en-US" altLang="zh-CN"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itchFamily="2" charset="-122"/>
                  <a:ea typeface="方正粗黑宋简体" pitchFamily="2" charset="-122"/>
                </a:rPr>
                <a:t>3.1 </a:t>
              </a:r>
              <a:r>
                <a:rPr lang="zh-CN" altLang="en-US"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itchFamily="2" charset="-122"/>
                  <a:ea typeface="方正粗黑宋简体" pitchFamily="2" charset="-122"/>
                </a:rPr>
                <a:t>逻辑门电路概述</a:t>
              </a:r>
            </a:p>
          </p:txBody>
        </p:sp>
      </p:grpSp>
      <p:sp>
        <p:nvSpPr>
          <p:cNvPr id="37890" name="AutoShape 2" descr="http://img1.imgtn.bdimg.com/it/u=2942258362,1117296489&amp;fm=26&amp;gp=0.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Tree>
  </p:cSld>
  <p:clrMapOvr>
    <a:masterClrMapping/>
  </p:clrMapOvr>
  <p:transition spd="med">
    <p:push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B4B33FB-6028-4DDC-84F6-A73C25C12D7F}"/>
              </a:ext>
            </a:extLst>
          </p:cNvPr>
          <p:cNvGrpSpPr/>
          <p:nvPr/>
        </p:nvGrpSpPr>
        <p:grpSpPr>
          <a:xfrm>
            <a:off x="392432" y="780143"/>
            <a:ext cx="2785108" cy="411055"/>
            <a:chOff x="392432" y="780143"/>
            <a:chExt cx="2785108" cy="411055"/>
          </a:xfrm>
        </p:grpSpPr>
        <p:sp>
          <p:nvSpPr>
            <p:cNvPr id="3" name="矩形 2">
              <a:extLst>
                <a:ext uri="{FF2B5EF4-FFF2-40B4-BE49-F238E27FC236}">
                  <a16:creationId xmlns:a16="http://schemas.microsoft.com/office/drawing/2014/main" id="{7B97E3F8-6E30-4B69-ABAD-C38FB7AC75A6}"/>
                </a:ext>
              </a:extLst>
            </p:cNvPr>
            <p:cNvSpPr/>
            <p:nvPr/>
          </p:nvSpPr>
          <p:spPr>
            <a:xfrm>
              <a:off x="754216" y="805934"/>
              <a:ext cx="2423324" cy="369332"/>
            </a:xfrm>
            <a:prstGeom prst="rect">
              <a:avLst/>
            </a:prstGeom>
          </p:spPr>
          <p:txBody>
            <a:bodyPr wrap="square">
              <a:spAutoFit/>
            </a:bodyPr>
            <a:lstStyle/>
            <a:p>
              <a:r>
                <a:rPr lang="en-US" altLang="zh-CN" dirty="0">
                  <a:solidFill>
                    <a:srgbClr val="002060"/>
                  </a:solidFill>
                  <a:latin typeface="方正粗黑宋简体" pitchFamily="2" charset="-122"/>
                  <a:ea typeface="方正粗黑宋简体" pitchFamily="2" charset="-122"/>
                </a:rPr>
                <a:t>1</a:t>
              </a:r>
              <a:r>
                <a:rPr lang="zh-CN" altLang="en-US" dirty="0">
                  <a:solidFill>
                    <a:srgbClr val="002060"/>
                  </a:solidFill>
                  <a:latin typeface="方正粗黑宋简体" pitchFamily="2" charset="-122"/>
                  <a:ea typeface="方正粗黑宋简体" pitchFamily="2" charset="-122"/>
                </a:rPr>
                <a:t>、</a:t>
              </a:r>
              <a:r>
                <a:rPr lang="zh-CN" altLang="zh-CN" dirty="0">
                  <a:solidFill>
                    <a:srgbClr val="002060"/>
                  </a:solidFill>
                  <a:latin typeface="方正粗黑宋简体" pitchFamily="2" charset="-122"/>
                  <a:ea typeface="方正粗黑宋简体" pitchFamily="2" charset="-122"/>
                </a:rPr>
                <a:t>数字集成电路简介</a:t>
              </a:r>
              <a:endParaRPr lang="zh-CN" altLang="en-US" dirty="0">
                <a:solidFill>
                  <a:srgbClr val="002060"/>
                </a:solidFill>
                <a:latin typeface="方正粗黑宋简体" pitchFamily="2" charset="-122"/>
                <a:ea typeface="方正粗黑宋简体" pitchFamily="2" charset="-122"/>
              </a:endParaRPr>
            </a:p>
          </p:txBody>
        </p:sp>
        <p:pic>
          <p:nvPicPr>
            <p:cNvPr id="4" name="Picture 3">
              <a:extLst>
                <a:ext uri="{FF2B5EF4-FFF2-40B4-BE49-F238E27FC236}">
                  <a16:creationId xmlns:a16="http://schemas.microsoft.com/office/drawing/2014/main" id="{7385BC80-A78F-4342-8D22-209BD0E2BD7A}"/>
                </a:ext>
              </a:extLst>
            </p:cNvPr>
            <p:cNvPicPr>
              <a:picLocks noChangeAspect="1" noChangeArrowheads="1"/>
            </p:cNvPicPr>
            <p:nvPr/>
          </p:nvPicPr>
          <p:blipFill>
            <a:blip r:embed="rId4" cstate="print"/>
            <a:srcRect/>
            <a:stretch>
              <a:fillRect/>
            </a:stretch>
          </p:blipFill>
          <p:spPr bwMode="auto">
            <a:xfrm flipH="1">
              <a:off x="392432" y="780143"/>
              <a:ext cx="342900" cy="411055"/>
            </a:xfrm>
            <a:prstGeom prst="rect">
              <a:avLst/>
            </a:prstGeom>
            <a:noFill/>
            <a:ln w="9525">
              <a:noFill/>
              <a:miter lim="800000"/>
              <a:headEnd/>
              <a:tailEnd/>
            </a:ln>
          </p:spPr>
        </p:pic>
      </p:grpSp>
      <p:grpSp>
        <p:nvGrpSpPr>
          <p:cNvPr id="7" name="组合 6">
            <a:extLst>
              <a:ext uri="{FF2B5EF4-FFF2-40B4-BE49-F238E27FC236}">
                <a16:creationId xmlns:a16="http://schemas.microsoft.com/office/drawing/2014/main" id="{6D17D1F1-DAAB-4CC3-B04B-440463178521}"/>
              </a:ext>
            </a:extLst>
          </p:cNvPr>
          <p:cNvGrpSpPr/>
          <p:nvPr/>
        </p:nvGrpSpPr>
        <p:grpSpPr>
          <a:xfrm>
            <a:off x="446491" y="1376924"/>
            <a:ext cx="8305077" cy="615553"/>
            <a:chOff x="358863" y="911275"/>
            <a:chExt cx="8305077" cy="615553"/>
          </a:xfrm>
        </p:grpSpPr>
        <p:grpSp>
          <p:nvGrpSpPr>
            <p:cNvPr id="8" name="组合 13">
              <a:extLst>
                <a:ext uri="{FF2B5EF4-FFF2-40B4-BE49-F238E27FC236}">
                  <a16:creationId xmlns:a16="http://schemas.microsoft.com/office/drawing/2014/main" id="{0C3BCB98-B415-4377-81FE-3E9D6480C148}"/>
                </a:ext>
              </a:extLst>
            </p:cNvPr>
            <p:cNvGrpSpPr/>
            <p:nvPr/>
          </p:nvGrpSpPr>
          <p:grpSpPr>
            <a:xfrm>
              <a:off x="358863" y="944195"/>
              <a:ext cx="272583" cy="310719"/>
              <a:chOff x="5908675" y="1281113"/>
              <a:chExt cx="246063" cy="260350"/>
            </a:xfrm>
            <a:solidFill>
              <a:srgbClr val="CC6600"/>
            </a:solidFill>
            <a:effectLst/>
          </p:grpSpPr>
          <p:sp>
            <p:nvSpPr>
              <p:cNvPr id="10" name="Rectangle 5">
                <a:extLst>
                  <a:ext uri="{FF2B5EF4-FFF2-40B4-BE49-F238E27FC236}">
                    <a16:creationId xmlns:a16="http://schemas.microsoft.com/office/drawing/2014/main" id="{338D49A4-4441-4400-B185-1B8B0A3409B0}"/>
                  </a:ext>
                </a:extLst>
              </p:cNvPr>
              <p:cNvSpPr>
                <a:spLocks noChangeArrowheads="1"/>
              </p:cNvSpPr>
              <p:nvPr/>
            </p:nvSpPr>
            <p:spPr bwMode="auto">
              <a:xfrm>
                <a:off x="6024563" y="1320800"/>
                <a:ext cx="15875" cy="163513"/>
              </a:xfrm>
              <a:prstGeom prst="rect">
                <a:avLst/>
              </a:prstGeom>
              <a:grpFill/>
              <a:ln w="6350" cmpd="sng">
                <a:solidFill>
                  <a:srgbClr val="CC6600"/>
                </a:solidFill>
                <a:miter lim="800000"/>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32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11" name="Freeform 6">
                <a:extLst>
                  <a:ext uri="{FF2B5EF4-FFF2-40B4-BE49-F238E27FC236}">
                    <a16:creationId xmlns:a16="http://schemas.microsoft.com/office/drawing/2014/main" id="{C0BEF954-3E67-4D76-9D47-D4CAA6CF1BC8}"/>
                  </a:ext>
                </a:extLst>
              </p:cNvPr>
              <p:cNvSpPr>
                <a:spLocks/>
              </p:cNvSpPr>
              <p:nvPr/>
            </p:nvSpPr>
            <p:spPr bwMode="auto">
              <a:xfrm>
                <a:off x="5908675" y="1501775"/>
                <a:ext cx="131762" cy="39688"/>
              </a:xfrm>
              <a:custGeom>
                <a:avLst/>
                <a:gdLst>
                  <a:gd name="T0" fmla="*/ 64 w 64"/>
                  <a:gd name="T1" fmla="*/ 20 h 20"/>
                  <a:gd name="T2" fmla="*/ 56 w 64"/>
                  <a:gd name="T3" fmla="*/ 20 h 20"/>
                  <a:gd name="T4" fmla="*/ 44 w 64"/>
                  <a:gd name="T5" fmla="*/ 8 h 20"/>
                  <a:gd name="T6" fmla="*/ 0 w 64"/>
                  <a:gd name="T7" fmla="*/ 8 h 20"/>
                  <a:gd name="T8" fmla="*/ 0 w 64"/>
                  <a:gd name="T9" fmla="*/ 0 h 20"/>
                  <a:gd name="T10" fmla="*/ 44 w 64"/>
                  <a:gd name="T11" fmla="*/ 0 h 20"/>
                  <a:gd name="T12" fmla="*/ 64 w 64"/>
                  <a:gd name="T13" fmla="*/ 20 h 20"/>
                </a:gdLst>
                <a:ahLst/>
                <a:cxnLst>
                  <a:cxn ang="0">
                    <a:pos x="T0" y="T1"/>
                  </a:cxn>
                  <a:cxn ang="0">
                    <a:pos x="T2" y="T3"/>
                  </a:cxn>
                  <a:cxn ang="0">
                    <a:pos x="T4" y="T5"/>
                  </a:cxn>
                  <a:cxn ang="0">
                    <a:pos x="T6" y="T7"/>
                  </a:cxn>
                  <a:cxn ang="0">
                    <a:pos x="T8" y="T9"/>
                  </a:cxn>
                  <a:cxn ang="0">
                    <a:pos x="T10" y="T11"/>
                  </a:cxn>
                  <a:cxn ang="0">
                    <a:pos x="T12" y="T13"/>
                  </a:cxn>
                </a:cxnLst>
                <a:rect l="0" t="0" r="r" b="b"/>
                <a:pathLst>
                  <a:path w="64" h="20">
                    <a:moveTo>
                      <a:pt x="64" y="20"/>
                    </a:moveTo>
                    <a:cubicBezTo>
                      <a:pt x="56" y="20"/>
                      <a:pt x="56" y="20"/>
                      <a:pt x="56" y="20"/>
                    </a:cubicBezTo>
                    <a:cubicBezTo>
                      <a:pt x="56" y="13"/>
                      <a:pt x="51" y="8"/>
                      <a:pt x="44" y="8"/>
                    </a:cubicBezTo>
                    <a:cubicBezTo>
                      <a:pt x="0" y="8"/>
                      <a:pt x="0" y="8"/>
                      <a:pt x="0" y="8"/>
                    </a:cubicBezTo>
                    <a:cubicBezTo>
                      <a:pt x="0" y="0"/>
                      <a:pt x="0" y="0"/>
                      <a:pt x="0" y="0"/>
                    </a:cubicBezTo>
                    <a:cubicBezTo>
                      <a:pt x="44" y="0"/>
                      <a:pt x="44" y="0"/>
                      <a:pt x="44" y="0"/>
                    </a:cubicBezTo>
                    <a:cubicBezTo>
                      <a:pt x="55" y="0"/>
                      <a:pt x="64" y="9"/>
                      <a:pt x="64" y="20"/>
                    </a:cubicBezTo>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32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12" name="Freeform 7">
                <a:extLst>
                  <a:ext uri="{FF2B5EF4-FFF2-40B4-BE49-F238E27FC236}">
                    <a16:creationId xmlns:a16="http://schemas.microsoft.com/office/drawing/2014/main" id="{A31137EF-DFF6-4049-8856-D5BF47CBA8CE}"/>
                  </a:ext>
                </a:extLst>
              </p:cNvPr>
              <p:cNvSpPr>
                <a:spLocks/>
              </p:cNvSpPr>
              <p:nvPr/>
            </p:nvSpPr>
            <p:spPr bwMode="auto">
              <a:xfrm>
                <a:off x="6024563" y="1501775"/>
                <a:ext cx="130175" cy="39688"/>
              </a:xfrm>
              <a:custGeom>
                <a:avLst/>
                <a:gdLst>
                  <a:gd name="T0" fmla="*/ 8 w 64"/>
                  <a:gd name="T1" fmla="*/ 20 h 20"/>
                  <a:gd name="T2" fmla="*/ 0 w 64"/>
                  <a:gd name="T3" fmla="*/ 20 h 20"/>
                  <a:gd name="T4" fmla="*/ 20 w 64"/>
                  <a:gd name="T5" fmla="*/ 0 h 20"/>
                  <a:gd name="T6" fmla="*/ 64 w 64"/>
                  <a:gd name="T7" fmla="*/ 0 h 20"/>
                  <a:gd name="T8" fmla="*/ 64 w 64"/>
                  <a:gd name="T9" fmla="*/ 8 h 20"/>
                  <a:gd name="T10" fmla="*/ 20 w 64"/>
                  <a:gd name="T11" fmla="*/ 8 h 20"/>
                  <a:gd name="T12" fmla="*/ 8 w 64"/>
                  <a:gd name="T13" fmla="*/ 20 h 20"/>
                </a:gdLst>
                <a:ahLst/>
                <a:cxnLst>
                  <a:cxn ang="0">
                    <a:pos x="T0" y="T1"/>
                  </a:cxn>
                  <a:cxn ang="0">
                    <a:pos x="T2" y="T3"/>
                  </a:cxn>
                  <a:cxn ang="0">
                    <a:pos x="T4" y="T5"/>
                  </a:cxn>
                  <a:cxn ang="0">
                    <a:pos x="T6" y="T7"/>
                  </a:cxn>
                  <a:cxn ang="0">
                    <a:pos x="T8" y="T9"/>
                  </a:cxn>
                  <a:cxn ang="0">
                    <a:pos x="T10" y="T11"/>
                  </a:cxn>
                  <a:cxn ang="0">
                    <a:pos x="T12" y="T13"/>
                  </a:cxn>
                </a:cxnLst>
                <a:rect l="0" t="0" r="r" b="b"/>
                <a:pathLst>
                  <a:path w="64" h="20">
                    <a:moveTo>
                      <a:pt x="8" y="20"/>
                    </a:moveTo>
                    <a:cubicBezTo>
                      <a:pt x="0" y="20"/>
                      <a:pt x="0" y="20"/>
                      <a:pt x="0" y="20"/>
                    </a:cubicBezTo>
                    <a:cubicBezTo>
                      <a:pt x="0" y="9"/>
                      <a:pt x="9" y="0"/>
                      <a:pt x="20" y="0"/>
                    </a:cubicBezTo>
                    <a:cubicBezTo>
                      <a:pt x="64" y="0"/>
                      <a:pt x="64" y="0"/>
                      <a:pt x="64" y="0"/>
                    </a:cubicBezTo>
                    <a:cubicBezTo>
                      <a:pt x="64" y="8"/>
                      <a:pt x="64" y="8"/>
                      <a:pt x="64" y="8"/>
                    </a:cubicBezTo>
                    <a:cubicBezTo>
                      <a:pt x="20" y="8"/>
                      <a:pt x="20" y="8"/>
                      <a:pt x="20" y="8"/>
                    </a:cubicBezTo>
                    <a:cubicBezTo>
                      <a:pt x="13" y="8"/>
                      <a:pt x="8" y="13"/>
                      <a:pt x="8" y="20"/>
                    </a:cubicBezTo>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32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13" name="Freeform 8">
                <a:extLst>
                  <a:ext uri="{FF2B5EF4-FFF2-40B4-BE49-F238E27FC236}">
                    <a16:creationId xmlns:a16="http://schemas.microsoft.com/office/drawing/2014/main" id="{54AF6811-F4AB-43FF-A454-F81C96A720F9}"/>
                  </a:ext>
                </a:extLst>
              </p:cNvPr>
              <p:cNvSpPr>
                <a:spLocks/>
              </p:cNvSpPr>
              <p:nvPr/>
            </p:nvSpPr>
            <p:spPr bwMode="auto">
              <a:xfrm>
                <a:off x="5908675" y="1281113"/>
                <a:ext cx="131762" cy="203200"/>
              </a:xfrm>
              <a:custGeom>
                <a:avLst/>
                <a:gdLst>
                  <a:gd name="T0" fmla="*/ 48 w 64"/>
                  <a:gd name="T1" fmla="*/ 100 h 100"/>
                  <a:gd name="T2" fmla="*/ 0 w 64"/>
                  <a:gd name="T3" fmla="*/ 100 h 100"/>
                  <a:gd name="T4" fmla="*/ 0 w 64"/>
                  <a:gd name="T5" fmla="*/ 0 h 100"/>
                  <a:gd name="T6" fmla="*/ 44 w 64"/>
                  <a:gd name="T7" fmla="*/ 0 h 100"/>
                  <a:gd name="T8" fmla="*/ 64 w 64"/>
                  <a:gd name="T9" fmla="*/ 20 h 100"/>
                  <a:gd name="T10" fmla="*/ 56 w 64"/>
                  <a:gd name="T11" fmla="*/ 20 h 100"/>
                  <a:gd name="T12" fmla="*/ 44 w 64"/>
                  <a:gd name="T13" fmla="*/ 8 h 100"/>
                  <a:gd name="T14" fmla="*/ 8 w 64"/>
                  <a:gd name="T15" fmla="*/ 8 h 100"/>
                  <a:gd name="T16" fmla="*/ 8 w 64"/>
                  <a:gd name="T17" fmla="*/ 92 h 100"/>
                  <a:gd name="T18" fmla="*/ 48 w 64"/>
                  <a:gd name="T19" fmla="*/ 92 h 100"/>
                  <a:gd name="T20" fmla="*/ 48 w 64"/>
                  <a:gd name="T21"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4" h="100">
                    <a:moveTo>
                      <a:pt x="48" y="100"/>
                    </a:moveTo>
                    <a:cubicBezTo>
                      <a:pt x="0" y="100"/>
                      <a:pt x="0" y="100"/>
                      <a:pt x="0" y="100"/>
                    </a:cubicBezTo>
                    <a:cubicBezTo>
                      <a:pt x="0" y="0"/>
                      <a:pt x="0" y="0"/>
                      <a:pt x="0" y="0"/>
                    </a:cubicBezTo>
                    <a:cubicBezTo>
                      <a:pt x="44" y="0"/>
                      <a:pt x="44" y="0"/>
                      <a:pt x="44" y="0"/>
                    </a:cubicBezTo>
                    <a:cubicBezTo>
                      <a:pt x="55" y="0"/>
                      <a:pt x="64" y="9"/>
                      <a:pt x="64" y="20"/>
                    </a:cubicBezTo>
                    <a:cubicBezTo>
                      <a:pt x="56" y="20"/>
                      <a:pt x="56" y="20"/>
                      <a:pt x="56" y="20"/>
                    </a:cubicBezTo>
                    <a:cubicBezTo>
                      <a:pt x="56" y="13"/>
                      <a:pt x="51" y="8"/>
                      <a:pt x="44" y="8"/>
                    </a:cubicBezTo>
                    <a:cubicBezTo>
                      <a:pt x="8" y="8"/>
                      <a:pt x="8" y="8"/>
                      <a:pt x="8" y="8"/>
                    </a:cubicBezTo>
                    <a:cubicBezTo>
                      <a:pt x="8" y="92"/>
                      <a:pt x="8" y="92"/>
                      <a:pt x="8" y="92"/>
                    </a:cubicBezTo>
                    <a:cubicBezTo>
                      <a:pt x="48" y="92"/>
                      <a:pt x="48" y="92"/>
                      <a:pt x="48" y="92"/>
                    </a:cubicBezTo>
                    <a:lnTo>
                      <a:pt x="48" y="100"/>
                    </a:lnTo>
                    <a:close/>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32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14" name="Freeform 9">
                <a:extLst>
                  <a:ext uri="{FF2B5EF4-FFF2-40B4-BE49-F238E27FC236}">
                    <a16:creationId xmlns:a16="http://schemas.microsoft.com/office/drawing/2014/main" id="{BF8599B5-0E20-46AC-8354-FB2F449E69CB}"/>
                  </a:ext>
                </a:extLst>
              </p:cNvPr>
              <p:cNvSpPr>
                <a:spLocks/>
              </p:cNvSpPr>
              <p:nvPr/>
            </p:nvSpPr>
            <p:spPr bwMode="auto">
              <a:xfrm>
                <a:off x="6024563" y="1281113"/>
                <a:ext cx="130175" cy="203200"/>
              </a:xfrm>
              <a:custGeom>
                <a:avLst/>
                <a:gdLst>
                  <a:gd name="T0" fmla="*/ 64 w 64"/>
                  <a:gd name="T1" fmla="*/ 100 h 100"/>
                  <a:gd name="T2" fmla="*/ 16 w 64"/>
                  <a:gd name="T3" fmla="*/ 100 h 100"/>
                  <a:gd name="T4" fmla="*/ 16 w 64"/>
                  <a:gd name="T5" fmla="*/ 92 h 100"/>
                  <a:gd name="T6" fmla="*/ 56 w 64"/>
                  <a:gd name="T7" fmla="*/ 92 h 100"/>
                  <a:gd name="T8" fmla="*/ 56 w 64"/>
                  <a:gd name="T9" fmla="*/ 8 h 100"/>
                  <a:gd name="T10" fmla="*/ 20 w 64"/>
                  <a:gd name="T11" fmla="*/ 8 h 100"/>
                  <a:gd name="T12" fmla="*/ 8 w 64"/>
                  <a:gd name="T13" fmla="*/ 20 h 100"/>
                  <a:gd name="T14" fmla="*/ 0 w 64"/>
                  <a:gd name="T15" fmla="*/ 20 h 100"/>
                  <a:gd name="T16" fmla="*/ 20 w 64"/>
                  <a:gd name="T17" fmla="*/ 0 h 100"/>
                  <a:gd name="T18" fmla="*/ 64 w 64"/>
                  <a:gd name="T19" fmla="*/ 0 h 100"/>
                  <a:gd name="T20" fmla="*/ 64 w 64"/>
                  <a:gd name="T21"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4" h="100">
                    <a:moveTo>
                      <a:pt x="64" y="100"/>
                    </a:moveTo>
                    <a:cubicBezTo>
                      <a:pt x="16" y="100"/>
                      <a:pt x="16" y="100"/>
                      <a:pt x="16" y="100"/>
                    </a:cubicBezTo>
                    <a:cubicBezTo>
                      <a:pt x="16" y="92"/>
                      <a:pt x="16" y="92"/>
                      <a:pt x="16" y="92"/>
                    </a:cubicBezTo>
                    <a:cubicBezTo>
                      <a:pt x="56" y="92"/>
                      <a:pt x="56" y="92"/>
                      <a:pt x="56" y="92"/>
                    </a:cubicBezTo>
                    <a:cubicBezTo>
                      <a:pt x="56" y="8"/>
                      <a:pt x="56" y="8"/>
                      <a:pt x="56" y="8"/>
                    </a:cubicBezTo>
                    <a:cubicBezTo>
                      <a:pt x="20" y="8"/>
                      <a:pt x="20" y="8"/>
                      <a:pt x="20" y="8"/>
                    </a:cubicBezTo>
                    <a:cubicBezTo>
                      <a:pt x="13" y="8"/>
                      <a:pt x="8" y="13"/>
                      <a:pt x="8" y="20"/>
                    </a:cubicBezTo>
                    <a:cubicBezTo>
                      <a:pt x="0" y="20"/>
                      <a:pt x="0" y="20"/>
                      <a:pt x="0" y="20"/>
                    </a:cubicBezTo>
                    <a:cubicBezTo>
                      <a:pt x="0" y="9"/>
                      <a:pt x="9" y="0"/>
                      <a:pt x="20" y="0"/>
                    </a:cubicBezTo>
                    <a:cubicBezTo>
                      <a:pt x="64" y="0"/>
                      <a:pt x="64" y="0"/>
                      <a:pt x="64" y="0"/>
                    </a:cubicBezTo>
                    <a:lnTo>
                      <a:pt x="64" y="100"/>
                    </a:lnTo>
                    <a:close/>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32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grpSp>
        <p:sp>
          <p:nvSpPr>
            <p:cNvPr id="9" name="矩形 8">
              <a:extLst>
                <a:ext uri="{FF2B5EF4-FFF2-40B4-BE49-F238E27FC236}">
                  <a16:creationId xmlns:a16="http://schemas.microsoft.com/office/drawing/2014/main" id="{1128F5D4-262E-4A7D-B4EC-FBB85DCAC108}"/>
                </a:ext>
              </a:extLst>
            </p:cNvPr>
            <p:cNvSpPr/>
            <p:nvPr/>
          </p:nvSpPr>
          <p:spPr>
            <a:xfrm>
              <a:off x="670560" y="911275"/>
              <a:ext cx="7993380" cy="615553"/>
            </a:xfrm>
            <a:prstGeom prst="rect">
              <a:avLst/>
            </a:prstGeom>
          </p:spPr>
          <p:txBody>
            <a:bodyPr wrap="square">
              <a:spAutoFit/>
            </a:bodyPr>
            <a:lstStyle/>
            <a:p>
              <a:pPr marL="1257300" indent="-1257300"/>
              <a:r>
                <a:rPr lang="zh-CN" altLang="en-US" dirty="0">
                  <a:solidFill>
                    <a:srgbClr val="FF0000"/>
                  </a:solidFill>
                  <a:ea typeface="楷体_GB2312" pitchFamily="49" charset="-122"/>
                </a:rPr>
                <a:t> </a:t>
              </a:r>
              <a:r>
                <a:rPr lang="zh-CN" altLang="en-US" sz="1600" dirty="0">
                  <a:solidFill>
                    <a:srgbClr val="6600FF"/>
                  </a:solidFill>
                  <a:latin typeface="方正粗黑宋简体" pitchFamily="2" charset="-122"/>
                  <a:ea typeface="方正粗黑宋简体" pitchFamily="2" charset="-122"/>
                </a:rPr>
                <a:t>逻辑门电路：</a:t>
              </a:r>
              <a:r>
                <a:rPr lang="zh-CN" altLang="en-US" sz="1600" dirty="0">
                  <a:latin typeface="Times New Roman" pitchFamily="18" charset="0"/>
                  <a:ea typeface="黑体" pitchFamily="49" charset="-122"/>
                  <a:cs typeface="Times New Roman" pitchFamily="18" charset="0"/>
                </a:rPr>
                <a:t>实现基本逻辑运算和复合逻辑运算的单元电路，是构成数字电路和系统最基本的单元电路，</a:t>
              </a:r>
              <a:r>
                <a:rPr lang="zh-CN" altLang="zh-CN" sz="1600" dirty="0">
                  <a:latin typeface="Times New Roman" pitchFamily="18" charset="0"/>
                  <a:ea typeface="黑体" pitchFamily="49" charset="-122"/>
                  <a:cs typeface="Times New Roman" pitchFamily="18" charset="0"/>
                </a:rPr>
                <a:t>通常</a:t>
              </a:r>
              <a:r>
                <a:rPr lang="zh-CN" altLang="en-US" sz="1600" dirty="0">
                  <a:latin typeface="Times New Roman" pitchFamily="18" charset="0"/>
                  <a:ea typeface="黑体" pitchFamily="49" charset="-122"/>
                  <a:cs typeface="Times New Roman" pitchFamily="18" charset="0"/>
                </a:rPr>
                <a:t>为</a:t>
              </a:r>
              <a:r>
                <a:rPr lang="zh-CN" altLang="zh-CN" sz="1600" dirty="0">
                  <a:latin typeface="Times New Roman" pitchFamily="18" charset="0"/>
                  <a:ea typeface="黑体" pitchFamily="49" charset="-122"/>
                  <a:cs typeface="Times New Roman" pitchFamily="18" charset="0"/>
                </a:rPr>
                <a:t>是集成电路</a:t>
              </a:r>
              <a:r>
                <a:rPr lang="zh-CN" altLang="en-US" sz="1600" dirty="0">
                  <a:latin typeface="Times New Roman" pitchFamily="18" charset="0"/>
                  <a:ea typeface="黑体" pitchFamily="49" charset="-122"/>
                  <a:cs typeface="Times New Roman" pitchFamily="18" charset="0"/>
                </a:rPr>
                <a:t>。</a:t>
              </a:r>
            </a:p>
          </p:txBody>
        </p:sp>
      </p:grpSp>
      <p:sp>
        <p:nvSpPr>
          <p:cNvPr id="16" name="文本框 15">
            <a:extLst>
              <a:ext uri="{FF2B5EF4-FFF2-40B4-BE49-F238E27FC236}">
                <a16:creationId xmlns:a16="http://schemas.microsoft.com/office/drawing/2014/main" id="{C0569EEF-E4DE-4FDA-ACFE-C3587DF086CB}"/>
              </a:ext>
            </a:extLst>
          </p:cNvPr>
          <p:cNvSpPr txBox="1"/>
          <p:nvPr/>
        </p:nvSpPr>
        <p:spPr>
          <a:xfrm>
            <a:off x="392432" y="2190182"/>
            <a:ext cx="8652508" cy="1241558"/>
          </a:xfrm>
          <a:prstGeom prst="rect">
            <a:avLst/>
          </a:prstGeom>
          <a:noFill/>
        </p:spPr>
        <p:txBody>
          <a:bodyPr wrap="square">
            <a:spAutoFit/>
          </a:bodyPr>
          <a:lstStyle/>
          <a:p>
            <a:pPr marL="808038" indent="-808038">
              <a:lnSpc>
                <a:spcPct val="150000"/>
              </a:lnSpc>
            </a:pPr>
            <a:r>
              <a:rPr lang="zh-CN" altLang="zh-CN" sz="1600" dirty="0">
                <a:solidFill>
                  <a:srgbClr val="6600FF"/>
                </a:solidFill>
                <a:latin typeface="方正粗黑宋简体" pitchFamily="2" charset="-122"/>
                <a:ea typeface="方正粗黑宋简体" pitchFamily="2" charset="-122"/>
              </a:rPr>
              <a:t>双极型</a:t>
            </a:r>
            <a:r>
              <a:rPr lang="zh-CN" altLang="en-US" sz="1600" dirty="0">
                <a:solidFill>
                  <a:srgbClr val="6600FF"/>
                </a:solidFill>
                <a:latin typeface="方正粗黑宋简体" pitchFamily="2" charset="-122"/>
                <a:ea typeface="方正粗黑宋简体" pitchFamily="2" charset="-122"/>
              </a:rPr>
              <a:t>：</a:t>
            </a:r>
            <a:r>
              <a:rPr lang="zh-CN" altLang="zh-CN" sz="1600" dirty="0">
                <a:effectLst/>
                <a:latin typeface="Times New Roman" panose="02020603050405020304" pitchFamily="18" charset="0"/>
                <a:ea typeface="等线" panose="02010600030101010101" pitchFamily="2" charset="-122"/>
                <a:cs typeface="Times New Roman" panose="02020603050405020304" pitchFamily="18" charset="0"/>
              </a:rPr>
              <a:t>双极型集成逻辑门电路主要由双极型晶体管</a:t>
            </a:r>
            <a:r>
              <a:rPr lang="en-US" altLang="zh-CN" sz="1600" dirty="0">
                <a:effectLst/>
                <a:latin typeface="Times New Roman" panose="02020603050405020304" pitchFamily="18" charset="0"/>
                <a:ea typeface="等线" panose="02010600030101010101" pitchFamily="2" charset="-122"/>
              </a:rPr>
              <a:t>(Bipolar Junction Transistor</a:t>
            </a:r>
            <a:r>
              <a:rPr lang="zh-CN" altLang="zh-CN" sz="1600" dirty="0">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600" dirty="0">
                <a:effectLst/>
                <a:latin typeface="Times New Roman" panose="02020603050405020304" pitchFamily="18" charset="0"/>
                <a:ea typeface="等线" panose="02010600030101010101" pitchFamily="2" charset="-122"/>
              </a:rPr>
              <a:t>BJT)</a:t>
            </a:r>
            <a:r>
              <a:rPr lang="zh-CN" altLang="zh-CN" sz="1600" dirty="0">
                <a:effectLst/>
                <a:latin typeface="Times New Roman" panose="02020603050405020304" pitchFamily="18" charset="0"/>
                <a:ea typeface="等线" panose="02010600030101010101" pitchFamily="2" charset="-122"/>
                <a:cs typeface="Times New Roman" panose="02020603050405020304" pitchFamily="18" charset="0"/>
              </a:rPr>
              <a:t>构成</a:t>
            </a:r>
            <a:r>
              <a:rPr lang="zh-CN" altLang="en-US" sz="1600" dirty="0">
                <a:latin typeface="Times New Roman" panose="02020603050405020304" pitchFamily="18" charset="0"/>
                <a:ea typeface="等线" panose="02010600030101010101" pitchFamily="2" charset="-122"/>
                <a:cs typeface="Times New Roman" panose="02020603050405020304" pitchFamily="18" charset="0"/>
              </a:rPr>
              <a:t>，主要类型为</a:t>
            </a:r>
            <a:r>
              <a:rPr lang="en-US" altLang="zh-CN" sz="1600" dirty="0">
                <a:solidFill>
                  <a:srgbClr val="CC00CC"/>
                </a:solidFill>
                <a:latin typeface="方正粗黑宋简体" pitchFamily="2" charset="-122"/>
                <a:ea typeface="方正粗黑宋简体" pitchFamily="2" charset="-122"/>
              </a:rPr>
              <a:t>TTL</a:t>
            </a:r>
            <a:r>
              <a:rPr lang="zh-CN" altLang="en-US" sz="1600" dirty="0">
                <a:solidFill>
                  <a:srgbClr val="CC00CC"/>
                </a:solidFill>
                <a:latin typeface="方正粗黑宋简体" pitchFamily="2" charset="-122"/>
                <a:ea typeface="方正粗黑宋简体" pitchFamily="2" charset="-122"/>
              </a:rPr>
              <a:t>电路</a:t>
            </a:r>
            <a:r>
              <a:rPr lang="zh-CN" altLang="en-US" sz="1600" dirty="0">
                <a:latin typeface="Times New Roman" panose="02020603050405020304" pitchFamily="18" charset="0"/>
                <a:ea typeface="等线" panose="02010600030101010101" pitchFamily="2" charset="-122"/>
                <a:cs typeface="Times New Roman" panose="02020603050405020304" pitchFamily="18" charset="0"/>
              </a:rPr>
              <a:t>。</a:t>
            </a:r>
            <a:endParaRPr lang="en-US" altLang="zh-CN" sz="1600" dirty="0">
              <a:effectLst/>
              <a:latin typeface="Times New Roman" panose="02020603050405020304" pitchFamily="18" charset="0"/>
              <a:ea typeface="等线" panose="02010600030101010101" pitchFamily="2" charset="-122"/>
              <a:cs typeface="Times New Roman" panose="02020603050405020304" pitchFamily="18" charset="0"/>
            </a:endParaRPr>
          </a:p>
          <a:p>
            <a:pPr marL="808038" indent="-808038">
              <a:lnSpc>
                <a:spcPct val="150000"/>
              </a:lnSpc>
              <a:spcBef>
                <a:spcPts val="600"/>
              </a:spcBef>
            </a:pPr>
            <a:r>
              <a:rPr lang="zh-CN" altLang="zh-CN" sz="1600" dirty="0">
                <a:solidFill>
                  <a:srgbClr val="6600FF"/>
                </a:solidFill>
                <a:latin typeface="方正粗黑宋简体" pitchFamily="2" charset="-122"/>
                <a:ea typeface="方正粗黑宋简体" pitchFamily="2" charset="-122"/>
              </a:rPr>
              <a:t>单极型</a:t>
            </a:r>
            <a:r>
              <a:rPr lang="zh-CN" altLang="en-US" sz="1600" dirty="0">
                <a:solidFill>
                  <a:srgbClr val="6600FF"/>
                </a:solidFill>
                <a:latin typeface="方正粗黑宋简体" pitchFamily="2" charset="-122"/>
                <a:ea typeface="方正粗黑宋简体" pitchFamily="2" charset="-122"/>
              </a:rPr>
              <a:t>：</a:t>
            </a:r>
            <a:r>
              <a:rPr lang="zh-CN" altLang="zh-CN" sz="1600" dirty="0">
                <a:latin typeface="Times New Roman" panose="02020603050405020304" pitchFamily="18" charset="0"/>
                <a:ea typeface="等线" panose="02010600030101010101" pitchFamily="2" charset="-122"/>
                <a:cs typeface="Times New Roman" panose="02020603050405020304" pitchFamily="18" charset="0"/>
              </a:rPr>
              <a:t>主要由</a:t>
            </a:r>
            <a:r>
              <a:rPr lang="en-US" altLang="zh-CN" sz="1600" dirty="0">
                <a:latin typeface="Times New Roman" panose="02020603050405020304" pitchFamily="18" charset="0"/>
                <a:ea typeface="等线" panose="02010600030101010101" pitchFamily="2" charset="-122"/>
                <a:cs typeface="Times New Roman" panose="02020603050405020304" pitchFamily="18" charset="0"/>
              </a:rPr>
              <a:t>MOS(Metal Oxide Semiconductor)</a:t>
            </a:r>
            <a:r>
              <a:rPr lang="zh-CN" altLang="zh-CN" sz="1600" dirty="0">
                <a:latin typeface="Times New Roman" panose="02020603050405020304" pitchFamily="18" charset="0"/>
                <a:ea typeface="等线" panose="02010600030101010101" pitchFamily="2" charset="-122"/>
                <a:cs typeface="Times New Roman" panose="02020603050405020304" pitchFamily="18" charset="0"/>
              </a:rPr>
              <a:t>管构成，</a:t>
            </a:r>
            <a:r>
              <a:rPr lang="zh-CN" altLang="en-US" sz="1600" dirty="0">
                <a:latin typeface="Times New Roman" panose="02020603050405020304" pitchFamily="18" charset="0"/>
                <a:ea typeface="等线" panose="02010600030101010101" pitchFamily="2" charset="-122"/>
                <a:cs typeface="Times New Roman" panose="02020603050405020304" pitchFamily="18" charset="0"/>
              </a:rPr>
              <a:t>主要类型为</a:t>
            </a:r>
            <a:r>
              <a:rPr lang="en-US" altLang="zh-CN" sz="1600" dirty="0">
                <a:solidFill>
                  <a:srgbClr val="CC00CC"/>
                </a:solidFill>
                <a:latin typeface="方正粗黑宋简体" pitchFamily="2" charset="-122"/>
                <a:ea typeface="方正粗黑宋简体" pitchFamily="2" charset="-122"/>
              </a:rPr>
              <a:t>CMOS</a:t>
            </a:r>
            <a:r>
              <a:rPr lang="zh-CN" altLang="en-US" sz="1600" dirty="0">
                <a:solidFill>
                  <a:srgbClr val="CC00CC"/>
                </a:solidFill>
                <a:latin typeface="方正粗黑宋简体" pitchFamily="2" charset="-122"/>
                <a:ea typeface="方正粗黑宋简体" pitchFamily="2" charset="-122"/>
              </a:rPr>
              <a:t>电路</a:t>
            </a:r>
            <a:r>
              <a:rPr lang="zh-CN" altLang="en-US" sz="1600" dirty="0">
                <a:latin typeface="Times New Roman" panose="02020603050405020304" pitchFamily="18" charset="0"/>
                <a:ea typeface="等线" panose="02010600030101010101" pitchFamily="2" charset="-122"/>
                <a:cs typeface="Times New Roman" panose="02020603050405020304" pitchFamily="18" charset="0"/>
              </a:rPr>
              <a:t>。</a:t>
            </a:r>
          </a:p>
        </p:txBody>
      </p:sp>
      <p:sp>
        <p:nvSpPr>
          <p:cNvPr id="22" name="矩形: 圆角 21">
            <a:extLst>
              <a:ext uri="{FF2B5EF4-FFF2-40B4-BE49-F238E27FC236}">
                <a16:creationId xmlns:a16="http://schemas.microsoft.com/office/drawing/2014/main" id="{382BB0B1-F415-489A-BF7F-3ECCC32FA6D8}"/>
              </a:ext>
            </a:extLst>
          </p:cNvPr>
          <p:cNvSpPr/>
          <p:nvPr/>
        </p:nvSpPr>
        <p:spPr>
          <a:xfrm>
            <a:off x="519472" y="3644489"/>
            <a:ext cx="3237188" cy="1880011"/>
          </a:xfrm>
          <a:prstGeom prst="roundRect">
            <a:avLst>
              <a:gd name="adj" fmla="val 8593"/>
            </a:avLst>
          </a:prstGeom>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lstStyle/>
          <a:p>
            <a:pPr algn="ctr">
              <a:lnSpc>
                <a:spcPct val="125000"/>
              </a:lnSpc>
            </a:pPr>
            <a:r>
              <a:rPr lang="en-US" altLang="zh-CN" sz="14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TTL</a:t>
            </a:r>
            <a:r>
              <a:rPr lang="zh-CN" altLang="en-US" sz="14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集成电路</a:t>
            </a:r>
            <a:endParaRPr lang="en-US" altLang="zh-CN" sz="14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25000"/>
              </a:lnSpc>
            </a:pPr>
            <a:r>
              <a:rPr lang="en-US" altLang="zh-CN" sz="14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(Transistor-Transistor Logic)</a:t>
            </a:r>
          </a:p>
          <a:p>
            <a:pPr indent="358775">
              <a:lnSpc>
                <a:spcPct val="125000"/>
              </a:lnSpc>
              <a:spcBef>
                <a:spcPts val="1200"/>
              </a:spcBef>
            </a:pPr>
            <a:r>
              <a:rPr lang="zh-CN" altLang="zh-CN" sz="1400" dirty="0">
                <a:latin typeface="微软雅黑" panose="020B0503020204020204" pitchFamily="34" charset="-122"/>
                <a:ea typeface="微软雅黑" panose="020B0503020204020204" pitchFamily="34" charset="-122"/>
                <a:cs typeface="Times New Roman" panose="02020603050405020304" pitchFamily="18" charset="0"/>
              </a:rPr>
              <a:t>速度快、带负载能力强，但功耗较大，结构较复杂，不利于大规模集成</a:t>
            </a: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latin typeface="微软雅黑" panose="020B0503020204020204" pitchFamily="34" charset="-122"/>
                <a:ea typeface="微软雅黑" panose="020B0503020204020204" pitchFamily="34" charset="-122"/>
                <a:cs typeface="Times New Roman" panose="02020603050405020304" pitchFamily="18" charset="0"/>
              </a:rPr>
              <a:t>逐渐被</a:t>
            </a:r>
            <a:r>
              <a:rPr lang="en-US" altLang="zh-CN" sz="1400" dirty="0">
                <a:latin typeface="微软雅黑" panose="020B0503020204020204" pitchFamily="34" charset="-122"/>
                <a:ea typeface="微软雅黑" panose="020B0503020204020204" pitchFamily="34" charset="-122"/>
                <a:cs typeface="宋体" panose="02010600030101010101" pitchFamily="2" charset="-122"/>
              </a:rPr>
              <a:t>CMOS</a:t>
            </a:r>
            <a:r>
              <a:rPr lang="zh-CN" altLang="zh-CN" sz="1400" dirty="0">
                <a:latin typeface="微软雅黑" panose="020B0503020204020204" pitchFamily="34" charset="-122"/>
                <a:ea typeface="微软雅黑" panose="020B0503020204020204" pitchFamily="34" charset="-122"/>
                <a:cs typeface="Times New Roman" panose="02020603050405020304" pitchFamily="18" charset="0"/>
              </a:rPr>
              <a:t>电路取代，退出其主导地位。</a:t>
            </a:r>
            <a:endParaRPr lang="zh-CN" altLang="en-US" dirty="0"/>
          </a:p>
        </p:txBody>
      </p:sp>
      <p:sp>
        <p:nvSpPr>
          <p:cNvPr id="23" name="矩形: 圆角 22">
            <a:extLst>
              <a:ext uri="{FF2B5EF4-FFF2-40B4-BE49-F238E27FC236}">
                <a16:creationId xmlns:a16="http://schemas.microsoft.com/office/drawing/2014/main" id="{435C91D3-64E7-44D8-B28E-064E335EC1C6}"/>
              </a:ext>
            </a:extLst>
          </p:cNvPr>
          <p:cNvSpPr/>
          <p:nvPr/>
        </p:nvSpPr>
        <p:spPr>
          <a:xfrm>
            <a:off x="4328160" y="3628557"/>
            <a:ext cx="4042408" cy="1895943"/>
          </a:xfrm>
          <a:prstGeom prst="roundRect">
            <a:avLst>
              <a:gd name="adj" fmla="val 8593"/>
            </a:avLst>
          </a:prstGeom>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lnSpc>
                <a:spcPct val="125000"/>
              </a:lnSpc>
            </a:pPr>
            <a:r>
              <a:rPr lang="en-US" altLang="zh-CN" sz="14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CMOS</a:t>
            </a:r>
            <a:r>
              <a:rPr lang="zh-CN" altLang="en-US" sz="14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集成电路</a:t>
            </a:r>
            <a:endParaRPr lang="en-US" altLang="zh-CN" sz="14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25000"/>
              </a:lnSpc>
            </a:pPr>
            <a:r>
              <a:rPr lang="en-US" altLang="zh-CN" sz="14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dirty="0" err="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Complementray</a:t>
            </a:r>
            <a:r>
              <a:rPr lang="en-US" altLang="zh-CN" sz="14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 MOS</a:t>
            </a:r>
            <a:r>
              <a:rPr lang="en-US" altLang="zh-CN" sz="1400" b="1" dirty="0">
                <a:solidFill>
                  <a:srgbClr val="FFFF00"/>
                </a:solidFill>
                <a:latin typeface="Times New Roman" panose="02020603050405020304" pitchFamily="18" charset="0"/>
                <a:ea typeface="等线" panose="02010600030101010101" pitchFamily="2" charset="-122"/>
                <a:cs typeface="Times New Roman" panose="02020603050405020304" pitchFamily="18" charset="0"/>
              </a:rPr>
              <a:t>)</a:t>
            </a:r>
          </a:p>
          <a:p>
            <a:pPr indent="266700" algn="just">
              <a:lnSpc>
                <a:spcPct val="125000"/>
              </a:lnSpc>
              <a:spcBef>
                <a:spcPts val="1200"/>
              </a:spcBef>
            </a:pPr>
            <a:r>
              <a:rPr lang="zh-CN" altLang="zh-CN" sz="1400" dirty="0">
                <a:latin typeface="微软雅黑" panose="020B0503020204020204" pitchFamily="34" charset="-122"/>
                <a:ea typeface="微软雅黑" panose="020B0503020204020204" pitchFamily="34" charset="-122"/>
                <a:cs typeface="Times New Roman" panose="02020603050405020304" pitchFamily="18" charset="0"/>
              </a:rPr>
              <a:t>结构简单、集成度高、功耗低，速度比</a:t>
            </a: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TTL</a:t>
            </a:r>
            <a:r>
              <a:rPr lang="zh-CN" altLang="zh-CN" sz="1400" dirty="0">
                <a:latin typeface="微软雅黑" panose="020B0503020204020204" pitchFamily="34" charset="-122"/>
                <a:ea typeface="微软雅黑" panose="020B0503020204020204" pitchFamily="34" charset="-122"/>
                <a:cs typeface="Times New Roman" panose="02020603050405020304" pitchFamily="18" charset="0"/>
              </a:rPr>
              <a:t>集成电路稍慢，适</a:t>
            </a: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合</a:t>
            </a:r>
            <a:r>
              <a:rPr lang="zh-CN" altLang="zh-CN" sz="1400" dirty="0">
                <a:latin typeface="微软雅黑" panose="020B0503020204020204" pitchFamily="34" charset="-122"/>
                <a:ea typeface="微软雅黑" panose="020B0503020204020204" pitchFamily="34" charset="-122"/>
                <a:cs typeface="Times New Roman" panose="02020603050405020304" pitchFamily="18" charset="0"/>
              </a:rPr>
              <a:t>于大规模集成。逐渐取代</a:t>
            </a: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TTL</a:t>
            </a:r>
            <a:r>
              <a:rPr lang="zh-CN" altLang="zh-CN" sz="1400" dirty="0">
                <a:latin typeface="微软雅黑" panose="020B0503020204020204" pitchFamily="34" charset="-122"/>
                <a:ea typeface="微软雅黑" panose="020B0503020204020204" pitchFamily="34" charset="-122"/>
                <a:cs typeface="Times New Roman" panose="02020603050405020304" pitchFamily="18" charset="0"/>
              </a:rPr>
              <a:t>电路并成为当前数字集成电路的主流产品，广泛应用于大规模和超大规模集成电路中。</a:t>
            </a:r>
          </a:p>
        </p:txBody>
      </p:sp>
    </p:spTree>
    <p:custDataLst>
      <p:tags r:id="rId1"/>
    </p:custDataLst>
    <p:extLst>
      <p:ext uri="{BB962C8B-B14F-4D97-AF65-F5344CB8AC3E}">
        <p14:creationId xmlns:p14="http://schemas.microsoft.com/office/powerpoint/2010/main" val="2122988878"/>
      </p:ext>
    </p:extLst>
  </p:cSld>
  <p:clrMapOvr>
    <a:masterClrMapping/>
  </p:clrMapOvr>
  <mc:AlternateContent xmlns:mc="http://schemas.openxmlformats.org/markup-compatibility/2006" xmlns:p14="http://schemas.microsoft.com/office/powerpoint/2010/main">
    <mc:Choice Requires="p14">
      <p:transition spd="slow" p14:dur="15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1000"/>
                                        <p:tgtEl>
                                          <p:spTgt spid="16"/>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wipe(left)">
                                      <p:cBhvr>
                                        <p:cTn id="11" dur="1000"/>
                                        <p:tgtEl>
                                          <p:spTgt spid="22"/>
                                        </p:tgtEl>
                                      </p:cBhvr>
                                    </p:animEffect>
                                  </p:childTnLst>
                                </p:cTn>
                              </p:par>
                            </p:childTnLst>
                          </p:cTn>
                        </p:par>
                        <p:par>
                          <p:cTn id="12" fill="hold">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wipe(left)">
                                      <p:cBhvr>
                                        <p:cTn id="15" dur="1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2" grpId="0" animBg="1"/>
      <p:bldP spid="2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8" name="AutoShape 8" descr="http://img1.imgtn.bdimg.com/it/u=2942258362,1117296489&amp;fm=26&amp;gp=0.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35850" name="AutoShape 10" descr="http://img1.imgtn.bdimg.com/it/u=2942258362,1117296489&amp;fm=26&amp;gp=0.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35852" name="AutoShape 12" descr="http://img1.imgtn.bdimg.com/it/u=2942258362,1117296489&amp;fm=26&amp;gp=0.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grpSp>
        <p:nvGrpSpPr>
          <p:cNvPr id="37" name="组合 36">
            <a:extLst>
              <a:ext uri="{FF2B5EF4-FFF2-40B4-BE49-F238E27FC236}">
                <a16:creationId xmlns:a16="http://schemas.microsoft.com/office/drawing/2014/main" id="{6603B962-FA4F-45DD-A5AE-D4C8377EEE1B}"/>
              </a:ext>
            </a:extLst>
          </p:cNvPr>
          <p:cNvGrpSpPr/>
          <p:nvPr/>
        </p:nvGrpSpPr>
        <p:grpSpPr>
          <a:xfrm>
            <a:off x="328385" y="903655"/>
            <a:ext cx="3809275" cy="369332"/>
            <a:chOff x="358865" y="911275"/>
            <a:chExt cx="3809275" cy="369332"/>
          </a:xfrm>
        </p:grpSpPr>
        <p:grpSp>
          <p:nvGrpSpPr>
            <p:cNvPr id="38" name="组合 13">
              <a:extLst>
                <a:ext uri="{FF2B5EF4-FFF2-40B4-BE49-F238E27FC236}">
                  <a16:creationId xmlns:a16="http://schemas.microsoft.com/office/drawing/2014/main" id="{8789ACBB-5E01-46FB-9174-1E67B2FAEBBE}"/>
                </a:ext>
              </a:extLst>
            </p:cNvPr>
            <p:cNvGrpSpPr/>
            <p:nvPr/>
          </p:nvGrpSpPr>
          <p:grpSpPr>
            <a:xfrm>
              <a:off x="358865" y="944195"/>
              <a:ext cx="272583" cy="310719"/>
              <a:chOff x="5908675" y="1281113"/>
              <a:chExt cx="246063" cy="260350"/>
            </a:xfrm>
            <a:solidFill>
              <a:srgbClr val="CC6600"/>
            </a:solidFill>
            <a:effectLst/>
          </p:grpSpPr>
          <p:sp>
            <p:nvSpPr>
              <p:cNvPr id="40" name="Rectangle 5">
                <a:extLst>
                  <a:ext uri="{FF2B5EF4-FFF2-40B4-BE49-F238E27FC236}">
                    <a16:creationId xmlns:a16="http://schemas.microsoft.com/office/drawing/2014/main" id="{7D3545C8-2EA4-4920-8FC9-EEC2CA2A2974}"/>
                  </a:ext>
                </a:extLst>
              </p:cNvPr>
              <p:cNvSpPr>
                <a:spLocks noChangeArrowheads="1"/>
              </p:cNvSpPr>
              <p:nvPr/>
            </p:nvSpPr>
            <p:spPr bwMode="auto">
              <a:xfrm>
                <a:off x="6024563" y="1320800"/>
                <a:ext cx="15875" cy="163513"/>
              </a:xfrm>
              <a:prstGeom prst="rect">
                <a:avLst/>
              </a:prstGeom>
              <a:grpFill/>
              <a:ln w="6350" cmpd="sng">
                <a:solidFill>
                  <a:srgbClr val="CC6600"/>
                </a:solidFill>
                <a:miter lim="800000"/>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32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41" name="Freeform 6">
                <a:extLst>
                  <a:ext uri="{FF2B5EF4-FFF2-40B4-BE49-F238E27FC236}">
                    <a16:creationId xmlns:a16="http://schemas.microsoft.com/office/drawing/2014/main" id="{FD92A01B-C620-4AE2-B702-EE689CD314B4}"/>
                  </a:ext>
                </a:extLst>
              </p:cNvPr>
              <p:cNvSpPr>
                <a:spLocks/>
              </p:cNvSpPr>
              <p:nvPr/>
            </p:nvSpPr>
            <p:spPr bwMode="auto">
              <a:xfrm>
                <a:off x="5908675" y="1501775"/>
                <a:ext cx="131762" cy="39688"/>
              </a:xfrm>
              <a:custGeom>
                <a:avLst/>
                <a:gdLst>
                  <a:gd name="T0" fmla="*/ 64 w 64"/>
                  <a:gd name="T1" fmla="*/ 20 h 20"/>
                  <a:gd name="T2" fmla="*/ 56 w 64"/>
                  <a:gd name="T3" fmla="*/ 20 h 20"/>
                  <a:gd name="T4" fmla="*/ 44 w 64"/>
                  <a:gd name="T5" fmla="*/ 8 h 20"/>
                  <a:gd name="T6" fmla="*/ 0 w 64"/>
                  <a:gd name="T7" fmla="*/ 8 h 20"/>
                  <a:gd name="T8" fmla="*/ 0 w 64"/>
                  <a:gd name="T9" fmla="*/ 0 h 20"/>
                  <a:gd name="T10" fmla="*/ 44 w 64"/>
                  <a:gd name="T11" fmla="*/ 0 h 20"/>
                  <a:gd name="T12" fmla="*/ 64 w 64"/>
                  <a:gd name="T13" fmla="*/ 20 h 20"/>
                </a:gdLst>
                <a:ahLst/>
                <a:cxnLst>
                  <a:cxn ang="0">
                    <a:pos x="T0" y="T1"/>
                  </a:cxn>
                  <a:cxn ang="0">
                    <a:pos x="T2" y="T3"/>
                  </a:cxn>
                  <a:cxn ang="0">
                    <a:pos x="T4" y="T5"/>
                  </a:cxn>
                  <a:cxn ang="0">
                    <a:pos x="T6" y="T7"/>
                  </a:cxn>
                  <a:cxn ang="0">
                    <a:pos x="T8" y="T9"/>
                  </a:cxn>
                  <a:cxn ang="0">
                    <a:pos x="T10" y="T11"/>
                  </a:cxn>
                  <a:cxn ang="0">
                    <a:pos x="T12" y="T13"/>
                  </a:cxn>
                </a:cxnLst>
                <a:rect l="0" t="0" r="r" b="b"/>
                <a:pathLst>
                  <a:path w="64" h="20">
                    <a:moveTo>
                      <a:pt x="64" y="20"/>
                    </a:moveTo>
                    <a:cubicBezTo>
                      <a:pt x="56" y="20"/>
                      <a:pt x="56" y="20"/>
                      <a:pt x="56" y="20"/>
                    </a:cubicBezTo>
                    <a:cubicBezTo>
                      <a:pt x="56" y="13"/>
                      <a:pt x="51" y="8"/>
                      <a:pt x="44" y="8"/>
                    </a:cubicBezTo>
                    <a:cubicBezTo>
                      <a:pt x="0" y="8"/>
                      <a:pt x="0" y="8"/>
                      <a:pt x="0" y="8"/>
                    </a:cubicBezTo>
                    <a:cubicBezTo>
                      <a:pt x="0" y="0"/>
                      <a:pt x="0" y="0"/>
                      <a:pt x="0" y="0"/>
                    </a:cubicBezTo>
                    <a:cubicBezTo>
                      <a:pt x="44" y="0"/>
                      <a:pt x="44" y="0"/>
                      <a:pt x="44" y="0"/>
                    </a:cubicBezTo>
                    <a:cubicBezTo>
                      <a:pt x="55" y="0"/>
                      <a:pt x="64" y="9"/>
                      <a:pt x="64" y="20"/>
                    </a:cubicBezTo>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32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42" name="Freeform 7">
                <a:extLst>
                  <a:ext uri="{FF2B5EF4-FFF2-40B4-BE49-F238E27FC236}">
                    <a16:creationId xmlns:a16="http://schemas.microsoft.com/office/drawing/2014/main" id="{55E6B211-4B61-4D71-B925-4A09D892B610}"/>
                  </a:ext>
                </a:extLst>
              </p:cNvPr>
              <p:cNvSpPr>
                <a:spLocks/>
              </p:cNvSpPr>
              <p:nvPr/>
            </p:nvSpPr>
            <p:spPr bwMode="auto">
              <a:xfrm>
                <a:off x="6024563" y="1501775"/>
                <a:ext cx="130175" cy="39688"/>
              </a:xfrm>
              <a:custGeom>
                <a:avLst/>
                <a:gdLst>
                  <a:gd name="T0" fmla="*/ 8 w 64"/>
                  <a:gd name="T1" fmla="*/ 20 h 20"/>
                  <a:gd name="T2" fmla="*/ 0 w 64"/>
                  <a:gd name="T3" fmla="*/ 20 h 20"/>
                  <a:gd name="T4" fmla="*/ 20 w 64"/>
                  <a:gd name="T5" fmla="*/ 0 h 20"/>
                  <a:gd name="T6" fmla="*/ 64 w 64"/>
                  <a:gd name="T7" fmla="*/ 0 h 20"/>
                  <a:gd name="T8" fmla="*/ 64 w 64"/>
                  <a:gd name="T9" fmla="*/ 8 h 20"/>
                  <a:gd name="T10" fmla="*/ 20 w 64"/>
                  <a:gd name="T11" fmla="*/ 8 h 20"/>
                  <a:gd name="T12" fmla="*/ 8 w 64"/>
                  <a:gd name="T13" fmla="*/ 20 h 20"/>
                </a:gdLst>
                <a:ahLst/>
                <a:cxnLst>
                  <a:cxn ang="0">
                    <a:pos x="T0" y="T1"/>
                  </a:cxn>
                  <a:cxn ang="0">
                    <a:pos x="T2" y="T3"/>
                  </a:cxn>
                  <a:cxn ang="0">
                    <a:pos x="T4" y="T5"/>
                  </a:cxn>
                  <a:cxn ang="0">
                    <a:pos x="T6" y="T7"/>
                  </a:cxn>
                  <a:cxn ang="0">
                    <a:pos x="T8" y="T9"/>
                  </a:cxn>
                  <a:cxn ang="0">
                    <a:pos x="T10" y="T11"/>
                  </a:cxn>
                  <a:cxn ang="0">
                    <a:pos x="T12" y="T13"/>
                  </a:cxn>
                </a:cxnLst>
                <a:rect l="0" t="0" r="r" b="b"/>
                <a:pathLst>
                  <a:path w="64" h="20">
                    <a:moveTo>
                      <a:pt x="8" y="20"/>
                    </a:moveTo>
                    <a:cubicBezTo>
                      <a:pt x="0" y="20"/>
                      <a:pt x="0" y="20"/>
                      <a:pt x="0" y="20"/>
                    </a:cubicBezTo>
                    <a:cubicBezTo>
                      <a:pt x="0" y="9"/>
                      <a:pt x="9" y="0"/>
                      <a:pt x="20" y="0"/>
                    </a:cubicBezTo>
                    <a:cubicBezTo>
                      <a:pt x="64" y="0"/>
                      <a:pt x="64" y="0"/>
                      <a:pt x="64" y="0"/>
                    </a:cubicBezTo>
                    <a:cubicBezTo>
                      <a:pt x="64" y="8"/>
                      <a:pt x="64" y="8"/>
                      <a:pt x="64" y="8"/>
                    </a:cubicBezTo>
                    <a:cubicBezTo>
                      <a:pt x="20" y="8"/>
                      <a:pt x="20" y="8"/>
                      <a:pt x="20" y="8"/>
                    </a:cubicBezTo>
                    <a:cubicBezTo>
                      <a:pt x="13" y="8"/>
                      <a:pt x="8" y="13"/>
                      <a:pt x="8" y="20"/>
                    </a:cubicBezTo>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32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43" name="Freeform 8">
                <a:extLst>
                  <a:ext uri="{FF2B5EF4-FFF2-40B4-BE49-F238E27FC236}">
                    <a16:creationId xmlns:a16="http://schemas.microsoft.com/office/drawing/2014/main" id="{8F244FE9-0999-4E39-964F-EFBCCFA05DCB}"/>
                  </a:ext>
                </a:extLst>
              </p:cNvPr>
              <p:cNvSpPr>
                <a:spLocks/>
              </p:cNvSpPr>
              <p:nvPr/>
            </p:nvSpPr>
            <p:spPr bwMode="auto">
              <a:xfrm>
                <a:off x="5908675" y="1281113"/>
                <a:ext cx="131762" cy="203200"/>
              </a:xfrm>
              <a:custGeom>
                <a:avLst/>
                <a:gdLst>
                  <a:gd name="T0" fmla="*/ 48 w 64"/>
                  <a:gd name="T1" fmla="*/ 100 h 100"/>
                  <a:gd name="T2" fmla="*/ 0 w 64"/>
                  <a:gd name="T3" fmla="*/ 100 h 100"/>
                  <a:gd name="T4" fmla="*/ 0 w 64"/>
                  <a:gd name="T5" fmla="*/ 0 h 100"/>
                  <a:gd name="T6" fmla="*/ 44 w 64"/>
                  <a:gd name="T7" fmla="*/ 0 h 100"/>
                  <a:gd name="T8" fmla="*/ 64 w 64"/>
                  <a:gd name="T9" fmla="*/ 20 h 100"/>
                  <a:gd name="T10" fmla="*/ 56 w 64"/>
                  <a:gd name="T11" fmla="*/ 20 h 100"/>
                  <a:gd name="T12" fmla="*/ 44 w 64"/>
                  <a:gd name="T13" fmla="*/ 8 h 100"/>
                  <a:gd name="T14" fmla="*/ 8 w 64"/>
                  <a:gd name="T15" fmla="*/ 8 h 100"/>
                  <a:gd name="T16" fmla="*/ 8 w 64"/>
                  <a:gd name="T17" fmla="*/ 92 h 100"/>
                  <a:gd name="T18" fmla="*/ 48 w 64"/>
                  <a:gd name="T19" fmla="*/ 92 h 100"/>
                  <a:gd name="T20" fmla="*/ 48 w 64"/>
                  <a:gd name="T21"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4" h="100">
                    <a:moveTo>
                      <a:pt x="48" y="100"/>
                    </a:moveTo>
                    <a:cubicBezTo>
                      <a:pt x="0" y="100"/>
                      <a:pt x="0" y="100"/>
                      <a:pt x="0" y="100"/>
                    </a:cubicBezTo>
                    <a:cubicBezTo>
                      <a:pt x="0" y="0"/>
                      <a:pt x="0" y="0"/>
                      <a:pt x="0" y="0"/>
                    </a:cubicBezTo>
                    <a:cubicBezTo>
                      <a:pt x="44" y="0"/>
                      <a:pt x="44" y="0"/>
                      <a:pt x="44" y="0"/>
                    </a:cubicBezTo>
                    <a:cubicBezTo>
                      <a:pt x="55" y="0"/>
                      <a:pt x="64" y="9"/>
                      <a:pt x="64" y="20"/>
                    </a:cubicBezTo>
                    <a:cubicBezTo>
                      <a:pt x="56" y="20"/>
                      <a:pt x="56" y="20"/>
                      <a:pt x="56" y="20"/>
                    </a:cubicBezTo>
                    <a:cubicBezTo>
                      <a:pt x="56" y="13"/>
                      <a:pt x="51" y="8"/>
                      <a:pt x="44" y="8"/>
                    </a:cubicBezTo>
                    <a:cubicBezTo>
                      <a:pt x="8" y="8"/>
                      <a:pt x="8" y="8"/>
                      <a:pt x="8" y="8"/>
                    </a:cubicBezTo>
                    <a:cubicBezTo>
                      <a:pt x="8" y="92"/>
                      <a:pt x="8" y="92"/>
                      <a:pt x="8" y="92"/>
                    </a:cubicBezTo>
                    <a:cubicBezTo>
                      <a:pt x="48" y="92"/>
                      <a:pt x="48" y="92"/>
                      <a:pt x="48" y="92"/>
                    </a:cubicBezTo>
                    <a:lnTo>
                      <a:pt x="48" y="100"/>
                    </a:lnTo>
                    <a:close/>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32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44" name="Freeform 9">
                <a:extLst>
                  <a:ext uri="{FF2B5EF4-FFF2-40B4-BE49-F238E27FC236}">
                    <a16:creationId xmlns:a16="http://schemas.microsoft.com/office/drawing/2014/main" id="{CF2F92E4-9976-45DA-90F6-894917F3E9DA}"/>
                  </a:ext>
                </a:extLst>
              </p:cNvPr>
              <p:cNvSpPr>
                <a:spLocks/>
              </p:cNvSpPr>
              <p:nvPr/>
            </p:nvSpPr>
            <p:spPr bwMode="auto">
              <a:xfrm>
                <a:off x="6024563" y="1281113"/>
                <a:ext cx="130175" cy="203200"/>
              </a:xfrm>
              <a:custGeom>
                <a:avLst/>
                <a:gdLst>
                  <a:gd name="T0" fmla="*/ 64 w 64"/>
                  <a:gd name="T1" fmla="*/ 100 h 100"/>
                  <a:gd name="T2" fmla="*/ 16 w 64"/>
                  <a:gd name="T3" fmla="*/ 100 h 100"/>
                  <a:gd name="T4" fmla="*/ 16 w 64"/>
                  <a:gd name="T5" fmla="*/ 92 h 100"/>
                  <a:gd name="T6" fmla="*/ 56 w 64"/>
                  <a:gd name="T7" fmla="*/ 92 h 100"/>
                  <a:gd name="T8" fmla="*/ 56 w 64"/>
                  <a:gd name="T9" fmla="*/ 8 h 100"/>
                  <a:gd name="T10" fmla="*/ 20 w 64"/>
                  <a:gd name="T11" fmla="*/ 8 h 100"/>
                  <a:gd name="T12" fmla="*/ 8 w 64"/>
                  <a:gd name="T13" fmla="*/ 20 h 100"/>
                  <a:gd name="T14" fmla="*/ 0 w 64"/>
                  <a:gd name="T15" fmla="*/ 20 h 100"/>
                  <a:gd name="T16" fmla="*/ 20 w 64"/>
                  <a:gd name="T17" fmla="*/ 0 h 100"/>
                  <a:gd name="T18" fmla="*/ 64 w 64"/>
                  <a:gd name="T19" fmla="*/ 0 h 100"/>
                  <a:gd name="T20" fmla="*/ 64 w 64"/>
                  <a:gd name="T21"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4" h="100">
                    <a:moveTo>
                      <a:pt x="64" y="100"/>
                    </a:moveTo>
                    <a:cubicBezTo>
                      <a:pt x="16" y="100"/>
                      <a:pt x="16" y="100"/>
                      <a:pt x="16" y="100"/>
                    </a:cubicBezTo>
                    <a:cubicBezTo>
                      <a:pt x="16" y="92"/>
                      <a:pt x="16" y="92"/>
                      <a:pt x="16" y="92"/>
                    </a:cubicBezTo>
                    <a:cubicBezTo>
                      <a:pt x="56" y="92"/>
                      <a:pt x="56" y="92"/>
                      <a:pt x="56" y="92"/>
                    </a:cubicBezTo>
                    <a:cubicBezTo>
                      <a:pt x="56" y="8"/>
                      <a:pt x="56" y="8"/>
                      <a:pt x="56" y="8"/>
                    </a:cubicBezTo>
                    <a:cubicBezTo>
                      <a:pt x="20" y="8"/>
                      <a:pt x="20" y="8"/>
                      <a:pt x="20" y="8"/>
                    </a:cubicBezTo>
                    <a:cubicBezTo>
                      <a:pt x="13" y="8"/>
                      <a:pt x="8" y="13"/>
                      <a:pt x="8" y="20"/>
                    </a:cubicBezTo>
                    <a:cubicBezTo>
                      <a:pt x="0" y="20"/>
                      <a:pt x="0" y="20"/>
                      <a:pt x="0" y="20"/>
                    </a:cubicBezTo>
                    <a:cubicBezTo>
                      <a:pt x="0" y="9"/>
                      <a:pt x="9" y="0"/>
                      <a:pt x="20" y="0"/>
                    </a:cubicBezTo>
                    <a:cubicBezTo>
                      <a:pt x="64" y="0"/>
                      <a:pt x="64" y="0"/>
                      <a:pt x="64" y="0"/>
                    </a:cubicBezTo>
                    <a:lnTo>
                      <a:pt x="64" y="100"/>
                    </a:lnTo>
                    <a:close/>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32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grpSp>
        <p:sp>
          <p:nvSpPr>
            <p:cNvPr id="39" name="矩形 38">
              <a:extLst>
                <a:ext uri="{FF2B5EF4-FFF2-40B4-BE49-F238E27FC236}">
                  <a16:creationId xmlns:a16="http://schemas.microsoft.com/office/drawing/2014/main" id="{83757087-B6AF-4482-AAF9-287D57FFDC5E}"/>
                </a:ext>
              </a:extLst>
            </p:cNvPr>
            <p:cNvSpPr/>
            <p:nvPr/>
          </p:nvSpPr>
          <p:spPr>
            <a:xfrm>
              <a:off x="670560" y="911275"/>
              <a:ext cx="3497580" cy="369332"/>
            </a:xfrm>
            <a:prstGeom prst="rect">
              <a:avLst/>
            </a:prstGeom>
          </p:spPr>
          <p:txBody>
            <a:bodyPr wrap="square">
              <a:spAutoFit/>
            </a:bodyPr>
            <a:lstStyle/>
            <a:p>
              <a:r>
                <a:rPr lang="zh-CN" altLang="en-US" dirty="0">
                  <a:solidFill>
                    <a:srgbClr val="FF0000"/>
                  </a:solidFill>
                  <a:ea typeface="楷体_GB2312" pitchFamily="49" charset="-122"/>
                </a:rPr>
                <a:t> </a:t>
              </a:r>
              <a:r>
                <a:rPr lang="zh-CN" altLang="en-US" sz="1600" dirty="0">
                  <a:solidFill>
                    <a:srgbClr val="6600FF"/>
                  </a:solidFill>
                  <a:latin typeface="方正粗黑宋简体" pitchFamily="2" charset="-122"/>
                  <a:ea typeface="方正粗黑宋简体" pitchFamily="2" charset="-122"/>
                </a:rPr>
                <a:t>数字集成电路的两大系列分类</a:t>
              </a:r>
              <a:endParaRPr lang="zh-CN" altLang="en-US" sz="1600" dirty="0">
                <a:latin typeface="Times New Roman" pitchFamily="18" charset="0"/>
                <a:ea typeface="黑体" pitchFamily="49" charset="-122"/>
                <a:cs typeface="Times New Roman" pitchFamily="18" charset="0"/>
              </a:endParaRPr>
            </a:p>
          </p:txBody>
        </p:sp>
      </p:grpSp>
      <p:sp>
        <p:nvSpPr>
          <p:cNvPr id="47" name="文本框 46">
            <a:extLst>
              <a:ext uri="{FF2B5EF4-FFF2-40B4-BE49-F238E27FC236}">
                <a16:creationId xmlns:a16="http://schemas.microsoft.com/office/drawing/2014/main" id="{9E50E3D9-F982-47DB-8C13-CBE2505701A9}"/>
              </a:ext>
            </a:extLst>
          </p:cNvPr>
          <p:cNvSpPr txBox="1"/>
          <p:nvPr/>
        </p:nvSpPr>
        <p:spPr>
          <a:xfrm>
            <a:off x="708660" y="1556504"/>
            <a:ext cx="7856220" cy="1279838"/>
          </a:xfrm>
          <a:prstGeom prst="rect">
            <a:avLst/>
          </a:prstGeom>
          <a:noFill/>
        </p:spPr>
        <p:txBody>
          <a:bodyPr wrap="square">
            <a:spAutoFit/>
          </a:bodyPr>
          <a:lstStyle/>
          <a:p>
            <a:r>
              <a:rPr lang="en-US" altLang="zh-CN" sz="1600"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74</a:t>
            </a:r>
            <a:r>
              <a:rPr lang="zh-CN" altLang="zh-CN" sz="1600"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系列</a:t>
            </a:r>
            <a:r>
              <a:rPr lang="zh-CN" altLang="en-US" sz="1600"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effectLst/>
                <a:latin typeface="Times New Roman" panose="02020603050405020304" pitchFamily="18" charset="0"/>
                <a:ea typeface="微软雅黑" panose="020B0503020204020204" pitchFamily="34" charset="-122"/>
                <a:cs typeface="Times New Roman" panose="02020603050405020304" pitchFamily="18" charset="0"/>
              </a:rPr>
              <a:t>主要面向民用电子产品，可在</a:t>
            </a:r>
            <a:r>
              <a:rPr lang="en-US" altLang="zh-CN" sz="1600" dirty="0">
                <a:effectLst/>
                <a:latin typeface="Times New Roman" panose="02020603050405020304" pitchFamily="18" charset="0"/>
                <a:ea typeface="微软雅黑" panose="020B0503020204020204" pitchFamily="34" charset="-122"/>
                <a:cs typeface="Times New Roman" panose="02020603050405020304" pitchFamily="18" charset="0"/>
              </a:rPr>
              <a:t>0</a:t>
            </a:r>
            <a:r>
              <a:rPr lang="zh-CN" altLang="zh-CN" sz="16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effectLst/>
                <a:latin typeface="Times New Roman" panose="02020603050405020304" pitchFamily="18" charset="0"/>
                <a:ea typeface="微软雅黑" panose="020B0503020204020204" pitchFamily="34" charset="-122"/>
                <a:cs typeface="Times New Roman" panose="02020603050405020304" pitchFamily="18" charset="0"/>
              </a:rPr>
              <a:t>70℃</a:t>
            </a:r>
            <a:r>
              <a:rPr lang="zh-CN" altLang="zh-CN" sz="1600" dirty="0">
                <a:effectLst/>
                <a:latin typeface="Times New Roman" panose="02020603050405020304" pitchFamily="18" charset="0"/>
                <a:ea typeface="微软雅黑" panose="020B0503020204020204" pitchFamily="34" charset="-122"/>
                <a:cs typeface="Times New Roman" panose="02020603050405020304" pitchFamily="18" charset="0"/>
              </a:rPr>
              <a:t>的环境温度下工作</a:t>
            </a:r>
            <a:r>
              <a:rPr lang="zh-CN" altLang="en-US" sz="1600" dirty="0">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600" dirty="0">
              <a:effectLst/>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1600" dirty="0">
              <a:effectLst/>
              <a:latin typeface="Times New Roman" panose="02020603050405020304" pitchFamily="18" charset="0"/>
              <a:ea typeface="微软雅黑" panose="020B0503020204020204" pitchFamily="34" charset="-122"/>
              <a:cs typeface="Times New Roman" panose="02020603050405020304" pitchFamily="18" charset="0"/>
            </a:endParaRPr>
          </a:p>
          <a:p>
            <a:pPr marL="808038" indent="-808038">
              <a:lnSpc>
                <a:spcPct val="150000"/>
              </a:lnSpc>
            </a:pPr>
            <a:r>
              <a:rPr lang="en-US" altLang="zh-CN" sz="1600"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54</a:t>
            </a:r>
            <a:r>
              <a:rPr lang="zh-CN" altLang="zh-CN" sz="1600"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系列</a:t>
            </a:r>
            <a:r>
              <a:rPr lang="zh-CN" altLang="en-US" sz="1600"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主要</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面向军用电子产品，适用的温度更宽，可在</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-55℃</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+125℃</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的恶劣环境下工作，其测试和筛选的标准也更加严格</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48" name="文本框 47">
            <a:extLst>
              <a:ext uri="{FF2B5EF4-FFF2-40B4-BE49-F238E27FC236}">
                <a16:creationId xmlns:a16="http://schemas.microsoft.com/office/drawing/2014/main" id="{2A17DCE9-996E-489E-A0F2-815A885CF14A}"/>
              </a:ext>
            </a:extLst>
          </p:cNvPr>
          <p:cNvSpPr txBox="1"/>
          <p:nvPr/>
        </p:nvSpPr>
        <p:spPr>
          <a:xfrm>
            <a:off x="708660" y="3179654"/>
            <a:ext cx="8199120" cy="984885"/>
          </a:xfrm>
          <a:prstGeom prst="rect">
            <a:avLst/>
          </a:prstGeom>
          <a:noFill/>
        </p:spPr>
        <p:txBody>
          <a:bodyPr wrap="square">
            <a:spAutoFit/>
          </a:bodyPr>
          <a:lstStyle/>
          <a:p>
            <a:pPr marL="982663" indent="-982663"/>
            <a:r>
              <a:rPr lang="en-US" altLang="zh-CN" sz="1400"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TTL   </a:t>
            </a:r>
            <a:r>
              <a:rPr lang="zh-CN" altLang="zh-CN" sz="1400"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电路</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54/74</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系列</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标准通用</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54/74L</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系列</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低功耗</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54/74S</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系列</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肖特基</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54/74LS</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系列</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低功耗肖特基</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54/74AS</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系列</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先进肖特基</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54/74ALS</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系列</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先进低功耗肖特基</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等</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dirty="0">
              <a:latin typeface="Times New Roman" panose="02020603050405020304" pitchFamily="18" charset="0"/>
              <a:ea typeface="微软雅黑" panose="020B0503020204020204" pitchFamily="34" charset="-122"/>
              <a:cs typeface="Times New Roman" panose="02020603050405020304" pitchFamily="18" charset="0"/>
            </a:endParaRPr>
          </a:p>
          <a:p>
            <a:pPr marL="982663" indent="-982663"/>
            <a:endParaRPr lang="en-US"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marL="1074738" indent="-1074738"/>
            <a:r>
              <a:rPr lang="en-US" altLang="zh-CN" sz="1400"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CMOS</a:t>
            </a:r>
            <a:r>
              <a:rPr lang="zh-CN" altLang="en-US" sz="1400"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电路</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54/74HC/HCT</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系列、</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54/74AHC/AHCT</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系列、</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54/74LVC</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系列、</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54/74ALVC</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系列等</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49" name="文本框 48">
            <a:extLst>
              <a:ext uri="{FF2B5EF4-FFF2-40B4-BE49-F238E27FC236}">
                <a16:creationId xmlns:a16="http://schemas.microsoft.com/office/drawing/2014/main" id="{A619F728-67BF-46E6-A0A1-F1253BF9BFA0}"/>
              </a:ext>
            </a:extLst>
          </p:cNvPr>
          <p:cNvSpPr txBox="1"/>
          <p:nvPr/>
        </p:nvSpPr>
        <p:spPr>
          <a:xfrm>
            <a:off x="549594" y="4472791"/>
            <a:ext cx="8174352" cy="338554"/>
          </a:xfrm>
          <a:prstGeom prst="rect">
            <a:avLst/>
          </a:prstGeom>
          <a:noFill/>
        </p:spPr>
        <p:txBody>
          <a:bodyPr wrap="square">
            <a:spAutoFit/>
          </a:bodyPr>
          <a:lstStyle/>
          <a:p>
            <a:pPr algn="ctr"/>
            <a:r>
              <a:rPr lang="zh-CN" altLang="en-US" sz="1600" b="1" dirty="0">
                <a:solidFill>
                  <a:srgbClr val="6600FF"/>
                </a:solidFill>
                <a:effectLst/>
                <a:latin typeface="方正粗黑宋简体" panose="02000000000000000000" pitchFamily="2" charset="-122"/>
                <a:ea typeface="方正粗黑宋简体" panose="02000000000000000000" pitchFamily="2" charset="-122"/>
                <a:cs typeface="Times New Roman" panose="02020603050405020304" pitchFamily="18" charset="0"/>
              </a:rPr>
              <a:t>不同系列</a:t>
            </a:r>
            <a:r>
              <a:rPr lang="zh-CN" altLang="zh-CN" sz="1600" b="1" dirty="0">
                <a:solidFill>
                  <a:srgbClr val="6600FF"/>
                </a:solidFill>
                <a:effectLst/>
                <a:latin typeface="方正粗黑宋简体" panose="02000000000000000000" pitchFamily="2" charset="-122"/>
                <a:ea typeface="方正粗黑宋简体" panose="02000000000000000000" pitchFamily="2" charset="-122"/>
                <a:cs typeface="Times New Roman" panose="02020603050405020304" pitchFamily="18" charset="0"/>
              </a:rPr>
              <a:t>同种</a:t>
            </a:r>
            <a:r>
              <a:rPr lang="zh-CN" altLang="en-US" sz="1600" b="1" dirty="0">
                <a:solidFill>
                  <a:srgbClr val="6600FF"/>
                </a:solidFill>
                <a:effectLst/>
                <a:latin typeface="方正粗黑宋简体" panose="02000000000000000000" pitchFamily="2" charset="-122"/>
                <a:ea typeface="方正粗黑宋简体" panose="02000000000000000000" pitchFamily="2" charset="-122"/>
                <a:cs typeface="Times New Roman" panose="02020603050405020304" pitchFamily="18" charset="0"/>
              </a:rPr>
              <a:t>类型</a:t>
            </a:r>
            <a:r>
              <a:rPr lang="zh-CN" altLang="zh-CN" sz="1600" b="1" dirty="0">
                <a:solidFill>
                  <a:srgbClr val="6600FF"/>
                </a:solidFill>
                <a:effectLst/>
                <a:latin typeface="方正粗黑宋简体" panose="02000000000000000000" pitchFamily="2" charset="-122"/>
                <a:ea typeface="方正粗黑宋简体" panose="02000000000000000000" pitchFamily="2" charset="-122"/>
                <a:cs typeface="Times New Roman" panose="02020603050405020304" pitchFamily="18" charset="0"/>
              </a:rPr>
              <a:t>芯片功能相同，性能不同，</a:t>
            </a:r>
            <a:r>
              <a:rPr lang="zh-CN" altLang="en-US" sz="1600" b="1" dirty="0">
                <a:solidFill>
                  <a:srgbClr val="6600FF"/>
                </a:solidFill>
                <a:effectLst/>
                <a:latin typeface="方正粗黑宋简体" panose="02000000000000000000" pitchFamily="2" charset="-122"/>
                <a:ea typeface="方正粗黑宋简体" panose="02000000000000000000" pitchFamily="2" charset="-122"/>
                <a:cs typeface="Times New Roman" panose="02020603050405020304" pitchFamily="18" charset="0"/>
              </a:rPr>
              <a:t>是集成电路</a:t>
            </a:r>
            <a:r>
              <a:rPr lang="zh-CN" altLang="zh-CN" sz="1600" b="1" dirty="0">
                <a:solidFill>
                  <a:srgbClr val="6600FF"/>
                </a:solidFill>
                <a:effectLst/>
                <a:latin typeface="方正粗黑宋简体" panose="02000000000000000000" pitchFamily="2" charset="-122"/>
                <a:ea typeface="方正粗黑宋简体" panose="02000000000000000000" pitchFamily="2" charset="-122"/>
                <a:cs typeface="Times New Roman" panose="02020603050405020304" pitchFamily="18" charset="0"/>
              </a:rPr>
              <a:t>技术和工艺不断发展进步的结果。</a:t>
            </a:r>
            <a:endParaRPr lang="zh-CN" altLang="en-US" sz="1600" b="1" dirty="0">
              <a:solidFill>
                <a:srgbClr val="6600FF"/>
              </a:solidFill>
              <a:latin typeface="方正粗黑宋简体" panose="02000000000000000000" pitchFamily="2" charset="-122"/>
              <a:ea typeface="方正粗黑宋简体" panose="020000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p:tgtEl>
                                          <p:spTgt spid="37"/>
                                        </p:tgtEl>
                                        <p:attrNameLst>
                                          <p:attrName>ppt_y</p:attrName>
                                        </p:attrNameLst>
                                      </p:cBhvr>
                                      <p:tavLst>
                                        <p:tav tm="0">
                                          <p:val>
                                            <p:strVal val="#ppt_y+#ppt_h*1.125000"/>
                                          </p:val>
                                        </p:tav>
                                        <p:tav tm="100000">
                                          <p:val>
                                            <p:strVal val="#ppt_y"/>
                                          </p:val>
                                        </p:tav>
                                      </p:tavLst>
                                    </p:anim>
                                    <p:animEffect transition="in" filter="wipe(up)">
                                      <p:cBhvr>
                                        <p:cTn id="8" dur="500"/>
                                        <p:tgtEl>
                                          <p:spTgt spid="37"/>
                                        </p:tgtEl>
                                      </p:cBhvr>
                                    </p:animEffect>
                                  </p:childTnLst>
                                </p:cTn>
                              </p:par>
                            </p:childTnLst>
                          </p:cTn>
                        </p:par>
                        <p:par>
                          <p:cTn id="9" fill="hold">
                            <p:stCondLst>
                              <p:cond delay="500"/>
                            </p:stCondLst>
                            <p:childTnLst>
                              <p:par>
                                <p:cTn id="10" presetID="12" presetClass="entr" presetSubtype="4" fill="hold" grpId="0" nodeType="afterEffect">
                                  <p:stCondLst>
                                    <p:cond delay="0"/>
                                  </p:stCondLst>
                                  <p:childTnLst>
                                    <p:set>
                                      <p:cBhvr>
                                        <p:cTn id="11" dur="1" fill="hold">
                                          <p:stCondLst>
                                            <p:cond delay="0"/>
                                          </p:stCondLst>
                                        </p:cTn>
                                        <p:tgtEl>
                                          <p:spTgt spid="47"/>
                                        </p:tgtEl>
                                        <p:attrNameLst>
                                          <p:attrName>style.visibility</p:attrName>
                                        </p:attrNameLst>
                                      </p:cBhvr>
                                      <p:to>
                                        <p:strVal val="visible"/>
                                      </p:to>
                                    </p:set>
                                    <p:anim calcmode="lin" valueType="num">
                                      <p:cBhvr additive="base">
                                        <p:cTn id="12" dur="500"/>
                                        <p:tgtEl>
                                          <p:spTgt spid="47"/>
                                        </p:tgtEl>
                                        <p:attrNameLst>
                                          <p:attrName>ppt_y</p:attrName>
                                        </p:attrNameLst>
                                      </p:cBhvr>
                                      <p:tavLst>
                                        <p:tav tm="0">
                                          <p:val>
                                            <p:strVal val="#ppt_y+#ppt_h*1.125000"/>
                                          </p:val>
                                        </p:tav>
                                        <p:tav tm="100000">
                                          <p:val>
                                            <p:strVal val="#ppt_y"/>
                                          </p:val>
                                        </p:tav>
                                      </p:tavLst>
                                    </p:anim>
                                    <p:animEffect transition="in" filter="wipe(up)">
                                      <p:cBhvr>
                                        <p:cTn id="13" dur="500"/>
                                        <p:tgtEl>
                                          <p:spTgt spid="47"/>
                                        </p:tgtEl>
                                      </p:cBhvr>
                                    </p:animEffect>
                                  </p:childTnLst>
                                </p:cTn>
                              </p:par>
                            </p:childTnLst>
                          </p:cTn>
                        </p:par>
                      </p:childTnLst>
                    </p:cTn>
                  </p:par>
                  <p:par>
                    <p:cTn id="14" fill="hold">
                      <p:stCondLst>
                        <p:cond delay="indefinite"/>
                      </p:stCondLst>
                      <p:childTnLst>
                        <p:par>
                          <p:cTn id="15" fill="hold">
                            <p:stCondLst>
                              <p:cond delay="0"/>
                            </p:stCondLst>
                            <p:childTnLst>
                              <p:par>
                                <p:cTn id="16" presetID="17" presetClass="entr" presetSubtype="8" fill="hold" grpId="0" nodeType="clickEffect">
                                  <p:stCondLst>
                                    <p:cond delay="0"/>
                                  </p:stCondLst>
                                  <p:childTnLst>
                                    <p:set>
                                      <p:cBhvr>
                                        <p:cTn id="17" dur="1" fill="hold">
                                          <p:stCondLst>
                                            <p:cond delay="0"/>
                                          </p:stCondLst>
                                        </p:cTn>
                                        <p:tgtEl>
                                          <p:spTgt spid="48"/>
                                        </p:tgtEl>
                                        <p:attrNameLst>
                                          <p:attrName>style.visibility</p:attrName>
                                        </p:attrNameLst>
                                      </p:cBhvr>
                                      <p:to>
                                        <p:strVal val="visible"/>
                                      </p:to>
                                    </p:set>
                                    <p:anim calcmode="lin" valueType="num">
                                      <p:cBhvr>
                                        <p:cTn id="18" dur="1000" fill="hold"/>
                                        <p:tgtEl>
                                          <p:spTgt spid="48"/>
                                        </p:tgtEl>
                                        <p:attrNameLst>
                                          <p:attrName>ppt_x</p:attrName>
                                        </p:attrNameLst>
                                      </p:cBhvr>
                                      <p:tavLst>
                                        <p:tav tm="0">
                                          <p:val>
                                            <p:strVal val="#ppt_x-#ppt_w/2"/>
                                          </p:val>
                                        </p:tav>
                                        <p:tav tm="100000">
                                          <p:val>
                                            <p:strVal val="#ppt_x"/>
                                          </p:val>
                                        </p:tav>
                                      </p:tavLst>
                                    </p:anim>
                                    <p:anim calcmode="lin" valueType="num">
                                      <p:cBhvr>
                                        <p:cTn id="19" dur="1000" fill="hold"/>
                                        <p:tgtEl>
                                          <p:spTgt spid="48"/>
                                        </p:tgtEl>
                                        <p:attrNameLst>
                                          <p:attrName>ppt_y</p:attrName>
                                        </p:attrNameLst>
                                      </p:cBhvr>
                                      <p:tavLst>
                                        <p:tav tm="0">
                                          <p:val>
                                            <p:strVal val="#ppt_y"/>
                                          </p:val>
                                        </p:tav>
                                        <p:tav tm="100000">
                                          <p:val>
                                            <p:strVal val="#ppt_y"/>
                                          </p:val>
                                        </p:tav>
                                      </p:tavLst>
                                    </p:anim>
                                    <p:anim calcmode="lin" valueType="num">
                                      <p:cBhvr>
                                        <p:cTn id="20" dur="1000" fill="hold"/>
                                        <p:tgtEl>
                                          <p:spTgt spid="48"/>
                                        </p:tgtEl>
                                        <p:attrNameLst>
                                          <p:attrName>ppt_w</p:attrName>
                                        </p:attrNameLst>
                                      </p:cBhvr>
                                      <p:tavLst>
                                        <p:tav tm="0">
                                          <p:val>
                                            <p:fltVal val="0"/>
                                          </p:val>
                                        </p:tav>
                                        <p:tav tm="100000">
                                          <p:val>
                                            <p:strVal val="#ppt_w"/>
                                          </p:val>
                                        </p:tav>
                                      </p:tavLst>
                                    </p:anim>
                                    <p:anim calcmode="lin" valueType="num">
                                      <p:cBhvr>
                                        <p:cTn id="21" dur="1000" fill="hold"/>
                                        <p:tgtEl>
                                          <p:spTgt spid="48"/>
                                        </p:tgtEl>
                                        <p:attrNameLst>
                                          <p:attrName>ppt_h</p:attrName>
                                        </p:attrNameLst>
                                      </p:cBhvr>
                                      <p:tavLst>
                                        <p:tav tm="0">
                                          <p:val>
                                            <p:strVal val="#ppt_h"/>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p:stCondLst>
                                    <p:cond delay="0"/>
                                  </p:stCondLst>
                                  <p:childTnLst>
                                    <p:set>
                                      <p:cBhvr>
                                        <p:cTn id="25" dur="1" fill="hold">
                                          <p:stCondLst>
                                            <p:cond delay="0"/>
                                          </p:stCondLst>
                                        </p:cTn>
                                        <p:tgtEl>
                                          <p:spTgt spid="49"/>
                                        </p:tgtEl>
                                        <p:attrNameLst>
                                          <p:attrName>style.visibility</p:attrName>
                                        </p:attrNameLst>
                                      </p:cBhvr>
                                      <p:to>
                                        <p:strVal val="visible"/>
                                      </p:to>
                                    </p:set>
                                    <p:animEffect transition="in" filter="slide(fromBottom)">
                                      <p:cBhvr>
                                        <p:cTn id="26" dur="10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48" grpId="0"/>
      <p:bldP spid="4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7F5D0089-C1E4-4BC0-B08D-B01DE5E1E252}"/>
              </a:ext>
            </a:extLst>
          </p:cNvPr>
          <p:cNvGrpSpPr/>
          <p:nvPr/>
        </p:nvGrpSpPr>
        <p:grpSpPr>
          <a:xfrm>
            <a:off x="392432" y="780143"/>
            <a:ext cx="4758688" cy="411055"/>
            <a:chOff x="392432" y="780143"/>
            <a:chExt cx="4758688" cy="411055"/>
          </a:xfrm>
        </p:grpSpPr>
        <p:sp>
          <p:nvSpPr>
            <p:cNvPr id="5" name="矩形 4">
              <a:extLst>
                <a:ext uri="{FF2B5EF4-FFF2-40B4-BE49-F238E27FC236}">
                  <a16:creationId xmlns:a16="http://schemas.microsoft.com/office/drawing/2014/main" id="{6F1E1273-04AE-4150-9F2A-BDCD0406C6AF}"/>
                </a:ext>
              </a:extLst>
            </p:cNvPr>
            <p:cNvSpPr/>
            <p:nvPr/>
          </p:nvSpPr>
          <p:spPr>
            <a:xfrm>
              <a:off x="754216" y="805934"/>
              <a:ext cx="4396904" cy="369332"/>
            </a:xfrm>
            <a:prstGeom prst="rect">
              <a:avLst/>
            </a:prstGeom>
          </p:spPr>
          <p:txBody>
            <a:bodyPr wrap="square">
              <a:spAutoFit/>
            </a:bodyPr>
            <a:lstStyle/>
            <a:p>
              <a:r>
                <a:rPr lang="en-US" altLang="zh-CN" dirty="0">
                  <a:solidFill>
                    <a:srgbClr val="002060"/>
                  </a:solidFill>
                  <a:latin typeface="方正粗黑宋简体" pitchFamily="2" charset="-122"/>
                  <a:ea typeface="方正粗黑宋简体" pitchFamily="2" charset="-122"/>
                </a:rPr>
                <a:t>2</a:t>
              </a:r>
              <a:r>
                <a:rPr lang="zh-CN" altLang="en-US" dirty="0">
                  <a:solidFill>
                    <a:srgbClr val="002060"/>
                  </a:solidFill>
                  <a:latin typeface="方正粗黑宋简体" pitchFamily="2" charset="-122"/>
                  <a:ea typeface="方正粗黑宋简体" pitchFamily="2" charset="-122"/>
                </a:rPr>
                <a:t>、</a:t>
              </a:r>
              <a:r>
                <a:rPr lang="x-none" altLang="zh-CN" dirty="0">
                  <a:solidFill>
                    <a:srgbClr val="002060"/>
                  </a:solidFill>
                  <a:latin typeface="方正粗黑宋简体" pitchFamily="2" charset="-122"/>
                  <a:ea typeface="方正粗黑宋简体" pitchFamily="2" charset="-122"/>
                </a:rPr>
                <a:t>逻辑门电路的一般特性及参数</a:t>
              </a:r>
              <a:endParaRPr lang="zh-CN" altLang="en-US" dirty="0">
                <a:solidFill>
                  <a:srgbClr val="002060"/>
                </a:solidFill>
                <a:latin typeface="方正粗黑宋简体" pitchFamily="2" charset="-122"/>
                <a:ea typeface="方正粗黑宋简体" pitchFamily="2" charset="-122"/>
              </a:endParaRPr>
            </a:p>
          </p:txBody>
        </p:sp>
        <p:pic>
          <p:nvPicPr>
            <p:cNvPr id="6" name="Picture 3">
              <a:extLst>
                <a:ext uri="{FF2B5EF4-FFF2-40B4-BE49-F238E27FC236}">
                  <a16:creationId xmlns:a16="http://schemas.microsoft.com/office/drawing/2014/main" id="{2AF40CCE-544A-44CC-A14B-45C0327DAB4A}"/>
                </a:ext>
              </a:extLst>
            </p:cNvPr>
            <p:cNvPicPr>
              <a:picLocks noChangeAspect="1" noChangeArrowheads="1"/>
            </p:cNvPicPr>
            <p:nvPr/>
          </p:nvPicPr>
          <p:blipFill>
            <a:blip r:embed="rId3" cstate="print"/>
            <a:srcRect/>
            <a:stretch>
              <a:fillRect/>
            </a:stretch>
          </p:blipFill>
          <p:spPr bwMode="auto">
            <a:xfrm flipH="1">
              <a:off x="392432" y="780143"/>
              <a:ext cx="342900" cy="411055"/>
            </a:xfrm>
            <a:prstGeom prst="rect">
              <a:avLst/>
            </a:prstGeom>
            <a:noFill/>
            <a:ln w="9525">
              <a:noFill/>
              <a:miter lim="800000"/>
              <a:headEnd/>
              <a:tailEnd/>
            </a:ln>
          </p:spPr>
        </p:pic>
      </p:grpSp>
      <p:grpSp>
        <p:nvGrpSpPr>
          <p:cNvPr id="7" name="组合 6">
            <a:extLst>
              <a:ext uri="{FF2B5EF4-FFF2-40B4-BE49-F238E27FC236}">
                <a16:creationId xmlns:a16="http://schemas.microsoft.com/office/drawing/2014/main" id="{F279EAC2-DBA7-4947-B0E6-46EE05662491}"/>
              </a:ext>
            </a:extLst>
          </p:cNvPr>
          <p:cNvGrpSpPr/>
          <p:nvPr/>
        </p:nvGrpSpPr>
        <p:grpSpPr>
          <a:xfrm>
            <a:off x="407747" y="1302295"/>
            <a:ext cx="3458845" cy="373579"/>
            <a:chOff x="307975" y="1517134"/>
            <a:chExt cx="3458845" cy="373579"/>
          </a:xfrm>
        </p:grpSpPr>
        <p:grpSp>
          <p:nvGrpSpPr>
            <p:cNvPr id="8" name="组合 7">
              <a:extLst>
                <a:ext uri="{FF2B5EF4-FFF2-40B4-BE49-F238E27FC236}">
                  <a16:creationId xmlns:a16="http://schemas.microsoft.com/office/drawing/2014/main" id="{9B9E4BD7-F734-4A93-8BB2-25E7937B22C7}"/>
                </a:ext>
              </a:extLst>
            </p:cNvPr>
            <p:cNvGrpSpPr/>
            <p:nvPr/>
          </p:nvGrpSpPr>
          <p:grpSpPr>
            <a:xfrm>
              <a:off x="307975" y="1519116"/>
              <a:ext cx="568325" cy="371597"/>
              <a:chOff x="307975" y="1519116"/>
              <a:chExt cx="568325" cy="371597"/>
            </a:xfrm>
          </p:grpSpPr>
          <p:pic>
            <p:nvPicPr>
              <p:cNvPr id="10" name="Picture 4">
                <a:extLst>
                  <a:ext uri="{FF2B5EF4-FFF2-40B4-BE49-F238E27FC236}">
                    <a16:creationId xmlns:a16="http://schemas.microsoft.com/office/drawing/2014/main" id="{AC1477B1-BA2A-4DD9-9EBE-B1C9F2A51A81}"/>
                  </a:ext>
                </a:extLst>
              </p:cNvPr>
              <p:cNvPicPr>
                <a:picLocks noChangeAspect="1" noChangeArrowheads="1"/>
              </p:cNvPicPr>
              <p:nvPr/>
            </p:nvPicPr>
            <p:blipFill>
              <a:blip r:embed="rId4" cstate="print"/>
              <a:srcRect/>
              <a:stretch>
                <a:fillRect/>
              </a:stretch>
            </p:blipFill>
            <p:spPr bwMode="auto">
              <a:xfrm flipH="1">
                <a:off x="307975" y="1519116"/>
                <a:ext cx="568325" cy="371597"/>
              </a:xfrm>
              <a:prstGeom prst="rect">
                <a:avLst/>
              </a:prstGeom>
              <a:noFill/>
              <a:ln w="9525">
                <a:noFill/>
                <a:miter lim="800000"/>
                <a:headEnd/>
                <a:tailEnd/>
              </a:ln>
              <a:effectLst/>
            </p:spPr>
          </p:pic>
          <p:sp>
            <p:nvSpPr>
              <p:cNvPr id="11" name="TextBox 25">
                <a:extLst>
                  <a:ext uri="{FF2B5EF4-FFF2-40B4-BE49-F238E27FC236}">
                    <a16:creationId xmlns:a16="http://schemas.microsoft.com/office/drawing/2014/main" id="{83CDE6DC-E135-4F45-BB5E-E011EE6AB673}"/>
                  </a:ext>
                </a:extLst>
              </p:cNvPr>
              <p:cNvSpPr txBox="1"/>
              <p:nvPr/>
            </p:nvSpPr>
            <p:spPr>
              <a:xfrm flipH="1">
                <a:off x="443415" y="1555750"/>
                <a:ext cx="112210" cy="276999"/>
              </a:xfrm>
              <a:prstGeom prst="rect">
                <a:avLst/>
              </a:prstGeom>
              <a:noFill/>
            </p:spPr>
            <p:txBody>
              <a:bodyPr wrap="none" lIns="0" tIns="0" rIns="0" bIns="0" rtlCol="0">
                <a:spAutoFit/>
              </a:bodyPr>
              <a:lstStyle/>
              <a:p>
                <a:r>
                  <a:rPr lang="en-US" altLang="zh-CN" b="1" dirty="0">
                    <a:solidFill>
                      <a:srgbClr val="262626"/>
                    </a:solidFill>
                    <a:latin typeface="Segoe UI Black" pitchFamily="34" charset="0"/>
                    <a:ea typeface="Segoe UI Black" pitchFamily="34" charset="0"/>
                    <a:cs typeface="Times New Roman" pitchFamily="18" charset="0"/>
                  </a:rPr>
                  <a:t>1</a:t>
                </a:r>
                <a:endParaRPr lang="zh-CN" altLang="en-US" b="1" dirty="0">
                  <a:solidFill>
                    <a:srgbClr val="262626"/>
                  </a:solidFill>
                  <a:latin typeface="Segoe UI Black" pitchFamily="34" charset="0"/>
                  <a:cs typeface="Times New Roman" pitchFamily="18" charset="0"/>
                </a:endParaRPr>
              </a:p>
            </p:txBody>
          </p:sp>
        </p:grpSp>
        <p:sp>
          <p:nvSpPr>
            <p:cNvPr id="9" name="矩形 8">
              <a:extLst>
                <a:ext uri="{FF2B5EF4-FFF2-40B4-BE49-F238E27FC236}">
                  <a16:creationId xmlns:a16="http://schemas.microsoft.com/office/drawing/2014/main" id="{C9AF545B-BC81-49F5-A81D-65DE31420294}"/>
                </a:ext>
              </a:extLst>
            </p:cNvPr>
            <p:cNvSpPr/>
            <p:nvPr/>
          </p:nvSpPr>
          <p:spPr>
            <a:xfrm>
              <a:off x="863675" y="1517134"/>
              <a:ext cx="2903145" cy="338554"/>
            </a:xfrm>
            <a:prstGeom prst="rect">
              <a:avLst/>
            </a:prstGeom>
          </p:spPr>
          <p:txBody>
            <a:bodyPr wrap="square">
              <a:spAutoFit/>
            </a:bodyPr>
            <a:lstStyle/>
            <a:p>
              <a:r>
                <a:rPr lang="zh-CN" altLang="en-US" sz="1600" b="1" dirty="0">
                  <a:solidFill>
                    <a:srgbClr val="6600FF"/>
                  </a:solidFill>
                  <a:latin typeface="黑体" pitchFamily="49" charset="-122"/>
                  <a:ea typeface="黑体" pitchFamily="49" charset="-122"/>
                  <a:cs typeface="Times New Roman" pitchFamily="18" charset="0"/>
                </a:rPr>
                <a:t>输入和输出高、低电平</a:t>
              </a:r>
            </a:p>
          </p:txBody>
        </p:sp>
      </p:grpSp>
      <p:sp>
        <p:nvSpPr>
          <p:cNvPr id="12" name="文本框 11">
            <a:extLst>
              <a:ext uri="{FF2B5EF4-FFF2-40B4-BE49-F238E27FC236}">
                <a16:creationId xmlns:a16="http://schemas.microsoft.com/office/drawing/2014/main" id="{6E2F6FE2-A483-4BA1-BD9D-5341E8857844}"/>
              </a:ext>
            </a:extLst>
          </p:cNvPr>
          <p:cNvSpPr txBox="1"/>
          <p:nvPr/>
        </p:nvSpPr>
        <p:spPr>
          <a:xfrm>
            <a:off x="963447" y="1754097"/>
            <a:ext cx="7818045" cy="1837426"/>
          </a:xfrm>
          <a:prstGeom prst="rect">
            <a:avLst/>
          </a:prstGeom>
          <a:noFill/>
        </p:spPr>
        <p:txBody>
          <a:bodyPr wrap="square">
            <a:spAutoFit/>
          </a:bodyPr>
          <a:lstStyle/>
          <a:p>
            <a:pPr marL="285750" indent="-285750">
              <a:lnSpc>
                <a:spcPct val="125000"/>
              </a:lnSpc>
              <a:spcBef>
                <a:spcPts val="600"/>
              </a:spcBef>
              <a:buFont typeface="Wingdings" panose="05000000000000000000" pitchFamily="2" charset="2"/>
              <a:buChar char="u"/>
            </a:pPr>
            <a:r>
              <a:rPr lang="zh-CN" altLang="zh-CN" sz="1400" dirty="0">
                <a:effectLst/>
                <a:latin typeface="微软雅黑" panose="020B0503020204020204" pitchFamily="34" charset="-122"/>
                <a:ea typeface="微软雅黑" panose="020B0503020204020204" pitchFamily="34" charset="-122"/>
                <a:cs typeface="Times New Roman" panose="02020603050405020304" pitchFamily="18" charset="0"/>
              </a:rPr>
              <a:t>表示二值数字逻辑</a:t>
            </a:r>
            <a:r>
              <a:rPr lang="en-US" altLang="zh-CN" sz="1400" dirty="0">
                <a:effectLst/>
                <a:latin typeface="微软雅黑" panose="020B0503020204020204" pitchFamily="34" charset="-122"/>
                <a:ea typeface="微软雅黑" panose="020B0503020204020204" pitchFamily="34" charset="-122"/>
              </a:rPr>
              <a:t>1</a:t>
            </a:r>
            <a:r>
              <a:rPr lang="zh-CN" altLang="zh-CN" sz="1400" dirty="0">
                <a:effectLst/>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1400" dirty="0">
                <a:effectLst/>
                <a:latin typeface="微软雅黑" panose="020B0503020204020204" pitchFamily="34" charset="-122"/>
                <a:ea typeface="微软雅黑" panose="020B0503020204020204" pitchFamily="34" charset="-122"/>
              </a:rPr>
              <a:t>0</a:t>
            </a:r>
            <a:r>
              <a:rPr lang="zh-CN" altLang="zh-CN" sz="1400" dirty="0">
                <a:effectLst/>
                <a:latin typeface="微软雅黑" panose="020B0503020204020204" pitchFamily="34" charset="-122"/>
                <a:ea typeface="微软雅黑" panose="020B0503020204020204" pitchFamily="34" charset="-122"/>
                <a:cs typeface="Times New Roman" panose="02020603050405020304" pitchFamily="18" charset="0"/>
              </a:rPr>
              <a:t>的高、低电平称为逻辑电平</a:t>
            </a:r>
            <a:r>
              <a:rPr lang="zh-CN" altLang="en-US" sz="14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effectLst/>
                <a:latin typeface="微软雅黑" panose="020B0503020204020204" pitchFamily="34" charset="-122"/>
                <a:ea typeface="微软雅黑" panose="020B0503020204020204" pitchFamily="34" charset="-122"/>
                <a:cs typeface="Times New Roman" panose="02020603050405020304" pitchFamily="18" charset="0"/>
              </a:rPr>
              <a:t>逻辑电平并不是一个特定的电压值，而是一个电压范围。</a:t>
            </a:r>
            <a:endParaRPr lang="en-US" altLang="zh-CN" sz="1400"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nSpc>
                <a:spcPct val="125000"/>
              </a:lnSpc>
              <a:spcBef>
                <a:spcPts val="600"/>
              </a:spcBef>
              <a:buFont typeface="Wingdings" panose="05000000000000000000" pitchFamily="2" charset="2"/>
              <a:buChar char="u"/>
            </a:pPr>
            <a:r>
              <a:rPr lang="zh-CN" altLang="zh-CN" sz="1400" dirty="0">
                <a:effectLst/>
                <a:latin typeface="微软雅黑" panose="020B0503020204020204" pitchFamily="34" charset="-122"/>
                <a:ea typeface="微软雅黑" panose="020B0503020204020204" pitchFamily="34" charset="-122"/>
                <a:cs typeface="Times New Roman" panose="02020603050405020304" pitchFamily="18" charset="0"/>
              </a:rPr>
              <a:t>不同系列的门电路，输入逻辑电平对应的电压范围通常不同，输出逻辑电平对应的电压范围通常也不同。</a:t>
            </a:r>
            <a:endParaRPr lang="en-US" altLang="zh-CN" sz="1400"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nSpc>
                <a:spcPct val="125000"/>
              </a:lnSpc>
              <a:spcBef>
                <a:spcPts val="600"/>
              </a:spcBef>
              <a:buFont typeface="Wingdings" panose="05000000000000000000" pitchFamily="2" charset="2"/>
              <a:buChar char="u"/>
            </a:pPr>
            <a:r>
              <a:rPr lang="zh-CN" altLang="zh-CN" sz="1400" dirty="0">
                <a:effectLst/>
                <a:latin typeface="微软雅黑" panose="020B0503020204020204" pitchFamily="34" charset="-122"/>
                <a:ea typeface="微软雅黑" panose="020B0503020204020204" pitchFamily="34" charset="-122"/>
                <a:cs typeface="Times New Roman" panose="02020603050405020304" pitchFamily="18" charset="0"/>
              </a:rPr>
              <a:t>同一系列的逻辑门电路，为了保证电路有一定的抗干扰能力，其输入逻辑电平和输出逻辑电平对应的电压范围通常也不同。</a:t>
            </a:r>
            <a:endParaRPr lang="zh-CN" altLang="en-US" sz="1400" dirty="0">
              <a:latin typeface="微软雅黑" panose="020B0503020204020204" pitchFamily="34" charset="-122"/>
              <a:ea typeface="微软雅黑" panose="020B0503020204020204" pitchFamily="34" charset="-122"/>
            </a:endParaRPr>
          </a:p>
        </p:txBody>
      </p:sp>
      <p:graphicFrame>
        <p:nvGraphicFramePr>
          <p:cNvPr id="14" name="Group 541">
            <a:extLst>
              <a:ext uri="{FF2B5EF4-FFF2-40B4-BE49-F238E27FC236}">
                <a16:creationId xmlns:a16="http://schemas.microsoft.com/office/drawing/2014/main" id="{3D01AC25-B709-46A9-ABAE-5D4BF7D65C83}"/>
              </a:ext>
            </a:extLst>
          </p:cNvPr>
          <p:cNvGraphicFramePr>
            <a:graphicFrameLocks noGrp="1"/>
          </p:cNvGraphicFramePr>
          <p:nvPr>
            <p:extLst>
              <p:ext uri="{D42A27DB-BD31-4B8C-83A1-F6EECF244321}">
                <p14:modId xmlns:p14="http://schemas.microsoft.com/office/powerpoint/2010/main" val="3201421853"/>
              </p:ext>
            </p:extLst>
          </p:nvPr>
        </p:nvGraphicFramePr>
        <p:xfrm>
          <a:off x="1609950" y="3706529"/>
          <a:ext cx="2697480" cy="1763243"/>
        </p:xfrm>
        <a:graphic>
          <a:graphicData uri="http://schemas.openxmlformats.org/drawingml/2006/table">
            <a:tbl>
              <a:tblPr/>
              <a:tblGrid>
                <a:gridCol w="2697480">
                  <a:extLst>
                    <a:ext uri="{9D8B030D-6E8A-4147-A177-3AD203B41FA5}">
                      <a16:colId xmlns:a16="http://schemas.microsoft.com/office/drawing/2014/main" val="20000"/>
                    </a:ext>
                  </a:extLst>
                </a:gridCol>
              </a:tblGrid>
              <a:tr h="39303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400" b="0" i="0" u="none" strike="noStrike" cap="none" normalizeH="0" baseline="0" dirty="0">
                          <a:ln>
                            <a:noFill/>
                          </a:ln>
                          <a:solidFill>
                            <a:srgbClr val="000000"/>
                          </a:solidFill>
                          <a:effectLst/>
                          <a:latin typeface="方正粗黑宋简体" pitchFamily="2" charset="-122"/>
                          <a:ea typeface="方正粗黑宋简体" pitchFamily="2" charset="-122"/>
                        </a:rPr>
                        <a:t>输入、输出电平电压参数</a:t>
                      </a:r>
                      <a:endParaRPr kumimoji="0" lang="en-US" altLang="zh-CN" sz="14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66"/>
                    </a:solidFill>
                  </a:tcPr>
                </a:tc>
                <a:extLst>
                  <a:ext uri="{0D108BD9-81ED-4DB2-BD59-A6C34878D82A}">
                    <a16:rowId xmlns:a16="http://schemas.microsoft.com/office/drawing/2014/main" val="10000"/>
                  </a:ext>
                </a:extLst>
              </a:tr>
              <a:tr h="1370213">
                <a:tc>
                  <a:txBody>
                    <a:bodyPr/>
                    <a:lstStyle/>
                    <a:p>
                      <a:pPr marL="0" marR="0" lvl="0" indent="0" algn="ctr" defTabSz="914400" rtl="0" eaLnBrk="1" fontAlgn="base" latinLnBrk="0" hangingPunct="1">
                        <a:lnSpc>
                          <a:spcPct val="150000"/>
                        </a:lnSpc>
                        <a:spcBef>
                          <a:spcPts val="0"/>
                        </a:spcBef>
                        <a:spcAft>
                          <a:spcPct val="0"/>
                        </a:spcAft>
                        <a:buClr>
                          <a:schemeClr val="tx1"/>
                        </a:buClr>
                        <a:buSzTx/>
                        <a:buFontTx/>
                        <a:buNone/>
                        <a:tabLst/>
                      </a:pPr>
                      <a:r>
                        <a:rPr lang="zh-CN" altLang="zh-CN" sz="1400" dirty="0">
                          <a:effectLst/>
                          <a:latin typeface="方正粗黑宋简体" panose="02000000000000000000" pitchFamily="2" charset="-122"/>
                          <a:ea typeface="方正粗黑宋简体" panose="02000000000000000000" pitchFamily="2" charset="-122"/>
                          <a:cs typeface="Times New Roman" panose="02020603050405020304" pitchFamily="18" charset="0"/>
                        </a:rPr>
                        <a:t>输入低电平的上限值</a:t>
                      </a:r>
                      <a:r>
                        <a:rPr lang="en-US" altLang="zh-CN" sz="1400" dirty="0">
                          <a:effectLst/>
                          <a:latin typeface="方正粗黑宋简体" panose="02000000000000000000" pitchFamily="2" charset="-122"/>
                          <a:ea typeface="方正粗黑宋简体" panose="02000000000000000000" pitchFamily="2" charset="-122"/>
                          <a:cs typeface="Times New Roman" panose="02020603050405020304" pitchFamily="18" charset="0"/>
                        </a:rPr>
                        <a:t>:</a:t>
                      </a:r>
                      <a:r>
                        <a:rPr lang="en-US" altLang="zh-CN" sz="1400" i="1" dirty="0">
                          <a:effectLst/>
                          <a:latin typeface="方正粗黑宋简体" panose="02000000000000000000" pitchFamily="2" charset="-122"/>
                          <a:ea typeface="方正粗黑宋简体" panose="02000000000000000000" pitchFamily="2" charset="-122"/>
                        </a:rPr>
                        <a:t>V</a:t>
                      </a:r>
                      <a:r>
                        <a:rPr lang="en-US" altLang="zh-CN" sz="1400" baseline="-25000" dirty="0">
                          <a:effectLst/>
                          <a:latin typeface="方正粗黑宋简体" panose="02000000000000000000" pitchFamily="2" charset="-122"/>
                          <a:ea typeface="方正粗黑宋简体" panose="02000000000000000000" pitchFamily="2" charset="-122"/>
                        </a:rPr>
                        <a:t>IL(max)</a:t>
                      </a:r>
                      <a:endParaRPr lang="en-US" altLang="zh-CN" sz="1400" dirty="0">
                        <a:effectLst/>
                        <a:latin typeface="方正粗黑宋简体" panose="02000000000000000000" pitchFamily="2" charset="-122"/>
                        <a:ea typeface="方正粗黑宋简体" panose="02000000000000000000" pitchFamily="2" charset="-122"/>
                        <a:cs typeface="Times New Roman" panose="02020603050405020304" pitchFamily="18" charset="0"/>
                      </a:endParaRPr>
                    </a:p>
                    <a:p>
                      <a:pPr marL="0" marR="0" lvl="0" indent="0" algn="ctr" defTabSz="914400" rtl="0" eaLnBrk="1" fontAlgn="base" latinLnBrk="0" hangingPunct="1">
                        <a:lnSpc>
                          <a:spcPct val="150000"/>
                        </a:lnSpc>
                        <a:spcBef>
                          <a:spcPts val="0"/>
                        </a:spcBef>
                        <a:spcAft>
                          <a:spcPct val="0"/>
                        </a:spcAft>
                        <a:buClr>
                          <a:schemeClr val="tx1"/>
                        </a:buClr>
                        <a:buSzTx/>
                        <a:buFontTx/>
                        <a:buNone/>
                        <a:tabLst/>
                      </a:pPr>
                      <a:r>
                        <a:rPr lang="zh-CN" altLang="zh-CN" sz="1400" dirty="0">
                          <a:effectLst/>
                          <a:latin typeface="方正粗黑宋简体" panose="02000000000000000000" pitchFamily="2" charset="-122"/>
                          <a:ea typeface="方正粗黑宋简体" panose="02000000000000000000" pitchFamily="2" charset="-122"/>
                          <a:cs typeface="Times New Roman" panose="02020603050405020304" pitchFamily="18" charset="0"/>
                        </a:rPr>
                        <a:t>输入高电平的下限值</a:t>
                      </a:r>
                      <a:r>
                        <a:rPr lang="en-US" altLang="zh-CN" sz="1400" dirty="0">
                          <a:effectLst/>
                          <a:latin typeface="方正粗黑宋简体" panose="02000000000000000000" pitchFamily="2" charset="-122"/>
                          <a:ea typeface="方正粗黑宋简体" panose="02000000000000000000" pitchFamily="2" charset="-122"/>
                          <a:cs typeface="Times New Roman" panose="02020603050405020304" pitchFamily="18" charset="0"/>
                        </a:rPr>
                        <a:t>:</a:t>
                      </a:r>
                      <a:r>
                        <a:rPr lang="en-US" altLang="zh-CN" sz="1400" i="1" dirty="0">
                          <a:effectLst/>
                          <a:latin typeface="方正粗黑宋简体" panose="02000000000000000000" pitchFamily="2" charset="-122"/>
                          <a:ea typeface="方正粗黑宋简体" panose="02000000000000000000" pitchFamily="2" charset="-122"/>
                        </a:rPr>
                        <a:t>V</a:t>
                      </a:r>
                      <a:r>
                        <a:rPr lang="en-US" altLang="zh-CN" sz="1400" baseline="-25000" dirty="0">
                          <a:effectLst/>
                          <a:latin typeface="方正粗黑宋简体" panose="02000000000000000000" pitchFamily="2" charset="-122"/>
                          <a:ea typeface="方正粗黑宋简体" panose="02000000000000000000" pitchFamily="2" charset="-122"/>
                        </a:rPr>
                        <a:t>IH(min)</a:t>
                      </a:r>
                      <a:endParaRPr lang="en-US" altLang="zh-CN" sz="1400" dirty="0">
                        <a:effectLst/>
                        <a:latin typeface="方正粗黑宋简体" panose="02000000000000000000" pitchFamily="2" charset="-122"/>
                        <a:ea typeface="方正粗黑宋简体" panose="02000000000000000000" pitchFamily="2" charset="-122"/>
                        <a:cs typeface="Times New Roman" panose="02020603050405020304" pitchFamily="18" charset="0"/>
                      </a:endParaRPr>
                    </a:p>
                    <a:p>
                      <a:pPr marL="0" marR="0" lvl="0" indent="0" algn="ctr" defTabSz="914400" rtl="0" eaLnBrk="1" fontAlgn="base" latinLnBrk="0" hangingPunct="1">
                        <a:lnSpc>
                          <a:spcPct val="150000"/>
                        </a:lnSpc>
                        <a:spcBef>
                          <a:spcPts val="0"/>
                        </a:spcBef>
                        <a:spcAft>
                          <a:spcPct val="0"/>
                        </a:spcAft>
                        <a:buClr>
                          <a:schemeClr val="tx1"/>
                        </a:buClr>
                        <a:buSzTx/>
                        <a:buFontTx/>
                        <a:buNone/>
                        <a:tabLst/>
                      </a:pPr>
                      <a:r>
                        <a:rPr lang="zh-CN" altLang="zh-CN" sz="1400" dirty="0">
                          <a:effectLst/>
                          <a:latin typeface="方正粗黑宋简体" panose="02000000000000000000" pitchFamily="2" charset="-122"/>
                          <a:ea typeface="方正粗黑宋简体" panose="02000000000000000000" pitchFamily="2" charset="-122"/>
                          <a:cs typeface="Times New Roman" panose="02020603050405020304" pitchFamily="18" charset="0"/>
                        </a:rPr>
                        <a:t>输出低电平的上限值</a:t>
                      </a:r>
                      <a:r>
                        <a:rPr lang="en-US" altLang="zh-CN" sz="1400" dirty="0">
                          <a:effectLst/>
                          <a:latin typeface="方正粗黑宋简体" panose="02000000000000000000" pitchFamily="2" charset="-122"/>
                          <a:ea typeface="方正粗黑宋简体" panose="02000000000000000000" pitchFamily="2" charset="-122"/>
                          <a:cs typeface="Times New Roman" panose="02020603050405020304" pitchFamily="18" charset="0"/>
                        </a:rPr>
                        <a:t>:</a:t>
                      </a:r>
                      <a:r>
                        <a:rPr lang="en-US" altLang="zh-CN" sz="1400" i="1" dirty="0">
                          <a:effectLst/>
                          <a:latin typeface="方正粗黑宋简体" panose="02000000000000000000" pitchFamily="2" charset="-122"/>
                          <a:ea typeface="方正粗黑宋简体" panose="02000000000000000000" pitchFamily="2" charset="-122"/>
                        </a:rPr>
                        <a:t>V</a:t>
                      </a:r>
                      <a:r>
                        <a:rPr lang="en-US" altLang="zh-CN" sz="1400" baseline="-25000" dirty="0">
                          <a:effectLst/>
                          <a:latin typeface="方正粗黑宋简体" panose="02000000000000000000" pitchFamily="2" charset="-122"/>
                          <a:ea typeface="方正粗黑宋简体" panose="02000000000000000000" pitchFamily="2" charset="-122"/>
                        </a:rPr>
                        <a:t>OL(max)</a:t>
                      </a:r>
                      <a:endParaRPr lang="en-US" altLang="zh-CN" sz="1400" dirty="0">
                        <a:effectLst/>
                        <a:latin typeface="方正粗黑宋简体" panose="02000000000000000000" pitchFamily="2" charset="-122"/>
                        <a:ea typeface="方正粗黑宋简体" panose="02000000000000000000" pitchFamily="2" charset="-122"/>
                        <a:cs typeface="Times New Roman" panose="02020603050405020304" pitchFamily="18" charset="0"/>
                      </a:endParaRPr>
                    </a:p>
                    <a:p>
                      <a:pPr marL="0" marR="0" lvl="0" indent="0" algn="ctr" defTabSz="914400" rtl="0" eaLnBrk="1" fontAlgn="base" latinLnBrk="0" hangingPunct="1">
                        <a:lnSpc>
                          <a:spcPct val="150000"/>
                        </a:lnSpc>
                        <a:spcBef>
                          <a:spcPts val="0"/>
                        </a:spcBef>
                        <a:spcAft>
                          <a:spcPct val="0"/>
                        </a:spcAft>
                        <a:buClr>
                          <a:schemeClr val="tx1"/>
                        </a:buClr>
                        <a:buSzTx/>
                        <a:buFontTx/>
                        <a:buNone/>
                        <a:tabLst/>
                      </a:pPr>
                      <a:r>
                        <a:rPr lang="zh-CN" altLang="zh-CN" sz="1400" dirty="0">
                          <a:effectLst/>
                          <a:latin typeface="方正粗黑宋简体" panose="02000000000000000000" pitchFamily="2" charset="-122"/>
                          <a:ea typeface="方正粗黑宋简体" panose="02000000000000000000" pitchFamily="2" charset="-122"/>
                          <a:cs typeface="Times New Roman" panose="02020603050405020304" pitchFamily="18" charset="0"/>
                        </a:rPr>
                        <a:t>输出高电平的下限值</a:t>
                      </a:r>
                      <a:r>
                        <a:rPr lang="en-US" altLang="zh-CN" sz="1400" dirty="0">
                          <a:effectLst/>
                          <a:latin typeface="方正粗黑宋简体" panose="02000000000000000000" pitchFamily="2" charset="-122"/>
                          <a:ea typeface="方正粗黑宋简体" panose="02000000000000000000" pitchFamily="2" charset="-122"/>
                          <a:cs typeface="Times New Roman" panose="02020603050405020304" pitchFamily="18" charset="0"/>
                        </a:rPr>
                        <a:t>:</a:t>
                      </a:r>
                      <a:r>
                        <a:rPr lang="en-US" altLang="zh-CN" sz="1400" i="1" dirty="0">
                          <a:effectLst/>
                          <a:latin typeface="方正粗黑宋简体" panose="02000000000000000000" pitchFamily="2" charset="-122"/>
                          <a:ea typeface="方正粗黑宋简体" panose="02000000000000000000" pitchFamily="2" charset="-122"/>
                        </a:rPr>
                        <a:t>V</a:t>
                      </a:r>
                      <a:r>
                        <a:rPr lang="en-US" altLang="zh-CN" sz="1400" baseline="-25000" dirty="0">
                          <a:effectLst/>
                          <a:latin typeface="方正粗黑宋简体" panose="02000000000000000000" pitchFamily="2" charset="-122"/>
                          <a:ea typeface="方正粗黑宋简体" panose="02000000000000000000" pitchFamily="2" charset="-122"/>
                        </a:rPr>
                        <a:t>OH(min)</a:t>
                      </a:r>
                      <a:endParaRPr kumimoji="0" lang="en-US" altLang="zh-CN" sz="1400" b="0" i="0" u="none" strike="noStrike" kern="1200" cap="none" normalizeH="0" baseline="0" dirty="0">
                        <a:ln>
                          <a:noFill/>
                        </a:ln>
                        <a:solidFill>
                          <a:srgbClr val="262626"/>
                        </a:solidFill>
                        <a:effectLst/>
                        <a:latin typeface="方正粗黑宋简体" pitchFamily="2" charset="-122"/>
                        <a:ea typeface="方正粗黑宋简体" pitchFamily="2" charset="-122"/>
                        <a:cs typeface="+mn-cs"/>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graphicFrame>
        <p:nvGraphicFramePr>
          <p:cNvPr id="15" name="表格 14">
            <a:extLst>
              <a:ext uri="{FF2B5EF4-FFF2-40B4-BE49-F238E27FC236}">
                <a16:creationId xmlns:a16="http://schemas.microsoft.com/office/drawing/2014/main" id="{5A8DFBA3-E1CF-44CF-9495-A384103FA4F5}"/>
              </a:ext>
            </a:extLst>
          </p:cNvPr>
          <p:cNvGraphicFramePr>
            <a:graphicFrameLocks noGrp="1"/>
          </p:cNvGraphicFramePr>
          <p:nvPr>
            <p:extLst>
              <p:ext uri="{D42A27DB-BD31-4B8C-83A1-F6EECF244321}">
                <p14:modId xmlns:p14="http://schemas.microsoft.com/office/powerpoint/2010/main" val="2810778883"/>
              </p:ext>
            </p:extLst>
          </p:nvPr>
        </p:nvGraphicFramePr>
        <p:xfrm>
          <a:off x="4307430" y="688531"/>
          <a:ext cx="4562249" cy="2869482"/>
        </p:xfrm>
        <a:graphic>
          <a:graphicData uri="http://schemas.openxmlformats.org/drawingml/2006/table">
            <a:tbl>
              <a:tblPr firstRow="1" firstCol="1" bandRow="1">
                <a:tableStyleId>{5C22544A-7EE6-4342-B048-85BDC9FD1C3A}</a:tableStyleId>
              </a:tblPr>
              <a:tblGrid>
                <a:gridCol w="1299800">
                  <a:extLst>
                    <a:ext uri="{9D8B030D-6E8A-4147-A177-3AD203B41FA5}">
                      <a16:colId xmlns:a16="http://schemas.microsoft.com/office/drawing/2014/main" val="2702642551"/>
                    </a:ext>
                  </a:extLst>
                </a:gridCol>
                <a:gridCol w="1081295">
                  <a:extLst>
                    <a:ext uri="{9D8B030D-6E8A-4147-A177-3AD203B41FA5}">
                      <a16:colId xmlns:a16="http://schemas.microsoft.com/office/drawing/2014/main" val="1196817565"/>
                    </a:ext>
                  </a:extLst>
                </a:gridCol>
                <a:gridCol w="937896">
                  <a:extLst>
                    <a:ext uri="{9D8B030D-6E8A-4147-A177-3AD203B41FA5}">
                      <a16:colId xmlns:a16="http://schemas.microsoft.com/office/drawing/2014/main" val="1992743797"/>
                    </a:ext>
                  </a:extLst>
                </a:gridCol>
                <a:gridCol w="1243258">
                  <a:extLst>
                    <a:ext uri="{9D8B030D-6E8A-4147-A177-3AD203B41FA5}">
                      <a16:colId xmlns:a16="http://schemas.microsoft.com/office/drawing/2014/main" val="1019765241"/>
                    </a:ext>
                  </a:extLst>
                </a:gridCol>
              </a:tblGrid>
              <a:tr h="472436">
                <a:tc gridSpan="4">
                  <a:txBody>
                    <a:bodyPr/>
                    <a:lstStyle/>
                    <a:p>
                      <a:pPr marL="0" algn="ctr">
                        <a:spcAft>
                          <a:spcPts val="0"/>
                        </a:spcAft>
                      </a:pPr>
                      <a:r>
                        <a:rPr lang="zh-CN" sz="1400" dirty="0">
                          <a:effectLst/>
                          <a:latin typeface="Times New Roman" panose="02020603050405020304" pitchFamily="18" charset="0"/>
                          <a:ea typeface="微软雅黑" panose="020B0503020204020204" pitchFamily="34" charset="-122"/>
                          <a:cs typeface="Times New Roman" panose="02020603050405020304" pitchFamily="18" charset="0"/>
                        </a:rPr>
                        <a:t>几种集成电路输入和输出电平范围及噪声容限</a:t>
                      </a:r>
                      <a:endParaRPr lang="zh-CN" sz="14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21857" marR="21857" marT="0" marB="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846106912"/>
                  </a:ext>
                </a:extLst>
              </a:tr>
              <a:tr h="477333">
                <a:tc>
                  <a:txBody>
                    <a:bodyPr/>
                    <a:lstStyle/>
                    <a:p>
                      <a:pPr marL="0" algn="l">
                        <a:spcBef>
                          <a:spcPts val="0"/>
                        </a:spcBef>
                        <a:spcAft>
                          <a:spcPts val="0"/>
                        </a:spcAft>
                      </a:pPr>
                      <a:r>
                        <a:rPr lang="en-US" altLang="zh-CN" sz="1200" dirty="0">
                          <a:effectLst/>
                          <a:latin typeface="Times New Roman" panose="02020603050405020304" pitchFamily="18" charset="0"/>
                          <a:ea typeface="微软雅黑" panose="020B0503020204020204" pitchFamily="34" charset="-122"/>
                          <a:cs typeface="Times New Roman" panose="02020603050405020304" pitchFamily="18" charset="0"/>
                        </a:rPr>
                        <a:t>                    </a:t>
                      </a:r>
                      <a:r>
                        <a:rPr lang="zh-CN" sz="1200" dirty="0">
                          <a:effectLst/>
                          <a:latin typeface="Times New Roman" panose="02020603050405020304" pitchFamily="18" charset="0"/>
                          <a:ea typeface="微软雅黑" panose="020B0503020204020204" pitchFamily="34" charset="-122"/>
                          <a:cs typeface="Times New Roman" panose="02020603050405020304" pitchFamily="18" charset="0"/>
                        </a:rPr>
                        <a:t>类型</a:t>
                      </a:r>
                      <a:r>
                        <a:rPr lang="en-US" altLang="zh-CN" sz="1200" dirty="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200" dirty="0">
                        <a:effectLst/>
                        <a:latin typeface="Times New Roman" panose="02020603050405020304" pitchFamily="18" charset="0"/>
                        <a:ea typeface="微软雅黑" panose="020B0503020204020204" pitchFamily="34" charset="-122"/>
                        <a:cs typeface="Times New Roman" panose="02020603050405020304" pitchFamily="18" charset="0"/>
                      </a:endParaRPr>
                    </a:p>
                    <a:p>
                      <a:pPr marL="0" algn="l">
                        <a:spcBef>
                          <a:spcPts val="600"/>
                        </a:spcBef>
                        <a:spcAft>
                          <a:spcPts val="0"/>
                        </a:spcAft>
                      </a:pPr>
                      <a:r>
                        <a:rPr lang="zh-CN" sz="1200" dirty="0">
                          <a:effectLst/>
                          <a:latin typeface="Times New Roman" panose="02020603050405020304" pitchFamily="18" charset="0"/>
                          <a:ea typeface="微软雅黑" panose="020B0503020204020204" pitchFamily="34" charset="-122"/>
                          <a:cs typeface="Times New Roman" panose="02020603050405020304" pitchFamily="18" charset="0"/>
                        </a:rPr>
                        <a:t>参数</a:t>
                      </a:r>
                      <a:r>
                        <a:rPr lang="en-GB" sz="12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zh-CN" sz="1200" dirty="0">
                          <a:effectLst/>
                          <a:latin typeface="Times New Roman" panose="02020603050405020304" pitchFamily="18" charset="0"/>
                          <a:ea typeface="微软雅黑" panose="020B0503020204020204" pitchFamily="34" charset="-122"/>
                          <a:cs typeface="Times New Roman" panose="02020603050405020304" pitchFamily="18" charset="0"/>
                        </a:rPr>
                        <a:t>单位</a:t>
                      </a:r>
                      <a:endParaRPr lang="zh-CN"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21857" marR="21857" marT="0" marB="0" anchor="ctr">
                    <a:lnL w="12700" cap="flat" cmpd="sng" algn="ctr">
                      <a:solidFill>
                        <a:srgbClr val="FF0000"/>
                      </a:solidFill>
                      <a:prstDash val="solid"/>
                      <a:round/>
                      <a:headEnd type="none" w="med" len="med"/>
                      <a:tailEnd type="none" w="med" len="med"/>
                    </a:lnL>
                    <a:lnTlToBr w="12700" cap="flat" cmpd="sng" algn="ctr">
                      <a:solidFill>
                        <a:schemeClr val="bg1"/>
                      </a:solidFill>
                      <a:prstDash val="solid"/>
                      <a:round/>
                      <a:headEnd type="none" w="med" len="med"/>
                      <a:tailEnd type="none" w="med" len="med"/>
                    </a:lnTlToBr>
                  </a:tcPr>
                </a:tc>
                <a:tc>
                  <a:txBody>
                    <a:bodyPr/>
                    <a:lstStyle/>
                    <a:p>
                      <a:pPr marL="0" algn="ctr">
                        <a:spcAft>
                          <a:spcPts val="0"/>
                        </a:spcAft>
                      </a:pPr>
                      <a:r>
                        <a:rPr lang="en-GB" sz="1400" dirty="0">
                          <a:effectLst/>
                          <a:latin typeface="Times New Roman" panose="02020603050405020304" pitchFamily="18" charset="0"/>
                          <a:ea typeface="微软雅黑" panose="020B0503020204020204" pitchFamily="34" charset="-122"/>
                          <a:cs typeface="Times New Roman" panose="02020603050405020304" pitchFamily="18" charset="0"/>
                        </a:rPr>
                        <a:t>74LS</a:t>
                      </a:r>
                      <a:endParaRPr lang="zh-CN" sz="1400" dirty="0">
                        <a:effectLst/>
                        <a:latin typeface="Times New Roman" panose="02020603050405020304" pitchFamily="18" charset="0"/>
                        <a:ea typeface="微软雅黑" panose="020B0503020204020204" pitchFamily="34" charset="-122"/>
                        <a:cs typeface="Times New Roman" panose="02020603050405020304" pitchFamily="18" charset="0"/>
                      </a:endParaRPr>
                    </a:p>
                    <a:p>
                      <a:pPr marL="0" algn="ctr">
                        <a:spcAft>
                          <a:spcPts val="0"/>
                        </a:spcAft>
                      </a:pPr>
                      <a:r>
                        <a:rPr lang="en-GB" sz="1400" dirty="0">
                          <a:effectLst/>
                          <a:latin typeface="Times New Roman" panose="02020603050405020304" pitchFamily="18" charset="0"/>
                          <a:ea typeface="微软雅黑" panose="020B0503020204020204" pitchFamily="34" charset="-122"/>
                          <a:cs typeface="Times New Roman" panose="02020603050405020304" pitchFamily="18" charset="0"/>
                        </a:rPr>
                        <a:t>(V</a:t>
                      </a:r>
                      <a:r>
                        <a:rPr lang="en-GB" sz="1400" baseline="-25000" dirty="0">
                          <a:effectLst/>
                          <a:latin typeface="Times New Roman" panose="02020603050405020304" pitchFamily="18" charset="0"/>
                          <a:ea typeface="微软雅黑" panose="020B0503020204020204" pitchFamily="34" charset="-122"/>
                          <a:cs typeface="Times New Roman" panose="02020603050405020304" pitchFamily="18" charset="0"/>
                        </a:rPr>
                        <a:t>DD</a:t>
                      </a:r>
                      <a:r>
                        <a:rPr lang="en-GB" sz="1400" dirty="0">
                          <a:effectLst/>
                          <a:latin typeface="Times New Roman" panose="02020603050405020304" pitchFamily="18" charset="0"/>
                          <a:ea typeface="微软雅黑" panose="020B0503020204020204" pitchFamily="34" charset="-122"/>
                          <a:cs typeface="Times New Roman" panose="02020603050405020304" pitchFamily="18" charset="0"/>
                        </a:rPr>
                        <a:t>=5V)</a:t>
                      </a:r>
                      <a:endParaRPr lang="zh-CN" sz="14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tc>
                <a:tc>
                  <a:txBody>
                    <a:bodyPr/>
                    <a:lstStyle/>
                    <a:p>
                      <a:pPr marL="0" algn="ctr">
                        <a:spcAft>
                          <a:spcPts val="0"/>
                        </a:spcAft>
                      </a:pPr>
                      <a:r>
                        <a:rPr lang="en-GB" sz="1400" dirty="0">
                          <a:effectLst/>
                          <a:latin typeface="Times New Roman" panose="02020603050405020304" pitchFamily="18" charset="0"/>
                          <a:ea typeface="微软雅黑" panose="020B0503020204020204" pitchFamily="34" charset="-122"/>
                          <a:cs typeface="Times New Roman" panose="02020603050405020304" pitchFamily="18" charset="0"/>
                        </a:rPr>
                        <a:t>74HC</a:t>
                      </a:r>
                      <a:endParaRPr lang="zh-CN" sz="1400" dirty="0">
                        <a:effectLst/>
                        <a:latin typeface="Times New Roman" panose="02020603050405020304" pitchFamily="18" charset="0"/>
                        <a:ea typeface="微软雅黑" panose="020B0503020204020204" pitchFamily="34" charset="-122"/>
                        <a:cs typeface="Times New Roman" panose="02020603050405020304" pitchFamily="18" charset="0"/>
                      </a:endParaRPr>
                    </a:p>
                    <a:p>
                      <a:pPr marL="0" algn="ctr">
                        <a:spcAft>
                          <a:spcPts val="0"/>
                        </a:spcAft>
                      </a:pPr>
                      <a:r>
                        <a:rPr lang="en-GB" sz="1400" dirty="0">
                          <a:effectLst/>
                          <a:latin typeface="Times New Roman" panose="02020603050405020304" pitchFamily="18" charset="0"/>
                          <a:ea typeface="微软雅黑" panose="020B0503020204020204" pitchFamily="34" charset="-122"/>
                          <a:cs typeface="Times New Roman" panose="02020603050405020304" pitchFamily="18" charset="0"/>
                        </a:rPr>
                        <a:t>(V</a:t>
                      </a:r>
                      <a:r>
                        <a:rPr lang="en-GB" sz="1400" baseline="-25000" dirty="0">
                          <a:effectLst/>
                          <a:latin typeface="Times New Roman" panose="02020603050405020304" pitchFamily="18" charset="0"/>
                          <a:ea typeface="微软雅黑" panose="020B0503020204020204" pitchFamily="34" charset="-122"/>
                          <a:cs typeface="Times New Roman" panose="02020603050405020304" pitchFamily="18" charset="0"/>
                        </a:rPr>
                        <a:t>DD</a:t>
                      </a:r>
                      <a:r>
                        <a:rPr lang="en-GB" sz="1400" dirty="0">
                          <a:effectLst/>
                          <a:latin typeface="Times New Roman" panose="02020603050405020304" pitchFamily="18" charset="0"/>
                          <a:ea typeface="微软雅黑" panose="020B0503020204020204" pitchFamily="34" charset="-122"/>
                          <a:cs typeface="Times New Roman" panose="02020603050405020304" pitchFamily="18" charset="0"/>
                        </a:rPr>
                        <a:t>=5V)</a:t>
                      </a:r>
                      <a:endParaRPr lang="zh-CN" sz="14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1413" marR="41413" marT="0" marB="0"/>
                </a:tc>
                <a:tc>
                  <a:txBody>
                    <a:bodyPr/>
                    <a:lstStyle/>
                    <a:p>
                      <a:pPr marL="0" algn="ctr">
                        <a:spcAft>
                          <a:spcPts val="0"/>
                        </a:spcAft>
                      </a:pPr>
                      <a:r>
                        <a:rPr lang="en-GB" sz="1400">
                          <a:effectLst/>
                          <a:latin typeface="Times New Roman" panose="02020603050405020304" pitchFamily="18" charset="0"/>
                          <a:ea typeface="微软雅黑" panose="020B0503020204020204" pitchFamily="34" charset="-122"/>
                          <a:cs typeface="Times New Roman" panose="02020603050405020304" pitchFamily="18" charset="0"/>
                        </a:rPr>
                        <a:t>74LVC</a:t>
                      </a:r>
                      <a:endParaRPr lang="zh-CN" sz="1400">
                        <a:effectLst/>
                        <a:latin typeface="Times New Roman" panose="02020603050405020304" pitchFamily="18" charset="0"/>
                        <a:ea typeface="微软雅黑" panose="020B0503020204020204" pitchFamily="34" charset="-122"/>
                        <a:cs typeface="Times New Roman" panose="02020603050405020304" pitchFamily="18" charset="0"/>
                      </a:endParaRPr>
                    </a:p>
                    <a:p>
                      <a:pPr marL="0" algn="ctr">
                        <a:spcAft>
                          <a:spcPts val="0"/>
                        </a:spcAft>
                      </a:pPr>
                      <a:r>
                        <a:rPr lang="en-GB" sz="1400">
                          <a:effectLst/>
                          <a:latin typeface="Times New Roman" panose="02020603050405020304" pitchFamily="18" charset="0"/>
                          <a:ea typeface="微软雅黑" panose="020B0503020204020204" pitchFamily="34" charset="-122"/>
                          <a:cs typeface="Times New Roman" panose="02020603050405020304" pitchFamily="18" charset="0"/>
                        </a:rPr>
                        <a:t>(V</a:t>
                      </a:r>
                      <a:r>
                        <a:rPr lang="en-GB" sz="1400" baseline="-25000">
                          <a:effectLst/>
                          <a:latin typeface="Times New Roman" panose="02020603050405020304" pitchFamily="18" charset="0"/>
                          <a:ea typeface="微软雅黑" panose="020B0503020204020204" pitchFamily="34" charset="-122"/>
                          <a:cs typeface="Times New Roman" panose="02020603050405020304" pitchFamily="18" charset="0"/>
                        </a:rPr>
                        <a:t>DD</a:t>
                      </a:r>
                      <a:r>
                        <a:rPr lang="en-GB" sz="1400">
                          <a:effectLst/>
                          <a:latin typeface="Times New Roman" panose="02020603050405020304" pitchFamily="18" charset="0"/>
                          <a:ea typeface="微软雅黑" panose="020B0503020204020204" pitchFamily="34" charset="-122"/>
                          <a:cs typeface="Times New Roman" panose="02020603050405020304" pitchFamily="18" charset="0"/>
                        </a:rPr>
                        <a:t>=3.3V)</a:t>
                      </a:r>
                      <a:endParaRPr lang="zh-CN" sz="140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lnR w="12700" cap="flat" cmpd="sng" algn="ctr">
                      <a:solidFill>
                        <a:srgbClr val="FF0000"/>
                      </a:solidFill>
                      <a:prstDash val="solid"/>
                      <a:round/>
                      <a:headEnd type="none" w="med" len="med"/>
                      <a:tailEnd type="none" w="med" len="med"/>
                    </a:lnR>
                  </a:tcPr>
                </a:tc>
                <a:extLst>
                  <a:ext uri="{0D108BD9-81ED-4DB2-BD59-A6C34878D82A}">
                    <a16:rowId xmlns:a16="http://schemas.microsoft.com/office/drawing/2014/main" val="945013499"/>
                  </a:ext>
                </a:extLst>
              </a:tr>
              <a:tr h="328372">
                <a:tc>
                  <a:txBody>
                    <a:bodyPr/>
                    <a:lstStyle/>
                    <a:p>
                      <a:pPr marL="0" algn="ctr">
                        <a:spcAft>
                          <a:spcPts val="0"/>
                        </a:spcAft>
                      </a:pPr>
                      <a:r>
                        <a:rPr lang="en-GB" sz="1400" i="1" dirty="0">
                          <a:effectLst/>
                          <a:latin typeface="Times New Roman" panose="02020603050405020304" pitchFamily="18" charset="0"/>
                          <a:ea typeface="微软雅黑" panose="020B0503020204020204" pitchFamily="34" charset="-122"/>
                          <a:cs typeface="Times New Roman" panose="02020603050405020304" pitchFamily="18" charset="0"/>
                        </a:rPr>
                        <a:t>V</a:t>
                      </a:r>
                      <a:r>
                        <a:rPr lang="en-GB" sz="1400" baseline="-25000" dirty="0">
                          <a:effectLst/>
                          <a:latin typeface="Times New Roman" panose="02020603050405020304" pitchFamily="18" charset="0"/>
                          <a:ea typeface="微软雅黑" panose="020B0503020204020204" pitchFamily="34" charset="-122"/>
                          <a:cs typeface="Times New Roman" panose="02020603050405020304" pitchFamily="18" charset="0"/>
                        </a:rPr>
                        <a:t>IL(max)</a:t>
                      </a:r>
                      <a:r>
                        <a:rPr lang="en-GB" sz="1400" dirty="0">
                          <a:effectLst/>
                          <a:latin typeface="Times New Roman" panose="02020603050405020304" pitchFamily="18" charset="0"/>
                          <a:ea typeface="微软雅黑" panose="020B0503020204020204" pitchFamily="34" charset="-122"/>
                          <a:cs typeface="Times New Roman" panose="02020603050405020304" pitchFamily="18" charset="0"/>
                        </a:rPr>
                        <a:t>/V</a:t>
                      </a:r>
                      <a:endParaRPr lang="zh-CN" sz="14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rgbClr val="FF0000"/>
                      </a:solidFill>
                      <a:prstDash val="solid"/>
                      <a:round/>
                      <a:headEnd type="none" w="med" len="med"/>
                      <a:tailEnd type="none" w="med" len="med"/>
                    </a:lnL>
                  </a:tcPr>
                </a:tc>
                <a:tc>
                  <a:txBody>
                    <a:bodyPr/>
                    <a:lstStyle/>
                    <a:p>
                      <a:pPr marL="0" algn="ctr">
                        <a:spcAft>
                          <a:spcPts val="0"/>
                        </a:spcAft>
                      </a:pPr>
                      <a:r>
                        <a:rPr lang="en-GB" sz="1400" dirty="0">
                          <a:effectLst/>
                          <a:latin typeface="Times New Roman" panose="02020603050405020304" pitchFamily="18" charset="0"/>
                          <a:ea typeface="微软雅黑" panose="020B0503020204020204" pitchFamily="34" charset="-122"/>
                          <a:cs typeface="Times New Roman" panose="02020603050405020304" pitchFamily="18" charset="0"/>
                        </a:rPr>
                        <a:t>0.8</a:t>
                      </a:r>
                      <a:endParaRPr lang="zh-CN" sz="14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tc>
                <a:tc>
                  <a:txBody>
                    <a:bodyPr/>
                    <a:lstStyle/>
                    <a:p>
                      <a:pPr marL="0" algn="ctr">
                        <a:spcAft>
                          <a:spcPts val="0"/>
                        </a:spcAft>
                      </a:pPr>
                      <a:r>
                        <a:rPr lang="en-GB" sz="1400" dirty="0">
                          <a:effectLst/>
                          <a:latin typeface="Times New Roman" panose="02020603050405020304" pitchFamily="18" charset="0"/>
                          <a:ea typeface="微软雅黑" panose="020B0503020204020204" pitchFamily="34" charset="-122"/>
                          <a:cs typeface="Times New Roman" panose="02020603050405020304" pitchFamily="18" charset="0"/>
                        </a:rPr>
                        <a:t>1.5</a:t>
                      </a:r>
                      <a:endParaRPr lang="zh-CN" sz="14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1413" marR="41413" marT="0" marB="0" anchor="ctr"/>
                </a:tc>
                <a:tc>
                  <a:txBody>
                    <a:bodyPr/>
                    <a:lstStyle/>
                    <a:p>
                      <a:pPr marL="0" algn="ctr">
                        <a:spcAft>
                          <a:spcPts val="0"/>
                        </a:spcAft>
                      </a:pPr>
                      <a:r>
                        <a:rPr lang="en-GB" sz="1400">
                          <a:effectLst/>
                          <a:latin typeface="Times New Roman" panose="02020603050405020304" pitchFamily="18" charset="0"/>
                          <a:ea typeface="微软雅黑" panose="020B0503020204020204" pitchFamily="34" charset="-122"/>
                          <a:cs typeface="Times New Roman" panose="02020603050405020304" pitchFamily="18" charset="0"/>
                        </a:rPr>
                        <a:t>0.8</a:t>
                      </a:r>
                      <a:endParaRPr lang="zh-CN" sz="140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R w="12700" cap="flat" cmpd="sng" algn="ctr">
                      <a:solidFill>
                        <a:srgbClr val="FF0000"/>
                      </a:solidFill>
                      <a:prstDash val="solid"/>
                      <a:round/>
                      <a:headEnd type="none" w="med" len="med"/>
                      <a:tailEnd type="none" w="med" len="med"/>
                    </a:lnR>
                  </a:tcPr>
                </a:tc>
                <a:extLst>
                  <a:ext uri="{0D108BD9-81ED-4DB2-BD59-A6C34878D82A}">
                    <a16:rowId xmlns:a16="http://schemas.microsoft.com/office/drawing/2014/main" val="1520509225"/>
                  </a:ext>
                </a:extLst>
              </a:tr>
              <a:tr h="328372">
                <a:tc>
                  <a:txBody>
                    <a:bodyPr/>
                    <a:lstStyle/>
                    <a:p>
                      <a:pPr marL="0" algn="ctr">
                        <a:spcAft>
                          <a:spcPts val="0"/>
                        </a:spcAft>
                      </a:pPr>
                      <a:r>
                        <a:rPr lang="en-GB" sz="1400" b="1" i="1" kern="1200" dirty="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V</a:t>
                      </a:r>
                      <a:r>
                        <a:rPr lang="en-GB" sz="1400" baseline="-25000" dirty="0">
                          <a:effectLst/>
                          <a:latin typeface="Times New Roman" panose="02020603050405020304" pitchFamily="18" charset="0"/>
                          <a:ea typeface="微软雅黑" panose="020B0503020204020204" pitchFamily="34" charset="-122"/>
                          <a:cs typeface="Times New Roman" panose="02020603050405020304" pitchFamily="18" charset="0"/>
                        </a:rPr>
                        <a:t>IH(min)</a:t>
                      </a:r>
                      <a:r>
                        <a:rPr lang="en-GB" sz="1400" dirty="0">
                          <a:effectLst/>
                          <a:latin typeface="Times New Roman" panose="02020603050405020304" pitchFamily="18" charset="0"/>
                          <a:ea typeface="微软雅黑" panose="020B0503020204020204" pitchFamily="34" charset="-122"/>
                          <a:cs typeface="Times New Roman" panose="02020603050405020304" pitchFamily="18" charset="0"/>
                        </a:rPr>
                        <a:t>/V</a:t>
                      </a:r>
                      <a:endParaRPr lang="zh-CN" sz="14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rgbClr val="FF0000"/>
                      </a:solidFill>
                      <a:prstDash val="solid"/>
                      <a:round/>
                      <a:headEnd type="none" w="med" len="med"/>
                      <a:tailEnd type="none" w="med" len="med"/>
                    </a:lnL>
                  </a:tcPr>
                </a:tc>
                <a:tc>
                  <a:txBody>
                    <a:bodyPr/>
                    <a:lstStyle/>
                    <a:p>
                      <a:pPr marL="0" algn="ctr">
                        <a:spcAft>
                          <a:spcPts val="0"/>
                        </a:spcAft>
                      </a:pPr>
                      <a:r>
                        <a:rPr lang="en-GB" sz="1400" dirty="0">
                          <a:effectLst/>
                          <a:latin typeface="Times New Roman" panose="02020603050405020304" pitchFamily="18" charset="0"/>
                          <a:ea typeface="微软雅黑" panose="020B0503020204020204" pitchFamily="34" charset="-122"/>
                          <a:cs typeface="Times New Roman" panose="02020603050405020304" pitchFamily="18" charset="0"/>
                        </a:rPr>
                        <a:t>2.0</a:t>
                      </a:r>
                      <a:endParaRPr lang="zh-CN" sz="14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tc>
                <a:tc>
                  <a:txBody>
                    <a:bodyPr/>
                    <a:lstStyle/>
                    <a:p>
                      <a:pPr marL="0" algn="ctr">
                        <a:spcAft>
                          <a:spcPts val="0"/>
                        </a:spcAft>
                      </a:pPr>
                      <a:r>
                        <a:rPr lang="en-GB" sz="1400" dirty="0">
                          <a:effectLst/>
                          <a:latin typeface="Times New Roman" panose="02020603050405020304" pitchFamily="18" charset="0"/>
                          <a:ea typeface="微软雅黑" panose="020B0503020204020204" pitchFamily="34" charset="-122"/>
                          <a:cs typeface="Times New Roman" panose="02020603050405020304" pitchFamily="18" charset="0"/>
                        </a:rPr>
                        <a:t>3.5</a:t>
                      </a:r>
                      <a:endParaRPr lang="zh-CN" sz="14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1413" marR="41413" marT="0" marB="0" anchor="ctr"/>
                </a:tc>
                <a:tc>
                  <a:txBody>
                    <a:bodyPr/>
                    <a:lstStyle/>
                    <a:p>
                      <a:pPr marL="0" algn="ctr">
                        <a:spcAft>
                          <a:spcPts val="0"/>
                        </a:spcAft>
                      </a:pPr>
                      <a:r>
                        <a:rPr lang="en-GB" sz="1400">
                          <a:effectLst/>
                          <a:latin typeface="Times New Roman" panose="02020603050405020304" pitchFamily="18" charset="0"/>
                          <a:ea typeface="微软雅黑" panose="020B0503020204020204" pitchFamily="34" charset="-122"/>
                          <a:cs typeface="Times New Roman" panose="02020603050405020304" pitchFamily="18" charset="0"/>
                        </a:rPr>
                        <a:t>2.0</a:t>
                      </a:r>
                      <a:endParaRPr lang="zh-CN" sz="140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R w="12700" cap="flat" cmpd="sng" algn="ctr">
                      <a:solidFill>
                        <a:srgbClr val="FF0000"/>
                      </a:solidFill>
                      <a:prstDash val="solid"/>
                      <a:round/>
                      <a:headEnd type="none" w="med" len="med"/>
                      <a:tailEnd type="none" w="med" len="med"/>
                    </a:lnR>
                  </a:tcPr>
                </a:tc>
                <a:extLst>
                  <a:ext uri="{0D108BD9-81ED-4DB2-BD59-A6C34878D82A}">
                    <a16:rowId xmlns:a16="http://schemas.microsoft.com/office/drawing/2014/main" val="3970208737"/>
                  </a:ext>
                </a:extLst>
              </a:tr>
              <a:tr h="378891">
                <a:tc>
                  <a:txBody>
                    <a:bodyPr/>
                    <a:lstStyle/>
                    <a:p>
                      <a:pPr marL="0" algn="ctr">
                        <a:spcAft>
                          <a:spcPts val="0"/>
                        </a:spcAft>
                      </a:pPr>
                      <a:r>
                        <a:rPr lang="en-GB" sz="1400" b="1" i="1" kern="1200" dirty="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V</a:t>
                      </a:r>
                      <a:r>
                        <a:rPr lang="en-GB" sz="1400" baseline="-25000" dirty="0">
                          <a:effectLst/>
                          <a:latin typeface="Times New Roman" panose="02020603050405020304" pitchFamily="18" charset="0"/>
                          <a:ea typeface="微软雅黑" panose="020B0503020204020204" pitchFamily="34" charset="-122"/>
                          <a:cs typeface="Times New Roman" panose="02020603050405020304" pitchFamily="18" charset="0"/>
                        </a:rPr>
                        <a:t>OL(max)</a:t>
                      </a:r>
                      <a:r>
                        <a:rPr lang="en-GB" sz="1400" dirty="0">
                          <a:effectLst/>
                          <a:latin typeface="Times New Roman" panose="02020603050405020304" pitchFamily="18" charset="0"/>
                          <a:ea typeface="微软雅黑" panose="020B0503020204020204" pitchFamily="34" charset="-122"/>
                          <a:cs typeface="Times New Roman" panose="02020603050405020304" pitchFamily="18" charset="0"/>
                        </a:rPr>
                        <a:t>/V</a:t>
                      </a:r>
                      <a:endParaRPr lang="zh-CN" sz="14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rgbClr val="FF0000"/>
                      </a:solidFill>
                      <a:prstDash val="solid"/>
                      <a:round/>
                      <a:headEnd type="none" w="med" len="med"/>
                      <a:tailEnd type="none" w="med" len="med"/>
                    </a:lnL>
                  </a:tcPr>
                </a:tc>
                <a:tc>
                  <a:txBody>
                    <a:bodyPr/>
                    <a:lstStyle/>
                    <a:p>
                      <a:pPr marL="0" algn="ctr">
                        <a:spcAft>
                          <a:spcPts val="0"/>
                        </a:spcAft>
                      </a:pPr>
                      <a:r>
                        <a:rPr lang="en-GB" sz="1400" dirty="0">
                          <a:effectLst/>
                          <a:latin typeface="Times New Roman" panose="02020603050405020304" pitchFamily="18" charset="0"/>
                          <a:ea typeface="微软雅黑" panose="020B0503020204020204" pitchFamily="34" charset="-122"/>
                          <a:cs typeface="Times New Roman" panose="02020603050405020304" pitchFamily="18" charset="0"/>
                        </a:rPr>
                        <a:t>0.5</a:t>
                      </a:r>
                      <a:endParaRPr lang="zh-CN" sz="14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tc>
                <a:tc>
                  <a:txBody>
                    <a:bodyPr/>
                    <a:lstStyle/>
                    <a:p>
                      <a:pPr marL="0" algn="ctr">
                        <a:spcAft>
                          <a:spcPts val="0"/>
                        </a:spcAft>
                      </a:pPr>
                      <a:r>
                        <a:rPr lang="en-GB" sz="1400" dirty="0">
                          <a:effectLst/>
                          <a:latin typeface="Times New Roman" panose="02020603050405020304" pitchFamily="18" charset="0"/>
                          <a:ea typeface="微软雅黑" panose="020B0503020204020204" pitchFamily="34" charset="-122"/>
                          <a:cs typeface="Times New Roman" panose="02020603050405020304" pitchFamily="18" charset="0"/>
                        </a:rPr>
                        <a:t>0.1</a:t>
                      </a:r>
                      <a:endParaRPr lang="zh-CN" sz="14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1413" marR="41413" marT="0" marB="0" anchor="ctr"/>
                </a:tc>
                <a:tc>
                  <a:txBody>
                    <a:bodyPr/>
                    <a:lstStyle/>
                    <a:p>
                      <a:pPr marL="0" algn="ctr">
                        <a:spcAft>
                          <a:spcPts val="0"/>
                        </a:spcAft>
                      </a:pPr>
                      <a:r>
                        <a:rPr lang="en-GB" sz="1400">
                          <a:effectLst/>
                          <a:latin typeface="Times New Roman" panose="02020603050405020304" pitchFamily="18" charset="0"/>
                          <a:ea typeface="微软雅黑" panose="020B0503020204020204" pitchFamily="34" charset="-122"/>
                          <a:cs typeface="Times New Roman" panose="02020603050405020304" pitchFamily="18" charset="0"/>
                        </a:rPr>
                        <a:t>0.2</a:t>
                      </a:r>
                      <a:endParaRPr lang="zh-CN" sz="140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R w="12700" cap="flat" cmpd="sng" algn="ctr">
                      <a:solidFill>
                        <a:srgbClr val="FF0000"/>
                      </a:solidFill>
                      <a:prstDash val="solid"/>
                      <a:round/>
                      <a:headEnd type="none" w="med" len="med"/>
                      <a:tailEnd type="none" w="med" len="med"/>
                    </a:lnR>
                  </a:tcPr>
                </a:tc>
                <a:extLst>
                  <a:ext uri="{0D108BD9-81ED-4DB2-BD59-A6C34878D82A}">
                    <a16:rowId xmlns:a16="http://schemas.microsoft.com/office/drawing/2014/main" val="2226617528"/>
                  </a:ext>
                </a:extLst>
              </a:tr>
              <a:tr h="328372">
                <a:tc>
                  <a:txBody>
                    <a:bodyPr/>
                    <a:lstStyle/>
                    <a:p>
                      <a:pPr marL="0" algn="ctr">
                        <a:spcAft>
                          <a:spcPts val="0"/>
                        </a:spcAft>
                      </a:pPr>
                      <a:r>
                        <a:rPr lang="en-GB" sz="1400" b="1" i="1" kern="1200" dirty="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V</a:t>
                      </a:r>
                      <a:r>
                        <a:rPr lang="en-GB" sz="1400" baseline="-25000" dirty="0">
                          <a:effectLst/>
                          <a:latin typeface="Times New Roman" panose="02020603050405020304" pitchFamily="18" charset="0"/>
                          <a:ea typeface="微软雅黑" panose="020B0503020204020204" pitchFamily="34" charset="-122"/>
                          <a:cs typeface="Times New Roman" panose="02020603050405020304" pitchFamily="18" charset="0"/>
                        </a:rPr>
                        <a:t>OH(min)</a:t>
                      </a:r>
                      <a:r>
                        <a:rPr lang="en-GB" sz="1400" dirty="0">
                          <a:effectLst/>
                          <a:latin typeface="Times New Roman" panose="02020603050405020304" pitchFamily="18" charset="0"/>
                          <a:ea typeface="微软雅黑" panose="020B0503020204020204" pitchFamily="34" charset="-122"/>
                          <a:cs typeface="Times New Roman" panose="02020603050405020304" pitchFamily="18" charset="0"/>
                        </a:rPr>
                        <a:t>/V</a:t>
                      </a:r>
                      <a:endParaRPr lang="zh-CN" sz="14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rgbClr val="FF0000"/>
                      </a:solidFill>
                      <a:prstDash val="solid"/>
                      <a:round/>
                      <a:headEnd type="none" w="med" len="med"/>
                      <a:tailEnd type="none" w="med" len="med"/>
                    </a:lnL>
                  </a:tcPr>
                </a:tc>
                <a:tc>
                  <a:txBody>
                    <a:bodyPr/>
                    <a:lstStyle/>
                    <a:p>
                      <a:pPr marL="0" algn="ctr">
                        <a:spcAft>
                          <a:spcPts val="0"/>
                        </a:spcAft>
                      </a:pPr>
                      <a:r>
                        <a:rPr lang="en-GB" sz="1400" dirty="0">
                          <a:effectLst/>
                          <a:latin typeface="Times New Roman" panose="02020603050405020304" pitchFamily="18" charset="0"/>
                          <a:ea typeface="微软雅黑" panose="020B0503020204020204" pitchFamily="34" charset="-122"/>
                          <a:cs typeface="Times New Roman" panose="02020603050405020304" pitchFamily="18" charset="0"/>
                        </a:rPr>
                        <a:t>2.7</a:t>
                      </a:r>
                      <a:endParaRPr lang="zh-CN" sz="14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tc>
                <a:tc>
                  <a:txBody>
                    <a:bodyPr/>
                    <a:lstStyle/>
                    <a:p>
                      <a:pPr marL="0" algn="ctr">
                        <a:spcAft>
                          <a:spcPts val="0"/>
                        </a:spcAft>
                      </a:pPr>
                      <a:r>
                        <a:rPr lang="en-GB" sz="1400" dirty="0">
                          <a:effectLst/>
                          <a:latin typeface="Times New Roman" panose="02020603050405020304" pitchFamily="18" charset="0"/>
                          <a:ea typeface="微软雅黑" panose="020B0503020204020204" pitchFamily="34" charset="-122"/>
                          <a:cs typeface="Times New Roman" panose="02020603050405020304" pitchFamily="18" charset="0"/>
                        </a:rPr>
                        <a:t>4.9</a:t>
                      </a:r>
                      <a:endParaRPr lang="zh-CN" sz="14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1413" marR="41413" marT="0" marB="0" anchor="ctr"/>
                </a:tc>
                <a:tc>
                  <a:txBody>
                    <a:bodyPr/>
                    <a:lstStyle/>
                    <a:p>
                      <a:pPr marL="0" algn="ctr">
                        <a:spcAft>
                          <a:spcPts val="0"/>
                        </a:spcAft>
                      </a:pPr>
                      <a:r>
                        <a:rPr lang="en-GB" sz="1400" dirty="0">
                          <a:effectLst/>
                          <a:latin typeface="Times New Roman" panose="02020603050405020304" pitchFamily="18" charset="0"/>
                          <a:ea typeface="微软雅黑" panose="020B0503020204020204" pitchFamily="34" charset="-122"/>
                          <a:cs typeface="Times New Roman" panose="02020603050405020304" pitchFamily="18" charset="0"/>
                        </a:rPr>
                        <a:t>3.1</a:t>
                      </a:r>
                      <a:endParaRPr lang="zh-CN" sz="14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R w="12700" cap="flat" cmpd="sng" algn="ctr">
                      <a:solidFill>
                        <a:srgbClr val="FF0000"/>
                      </a:solidFill>
                      <a:prstDash val="solid"/>
                      <a:round/>
                      <a:headEnd type="none" w="med" len="med"/>
                      <a:tailEnd type="none" w="med" len="med"/>
                    </a:lnR>
                  </a:tcPr>
                </a:tc>
                <a:extLst>
                  <a:ext uri="{0D108BD9-81ED-4DB2-BD59-A6C34878D82A}">
                    <a16:rowId xmlns:a16="http://schemas.microsoft.com/office/drawing/2014/main" val="3607246994"/>
                  </a:ext>
                </a:extLst>
              </a:tr>
              <a:tr h="277853">
                <a:tc>
                  <a:txBody>
                    <a:bodyPr/>
                    <a:lstStyle/>
                    <a:p>
                      <a:pPr marL="0" algn="ctr">
                        <a:spcAft>
                          <a:spcPts val="0"/>
                        </a:spcAft>
                      </a:pPr>
                      <a:r>
                        <a:rPr lang="en-GB" sz="1400" b="1" i="1" kern="1200" dirty="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V</a:t>
                      </a:r>
                      <a:r>
                        <a:rPr lang="en-GB" sz="1400" baseline="-25000" dirty="0">
                          <a:effectLst/>
                          <a:latin typeface="Times New Roman" panose="02020603050405020304" pitchFamily="18" charset="0"/>
                          <a:ea typeface="微软雅黑" panose="020B0503020204020204" pitchFamily="34" charset="-122"/>
                          <a:cs typeface="Times New Roman" panose="02020603050405020304" pitchFamily="18" charset="0"/>
                        </a:rPr>
                        <a:t>NL</a:t>
                      </a:r>
                      <a:r>
                        <a:rPr lang="en-GB" sz="1400" dirty="0">
                          <a:effectLst/>
                          <a:latin typeface="Times New Roman" panose="02020603050405020304" pitchFamily="18" charset="0"/>
                          <a:ea typeface="微软雅黑" panose="020B0503020204020204" pitchFamily="34" charset="-122"/>
                          <a:cs typeface="Times New Roman" panose="02020603050405020304" pitchFamily="18" charset="0"/>
                        </a:rPr>
                        <a:t>/V</a:t>
                      </a:r>
                      <a:endParaRPr lang="zh-CN" sz="14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rgbClr val="FF0000"/>
                      </a:solidFill>
                      <a:prstDash val="solid"/>
                      <a:round/>
                      <a:headEnd type="none" w="med" len="med"/>
                      <a:tailEnd type="none" w="med" len="med"/>
                    </a:lnL>
                  </a:tcPr>
                </a:tc>
                <a:tc>
                  <a:txBody>
                    <a:bodyPr/>
                    <a:lstStyle/>
                    <a:p>
                      <a:pPr marL="0" algn="ctr">
                        <a:spcAft>
                          <a:spcPts val="0"/>
                        </a:spcAft>
                      </a:pPr>
                      <a:r>
                        <a:rPr lang="en-GB" sz="1400" dirty="0">
                          <a:effectLst/>
                          <a:latin typeface="Times New Roman" panose="02020603050405020304" pitchFamily="18" charset="0"/>
                          <a:ea typeface="微软雅黑" panose="020B0503020204020204" pitchFamily="34" charset="-122"/>
                          <a:cs typeface="Times New Roman" panose="02020603050405020304" pitchFamily="18" charset="0"/>
                        </a:rPr>
                        <a:t>0.3</a:t>
                      </a:r>
                      <a:endParaRPr lang="zh-CN" sz="14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tc>
                <a:tc>
                  <a:txBody>
                    <a:bodyPr/>
                    <a:lstStyle/>
                    <a:p>
                      <a:pPr marL="0" algn="ctr">
                        <a:spcAft>
                          <a:spcPts val="0"/>
                        </a:spcAft>
                      </a:pPr>
                      <a:r>
                        <a:rPr lang="en-GB" sz="1400" dirty="0">
                          <a:effectLst/>
                          <a:latin typeface="Times New Roman" panose="02020603050405020304" pitchFamily="18" charset="0"/>
                          <a:ea typeface="微软雅黑" panose="020B0503020204020204" pitchFamily="34" charset="-122"/>
                          <a:cs typeface="Times New Roman" panose="02020603050405020304" pitchFamily="18" charset="0"/>
                        </a:rPr>
                        <a:t>1.4</a:t>
                      </a:r>
                      <a:endParaRPr lang="zh-CN" sz="14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1413" marR="41413" marT="0" marB="0" anchor="ctr"/>
                </a:tc>
                <a:tc>
                  <a:txBody>
                    <a:bodyPr/>
                    <a:lstStyle/>
                    <a:p>
                      <a:pPr marL="0" algn="ctr">
                        <a:spcAft>
                          <a:spcPts val="0"/>
                        </a:spcAft>
                      </a:pPr>
                      <a:r>
                        <a:rPr lang="en-GB" sz="1400" dirty="0">
                          <a:effectLst/>
                          <a:latin typeface="Times New Roman" panose="02020603050405020304" pitchFamily="18" charset="0"/>
                          <a:ea typeface="微软雅黑" panose="020B0503020204020204" pitchFamily="34" charset="-122"/>
                          <a:cs typeface="Times New Roman" panose="02020603050405020304" pitchFamily="18" charset="0"/>
                        </a:rPr>
                        <a:t>0.6</a:t>
                      </a:r>
                      <a:endParaRPr lang="zh-CN" sz="14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R w="12700" cap="flat" cmpd="sng" algn="ctr">
                      <a:solidFill>
                        <a:srgbClr val="FF0000"/>
                      </a:solidFill>
                      <a:prstDash val="solid"/>
                      <a:round/>
                      <a:headEnd type="none" w="med" len="med"/>
                      <a:tailEnd type="none" w="med" len="med"/>
                    </a:lnR>
                  </a:tcPr>
                </a:tc>
                <a:extLst>
                  <a:ext uri="{0D108BD9-81ED-4DB2-BD59-A6C34878D82A}">
                    <a16:rowId xmlns:a16="http://schemas.microsoft.com/office/drawing/2014/main" val="2122658677"/>
                  </a:ext>
                </a:extLst>
              </a:tr>
              <a:tr h="277853">
                <a:tc>
                  <a:txBody>
                    <a:bodyPr/>
                    <a:lstStyle/>
                    <a:p>
                      <a:pPr marL="0" algn="ctr">
                        <a:spcAft>
                          <a:spcPts val="0"/>
                        </a:spcAft>
                      </a:pPr>
                      <a:r>
                        <a:rPr lang="en-GB" sz="1400" b="1" i="1" kern="1200" dirty="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V</a:t>
                      </a:r>
                      <a:r>
                        <a:rPr lang="en-GB" sz="1400" baseline="-25000" dirty="0">
                          <a:effectLst/>
                          <a:latin typeface="Times New Roman" panose="02020603050405020304" pitchFamily="18" charset="0"/>
                          <a:ea typeface="微软雅黑" panose="020B0503020204020204" pitchFamily="34" charset="-122"/>
                          <a:cs typeface="Times New Roman" panose="02020603050405020304" pitchFamily="18" charset="0"/>
                        </a:rPr>
                        <a:t>NH</a:t>
                      </a:r>
                      <a:r>
                        <a:rPr lang="en-GB" sz="1400" dirty="0">
                          <a:effectLst/>
                          <a:latin typeface="Times New Roman" panose="02020603050405020304" pitchFamily="18" charset="0"/>
                          <a:ea typeface="微软雅黑" panose="020B0503020204020204" pitchFamily="34" charset="-122"/>
                          <a:cs typeface="Times New Roman" panose="02020603050405020304" pitchFamily="18" charset="0"/>
                        </a:rPr>
                        <a:t>/V</a:t>
                      </a:r>
                      <a:endParaRPr lang="zh-CN" sz="14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rgbClr val="FF0000"/>
                      </a:solidFill>
                      <a:prstDash val="solid"/>
                      <a:round/>
                      <a:headEnd type="none" w="med" len="med"/>
                      <a:tailEnd type="none" w="med" len="med"/>
                    </a:lnL>
                    <a:lnB w="12700" cap="flat" cmpd="sng" algn="ctr">
                      <a:solidFill>
                        <a:srgbClr val="FF0000"/>
                      </a:solidFill>
                      <a:prstDash val="solid"/>
                      <a:round/>
                      <a:headEnd type="none" w="med" len="med"/>
                      <a:tailEnd type="none" w="med" len="med"/>
                    </a:lnB>
                  </a:tcPr>
                </a:tc>
                <a:tc>
                  <a:txBody>
                    <a:bodyPr/>
                    <a:lstStyle/>
                    <a:p>
                      <a:pPr marL="0" algn="ctr">
                        <a:spcAft>
                          <a:spcPts val="0"/>
                        </a:spcAft>
                      </a:pPr>
                      <a:r>
                        <a:rPr lang="en-GB" sz="1400" dirty="0">
                          <a:effectLst/>
                          <a:latin typeface="Times New Roman" panose="02020603050405020304" pitchFamily="18" charset="0"/>
                          <a:ea typeface="微软雅黑" panose="020B0503020204020204" pitchFamily="34" charset="-122"/>
                          <a:cs typeface="Times New Roman" panose="02020603050405020304" pitchFamily="18" charset="0"/>
                        </a:rPr>
                        <a:t>0.7</a:t>
                      </a:r>
                      <a:endParaRPr lang="zh-CN" sz="14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B w="12700" cap="flat" cmpd="sng" algn="ctr">
                      <a:solidFill>
                        <a:srgbClr val="FF0000"/>
                      </a:solidFill>
                      <a:prstDash val="solid"/>
                      <a:round/>
                      <a:headEnd type="none" w="med" len="med"/>
                      <a:tailEnd type="none" w="med" len="med"/>
                    </a:lnB>
                  </a:tcPr>
                </a:tc>
                <a:tc>
                  <a:txBody>
                    <a:bodyPr/>
                    <a:lstStyle/>
                    <a:p>
                      <a:pPr marL="0" algn="ctr">
                        <a:spcAft>
                          <a:spcPts val="0"/>
                        </a:spcAft>
                      </a:pPr>
                      <a:r>
                        <a:rPr lang="en-GB" sz="1400" dirty="0">
                          <a:effectLst/>
                          <a:latin typeface="Times New Roman" panose="02020603050405020304" pitchFamily="18" charset="0"/>
                          <a:ea typeface="微软雅黑" panose="020B0503020204020204" pitchFamily="34" charset="-122"/>
                          <a:cs typeface="Times New Roman" panose="02020603050405020304" pitchFamily="18" charset="0"/>
                        </a:rPr>
                        <a:t>1.4</a:t>
                      </a:r>
                      <a:endParaRPr lang="zh-CN" sz="14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1413" marR="41413" marT="0" marB="0" anchor="ctr">
                    <a:lnB w="12700" cap="flat" cmpd="sng" algn="ctr">
                      <a:solidFill>
                        <a:srgbClr val="FF0000"/>
                      </a:solidFill>
                      <a:prstDash val="solid"/>
                      <a:round/>
                      <a:headEnd type="none" w="med" len="med"/>
                      <a:tailEnd type="none" w="med" len="med"/>
                    </a:lnB>
                  </a:tcPr>
                </a:tc>
                <a:tc>
                  <a:txBody>
                    <a:bodyPr/>
                    <a:lstStyle/>
                    <a:p>
                      <a:pPr marL="0" algn="ctr">
                        <a:spcAft>
                          <a:spcPts val="0"/>
                        </a:spcAft>
                      </a:pPr>
                      <a:r>
                        <a:rPr lang="en-GB" sz="1400" dirty="0">
                          <a:effectLst/>
                          <a:latin typeface="Times New Roman" panose="02020603050405020304" pitchFamily="18" charset="0"/>
                          <a:ea typeface="微软雅黑" panose="020B0503020204020204" pitchFamily="34" charset="-122"/>
                          <a:cs typeface="Times New Roman" panose="02020603050405020304" pitchFamily="18" charset="0"/>
                        </a:rPr>
                        <a:t>1.1</a:t>
                      </a:r>
                      <a:endParaRPr lang="zh-CN" sz="14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1413" marR="41413" marT="0" marB="0" anchor="ctr">
                    <a:lnR w="12700" cap="flat" cmpd="sng" algn="ctr">
                      <a:solidFill>
                        <a:srgbClr val="FF0000"/>
                      </a:solidFill>
                      <a:prstDash val="solid"/>
                      <a:round/>
                      <a:headEnd type="none" w="med" len="med"/>
                      <a:tailEnd type="none" w="med" len="med"/>
                    </a:lnR>
                    <a:lnB w="12700" cap="flat" cmpd="sng" algn="ctr">
                      <a:solidFill>
                        <a:srgbClr val="FF0000"/>
                      </a:solidFill>
                      <a:prstDash val="solid"/>
                      <a:round/>
                      <a:headEnd type="none" w="med" len="med"/>
                      <a:tailEnd type="none" w="med" len="med"/>
                    </a:lnB>
                  </a:tcPr>
                </a:tc>
                <a:extLst>
                  <a:ext uri="{0D108BD9-81ED-4DB2-BD59-A6C34878D82A}">
                    <a16:rowId xmlns:a16="http://schemas.microsoft.com/office/drawing/2014/main" val="3042530866"/>
                  </a:ext>
                </a:extLst>
              </a:tr>
            </a:tbl>
          </a:graphicData>
        </a:graphic>
      </p:graphicFrame>
      <p:graphicFrame>
        <p:nvGraphicFramePr>
          <p:cNvPr id="16" name="Group 541">
            <a:extLst>
              <a:ext uri="{FF2B5EF4-FFF2-40B4-BE49-F238E27FC236}">
                <a16:creationId xmlns:a16="http://schemas.microsoft.com/office/drawing/2014/main" id="{4F17DA77-9101-41F9-B291-131820E1814A}"/>
              </a:ext>
            </a:extLst>
          </p:cNvPr>
          <p:cNvGraphicFramePr>
            <a:graphicFrameLocks noGrp="1"/>
          </p:cNvGraphicFramePr>
          <p:nvPr>
            <p:extLst>
              <p:ext uri="{D42A27DB-BD31-4B8C-83A1-F6EECF244321}">
                <p14:modId xmlns:p14="http://schemas.microsoft.com/office/powerpoint/2010/main" val="1463934368"/>
              </p:ext>
            </p:extLst>
          </p:nvPr>
        </p:nvGraphicFramePr>
        <p:xfrm>
          <a:off x="4960620" y="3706529"/>
          <a:ext cx="3040380" cy="1763243"/>
        </p:xfrm>
        <a:graphic>
          <a:graphicData uri="http://schemas.openxmlformats.org/drawingml/2006/table">
            <a:tbl>
              <a:tblPr/>
              <a:tblGrid>
                <a:gridCol w="3040380">
                  <a:extLst>
                    <a:ext uri="{9D8B030D-6E8A-4147-A177-3AD203B41FA5}">
                      <a16:colId xmlns:a16="http://schemas.microsoft.com/office/drawing/2014/main" val="20000"/>
                    </a:ext>
                  </a:extLst>
                </a:gridCol>
              </a:tblGrid>
              <a:tr h="39303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400" b="0" i="0" u="none" strike="noStrike" cap="none" normalizeH="0" baseline="0" dirty="0">
                          <a:ln>
                            <a:noFill/>
                          </a:ln>
                          <a:solidFill>
                            <a:srgbClr val="000000"/>
                          </a:solidFill>
                          <a:effectLst/>
                          <a:latin typeface="方正粗黑宋简体" pitchFamily="2" charset="-122"/>
                          <a:ea typeface="方正粗黑宋简体" pitchFamily="2" charset="-122"/>
                        </a:rPr>
                        <a:t>同系列输入、输出电平关系</a:t>
                      </a:r>
                      <a:endParaRPr kumimoji="0" lang="en-US" altLang="zh-CN" sz="14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66"/>
                    </a:solidFill>
                  </a:tcPr>
                </a:tc>
                <a:extLst>
                  <a:ext uri="{0D108BD9-81ED-4DB2-BD59-A6C34878D82A}">
                    <a16:rowId xmlns:a16="http://schemas.microsoft.com/office/drawing/2014/main" val="10000"/>
                  </a:ext>
                </a:extLst>
              </a:tr>
              <a:tr h="1370213">
                <a:tc>
                  <a:txBody>
                    <a:bodyPr/>
                    <a:lstStyle/>
                    <a:p>
                      <a:pPr marL="0" marR="0" lvl="0" indent="0" algn="ctr" defTabSz="914400" rtl="0" eaLnBrk="1" fontAlgn="base" latinLnBrk="0" hangingPunct="1">
                        <a:lnSpc>
                          <a:spcPct val="150000"/>
                        </a:lnSpc>
                        <a:spcBef>
                          <a:spcPts val="0"/>
                        </a:spcBef>
                        <a:spcAft>
                          <a:spcPct val="0"/>
                        </a:spcAft>
                        <a:buClr>
                          <a:schemeClr val="tx1"/>
                        </a:buClr>
                        <a:buSzTx/>
                        <a:buFontTx/>
                        <a:buNone/>
                        <a:tabLst/>
                        <a:defRPr/>
                      </a:pPr>
                      <a:r>
                        <a:rPr lang="en-US" altLang="zh-CN" sz="2000" i="1" dirty="0">
                          <a:effectLst/>
                          <a:latin typeface="方正粗黑宋简体" panose="02000000000000000000" pitchFamily="2" charset="-122"/>
                          <a:ea typeface="方正粗黑宋简体" panose="02000000000000000000" pitchFamily="2" charset="-122"/>
                        </a:rPr>
                        <a:t>V</a:t>
                      </a:r>
                      <a:r>
                        <a:rPr lang="en-US" altLang="zh-CN" sz="2000" baseline="-25000" dirty="0">
                          <a:effectLst/>
                          <a:latin typeface="方正粗黑宋简体" panose="02000000000000000000" pitchFamily="2" charset="-122"/>
                          <a:ea typeface="方正粗黑宋简体" panose="02000000000000000000" pitchFamily="2" charset="-122"/>
                        </a:rPr>
                        <a:t>OL(max) </a:t>
                      </a:r>
                      <a:r>
                        <a:rPr lang="en-US" altLang="zh-CN" sz="2000" baseline="0" dirty="0">
                          <a:effectLst/>
                          <a:latin typeface="方正粗黑宋简体" panose="02000000000000000000" pitchFamily="2" charset="-122"/>
                          <a:ea typeface="方正粗黑宋简体" panose="02000000000000000000" pitchFamily="2" charset="-122"/>
                        </a:rPr>
                        <a:t>&lt; </a:t>
                      </a:r>
                      <a:r>
                        <a:rPr lang="en-US" altLang="zh-CN" sz="2000" i="1" dirty="0">
                          <a:effectLst/>
                          <a:latin typeface="方正粗黑宋简体" panose="02000000000000000000" pitchFamily="2" charset="-122"/>
                          <a:ea typeface="方正粗黑宋简体" panose="02000000000000000000" pitchFamily="2" charset="-122"/>
                        </a:rPr>
                        <a:t>V</a:t>
                      </a:r>
                      <a:r>
                        <a:rPr lang="en-US" altLang="zh-CN" sz="2000" baseline="-25000" dirty="0">
                          <a:effectLst/>
                          <a:latin typeface="方正粗黑宋简体" panose="02000000000000000000" pitchFamily="2" charset="-122"/>
                          <a:ea typeface="方正粗黑宋简体" panose="02000000000000000000" pitchFamily="2" charset="-122"/>
                        </a:rPr>
                        <a:t>IL(max)</a:t>
                      </a:r>
                      <a:endParaRPr lang="en-US" altLang="zh-CN" sz="2000" dirty="0">
                        <a:effectLst/>
                        <a:latin typeface="方正粗黑宋简体" panose="02000000000000000000" pitchFamily="2" charset="-122"/>
                        <a:ea typeface="方正粗黑宋简体" panose="02000000000000000000" pitchFamily="2" charset="-122"/>
                        <a:cs typeface="Times New Roman" panose="02020603050405020304" pitchFamily="18" charset="0"/>
                      </a:endParaRPr>
                    </a:p>
                    <a:p>
                      <a:pPr marL="0" marR="0" lvl="0" indent="0" algn="ctr" defTabSz="914400" rtl="0" eaLnBrk="1" fontAlgn="base" latinLnBrk="0" hangingPunct="1">
                        <a:lnSpc>
                          <a:spcPct val="150000"/>
                        </a:lnSpc>
                        <a:spcBef>
                          <a:spcPts val="0"/>
                        </a:spcBef>
                        <a:spcAft>
                          <a:spcPct val="0"/>
                        </a:spcAft>
                        <a:buClr>
                          <a:schemeClr val="tx1"/>
                        </a:buClr>
                        <a:buSzTx/>
                        <a:buFontTx/>
                        <a:buNone/>
                        <a:tabLst/>
                        <a:defRPr/>
                      </a:pPr>
                      <a:r>
                        <a:rPr lang="en-US" altLang="zh-CN" sz="2000" i="1" dirty="0">
                          <a:effectLst/>
                          <a:latin typeface="方正粗黑宋简体" panose="02000000000000000000" pitchFamily="2" charset="-122"/>
                          <a:ea typeface="方正粗黑宋简体" panose="02000000000000000000" pitchFamily="2" charset="-122"/>
                        </a:rPr>
                        <a:t>V</a:t>
                      </a:r>
                      <a:r>
                        <a:rPr lang="en-US" altLang="zh-CN" sz="2000" baseline="-25000" dirty="0">
                          <a:effectLst/>
                          <a:latin typeface="方正粗黑宋简体" panose="02000000000000000000" pitchFamily="2" charset="-122"/>
                          <a:ea typeface="方正粗黑宋简体" panose="02000000000000000000" pitchFamily="2" charset="-122"/>
                        </a:rPr>
                        <a:t>OH(min)  </a:t>
                      </a:r>
                      <a:r>
                        <a:rPr lang="en-US" altLang="zh-CN" sz="2000" baseline="0" dirty="0">
                          <a:effectLst/>
                          <a:latin typeface="方正粗黑宋简体" panose="02000000000000000000" pitchFamily="2" charset="-122"/>
                          <a:ea typeface="方正粗黑宋简体" panose="02000000000000000000" pitchFamily="2" charset="-122"/>
                        </a:rPr>
                        <a:t>&gt; </a:t>
                      </a:r>
                      <a:r>
                        <a:rPr lang="en-US" altLang="zh-CN" sz="2000" i="1" dirty="0">
                          <a:effectLst/>
                          <a:latin typeface="方正粗黑宋简体" panose="02000000000000000000" pitchFamily="2" charset="-122"/>
                          <a:ea typeface="方正粗黑宋简体" panose="02000000000000000000" pitchFamily="2" charset="-122"/>
                        </a:rPr>
                        <a:t>V</a:t>
                      </a:r>
                      <a:r>
                        <a:rPr lang="en-US" altLang="zh-CN" sz="2000" baseline="-25000" dirty="0">
                          <a:effectLst/>
                          <a:latin typeface="方正粗黑宋简体" panose="02000000000000000000" pitchFamily="2" charset="-122"/>
                          <a:ea typeface="方正粗黑宋简体" panose="02000000000000000000" pitchFamily="2" charset="-122"/>
                        </a:rPr>
                        <a:t>IH(min)</a:t>
                      </a:r>
                      <a:endParaRPr lang="en-US" altLang="zh-CN" sz="2000" dirty="0">
                        <a:effectLst/>
                        <a:latin typeface="方正粗黑宋简体" panose="02000000000000000000" pitchFamily="2" charset="-122"/>
                        <a:ea typeface="方正粗黑宋简体" panose="02000000000000000000"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522368610"/>
      </p:ext>
    </p:extLst>
  </p:cSld>
  <p:clrMapOvr>
    <a:masterClrMapping/>
  </p:clrMapOvr>
  <p:transition spd="med">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lide(fromBottom)">
                                      <p:cBhvr>
                                        <p:cTn id="7" dur="1000"/>
                                        <p:tgtEl>
                                          <p:spTgt spid="7"/>
                                        </p:tgtEl>
                                      </p:cBhvr>
                                    </p:animEffect>
                                  </p:childTnLst>
                                </p:cTn>
                              </p:par>
                            </p:childTnLst>
                          </p:cTn>
                        </p:par>
                        <p:par>
                          <p:cTn id="8" fill="hold">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slide(fromBottom)">
                                      <p:cBhvr>
                                        <p:cTn id="11" dur="1000"/>
                                        <p:tgtEl>
                                          <p:spTgt spid="12"/>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4"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slide(fromBottom)">
                                      <p:cBhvr>
                                        <p:cTn id="16" dur="10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4"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slide(fromBottom)">
                                      <p:cBhvr>
                                        <p:cTn id="21" dur="1000"/>
                                        <p:tgtEl>
                                          <p:spTgt spid="15"/>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slide(fromBottom)">
                                      <p:cBhvr>
                                        <p:cTn id="26"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a:extLst>
              <a:ext uri="{FF2B5EF4-FFF2-40B4-BE49-F238E27FC236}">
                <a16:creationId xmlns:a16="http://schemas.microsoft.com/office/drawing/2014/main" id="{B5334014-E7C3-4F37-A27B-79420AE379DF}"/>
              </a:ext>
            </a:extLst>
          </p:cNvPr>
          <p:cNvGrpSpPr/>
          <p:nvPr/>
        </p:nvGrpSpPr>
        <p:grpSpPr>
          <a:xfrm>
            <a:off x="5794546" y="973444"/>
            <a:ext cx="3014174" cy="4017656"/>
            <a:chOff x="5794546" y="973444"/>
            <a:chExt cx="3014174" cy="4017656"/>
          </a:xfrm>
        </p:grpSpPr>
        <p:graphicFrame>
          <p:nvGraphicFramePr>
            <p:cNvPr id="4" name="对象 3">
              <a:extLst>
                <a:ext uri="{FF2B5EF4-FFF2-40B4-BE49-F238E27FC236}">
                  <a16:creationId xmlns:a16="http://schemas.microsoft.com/office/drawing/2014/main" id="{98C551A1-E32B-4265-8DC2-A58701026D9D}"/>
                </a:ext>
              </a:extLst>
            </p:cNvPr>
            <p:cNvGraphicFramePr>
              <a:graphicFrameLocks noChangeAspect="1"/>
            </p:cNvGraphicFramePr>
            <p:nvPr>
              <p:extLst>
                <p:ext uri="{D42A27DB-BD31-4B8C-83A1-F6EECF244321}">
                  <p14:modId xmlns:p14="http://schemas.microsoft.com/office/powerpoint/2010/main" val="2669589562"/>
                </p:ext>
              </p:extLst>
            </p:nvPr>
          </p:nvGraphicFramePr>
          <p:xfrm>
            <a:off x="5794546" y="1032272"/>
            <a:ext cx="3014174" cy="3958828"/>
          </p:xfrm>
          <a:graphic>
            <a:graphicData uri="http://schemas.openxmlformats.org/presentationml/2006/ole">
              <mc:AlternateContent xmlns:mc="http://schemas.openxmlformats.org/markup-compatibility/2006">
                <mc:Choice xmlns:v="urn:schemas-microsoft-com:vml" Requires="v">
                  <p:oleObj spid="_x0000_s66586" name="Visio" r:id="rId4" imgW="1291635" imgH="1595381" progId="Visio.Drawing.11">
                    <p:embed/>
                  </p:oleObj>
                </mc:Choice>
                <mc:Fallback>
                  <p:oleObj name="Visio" r:id="rId4" imgW="1291635" imgH="1595381" progId="Visio.Drawing.11">
                    <p:embed/>
                    <p:pic>
                      <p:nvPicPr>
                        <p:cNvPr id="0" name="Picture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94546" y="1032272"/>
                          <a:ext cx="3014174" cy="39588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 name="组合 4">
              <a:extLst>
                <a:ext uri="{FF2B5EF4-FFF2-40B4-BE49-F238E27FC236}">
                  <a16:creationId xmlns:a16="http://schemas.microsoft.com/office/drawing/2014/main" id="{1FEF20AA-7FFC-4A4F-A481-699F9D02D582}"/>
                </a:ext>
              </a:extLst>
            </p:cNvPr>
            <p:cNvGrpSpPr/>
            <p:nvPr/>
          </p:nvGrpSpPr>
          <p:grpSpPr>
            <a:xfrm>
              <a:off x="6892541" y="973444"/>
              <a:ext cx="543739" cy="574477"/>
              <a:chOff x="6176261" y="526223"/>
              <a:chExt cx="543739" cy="574477"/>
            </a:xfrm>
          </p:grpSpPr>
          <p:sp>
            <p:nvSpPr>
              <p:cNvPr id="6" name="闪电形 5">
                <a:extLst>
                  <a:ext uri="{FF2B5EF4-FFF2-40B4-BE49-F238E27FC236}">
                    <a16:creationId xmlns:a16="http://schemas.microsoft.com/office/drawing/2014/main" id="{F40D7CC7-8919-4C25-BDD7-D016B1730D37}"/>
                  </a:ext>
                </a:extLst>
              </p:cNvPr>
              <p:cNvSpPr/>
              <p:nvPr/>
            </p:nvSpPr>
            <p:spPr>
              <a:xfrm>
                <a:off x="6377100" y="834000"/>
                <a:ext cx="342900" cy="266700"/>
              </a:xfrm>
              <a:prstGeom prst="lightningBol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TextBox 70">
                <a:extLst>
                  <a:ext uri="{FF2B5EF4-FFF2-40B4-BE49-F238E27FC236}">
                    <a16:creationId xmlns:a16="http://schemas.microsoft.com/office/drawing/2014/main" id="{EDDFFD4C-E41E-428B-8982-335448DC64B3}"/>
                  </a:ext>
                </a:extLst>
              </p:cNvPr>
              <p:cNvSpPr txBox="1"/>
              <p:nvPr/>
            </p:nvSpPr>
            <p:spPr>
              <a:xfrm>
                <a:off x="6176261" y="526223"/>
                <a:ext cx="543739" cy="307777"/>
              </a:xfrm>
              <a:prstGeom prst="rect">
                <a:avLst/>
              </a:prstGeom>
              <a:noFill/>
            </p:spPr>
            <p:txBody>
              <a:bodyPr wrap="none" rtlCol="0">
                <a:spAutoFit/>
              </a:bodyPr>
              <a:lstStyle/>
              <a:p>
                <a:r>
                  <a:rPr lang="zh-CN" altLang="en-US" sz="1400" dirty="0">
                    <a:solidFill>
                      <a:srgbClr val="6600FF"/>
                    </a:solidFill>
                    <a:latin typeface="方正粗黑宋简体" pitchFamily="2" charset="-122"/>
                    <a:ea typeface="方正粗黑宋简体" pitchFamily="2" charset="-122"/>
                  </a:rPr>
                  <a:t>噪声</a:t>
                </a:r>
              </a:p>
            </p:txBody>
          </p:sp>
        </p:grpSp>
      </p:grpSp>
      <p:grpSp>
        <p:nvGrpSpPr>
          <p:cNvPr id="8" name="组合 7">
            <a:extLst>
              <a:ext uri="{FF2B5EF4-FFF2-40B4-BE49-F238E27FC236}">
                <a16:creationId xmlns:a16="http://schemas.microsoft.com/office/drawing/2014/main" id="{9ACB4731-2B1D-4D81-9144-7ED39DB8EF9C}"/>
              </a:ext>
            </a:extLst>
          </p:cNvPr>
          <p:cNvGrpSpPr/>
          <p:nvPr/>
        </p:nvGrpSpPr>
        <p:grpSpPr>
          <a:xfrm>
            <a:off x="392432" y="780143"/>
            <a:ext cx="4758688" cy="411055"/>
            <a:chOff x="392432" y="780143"/>
            <a:chExt cx="4758688" cy="411055"/>
          </a:xfrm>
        </p:grpSpPr>
        <p:sp>
          <p:nvSpPr>
            <p:cNvPr id="9" name="矩形 8">
              <a:extLst>
                <a:ext uri="{FF2B5EF4-FFF2-40B4-BE49-F238E27FC236}">
                  <a16:creationId xmlns:a16="http://schemas.microsoft.com/office/drawing/2014/main" id="{2A06FF35-4BF2-43C0-B608-9452A3124517}"/>
                </a:ext>
              </a:extLst>
            </p:cNvPr>
            <p:cNvSpPr/>
            <p:nvPr/>
          </p:nvSpPr>
          <p:spPr>
            <a:xfrm>
              <a:off x="754216" y="805934"/>
              <a:ext cx="4396904" cy="369332"/>
            </a:xfrm>
            <a:prstGeom prst="rect">
              <a:avLst/>
            </a:prstGeom>
          </p:spPr>
          <p:txBody>
            <a:bodyPr wrap="square">
              <a:spAutoFit/>
            </a:bodyPr>
            <a:lstStyle/>
            <a:p>
              <a:r>
                <a:rPr lang="en-US" altLang="zh-CN" dirty="0">
                  <a:solidFill>
                    <a:srgbClr val="002060"/>
                  </a:solidFill>
                  <a:latin typeface="方正粗黑宋简体" pitchFamily="2" charset="-122"/>
                  <a:ea typeface="方正粗黑宋简体" pitchFamily="2" charset="-122"/>
                </a:rPr>
                <a:t>2</a:t>
              </a:r>
              <a:r>
                <a:rPr lang="zh-CN" altLang="en-US" dirty="0">
                  <a:solidFill>
                    <a:srgbClr val="002060"/>
                  </a:solidFill>
                  <a:latin typeface="方正粗黑宋简体" pitchFamily="2" charset="-122"/>
                  <a:ea typeface="方正粗黑宋简体" pitchFamily="2" charset="-122"/>
                </a:rPr>
                <a:t>、</a:t>
              </a:r>
              <a:r>
                <a:rPr lang="x-none" altLang="zh-CN" dirty="0">
                  <a:solidFill>
                    <a:srgbClr val="002060"/>
                  </a:solidFill>
                  <a:latin typeface="方正粗黑宋简体" pitchFamily="2" charset="-122"/>
                  <a:ea typeface="方正粗黑宋简体" pitchFamily="2" charset="-122"/>
                </a:rPr>
                <a:t>逻辑门电路的一般特性及参数</a:t>
              </a:r>
              <a:endParaRPr lang="zh-CN" altLang="en-US" dirty="0">
                <a:solidFill>
                  <a:srgbClr val="002060"/>
                </a:solidFill>
                <a:latin typeface="方正粗黑宋简体" pitchFamily="2" charset="-122"/>
                <a:ea typeface="方正粗黑宋简体" pitchFamily="2" charset="-122"/>
              </a:endParaRPr>
            </a:p>
          </p:txBody>
        </p:sp>
        <p:pic>
          <p:nvPicPr>
            <p:cNvPr id="10" name="Picture 3">
              <a:extLst>
                <a:ext uri="{FF2B5EF4-FFF2-40B4-BE49-F238E27FC236}">
                  <a16:creationId xmlns:a16="http://schemas.microsoft.com/office/drawing/2014/main" id="{E5254914-A152-44B7-93D1-1DE8E5491167}"/>
                </a:ext>
              </a:extLst>
            </p:cNvPr>
            <p:cNvPicPr>
              <a:picLocks noChangeAspect="1" noChangeArrowheads="1"/>
            </p:cNvPicPr>
            <p:nvPr/>
          </p:nvPicPr>
          <p:blipFill>
            <a:blip r:embed="rId6" cstate="print"/>
            <a:srcRect/>
            <a:stretch>
              <a:fillRect/>
            </a:stretch>
          </p:blipFill>
          <p:spPr bwMode="auto">
            <a:xfrm flipH="1">
              <a:off x="392432" y="780143"/>
              <a:ext cx="342900" cy="411055"/>
            </a:xfrm>
            <a:prstGeom prst="rect">
              <a:avLst/>
            </a:prstGeom>
            <a:noFill/>
            <a:ln w="9525">
              <a:noFill/>
              <a:miter lim="800000"/>
              <a:headEnd/>
              <a:tailEnd/>
            </a:ln>
          </p:spPr>
        </p:pic>
      </p:grpSp>
      <p:grpSp>
        <p:nvGrpSpPr>
          <p:cNvPr id="11" name="组合 10">
            <a:extLst>
              <a:ext uri="{FF2B5EF4-FFF2-40B4-BE49-F238E27FC236}">
                <a16:creationId xmlns:a16="http://schemas.microsoft.com/office/drawing/2014/main" id="{308A506B-FB0D-433C-8220-FFC5579DAD28}"/>
              </a:ext>
            </a:extLst>
          </p:cNvPr>
          <p:cNvGrpSpPr/>
          <p:nvPr/>
        </p:nvGrpSpPr>
        <p:grpSpPr>
          <a:xfrm>
            <a:off x="407747" y="1332775"/>
            <a:ext cx="3458845" cy="373579"/>
            <a:chOff x="307975" y="1517134"/>
            <a:chExt cx="3458845" cy="373579"/>
          </a:xfrm>
        </p:grpSpPr>
        <p:grpSp>
          <p:nvGrpSpPr>
            <p:cNvPr id="12" name="组合 11">
              <a:extLst>
                <a:ext uri="{FF2B5EF4-FFF2-40B4-BE49-F238E27FC236}">
                  <a16:creationId xmlns:a16="http://schemas.microsoft.com/office/drawing/2014/main" id="{0023EE04-2FE8-4A75-9CC4-FFFDD7280262}"/>
                </a:ext>
              </a:extLst>
            </p:cNvPr>
            <p:cNvGrpSpPr/>
            <p:nvPr/>
          </p:nvGrpSpPr>
          <p:grpSpPr>
            <a:xfrm>
              <a:off x="307975" y="1519116"/>
              <a:ext cx="568325" cy="371597"/>
              <a:chOff x="307975" y="1519116"/>
              <a:chExt cx="568325" cy="371597"/>
            </a:xfrm>
          </p:grpSpPr>
          <p:pic>
            <p:nvPicPr>
              <p:cNvPr id="14" name="Picture 4">
                <a:extLst>
                  <a:ext uri="{FF2B5EF4-FFF2-40B4-BE49-F238E27FC236}">
                    <a16:creationId xmlns:a16="http://schemas.microsoft.com/office/drawing/2014/main" id="{AB00E572-EDBF-40D4-982C-5E605D017740}"/>
                  </a:ext>
                </a:extLst>
              </p:cNvPr>
              <p:cNvPicPr>
                <a:picLocks noChangeAspect="1" noChangeArrowheads="1"/>
              </p:cNvPicPr>
              <p:nvPr/>
            </p:nvPicPr>
            <p:blipFill>
              <a:blip r:embed="rId7" cstate="print"/>
              <a:srcRect/>
              <a:stretch>
                <a:fillRect/>
              </a:stretch>
            </p:blipFill>
            <p:spPr bwMode="auto">
              <a:xfrm flipH="1">
                <a:off x="307975" y="1519116"/>
                <a:ext cx="568325" cy="371597"/>
              </a:xfrm>
              <a:prstGeom prst="rect">
                <a:avLst/>
              </a:prstGeom>
              <a:noFill/>
              <a:ln w="9525">
                <a:noFill/>
                <a:miter lim="800000"/>
                <a:headEnd/>
                <a:tailEnd/>
              </a:ln>
              <a:effectLst/>
            </p:spPr>
          </p:pic>
          <p:sp>
            <p:nvSpPr>
              <p:cNvPr id="15" name="TextBox 25">
                <a:extLst>
                  <a:ext uri="{FF2B5EF4-FFF2-40B4-BE49-F238E27FC236}">
                    <a16:creationId xmlns:a16="http://schemas.microsoft.com/office/drawing/2014/main" id="{F4BFB4FB-E0BD-45CD-8C68-184B93893A1E}"/>
                  </a:ext>
                </a:extLst>
              </p:cNvPr>
              <p:cNvSpPr txBox="1"/>
              <p:nvPr/>
            </p:nvSpPr>
            <p:spPr>
              <a:xfrm flipH="1">
                <a:off x="443415" y="1555750"/>
                <a:ext cx="137858" cy="276999"/>
              </a:xfrm>
              <a:prstGeom prst="rect">
                <a:avLst/>
              </a:prstGeom>
              <a:noFill/>
            </p:spPr>
            <p:txBody>
              <a:bodyPr wrap="none" lIns="0" tIns="0" rIns="0" bIns="0" rtlCol="0">
                <a:spAutoFit/>
              </a:bodyPr>
              <a:lstStyle/>
              <a:p>
                <a:r>
                  <a:rPr lang="en-US" altLang="zh-CN" b="1" dirty="0">
                    <a:solidFill>
                      <a:srgbClr val="262626"/>
                    </a:solidFill>
                    <a:latin typeface="Segoe UI Black" pitchFamily="34" charset="0"/>
                    <a:ea typeface="Segoe UI Black" pitchFamily="34" charset="0"/>
                    <a:cs typeface="Times New Roman" pitchFamily="18" charset="0"/>
                  </a:rPr>
                  <a:t>2</a:t>
                </a:r>
                <a:endParaRPr lang="zh-CN" altLang="en-US" b="1" dirty="0">
                  <a:solidFill>
                    <a:srgbClr val="262626"/>
                  </a:solidFill>
                  <a:latin typeface="Segoe UI Black" pitchFamily="34" charset="0"/>
                  <a:cs typeface="Times New Roman" pitchFamily="18" charset="0"/>
                </a:endParaRPr>
              </a:p>
            </p:txBody>
          </p:sp>
        </p:grpSp>
        <p:sp>
          <p:nvSpPr>
            <p:cNvPr id="13" name="矩形 12">
              <a:extLst>
                <a:ext uri="{FF2B5EF4-FFF2-40B4-BE49-F238E27FC236}">
                  <a16:creationId xmlns:a16="http://schemas.microsoft.com/office/drawing/2014/main" id="{181C704B-E095-440D-BF65-187A352AD5CA}"/>
                </a:ext>
              </a:extLst>
            </p:cNvPr>
            <p:cNvSpPr/>
            <p:nvPr/>
          </p:nvSpPr>
          <p:spPr>
            <a:xfrm>
              <a:off x="863675" y="1517134"/>
              <a:ext cx="2903145" cy="338554"/>
            </a:xfrm>
            <a:prstGeom prst="rect">
              <a:avLst/>
            </a:prstGeom>
          </p:spPr>
          <p:txBody>
            <a:bodyPr wrap="square">
              <a:spAutoFit/>
            </a:bodyPr>
            <a:lstStyle/>
            <a:p>
              <a:r>
                <a:rPr lang="zh-CN" altLang="en-US" sz="1600" b="1" dirty="0">
                  <a:solidFill>
                    <a:srgbClr val="6600FF"/>
                  </a:solidFill>
                  <a:latin typeface="黑体" pitchFamily="49" charset="-122"/>
                  <a:ea typeface="黑体" pitchFamily="49" charset="-122"/>
                  <a:cs typeface="Times New Roman" pitchFamily="18" charset="0"/>
                </a:rPr>
                <a:t>噪声容限</a:t>
              </a:r>
            </a:p>
          </p:txBody>
        </p:sp>
      </p:grpSp>
      <p:sp>
        <p:nvSpPr>
          <p:cNvPr id="17" name="文本框 16">
            <a:extLst>
              <a:ext uri="{FF2B5EF4-FFF2-40B4-BE49-F238E27FC236}">
                <a16:creationId xmlns:a16="http://schemas.microsoft.com/office/drawing/2014/main" id="{BDC5E3C4-63BA-471D-B420-86A28EB3C6E2}"/>
              </a:ext>
            </a:extLst>
          </p:cNvPr>
          <p:cNvSpPr txBox="1"/>
          <p:nvPr/>
        </p:nvSpPr>
        <p:spPr>
          <a:xfrm>
            <a:off x="543187" y="1920576"/>
            <a:ext cx="5115919" cy="952440"/>
          </a:xfrm>
          <a:prstGeom prst="rect">
            <a:avLst/>
          </a:prstGeom>
          <a:noFill/>
        </p:spPr>
        <p:txBody>
          <a:bodyPr wrap="square">
            <a:spAutoFit/>
          </a:bodyPr>
          <a:lstStyle/>
          <a:p>
            <a:pPr marL="285750" indent="-285750" algn="just">
              <a:lnSpc>
                <a:spcPct val="125000"/>
              </a:lnSpc>
              <a:spcBef>
                <a:spcPts val="600"/>
              </a:spcBef>
              <a:buFont typeface="Wingdings" panose="05000000000000000000" pitchFamily="2" charset="2"/>
              <a:buChar char="u"/>
            </a:pPr>
            <a:r>
              <a:rPr lang="zh-CN" altLang="en-US" sz="1400" dirty="0">
                <a:effectLst/>
                <a:latin typeface="Times New Roman" panose="02020603050405020304" pitchFamily="18" charset="0"/>
                <a:ea typeface="微软雅黑" panose="020B0503020204020204" pitchFamily="34" charset="-122"/>
                <a:cs typeface="Times New Roman" panose="02020603050405020304" pitchFamily="18" charset="0"/>
              </a:rPr>
              <a:t>高电平噪声容限</a:t>
            </a:r>
            <a:endParaRPr lang="en-US" altLang="zh-CN" sz="1400" dirty="0">
              <a:effectLst/>
              <a:latin typeface="Times New Roman" panose="02020603050405020304" pitchFamily="18" charset="0"/>
              <a:ea typeface="微软雅黑" panose="020B0503020204020204" pitchFamily="34" charset="-122"/>
              <a:cs typeface="Times New Roman" panose="02020603050405020304" pitchFamily="18" charset="0"/>
            </a:endParaRPr>
          </a:p>
          <a:p>
            <a:pPr indent="266700" algn="just">
              <a:lnSpc>
                <a:spcPct val="125000"/>
              </a:lnSpc>
              <a:spcBef>
                <a:spcPts val="600"/>
              </a:spcBef>
            </a:pPr>
            <a:r>
              <a:rPr lang="zh-CN" altLang="en-US" sz="1400" dirty="0">
                <a:effectLst/>
                <a:latin typeface="Times New Roman" panose="02020603050405020304" pitchFamily="18" charset="0"/>
                <a:ea typeface="微软雅黑" panose="020B0503020204020204" pitchFamily="34" charset="-122"/>
                <a:cs typeface="Times New Roman" panose="02020603050405020304" pitchFamily="18" charset="0"/>
              </a:rPr>
              <a:t>驱动</a:t>
            </a:r>
            <a:r>
              <a:rPr lang="zh-CN"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门输出高电平最小值</a:t>
            </a:r>
            <a:r>
              <a:rPr lang="en-US" altLang="zh-CN" sz="1400" i="1" dirty="0">
                <a:effectLst/>
                <a:latin typeface="Times New Roman" panose="02020603050405020304" pitchFamily="18" charset="0"/>
                <a:ea typeface="微软雅黑" panose="020B0503020204020204" pitchFamily="34" charset="-122"/>
                <a:cs typeface="Times New Roman" panose="02020603050405020304" pitchFamily="18" charset="0"/>
              </a:rPr>
              <a:t>V</a:t>
            </a:r>
            <a:r>
              <a:rPr lang="en-US" altLang="zh-CN" sz="1400" baseline="-25000" dirty="0">
                <a:effectLst/>
                <a:latin typeface="Times New Roman" panose="02020603050405020304" pitchFamily="18" charset="0"/>
                <a:ea typeface="微软雅黑" panose="020B0503020204020204" pitchFamily="34" charset="-122"/>
                <a:cs typeface="Times New Roman" panose="02020603050405020304" pitchFamily="18" charset="0"/>
              </a:rPr>
              <a:t>OH(min)</a:t>
            </a:r>
            <a:r>
              <a:rPr lang="zh-CN" altLang="en-US" sz="1400" dirty="0">
                <a:effectLst/>
                <a:latin typeface="Times New Roman" panose="02020603050405020304" pitchFamily="18" charset="0"/>
                <a:ea typeface="微软雅黑" panose="020B0503020204020204" pitchFamily="34" charset="-122"/>
                <a:cs typeface="Times New Roman" panose="02020603050405020304" pitchFamily="18" charset="0"/>
              </a:rPr>
              <a:t>时，为保证负载门能正确识别该高电平（≥</a:t>
            </a:r>
            <a:r>
              <a:rPr lang="en-US" altLang="zh-CN" sz="1400" i="1" dirty="0">
                <a:latin typeface="Times New Roman" panose="02020603050405020304" pitchFamily="18" charset="0"/>
                <a:ea typeface="微软雅黑" panose="020B0503020204020204" pitchFamily="34" charset="-122"/>
                <a:cs typeface="Times New Roman" panose="02020603050405020304" pitchFamily="18" charset="0"/>
              </a:rPr>
              <a:t>V</a:t>
            </a:r>
            <a:r>
              <a:rPr lang="en-US" altLang="zh-CN" sz="1400" baseline="-25000" dirty="0">
                <a:latin typeface="Times New Roman" panose="02020603050405020304" pitchFamily="18" charset="0"/>
                <a:ea typeface="微软雅黑" panose="020B0503020204020204" pitchFamily="34" charset="-122"/>
                <a:cs typeface="Times New Roman" panose="02020603050405020304" pitchFamily="18" charset="0"/>
              </a:rPr>
              <a:t>IH(min)</a:t>
            </a:r>
            <a:r>
              <a:rPr lang="zh-CN" altLang="en-US" sz="1400" dirty="0">
                <a:effectLst/>
                <a:latin typeface="Times New Roman" panose="02020603050405020304" pitchFamily="18" charset="0"/>
                <a:ea typeface="微软雅黑" panose="020B0503020204020204" pitchFamily="34" charset="-122"/>
                <a:cs typeface="Times New Roman" panose="02020603050405020304" pitchFamily="18" charset="0"/>
              </a:rPr>
              <a:t>），其允许的最大负向噪声</a:t>
            </a:r>
            <a:r>
              <a:rPr lang="zh-CN"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dirty="0">
                <a:effectLst/>
                <a:latin typeface="Times New Roman" panose="02020603050405020304" pitchFamily="18" charset="0"/>
                <a:ea typeface="微软雅黑" panose="020B0503020204020204" pitchFamily="34" charset="-122"/>
                <a:cs typeface="Times New Roman" panose="02020603050405020304" pitchFamily="18" charset="0"/>
              </a:rPr>
              <a:t>即</a:t>
            </a:r>
            <a:endParaRPr lang="zh-CN" altLang="zh-CN" sz="1400" dirty="0">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 name="Rectangle 66">
            <a:extLst>
              <a:ext uri="{FF2B5EF4-FFF2-40B4-BE49-F238E27FC236}">
                <a16:creationId xmlns:a16="http://schemas.microsoft.com/office/drawing/2014/main" id="{3A0134AE-B110-4428-8AEC-411973462027}"/>
              </a:ext>
            </a:extLst>
          </p:cNvPr>
          <p:cNvSpPr>
            <a:spLocks noChangeArrowheads="1"/>
          </p:cNvSpPr>
          <p:nvPr/>
        </p:nvSpPr>
        <p:spPr bwMode="auto">
          <a:xfrm>
            <a:off x="1884757" y="3015862"/>
            <a:ext cx="2256155" cy="338554"/>
          </a:xfrm>
          <a:prstGeom prst="rect">
            <a:avLst/>
          </a:prstGeom>
          <a:solidFill>
            <a:srgbClr val="FFFF66"/>
          </a:solidFill>
          <a:ln w="9525" algn="ctr">
            <a:noFill/>
            <a:miter lim="800000"/>
            <a:headEnd/>
            <a:tailEnd/>
          </a:ln>
        </p:spPr>
        <p:txBody>
          <a:bodyPr wrap="square" lIns="0" rIns="0">
            <a:spAutoFit/>
          </a:bodyPr>
          <a:lstStyle/>
          <a:p>
            <a:r>
              <a:rPr lang="en-US" altLang="zh-CN" sz="1600" i="1" dirty="0">
                <a:latin typeface="方正粗黑宋简体" pitchFamily="2" charset="-122"/>
                <a:ea typeface="方正粗黑宋简体" pitchFamily="2" charset="-122"/>
              </a:rPr>
              <a:t>V</a:t>
            </a:r>
            <a:r>
              <a:rPr lang="en-US" altLang="zh-CN" sz="1600" baseline="-25000" dirty="0">
                <a:latin typeface="方正粗黑宋简体" pitchFamily="2" charset="-122"/>
                <a:ea typeface="方正粗黑宋简体" pitchFamily="2" charset="-122"/>
              </a:rPr>
              <a:t>NH</a:t>
            </a:r>
            <a:r>
              <a:rPr lang="en-US" altLang="zh-CN" sz="1600" dirty="0">
                <a:latin typeface="方正粗黑宋简体" pitchFamily="2" charset="-122"/>
                <a:ea typeface="方正粗黑宋简体" pitchFamily="2" charset="-122"/>
              </a:rPr>
              <a:t> =</a:t>
            </a:r>
            <a:r>
              <a:rPr lang="en-US" altLang="zh-CN" sz="1600" b="1" i="1" dirty="0">
                <a:solidFill>
                  <a:srgbClr val="6600FF"/>
                </a:solidFill>
                <a:latin typeface="Times New Roman" pitchFamily="18" charset="0"/>
                <a:ea typeface="微软雅黑" pitchFamily="34" charset="-122"/>
                <a:cs typeface="Times New Roman" pitchFamily="18" charset="0"/>
                <a:sym typeface="Symbol" pitchFamily="18" charset="2"/>
              </a:rPr>
              <a:t> </a:t>
            </a:r>
            <a:r>
              <a:rPr lang="en-US" altLang="zh-CN" sz="1600" b="1" i="1" dirty="0" err="1">
                <a:latin typeface="Times New Roman" pitchFamily="18" charset="0"/>
                <a:ea typeface="微软雅黑" pitchFamily="34" charset="-122"/>
                <a:cs typeface="Times New Roman" pitchFamily="18" charset="0"/>
                <a:sym typeface="Symbol" pitchFamily="18" charset="2"/>
              </a:rPr>
              <a:t>V</a:t>
            </a:r>
            <a:r>
              <a:rPr lang="en-US" altLang="zh-CN" sz="1600" baseline="-25000" dirty="0" err="1">
                <a:latin typeface="方正粗黑宋简体" pitchFamily="2" charset="-122"/>
                <a:ea typeface="方正粗黑宋简体" pitchFamily="2" charset="-122"/>
              </a:rPr>
              <a:t>OHmin</a:t>
            </a:r>
            <a:r>
              <a:rPr lang="zh-CN" altLang="en-US" sz="1600" dirty="0">
                <a:latin typeface="方正粗黑宋简体" pitchFamily="2" charset="-122"/>
                <a:ea typeface="方正粗黑宋简体" pitchFamily="2" charset="-122"/>
              </a:rPr>
              <a:t>－</a:t>
            </a:r>
            <a:r>
              <a:rPr lang="en-US" altLang="zh-CN" sz="1600" b="1" i="1" dirty="0">
                <a:latin typeface="Times New Roman" pitchFamily="18" charset="0"/>
                <a:ea typeface="微软雅黑" pitchFamily="34" charset="-122"/>
                <a:cs typeface="Times New Roman" pitchFamily="18" charset="0"/>
                <a:sym typeface="Symbol" pitchFamily="18" charset="2"/>
              </a:rPr>
              <a:t> </a:t>
            </a:r>
            <a:r>
              <a:rPr lang="en-US" altLang="zh-CN" sz="1600" b="1" i="1" dirty="0" err="1">
                <a:latin typeface="Times New Roman" pitchFamily="18" charset="0"/>
                <a:ea typeface="微软雅黑" pitchFamily="34" charset="-122"/>
                <a:cs typeface="Times New Roman" pitchFamily="18" charset="0"/>
                <a:sym typeface="Symbol" pitchFamily="18" charset="2"/>
              </a:rPr>
              <a:t>V</a:t>
            </a:r>
            <a:r>
              <a:rPr lang="en-US" altLang="zh-CN" sz="1600" baseline="-25000" dirty="0" err="1">
                <a:latin typeface="方正粗黑宋简体" pitchFamily="2" charset="-122"/>
                <a:ea typeface="方正粗黑宋简体" pitchFamily="2" charset="-122"/>
              </a:rPr>
              <a:t>IHmin</a:t>
            </a:r>
            <a:endParaRPr lang="en-US" altLang="zh-CN" sz="1600" baseline="-25000" dirty="0">
              <a:latin typeface="方正粗黑宋简体" pitchFamily="2" charset="-122"/>
              <a:ea typeface="方正粗黑宋简体" pitchFamily="2" charset="-122"/>
            </a:endParaRPr>
          </a:p>
        </p:txBody>
      </p:sp>
      <p:sp>
        <p:nvSpPr>
          <p:cNvPr id="19" name="文本框 18">
            <a:extLst>
              <a:ext uri="{FF2B5EF4-FFF2-40B4-BE49-F238E27FC236}">
                <a16:creationId xmlns:a16="http://schemas.microsoft.com/office/drawing/2014/main" id="{46282255-AEA0-49C0-980E-D4684DEBA00D}"/>
              </a:ext>
            </a:extLst>
          </p:cNvPr>
          <p:cNvSpPr txBox="1"/>
          <p:nvPr/>
        </p:nvSpPr>
        <p:spPr>
          <a:xfrm>
            <a:off x="563882" y="3497262"/>
            <a:ext cx="5115919" cy="952440"/>
          </a:xfrm>
          <a:prstGeom prst="rect">
            <a:avLst/>
          </a:prstGeom>
          <a:noFill/>
        </p:spPr>
        <p:txBody>
          <a:bodyPr wrap="square">
            <a:spAutoFit/>
          </a:bodyPr>
          <a:lstStyle/>
          <a:p>
            <a:pPr marL="285750" indent="-285750" algn="just">
              <a:lnSpc>
                <a:spcPct val="125000"/>
              </a:lnSpc>
              <a:spcBef>
                <a:spcPts val="600"/>
              </a:spcBef>
              <a:buFont typeface="Wingdings" panose="05000000000000000000" pitchFamily="2" charset="2"/>
              <a:buChar char="u"/>
            </a:pP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低</a:t>
            </a:r>
            <a:r>
              <a:rPr lang="zh-CN" altLang="en-US" sz="1400" dirty="0">
                <a:effectLst/>
                <a:latin typeface="Times New Roman" panose="02020603050405020304" pitchFamily="18" charset="0"/>
                <a:ea typeface="微软雅黑" panose="020B0503020204020204" pitchFamily="34" charset="-122"/>
                <a:cs typeface="Times New Roman" panose="02020603050405020304" pitchFamily="18" charset="0"/>
              </a:rPr>
              <a:t>电平噪声容限</a:t>
            </a:r>
            <a:endParaRPr lang="en-US" altLang="zh-CN" sz="1400" dirty="0">
              <a:effectLst/>
              <a:latin typeface="Times New Roman" panose="02020603050405020304" pitchFamily="18" charset="0"/>
              <a:ea typeface="微软雅黑" panose="020B0503020204020204" pitchFamily="34" charset="-122"/>
              <a:cs typeface="Times New Roman" panose="02020603050405020304" pitchFamily="18" charset="0"/>
            </a:endParaRPr>
          </a:p>
          <a:p>
            <a:pPr indent="266700" algn="just">
              <a:lnSpc>
                <a:spcPct val="125000"/>
              </a:lnSpc>
              <a:spcBef>
                <a:spcPts val="600"/>
              </a:spcBef>
            </a:pP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驱动门</a:t>
            </a:r>
            <a:r>
              <a:rPr lang="zh-CN"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输出</a:t>
            </a:r>
            <a:r>
              <a:rPr lang="zh-CN" altLang="en-US" sz="1400" dirty="0">
                <a:effectLst/>
                <a:latin typeface="Times New Roman" panose="02020603050405020304" pitchFamily="18" charset="0"/>
                <a:ea typeface="微软雅黑" panose="020B0503020204020204" pitchFamily="34" charset="-122"/>
                <a:cs typeface="Times New Roman" panose="02020603050405020304" pitchFamily="18" charset="0"/>
              </a:rPr>
              <a:t>低</a:t>
            </a:r>
            <a:r>
              <a:rPr lang="zh-CN"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电平最</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大</a:t>
            </a:r>
            <a:r>
              <a:rPr lang="zh-CN"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值</a:t>
            </a:r>
            <a:r>
              <a:rPr lang="en-US" altLang="zh-CN" sz="1400" i="1" dirty="0">
                <a:effectLst/>
                <a:latin typeface="Times New Roman" panose="02020603050405020304" pitchFamily="18" charset="0"/>
                <a:ea typeface="微软雅黑" panose="020B0503020204020204" pitchFamily="34" charset="-122"/>
                <a:cs typeface="Times New Roman" panose="02020603050405020304" pitchFamily="18" charset="0"/>
              </a:rPr>
              <a:t>V</a:t>
            </a:r>
            <a:r>
              <a:rPr lang="en-US" altLang="zh-CN" sz="1400" baseline="-25000" dirty="0">
                <a:effectLst/>
                <a:latin typeface="Times New Roman" panose="02020603050405020304" pitchFamily="18" charset="0"/>
                <a:ea typeface="微软雅黑" panose="020B0503020204020204" pitchFamily="34" charset="-122"/>
                <a:cs typeface="Times New Roman" panose="02020603050405020304" pitchFamily="18" charset="0"/>
              </a:rPr>
              <a:t>OL(max)</a:t>
            </a:r>
            <a:r>
              <a:rPr lang="zh-CN" altLang="en-US" sz="1400" dirty="0">
                <a:effectLst/>
                <a:latin typeface="Times New Roman" panose="02020603050405020304" pitchFamily="18" charset="0"/>
                <a:ea typeface="微软雅黑" panose="020B0503020204020204" pitchFamily="34" charset="-122"/>
                <a:cs typeface="Times New Roman" panose="02020603050405020304" pitchFamily="18" charset="0"/>
              </a:rPr>
              <a:t>时，为保证负载门能正确识别该该电平（≤</a:t>
            </a:r>
            <a:r>
              <a:rPr lang="en-US" altLang="zh-CN" sz="1400" i="1" dirty="0">
                <a:latin typeface="Times New Roman" panose="02020603050405020304" pitchFamily="18" charset="0"/>
                <a:ea typeface="微软雅黑" panose="020B0503020204020204" pitchFamily="34" charset="-122"/>
                <a:cs typeface="Times New Roman" panose="02020603050405020304" pitchFamily="18" charset="0"/>
              </a:rPr>
              <a:t>V</a:t>
            </a:r>
            <a:r>
              <a:rPr lang="en-US" altLang="zh-CN" sz="1400" baseline="-25000" dirty="0">
                <a:latin typeface="Times New Roman" panose="02020603050405020304" pitchFamily="18" charset="0"/>
                <a:ea typeface="微软雅黑" panose="020B0503020204020204" pitchFamily="34" charset="-122"/>
                <a:cs typeface="Times New Roman" panose="02020603050405020304" pitchFamily="18" charset="0"/>
              </a:rPr>
              <a:t>IL(max)</a:t>
            </a:r>
            <a:r>
              <a:rPr lang="zh-CN" altLang="en-US" sz="1400" dirty="0">
                <a:effectLst/>
                <a:latin typeface="Times New Roman" panose="02020603050405020304" pitchFamily="18" charset="0"/>
                <a:ea typeface="微软雅黑" panose="020B0503020204020204" pitchFamily="34" charset="-122"/>
                <a:cs typeface="Times New Roman" panose="02020603050405020304" pitchFamily="18" charset="0"/>
              </a:rPr>
              <a:t>），其允许的最大正向噪声</a:t>
            </a:r>
            <a:r>
              <a:rPr lang="zh-CN"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dirty="0">
                <a:effectLst/>
                <a:latin typeface="Times New Roman" panose="02020603050405020304" pitchFamily="18" charset="0"/>
                <a:ea typeface="微软雅黑" panose="020B0503020204020204" pitchFamily="34" charset="-122"/>
                <a:cs typeface="Times New Roman" panose="02020603050405020304" pitchFamily="18" charset="0"/>
              </a:rPr>
              <a:t>即</a:t>
            </a:r>
            <a:endParaRPr lang="zh-CN" altLang="zh-CN" sz="1400" dirty="0">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Rectangle 66">
            <a:extLst>
              <a:ext uri="{FF2B5EF4-FFF2-40B4-BE49-F238E27FC236}">
                <a16:creationId xmlns:a16="http://schemas.microsoft.com/office/drawing/2014/main" id="{40BD6C9E-1EEA-46AA-99EC-643330F97517}"/>
              </a:ext>
            </a:extLst>
          </p:cNvPr>
          <p:cNvSpPr>
            <a:spLocks noChangeArrowheads="1"/>
          </p:cNvSpPr>
          <p:nvPr/>
        </p:nvSpPr>
        <p:spPr bwMode="auto">
          <a:xfrm>
            <a:off x="1884756" y="4592548"/>
            <a:ext cx="2256155" cy="338554"/>
          </a:xfrm>
          <a:prstGeom prst="rect">
            <a:avLst/>
          </a:prstGeom>
          <a:solidFill>
            <a:srgbClr val="FFFF66"/>
          </a:solidFill>
          <a:ln w="9525" algn="ctr">
            <a:noFill/>
            <a:miter lim="800000"/>
            <a:headEnd/>
            <a:tailEnd/>
          </a:ln>
        </p:spPr>
        <p:txBody>
          <a:bodyPr wrap="square" lIns="0" rIns="0">
            <a:spAutoFit/>
          </a:bodyPr>
          <a:lstStyle/>
          <a:p>
            <a:r>
              <a:rPr lang="en-US" altLang="zh-CN" sz="1600" i="1" dirty="0">
                <a:latin typeface="方正粗黑宋简体" pitchFamily="2" charset="-122"/>
                <a:ea typeface="方正粗黑宋简体" pitchFamily="2" charset="-122"/>
              </a:rPr>
              <a:t>V</a:t>
            </a:r>
            <a:r>
              <a:rPr lang="en-US" altLang="zh-CN" sz="1600" baseline="-25000" dirty="0">
                <a:latin typeface="方正粗黑宋简体" pitchFamily="2" charset="-122"/>
                <a:ea typeface="方正粗黑宋简体" pitchFamily="2" charset="-122"/>
              </a:rPr>
              <a:t>NL</a:t>
            </a:r>
            <a:r>
              <a:rPr lang="en-US" altLang="zh-CN" sz="1600" dirty="0">
                <a:latin typeface="方正粗黑宋简体" pitchFamily="2" charset="-122"/>
                <a:ea typeface="方正粗黑宋简体" pitchFamily="2" charset="-122"/>
              </a:rPr>
              <a:t> =</a:t>
            </a:r>
            <a:r>
              <a:rPr lang="en-US" altLang="zh-CN" sz="1600" b="1" i="1" dirty="0">
                <a:solidFill>
                  <a:srgbClr val="6600FF"/>
                </a:solidFill>
                <a:latin typeface="Times New Roman" pitchFamily="18" charset="0"/>
                <a:ea typeface="微软雅黑" pitchFamily="34" charset="-122"/>
                <a:cs typeface="Times New Roman" pitchFamily="18" charset="0"/>
                <a:sym typeface="Symbol" pitchFamily="18" charset="2"/>
              </a:rPr>
              <a:t> </a:t>
            </a:r>
            <a:r>
              <a:rPr lang="en-US" altLang="zh-CN" sz="1600" b="1" i="1" dirty="0" err="1">
                <a:latin typeface="Times New Roman" pitchFamily="18" charset="0"/>
                <a:ea typeface="微软雅黑" pitchFamily="34" charset="-122"/>
                <a:cs typeface="Times New Roman" pitchFamily="18" charset="0"/>
                <a:sym typeface="Symbol" pitchFamily="18" charset="2"/>
              </a:rPr>
              <a:t>V</a:t>
            </a:r>
            <a:r>
              <a:rPr lang="en-US" altLang="zh-CN" sz="1600" baseline="-25000" dirty="0" err="1">
                <a:latin typeface="方正粗黑宋简体" pitchFamily="2" charset="-122"/>
                <a:ea typeface="方正粗黑宋简体" pitchFamily="2" charset="-122"/>
              </a:rPr>
              <a:t>ILmax</a:t>
            </a:r>
            <a:r>
              <a:rPr lang="zh-CN" altLang="en-US" sz="1600" dirty="0">
                <a:latin typeface="方正粗黑宋简体" pitchFamily="2" charset="-122"/>
                <a:ea typeface="方正粗黑宋简体" pitchFamily="2" charset="-122"/>
              </a:rPr>
              <a:t>－</a:t>
            </a:r>
            <a:r>
              <a:rPr lang="en-US" altLang="zh-CN" sz="1600" b="1" i="1" dirty="0">
                <a:latin typeface="Times New Roman" pitchFamily="18" charset="0"/>
                <a:ea typeface="微软雅黑" pitchFamily="34" charset="-122"/>
                <a:cs typeface="Times New Roman" pitchFamily="18" charset="0"/>
                <a:sym typeface="Symbol" pitchFamily="18" charset="2"/>
              </a:rPr>
              <a:t> </a:t>
            </a:r>
            <a:r>
              <a:rPr lang="en-US" altLang="zh-CN" sz="1600" b="1" i="1" dirty="0" err="1">
                <a:latin typeface="Times New Roman" pitchFamily="18" charset="0"/>
                <a:ea typeface="微软雅黑" pitchFamily="34" charset="-122"/>
                <a:cs typeface="Times New Roman" pitchFamily="18" charset="0"/>
                <a:sym typeface="Symbol" pitchFamily="18" charset="2"/>
              </a:rPr>
              <a:t>V</a:t>
            </a:r>
            <a:r>
              <a:rPr lang="en-US" altLang="zh-CN" sz="1600" baseline="-25000" dirty="0" err="1">
                <a:latin typeface="方正粗黑宋简体" pitchFamily="2" charset="-122"/>
                <a:ea typeface="方正粗黑宋简体" pitchFamily="2" charset="-122"/>
              </a:rPr>
              <a:t>OLmax</a:t>
            </a:r>
            <a:endParaRPr lang="en-US" altLang="zh-CN" sz="1600" baseline="-25000" dirty="0">
              <a:latin typeface="方正粗黑宋简体" pitchFamily="2" charset="-122"/>
              <a:ea typeface="方正粗黑宋简体" pitchFamily="2" charset="-122"/>
            </a:endParaRPr>
          </a:p>
        </p:txBody>
      </p:sp>
      <p:graphicFrame>
        <p:nvGraphicFramePr>
          <p:cNvPr id="22" name="表格 21">
            <a:extLst>
              <a:ext uri="{FF2B5EF4-FFF2-40B4-BE49-F238E27FC236}">
                <a16:creationId xmlns:a16="http://schemas.microsoft.com/office/drawing/2014/main" id="{42D40B54-AC50-4D32-80D3-0FD8B26D7E9F}"/>
              </a:ext>
            </a:extLst>
          </p:cNvPr>
          <p:cNvGraphicFramePr>
            <a:graphicFrameLocks noGrp="1"/>
          </p:cNvGraphicFramePr>
          <p:nvPr>
            <p:extLst>
              <p:ext uri="{D42A27DB-BD31-4B8C-83A1-F6EECF244321}">
                <p14:modId xmlns:p14="http://schemas.microsoft.com/office/powerpoint/2010/main" val="1203298244"/>
              </p:ext>
            </p:extLst>
          </p:nvPr>
        </p:nvGraphicFramePr>
        <p:xfrm>
          <a:off x="4572000" y="644108"/>
          <a:ext cx="4562249" cy="2843222"/>
        </p:xfrm>
        <a:graphic>
          <a:graphicData uri="http://schemas.openxmlformats.org/drawingml/2006/table">
            <a:tbl>
              <a:tblPr firstRow="1" firstCol="1" bandRow="1">
                <a:tableStyleId>{5C22544A-7EE6-4342-B048-85BDC9FD1C3A}</a:tableStyleId>
              </a:tblPr>
              <a:tblGrid>
                <a:gridCol w="1299800">
                  <a:extLst>
                    <a:ext uri="{9D8B030D-6E8A-4147-A177-3AD203B41FA5}">
                      <a16:colId xmlns:a16="http://schemas.microsoft.com/office/drawing/2014/main" val="2702642551"/>
                    </a:ext>
                  </a:extLst>
                </a:gridCol>
                <a:gridCol w="1081295">
                  <a:extLst>
                    <a:ext uri="{9D8B030D-6E8A-4147-A177-3AD203B41FA5}">
                      <a16:colId xmlns:a16="http://schemas.microsoft.com/office/drawing/2014/main" val="1196817565"/>
                    </a:ext>
                  </a:extLst>
                </a:gridCol>
                <a:gridCol w="937896">
                  <a:extLst>
                    <a:ext uri="{9D8B030D-6E8A-4147-A177-3AD203B41FA5}">
                      <a16:colId xmlns:a16="http://schemas.microsoft.com/office/drawing/2014/main" val="1992743797"/>
                    </a:ext>
                  </a:extLst>
                </a:gridCol>
                <a:gridCol w="1243258">
                  <a:extLst>
                    <a:ext uri="{9D8B030D-6E8A-4147-A177-3AD203B41FA5}">
                      <a16:colId xmlns:a16="http://schemas.microsoft.com/office/drawing/2014/main" val="1019765241"/>
                    </a:ext>
                  </a:extLst>
                </a:gridCol>
              </a:tblGrid>
              <a:tr h="446176">
                <a:tc gridSpan="4">
                  <a:txBody>
                    <a:bodyPr/>
                    <a:lstStyle/>
                    <a:p>
                      <a:pPr marL="0" algn="ctr">
                        <a:spcAft>
                          <a:spcPts val="0"/>
                        </a:spcAft>
                      </a:pPr>
                      <a:r>
                        <a:rPr lang="zh-CN" sz="1400" dirty="0">
                          <a:effectLst/>
                          <a:latin typeface="Times New Roman" panose="02020603050405020304" pitchFamily="18" charset="0"/>
                          <a:ea typeface="微软雅黑" panose="020B0503020204020204" pitchFamily="34" charset="-122"/>
                          <a:cs typeface="Times New Roman" panose="02020603050405020304" pitchFamily="18" charset="0"/>
                        </a:rPr>
                        <a:t>几种集成电路输入和输出电平范围及噪声容限</a:t>
                      </a:r>
                      <a:endParaRPr lang="zh-CN" sz="14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21857" marR="21857" marT="0" marB="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846106912"/>
                  </a:ext>
                </a:extLst>
              </a:tr>
              <a:tr h="477333">
                <a:tc>
                  <a:txBody>
                    <a:bodyPr/>
                    <a:lstStyle/>
                    <a:p>
                      <a:pPr marL="0" algn="l">
                        <a:spcBef>
                          <a:spcPts val="0"/>
                        </a:spcBef>
                        <a:spcAft>
                          <a:spcPts val="0"/>
                        </a:spcAft>
                      </a:pPr>
                      <a:r>
                        <a:rPr lang="en-US" altLang="zh-CN" sz="1200" dirty="0">
                          <a:effectLst/>
                          <a:latin typeface="Times New Roman" panose="02020603050405020304" pitchFamily="18" charset="0"/>
                          <a:ea typeface="微软雅黑" panose="020B0503020204020204" pitchFamily="34" charset="-122"/>
                          <a:cs typeface="Times New Roman" panose="02020603050405020304" pitchFamily="18" charset="0"/>
                        </a:rPr>
                        <a:t>                    </a:t>
                      </a:r>
                      <a:r>
                        <a:rPr lang="zh-CN" sz="1200" dirty="0">
                          <a:effectLst/>
                          <a:latin typeface="Times New Roman" panose="02020603050405020304" pitchFamily="18" charset="0"/>
                          <a:ea typeface="微软雅黑" panose="020B0503020204020204" pitchFamily="34" charset="-122"/>
                          <a:cs typeface="Times New Roman" panose="02020603050405020304" pitchFamily="18" charset="0"/>
                        </a:rPr>
                        <a:t>类型</a:t>
                      </a:r>
                      <a:r>
                        <a:rPr lang="en-US" altLang="zh-CN" sz="1200" dirty="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200" dirty="0">
                        <a:effectLst/>
                        <a:latin typeface="Times New Roman" panose="02020603050405020304" pitchFamily="18" charset="0"/>
                        <a:ea typeface="微软雅黑" panose="020B0503020204020204" pitchFamily="34" charset="-122"/>
                        <a:cs typeface="Times New Roman" panose="02020603050405020304" pitchFamily="18" charset="0"/>
                      </a:endParaRPr>
                    </a:p>
                    <a:p>
                      <a:pPr marL="0" algn="l">
                        <a:spcBef>
                          <a:spcPts val="600"/>
                        </a:spcBef>
                        <a:spcAft>
                          <a:spcPts val="0"/>
                        </a:spcAft>
                      </a:pPr>
                      <a:r>
                        <a:rPr lang="zh-CN" sz="1200" dirty="0">
                          <a:effectLst/>
                          <a:latin typeface="Times New Roman" panose="02020603050405020304" pitchFamily="18" charset="0"/>
                          <a:ea typeface="微软雅黑" panose="020B0503020204020204" pitchFamily="34" charset="-122"/>
                          <a:cs typeface="Times New Roman" panose="02020603050405020304" pitchFamily="18" charset="0"/>
                        </a:rPr>
                        <a:t>参数</a:t>
                      </a:r>
                      <a:r>
                        <a:rPr lang="en-GB" sz="12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zh-CN" sz="1200" dirty="0">
                          <a:effectLst/>
                          <a:latin typeface="Times New Roman" panose="02020603050405020304" pitchFamily="18" charset="0"/>
                          <a:ea typeface="微软雅黑" panose="020B0503020204020204" pitchFamily="34" charset="-122"/>
                          <a:cs typeface="Times New Roman" panose="02020603050405020304" pitchFamily="18" charset="0"/>
                        </a:rPr>
                        <a:t>单位</a:t>
                      </a:r>
                      <a:endParaRPr lang="zh-CN" sz="12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21857" marR="21857" marT="0" marB="0" anchor="ctr">
                    <a:lnL w="12700" cap="flat" cmpd="sng" algn="ctr">
                      <a:solidFill>
                        <a:srgbClr val="FF0000"/>
                      </a:solidFill>
                      <a:prstDash val="solid"/>
                      <a:round/>
                      <a:headEnd type="none" w="med" len="med"/>
                      <a:tailEnd type="none" w="med" len="med"/>
                    </a:lnL>
                    <a:lnTlToBr w="12700" cap="flat" cmpd="sng" algn="ctr">
                      <a:solidFill>
                        <a:schemeClr val="bg1"/>
                      </a:solidFill>
                      <a:prstDash val="solid"/>
                      <a:round/>
                      <a:headEnd type="none" w="med" len="med"/>
                      <a:tailEnd type="none" w="med" len="med"/>
                    </a:lnTlToBr>
                  </a:tcPr>
                </a:tc>
                <a:tc>
                  <a:txBody>
                    <a:bodyPr/>
                    <a:lstStyle/>
                    <a:p>
                      <a:pPr marL="0" algn="ctr">
                        <a:spcAft>
                          <a:spcPts val="0"/>
                        </a:spcAft>
                      </a:pPr>
                      <a:r>
                        <a:rPr lang="en-GB" sz="1400" dirty="0">
                          <a:effectLst/>
                          <a:latin typeface="Times New Roman" panose="02020603050405020304" pitchFamily="18" charset="0"/>
                          <a:ea typeface="微软雅黑" panose="020B0503020204020204" pitchFamily="34" charset="-122"/>
                          <a:cs typeface="Times New Roman" panose="02020603050405020304" pitchFamily="18" charset="0"/>
                        </a:rPr>
                        <a:t>74LS</a:t>
                      </a:r>
                      <a:endParaRPr lang="zh-CN" sz="1400" dirty="0">
                        <a:effectLst/>
                        <a:latin typeface="Times New Roman" panose="02020603050405020304" pitchFamily="18" charset="0"/>
                        <a:ea typeface="微软雅黑" panose="020B0503020204020204" pitchFamily="34" charset="-122"/>
                        <a:cs typeface="Times New Roman" panose="02020603050405020304" pitchFamily="18" charset="0"/>
                      </a:endParaRPr>
                    </a:p>
                    <a:p>
                      <a:pPr marL="0" algn="ctr">
                        <a:spcAft>
                          <a:spcPts val="0"/>
                        </a:spcAft>
                      </a:pPr>
                      <a:r>
                        <a:rPr lang="en-GB" sz="1400" dirty="0">
                          <a:effectLst/>
                          <a:latin typeface="Times New Roman" panose="02020603050405020304" pitchFamily="18" charset="0"/>
                          <a:ea typeface="微软雅黑" panose="020B0503020204020204" pitchFamily="34" charset="-122"/>
                          <a:cs typeface="Times New Roman" panose="02020603050405020304" pitchFamily="18" charset="0"/>
                        </a:rPr>
                        <a:t>(V</a:t>
                      </a:r>
                      <a:r>
                        <a:rPr lang="en-GB" sz="1400" baseline="-25000" dirty="0">
                          <a:effectLst/>
                          <a:latin typeface="Times New Roman" panose="02020603050405020304" pitchFamily="18" charset="0"/>
                          <a:ea typeface="微软雅黑" panose="020B0503020204020204" pitchFamily="34" charset="-122"/>
                          <a:cs typeface="Times New Roman" panose="02020603050405020304" pitchFamily="18" charset="0"/>
                        </a:rPr>
                        <a:t>DD</a:t>
                      </a:r>
                      <a:r>
                        <a:rPr lang="en-GB" sz="1400" dirty="0">
                          <a:effectLst/>
                          <a:latin typeface="Times New Roman" panose="02020603050405020304" pitchFamily="18" charset="0"/>
                          <a:ea typeface="微软雅黑" panose="020B0503020204020204" pitchFamily="34" charset="-122"/>
                          <a:cs typeface="Times New Roman" panose="02020603050405020304" pitchFamily="18" charset="0"/>
                        </a:rPr>
                        <a:t>=5V)</a:t>
                      </a:r>
                      <a:endParaRPr lang="zh-CN" sz="14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tc>
                <a:tc>
                  <a:txBody>
                    <a:bodyPr/>
                    <a:lstStyle/>
                    <a:p>
                      <a:pPr marL="0" algn="ctr">
                        <a:spcAft>
                          <a:spcPts val="0"/>
                        </a:spcAft>
                      </a:pPr>
                      <a:r>
                        <a:rPr lang="en-GB" sz="1400" dirty="0">
                          <a:effectLst/>
                          <a:latin typeface="Times New Roman" panose="02020603050405020304" pitchFamily="18" charset="0"/>
                          <a:ea typeface="微软雅黑" panose="020B0503020204020204" pitchFamily="34" charset="-122"/>
                          <a:cs typeface="Times New Roman" panose="02020603050405020304" pitchFamily="18" charset="0"/>
                        </a:rPr>
                        <a:t>74HC</a:t>
                      </a:r>
                      <a:endParaRPr lang="zh-CN" sz="1400" dirty="0">
                        <a:effectLst/>
                        <a:latin typeface="Times New Roman" panose="02020603050405020304" pitchFamily="18" charset="0"/>
                        <a:ea typeface="微软雅黑" panose="020B0503020204020204" pitchFamily="34" charset="-122"/>
                        <a:cs typeface="Times New Roman" panose="02020603050405020304" pitchFamily="18" charset="0"/>
                      </a:endParaRPr>
                    </a:p>
                    <a:p>
                      <a:pPr marL="0" algn="ctr">
                        <a:spcAft>
                          <a:spcPts val="0"/>
                        </a:spcAft>
                      </a:pPr>
                      <a:r>
                        <a:rPr lang="en-GB" sz="1400" dirty="0">
                          <a:effectLst/>
                          <a:latin typeface="Times New Roman" panose="02020603050405020304" pitchFamily="18" charset="0"/>
                          <a:ea typeface="微软雅黑" panose="020B0503020204020204" pitchFamily="34" charset="-122"/>
                          <a:cs typeface="Times New Roman" panose="02020603050405020304" pitchFamily="18" charset="0"/>
                        </a:rPr>
                        <a:t>(V</a:t>
                      </a:r>
                      <a:r>
                        <a:rPr lang="en-GB" sz="1400" baseline="-25000" dirty="0">
                          <a:effectLst/>
                          <a:latin typeface="Times New Roman" panose="02020603050405020304" pitchFamily="18" charset="0"/>
                          <a:ea typeface="微软雅黑" panose="020B0503020204020204" pitchFamily="34" charset="-122"/>
                          <a:cs typeface="Times New Roman" panose="02020603050405020304" pitchFamily="18" charset="0"/>
                        </a:rPr>
                        <a:t>DD</a:t>
                      </a:r>
                      <a:r>
                        <a:rPr lang="en-GB" sz="1400" dirty="0">
                          <a:effectLst/>
                          <a:latin typeface="Times New Roman" panose="02020603050405020304" pitchFamily="18" charset="0"/>
                          <a:ea typeface="微软雅黑" panose="020B0503020204020204" pitchFamily="34" charset="-122"/>
                          <a:cs typeface="Times New Roman" panose="02020603050405020304" pitchFamily="18" charset="0"/>
                        </a:rPr>
                        <a:t>=5V)</a:t>
                      </a:r>
                      <a:endParaRPr lang="zh-CN" sz="14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1413" marR="41413" marT="0" marB="0"/>
                </a:tc>
                <a:tc>
                  <a:txBody>
                    <a:bodyPr/>
                    <a:lstStyle/>
                    <a:p>
                      <a:pPr marL="0" algn="ctr">
                        <a:spcAft>
                          <a:spcPts val="0"/>
                        </a:spcAft>
                      </a:pPr>
                      <a:r>
                        <a:rPr lang="en-GB" sz="1400">
                          <a:effectLst/>
                          <a:latin typeface="Times New Roman" panose="02020603050405020304" pitchFamily="18" charset="0"/>
                          <a:ea typeface="微软雅黑" panose="020B0503020204020204" pitchFamily="34" charset="-122"/>
                          <a:cs typeface="Times New Roman" panose="02020603050405020304" pitchFamily="18" charset="0"/>
                        </a:rPr>
                        <a:t>74LVC</a:t>
                      </a:r>
                      <a:endParaRPr lang="zh-CN" sz="1400">
                        <a:effectLst/>
                        <a:latin typeface="Times New Roman" panose="02020603050405020304" pitchFamily="18" charset="0"/>
                        <a:ea typeface="微软雅黑" panose="020B0503020204020204" pitchFamily="34" charset="-122"/>
                        <a:cs typeface="Times New Roman" panose="02020603050405020304" pitchFamily="18" charset="0"/>
                      </a:endParaRPr>
                    </a:p>
                    <a:p>
                      <a:pPr marL="0" algn="ctr">
                        <a:spcAft>
                          <a:spcPts val="0"/>
                        </a:spcAft>
                      </a:pPr>
                      <a:r>
                        <a:rPr lang="en-GB" sz="1400">
                          <a:effectLst/>
                          <a:latin typeface="Times New Roman" panose="02020603050405020304" pitchFamily="18" charset="0"/>
                          <a:ea typeface="微软雅黑" panose="020B0503020204020204" pitchFamily="34" charset="-122"/>
                          <a:cs typeface="Times New Roman" panose="02020603050405020304" pitchFamily="18" charset="0"/>
                        </a:rPr>
                        <a:t>(V</a:t>
                      </a:r>
                      <a:r>
                        <a:rPr lang="en-GB" sz="1400" baseline="-25000">
                          <a:effectLst/>
                          <a:latin typeface="Times New Roman" panose="02020603050405020304" pitchFamily="18" charset="0"/>
                          <a:ea typeface="微软雅黑" panose="020B0503020204020204" pitchFamily="34" charset="-122"/>
                          <a:cs typeface="Times New Roman" panose="02020603050405020304" pitchFamily="18" charset="0"/>
                        </a:rPr>
                        <a:t>DD</a:t>
                      </a:r>
                      <a:r>
                        <a:rPr lang="en-GB" sz="1400">
                          <a:effectLst/>
                          <a:latin typeface="Times New Roman" panose="02020603050405020304" pitchFamily="18" charset="0"/>
                          <a:ea typeface="微软雅黑" panose="020B0503020204020204" pitchFamily="34" charset="-122"/>
                          <a:cs typeface="Times New Roman" panose="02020603050405020304" pitchFamily="18" charset="0"/>
                        </a:rPr>
                        <a:t>=3.3V)</a:t>
                      </a:r>
                      <a:endParaRPr lang="zh-CN" sz="140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lnR w="12700" cap="flat" cmpd="sng" algn="ctr">
                      <a:solidFill>
                        <a:srgbClr val="FF0000"/>
                      </a:solidFill>
                      <a:prstDash val="solid"/>
                      <a:round/>
                      <a:headEnd type="none" w="med" len="med"/>
                      <a:tailEnd type="none" w="med" len="med"/>
                    </a:lnR>
                  </a:tcPr>
                </a:tc>
                <a:extLst>
                  <a:ext uri="{0D108BD9-81ED-4DB2-BD59-A6C34878D82A}">
                    <a16:rowId xmlns:a16="http://schemas.microsoft.com/office/drawing/2014/main" val="945013499"/>
                  </a:ext>
                </a:extLst>
              </a:tr>
              <a:tr h="328372">
                <a:tc>
                  <a:txBody>
                    <a:bodyPr/>
                    <a:lstStyle/>
                    <a:p>
                      <a:pPr marL="0" algn="ctr">
                        <a:spcAft>
                          <a:spcPts val="0"/>
                        </a:spcAft>
                      </a:pPr>
                      <a:r>
                        <a:rPr lang="en-GB" sz="1400" i="1" dirty="0">
                          <a:effectLst/>
                          <a:latin typeface="Times New Roman" panose="02020603050405020304" pitchFamily="18" charset="0"/>
                          <a:ea typeface="微软雅黑" panose="020B0503020204020204" pitchFamily="34" charset="-122"/>
                          <a:cs typeface="Times New Roman" panose="02020603050405020304" pitchFamily="18" charset="0"/>
                        </a:rPr>
                        <a:t>V</a:t>
                      </a:r>
                      <a:r>
                        <a:rPr lang="en-GB" sz="1400" baseline="-25000" dirty="0">
                          <a:effectLst/>
                          <a:latin typeface="Times New Roman" panose="02020603050405020304" pitchFamily="18" charset="0"/>
                          <a:ea typeface="微软雅黑" panose="020B0503020204020204" pitchFamily="34" charset="-122"/>
                          <a:cs typeface="Times New Roman" panose="02020603050405020304" pitchFamily="18" charset="0"/>
                        </a:rPr>
                        <a:t>IL(max)</a:t>
                      </a:r>
                      <a:r>
                        <a:rPr lang="en-GB" sz="1400" dirty="0">
                          <a:effectLst/>
                          <a:latin typeface="Times New Roman" panose="02020603050405020304" pitchFamily="18" charset="0"/>
                          <a:ea typeface="微软雅黑" panose="020B0503020204020204" pitchFamily="34" charset="-122"/>
                          <a:cs typeface="Times New Roman" panose="02020603050405020304" pitchFamily="18" charset="0"/>
                        </a:rPr>
                        <a:t>/V</a:t>
                      </a:r>
                      <a:endParaRPr lang="zh-CN" sz="14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rgbClr val="FF0000"/>
                      </a:solidFill>
                      <a:prstDash val="solid"/>
                      <a:round/>
                      <a:headEnd type="none" w="med" len="med"/>
                      <a:tailEnd type="none" w="med" len="med"/>
                    </a:lnL>
                  </a:tcPr>
                </a:tc>
                <a:tc>
                  <a:txBody>
                    <a:bodyPr/>
                    <a:lstStyle/>
                    <a:p>
                      <a:pPr marL="0" algn="ctr">
                        <a:spcAft>
                          <a:spcPts val="0"/>
                        </a:spcAft>
                      </a:pPr>
                      <a:r>
                        <a:rPr lang="en-GB" sz="1400" dirty="0">
                          <a:effectLst/>
                          <a:latin typeface="Times New Roman" panose="02020603050405020304" pitchFamily="18" charset="0"/>
                          <a:ea typeface="微软雅黑" panose="020B0503020204020204" pitchFamily="34" charset="-122"/>
                          <a:cs typeface="Times New Roman" panose="02020603050405020304" pitchFamily="18" charset="0"/>
                        </a:rPr>
                        <a:t>0.8</a:t>
                      </a:r>
                      <a:endParaRPr lang="zh-CN" sz="14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tc>
                <a:tc>
                  <a:txBody>
                    <a:bodyPr/>
                    <a:lstStyle/>
                    <a:p>
                      <a:pPr marL="0" algn="ctr">
                        <a:spcAft>
                          <a:spcPts val="0"/>
                        </a:spcAft>
                      </a:pPr>
                      <a:r>
                        <a:rPr lang="en-GB" sz="1400" dirty="0">
                          <a:effectLst/>
                          <a:latin typeface="Times New Roman" panose="02020603050405020304" pitchFamily="18" charset="0"/>
                          <a:ea typeface="微软雅黑" panose="020B0503020204020204" pitchFamily="34" charset="-122"/>
                          <a:cs typeface="Times New Roman" panose="02020603050405020304" pitchFamily="18" charset="0"/>
                        </a:rPr>
                        <a:t>1.5</a:t>
                      </a:r>
                      <a:endParaRPr lang="zh-CN" sz="14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1413" marR="41413" marT="0" marB="0" anchor="ctr"/>
                </a:tc>
                <a:tc>
                  <a:txBody>
                    <a:bodyPr/>
                    <a:lstStyle/>
                    <a:p>
                      <a:pPr marL="0" algn="ctr">
                        <a:spcAft>
                          <a:spcPts val="0"/>
                        </a:spcAft>
                      </a:pPr>
                      <a:r>
                        <a:rPr lang="en-GB" sz="1400">
                          <a:effectLst/>
                          <a:latin typeface="Times New Roman" panose="02020603050405020304" pitchFamily="18" charset="0"/>
                          <a:ea typeface="微软雅黑" panose="020B0503020204020204" pitchFamily="34" charset="-122"/>
                          <a:cs typeface="Times New Roman" panose="02020603050405020304" pitchFamily="18" charset="0"/>
                        </a:rPr>
                        <a:t>0.8</a:t>
                      </a:r>
                      <a:endParaRPr lang="zh-CN" sz="140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R w="12700" cap="flat" cmpd="sng" algn="ctr">
                      <a:solidFill>
                        <a:srgbClr val="FF0000"/>
                      </a:solidFill>
                      <a:prstDash val="solid"/>
                      <a:round/>
                      <a:headEnd type="none" w="med" len="med"/>
                      <a:tailEnd type="none" w="med" len="med"/>
                    </a:lnR>
                  </a:tcPr>
                </a:tc>
                <a:extLst>
                  <a:ext uri="{0D108BD9-81ED-4DB2-BD59-A6C34878D82A}">
                    <a16:rowId xmlns:a16="http://schemas.microsoft.com/office/drawing/2014/main" val="1520509225"/>
                  </a:ext>
                </a:extLst>
              </a:tr>
              <a:tr h="328372">
                <a:tc>
                  <a:txBody>
                    <a:bodyPr/>
                    <a:lstStyle/>
                    <a:p>
                      <a:pPr marL="0" algn="ctr">
                        <a:spcAft>
                          <a:spcPts val="0"/>
                        </a:spcAft>
                      </a:pPr>
                      <a:r>
                        <a:rPr lang="en-GB" sz="1400" b="1" i="1" kern="1200" dirty="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V</a:t>
                      </a:r>
                      <a:r>
                        <a:rPr lang="en-GB" sz="1400" baseline="-25000" dirty="0">
                          <a:effectLst/>
                          <a:latin typeface="Times New Roman" panose="02020603050405020304" pitchFamily="18" charset="0"/>
                          <a:ea typeface="微软雅黑" panose="020B0503020204020204" pitchFamily="34" charset="-122"/>
                          <a:cs typeface="Times New Roman" panose="02020603050405020304" pitchFamily="18" charset="0"/>
                        </a:rPr>
                        <a:t>IH(min)</a:t>
                      </a:r>
                      <a:r>
                        <a:rPr lang="en-GB" sz="1400" dirty="0">
                          <a:effectLst/>
                          <a:latin typeface="Times New Roman" panose="02020603050405020304" pitchFamily="18" charset="0"/>
                          <a:ea typeface="微软雅黑" panose="020B0503020204020204" pitchFamily="34" charset="-122"/>
                          <a:cs typeface="Times New Roman" panose="02020603050405020304" pitchFamily="18" charset="0"/>
                        </a:rPr>
                        <a:t>/V</a:t>
                      </a:r>
                      <a:endParaRPr lang="zh-CN" sz="14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rgbClr val="FF0000"/>
                      </a:solidFill>
                      <a:prstDash val="solid"/>
                      <a:round/>
                      <a:headEnd type="none" w="med" len="med"/>
                      <a:tailEnd type="none" w="med" len="med"/>
                    </a:lnL>
                  </a:tcPr>
                </a:tc>
                <a:tc>
                  <a:txBody>
                    <a:bodyPr/>
                    <a:lstStyle/>
                    <a:p>
                      <a:pPr marL="0" algn="ctr">
                        <a:spcAft>
                          <a:spcPts val="0"/>
                        </a:spcAft>
                      </a:pPr>
                      <a:r>
                        <a:rPr lang="en-GB" sz="1400" dirty="0">
                          <a:effectLst/>
                          <a:latin typeface="Times New Roman" panose="02020603050405020304" pitchFamily="18" charset="0"/>
                          <a:ea typeface="微软雅黑" panose="020B0503020204020204" pitchFamily="34" charset="-122"/>
                          <a:cs typeface="Times New Roman" panose="02020603050405020304" pitchFamily="18" charset="0"/>
                        </a:rPr>
                        <a:t>2.0</a:t>
                      </a:r>
                      <a:endParaRPr lang="zh-CN" sz="14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tc>
                <a:tc>
                  <a:txBody>
                    <a:bodyPr/>
                    <a:lstStyle/>
                    <a:p>
                      <a:pPr marL="0" algn="ctr">
                        <a:spcAft>
                          <a:spcPts val="0"/>
                        </a:spcAft>
                      </a:pPr>
                      <a:r>
                        <a:rPr lang="en-GB" sz="1400" dirty="0">
                          <a:effectLst/>
                          <a:latin typeface="Times New Roman" panose="02020603050405020304" pitchFamily="18" charset="0"/>
                          <a:ea typeface="微软雅黑" panose="020B0503020204020204" pitchFamily="34" charset="-122"/>
                          <a:cs typeface="Times New Roman" panose="02020603050405020304" pitchFamily="18" charset="0"/>
                        </a:rPr>
                        <a:t>3.5</a:t>
                      </a:r>
                      <a:endParaRPr lang="zh-CN" sz="14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1413" marR="41413" marT="0" marB="0" anchor="ctr"/>
                </a:tc>
                <a:tc>
                  <a:txBody>
                    <a:bodyPr/>
                    <a:lstStyle/>
                    <a:p>
                      <a:pPr marL="0" algn="ctr">
                        <a:spcAft>
                          <a:spcPts val="0"/>
                        </a:spcAft>
                      </a:pPr>
                      <a:r>
                        <a:rPr lang="en-GB" sz="1400">
                          <a:effectLst/>
                          <a:latin typeface="Times New Roman" panose="02020603050405020304" pitchFamily="18" charset="0"/>
                          <a:ea typeface="微软雅黑" panose="020B0503020204020204" pitchFamily="34" charset="-122"/>
                          <a:cs typeface="Times New Roman" panose="02020603050405020304" pitchFamily="18" charset="0"/>
                        </a:rPr>
                        <a:t>2.0</a:t>
                      </a:r>
                      <a:endParaRPr lang="zh-CN" sz="140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R w="12700" cap="flat" cmpd="sng" algn="ctr">
                      <a:solidFill>
                        <a:srgbClr val="FF0000"/>
                      </a:solidFill>
                      <a:prstDash val="solid"/>
                      <a:round/>
                      <a:headEnd type="none" w="med" len="med"/>
                      <a:tailEnd type="none" w="med" len="med"/>
                    </a:lnR>
                  </a:tcPr>
                </a:tc>
                <a:extLst>
                  <a:ext uri="{0D108BD9-81ED-4DB2-BD59-A6C34878D82A}">
                    <a16:rowId xmlns:a16="http://schemas.microsoft.com/office/drawing/2014/main" val="3970208737"/>
                  </a:ext>
                </a:extLst>
              </a:tr>
              <a:tr h="378891">
                <a:tc>
                  <a:txBody>
                    <a:bodyPr/>
                    <a:lstStyle/>
                    <a:p>
                      <a:pPr marL="0" algn="ctr">
                        <a:spcAft>
                          <a:spcPts val="0"/>
                        </a:spcAft>
                      </a:pPr>
                      <a:r>
                        <a:rPr lang="en-GB" sz="1400" b="1" i="1" kern="1200" dirty="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V</a:t>
                      </a:r>
                      <a:r>
                        <a:rPr lang="en-GB" sz="1400" baseline="-25000" dirty="0">
                          <a:effectLst/>
                          <a:latin typeface="Times New Roman" panose="02020603050405020304" pitchFamily="18" charset="0"/>
                          <a:ea typeface="微软雅黑" panose="020B0503020204020204" pitchFamily="34" charset="-122"/>
                          <a:cs typeface="Times New Roman" panose="02020603050405020304" pitchFamily="18" charset="0"/>
                        </a:rPr>
                        <a:t>OL(max)</a:t>
                      </a:r>
                      <a:r>
                        <a:rPr lang="en-GB" sz="1400" dirty="0">
                          <a:effectLst/>
                          <a:latin typeface="Times New Roman" panose="02020603050405020304" pitchFamily="18" charset="0"/>
                          <a:ea typeface="微软雅黑" panose="020B0503020204020204" pitchFamily="34" charset="-122"/>
                          <a:cs typeface="Times New Roman" panose="02020603050405020304" pitchFamily="18" charset="0"/>
                        </a:rPr>
                        <a:t>/V</a:t>
                      </a:r>
                      <a:endParaRPr lang="zh-CN" sz="14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rgbClr val="FF0000"/>
                      </a:solidFill>
                      <a:prstDash val="solid"/>
                      <a:round/>
                      <a:headEnd type="none" w="med" len="med"/>
                      <a:tailEnd type="none" w="med" len="med"/>
                    </a:lnL>
                  </a:tcPr>
                </a:tc>
                <a:tc>
                  <a:txBody>
                    <a:bodyPr/>
                    <a:lstStyle/>
                    <a:p>
                      <a:pPr marL="0" algn="ctr">
                        <a:spcAft>
                          <a:spcPts val="0"/>
                        </a:spcAft>
                      </a:pPr>
                      <a:r>
                        <a:rPr lang="en-GB" sz="1400" dirty="0">
                          <a:effectLst/>
                          <a:latin typeface="Times New Roman" panose="02020603050405020304" pitchFamily="18" charset="0"/>
                          <a:ea typeface="微软雅黑" panose="020B0503020204020204" pitchFamily="34" charset="-122"/>
                          <a:cs typeface="Times New Roman" panose="02020603050405020304" pitchFamily="18" charset="0"/>
                        </a:rPr>
                        <a:t>0.5</a:t>
                      </a:r>
                      <a:endParaRPr lang="zh-CN" sz="14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tc>
                <a:tc>
                  <a:txBody>
                    <a:bodyPr/>
                    <a:lstStyle/>
                    <a:p>
                      <a:pPr marL="0" algn="ctr">
                        <a:spcAft>
                          <a:spcPts val="0"/>
                        </a:spcAft>
                      </a:pPr>
                      <a:r>
                        <a:rPr lang="en-GB" sz="1400" dirty="0">
                          <a:effectLst/>
                          <a:latin typeface="Times New Roman" panose="02020603050405020304" pitchFamily="18" charset="0"/>
                          <a:ea typeface="微软雅黑" panose="020B0503020204020204" pitchFamily="34" charset="-122"/>
                          <a:cs typeface="Times New Roman" panose="02020603050405020304" pitchFamily="18" charset="0"/>
                        </a:rPr>
                        <a:t>0.1</a:t>
                      </a:r>
                      <a:endParaRPr lang="zh-CN" sz="14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1413" marR="41413" marT="0" marB="0" anchor="ctr"/>
                </a:tc>
                <a:tc>
                  <a:txBody>
                    <a:bodyPr/>
                    <a:lstStyle/>
                    <a:p>
                      <a:pPr marL="0" algn="ctr">
                        <a:spcAft>
                          <a:spcPts val="0"/>
                        </a:spcAft>
                      </a:pPr>
                      <a:r>
                        <a:rPr lang="en-GB" sz="1400">
                          <a:effectLst/>
                          <a:latin typeface="Times New Roman" panose="02020603050405020304" pitchFamily="18" charset="0"/>
                          <a:ea typeface="微软雅黑" panose="020B0503020204020204" pitchFamily="34" charset="-122"/>
                          <a:cs typeface="Times New Roman" panose="02020603050405020304" pitchFamily="18" charset="0"/>
                        </a:rPr>
                        <a:t>0.2</a:t>
                      </a:r>
                      <a:endParaRPr lang="zh-CN" sz="140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R w="12700" cap="flat" cmpd="sng" algn="ctr">
                      <a:solidFill>
                        <a:srgbClr val="FF0000"/>
                      </a:solidFill>
                      <a:prstDash val="solid"/>
                      <a:round/>
                      <a:headEnd type="none" w="med" len="med"/>
                      <a:tailEnd type="none" w="med" len="med"/>
                    </a:lnR>
                  </a:tcPr>
                </a:tc>
                <a:extLst>
                  <a:ext uri="{0D108BD9-81ED-4DB2-BD59-A6C34878D82A}">
                    <a16:rowId xmlns:a16="http://schemas.microsoft.com/office/drawing/2014/main" val="2226617528"/>
                  </a:ext>
                </a:extLst>
              </a:tr>
              <a:tr h="328372">
                <a:tc>
                  <a:txBody>
                    <a:bodyPr/>
                    <a:lstStyle/>
                    <a:p>
                      <a:pPr marL="0" algn="ctr">
                        <a:spcAft>
                          <a:spcPts val="0"/>
                        </a:spcAft>
                      </a:pPr>
                      <a:r>
                        <a:rPr lang="en-GB" sz="1400" b="1" i="1" kern="1200" dirty="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V</a:t>
                      </a:r>
                      <a:r>
                        <a:rPr lang="en-GB" sz="1400" baseline="-25000" dirty="0">
                          <a:effectLst/>
                          <a:latin typeface="Times New Roman" panose="02020603050405020304" pitchFamily="18" charset="0"/>
                          <a:ea typeface="微软雅黑" panose="020B0503020204020204" pitchFamily="34" charset="-122"/>
                          <a:cs typeface="Times New Roman" panose="02020603050405020304" pitchFamily="18" charset="0"/>
                        </a:rPr>
                        <a:t>OH(min)</a:t>
                      </a:r>
                      <a:r>
                        <a:rPr lang="en-GB" sz="1400" dirty="0">
                          <a:effectLst/>
                          <a:latin typeface="Times New Roman" panose="02020603050405020304" pitchFamily="18" charset="0"/>
                          <a:ea typeface="微软雅黑" panose="020B0503020204020204" pitchFamily="34" charset="-122"/>
                          <a:cs typeface="Times New Roman" panose="02020603050405020304" pitchFamily="18" charset="0"/>
                        </a:rPr>
                        <a:t>/V</a:t>
                      </a:r>
                      <a:endParaRPr lang="zh-CN" sz="14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rgbClr val="FF0000"/>
                      </a:solidFill>
                      <a:prstDash val="solid"/>
                      <a:round/>
                      <a:headEnd type="none" w="med" len="med"/>
                      <a:tailEnd type="none" w="med" len="med"/>
                    </a:lnL>
                  </a:tcPr>
                </a:tc>
                <a:tc>
                  <a:txBody>
                    <a:bodyPr/>
                    <a:lstStyle/>
                    <a:p>
                      <a:pPr marL="0" algn="ctr">
                        <a:spcAft>
                          <a:spcPts val="0"/>
                        </a:spcAft>
                      </a:pPr>
                      <a:r>
                        <a:rPr lang="en-GB" sz="1400" dirty="0">
                          <a:effectLst/>
                          <a:latin typeface="Times New Roman" panose="02020603050405020304" pitchFamily="18" charset="0"/>
                          <a:ea typeface="微软雅黑" panose="020B0503020204020204" pitchFamily="34" charset="-122"/>
                          <a:cs typeface="Times New Roman" panose="02020603050405020304" pitchFamily="18" charset="0"/>
                        </a:rPr>
                        <a:t>2.7</a:t>
                      </a:r>
                      <a:endParaRPr lang="zh-CN" sz="14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tc>
                <a:tc>
                  <a:txBody>
                    <a:bodyPr/>
                    <a:lstStyle/>
                    <a:p>
                      <a:pPr marL="0" algn="ctr">
                        <a:spcAft>
                          <a:spcPts val="0"/>
                        </a:spcAft>
                      </a:pPr>
                      <a:r>
                        <a:rPr lang="en-GB" sz="1400" dirty="0">
                          <a:effectLst/>
                          <a:latin typeface="Times New Roman" panose="02020603050405020304" pitchFamily="18" charset="0"/>
                          <a:ea typeface="微软雅黑" panose="020B0503020204020204" pitchFamily="34" charset="-122"/>
                          <a:cs typeface="Times New Roman" panose="02020603050405020304" pitchFamily="18" charset="0"/>
                        </a:rPr>
                        <a:t>4.9</a:t>
                      </a:r>
                      <a:endParaRPr lang="zh-CN" sz="14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1413" marR="41413" marT="0" marB="0" anchor="ctr"/>
                </a:tc>
                <a:tc>
                  <a:txBody>
                    <a:bodyPr/>
                    <a:lstStyle/>
                    <a:p>
                      <a:pPr marL="0" algn="ctr">
                        <a:spcAft>
                          <a:spcPts val="0"/>
                        </a:spcAft>
                      </a:pPr>
                      <a:r>
                        <a:rPr lang="en-GB" sz="1400" dirty="0">
                          <a:effectLst/>
                          <a:latin typeface="Times New Roman" panose="02020603050405020304" pitchFamily="18" charset="0"/>
                          <a:ea typeface="微软雅黑" panose="020B0503020204020204" pitchFamily="34" charset="-122"/>
                          <a:cs typeface="Times New Roman" panose="02020603050405020304" pitchFamily="18" charset="0"/>
                        </a:rPr>
                        <a:t>3.1</a:t>
                      </a:r>
                      <a:endParaRPr lang="zh-CN" sz="14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R w="12700" cap="flat" cmpd="sng" algn="ctr">
                      <a:solidFill>
                        <a:srgbClr val="FF0000"/>
                      </a:solidFill>
                      <a:prstDash val="solid"/>
                      <a:round/>
                      <a:headEnd type="none" w="med" len="med"/>
                      <a:tailEnd type="none" w="med" len="med"/>
                    </a:lnR>
                  </a:tcPr>
                </a:tc>
                <a:extLst>
                  <a:ext uri="{0D108BD9-81ED-4DB2-BD59-A6C34878D82A}">
                    <a16:rowId xmlns:a16="http://schemas.microsoft.com/office/drawing/2014/main" val="3607246994"/>
                  </a:ext>
                </a:extLst>
              </a:tr>
              <a:tr h="277853">
                <a:tc>
                  <a:txBody>
                    <a:bodyPr/>
                    <a:lstStyle/>
                    <a:p>
                      <a:pPr marL="0" algn="ctr">
                        <a:spcAft>
                          <a:spcPts val="0"/>
                        </a:spcAft>
                      </a:pPr>
                      <a:r>
                        <a:rPr lang="en-GB" sz="1400" b="1" i="1" kern="12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V</a:t>
                      </a:r>
                      <a:r>
                        <a:rPr lang="en-GB" sz="1400" baseline="-250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NL</a:t>
                      </a:r>
                      <a:r>
                        <a:rPr lang="en-GB" sz="14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/V</a:t>
                      </a:r>
                      <a:endParaRPr lang="zh-CN" sz="14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rgbClr val="FF0000"/>
                      </a:solidFill>
                      <a:prstDash val="solid"/>
                      <a:round/>
                      <a:headEnd type="none" w="med" len="med"/>
                      <a:tailEnd type="none" w="med" len="med"/>
                    </a:lnL>
                    <a:solidFill>
                      <a:srgbClr val="FFC000"/>
                    </a:solidFill>
                  </a:tcPr>
                </a:tc>
                <a:tc>
                  <a:txBody>
                    <a:bodyPr/>
                    <a:lstStyle/>
                    <a:p>
                      <a:pPr marL="0" algn="ctr">
                        <a:spcAft>
                          <a:spcPts val="0"/>
                        </a:spcAft>
                      </a:pPr>
                      <a:r>
                        <a:rPr lang="en-GB" sz="14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0.3</a:t>
                      </a:r>
                      <a:endParaRPr lang="zh-CN" sz="14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solidFill>
                      <a:srgbClr val="FFC000"/>
                    </a:solidFill>
                  </a:tcPr>
                </a:tc>
                <a:tc>
                  <a:txBody>
                    <a:bodyPr/>
                    <a:lstStyle/>
                    <a:p>
                      <a:pPr marL="0" algn="ctr">
                        <a:spcAft>
                          <a:spcPts val="0"/>
                        </a:spcAft>
                      </a:pPr>
                      <a:r>
                        <a:rPr lang="en-GB" sz="14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1.4</a:t>
                      </a:r>
                      <a:endParaRPr lang="zh-CN" sz="14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1413" marR="41413" marT="0" marB="0" anchor="ctr">
                    <a:solidFill>
                      <a:srgbClr val="FFC000"/>
                    </a:solidFill>
                  </a:tcPr>
                </a:tc>
                <a:tc>
                  <a:txBody>
                    <a:bodyPr/>
                    <a:lstStyle/>
                    <a:p>
                      <a:pPr marL="0" algn="ctr">
                        <a:spcAft>
                          <a:spcPts val="0"/>
                        </a:spcAft>
                      </a:pPr>
                      <a:r>
                        <a:rPr lang="en-GB" sz="14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0.6</a:t>
                      </a:r>
                      <a:endParaRPr lang="zh-CN" sz="14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R w="12700" cap="flat" cmpd="sng" algn="ctr">
                      <a:solidFill>
                        <a:srgbClr val="FF0000"/>
                      </a:solidFill>
                      <a:prstDash val="solid"/>
                      <a:round/>
                      <a:headEnd type="none" w="med" len="med"/>
                      <a:tailEnd type="none" w="med" len="med"/>
                    </a:lnR>
                    <a:solidFill>
                      <a:srgbClr val="FFC000"/>
                    </a:solidFill>
                  </a:tcPr>
                </a:tc>
                <a:extLst>
                  <a:ext uri="{0D108BD9-81ED-4DB2-BD59-A6C34878D82A}">
                    <a16:rowId xmlns:a16="http://schemas.microsoft.com/office/drawing/2014/main" val="2122658677"/>
                  </a:ext>
                </a:extLst>
              </a:tr>
              <a:tr h="277853">
                <a:tc>
                  <a:txBody>
                    <a:bodyPr/>
                    <a:lstStyle/>
                    <a:p>
                      <a:pPr marL="0" algn="ctr">
                        <a:spcAft>
                          <a:spcPts val="0"/>
                        </a:spcAft>
                      </a:pPr>
                      <a:r>
                        <a:rPr lang="en-GB" sz="1400" b="1" i="1" kern="12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V</a:t>
                      </a:r>
                      <a:r>
                        <a:rPr lang="en-GB" sz="1400" baseline="-250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NH</a:t>
                      </a:r>
                      <a:r>
                        <a:rPr lang="en-GB" sz="14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/V</a:t>
                      </a:r>
                      <a:endParaRPr lang="zh-CN" sz="14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rgbClr val="FF0000"/>
                      </a:solidFill>
                      <a:prstDash val="solid"/>
                      <a:round/>
                      <a:headEnd type="none" w="med" len="med"/>
                      <a:tailEnd type="none" w="med" len="med"/>
                    </a:lnL>
                    <a:lnB w="12700" cap="flat" cmpd="sng" algn="ctr">
                      <a:solidFill>
                        <a:srgbClr val="FF0000"/>
                      </a:solidFill>
                      <a:prstDash val="solid"/>
                      <a:round/>
                      <a:headEnd type="none" w="med" len="med"/>
                      <a:tailEnd type="none" w="med" len="med"/>
                    </a:lnB>
                    <a:solidFill>
                      <a:srgbClr val="FFC000"/>
                    </a:solidFill>
                  </a:tcPr>
                </a:tc>
                <a:tc>
                  <a:txBody>
                    <a:bodyPr/>
                    <a:lstStyle/>
                    <a:p>
                      <a:pPr marL="0" algn="ctr">
                        <a:spcAft>
                          <a:spcPts val="0"/>
                        </a:spcAft>
                      </a:pPr>
                      <a:r>
                        <a:rPr lang="en-GB" sz="14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0.7</a:t>
                      </a:r>
                      <a:endParaRPr lang="zh-CN" sz="14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B w="12700" cap="flat" cmpd="sng" algn="ctr">
                      <a:solidFill>
                        <a:srgbClr val="FF0000"/>
                      </a:solidFill>
                      <a:prstDash val="solid"/>
                      <a:round/>
                      <a:headEnd type="none" w="med" len="med"/>
                      <a:tailEnd type="none" w="med" len="med"/>
                    </a:lnB>
                    <a:solidFill>
                      <a:srgbClr val="FFC000"/>
                    </a:solidFill>
                  </a:tcPr>
                </a:tc>
                <a:tc>
                  <a:txBody>
                    <a:bodyPr/>
                    <a:lstStyle/>
                    <a:p>
                      <a:pPr marL="0" algn="ctr">
                        <a:spcAft>
                          <a:spcPts val="0"/>
                        </a:spcAft>
                      </a:pPr>
                      <a:r>
                        <a:rPr lang="en-GB" sz="14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1.4</a:t>
                      </a:r>
                      <a:endParaRPr lang="zh-CN" sz="14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1413" marR="41413" marT="0" marB="0" anchor="ctr">
                    <a:lnB w="12700" cap="flat" cmpd="sng" algn="ctr">
                      <a:solidFill>
                        <a:srgbClr val="FF0000"/>
                      </a:solidFill>
                      <a:prstDash val="solid"/>
                      <a:round/>
                      <a:headEnd type="none" w="med" len="med"/>
                      <a:tailEnd type="none" w="med" len="med"/>
                    </a:lnB>
                    <a:solidFill>
                      <a:srgbClr val="FFC000"/>
                    </a:solidFill>
                  </a:tcPr>
                </a:tc>
                <a:tc>
                  <a:txBody>
                    <a:bodyPr/>
                    <a:lstStyle/>
                    <a:p>
                      <a:pPr marL="0" algn="ctr">
                        <a:spcAft>
                          <a:spcPts val="0"/>
                        </a:spcAft>
                      </a:pPr>
                      <a:r>
                        <a:rPr lang="en-GB" sz="14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1.1</a:t>
                      </a:r>
                      <a:endParaRPr lang="zh-CN" sz="14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1413" marR="41413" marT="0" marB="0" anchor="ctr">
                    <a:lnR w="12700" cap="flat" cmpd="sng" algn="ctr">
                      <a:solidFill>
                        <a:srgbClr val="FF0000"/>
                      </a:solidFill>
                      <a:prstDash val="solid"/>
                      <a:round/>
                      <a:headEnd type="none" w="med" len="med"/>
                      <a:tailEnd type="none" w="med" len="med"/>
                    </a:lnR>
                    <a:lnB w="12700" cap="flat" cmpd="sng" algn="ctr">
                      <a:solidFill>
                        <a:srgbClr val="FF0000"/>
                      </a:solidFill>
                      <a:prstDash val="solid"/>
                      <a:round/>
                      <a:headEnd type="none" w="med" len="med"/>
                      <a:tailEnd type="none" w="med" len="med"/>
                    </a:lnB>
                    <a:solidFill>
                      <a:srgbClr val="FFC000"/>
                    </a:solidFill>
                  </a:tcPr>
                </a:tc>
                <a:extLst>
                  <a:ext uri="{0D108BD9-81ED-4DB2-BD59-A6C34878D82A}">
                    <a16:rowId xmlns:a16="http://schemas.microsoft.com/office/drawing/2014/main" val="3042530866"/>
                  </a:ext>
                </a:extLst>
              </a:tr>
            </a:tbl>
          </a:graphicData>
        </a:graphic>
      </p:graphicFrame>
    </p:spTree>
    <p:extLst>
      <p:ext uri="{BB962C8B-B14F-4D97-AF65-F5344CB8AC3E}">
        <p14:creationId xmlns:p14="http://schemas.microsoft.com/office/powerpoint/2010/main" val="6404044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50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slide(fromBottom)">
                                      <p:cBhvr>
                                        <p:cTn id="7" dur="1000"/>
                                        <p:tgtEl>
                                          <p:spTgt spid="11"/>
                                        </p:tgtEl>
                                      </p:cBhvr>
                                    </p:animEffect>
                                  </p:childTnLst>
                                </p:cTn>
                              </p:par>
                            </p:childTnLst>
                          </p:cTn>
                        </p:par>
                        <p:par>
                          <p:cTn id="8" fill="hold">
                            <p:stCondLst>
                              <p:cond delay="1000"/>
                            </p:stCondLst>
                            <p:childTnLst>
                              <p:par>
                                <p:cTn id="9" presetID="12" presetClass="entr" presetSubtype="4" fill="hold"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slide(fromBottom)">
                                      <p:cBhvr>
                                        <p:cTn id="11" dur="1000"/>
                                        <p:tgtEl>
                                          <p:spTgt spid="21"/>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4" fill="hold" grpId="0" nodeType="click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slide(fromBottom)">
                                      <p:cBhvr>
                                        <p:cTn id="16" dur="1000"/>
                                        <p:tgtEl>
                                          <p:spTgt spid="17"/>
                                        </p:tgtEl>
                                      </p:cBhvr>
                                    </p:animEffect>
                                  </p:childTnLst>
                                </p:cTn>
                              </p:par>
                            </p:childTnLst>
                          </p:cTn>
                        </p:par>
                        <p:par>
                          <p:cTn id="17" fill="hold">
                            <p:stCondLst>
                              <p:cond delay="1000"/>
                            </p:stCondLst>
                            <p:childTnLst>
                              <p:par>
                                <p:cTn id="18" presetID="12" presetClass="entr" presetSubtype="4" fill="hold" grpId="0" nodeType="after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slide(fromBottom)">
                                      <p:cBhvr>
                                        <p:cTn id="20" dur="1000"/>
                                        <p:tgtEl>
                                          <p:spTgt spid="18"/>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slide(fromBottom)">
                                      <p:cBhvr>
                                        <p:cTn id="25" dur="1000"/>
                                        <p:tgtEl>
                                          <p:spTgt spid="19"/>
                                        </p:tgtEl>
                                      </p:cBhvr>
                                    </p:animEffect>
                                  </p:childTnLst>
                                </p:cTn>
                              </p:par>
                            </p:childTnLst>
                          </p:cTn>
                        </p:par>
                        <p:par>
                          <p:cTn id="26" fill="hold">
                            <p:stCondLst>
                              <p:cond delay="1000"/>
                            </p:stCondLst>
                            <p:childTnLst>
                              <p:par>
                                <p:cTn id="27" presetID="12" presetClass="entr" presetSubtype="4" fill="hold" grpId="0" nodeType="after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slide(fromBottom)">
                                      <p:cBhvr>
                                        <p:cTn id="29" dur="1000"/>
                                        <p:tgtEl>
                                          <p:spTgt spid="20"/>
                                        </p:tgtEl>
                                      </p:cBhvr>
                                    </p:animEffect>
                                  </p:childTnLst>
                                </p:cTn>
                              </p:par>
                            </p:childTnLst>
                          </p:cTn>
                        </p:par>
                      </p:childTnLst>
                    </p:cTn>
                  </p:par>
                  <p:par>
                    <p:cTn id="30" fill="hold">
                      <p:stCondLst>
                        <p:cond delay="indefinite"/>
                      </p:stCondLst>
                      <p:childTnLst>
                        <p:par>
                          <p:cTn id="31" fill="hold">
                            <p:stCondLst>
                              <p:cond delay="0"/>
                            </p:stCondLst>
                            <p:childTnLst>
                              <p:par>
                                <p:cTn id="32" presetID="23" presetClass="entr" presetSubtype="16" fill="hold" nodeType="clickEffect">
                                  <p:stCondLst>
                                    <p:cond delay="0"/>
                                  </p:stCondLst>
                                  <p:childTnLst>
                                    <p:set>
                                      <p:cBhvr>
                                        <p:cTn id="33" dur="1" fill="hold">
                                          <p:stCondLst>
                                            <p:cond delay="0"/>
                                          </p:stCondLst>
                                        </p:cTn>
                                        <p:tgtEl>
                                          <p:spTgt spid="22"/>
                                        </p:tgtEl>
                                        <p:attrNameLst>
                                          <p:attrName>style.visibility</p:attrName>
                                        </p:attrNameLst>
                                      </p:cBhvr>
                                      <p:to>
                                        <p:strVal val="visible"/>
                                      </p:to>
                                    </p:set>
                                    <p:anim calcmode="lin" valueType="num">
                                      <p:cBhvr>
                                        <p:cTn id="34" dur="1000" fill="hold"/>
                                        <p:tgtEl>
                                          <p:spTgt spid="22"/>
                                        </p:tgtEl>
                                        <p:attrNameLst>
                                          <p:attrName>ppt_w</p:attrName>
                                        </p:attrNameLst>
                                      </p:cBhvr>
                                      <p:tavLst>
                                        <p:tav tm="0">
                                          <p:val>
                                            <p:fltVal val="0"/>
                                          </p:val>
                                        </p:tav>
                                        <p:tav tm="100000">
                                          <p:val>
                                            <p:strVal val="#ppt_w"/>
                                          </p:val>
                                        </p:tav>
                                      </p:tavLst>
                                    </p:anim>
                                    <p:anim calcmode="lin" valueType="num">
                                      <p:cBhvr>
                                        <p:cTn id="35" dur="1000" fill="hold"/>
                                        <p:tgtEl>
                                          <p:spTgt spid="2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animBg="1"/>
      <p:bldP spid="19" grpId="0"/>
      <p:bldP spid="2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7547E18B-2033-4419-ADA9-CA7D54283C92}"/>
              </a:ext>
            </a:extLst>
          </p:cNvPr>
          <p:cNvGrpSpPr/>
          <p:nvPr/>
        </p:nvGrpSpPr>
        <p:grpSpPr>
          <a:xfrm>
            <a:off x="392432" y="780143"/>
            <a:ext cx="4758688" cy="411055"/>
            <a:chOff x="392432" y="780143"/>
            <a:chExt cx="4758688" cy="411055"/>
          </a:xfrm>
        </p:grpSpPr>
        <p:sp>
          <p:nvSpPr>
            <p:cNvPr id="3" name="矩形 2">
              <a:extLst>
                <a:ext uri="{FF2B5EF4-FFF2-40B4-BE49-F238E27FC236}">
                  <a16:creationId xmlns:a16="http://schemas.microsoft.com/office/drawing/2014/main" id="{06034E3A-B0B6-4310-9CF6-8F1CDC7C83A4}"/>
                </a:ext>
              </a:extLst>
            </p:cNvPr>
            <p:cNvSpPr/>
            <p:nvPr/>
          </p:nvSpPr>
          <p:spPr>
            <a:xfrm>
              <a:off x="754216" y="805934"/>
              <a:ext cx="4396904" cy="369332"/>
            </a:xfrm>
            <a:prstGeom prst="rect">
              <a:avLst/>
            </a:prstGeom>
          </p:spPr>
          <p:txBody>
            <a:bodyPr wrap="square">
              <a:spAutoFit/>
            </a:bodyPr>
            <a:lstStyle/>
            <a:p>
              <a:r>
                <a:rPr lang="en-US" altLang="zh-CN" dirty="0">
                  <a:solidFill>
                    <a:srgbClr val="002060"/>
                  </a:solidFill>
                  <a:latin typeface="方正粗黑宋简体" pitchFamily="2" charset="-122"/>
                  <a:ea typeface="方正粗黑宋简体" pitchFamily="2" charset="-122"/>
                </a:rPr>
                <a:t>2</a:t>
              </a:r>
              <a:r>
                <a:rPr lang="zh-CN" altLang="en-US" dirty="0">
                  <a:solidFill>
                    <a:srgbClr val="002060"/>
                  </a:solidFill>
                  <a:latin typeface="方正粗黑宋简体" pitchFamily="2" charset="-122"/>
                  <a:ea typeface="方正粗黑宋简体" pitchFamily="2" charset="-122"/>
                </a:rPr>
                <a:t>、</a:t>
              </a:r>
              <a:r>
                <a:rPr lang="x-none" altLang="zh-CN" dirty="0">
                  <a:solidFill>
                    <a:srgbClr val="002060"/>
                  </a:solidFill>
                  <a:latin typeface="方正粗黑宋简体" pitchFamily="2" charset="-122"/>
                  <a:ea typeface="方正粗黑宋简体" pitchFamily="2" charset="-122"/>
                </a:rPr>
                <a:t>逻辑门电路的一般特性及参数</a:t>
              </a:r>
              <a:endParaRPr lang="zh-CN" altLang="en-US" dirty="0">
                <a:solidFill>
                  <a:srgbClr val="002060"/>
                </a:solidFill>
                <a:latin typeface="方正粗黑宋简体" pitchFamily="2" charset="-122"/>
                <a:ea typeface="方正粗黑宋简体" pitchFamily="2" charset="-122"/>
              </a:endParaRPr>
            </a:p>
          </p:txBody>
        </p:sp>
        <p:pic>
          <p:nvPicPr>
            <p:cNvPr id="4" name="Picture 3">
              <a:extLst>
                <a:ext uri="{FF2B5EF4-FFF2-40B4-BE49-F238E27FC236}">
                  <a16:creationId xmlns:a16="http://schemas.microsoft.com/office/drawing/2014/main" id="{6B143DA3-3CA0-43D4-BBA5-2CC5E6BB423D}"/>
                </a:ext>
              </a:extLst>
            </p:cNvPr>
            <p:cNvPicPr>
              <a:picLocks noChangeAspect="1" noChangeArrowheads="1"/>
            </p:cNvPicPr>
            <p:nvPr/>
          </p:nvPicPr>
          <p:blipFill>
            <a:blip r:embed="rId4" cstate="print"/>
            <a:srcRect/>
            <a:stretch>
              <a:fillRect/>
            </a:stretch>
          </p:blipFill>
          <p:spPr bwMode="auto">
            <a:xfrm flipH="1">
              <a:off x="392432" y="780143"/>
              <a:ext cx="342900" cy="411055"/>
            </a:xfrm>
            <a:prstGeom prst="rect">
              <a:avLst/>
            </a:prstGeom>
            <a:noFill/>
            <a:ln w="9525">
              <a:noFill/>
              <a:miter lim="800000"/>
              <a:headEnd/>
              <a:tailEnd/>
            </a:ln>
          </p:spPr>
        </p:pic>
      </p:grpSp>
      <p:grpSp>
        <p:nvGrpSpPr>
          <p:cNvPr id="5" name="组合 4">
            <a:extLst>
              <a:ext uri="{FF2B5EF4-FFF2-40B4-BE49-F238E27FC236}">
                <a16:creationId xmlns:a16="http://schemas.microsoft.com/office/drawing/2014/main" id="{45680B59-2970-419A-96C3-0CD956485B39}"/>
              </a:ext>
            </a:extLst>
          </p:cNvPr>
          <p:cNvGrpSpPr/>
          <p:nvPr/>
        </p:nvGrpSpPr>
        <p:grpSpPr>
          <a:xfrm>
            <a:off x="430607" y="1290314"/>
            <a:ext cx="3458845" cy="373579"/>
            <a:chOff x="307975" y="1517134"/>
            <a:chExt cx="3458845" cy="373579"/>
          </a:xfrm>
        </p:grpSpPr>
        <p:grpSp>
          <p:nvGrpSpPr>
            <p:cNvPr id="6" name="组合 5">
              <a:extLst>
                <a:ext uri="{FF2B5EF4-FFF2-40B4-BE49-F238E27FC236}">
                  <a16:creationId xmlns:a16="http://schemas.microsoft.com/office/drawing/2014/main" id="{6B135F23-9FAA-4F3A-990F-7F500931198C}"/>
                </a:ext>
              </a:extLst>
            </p:cNvPr>
            <p:cNvGrpSpPr/>
            <p:nvPr/>
          </p:nvGrpSpPr>
          <p:grpSpPr>
            <a:xfrm>
              <a:off x="307975" y="1519116"/>
              <a:ext cx="568325" cy="371597"/>
              <a:chOff x="307975" y="1519116"/>
              <a:chExt cx="568325" cy="371597"/>
            </a:xfrm>
          </p:grpSpPr>
          <p:pic>
            <p:nvPicPr>
              <p:cNvPr id="8" name="Picture 4">
                <a:extLst>
                  <a:ext uri="{FF2B5EF4-FFF2-40B4-BE49-F238E27FC236}">
                    <a16:creationId xmlns:a16="http://schemas.microsoft.com/office/drawing/2014/main" id="{70C2B751-42DD-40F9-BDA5-616C0F5B5B2F}"/>
                  </a:ext>
                </a:extLst>
              </p:cNvPr>
              <p:cNvPicPr>
                <a:picLocks noChangeAspect="1" noChangeArrowheads="1"/>
              </p:cNvPicPr>
              <p:nvPr/>
            </p:nvPicPr>
            <p:blipFill>
              <a:blip r:embed="rId5" cstate="print"/>
              <a:srcRect/>
              <a:stretch>
                <a:fillRect/>
              </a:stretch>
            </p:blipFill>
            <p:spPr bwMode="auto">
              <a:xfrm flipH="1">
                <a:off x="307975" y="1519116"/>
                <a:ext cx="568325" cy="371597"/>
              </a:xfrm>
              <a:prstGeom prst="rect">
                <a:avLst/>
              </a:prstGeom>
              <a:noFill/>
              <a:ln w="9525">
                <a:noFill/>
                <a:miter lim="800000"/>
                <a:headEnd/>
                <a:tailEnd/>
              </a:ln>
              <a:effectLst/>
            </p:spPr>
          </p:pic>
          <p:sp>
            <p:nvSpPr>
              <p:cNvPr id="9" name="TextBox 25">
                <a:extLst>
                  <a:ext uri="{FF2B5EF4-FFF2-40B4-BE49-F238E27FC236}">
                    <a16:creationId xmlns:a16="http://schemas.microsoft.com/office/drawing/2014/main" id="{E0AFCE28-6944-4C98-AA1A-AA1A6AF02F65}"/>
                  </a:ext>
                </a:extLst>
              </p:cNvPr>
              <p:cNvSpPr txBox="1"/>
              <p:nvPr/>
            </p:nvSpPr>
            <p:spPr>
              <a:xfrm flipH="1">
                <a:off x="443415" y="1555750"/>
                <a:ext cx="137858" cy="276999"/>
              </a:xfrm>
              <a:prstGeom prst="rect">
                <a:avLst/>
              </a:prstGeom>
              <a:noFill/>
            </p:spPr>
            <p:txBody>
              <a:bodyPr wrap="none" lIns="0" tIns="0" rIns="0" bIns="0" rtlCol="0">
                <a:spAutoFit/>
              </a:bodyPr>
              <a:lstStyle/>
              <a:p>
                <a:r>
                  <a:rPr lang="en-US" altLang="zh-CN" b="1" dirty="0">
                    <a:solidFill>
                      <a:srgbClr val="262626"/>
                    </a:solidFill>
                    <a:latin typeface="Segoe UI Black" pitchFamily="34" charset="0"/>
                    <a:ea typeface="Segoe UI Black" pitchFamily="34" charset="0"/>
                    <a:cs typeface="Times New Roman" pitchFamily="18" charset="0"/>
                  </a:rPr>
                  <a:t>3</a:t>
                </a:r>
                <a:endParaRPr lang="zh-CN" altLang="en-US" b="1" dirty="0">
                  <a:solidFill>
                    <a:srgbClr val="262626"/>
                  </a:solidFill>
                  <a:latin typeface="Segoe UI Black" pitchFamily="34" charset="0"/>
                  <a:cs typeface="Times New Roman" pitchFamily="18" charset="0"/>
                </a:endParaRPr>
              </a:p>
            </p:txBody>
          </p:sp>
        </p:grpSp>
        <p:sp>
          <p:nvSpPr>
            <p:cNvPr id="7" name="矩形 6">
              <a:extLst>
                <a:ext uri="{FF2B5EF4-FFF2-40B4-BE49-F238E27FC236}">
                  <a16:creationId xmlns:a16="http://schemas.microsoft.com/office/drawing/2014/main" id="{B50B05BE-0F16-4680-9B0F-FE8916C95328}"/>
                </a:ext>
              </a:extLst>
            </p:cNvPr>
            <p:cNvSpPr/>
            <p:nvPr/>
          </p:nvSpPr>
          <p:spPr>
            <a:xfrm>
              <a:off x="863675" y="1517134"/>
              <a:ext cx="2903145" cy="338554"/>
            </a:xfrm>
            <a:prstGeom prst="rect">
              <a:avLst/>
            </a:prstGeom>
          </p:spPr>
          <p:txBody>
            <a:bodyPr wrap="square">
              <a:spAutoFit/>
            </a:bodyPr>
            <a:lstStyle/>
            <a:p>
              <a:r>
                <a:rPr lang="zh-CN" altLang="zh-CN" sz="1600" b="1" dirty="0">
                  <a:solidFill>
                    <a:srgbClr val="6600FF"/>
                  </a:solidFill>
                  <a:latin typeface="黑体" pitchFamily="49" charset="-122"/>
                  <a:ea typeface="黑体" pitchFamily="49" charset="-122"/>
                  <a:cs typeface="Times New Roman" pitchFamily="18" charset="0"/>
                </a:rPr>
                <a:t>扇入数和扇出数</a:t>
              </a:r>
              <a:endParaRPr lang="zh-CN" altLang="en-US" sz="1600" b="1" dirty="0">
                <a:solidFill>
                  <a:srgbClr val="6600FF"/>
                </a:solidFill>
                <a:latin typeface="黑体" pitchFamily="49" charset="-122"/>
                <a:ea typeface="黑体" pitchFamily="49" charset="-122"/>
                <a:cs typeface="Times New Roman" pitchFamily="18" charset="0"/>
              </a:endParaRPr>
            </a:p>
          </p:txBody>
        </p:sp>
      </p:grpSp>
      <p:sp>
        <p:nvSpPr>
          <p:cNvPr id="10" name="Rectangle 12">
            <a:extLst>
              <a:ext uri="{FF2B5EF4-FFF2-40B4-BE49-F238E27FC236}">
                <a16:creationId xmlns:a16="http://schemas.microsoft.com/office/drawing/2014/main" id="{80F9E3C2-DCF5-4E7C-AED5-87FB5381FCD3}"/>
              </a:ext>
            </a:extLst>
          </p:cNvPr>
          <p:cNvSpPr>
            <a:spLocks noChangeArrowheads="1"/>
          </p:cNvSpPr>
          <p:nvPr/>
        </p:nvSpPr>
        <p:spPr bwMode="auto">
          <a:xfrm>
            <a:off x="881195" y="1716126"/>
            <a:ext cx="7958005" cy="567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435100" indent="-1435100" eaLnBrk="0" hangingPunct="0">
              <a:tabLst>
                <a:tab pos="1096963" algn="l"/>
              </a:tabLst>
              <a:defRPr sz="2000" b="1">
                <a:solidFill>
                  <a:schemeClr val="accent2"/>
                </a:solidFill>
                <a:latin typeface="Times New Roman" pitchFamily="18" charset="0"/>
                <a:ea typeface="宋体" charset="-122"/>
              </a:defRPr>
            </a:lvl1pPr>
            <a:lvl2pPr marL="742950" indent="-285750" eaLnBrk="0" hangingPunct="0">
              <a:tabLst>
                <a:tab pos="1096963" algn="l"/>
              </a:tabLst>
              <a:defRPr sz="2000" b="1">
                <a:solidFill>
                  <a:schemeClr val="accent2"/>
                </a:solidFill>
                <a:latin typeface="Times New Roman" pitchFamily="18" charset="0"/>
                <a:ea typeface="宋体" charset="-122"/>
              </a:defRPr>
            </a:lvl2pPr>
            <a:lvl3pPr marL="1143000" indent="-228600" eaLnBrk="0" hangingPunct="0">
              <a:tabLst>
                <a:tab pos="1096963" algn="l"/>
              </a:tabLst>
              <a:defRPr sz="2000" b="1">
                <a:solidFill>
                  <a:schemeClr val="accent2"/>
                </a:solidFill>
                <a:latin typeface="Times New Roman" pitchFamily="18" charset="0"/>
                <a:ea typeface="宋体" charset="-122"/>
              </a:defRPr>
            </a:lvl3pPr>
            <a:lvl4pPr marL="1600200" indent="-228600" eaLnBrk="0" hangingPunct="0">
              <a:tabLst>
                <a:tab pos="1096963" algn="l"/>
              </a:tabLst>
              <a:defRPr sz="2000" b="1">
                <a:solidFill>
                  <a:schemeClr val="accent2"/>
                </a:solidFill>
                <a:latin typeface="Times New Roman" pitchFamily="18" charset="0"/>
                <a:ea typeface="宋体" charset="-122"/>
              </a:defRPr>
            </a:lvl4pPr>
            <a:lvl5pPr marL="2057400" indent="-228600" eaLnBrk="0" hangingPunct="0">
              <a:tabLst>
                <a:tab pos="1096963" algn="l"/>
              </a:tabLst>
              <a:defRPr sz="2000" b="1">
                <a:solidFill>
                  <a:schemeClr val="accent2"/>
                </a:solidFill>
                <a:latin typeface="Times New Roman" pitchFamily="18" charset="0"/>
                <a:ea typeface="宋体" charset="-122"/>
              </a:defRPr>
            </a:lvl5pPr>
            <a:lvl6pPr marL="2514600" indent="-228600" algn="ctr" eaLnBrk="0" fontAlgn="base" hangingPunct="0">
              <a:spcBef>
                <a:spcPct val="50000"/>
              </a:spcBef>
              <a:spcAft>
                <a:spcPct val="0"/>
              </a:spcAft>
              <a:tabLst>
                <a:tab pos="1096963" algn="l"/>
              </a:tabLst>
              <a:defRPr sz="2000" b="1">
                <a:solidFill>
                  <a:schemeClr val="accent2"/>
                </a:solidFill>
                <a:latin typeface="Times New Roman" pitchFamily="18" charset="0"/>
                <a:ea typeface="宋体" charset="-122"/>
              </a:defRPr>
            </a:lvl6pPr>
            <a:lvl7pPr marL="2971800" indent="-228600" algn="ctr" eaLnBrk="0" fontAlgn="base" hangingPunct="0">
              <a:spcBef>
                <a:spcPct val="50000"/>
              </a:spcBef>
              <a:spcAft>
                <a:spcPct val="0"/>
              </a:spcAft>
              <a:tabLst>
                <a:tab pos="1096963" algn="l"/>
              </a:tabLst>
              <a:defRPr sz="2000" b="1">
                <a:solidFill>
                  <a:schemeClr val="accent2"/>
                </a:solidFill>
                <a:latin typeface="Times New Roman" pitchFamily="18" charset="0"/>
                <a:ea typeface="宋体" charset="-122"/>
              </a:defRPr>
            </a:lvl7pPr>
            <a:lvl8pPr marL="3429000" indent="-228600" algn="ctr" eaLnBrk="0" fontAlgn="base" hangingPunct="0">
              <a:spcBef>
                <a:spcPct val="50000"/>
              </a:spcBef>
              <a:spcAft>
                <a:spcPct val="0"/>
              </a:spcAft>
              <a:tabLst>
                <a:tab pos="1096963" algn="l"/>
              </a:tabLst>
              <a:defRPr sz="2000" b="1">
                <a:solidFill>
                  <a:schemeClr val="accent2"/>
                </a:solidFill>
                <a:latin typeface="Times New Roman" pitchFamily="18" charset="0"/>
                <a:ea typeface="宋体" charset="-122"/>
              </a:defRPr>
            </a:lvl8pPr>
            <a:lvl9pPr marL="3886200" indent="-228600" algn="ctr" eaLnBrk="0" fontAlgn="base" hangingPunct="0">
              <a:spcBef>
                <a:spcPct val="50000"/>
              </a:spcBef>
              <a:spcAft>
                <a:spcPct val="0"/>
              </a:spcAft>
              <a:tabLst>
                <a:tab pos="1096963" algn="l"/>
              </a:tabLst>
              <a:defRPr sz="2000" b="1">
                <a:solidFill>
                  <a:schemeClr val="accent2"/>
                </a:solidFill>
                <a:latin typeface="Times New Roman" pitchFamily="18" charset="0"/>
                <a:ea typeface="宋体" charset="-122"/>
              </a:defRPr>
            </a:lvl9pPr>
          </a:lstStyle>
          <a:p>
            <a:pPr marL="179388" indent="-179388" eaLnBrk="1" hangingPunct="1">
              <a:lnSpc>
                <a:spcPct val="115000"/>
              </a:lnSpc>
              <a:buFont typeface="Wingdings" pitchFamily="2" charset="2"/>
              <a:buChar char="Ø"/>
              <a:tabLst>
                <a:tab pos="808038" algn="l"/>
              </a:tabLst>
            </a:pPr>
            <a:r>
              <a:rPr lang="zh-CN" altLang="en-US" sz="1400" dirty="0">
                <a:solidFill>
                  <a:srgbClr val="FF00FF"/>
                </a:solidFill>
                <a:ea typeface="微软雅黑" panose="020B0503020204020204" pitchFamily="34" charset="-122"/>
                <a:cs typeface="Times New Roman" panose="02020603050405020304" pitchFamily="18" charset="0"/>
              </a:rPr>
              <a:t>扇入数</a:t>
            </a:r>
            <a:r>
              <a:rPr lang="zh-CN" altLang="en-US" sz="1400" b="0" dirty="0">
                <a:solidFill>
                  <a:schemeClr val="tx1"/>
                </a:solidFill>
                <a:ea typeface="微软雅黑" panose="020B0503020204020204" pitchFamily="34" charset="-122"/>
                <a:cs typeface="Times New Roman" panose="02020603050405020304" pitchFamily="18" charset="0"/>
              </a:rPr>
              <a:t>：</a:t>
            </a:r>
            <a:r>
              <a:rPr lang="zh-CN" altLang="zh-CN" sz="1400" b="0" dirty="0">
                <a:solidFill>
                  <a:schemeClr val="tx1"/>
                </a:solidFill>
                <a:ea typeface="微软雅黑" panose="020B0503020204020204" pitchFamily="34" charset="-122"/>
                <a:cs typeface="Times New Roman" panose="02020603050405020304" pitchFamily="18" charset="0"/>
              </a:rPr>
              <a:t>门电路的扇入数是指门电路输入端接同类门电路的数目，它</a:t>
            </a:r>
            <a:r>
              <a:rPr lang="zh-CN" altLang="zh-CN" sz="1400" b="0" dirty="0">
                <a:solidFill>
                  <a:srgbClr val="FF00FF"/>
                </a:solidFill>
                <a:ea typeface="微软雅黑" panose="020B0503020204020204" pitchFamily="34" charset="-122"/>
                <a:cs typeface="Times New Roman" panose="02020603050405020304" pitchFamily="18" charset="0"/>
              </a:rPr>
              <a:t>取决于门电路输入端的个数</a:t>
            </a:r>
            <a:r>
              <a:rPr lang="zh-CN" altLang="en-US" sz="1400" b="0" dirty="0">
                <a:solidFill>
                  <a:schemeClr val="tx1"/>
                </a:solidFill>
                <a:ea typeface="微软雅黑" panose="020B0503020204020204" pitchFamily="34" charset="-122"/>
                <a:cs typeface="Times New Roman" panose="02020603050405020304" pitchFamily="18" charset="0"/>
              </a:rPr>
              <a:t>。 </a:t>
            </a:r>
            <a:endParaRPr lang="en-US" altLang="zh-CN" sz="1400" b="0" dirty="0">
              <a:solidFill>
                <a:schemeClr val="tx1"/>
              </a:solidFill>
              <a:ea typeface="微软雅黑" panose="020B0503020204020204" pitchFamily="34" charset="-122"/>
              <a:cs typeface="Times New Roman" panose="02020603050405020304" pitchFamily="18" charset="0"/>
            </a:endParaRPr>
          </a:p>
          <a:p>
            <a:pPr marL="0" indent="0" eaLnBrk="1" hangingPunct="1">
              <a:lnSpc>
                <a:spcPct val="115000"/>
              </a:lnSpc>
              <a:tabLst>
                <a:tab pos="808038" algn="l"/>
              </a:tabLst>
            </a:pPr>
            <a:r>
              <a:rPr lang="en-US" altLang="zh-CN" sz="1400" b="0" dirty="0">
                <a:solidFill>
                  <a:schemeClr val="tx1"/>
                </a:solidFill>
                <a:ea typeface="微软雅黑" panose="020B0503020204020204" pitchFamily="34" charset="-122"/>
                <a:cs typeface="Times New Roman" panose="02020603050405020304" pitchFamily="18" charset="0"/>
              </a:rPr>
              <a:t>                    </a:t>
            </a:r>
            <a:r>
              <a:rPr lang="zh-CN" altLang="zh-CN" sz="1400" b="0" dirty="0">
                <a:solidFill>
                  <a:schemeClr val="tx1"/>
                </a:solidFill>
                <a:ea typeface="微软雅黑" panose="020B0503020204020204" pitchFamily="34" charset="-122"/>
                <a:cs typeface="Times New Roman" panose="02020603050405020304" pitchFamily="18" charset="0"/>
              </a:rPr>
              <a:t>例如一个</a:t>
            </a:r>
            <a:r>
              <a:rPr lang="en-US" altLang="zh-CN" sz="1400" b="0" dirty="0">
                <a:solidFill>
                  <a:schemeClr val="tx1"/>
                </a:solidFill>
                <a:ea typeface="微软雅黑" panose="020B0503020204020204" pitchFamily="34" charset="-122"/>
                <a:cs typeface="Times New Roman" panose="02020603050405020304" pitchFamily="18" charset="0"/>
              </a:rPr>
              <a:t>3</a:t>
            </a:r>
            <a:r>
              <a:rPr lang="zh-CN" altLang="zh-CN" sz="1400" b="0" dirty="0">
                <a:solidFill>
                  <a:schemeClr val="tx1"/>
                </a:solidFill>
                <a:ea typeface="微软雅黑" panose="020B0503020204020204" pitchFamily="34" charset="-122"/>
                <a:cs typeface="Times New Roman" panose="02020603050405020304" pitchFamily="18" charset="0"/>
              </a:rPr>
              <a:t>输入端的与门，其扇入数</a:t>
            </a:r>
            <a:r>
              <a:rPr lang="en-US" altLang="zh-CN" sz="1400" b="0" i="1" dirty="0">
                <a:solidFill>
                  <a:schemeClr val="tx1"/>
                </a:solidFill>
                <a:ea typeface="微软雅黑" panose="020B0503020204020204" pitchFamily="34" charset="-122"/>
                <a:cs typeface="Times New Roman" panose="02020603050405020304" pitchFamily="18" charset="0"/>
              </a:rPr>
              <a:t>N</a:t>
            </a:r>
            <a:r>
              <a:rPr lang="en-US" altLang="zh-CN" sz="1400" b="0" baseline="-25000" dirty="0">
                <a:solidFill>
                  <a:schemeClr val="tx1"/>
                </a:solidFill>
                <a:ea typeface="微软雅黑" panose="020B0503020204020204" pitchFamily="34" charset="-122"/>
                <a:cs typeface="Times New Roman" panose="02020603050405020304" pitchFamily="18" charset="0"/>
              </a:rPr>
              <a:t>I</a:t>
            </a:r>
            <a:r>
              <a:rPr lang="en-US" altLang="zh-CN" sz="1400" b="0" dirty="0">
                <a:solidFill>
                  <a:schemeClr val="tx1"/>
                </a:solidFill>
                <a:ea typeface="微软雅黑" panose="020B0503020204020204" pitchFamily="34" charset="-122"/>
                <a:cs typeface="Times New Roman" panose="02020603050405020304" pitchFamily="18" charset="0"/>
              </a:rPr>
              <a:t>=3</a:t>
            </a:r>
            <a:r>
              <a:rPr lang="zh-CN" altLang="zh-CN" sz="1400" b="0" dirty="0">
                <a:solidFill>
                  <a:schemeClr val="tx1"/>
                </a:solidFill>
                <a:ea typeface="微软雅黑" panose="020B0503020204020204" pitchFamily="34" charset="-122"/>
                <a:cs typeface="Times New Roman" panose="02020603050405020304" pitchFamily="18" charset="0"/>
              </a:rPr>
              <a:t>。</a:t>
            </a:r>
            <a:endParaRPr lang="zh-CN" altLang="en-US" sz="1600" b="0" dirty="0">
              <a:solidFill>
                <a:srgbClr val="2D2D8A"/>
              </a:solidFill>
              <a:latin typeface="Verdana" pitchFamily="34" charset="0"/>
              <a:ea typeface="楷体_GB2312" pitchFamily="49" charset="-122"/>
            </a:endParaRPr>
          </a:p>
        </p:txBody>
      </p:sp>
      <p:sp>
        <p:nvSpPr>
          <p:cNvPr id="11" name="Rectangle 13">
            <a:extLst>
              <a:ext uri="{FF2B5EF4-FFF2-40B4-BE49-F238E27FC236}">
                <a16:creationId xmlns:a16="http://schemas.microsoft.com/office/drawing/2014/main" id="{79660DF9-05A4-4A19-BD8D-C576F48FDBCE}"/>
              </a:ext>
            </a:extLst>
          </p:cNvPr>
          <p:cNvSpPr>
            <a:spLocks noChangeArrowheads="1"/>
          </p:cNvSpPr>
          <p:nvPr/>
        </p:nvSpPr>
        <p:spPr bwMode="auto">
          <a:xfrm>
            <a:off x="881195" y="2268477"/>
            <a:ext cx="8328025" cy="350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346200" indent="-1346200" eaLnBrk="0" hangingPunct="0">
              <a:defRPr sz="2000" b="1">
                <a:solidFill>
                  <a:schemeClr val="accent2"/>
                </a:solidFill>
                <a:latin typeface="Times New Roman" pitchFamily="18" charset="0"/>
                <a:ea typeface="宋体" charset="-122"/>
              </a:defRPr>
            </a:lvl1pPr>
            <a:lvl2pPr marL="742950" indent="-285750" eaLnBrk="0" hangingPunct="0">
              <a:defRPr sz="2000" b="1">
                <a:solidFill>
                  <a:schemeClr val="accent2"/>
                </a:solidFill>
                <a:latin typeface="Times New Roman" pitchFamily="18" charset="0"/>
                <a:ea typeface="宋体" charset="-122"/>
              </a:defRPr>
            </a:lvl2pPr>
            <a:lvl3pPr marL="1143000" indent="-228600" eaLnBrk="0" hangingPunct="0">
              <a:defRPr sz="2000" b="1">
                <a:solidFill>
                  <a:schemeClr val="accent2"/>
                </a:solidFill>
                <a:latin typeface="Times New Roman" pitchFamily="18" charset="0"/>
                <a:ea typeface="宋体" charset="-122"/>
              </a:defRPr>
            </a:lvl3pPr>
            <a:lvl4pPr marL="1600200" indent="-228600" eaLnBrk="0" hangingPunct="0">
              <a:defRPr sz="2000" b="1">
                <a:solidFill>
                  <a:schemeClr val="accent2"/>
                </a:solidFill>
                <a:latin typeface="Times New Roman" pitchFamily="18" charset="0"/>
                <a:ea typeface="宋体" charset="-122"/>
              </a:defRPr>
            </a:lvl4pPr>
            <a:lvl5pPr marL="2057400" indent="-228600" eaLnBrk="0" hangingPunct="0">
              <a:defRPr sz="2000" b="1">
                <a:solidFill>
                  <a:schemeClr val="accent2"/>
                </a:solidFill>
                <a:latin typeface="Times New Roman" pitchFamily="18" charset="0"/>
                <a:ea typeface="宋体" charset="-122"/>
              </a:defRPr>
            </a:lvl5pPr>
            <a:lvl6pPr marL="25146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6pPr>
            <a:lvl7pPr marL="29718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7pPr>
            <a:lvl8pPr marL="34290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8pPr>
            <a:lvl9pPr marL="38862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9pPr>
          </a:lstStyle>
          <a:p>
            <a:pPr marL="179388" indent="-179388" algn="l" eaLnBrk="1" hangingPunct="1">
              <a:lnSpc>
                <a:spcPct val="115000"/>
              </a:lnSpc>
              <a:buFont typeface="Wingdings" pitchFamily="2" charset="2"/>
              <a:buChar char="Ø"/>
            </a:pPr>
            <a:r>
              <a:rPr lang="zh-CN" altLang="en-US" sz="1400" dirty="0">
                <a:solidFill>
                  <a:srgbClr val="FF00FF"/>
                </a:solidFill>
                <a:ea typeface="微软雅黑" panose="020B0503020204020204" pitchFamily="34" charset="-122"/>
                <a:cs typeface="Times New Roman" panose="02020603050405020304" pitchFamily="18" charset="0"/>
              </a:rPr>
              <a:t>扇出数</a:t>
            </a:r>
            <a:r>
              <a:rPr lang="zh-CN" altLang="en-US" sz="1400" b="0" dirty="0">
                <a:solidFill>
                  <a:schemeClr val="tx1"/>
                </a:solidFill>
                <a:ea typeface="微软雅黑" panose="020B0503020204020204" pitchFamily="34" charset="-122"/>
                <a:cs typeface="Times New Roman" panose="02020603050405020304" pitchFamily="18" charset="0"/>
              </a:rPr>
              <a:t>：门电路输出端接同类门的最大数目。它表示</a:t>
            </a:r>
            <a:r>
              <a:rPr lang="zh-CN" altLang="en-US" sz="1400" b="0" dirty="0">
                <a:solidFill>
                  <a:srgbClr val="FF00FF"/>
                </a:solidFill>
                <a:ea typeface="微软雅黑" panose="020B0503020204020204" pitchFamily="34" charset="-122"/>
                <a:cs typeface="Times New Roman" panose="02020603050405020304" pitchFamily="18" charset="0"/>
              </a:rPr>
              <a:t>带载能力</a:t>
            </a:r>
            <a:r>
              <a:rPr lang="zh-CN" altLang="en-US" sz="1600" b="0" dirty="0">
                <a:solidFill>
                  <a:srgbClr val="2D2D8A"/>
                </a:solidFill>
                <a:ea typeface="楷体_GB2312" pitchFamily="49" charset="-122"/>
              </a:rPr>
              <a:t>。</a:t>
            </a:r>
          </a:p>
        </p:txBody>
      </p:sp>
      <p:graphicFrame>
        <p:nvGraphicFramePr>
          <p:cNvPr id="23" name="Object 12">
            <a:extLst>
              <a:ext uri="{FF2B5EF4-FFF2-40B4-BE49-F238E27FC236}">
                <a16:creationId xmlns:a16="http://schemas.microsoft.com/office/drawing/2014/main" id="{6026437E-A4EB-477B-BAE0-1D68241CE920}"/>
              </a:ext>
            </a:extLst>
          </p:cNvPr>
          <p:cNvGraphicFramePr>
            <a:graphicFrameLocks noChangeAspect="1"/>
          </p:cNvGraphicFramePr>
          <p:nvPr>
            <p:extLst>
              <p:ext uri="{D42A27DB-BD31-4B8C-83A1-F6EECF244321}">
                <p14:modId xmlns:p14="http://schemas.microsoft.com/office/powerpoint/2010/main" val="2714682081"/>
              </p:ext>
            </p:extLst>
          </p:nvPr>
        </p:nvGraphicFramePr>
        <p:xfrm>
          <a:off x="3978436" y="2896519"/>
          <a:ext cx="1519315" cy="555021"/>
        </p:xfrm>
        <a:graphic>
          <a:graphicData uri="http://schemas.openxmlformats.org/presentationml/2006/ole">
            <mc:AlternateContent xmlns:mc="http://schemas.openxmlformats.org/markup-compatibility/2006">
              <mc:Choice xmlns:v="urn:schemas-microsoft-com:vml" Requires="v">
                <p:oleObj spid="_x0000_s67624" name="公式" r:id="rId6" imgW="29260800" imgH="10668000" progId="Equation.3">
                  <p:embed/>
                </p:oleObj>
              </mc:Choice>
              <mc:Fallback>
                <p:oleObj name="公式" r:id="rId6" imgW="29260800" imgH="10668000" progId="Equation.3">
                  <p:embed/>
                  <p:pic>
                    <p:nvPicPr>
                      <p:cNvPr id="0" name="Picture 2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78436" y="2896519"/>
                        <a:ext cx="1519315" cy="55502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3" name="组合 32"/>
          <p:cNvGrpSpPr/>
          <p:nvPr/>
        </p:nvGrpSpPr>
        <p:grpSpPr>
          <a:xfrm>
            <a:off x="1067512" y="2818594"/>
            <a:ext cx="2514133" cy="2484926"/>
            <a:chOff x="1067512" y="2818594"/>
            <a:chExt cx="2514133" cy="2484926"/>
          </a:xfrm>
        </p:grpSpPr>
        <p:grpSp>
          <p:nvGrpSpPr>
            <p:cNvPr id="24" name="组合 23">
              <a:extLst>
                <a:ext uri="{FF2B5EF4-FFF2-40B4-BE49-F238E27FC236}">
                  <a16:creationId xmlns:a16="http://schemas.microsoft.com/office/drawing/2014/main" id="{38D4DB09-6AFF-402B-85A9-7204B910CB75}"/>
                </a:ext>
              </a:extLst>
            </p:cNvPr>
            <p:cNvGrpSpPr/>
            <p:nvPr/>
          </p:nvGrpSpPr>
          <p:grpSpPr>
            <a:xfrm>
              <a:off x="1067512" y="2818594"/>
              <a:ext cx="2514133" cy="2484926"/>
              <a:chOff x="1067512" y="2765254"/>
              <a:chExt cx="2514133" cy="2484926"/>
            </a:xfrm>
          </p:grpSpPr>
          <p:sp>
            <p:nvSpPr>
              <p:cNvPr id="20" name="矩形: 圆角 19">
                <a:extLst>
                  <a:ext uri="{FF2B5EF4-FFF2-40B4-BE49-F238E27FC236}">
                    <a16:creationId xmlns:a16="http://schemas.microsoft.com/office/drawing/2014/main" id="{47C9150B-2FE3-4166-9D55-37D8A1FE008F}"/>
                  </a:ext>
                </a:extLst>
              </p:cNvPr>
              <p:cNvSpPr/>
              <p:nvPr/>
            </p:nvSpPr>
            <p:spPr>
              <a:xfrm>
                <a:off x="1067512" y="2765254"/>
                <a:ext cx="2514133" cy="2484926"/>
              </a:xfrm>
              <a:prstGeom prst="roundRect">
                <a:avLst>
                  <a:gd name="adj" fmla="val 5415"/>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8" name="图片 17">
                <a:extLst>
                  <a:ext uri="{FF2B5EF4-FFF2-40B4-BE49-F238E27FC236}">
                    <a16:creationId xmlns:a16="http://schemas.microsoft.com/office/drawing/2014/main" id="{3767F997-ACE6-4D7C-AB43-BA110A078EAA}"/>
                  </a:ext>
                </a:extLst>
              </p:cNvPr>
              <p:cNvPicPr>
                <a:picLocks noChangeAspect="1"/>
              </p:cNvPicPr>
              <p:nvPr/>
            </p:nvPicPr>
            <p:blipFill rotWithShape="1">
              <a:blip r:embed="rId8" cstate="print"/>
              <a:srcRect r="48660"/>
              <a:stretch/>
            </p:blipFill>
            <p:spPr>
              <a:xfrm>
                <a:off x="1234312" y="2810124"/>
                <a:ext cx="2257028" cy="2286680"/>
              </a:xfrm>
              <a:prstGeom prst="rect">
                <a:avLst/>
              </a:prstGeom>
            </p:spPr>
          </p:pic>
          <p:sp>
            <p:nvSpPr>
              <p:cNvPr id="21" name="Rectangle 15">
                <a:extLst>
                  <a:ext uri="{FF2B5EF4-FFF2-40B4-BE49-F238E27FC236}">
                    <a16:creationId xmlns:a16="http://schemas.microsoft.com/office/drawing/2014/main" id="{468F521B-6773-40B0-9153-B7232B304FC9}"/>
                  </a:ext>
                </a:extLst>
              </p:cNvPr>
              <p:cNvSpPr>
                <a:spLocks noChangeArrowheads="1"/>
              </p:cNvSpPr>
              <p:nvPr/>
            </p:nvSpPr>
            <p:spPr bwMode="auto">
              <a:xfrm>
                <a:off x="1144007" y="3953464"/>
                <a:ext cx="246221" cy="111825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txBody>
              <a:bodyPr vert="eaVert" wrap="none" lIns="0" rIns="0">
                <a:spAutoFit/>
              </a:bodyPr>
              <a:lstStyle>
                <a:lvl1pPr eaLnBrk="0" hangingPunct="0">
                  <a:defRPr sz="2000" b="1">
                    <a:solidFill>
                      <a:schemeClr val="accent2"/>
                    </a:solidFill>
                    <a:latin typeface="Times New Roman" pitchFamily="18" charset="0"/>
                    <a:ea typeface="宋体" charset="-122"/>
                  </a:defRPr>
                </a:lvl1pPr>
                <a:lvl2pPr marL="742950" indent="-285750" eaLnBrk="0" hangingPunct="0">
                  <a:defRPr sz="2000" b="1">
                    <a:solidFill>
                      <a:schemeClr val="accent2"/>
                    </a:solidFill>
                    <a:latin typeface="Times New Roman" pitchFamily="18" charset="0"/>
                    <a:ea typeface="宋体" charset="-122"/>
                  </a:defRPr>
                </a:lvl2pPr>
                <a:lvl3pPr marL="1143000" indent="-228600" eaLnBrk="0" hangingPunct="0">
                  <a:defRPr sz="2000" b="1">
                    <a:solidFill>
                      <a:schemeClr val="accent2"/>
                    </a:solidFill>
                    <a:latin typeface="Times New Roman" pitchFamily="18" charset="0"/>
                    <a:ea typeface="宋体" charset="-122"/>
                  </a:defRPr>
                </a:lvl3pPr>
                <a:lvl4pPr marL="1600200" indent="-228600" eaLnBrk="0" hangingPunct="0">
                  <a:defRPr sz="2000" b="1">
                    <a:solidFill>
                      <a:schemeClr val="accent2"/>
                    </a:solidFill>
                    <a:latin typeface="Times New Roman" pitchFamily="18" charset="0"/>
                    <a:ea typeface="宋体" charset="-122"/>
                  </a:defRPr>
                </a:lvl4pPr>
                <a:lvl5pPr marL="2057400" indent="-228600" eaLnBrk="0" hangingPunct="0">
                  <a:defRPr sz="2000" b="1">
                    <a:solidFill>
                      <a:schemeClr val="accent2"/>
                    </a:solidFill>
                    <a:latin typeface="Times New Roman" pitchFamily="18" charset="0"/>
                    <a:ea typeface="宋体" charset="-122"/>
                  </a:defRPr>
                </a:lvl5pPr>
                <a:lvl6pPr marL="25146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6pPr>
                <a:lvl7pPr marL="29718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7pPr>
                <a:lvl8pPr marL="34290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8pPr>
                <a:lvl9pPr marL="38862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9pPr>
              </a:lstStyle>
              <a:p>
                <a:pPr algn="l" eaLnBrk="1" hangingPunct="1">
                  <a:spcBef>
                    <a:spcPct val="0"/>
                  </a:spcBef>
                </a:pPr>
                <a:r>
                  <a:rPr lang="zh-CN" altLang="en-US" sz="1600" b="0" dirty="0">
                    <a:solidFill>
                      <a:srgbClr val="FF0000"/>
                    </a:solidFill>
                    <a:latin typeface="方正粗黑宋简体" pitchFamily="2" charset="-122"/>
                    <a:ea typeface="方正粗黑宋简体" pitchFamily="2" charset="-122"/>
                  </a:rPr>
                  <a:t>拉电流负载</a:t>
                </a:r>
                <a:endParaRPr lang="zh-CN" altLang="en-US" sz="1600" b="0" dirty="0">
                  <a:solidFill>
                    <a:srgbClr val="2D2D8A"/>
                  </a:solidFill>
                  <a:latin typeface="黑体" pitchFamily="49" charset="-122"/>
                  <a:ea typeface="黑体" pitchFamily="49" charset="-122"/>
                </a:endParaRPr>
              </a:p>
            </p:txBody>
          </p:sp>
        </p:grpSp>
        <p:sp>
          <p:nvSpPr>
            <p:cNvPr id="30" name="AutoShape 134">
              <a:extLst>
                <a:ext uri="{FF2B5EF4-FFF2-40B4-BE49-F238E27FC236}">
                  <a16:creationId xmlns:a16="http://schemas.microsoft.com/office/drawing/2014/main" id="{7FC447DE-91DF-4C0A-B3CA-7AD655257459}"/>
                </a:ext>
              </a:extLst>
            </p:cNvPr>
            <p:cNvSpPr>
              <a:spLocks noChangeArrowheads="1"/>
            </p:cNvSpPr>
            <p:nvPr/>
          </p:nvSpPr>
          <p:spPr bwMode="auto">
            <a:xfrm>
              <a:off x="1152634" y="3662976"/>
              <a:ext cx="683700" cy="288000"/>
            </a:xfrm>
            <a:prstGeom prst="wedgeRoundRectCallout">
              <a:avLst>
                <a:gd name="adj1" fmla="val 50160"/>
                <a:gd name="adj2" fmla="val -97896"/>
                <a:gd name="adj3" fmla="val 16667"/>
              </a:avLst>
            </a:prstGeom>
            <a:solidFill>
              <a:srgbClr val="FFFF99"/>
            </a:solidFill>
            <a:ln w="19050">
              <a:solidFill>
                <a:srgbClr val="FF00FF"/>
              </a:solidFill>
              <a:miter lim="800000"/>
              <a:headEnd/>
              <a:tailEnd/>
            </a:ln>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r>
                <a:rPr lang="zh-CN" altLang="en-US" sz="1200" dirty="0">
                  <a:solidFill>
                    <a:schemeClr val="tx1"/>
                  </a:solidFill>
                  <a:latin typeface="方正粗黑宋简体" pitchFamily="2" charset="-122"/>
                  <a:ea typeface="方正粗黑宋简体" pitchFamily="2" charset="-122"/>
                </a:rPr>
                <a:t>拉电流</a:t>
              </a:r>
              <a:endParaRPr lang="en-US" altLang="zh-CN" sz="1200" baseline="-25000" dirty="0">
                <a:solidFill>
                  <a:schemeClr val="tx1"/>
                </a:solidFill>
                <a:latin typeface="方正粗黑宋简体" pitchFamily="2" charset="-122"/>
                <a:ea typeface="方正粗黑宋简体" pitchFamily="2" charset="-122"/>
              </a:endParaRPr>
            </a:p>
          </p:txBody>
        </p:sp>
      </p:grpSp>
      <p:grpSp>
        <p:nvGrpSpPr>
          <p:cNvPr id="27" name="组合 26"/>
          <p:cNvGrpSpPr/>
          <p:nvPr/>
        </p:nvGrpSpPr>
        <p:grpSpPr>
          <a:xfrm>
            <a:off x="6082373" y="2820145"/>
            <a:ext cx="2514133" cy="2484926"/>
            <a:chOff x="6082373" y="2820145"/>
            <a:chExt cx="2514133" cy="2484926"/>
          </a:xfrm>
        </p:grpSpPr>
        <p:grpSp>
          <p:nvGrpSpPr>
            <p:cNvPr id="29" name="组合 28">
              <a:extLst>
                <a:ext uri="{FF2B5EF4-FFF2-40B4-BE49-F238E27FC236}">
                  <a16:creationId xmlns:a16="http://schemas.microsoft.com/office/drawing/2014/main" id="{FF159F3F-2097-4CA8-97B2-53B896B7C179}"/>
                </a:ext>
              </a:extLst>
            </p:cNvPr>
            <p:cNvGrpSpPr/>
            <p:nvPr/>
          </p:nvGrpSpPr>
          <p:grpSpPr>
            <a:xfrm>
              <a:off x="6082373" y="2820145"/>
              <a:ext cx="2514133" cy="2484926"/>
              <a:chOff x="5843142" y="2765254"/>
              <a:chExt cx="2514133" cy="2484926"/>
            </a:xfrm>
          </p:grpSpPr>
          <p:grpSp>
            <p:nvGrpSpPr>
              <p:cNvPr id="25" name="组合 24">
                <a:extLst>
                  <a:ext uri="{FF2B5EF4-FFF2-40B4-BE49-F238E27FC236}">
                    <a16:creationId xmlns:a16="http://schemas.microsoft.com/office/drawing/2014/main" id="{4D6EB77D-E61B-48E9-A72C-F9A08A6787C8}"/>
                  </a:ext>
                </a:extLst>
              </p:cNvPr>
              <p:cNvGrpSpPr/>
              <p:nvPr/>
            </p:nvGrpSpPr>
            <p:grpSpPr>
              <a:xfrm>
                <a:off x="5843142" y="2765254"/>
                <a:ext cx="2514133" cy="2484926"/>
                <a:chOff x="1067512" y="2765254"/>
                <a:chExt cx="2514133" cy="2484926"/>
              </a:xfrm>
            </p:grpSpPr>
            <p:sp>
              <p:nvSpPr>
                <p:cNvPr id="26" name="矩形: 圆角 25">
                  <a:extLst>
                    <a:ext uri="{FF2B5EF4-FFF2-40B4-BE49-F238E27FC236}">
                      <a16:creationId xmlns:a16="http://schemas.microsoft.com/office/drawing/2014/main" id="{72DDB7D5-B52A-4057-A236-89120A1E5D36}"/>
                    </a:ext>
                  </a:extLst>
                </p:cNvPr>
                <p:cNvSpPr/>
                <p:nvPr/>
              </p:nvSpPr>
              <p:spPr>
                <a:xfrm>
                  <a:off x="1067512" y="2765254"/>
                  <a:ext cx="2514133" cy="2484926"/>
                </a:xfrm>
                <a:prstGeom prst="roundRect">
                  <a:avLst>
                    <a:gd name="adj" fmla="val 5415"/>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Rectangle 15">
                  <a:extLst>
                    <a:ext uri="{FF2B5EF4-FFF2-40B4-BE49-F238E27FC236}">
                      <a16:creationId xmlns:a16="http://schemas.microsoft.com/office/drawing/2014/main" id="{B8121BD3-7D95-4A34-9236-98F35384A39C}"/>
                    </a:ext>
                  </a:extLst>
                </p:cNvPr>
                <p:cNvSpPr>
                  <a:spLocks noChangeArrowheads="1"/>
                </p:cNvSpPr>
                <p:nvPr/>
              </p:nvSpPr>
              <p:spPr bwMode="auto">
                <a:xfrm>
                  <a:off x="1183954" y="2835209"/>
                  <a:ext cx="246221" cy="111825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txBody>
                <a:bodyPr vert="eaVert" wrap="none" lIns="0" rIns="0">
                  <a:spAutoFit/>
                </a:bodyPr>
                <a:lstStyle>
                  <a:lvl1pPr eaLnBrk="0" hangingPunct="0">
                    <a:defRPr sz="2000" b="1">
                      <a:solidFill>
                        <a:schemeClr val="accent2"/>
                      </a:solidFill>
                      <a:latin typeface="Times New Roman" pitchFamily="18" charset="0"/>
                      <a:ea typeface="宋体" charset="-122"/>
                    </a:defRPr>
                  </a:lvl1pPr>
                  <a:lvl2pPr marL="742950" indent="-285750" eaLnBrk="0" hangingPunct="0">
                    <a:defRPr sz="2000" b="1">
                      <a:solidFill>
                        <a:schemeClr val="accent2"/>
                      </a:solidFill>
                      <a:latin typeface="Times New Roman" pitchFamily="18" charset="0"/>
                      <a:ea typeface="宋体" charset="-122"/>
                    </a:defRPr>
                  </a:lvl2pPr>
                  <a:lvl3pPr marL="1143000" indent="-228600" eaLnBrk="0" hangingPunct="0">
                    <a:defRPr sz="2000" b="1">
                      <a:solidFill>
                        <a:schemeClr val="accent2"/>
                      </a:solidFill>
                      <a:latin typeface="Times New Roman" pitchFamily="18" charset="0"/>
                      <a:ea typeface="宋体" charset="-122"/>
                    </a:defRPr>
                  </a:lvl3pPr>
                  <a:lvl4pPr marL="1600200" indent="-228600" eaLnBrk="0" hangingPunct="0">
                    <a:defRPr sz="2000" b="1">
                      <a:solidFill>
                        <a:schemeClr val="accent2"/>
                      </a:solidFill>
                      <a:latin typeface="Times New Roman" pitchFamily="18" charset="0"/>
                      <a:ea typeface="宋体" charset="-122"/>
                    </a:defRPr>
                  </a:lvl4pPr>
                  <a:lvl5pPr marL="2057400" indent="-228600" eaLnBrk="0" hangingPunct="0">
                    <a:defRPr sz="2000" b="1">
                      <a:solidFill>
                        <a:schemeClr val="accent2"/>
                      </a:solidFill>
                      <a:latin typeface="Times New Roman" pitchFamily="18" charset="0"/>
                      <a:ea typeface="宋体" charset="-122"/>
                    </a:defRPr>
                  </a:lvl5pPr>
                  <a:lvl6pPr marL="25146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6pPr>
                  <a:lvl7pPr marL="29718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7pPr>
                  <a:lvl8pPr marL="34290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8pPr>
                  <a:lvl9pPr marL="38862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9pPr>
                </a:lstStyle>
                <a:p>
                  <a:pPr algn="l" eaLnBrk="1" hangingPunct="1">
                    <a:spcBef>
                      <a:spcPct val="0"/>
                    </a:spcBef>
                  </a:pPr>
                  <a:r>
                    <a:rPr lang="zh-CN" altLang="en-US" sz="1600" b="0" dirty="0">
                      <a:solidFill>
                        <a:srgbClr val="FF0000"/>
                      </a:solidFill>
                      <a:latin typeface="方正粗黑宋简体" pitchFamily="2" charset="-122"/>
                      <a:ea typeface="方正粗黑宋简体" pitchFamily="2" charset="-122"/>
                    </a:rPr>
                    <a:t>灌电流负载</a:t>
                  </a:r>
                  <a:endParaRPr lang="zh-CN" altLang="en-US" sz="1600" b="0" dirty="0">
                    <a:solidFill>
                      <a:srgbClr val="2D2D8A"/>
                    </a:solidFill>
                    <a:latin typeface="黑体" pitchFamily="49" charset="-122"/>
                    <a:ea typeface="黑体" pitchFamily="49" charset="-122"/>
                  </a:endParaRPr>
                </a:p>
              </p:txBody>
            </p:sp>
          </p:grpSp>
          <p:pic>
            <p:nvPicPr>
              <p:cNvPr id="19" name="图片 18">
                <a:extLst>
                  <a:ext uri="{FF2B5EF4-FFF2-40B4-BE49-F238E27FC236}">
                    <a16:creationId xmlns:a16="http://schemas.microsoft.com/office/drawing/2014/main" id="{7492F2F8-032F-4C42-8FD8-AEFB5939EA44}"/>
                  </a:ext>
                </a:extLst>
              </p:cNvPr>
              <p:cNvPicPr>
                <a:picLocks noChangeAspect="1"/>
              </p:cNvPicPr>
              <p:nvPr/>
            </p:nvPicPr>
            <p:blipFill rotWithShape="1">
              <a:blip r:embed="rId8" cstate="print"/>
              <a:srcRect l="51340"/>
              <a:stretch/>
            </p:blipFill>
            <p:spPr>
              <a:xfrm>
                <a:off x="5979638" y="2781177"/>
                <a:ext cx="2241139" cy="2395652"/>
              </a:xfrm>
              <a:prstGeom prst="rect">
                <a:avLst/>
              </a:prstGeom>
            </p:spPr>
          </p:pic>
        </p:grpSp>
        <p:sp>
          <p:nvSpPr>
            <p:cNvPr id="31" name="AutoShape 134">
              <a:extLst>
                <a:ext uri="{FF2B5EF4-FFF2-40B4-BE49-F238E27FC236}">
                  <a16:creationId xmlns:a16="http://schemas.microsoft.com/office/drawing/2014/main" id="{36B02900-2D36-4A5F-B16C-3D803BE94858}"/>
                </a:ext>
              </a:extLst>
            </p:cNvPr>
            <p:cNvSpPr>
              <a:spLocks noChangeArrowheads="1"/>
            </p:cNvSpPr>
            <p:nvPr/>
          </p:nvSpPr>
          <p:spPr bwMode="auto">
            <a:xfrm>
              <a:off x="6716698" y="4140314"/>
              <a:ext cx="683700" cy="288000"/>
            </a:xfrm>
            <a:prstGeom prst="wedgeRoundRectCallout">
              <a:avLst>
                <a:gd name="adj1" fmla="val 25640"/>
                <a:gd name="adj2" fmla="val 201083"/>
                <a:gd name="adj3" fmla="val 16667"/>
              </a:avLst>
            </a:prstGeom>
            <a:solidFill>
              <a:srgbClr val="FFFF99"/>
            </a:solidFill>
            <a:ln w="19050">
              <a:solidFill>
                <a:srgbClr val="FF00FF"/>
              </a:solidFill>
              <a:miter lim="800000"/>
              <a:headEnd/>
              <a:tailEnd/>
            </a:ln>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r>
                <a:rPr lang="zh-CN" altLang="en-US" sz="1200" dirty="0">
                  <a:solidFill>
                    <a:schemeClr val="tx1"/>
                  </a:solidFill>
                  <a:latin typeface="方正粗黑宋简体" pitchFamily="2" charset="-122"/>
                  <a:ea typeface="方正粗黑宋简体" pitchFamily="2" charset="-122"/>
                </a:rPr>
                <a:t>灌电流</a:t>
              </a:r>
              <a:endParaRPr lang="en-US" altLang="zh-CN" sz="1200" baseline="-25000" dirty="0">
                <a:solidFill>
                  <a:schemeClr val="tx1"/>
                </a:solidFill>
                <a:latin typeface="方正粗黑宋简体" pitchFamily="2" charset="-122"/>
                <a:ea typeface="方正粗黑宋简体" pitchFamily="2" charset="-122"/>
              </a:endParaRPr>
            </a:p>
          </p:txBody>
        </p:sp>
      </p:grpSp>
      <p:graphicFrame>
        <p:nvGraphicFramePr>
          <p:cNvPr id="32" name="对象 31">
            <a:extLst>
              <a:ext uri="{FF2B5EF4-FFF2-40B4-BE49-F238E27FC236}">
                <a16:creationId xmlns:a16="http://schemas.microsoft.com/office/drawing/2014/main" id="{002742F8-40DA-46A6-BED5-0948DA9922B5}"/>
              </a:ext>
            </a:extLst>
          </p:cNvPr>
          <p:cNvGraphicFramePr>
            <a:graphicFrameLocks noChangeAspect="1"/>
          </p:cNvGraphicFramePr>
          <p:nvPr>
            <p:extLst>
              <p:ext uri="{D42A27DB-BD31-4B8C-83A1-F6EECF244321}">
                <p14:modId xmlns:p14="http://schemas.microsoft.com/office/powerpoint/2010/main" val="2586158727"/>
              </p:ext>
            </p:extLst>
          </p:nvPr>
        </p:nvGraphicFramePr>
        <p:xfrm>
          <a:off x="4007124" y="3729293"/>
          <a:ext cx="1490627" cy="555021"/>
        </p:xfrm>
        <a:graphic>
          <a:graphicData uri="http://schemas.openxmlformats.org/presentationml/2006/ole">
            <mc:AlternateContent xmlns:mc="http://schemas.openxmlformats.org/markup-compatibility/2006">
              <mc:Choice xmlns:v="urn:schemas-microsoft-com:vml" Requires="v">
                <p:oleObj spid="_x0000_s67625" name="公式" r:id="rId9" imgW="28651200" imgH="10668000" progId="Equation.3">
                  <p:embed/>
                </p:oleObj>
              </mc:Choice>
              <mc:Fallback>
                <p:oleObj name="公式" r:id="rId9" imgW="28651200" imgH="10668000" progId="Equation.3">
                  <p:embed/>
                  <p:pic>
                    <p:nvPicPr>
                      <p:cNvPr id="0" name="Picture 2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07124" y="3729293"/>
                        <a:ext cx="1490627" cy="55502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 name="文本框 33">
            <a:extLst>
              <a:ext uri="{FF2B5EF4-FFF2-40B4-BE49-F238E27FC236}">
                <a16:creationId xmlns:a16="http://schemas.microsoft.com/office/drawing/2014/main" id="{FB1039EF-1B2F-4758-AB0F-AC4E2D3435FB}"/>
              </a:ext>
            </a:extLst>
          </p:cNvPr>
          <p:cNvSpPr txBox="1"/>
          <p:nvPr/>
        </p:nvSpPr>
        <p:spPr>
          <a:xfrm>
            <a:off x="3705778" y="4643311"/>
            <a:ext cx="2243623" cy="338554"/>
          </a:xfrm>
          <a:prstGeom prst="rect">
            <a:avLst/>
          </a:prstGeom>
          <a:noFill/>
        </p:spPr>
        <p:txBody>
          <a:bodyPr wrap="square">
            <a:spAutoFit/>
          </a:bodyPr>
          <a:lstStyle/>
          <a:p>
            <a:pPr algn="ctr"/>
            <a:r>
              <a:rPr lang="zh-CN" altLang="en-US" sz="1600" dirty="0">
                <a:solidFill>
                  <a:srgbClr val="FF00FF"/>
                </a:solidFill>
                <a:latin typeface="Times New Roman" pitchFamily="18" charset="0"/>
                <a:ea typeface="黑体" pitchFamily="49" charset="-122"/>
                <a:cs typeface="Times New Roman" pitchFamily="18" charset="0"/>
              </a:rPr>
              <a:t>扇出数：</a:t>
            </a:r>
            <a:r>
              <a:rPr lang="en-US" altLang="zh-CN" sz="1600" dirty="0">
                <a:solidFill>
                  <a:srgbClr val="FF00FF"/>
                </a:solidFill>
                <a:latin typeface="Times New Roman" pitchFamily="18" charset="0"/>
                <a:ea typeface="黑体" pitchFamily="49" charset="-122"/>
                <a:cs typeface="Times New Roman" pitchFamily="18" charset="0"/>
              </a:rPr>
              <a:t>min(</a:t>
            </a:r>
            <a:r>
              <a:rPr lang="en-US" altLang="zh-CN" sz="1600" i="1" dirty="0">
                <a:solidFill>
                  <a:srgbClr val="FF00FF"/>
                </a:solidFill>
                <a:latin typeface="Times New Roman" pitchFamily="18" charset="0"/>
                <a:ea typeface="黑体" pitchFamily="49" charset="-122"/>
                <a:cs typeface="Times New Roman" pitchFamily="18" charset="0"/>
              </a:rPr>
              <a:t>N</a:t>
            </a:r>
            <a:r>
              <a:rPr lang="en-US" altLang="zh-CN" sz="1600" baseline="-25000" dirty="0">
                <a:solidFill>
                  <a:srgbClr val="FF00FF"/>
                </a:solidFill>
                <a:latin typeface="Times New Roman" pitchFamily="18" charset="0"/>
                <a:ea typeface="黑体" pitchFamily="49" charset="-122"/>
                <a:cs typeface="Times New Roman" pitchFamily="18" charset="0"/>
              </a:rPr>
              <a:t>OH</a:t>
            </a:r>
            <a:r>
              <a:rPr lang="zh-CN" altLang="en-US" sz="1600" baseline="-25000" dirty="0">
                <a:solidFill>
                  <a:srgbClr val="FF00FF"/>
                </a:solidFill>
                <a:latin typeface="Times New Roman" pitchFamily="18" charset="0"/>
                <a:ea typeface="黑体" pitchFamily="49" charset="-122"/>
                <a:cs typeface="Times New Roman" pitchFamily="18" charset="0"/>
              </a:rPr>
              <a:t>、</a:t>
            </a:r>
            <a:r>
              <a:rPr lang="en-US" altLang="zh-CN" sz="1600" dirty="0">
                <a:solidFill>
                  <a:srgbClr val="FF00FF"/>
                </a:solidFill>
                <a:latin typeface="Times New Roman" pitchFamily="18" charset="0"/>
                <a:ea typeface="黑体" pitchFamily="49" charset="-122"/>
                <a:cs typeface="Times New Roman" pitchFamily="18" charset="0"/>
              </a:rPr>
              <a:t> </a:t>
            </a:r>
            <a:r>
              <a:rPr lang="en-US" altLang="zh-CN" sz="1600" i="1" dirty="0">
                <a:solidFill>
                  <a:srgbClr val="FF00FF"/>
                </a:solidFill>
                <a:latin typeface="Times New Roman" pitchFamily="18" charset="0"/>
                <a:ea typeface="黑体" pitchFamily="49" charset="-122"/>
                <a:cs typeface="Times New Roman" pitchFamily="18" charset="0"/>
              </a:rPr>
              <a:t>N</a:t>
            </a:r>
            <a:r>
              <a:rPr lang="en-US" altLang="zh-CN" sz="1600" baseline="-25000" dirty="0">
                <a:solidFill>
                  <a:srgbClr val="FF00FF"/>
                </a:solidFill>
                <a:latin typeface="Times New Roman" pitchFamily="18" charset="0"/>
                <a:ea typeface="黑体" pitchFamily="49" charset="-122"/>
                <a:cs typeface="Times New Roman" pitchFamily="18" charset="0"/>
              </a:rPr>
              <a:t>OL</a:t>
            </a:r>
            <a:r>
              <a:rPr lang="en-US" altLang="zh-CN" sz="1600" dirty="0">
                <a:solidFill>
                  <a:srgbClr val="FF00FF"/>
                </a:solidFill>
                <a:latin typeface="Times New Roman" pitchFamily="18" charset="0"/>
                <a:ea typeface="黑体" pitchFamily="49" charset="-122"/>
                <a:cs typeface="Times New Roman" pitchFamily="18" charset="0"/>
              </a:rPr>
              <a:t>)</a:t>
            </a:r>
            <a:endParaRPr lang="zh-CN" altLang="en-US" sz="1600" dirty="0">
              <a:solidFill>
                <a:srgbClr val="FF00FF"/>
              </a:solidFill>
              <a:latin typeface="Times New Roman" pitchFamily="18" charset="0"/>
              <a:cs typeface="Times New Roman" pitchFamily="18" charset="0"/>
            </a:endParaRPr>
          </a:p>
        </p:txBody>
      </p:sp>
    </p:spTree>
    <p:extLst>
      <p:ext uri="{BB962C8B-B14F-4D97-AF65-F5344CB8AC3E}">
        <p14:creationId xmlns:p14="http://schemas.microsoft.com/office/powerpoint/2010/main" val="3630601498"/>
      </p:ext>
    </p:extLst>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Bottom)">
                                      <p:cBhvr>
                                        <p:cTn id="7" dur="1000"/>
                                        <p:tgtEl>
                                          <p:spTgt spid="5"/>
                                        </p:tgtEl>
                                      </p:cBhvr>
                                    </p:animEffect>
                                  </p:childTnLst>
                                </p:cTn>
                              </p:par>
                            </p:childTnLst>
                          </p:cTn>
                        </p:par>
                        <p:par>
                          <p:cTn id="8" fill="hold">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slide(fromBottom)">
                                      <p:cBhvr>
                                        <p:cTn id="11" dur="10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4"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slide(fromBottom)">
                                      <p:cBhvr>
                                        <p:cTn id="16" dur="10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4" fill="hold" nodeType="clickEffect">
                                  <p:stCondLst>
                                    <p:cond delay="0"/>
                                  </p:stCondLst>
                                  <p:childTnLst>
                                    <p:set>
                                      <p:cBhvr>
                                        <p:cTn id="20" dur="1" fill="hold">
                                          <p:stCondLst>
                                            <p:cond delay="0"/>
                                          </p:stCondLst>
                                        </p:cTn>
                                        <p:tgtEl>
                                          <p:spTgt spid="33"/>
                                        </p:tgtEl>
                                        <p:attrNameLst>
                                          <p:attrName>style.visibility</p:attrName>
                                        </p:attrNameLst>
                                      </p:cBhvr>
                                      <p:to>
                                        <p:strVal val="visible"/>
                                      </p:to>
                                    </p:set>
                                    <p:animEffect transition="in" filter="slide(fromBottom)">
                                      <p:cBhvr>
                                        <p:cTn id="21" dur="1000"/>
                                        <p:tgtEl>
                                          <p:spTgt spid="33"/>
                                        </p:tgtEl>
                                      </p:cBhvr>
                                    </p:animEffect>
                                  </p:childTnLst>
                                </p:cTn>
                              </p:par>
                            </p:childTnLst>
                          </p:cTn>
                        </p:par>
                        <p:par>
                          <p:cTn id="22" fill="hold">
                            <p:stCondLst>
                              <p:cond delay="1000"/>
                            </p:stCondLst>
                            <p:childTnLst>
                              <p:par>
                                <p:cTn id="23" presetID="12" presetClass="entr" presetSubtype="4" fill="hold" nodeType="after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slide(fromBottom)">
                                      <p:cBhvr>
                                        <p:cTn id="25" dur="1000"/>
                                        <p:tgtEl>
                                          <p:spTgt spid="27"/>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4" fill="hold" nodeType="click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slide(fromBottom)">
                                      <p:cBhvr>
                                        <p:cTn id="30" dur="10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4" fill="hold" nodeType="click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slide(fromBottom)">
                                      <p:cBhvr>
                                        <p:cTn id="35" dur="1000"/>
                                        <p:tgtEl>
                                          <p:spTgt spid="32"/>
                                        </p:tgtEl>
                                      </p:cBhvr>
                                    </p:animEffect>
                                  </p:childTnLst>
                                </p:cTn>
                              </p:par>
                            </p:childTnLst>
                          </p:cTn>
                        </p:par>
                      </p:childTnLst>
                    </p:cTn>
                  </p:par>
                  <p:par>
                    <p:cTn id="36" fill="hold">
                      <p:stCondLst>
                        <p:cond delay="indefinite"/>
                      </p:stCondLst>
                      <p:childTnLst>
                        <p:par>
                          <p:cTn id="37" fill="hold">
                            <p:stCondLst>
                              <p:cond delay="0"/>
                            </p:stCondLst>
                            <p:childTnLst>
                              <p:par>
                                <p:cTn id="38" presetID="12" presetClass="entr" presetSubtype="4" fill="hold" grpId="0" nodeType="clickEffect">
                                  <p:stCondLst>
                                    <p:cond delay="0"/>
                                  </p:stCondLst>
                                  <p:childTnLst>
                                    <p:set>
                                      <p:cBhvr>
                                        <p:cTn id="39" dur="1" fill="hold">
                                          <p:stCondLst>
                                            <p:cond delay="0"/>
                                          </p:stCondLst>
                                        </p:cTn>
                                        <p:tgtEl>
                                          <p:spTgt spid="34"/>
                                        </p:tgtEl>
                                        <p:attrNameLst>
                                          <p:attrName>style.visibility</p:attrName>
                                        </p:attrNameLst>
                                      </p:cBhvr>
                                      <p:to>
                                        <p:strVal val="visible"/>
                                      </p:to>
                                    </p:set>
                                    <p:animEffect transition="in" filter="slide(fromBottom)">
                                      <p:cBhvr>
                                        <p:cTn id="40" dur="10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3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7547E18B-2033-4419-ADA9-CA7D54283C92}"/>
              </a:ext>
            </a:extLst>
          </p:cNvPr>
          <p:cNvGrpSpPr/>
          <p:nvPr/>
        </p:nvGrpSpPr>
        <p:grpSpPr>
          <a:xfrm>
            <a:off x="392432" y="780143"/>
            <a:ext cx="4758688" cy="411055"/>
            <a:chOff x="392432" y="780143"/>
            <a:chExt cx="4758688" cy="411055"/>
          </a:xfrm>
        </p:grpSpPr>
        <p:sp>
          <p:nvSpPr>
            <p:cNvPr id="3" name="矩形 2">
              <a:extLst>
                <a:ext uri="{FF2B5EF4-FFF2-40B4-BE49-F238E27FC236}">
                  <a16:creationId xmlns:a16="http://schemas.microsoft.com/office/drawing/2014/main" id="{06034E3A-B0B6-4310-9CF6-8F1CDC7C83A4}"/>
                </a:ext>
              </a:extLst>
            </p:cNvPr>
            <p:cNvSpPr/>
            <p:nvPr/>
          </p:nvSpPr>
          <p:spPr>
            <a:xfrm>
              <a:off x="754216" y="805934"/>
              <a:ext cx="4396904" cy="369332"/>
            </a:xfrm>
            <a:prstGeom prst="rect">
              <a:avLst/>
            </a:prstGeom>
          </p:spPr>
          <p:txBody>
            <a:bodyPr wrap="square">
              <a:spAutoFit/>
            </a:bodyPr>
            <a:lstStyle/>
            <a:p>
              <a:r>
                <a:rPr lang="en-US" altLang="zh-CN" dirty="0">
                  <a:solidFill>
                    <a:srgbClr val="002060"/>
                  </a:solidFill>
                  <a:latin typeface="方正粗黑宋简体" pitchFamily="2" charset="-122"/>
                  <a:ea typeface="方正粗黑宋简体" pitchFamily="2" charset="-122"/>
                </a:rPr>
                <a:t>2</a:t>
              </a:r>
              <a:r>
                <a:rPr lang="zh-CN" altLang="en-US" dirty="0">
                  <a:solidFill>
                    <a:srgbClr val="002060"/>
                  </a:solidFill>
                  <a:latin typeface="方正粗黑宋简体" pitchFamily="2" charset="-122"/>
                  <a:ea typeface="方正粗黑宋简体" pitchFamily="2" charset="-122"/>
                </a:rPr>
                <a:t>、</a:t>
              </a:r>
              <a:r>
                <a:rPr lang="x-none" altLang="zh-CN" dirty="0">
                  <a:solidFill>
                    <a:srgbClr val="002060"/>
                  </a:solidFill>
                  <a:latin typeface="方正粗黑宋简体" pitchFamily="2" charset="-122"/>
                  <a:ea typeface="方正粗黑宋简体" pitchFamily="2" charset="-122"/>
                </a:rPr>
                <a:t>逻辑门电路的一般特性及参数</a:t>
              </a:r>
              <a:endParaRPr lang="zh-CN" altLang="en-US" dirty="0">
                <a:solidFill>
                  <a:srgbClr val="002060"/>
                </a:solidFill>
                <a:latin typeface="方正粗黑宋简体" pitchFamily="2" charset="-122"/>
                <a:ea typeface="方正粗黑宋简体" pitchFamily="2" charset="-122"/>
              </a:endParaRPr>
            </a:p>
          </p:txBody>
        </p:sp>
        <p:pic>
          <p:nvPicPr>
            <p:cNvPr id="4" name="Picture 3">
              <a:extLst>
                <a:ext uri="{FF2B5EF4-FFF2-40B4-BE49-F238E27FC236}">
                  <a16:creationId xmlns:a16="http://schemas.microsoft.com/office/drawing/2014/main" id="{6B143DA3-3CA0-43D4-BBA5-2CC5E6BB423D}"/>
                </a:ext>
              </a:extLst>
            </p:cNvPr>
            <p:cNvPicPr>
              <a:picLocks noChangeAspect="1" noChangeArrowheads="1"/>
            </p:cNvPicPr>
            <p:nvPr/>
          </p:nvPicPr>
          <p:blipFill>
            <a:blip r:embed="rId3" cstate="print"/>
            <a:srcRect/>
            <a:stretch>
              <a:fillRect/>
            </a:stretch>
          </p:blipFill>
          <p:spPr bwMode="auto">
            <a:xfrm flipH="1">
              <a:off x="392432" y="780143"/>
              <a:ext cx="342900" cy="411055"/>
            </a:xfrm>
            <a:prstGeom prst="rect">
              <a:avLst/>
            </a:prstGeom>
            <a:noFill/>
            <a:ln w="9525">
              <a:noFill/>
              <a:miter lim="800000"/>
              <a:headEnd/>
              <a:tailEnd/>
            </a:ln>
          </p:spPr>
        </p:pic>
      </p:grpSp>
      <p:grpSp>
        <p:nvGrpSpPr>
          <p:cNvPr id="5" name="组合 4">
            <a:extLst>
              <a:ext uri="{FF2B5EF4-FFF2-40B4-BE49-F238E27FC236}">
                <a16:creationId xmlns:a16="http://schemas.microsoft.com/office/drawing/2014/main" id="{45680B59-2970-419A-96C3-0CD956485B39}"/>
              </a:ext>
            </a:extLst>
          </p:cNvPr>
          <p:cNvGrpSpPr/>
          <p:nvPr/>
        </p:nvGrpSpPr>
        <p:grpSpPr>
          <a:xfrm>
            <a:off x="430607" y="1292296"/>
            <a:ext cx="3458845" cy="371597"/>
            <a:chOff x="307975" y="1519116"/>
            <a:chExt cx="3458845" cy="371597"/>
          </a:xfrm>
        </p:grpSpPr>
        <p:grpSp>
          <p:nvGrpSpPr>
            <p:cNvPr id="6" name="组合 5">
              <a:extLst>
                <a:ext uri="{FF2B5EF4-FFF2-40B4-BE49-F238E27FC236}">
                  <a16:creationId xmlns:a16="http://schemas.microsoft.com/office/drawing/2014/main" id="{6B135F23-9FAA-4F3A-990F-7F500931198C}"/>
                </a:ext>
              </a:extLst>
            </p:cNvPr>
            <p:cNvGrpSpPr/>
            <p:nvPr/>
          </p:nvGrpSpPr>
          <p:grpSpPr>
            <a:xfrm>
              <a:off x="307975" y="1519116"/>
              <a:ext cx="568325" cy="371597"/>
              <a:chOff x="307975" y="1519116"/>
              <a:chExt cx="568325" cy="371597"/>
            </a:xfrm>
          </p:grpSpPr>
          <p:pic>
            <p:nvPicPr>
              <p:cNvPr id="8" name="Picture 4">
                <a:extLst>
                  <a:ext uri="{FF2B5EF4-FFF2-40B4-BE49-F238E27FC236}">
                    <a16:creationId xmlns:a16="http://schemas.microsoft.com/office/drawing/2014/main" id="{70C2B751-42DD-40F9-BDA5-616C0F5B5B2F}"/>
                  </a:ext>
                </a:extLst>
              </p:cNvPr>
              <p:cNvPicPr>
                <a:picLocks noChangeAspect="1" noChangeArrowheads="1"/>
              </p:cNvPicPr>
              <p:nvPr/>
            </p:nvPicPr>
            <p:blipFill>
              <a:blip r:embed="rId4" cstate="print"/>
              <a:srcRect/>
              <a:stretch>
                <a:fillRect/>
              </a:stretch>
            </p:blipFill>
            <p:spPr bwMode="auto">
              <a:xfrm flipH="1">
                <a:off x="307975" y="1519116"/>
                <a:ext cx="568325" cy="371597"/>
              </a:xfrm>
              <a:prstGeom prst="rect">
                <a:avLst/>
              </a:prstGeom>
              <a:noFill/>
              <a:ln w="9525">
                <a:noFill/>
                <a:miter lim="800000"/>
                <a:headEnd/>
                <a:tailEnd/>
              </a:ln>
              <a:effectLst/>
            </p:spPr>
          </p:pic>
          <p:sp>
            <p:nvSpPr>
              <p:cNvPr id="9" name="TextBox 25">
                <a:extLst>
                  <a:ext uri="{FF2B5EF4-FFF2-40B4-BE49-F238E27FC236}">
                    <a16:creationId xmlns:a16="http://schemas.microsoft.com/office/drawing/2014/main" id="{E0AFCE28-6944-4C98-AA1A-AA1A6AF02F65}"/>
                  </a:ext>
                </a:extLst>
              </p:cNvPr>
              <p:cNvSpPr txBox="1"/>
              <p:nvPr/>
            </p:nvSpPr>
            <p:spPr>
              <a:xfrm flipH="1">
                <a:off x="443415" y="1555750"/>
                <a:ext cx="142668" cy="276999"/>
              </a:xfrm>
              <a:prstGeom prst="rect">
                <a:avLst/>
              </a:prstGeom>
              <a:noFill/>
            </p:spPr>
            <p:txBody>
              <a:bodyPr wrap="none" lIns="0" tIns="0" rIns="0" bIns="0" rtlCol="0">
                <a:spAutoFit/>
              </a:bodyPr>
              <a:lstStyle/>
              <a:p>
                <a:r>
                  <a:rPr lang="en-US" altLang="zh-CN" b="1" dirty="0">
                    <a:solidFill>
                      <a:srgbClr val="262626"/>
                    </a:solidFill>
                    <a:latin typeface="Segoe UI Black" pitchFamily="34" charset="0"/>
                    <a:ea typeface="Segoe UI Black" pitchFamily="34" charset="0"/>
                    <a:cs typeface="Times New Roman" pitchFamily="18" charset="0"/>
                  </a:rPr>
                  <a:t>4</a:t>
                </a:r>
                <a:endParaRPr lang="zh-CN" altLang="en-US" b="1" dirty="0">
                  <a:solidFill>
                    <a:srgbClr val="262626"/>
                  </a:solidFill>
                  <a:latin typeface="Segoe UI Black" pitchFamily="34" charset="0"/>
                  <a:cs typeface="Times New Roman" pitchFamily="18" charset="0"/>
                </a:endParaRPr>
              </a:p>
            </p:txBody>
          </p:sp>
        </p:grpSp>
        <p:sp>
          <p:nvSpPr>
            <p:cNvPr id="7" name="矩形 6">
              <a:extLst>
                <a:ext uri="{FF2B5EF4-FFF2-40B4-BE49-F238E27FC236}">
                  <a16:creationId xmlns:a16="http://schemas.microsoft.com/office/drawing/2014/main" id="{B50B05BE-0F16-4680-9B0F-FE8916C95328}"/>
                </a:ext>
              </a:extLst>
            </p:cNvPr>
            <p:cNvSpPr/>
            <p:nvPr/>
          </p:nvSpPr>
          <p:spPr>
            <a:xfrm>
              <a:off x="863675" y="1542534"/>
              <a:ext cx="2903145" cy="338554"/>
            </a:xfrm>
            <a:prstGeom prst="rect">
              <a:avLst/>
            </a:prstGeom>
          </p:spPr>
          <p:txBody>
            <a:bodyPr wrap="square">
              <a:spAutoFit/>
            </a:bodyPr>
            <a:lstStyle/>
            <a:p>
              <a:r>
                <a:rPr lang="zh-CN" altLang="en-US" sz="1600" b="1" dirty="0">
                  <a:solidFill>
                    <a:srgbClr val="6600FF"/>
                  </a:solidFill>
                  <a:latin typeface="黑体" pitchFamily="49" charset="-122"/>
                  <a:ea typeface="黑体" pitchFamily="49" charset="-122"/>
                  <a:cs typeface="Times New Roman" pitchFamily="18" charset="0"/>
                </a:rPr>
                <a:t>传输延迟时间</a:t>
              </a:r>
            </a:p>
          </p:txBody>
        </p:sp>
      </p:grpSp>
      <p:grpSp>
        <p:nvGrpSpPr>
          <p:cNvPr id="27" name="组合 26">
            <a:extLst>
              <a:ext uri="{FF2B5EF4-FFF2-40B4-BE49-F238E27FC236}">
                <a16:creationId xmlns:a16="http://schemas.microsoft.com/office/drawing/2014/main" id="{795E67E8-7E84-45FE-8D1E-94EE3FBC22D2}"/>
              </a:ext>
            </a:extLst>
          </p:cNvPr>
          <p:cNvGrpSpPr/>
          <p:nvPr/>
        </p:nvGrpSpPr>
        <p:grpSpPr>
          <a:xfrm>
            <a:off x="5596359" y="2576931"/>
            <a:ext cx="3109567" cy="2840318"/>
            <a:chOff x="5451240" y="2138400"/>
            <a:chExt cx="3109567" cy="2840318"/>
          </a:xfrm>
        </p:grpSpPr>
        <p:pic>
          <p:nvPicPr>
            <p:cNvPr id="33" name="Picture 46">
              <a:extLst>
                <a:ext uri="{FF2B5EF4-FFF2-40B4-BE49-F238E27FC236}">
                  <a16:creationId xmlns:a16="http://schemas.microsoft.com/office/drawing/2014/main" id="{C408BABC-9279-4501-B26A-F385C8087197}"/>
                </a:ext>
              </a:extLst>
            </p:cNvPr>
            <p:cNvPicPr>
              <a:picLocks noChangeAspect="1" noChangeArrowheads="1"/>
            </p:cNvPicPr>
            <p:nvPr/>
          </p:nvPicPr>
          <p:blipFill>
            <a:blip r:embed="rId5" cstate="print"/>
            <a:srcRect/>
            <a:stretch>
              <a:fillRect/>
            </a:stretch>
          </p:blipFill>
          <p:spPr bwMode="auto">
            <a:xfrm>
              <a:off x="5729288" y="2202180"/>
              <a:ext cx="2831519" cy="2776538"/>
            </a:xfrm>
            <a:prstGeom prst="rect">
              <a:avLst/>
            </a:prstGeom>
            <a:noFill/>
            <a:ln w="9525">
              <a:noFill/>
              <a:miter lim="800000"/>
              <a:headEnd/>
              <a:tailEnd/>
            </a:ln>
            <a:effectLst/>
          </p:spPr>
        </p:pic>
        <p:sp>
          <p:nvSpPr>
            <p:cNvPr id="35" name="圆角矩形 18">
              <a:extLst>
                <a:ext uri="{FF2B5EF4-FFF2-40B4-BE49-F238E27FC236}">
                  <a16:creationId xmlns:a16="http://schemas.microsoft.com/office/drawing/2014/main" id="{0C2A4486-672F-4CC4-8FB3-09DEEB431EF9}"/>
                </a:ext>
              </a:extLst>
            </p:cNvPr>
            <p:cNvSpPr/>
            <p:nvPr/>
          </p:nvSpPr>
          <p:spPr>
            <a:xfrm>
              <a:off x="5451240" y="2138400"/>
              <a:ext cx="3024000" cy="302400"/>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rgbClr val="FF0000"/>
                  </a:solidFill>
                  <a:latin typeface="微软雅黑" pitchFamily="34" charset="-122"/>
                  <a:ea typeface="微软雅黑" pitchFamily="34" charset="-122"/>
                </a:rPr>
                <a:t>CMOS</a:t>
              </a:r>
              <a:r>
                <a:rPr lang="zh-CN" altLang="en-US" sz="1600" dirty="0">
                  <a:solidFill>
                    <a:srgbClr val="FF0000"/>
                  </a:solidFill>
                  <a:latin typeface="微软雅黑" pitchFamily="34" charset="-122"/>
                  <a:ea typeface="微软雅黑" pitchFamily="34" charset="-122"/>
                </a:rPr>
                <a:t>非门的传输延迟时间</a:t>
              </a:r>
            </a:p>
          </p:txBody>
        </p:sp>
      </p:grpSp>
      <p:sp>
        <p:nvSpPr>
          <p:cNvPr id="42" name="Rectangle 11">
            <a:extLst>
              <a:ext uri="{FF2B5EF4-FFF2-40B4-BE49-F238E27FC236}">
                <a16:creationId xmlns:a16="http://schemas.microsoft.com/office/drawing/2014/main" id="{90B3D8DF-639A-4CF3-B977-502D911158FA}"/>
              </a:ext>
            </a:extLst>
          </p:cNvPr>
          <p:cNvSpPr>
            <a:spLocks noChangeArrowheads="1"/>
          </p:cNvSpPr>
          <p:nvPr/>
        </p:nvSpPr>
        <p:spPr bwMode="auto">
          <a:xfrm>
            <a:off x="547446" y="1804341"/>
            <a:ext cx="8158480" cy="707886"/>
          </a:xfrm>
          <a:prstGeom prst="rect">
            <a:avLst/>
          </a:prstGeom>
          <a:noFill/>
          <a:ln w="9525" algn="ctr">
            <a:noFill/>
            <a:miter lim="800000"/>
            <a:headEnd/>
            <a:tailEnd/>
          </a:ln>
        </p:spPr>
        <p:txBody>
          <a:bodyPr wrap="square" lIns="0" rIns="0">
            <a:spAutoFit/>
          </a:bodyPr>
          <a:lstStyle/>
          <a:p>
            <a:pPr indent="449263">
              <a:lnSpc>
                <a:spcPct val="125000"/>
              </a:lnSpc>
              <a:defRPr/>
            </a:pPr>
            <a:r>
              <a:rPr lang="zh-CN" altLang="en-US" sz="1600" dirty="0">
                <a:latin typeface="Times New Roman" pitchFamily="18" charset="0"/>
                <a:ea typeface="黑体" pitchFamily="49" charset="-122"/>
                <a:cs typeface="Times New Roman" pitchFamily="18" charset="0"/>
              </a:rPr>
              <a:t>传输延迟时间是表征门电路开关速度的参数，它说明门电路在输入脉冲波形的作用下，其输出波形相对于输入波形延迟了多长的时间。</a:t>
            </a:r>
          </a:p>
        </p:txBody>
      </p:sp>
      <p:grpSp>
        <p:nvGrpSpPr>
          <p:cNvPr id="43" name="组合 42">
            <a:extLst>
              <a:ext uri="{FF2B5EF4-FFF2-40B4-BE49-F238E27FC236}">
                <a16:creationId xmlns:a16="http://schemas.microsoft.com/office/drawing/2014/main" id="{1F4788BF-92C3-4BE1-A384-250D019A8B91}"/>
              </a:ext>
            </a:extLst>
          </p:cNvPr>
          <p:cNvGrpSpPr/>
          <p:nvPr/>
        </p:nvGrpSpPr>
        <p:grpSpPr>
          <a:xfrm>
            <a:off x="815176" y="2837371"/>
            <a:ext cx="3886378" cy="400110"/>
            <a:chOff x="402908" y="3637418"/>
            <a:chExt cx="3886378" cy="400110"/>
          </a:xfrm>
        </p:grpSpPr>
        <p:sp>
          <p:nvSpPr>
            <p:cNvPr id="44" name="Text Box 14">
              <a:extLst>
                <a:ext uri="{FF2B5EF4-FFF2-40B4-BE49-F238E27FC236}">
                  <a16:creationId xmlns:a16="http://schemas.microsoft.com/office/drawing/2014/main" id="{918D1226-BF27-4CF6-813F-C54642EEC384}"/>
                </a:ext>
              </a:extLst>
            </p:cNvPr>
            <p:cNvSpPr txBox="1">
              <a:spLocks noChangeArrowheads="1"/>
            </p:cNvSpPr>
            <p:nvPr/>
          </p:nvSpPr>
          <p:spPr bwMode="auto">
            <a:xfrm>
              <a:off x="1777380" y="3637418"/>
              <a:ext cx="2511906" cy="400110"/>
            </a:xfrm>
            <a:prstGeom prst="rect">
              <a:avLst/>
            </a:prstGeom>
            <a:noFill/>
            <a:ln w="9525" algn="ctr">
              <a:noFill/>
              <a:miter lim="800000"/>
              <a:headEnd/>
              <a:tailEnd/>
            </a:ln>
          </p:spPr>
          <p:txBody>
            <a:bodyPr wrap="none" lIns="0" rIns="0">
              <a:spAutoFit/>
            </a:bodyPr>
            <a:lstStyle/>
            <a:p>
              <a:pPr>
                <a:defRPr/>
              </a:pPr>
              <a:r>
                <a:rPr lang="en-US" altLang="zh-CN" sz="2000" i="1" dirty="0" err="1">
                  <a:solidFill>
                    <a:schemeClr val="accent1">
                      <a:lumMod val="75000"/>
                    </a:schemeClr>
                  </a:solidFill>
                  <a:latin typeface="方正粗黑宋简体" pitchFamily="2" charset="-122"/>
                  <a:ea typeface="方正粗黑宋简体" pitchFamily="2" charset="-122"/>
                </a:rPr>
                <a:t>t</a:t>
              </a:r>
              <a:r>
                <a:rPr lang="en-US" altLang="zh-CN" sz="2000" baseline="-25000" dirty="0" err="1">
                  <a:solidFill>
                    <a:schemeClr val="accent1">
                      <a:lumMod val="75000"/>
                    </a:schemeClr>
                  </a:solidFill>
                  <a:latin typeface="方正粗黑宋简体" pitchFamily="2" charset="-122"/>
                  <a:ea typeface="方正粗黑宋简体" pitchFamily="2" charset="-122"/>
                </a:rPr>
                <a:t>pd</a:t>
              </a:r>
              <a:r>
                <a:rPr lang="en-US" altLang="zh-CN" sz="2000" baseline="-25000" dirty="0">
                  <a:solidFill>
                    <a:schemeClr val="accent1">
                      <a:lumMod val="75000"/>
                    </a:schemeClr>
                  </a:solidFill>
                  <a:latin typeface="方正粗黑宋简体" pitchFamily="2" charset="-122"/>
                  <a:ea typeface="方正粗黑宋简体" pitchFamily="2" charset="-122"/>
                </a:rPr>
                <a:t> </a:t>
              </a:r>
              <a:r>
                <a:rPr lang="en-US" altLang="zh-CN" sz="2000" dirty="0">
                  <a:solidFill>
                    <a:schemeClr val="accent1">
                      <a:lumMod val="75000"/>
                    </a:schemeClr>
                  </a:solidFill>
                  <a:latin typeface="方正粗黑宋简体" pitchFamily="2" charset="-122"/>
                  <a:ea typeface="方正粗黑宋简体" pitchFamily="2" charset="-122"/>
                </a:rPr>
                <a:t>=</a:t>
              </a:r>
              <a:r>
                <a:rPr lang="zh-CN" altLang="en-US" sz="2000" dirty="0">
                  <a:solidFill>
                    <a:schemeClr val="accent1">
                      <a:lumMod val="75000"/>
                    </a:schemeClr>
                  </a:solidFill>
                  <a:latin typeface="方正粗黑宋简体" pitchFamily="2" charset="-122"/>
                  <a:ea typeface="方正粗黑宋简体" pitchFamily="2" charset="-122"/>
                </a:rPr>
                <a:t>（</a:t>
              </a:r>
              <a:r>
                <a:rPr lang="en-US" altLang="zh-CN" sz="2000" i="1" dirty="0" err="1">
                  <a:solidFill>
                    <a:schemeClr val="accent1">
                      <a:lumMod val="75000"/>
                    </a:schemeClr>
                  </a:solidFill>
                  <a:latin typeface="方正粗黑宋简体" pitchFamily="2" charset="-122"/>
                  <a:ea typeface="方正粗黑宋简体" pitchFamily="2" charset="-122"/>
                </a:rPr>
                <a:t>t</a:t>
              </a:r>
              <a:r>
                <a:rPr lang="en-US" altLang="zh-CN" sz="2000" baseline="-25000" dirty="0" err="1">
                  <a:solidFill>
                    <a:schemeClr val="accent1">
                      <a:lumMod val="75000"/>
                    </a:schemeClr>
                  </a:solidFill>
                  <a:latin typeface="方正粗黑宋简体" pitchFamily="2" charset="-122"/>
                  <a:ea typeface="方正粗黑宋简体" pitchFamily="2" charset="-122"/>
                </a:rPr>
                <a:t>PLH</a:t>
              </a:r>
              <a:r>
                <a:rPr lang="en-US" altLang="zh-CN" sz="2000" baseline="-25000" dirty="0">
                  <a:solidFill>
                    <a:schemeClr val="accent1">
                      <a:lumMod val="75000"/>
                    </a:schemeClr>
                  </a:solidFill>
                  <a:latin typeface="方正粗黑宋简体" pitchFamily="2" charset="-122"/>
                  <a:ea typeface="方正粗黑宋简体" pitchFamily="2" charset="-122"/>
                </a:rPr>
                <a:t> </a:t>
              </a:r>
              <a:r>
                <a:rPr lang="en-US" altLang="zh-CN" sz="2000" dirty="0">
                  <a:solidFill>
                    <a:schemeClr val="accent1">
                      <a:lumMod val="75000"/>
                    </a:schemeClr>
                  </a:solidFill>
                  <a:latin typeface="方正粗黑宋简体" pitchFamily="2" charset="-122"/>
                  <a:ea typeface="方正粗黑宋简体" pitchFamily="2" charset="-122"/>
                </a:rPr>
                <a:t>+ </a:t>
              </a:r>
              <a:r>
                <a:rPr lang="en-US" altLang="zh-CN" sz="2000" i="1" dirty="0" err="1">
                  <a:solidFill>
                    <a:schemeClr val="accent1">
                      <a:lumMod val="75000"/>
                    </a:schemeClr>
                  </a:solidFill>
                  <a:latin typeface="方正粗黑宋简体" pitchFamily="2" charset="-122"/>
                  <a:ea typeface="方正粗黑宋简体" pitchFamily="2" charset="-122"/>
                </a:rPr>
                <a:t>t</a:t>
              </a:r>
              <a:r>
                <a:rPr lang="en-US" altLang="zh-CN" sz="2000" baseline="-25000" dirty="0" err="1">
                  <a:solidFill>
                    <a:schemeClr val="accent1">
                      <a:lumMod val="75000"/>
                    </a:schemeClr>
                  </a:solidFill>
                  <a:latin typeface="方正粗黑宋简体" pitchFamily="2" charset="-122"/>
                  <a:ea typeface="方正粗黑宋简体" pitchFamily="2" charset="-122"/>
                </a:rPr>
                <a:t>PHL</a:t>
              </a:r>
              <a:r>
                <a:rPr lang="zh-CN" altLang="en-US" sz="2000" dirty="0">
                  <a:solidFill>
                    <a:schemeClr val="accent1">
                      <a:lumMod val="75000"/>
                    </a:schemeClr>
                  </a:solidFill>
                  <a:latin typeface="方正粗黑宋简体" pitchFamily="2" charset="-122"/>
                  <a:ea typeface="方正粗黑宋简体" pitchFamily="2" charset="-122"/>
                </a:rPr>
                <a:t>）</a:t>
              </a:r>
              <a:r>
                <a:rPr lang="en-US" altLang="zh-CN" sz="2000" dirty="0">
                  <a:solidFill>
                    <a:schemeClr val="accent1">
                      <a:lumMod val="75000"/>
                    </a:schemeClr>
                  </a:solidFill>
                  <a:latin typeface="方正粗黑宋简体" pitchFamily="2" charset="-122"/>
                  <a:ea typeface="方正粗黑宋简体" pitchFamily="2" charset="-122"/>
                </a:rPr>
                <a:t>/ 2</a:t>
              </a:r>
            </a:p>
          </p:txBody>
        </p:sp>
        <p:sp>
          <p:nvSpPr>
            <p:cNvPr id="45" name="Text Box 15">
              <a:extLst>
                <a:ext uri="{FF2B5EF4-FFF2-40B4-BE49-F238E27FC236}">
                  <a16:creationId xmlns:a16="http://schemas.microsoft.com/office/drawing/2014/main" id="{9247C177-F904-4387-B4F2-FC80877A9C34}"/>
                </a:ext>
              </a:extLst>
            </p:cNvPr>
            <p:cNvSpPr txBox="1">
              <a:spLocks noChangeArrowheads="1"/>
            </p:cNvSpPr>
            <p:nvPr/>
          </p:nvSpPr>
          <p:spPr bwMode="auto">
            <a:xfrm>
              <a:off x="402908" y="3694358"/>
              <a:ext cx="1436291" cy="338554"/>
            </a:xfrm>
            <a:prstGeom prst="rect">
              <a:avLst/>
            </a:prstGeom>
            <a:noFill/>
            <a:ln w="9525" algn="ctr">
              <a:noFill/>
              <a:miter lim="800000"/>
              <a:headEnd/>
              <a:tailEnd/>
            </a:ln>
          </p:spPr>
          <p:txBody>
            <a:bodyPr wrap="none" lIns="0" rIns="0">
              <a:spAutoFit/>
            </a:bodyPr>
            <a:lstStyle/>
            <a:p>
              <a:pPr>
                <a:defRPr/>
              </a:pPr>
              <a:r>
                <a:rPr lang="zh-CN" altLang="en-US" sz="1600" b="1" u="sng" dirty="0">
                  <a:solidFill>
                    <a:srgbClr val="FF0000"/>
                  </a:solidFill>
                  <a:latin typeface="微软雅黑" pitchFamily="34" charset="-122"/>
                  <a:ea typeface="微软雅黑" pitchFamily="34" charset="-122"/>
                </a:rPr>
                <a:t>平均延迟时间</a:t>
              </a:r>
              <a:r>
                <a:rPr lang="zh-CN" altLang="en-US" sz="1600" b="1" dirty="0">
                  <a:solidFill>
                    <a:srgbClr val="FF0000"/>
                  </a:solidFill>
                  <a:latin typeface="微软雅黑" pitchFamily="34" charset="-122"/>
                  <a:ea typeface="微软雅黑" pitchFamily="34" charset="-122"/>
                </a:rPr>
                <a:t>：</a:t>
              </a:r>
            </a:p>
          </p:txBody>
        </p:sp>
      </p:grpSp>
      <p:graphicFrame>
        <p:nvGraphicFramePr>
          <p:cNvPr id="46" name="Group 85">
            <a:extLst>
              <a:ext uri="{FF2B5EF4-FFF2-40B4-BE49-F238E27FC236}">
                <a16:creationId xmlns:a16="http://schemas.microsoft.com/office/drawing/2014/main" id="{0513DF7D-2CF6-498C-81E0-7D2A3B917105}"/>
              </a:ext>
            </a:extLst>
          </p:cNvPr>
          <p:cNvGraphicFramePr>
            <a:graphicFrameLocks noGrp="1"/>
          </p:cNvGraphicFramePr>
          <p:nvPr>
            <p:extLst>
              <p:ext uri="{D42A27DB-BD31-4B8C-83A1-F6EECF244321}">
                <p14:modId xmlns:p14="http://schemas.microsoft.com/office/powerpoint/2010/main" val="846248875"/>
              </p:ext>
            </p:extLst>
          </p:nvPr>
        </p:nvGraphicFramePr>
        <p:xfrm>
          <a:off x="501599" y="3787840"/>
          <a:ext cx="4667885" cy="1010920"/>
        </p:xfrm>
        <a:graphic>
          <a:graphicData uri="http://schemas.openxmlformats.org/drawingml/2006/table">
            <a:tbl>
              <a:tblPr/>
              <a:tblGrid>
                <a:gridCol w="1027113">
                  <a:extLst>
                    <a:ext uri="{9D8B030D-6E8A-4147-A177-3AD203B41FA5}">
                      <a16:colId xmlns:a16="http://schemas.microsoft.com/office/drawing/2014/main" val="20000"/>
                    </a:ext>
                  </a:extLst>
                </a:gridCol>
                <a:gridCol w="790892">
                  <a:extLst>
                    <a:ext uri="{9D8B030D-6E8A-4147-A177-3AD203B41FA5}">
                      <a16:colId xmlns:a16="http://schemas.microsoft.com/office/drawing/2014/main" val="20001"/>
                    </a:ext>
                  </a:extLst>
                </a:gridCol>
                <a:gridCol w="92202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967740">
                  <a:extLst>
                    <a:ext uri="{9D8B030D-6E8A-4147-A177-3AD203B41FA5}">
                      <a16:colId xmlns:a16="http://schemas.microsoft.com/office/drawing/2014/main" val="20004"/>
                    </a:ext>
                  </a:extLst>
                </a:gridCol>
              </a:tblGrid>
              <a:tr h="53848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dirty="0">
                          <a:ln>
                            <a:noFill/>
                          </a:ln>
                          <a:solidFill>
                            <a:srgbClr val="000066"/>
                          </a:solidFill>
                          <a:effectLst/>
                          <a:latin typeface="Times New Roman" pitchFamily="18" charset="0"/>
                          <a:ea typeface="黑体" pitchFamily="49" charset="-122"/>
                          <a:cs typeface="Times New Roman" pitchFamily="18" charset="0"/>
                        </a:rPr>
                        <a:t>类型</a:t>
                      </a:r>
                    </a:p>
                    <a:p>
                      <a:pPr marL="0" marR="0" lvl="0" indent="0" algn="ctr" defTabSz="914400" rtl="0" eaLnBrk="0" fontAlgn="base" latinLnBrk="0" hangingPunct="0">
                        <a:lnSpc>
                          <a:spcPct val="100000"/>
                        </a:lnSpc>
                        <a:spcBef>
                          <a:spcPct val="0"/>
                        </a:spcBef>
                        <a:spcAft>
                          <a:spcPct val="0"/>
                        </a:spcAft>
                        <a:buClrTx/>
                        <a:buSzTx/>
                        <a:buFontTx/>
                        <a:buNone/>
                        <a:tabLst/>
                      </a:pPr>
                      <a:r>
                        <a:rPr kumimoji="1" lang="zh-CN" altLang="en-US" sz="1400" b="1" i="0" u="none" strike="noStrike" cap="none" normalizeH="0" baseline="0" dirty="0">
                          <a:ln>
                            <a:noFill/>
                          </a:ln>
                          <a:solidFill>
                            <a:srgbClr val="000066"/>
                          </a:solidFill>
                          <a:effectLst/>
                          <a:latin typeface="Times New Roman" pitchFamily="18" charset="0"/>
                          <a:ea typeface="黑体" pitchFamily="49" charset="-122"/>
                          <a:cs typeface="Times New Roman" pitchFamily="18" charset="0"/>
                        </a:rPr>
                        <a:t>参数</a:t>
                      </a:r>
                    </a:p>
                  </a:txBody>
                  <a:tcPr marL="0" marR="0" marT="0" marB="0" anchor="ctr" horzOverflow="overflow">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400" b="1" i="0" u="none" strike="noStrike" cap="none" normalizeH="0" baseline="0" dirty="0">
                          <a:ln>
                            <a:noFill/>
                          </a:ln>
                          <a:solidFill>
                            <a:srgbClr val="000066"/>
                          </a:solidFill>
                          <a:effectLst/>
                          <a:latin typeface="Times New Roman" pitchFamily="18" charset="0"/>
                          <a:ea typeface="黑体" pitchFamily="49" charset="-122"/>
                          <a:cs typeface="Times New Roman" pitchFamily="18" charset="0"/>
                        </a:rPr>
                        <a:t>74HC</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400" b="1" i="1" u="none" strike="noStrike" cap="none" normalizeH="0" baseline="0" dirty="0">
                          <a:ln>
                            <a:noFill/>
                          </a:ln>
                          <a:solidFill>
                            <a:srgbClr val="000066"/>
                          </a:solidFill>
                          <a:effectLst/>
                          <a:latin typeface="Times New Roman" pitchFamily="18" charset="0"/>
                          <a:ea typeface="黑体" pitchFamily="49" charset="-122"/>
                          <a:cs typeface="Times New Roman" pitchFamily="18" charset="0"/>
                        </a:rPr>
                        <a:t>V</a:t>
                      </a:r>
                      <a:r>
                        <a:rPr kumimoji="1" lang="en-US" altLang="zh-CN" sz="1400" b="1" i="0" u="none" strike="noStrike" cap="none" normalizeH="0" baseline="-30000" dirty="0">
                          <a:ln>
                            <a:noFill/>
                          </a:ln>
                          <a:solidFill>
                            <a:srgbClr val="000066"/>
                          </a:solidFill>
                          <a:effectLst/>
                          <a:latin typeface="Times New Roman" pitchFamily="18" charset="0"/>
                          <a:ea typeface="黑体" pitchFamily="49" charset="-122"/>
                          <a:cs typeface="Times New Roman" pitchFamily="18" charset="0"/>
                        </a:rPr>
                        <a:t>DD</a:t>
                      </a:r>
                      <a:r>
                        <a:rPr kumimoji="1" lang="en-US" altLang="zh-CN" sz="1400" b="1" i="0" u="none" strike="noStrike" cap="none" normalizeH="0" baseline="0" dirty="0">
                          <a:ln>
                            <a:noFill/>
                          </a:ln>
                          <a:solidFill>
                            <a:srgbClr val="000066"/>
                          </a:solidFill>
                          <a:effectLst/>
                          <a:latin typeface="Times New Roman" pitchFamily="18" charset="0"/>
                          <a:ea typeface="黑体" pitchFamily="49" charset="-122"/>
                          <a:cs typeface="Times New Roman" pitchFamily="18" charset="0"/>
                        </a:rPr>
                        <a:t>=5V</a:t>
                      </a:r>
                    </a:p>
                  </a:txBody>
                  <a:tcPr marL="0" marR="0" marT="0" marB="0" anchor="ctr" horzOverflow="overflow">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400" b="1" i="0" u="none" strike="noStrike" cap="none" normalizeH="0" baseline="0" dirty="0">
                          <a:ln>
                            <a:noFill/>
                          </a:ln>
                          <a:solidFill>
                            <a:srgbClr val="000066"/>
                          </a:solidFill>
                          <a:effectLst/>
                          <a:latin typeface="Times New Roman" pitchFamily="18" charset="0"/>
                          <a:ea typeface="黑体" pitchFamily="49" charset="-122"/>
                          <a:cs typeface="Times New Roman" pitchFamily="18" charset="0"/>
                        </a:rPr>
                        <a:t>74HCT</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400" b="1" i="1" u="none" strike="noStrike" cap="none" normalizeH="0" baseline="0" dirty="0">
                          <a:ln>
                            <a:noFill/>
                          </a:ln>
                          <a:solidFill>
                            <a:srgbClr val="000066"/>
                          </a:solidFill>
                          <a:effectLst/>
                          <a:latin typeface="Times New Roman" pitchFamily="18" charset="0"/>
                          <a:ea typeface="黑体" pitchFamily="49" charset="-122"/>
                          <a:cs typeface="Times New Roman" pitchFamily="18" charset="0"/>
                        </a:rPr>
                        <a:t>V</a:t>
                      </a:r>
                      <a:r>
                        <a:rPr kumimoji="1" lang="en-US" altLang="zh-CN" sz="1400" b="1" i="0" u="none" strike="noStrike" cap="none" normalizeH="0" baseline="-30000" dirty="0">
                          <a:ln>
                            <a:noFill/>
                          </a:ln>
                          <a:solidFill>
                            <a:srgbClr val="000066"/>
                          </a:solidFill>
                          <a:effectLst/>
                          <a:latin typeface="Times New Roman" pitchFamily="18" charset="0"/>
                          <a:ea typeface="黑体" pitchFamily="49" charset="-122"/>
                          <a:cs typeface="Times New Roman" pitchFamily="18" charset="0"/>
                        </a:rPr>
                        <a:t>DD</a:t>
                      </a:r>
                      <a:r>
                        <a:rPr kumimoji="1" lang="en-US" altLang="zh-CN" sz="1400" b="1" i="0" u="none" strike="noStrike" cap="none" normalizeH="0" baseline="0" dirty="0">
                          <a:ln>
                            <a:noFill/>
                          </a:ln>
                          <a:solidFill>
                            <a:srgbClr val="000066"/>
                          </a:solidFill>
                          <a:effectLst/>
                          <a:latin typeface="Times New Roman" pitchFamily="18" charset="0"/>
                          <a:ea typeface="黑体" pitchFamily="49" charset="-122"/>
                          <a:cs typeface="Times New Roman" pitchFamily="18" charset="0"/>
                        </a:rPr>
                        <a:t>=5V</a:t>
                      </a:r>
                    </a:p>
                  </a:txBody>
                  <a:tcPr marL="0" marR="0" marT="0" marB="0" anchor="ctr" horzOverflow="overflow">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400" b="1" i="0" u="none" strike="noStrike" cap="none" normalizeH="0" baseline="0" dirty="0">
                          <a:ln>
                            <a:noFill/>
                          </a:ln>
                          <a:solidFill>
                            <a:srgbClr val="000066"/>
                          </a:solidFill>
                          <a:effectLst/>
                          <a:latin typeface="Times New Roman" pitchFamily="18" charset="0"/>
                          <a:ea typeface="黑体" pitchFamily="49" charset="-122"/>
                          <a:cs typeface="Times New Roman" pitchFamily="18" charset="0"/>
                        </a:rPr>
                        <a:t>74LVC</a:t>
                      </a:r>
                    </a:p>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400" b="1" i="1" u="none" strike="noStrike" cap="none" normalizeH="0" baseline="0" dirty="0">
                          <a:ln>
                            <a:noFill/>
                          </a:ln>
                          <a:solidFill>
                            <a:srgbClr val="000066"/>
                          </a:solidFill>
                          <a:effectLst/>
                          <a:latin typeface="Times New Roman" pitchFamily="18" charset="0"/>
                          <a:ea typeface="黑体" pitchFamily="49" charset="-122"/>
                          <a:cs typeface="Times New Roman" pitchFamily="18" charset="0"/>
                        </a:rPr>
                        <a:t>V</a:t>
                      </a:r>
                      <a:r>
                        <a:rPr kumimoji="1" lang="en-US" altLang="zh-CN" sz="1400" b="1" i="0" u="none" strike="noStrike" cap="none" normalizeH="0" baseline="-30000" dirty="0">
                          <a:ln>
                            <a:noFill/>
                          </a:ln>
                          <a:solidFill>
                            <a:srgbClr val="000066"/>
                          </a:solidFill>
                          <a:effectLst/>
                          <a:latin typeface="Times New Roman" pitchFamily="18" charset="0"/>
                          <a:ea typeface="黑体" pitchFamily="49" charset="-122"/>
                          <a:cs typeface="Times New Roman" pitchFamily="18" charset="0"/>
                        </a:rPr>
                        <a:t>DD</a:t>
                      </a:r>
                      <a:r>
                        <a:rPr kumimoji="1" lang="en-US" altLang="zh-CN" sz="1400" b="1" i="0" u="none" strike="noStrike" cap="none" normalizeH="0" baseline="0" dirty="0">
                          <a:ln>
                            <a:noFill/>
                          </a:ln>
                          <a:solidFill>
                            <a:srgbClr val="000066"/>
                          </a:solidFill>
                          <a:effectLst/>
                          <a:latin typeface="Times New Roman" pitchFamily="18" charset="0"/>
                          <a:ea typeface="黑体" pitchFamily="49" charset="-122"/>
                          <a:cs typeface="Times New Roman" pitchFamily="18" charset="0"/>
                        </a:rPr>
                        <a:t>=3.3V</a:t>
                      </a:r>
                    </a:p>
                  </a:txBody>
                  <a:tcPr marL="0" marR="0" marT="0" marB="0" anchor="ctr" horzOverflow="overflow">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400" b="1" i="0" u="none" strike="noStrike" cap="none" normalizeH="0" baseline="0">
                          <a:ln>
                            <a:noFill/>
                          </a:ln>
                          <a:solidFill>
                            <a:srgbClr val="000066"/>
                          </a:solidFill>
                          <a:effectLst/>
                          <a:latin typeface="Times New Roman" pitchFamily="18" charset="0"/>
                          <a:ea typeface="黑体" pitchFamily="49" charset="-122"/>
                          <a:cs typeface="Times New Roman" pitchFamily="18" charset="0"/>
                        </a:rPr>
                        <a:t>74AUC</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400" b="1" i="1" u="none" strike="noStrike" cap="none" normalizeH="0" baseline="0">
                          <a:ln>
                            <a:noFill/>
                          </a:ln>
                          <a:solidFill>
                            <a:srgbClr val="000066"/>
                          </a:solidFill>
                          <a:effectLst/>
                          <a:latin typeface="Times New Roman" pitchFamily="18" charset="0"/>
                          <a:ea typeface="黑体" pitchFamily="49" charset="-122"/>
                          <a:cs typeface="Times New Roman" pitchFamily="18" charset="0"/>
                        </a:rPr>
                        <a:t>V</a:t>
                      </a:r>
                      <a:r>
                        <a:rPr kumimoji="1" lang="en-US" altLang="zh-CN" sz="1400" b="1" i="0" u="none" strike="noStrike" cap="none" normalizeH="0" baseline="-30000">
                          <a:ln>
                            <a:noFill/>
                          </a:ln>
                          <a:solidFill>
                            <a:srgbClr val="000066"/>
                          </a:solidFill>
                          <a:effectLst/>
                          <a:latin typeface="Times New Roman" pitchFamily="18" charset="0"/>
                          <a:ea typeface="黑体" pitchFamily="49" charset="-122"/>
                          <a:cs typeface="Times New Roman" pitchFamily="18" charset="0"/>
                        </a:rPr>
                        <a:t>DD</a:t>
                      </a:r>
                      <a:r>
                        <a:rPr kumimoji="1" lang="en-US" altLang="zh-CN" sz="1400" b="1" i="0" u="none" strike="noStrike" cap="none" normalizeH="0" baseline="0">
                          <a:ln>
                            <a:noFill/>
                          </a:ln>
                          <a:solidFill>
                            <a:srgbClr val="000066"/>
                          </a:solidFill>
                          <a:effectLst/>
                          <a:latin typeface="Times New Roman" pitchFamily="18" charset="0"/>
                          <a:ea typeface="黑体" pitchFamily="49" charset="-122"/>
                          <a:cs typeface="Times New Roman" pitchFamily="18" charset="0"/>
                        </a:rPr>
                        <a:t>=1.8V</a:t>
                      </a:r>
                    </a:p>
                  </a:txBody>
                  <a:tcPr marL="0" marR="0" marT="0" marB="0" anchor="ctr" horzOverflow="overflow">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472440">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249863" algn="r"/>
                        </a:tabLst>
                      </a:pPr>
                      <a:r>
                        <a:rPr kumimoji="1" lang="en-US" altLang="zh-CN" sz="1400" b="1" i="1" u="none" strike="noStrike" cap="none" normalizeH="0" baseline="0" dirty="0" err="1">
                          <a:ln>
                            <a:noFill/>
                          </a:ln>
                          <a:solidFill>
                            <a:srgbClr val="000066"/>
                          </a:solidFill>
                          <a:effectLst/>
                          <a:latin typeface="Times New Roman" pitchFamily="18" charset="0"/>
                          <a:ea typeface="黑体" pitchFamily="49" charset="-122"/>
                          <a:cs typeface="Times New Roman" pitchFamily="18" charset="0"/>
                        </a:rPr>
                        <a:t>t</a:t>
                      </a:r>
                      <a:r>
                        <a:rPr kumimoji="1" lang="en-US" altLang="zh-CN" sz="1400" b="1" i="0" u="none" strike="noStrike" cap="none" normalizeH="0" baseline="-30000" dirty="0" err="1">
                          <a:ln>
                            <a:noFill/>
                          </a:ln>
                          <a:solidFill>
                            <a:srgbClr val="000066"/>
                          </a:solidFill>
                          <a:effectLst/>
                          <a:latin typeface="Times New Roman" pitchFamily="18" charset="0"/>
                          <a:ea typeface="黑体" pitchFamily="49" charset="-122"/>
                          <a:cs typeface="Times New Roman" pitchFamily="18" charset="0"/>
                        </a:rPr>
                        <a:t>PLH</a:t>
                      </a:r>
                      <a:r>
                        <a:rPr kumimoji="1" lang="en-US" altLang="zh-CN" sz="1400" b="1" i="0" u="none" strike="noStrike" cap="none" normalizeH="0" baseline="0" dirty="0">
                          <a:ln>
                            <a:noFill/>
                          </a:ln>
                          <a:solidFill>
                            <a:srgbClr val="000066"/>
                          </a:solidFill>
                          <a:effectLst/>
                          <a:latin typeface="Times New Roman" pitchFamily="18" charset="0"/>
                          <a:ea typeface="黑体" pitchFamily="49" charset="-122"/>
                          <a:cs typeface="Times New Roman" pitchFamily="18" charset="0"/>
                        </a:rPr>
                        <a:t>/</a:t>
                      </a:r>
                      <a:r>
                        <a:rPr kumimoji="1" lang="en-US" altLang="zh-CN" sz="1400" b="1" i="1" u="none" strike="noStrike" cap="none" normalizeH="0" baseline="0" dirty="0" err="1">
                          <a:ln>
                            <a:noFill/>
                          </a:ln>
                          <a:solidFill>
                            <a:srgbClr val="000066"/>
                          </a:solidFill>
                          <a:effectLst/>
                          <a:latin typeface="Times New Roman" pitchFamily="18" charset="0"/>
                          <a:ea typeface="黑体" pitchFamily="49" charset="-122"/>
                          <a:cs typeface="Times New Roman" pitchFamily="18" charset="0"/>
                        </a:rPr>
                        <a:t>t</a:t>
                      </a:r>
                      <a:r>
                        <a:rPr kumimoji="1" lang="en-US" altLang="zh-CN" sz="1400" b="1" i="0" u="none" strike="noStrike" cap="none" normalizeH="0" baseline="-30000" dirty="0" err="1">
                          <a:ln>
                            <a:noFill/>
                          </a:ln>
                          <a:solidFill>
                            <a:srgbClr val="000066"/>
                          </a:solidFill>
                          <a:effectLst/>
                          <a:latin typeface="Times New Roman" pitchFamily="18" charset="0"/>
                          <a:ea typeface="黑体" pitchFamily="49" charset="-122"/>
                          <a:cs typeface="Times New Roman" pitchFamily="18" charset="0"/>
                        </a:rPr>
                        <a:t>PHL</a:t>
                      </a:r>
                      <a:endParaRPr kumimoji="1" lang="en-US" altLang="zh-CN" sz="1400" b="1" i="0" u="none" strike="noStrike" cap="none" normalizeH="0" baseline="-30000" dirty="0">
                        <a:ln>
                          <a:noFill/>
                        </a:ln>
                        <a:solidFill>
                          <a:srgbClr val="000066"/>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tab pos="5249863" algn="r"/>
                        </a:tabLst>
                      </a:pPr>
                      <a:r>
                        <a:rPr kumimoji="1" lang="en-US" altLang="zh-CN" sz="1400" b="1" i="0" u="none" strike="noStrike" cap="none" normalizeH="0" baseline="0" dirty="0">
                          <a:ln>
                            <a:noFill/>
                          </a:ln>
                          <a:solidFill>
                            <a:srgbClr val="000066"/>
                          </a:solidFill>
                          <a:effectLst/>
                          <a:latin typeface="Times New Roman" pitchFamily="18" charset="0"/>
                          <a:ea typeface="黑体" pitchFamily="49" charset="-122"/>
                          <a:cs typeface="Times New Roman" pitchFamily="18" charset="0"/>
                        </a:rPr>
                        <a:t>(ns)</a:t>
                      </a:r>
                    </a:p>
                  </a:txBody>
                  <a:tcPr marL="0" marR="0" marT="0" marB="0" anchor="ctr" horzOverflow="overflow">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249863" algn="r"/>
                        </a:tabLst>
                      </a:pPr>
                      <a:r>
                        <a:rPr kumimoji="1" lang="en-US" altLang="zh-CN" sz="1400" b="1" i="0" u="none" strike="noStrike" cap="none" normalizeH="0" baseline="0" dirty="0">
                          <a:ln>
                            <a:noFill/>
                          </a:ln>
                          <a:solidFill>
                            <a:srgbClr val="000066"/>
                          </a:solidFill>
                          <a:effectLst/>
                          <a:latin typeface="Times New Roman" pitchFamily="18" charset="0"/>
                          <a:ea typeface="黑体" pitchFamily="49" charset="-122"/>
                          <a:cs typeface="Times New Roman" pitchFamily="18" charset="0"/>
                        </a:rPr>
                        <a:t>7</a:t>
                      </a:r>
                    </a:p>
                  </a:txBody>
                  <a:tcPr marL="0" marR="0" marT="0" marB="0" anchor="ctr" horzOverflow="overflow">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249863" algn="r"/>
                        </a:tabLst>
                      </a:pPr>
                      <a:r>
                        <a:rPr kumimoji="1" lang="en-US" altLang="zh-CN" sz="1400" b="1" i="0" u="none" strike="noStrike" cap="none" normalizeH="0" baseline="0" dirty="0">
                          <a:ln>
                            <a:noFill/>
                          </a:ln>
                          <a:solidFill>
                            <a:srgbClr val="000066"/>
                          </a:solidFill>
                          <a:effectLst/>
                          <a:latin typeface="Times New Roman" pitchFamily="18" charset="0"/>
                          <a:ea typeface="黑体" pitchFamily="49" charset="-122"/>
                          <a:cs typeface="Times New Roman" pitchFamily="18" charset="0"/>
                        </a:rPr>
                        <a:t>8</a:t>
                      </a:r>
                    </a:p>
                  </a:txBody>
                  <a:tcPr marL="0" marR="0" marT="0" marB="0" anchor="ctr" horzOverflow="overflow">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249863" algn="r"/>
                        </a:tabLst>
                      </a:pPr>
                      <a:r>
                        <a:rPr kumimoji="1" lang="en-US" altLang="zh-CN" sz="1400" b="1" i="0" u="none" strike="noStrike" cap="none" normalizeH="0" baseline="0" dirty="0">
                          <a:ln>
                            <a:noFill/>
                          </a:ln>
                          <a:solidFill>
                            <a:srgbClr val="000066"/>
                          </a:solidFill>
                          <a:effectLst/>
                          <a:latin typeface="Times New Roman" pitchFamily="18" charset="0"/>
                          <a:ea typeface="黑体" pitchFamily="49" charset="-122"/>
                          <a:cs typeface="Times New Roman" pitchFamily="18" charset="0"/>
                        </a:rPr>
                        <a:t>2.1</a:t>
                      </a:r>
                    </a:p>
                  </a:txBody>
                  <a:tcPr marL="0" marR="0" marT="0" marB="0" anchor="ctr" horzOverflow="overflow">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249863" algn="r"/>
                        </a:tabLst>
                      </a:pPr>
                      <a:r>
                        <a:rPr kumimoji="1" lang="en-US" altLang="zh-CN" sz="1400" b="1" i="0" u="none" strike="noStrike" cap="none" normalizeH="0" baseline="0" dirty="0">
                          <a:ln>
                            <a:noFill/>
                          </a:ln>
                          <a:solidFill>
                            <a:srgbClr val="000066"/>
                          </a:solidFill>
                          <a:effectLst/>
                          <a:latin typeface="Times New Roman" pitchFamily="18" charset="0"/>
                          <a:ea typeface="黑体" pitchFamily="49" charset="-122"/>
                          <a:cs typeface="Times New Roman" pitchFamily="18" charset="0"/>
                        </a:rPr>
                        <a:t>0.9</a:t>
                      </a:r>
                    </a:p>
                  </a:txBody>
                  <a:tcPr marL="0" marR="0" marT="0" marB="0" anchor="ctr" horzOverflow="overflow">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bl>
          </a:graphicData>
        </a:graphic>
      </p:graphicFrame>
      <p:grpSp>
        <p:nvGrpSpPr>
          <p:cNvPr id="47" name="组合 46">
            <a:extLst>
              <a:ext uri="{FF2B5EF4-FFF2-40B4-BE49-F238E27FC236}">
                <a16:creationId xmlns:a16="http://schemas.microsoft.com/office/drawing/2014/main" id="{F57BF62F-D3B9-497C-8093-0649A0273DAE}"/>
              </a:ext>
            </a:extLst>
          </p:cNvPr>
          <p:cNvGrpSpPr/>
          <p:nvPr/>
        </p:nvGrpSpPr>
        <p:grpSpPr>
          <a:xfrm>
            <a:off x="5275587" y="3787840"/>
            <a:ext cx="1751805" cy="438441"/>
            <a:chOff x="5124195" y="3340800"/>
            <a:chExt cx="1751805" cy="438441"/>
          </a:xfrm>
        </p:grpSpPr>
        <p:sp>
          <p:nvSpPr>
            <p:cNvPr id="48" name="椭圆 47">
              <a:extLst>
                <a:ext uri="{FF2B5EF4-FFF2-40B4-BE49-F238E27FC236}">
                  <a16:creationId xmlns:a16="http://schemas.microsoft.com/office/drawing/2014/main" id="{1AC5F4C9-8552-4C1F-8E8B-C4DC80B2AE0D}"/>
                </a:ext>
              </a:extLst>
            </p:cNvPr>
            <p:cNvSpPr/>
            <p:nvPr/>
          </p:nvSpPr>
          <p:spPr>
            <a:xfrm>
              <a:off x="6210660" y="3340800"/>
              <a:ext cx="665340" cy="418500"/>
            </a:xfrm>
            <a:prstGeom prst="ellipse">
              <a:avLst/>
            </a:prstGeom>
            <a:solidFill>
              <a:srgbClr val="FFFF00">
                <a:alpha val="21000"/>
              </a:srgb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AutoShape 134">
              <a:extLst>
                <a:ext uri="{FF2B5EF4-FFF2-40B4-BE49-F238E27FC236}">
                  <a16:creationId xmlns:a16="http://schemas.microsoft.com/office/drawing/2014/main" id="{12085FA1-8832-4D61-8AA4-7B072DC37CA9}"/>
                </a:ext>
              </a:extLst>
            </p:cNvPr>
            <p:cNvSpPr>
              <a:spLocks noChangeArrowheads="1"/>
            </p:cNvSpPr>
            <p:nvPr/>
          </p:nvSpPr>
          <p:spPr bwMode="auto">
            <a:xfrm>
              <a:off x="5124195" y="3440841"/>
              <a:ext cx="874259" cy="338400"/>
            </a:xfrm>
            <a:prstGeom prst="wedgeRoundRectCallout">
              <a:avLst>
                <a:gd name="adj1" fmla="val 69997"/>
                <a:gd name="adj2" fmla="val -7484"/>
                <a:gd name="adj3" fmla="val 16667"/>
              </a:avLst>
            </a:prstGeom>
            <a:solidFill>
              <a:srgbClr val="FFFF99"/>
            </a:solidFill>
            <a:ln w="19050">
              <a:solidFill>
                <a:schemeClr val="accent1">
                  <a:lumMod val="75000"/>
                </a:schemeClr>
              </a:solidFill>
              <a:miter lim="800000"/>
              <a:headEnd/>
              <a:tailEnd/>
            </a:ln>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r>
                <a:rPr lang="zh-CN" altLang="en-US" sz="1400" dirty="0">
                  <a:solidFill>
                    <a:schemeClr val="tx1"/>
                  </a:solidFill>
                  <a:latin typeface="方正粗黑宋简体" pitchFamily="2" charset="-122"/>
                  <a:ea typeface="方正粗黑宋简体" pitchFamily="2" charset="-122"/>
                </a:rPr>
                <a:t>高</a:t>
              </a:r>
              <a:r>
                <a:rPr lang="zh-CN" altLang="en-US" sz="1400" dirty="0">
                  <a:solidFill>
                    <a:schemeClr val="tx1"/>
                  </a:solidFill>
                  <a:latin typeface="Times New Roman"/>
                  <a:ea typeface="方正粗黑宋简体" pitchFamily="2" charset="-122"/>
                  <a:cs typeface="Times New Roman"/>
                </a:rPr>
                <a:t>→低</a:t>
              </a:r>
              <a:endParaRPr lang="en-US" altLang="zh-CN" sz="1400" dirty="0">
                <a:solidFill>
                  <a:schemeClr val="tx1"/>
                </a:solidFill>
                <a:latin typeface="方正粗黑宋简体" pitchFamily="2" charset="-122"/>
                <a:ea typeface="方正粗黑宋简体" pitchFamily="2" charset="-122"/>
              </a:endParaRPr>
            </a:p>
          </p:txBody>
        </p:sp>
      </p:grpSp>
      <p:grpSp>
        <p:nvGrpSpPr>
          <p:cNvPr id="50" name="组合 49">
            <a:extLst>
              <a:ext uri="{FF2B5EF4-FFF2-40B4-BE49-F238E27FC236}">
                <a16:creationId xmlns:a16="http://schemas.microsoft.com/office/drawing/2014/main" id="{7EAA636F-FA44-4444-AB80-7D8C59BBB2E7}"/>
              </a:ext>
            </a:extLst>
          </p:cNvPr>
          <p:cNvGrpSpPr/>
          <p:nvPr/>
        </p:nvGrpSpPr>
        <p:grpSpPr>
          <a:xfrm>
            <a:off x="7572852" y="3068281"/>
            <a:ext cx="1263794" cy="1052859"/>
            <a:chOff x="6210660" y="2706441"/>
            <a:chExt cx="1263794" cy="1052859"/>
          </a:xfrm>
        </p:grpSpPr>
        <p:sp>
          <p:nvSpPr>
            <p:cNvPr id="51" name="椭圆 50">
              <a:extLst>
                <a:ext uri="{FF2B5EF4-FFF2-40B4-BE49-F238E27FC236}">
                  <a16:creationId xmlns:a16="http://schemas.microsoft.com/office/drawing/2014/main" id="{E179434B-05FC-4087-AC05-6F0C7A15ECA5}"/>
                </a:ext>
              </a:extLst>
            </p:cNvPr>
            <p:cNvSpPr/>
            <p:nvPr/>
          </p:nvSpPr>
          <p:spPr>
            <a:xfrm>
              <a:off x="6210660" y="3340800"/>
              <a:ext cx="665340" cy="418500"/>
            </a:xfrm>
            <a:prstGeom prst="ellipse">
              <a:avLst/>
            </a:prstGeom>
            <a:solidFill>
              <a:srgbClr val="FFFF00">
                <a:alpha val="21000"/>
              </a:srgb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AutoShape 134">
              <a:extLst>
                <a:ext uri="{FF2B5EF4-FFF2-40B4-BE49-F238E27FC236}">
                  <a16:creationId xmlns:a16="http://schemas.microsoft.com/office/drawing/2014/main" id="{29AC6F3C-EA8F-4FFD-8D53-025EA0D7CF1C}"/>
                </a:ext>
              </a:extLst>
            </p:cNvPr>
            <p:cNvSpPr>
              <a:spLocks noChangeArrowheads="1"/>
            </p:cNvSpPr>
            <p:nvPr/>
          </p:nvSpPr>
          <p:spPr bwMode="auto">
            <a:xfrm>
              <a:off x="6600195" y="2706441"/>
              <a:ext cx="874259" cy="338400"/>
            </a:xfrm>
            <a:prstGeom prst="wedgeRoundRectCallout">
              <a:avLst>
                <a:gd name="adj1" fmla="val -42830"/>
                <a:gd name="adj2" fmla="val 130814"/>
                <a:gd name="adj3" fmla="val 16667"/>
              </a:avLst>
            </a:prstGeom>
            <a:solidFill>
              <a:srgbClr val="FFFF99"/>
            </a:solidFill>
            <a:ln w="19050">
              <a:solidFill>
                <a:schemeClr val="accent1">
                  <a:lumMod val="75000"/>
                </a:schemeClr>
              </a:solidFill>
              <a:miter lim="800000"/>
              <a:headEnd/>
              <a:tailEnd/>
            </a:ln>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r>
                <a:rPr lang="zh-CN" altLang="en-US" sz="1400" dirty="0">
                  <a:latin typeface="Times New Roman"/>
                  <a:ea typeface="方正粗黑宋简体" pitchFamily="2" charset="-122"/>
                  <a:cs typeface="Times New Roman"/>
                </a:rPr>
                <a:t>低</a:t>
              </a:r>
              <a:r>
                <a:rPr lang="zh-CN" altLang="en-US" sz="1400" dirty="0">
                  <a:solidFill>
                    <a:schemeClr val="tx1"/>
                  </a:solidFill>
                  <a:latin typeface="Times New Roman"/>
                  <a:ea typeface="方正粗黑宋简体" pitchFamily="2" charset="-122"/>
                  <a:cs typeface="Times New Roman"/>
                </a:rPr>
                <a:t>→</a:t>
              </a:r>
              <a:r>
                <a:rPr lang="zh-CN" altLang="en-US" sz="1400" dirty="0">
                  <a:latin typeface="方正粗黑宋简体" pitchFamily="2" charset="-122"/>
                  <a:ea typeface="方正粗黑宋简体" pitchFamily="2" charset="-122"/>
                </a:rPr>
                <a:t>高</a:t>
              </a:r>
              <a:endParaRPr lang="en-US" altLang="zh-CN" sz="1400" dirty="0">
                <a:solidFill>
                  <a:schemeClr val="tx1"/>
                </a:solidFill>
                <a:latin typeface="方正粗黑宋简体" pitchFamily="2" charset="-122"/>
                <a:ea typeface="方正粗黑宋简体" pitchFamily="2" charset="-122"/>
              </a:endParaRPr>
            </a:p>
          </p:txBody>
        </p:sp>
      </p:grpSp>
    </p:spTree>
    <p:extLst>
      <p:ext uri="{BB962C8B-B14F-4D97-AF65-F5344CB8AC3E}">
        <p14:creationId xmlns:p14="http://schemas.microsoft.com/office/powerpoint/2010/main" val="4100217829"/>
      </p:ext>
    </p:extLst>
  </p:cSld>
  <p:clrMapOvr>
    <a:masterClrMapping/>
  </p:clrMapOvr>
  <p:transition spd="med">
    <p:cover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Bottom)">
                                      <p:cBhvr>
                                        <p:cTn id="7" dur="1000"/>
                                        <p:tgtEl>
                                          <p:spTgt spid="5"/>
                                        </p:tgtEl>
                                      </p:cBhvr>
                                    </p:animEffect>
                                  </p:childTnLst>
                                </p:cTn>
                              </p:par>
                            </p:childTnLst>
                          </p:cTn>
                        </p:par>
                        <p:par>
                          <p:cTn id="8" fill="hold">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slide(fromBottom)">
                                      <p:cBhvr>
                                        <p:cTn id="11" dur="1000"/>
                                        <p:tgtEl>
                                          <p:spTgt spid="42"/>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4" fill="hold" nodeType="click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slide(fromBottom)">
                                      <p:cBhvr>
                                        <p:cTn id="16" dur="1000"/>
                                        <p:tgtEl>
                                          <p:spTgt spid="27"/>
                                        </p:tgtEl>
                                      </p:cBhvr>
                                    </p:animEffect>
                                  </p:childTnLst>
                                </p:cTn>
                              </p:par>
                            </p:childTnLst>
                          </p:cTn>
                        </p:par>
                        <p:par>
                          <p:cTn id="17" fill="hold">
                            <p:stCondLst>
                              <p:cond delay="1000"/>
                            </p:stCondLst>
                            <p:childTnLst>
                              <p:par>
                                <p:cTn id="18" presetID="22" presetClass="entr" presetSubtype="2" fill="hold" nodeType="afterEffect">
                                  <p:stCondLst>
                                    <p:cond delay="0"/>
                                  </p:stCondLst>
                                  <p:childTnLst>
                                    <p:set>
                                      <p:cBhvr>
                                        <p:cTn id="19" dur="1" fill="hold">
                                          <p:stCondLst>
                                            <p:cond delay="0"/>
                                          </p:stCondLst>
                                        </p:cTn>
                                        <p:tgtEl>
                                          <p:spTgt spid="47"/>
                                        </p:tgtEl>
                                        <p:attrNameLst>
                                          <p:attrName>style.visibility</p:attrName>
                                        </p:attrNameLst>
                                      </p:cBhvr>
                                      <p:to>
                                        <p:strVal val="visible"/>
                                      </p:to>
                                    </p:set>
                                    <p:animEffect transition="in" filter="wipe(right)">
                                      <p:cBhvr>
                                        <p:cTn id="20" dur="1000"/>
                                        <p:tgtEl>
                                          <p:spTgt spid="47"/>
                                        </p:tgtEl>
                                      </p:cBhvr>
                                    </p:animEffect>
                                  </p:childTnLst>
                                </p:cTn>
                              </p:par>
                            </p:childTnLst>
                          </p:cTn>
                        </p:par>
                        <p:par>
                          <p:cTn id="21" fill="hold">
                            <p:stCondLst>
                              <p:cond delay="2000"/>
                            </p:stCondLst>
                            <p:childTnLst>
                              <p:par>
                                <p:cTn id="22" presetID="22" presetClass="entr" presetSubtype="4" fill="hold" nodeType="afterEffect">
                                  <p:stCondLst>
                                    <p:cond delay="0"/>
                                  </p:stCondLst>
                                  <p:childTnLst>
                                    <p:set>
                                      <p:cBhvr>
                                        <p:cTn id="23" dur="1" fill="hold">
                                          <p:stCondLst>
                                            <p:cond delay="0"/>
                                          </p:stCondLst>
                                        </p:cTn>
                                        <p:tgtEl>
                                          <p:spTgt spid="50"/>
                                        </p:tgtEl>
                                        <p:attrNameLst>
                                          <p:attrName>style.visibility</p:attrName>
                                        </p:attrNameLst>
                                      </p:cBhvr>
                                      <p:to>
                                        <p:strVal val="visible"/>
                                      </p:to>
                                    </p:set>
                                    <p:animEffect transition="in" filter="wipe(down)">
                                      <p:cBhvr>
                                        <p:cTn id="24" dur="1000"/>
                                        <p:tgtEl>
                                          <p:spTgt spid="50"/>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4" fill="hold" nodeType="click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slide(fromBottom)">
                                      <p:cBhvr>
                                        <p:cTn id="29" dur="1000"/>
                                        <p:tgtEl>
                                          <p:spTgt spid="43"/>
                                        </p:tgtEl>
                                      </p:cBhvr>
                                    </p:animEffect>
                                  </p:childTnLst>
                                </p:cTn>
                              </p:par>
                            </p:childTnLst>
                          </p:cTn>
                        </p:par>
                      </p:childTnLst>
                    </p:cTn>
                  </p:par>
                  <p:par>
                    <p:cTn id="30" fill="hold">
                      <p:stCondLst>
                        <p:cond delay="indefinite"/>
                      </p:stCondLst>
                      <p:childTnLst>
                        <p:par>
                          <p:cTn id="31" fill="hold">
                            <p:stCondLst>
                              <p:cond delay="0"/>
                            </p:stCondLst>
                            <p:childTnLst>
                              <p:par>
                                <p:cTn id="32" presetID="12" presetClass="entr" presetSubtype="4" fill="hold" nodeType="clickEffect">
                                  <p:stCondLst>
                                    <p:cond delay="0"/>
                                  </p:stCondLst>
                                  <p:childTnLst>
                                    <p:set>
                                      <p:cBhvr>
                                        <p:cTn id="33" dur="1" fill="hold">
                                          <p:stCondLst>
                                            <p:cond delay="0"/>
                                          </p:stCondLst>
                                        </p:cTn>
                                        <p:tgtEl>
                                          <p:spTgt spid="46"/>
                                        </p:tgtEl>
                                        <p:attrNameLst>
                                          <p:attrName>style.visibility</p:attrName>
                                        </p:attrNameLst>
                                      </p:cBhvr>
                                      <p:to>
                                        <p:strVal val="visible"/>
                                      </p:to>
                                    </p:set>
                                    <p:animEffect transition="in" filter="slide(fromBottom)">
                                      <p:cBhvr>
                                        <p:cTn id="34" dur="10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7547E18B-2033-4419-ADA9-CA7D54283C92}"/>
              </a:ext>
            </a:extLst>
          </p:cNvPr>
          <p:cNvGrpSpPr/>
          <p:nvPr/>
        </p:nvGrpSpPr>
        <p:grpSpPr>
          <a:xfrm>
            <a:off x="392432" y="780143"/>
            <a:ext cx="4758688" cy="411055"/>
            <a:chOff x="392432" y="780143"/>
            <a:chExt cx="4758688" cy="411055"/>
          </a:xfrm>
        </p:grpSpPr>
        <p:sp>
          <p:nvSpPr>
            <p:cNvPr id="3" name="矩形 2">
              <a:extLst>
                <a:ext uri="{FF2B5EF4-FFF2-40B4-BE49-F238E27FC236}">
                  <a16:creationId xmlns:a16="http://schemas.microsoft.com/office/drawing/2014/main" id="{06034E3A-B0B6-4310-9CF6-8F1CDC7C83A4}"/>
                </a:ext>
              </a:extLst>
            </p:cNvPr>
            <p:cNvSpPr/>
            <p:nvPr/>
          </p:nvSpPr>
          <p:spPr>
            <a:xfrm>
              <a:off x="754216" y="805934"/>
              <a:ext cx="4396904" cy="369332"/>
            </a:xfrm>
            <a:prstGeom prst="rect">
              <a:avLst/>
            </a:prstGeom>
          </p:spPr>
          <p:txBody>
            <a:bodyPr wrap="square">
              <a:spAutoFit/>
            </a:bodyPr>
            <a:lstStyle/>
            <a:p>
              <a:r>
                <a:rPr lang="en-US" altLang="zh-CN" dirty="0">
                  <a:solidFill>
                    <a:srgbClr val="002060"/>
                  </a:solidFill>
                  <a:latin typeface="方正粗黑宋简体" pitchFamily="2" charset="-122"/>
                  <a:ea typeface="方正粗黑宋简体" pitchFamily="2" charset="-122"/>
                </a:rPr>
                <a:t>2</a:t>
              </a:r>
              <a:r>
                <a:rPr lang="zh-CN" altLang="en-US" dirty="0">
                  <a:solidFill>
                    <a:srgbClr val="002060"/>
                  </a:solidFill>
                  <a:latin typeface="方正粗黑宋简体" pitchFamily="2" charset="-122"/>
                  <a:ea typeface="方正粗黑宋简体" pitchFamily="2" charset="-122"/>
                </a:rPr>
                <a:t>、</a:t>
              </a:r>
              <a:r>
                <a:rPr lang="x-none" altLang="zh-CN" dirty="0">
                  <a:solidFill>
                    <a:srgbClr val="002060"/>
                  </a:solidFill>
                  <a:latin typeface="方正粗黑宋简体" pitchFamily="2" charset="-122"/>
                  <a:ea typeface="方正粗黑宋简体" pitchFamily="2" charset="-122"/>
                </a:rPr>
                <a:t>逻辑门电路的一般特性及参数</a:t>
              </a:r>
              <a:endParaRPr lang="zh-CN" altLang="en-US" dirty="0">
                <a:solidFill>
                  <a:srgbClr val="002060"/>
                </a:solidFill>
                <a:latin typeface="方正粗黑宋简体" pitchFamily="2" charset="-122"/>
                <a:ea typeface="方正粗黑宋简体" pitchFamily="2" charset="-122"/>
              </a:endParaRPr>
            </a:p>
          </p:txBody>
        </p:sp>
        <p:pic>
          <p:nvPicPr>
            <p:cNvPr id="4" name="Picture 3">
              <a:extLst>
                <a:ext uri="{FF2B5EF4-FFF2-40B4-BE49-F238E27FC236}">
                  <a16:creationId xmlns:a16="http://schemas.microsoft.com/office/drawing/2014/main" id="{6B143DA3-3CA0-43D4-BBA5-2CC5E6BB423D}"/>
                </a:ext>
              </a:extLst>
            </p:cNvPr>
            <p:cNvPicPr>
              <a:picLocks noChangeAspect="1" noChangeArrowheads="1"/>
            </p:cNvPicPr>
            <p:nvPr/>
          </p:nvPicPr>
          <p:blipFill>
            <a:blip r:embed="rId4" cstate="print"/>
            <a:srcRect/>
            <a:stretch>
              <a:fillRect/>
            </a:stretch>
          </p:blipFill>
          <p:spPr bwMode="auto">
            <a:xfrm flipH="1">
              <a:off x="392432" y="780143"/>
              <a:ext cx="342900" cy="411055"/>
            </a:xfrm>
            <a:prstGeom prst="rect">
              <a:avLst/>
            </a:prstGeom>
            <a:noFill/>
            <a:ln w="9525">
              <a:noFill/>
              <a:miter lim="800000"/>
              <a:headEnd/>
              <a:tailEnd/>
            </a:ln>
          </p:spPr>
        </p:pic>
      </p:grpSp>
      <p:grpSp>
        <p:nvGrpSpPr>
          <p:cNvPr id="5" name="组合 4">
            <a:extLst>
              <a:ext uri="{FF2B5EF4-FFF2-40B4-BE49-F238E27FC236}">
                <a16:creationId xmlns:a16="http://schemas.microsoft.com/office/drawing/2014/main" id="{45680B59-2970-419A-96C3-0CD956485B39}"/>
              </a:ext>
            </a:extLst>
          </p:cNvPr>
          <p:cNvGrpSpPr/>
          <p:nvPr/>
        </p:nvGrpSpPr>
        <p:grpSpPr>
          <a:xfrm>
            <a:off x="430607" y="1292296"/>
            <a:ext cx="6732895" cy="371597"/>
            <a:chOff x="307975" y="1519116"/>
            <a:chExt cx="6732895" cy="371597"/>
          </a:xfrm>
        </p:grpSpPr>
        <p:grpSp>
          <p:nvGrpSpPr>
            <p:cNvPr id="6" name="组合 5">
              <a:extLst>
                <a:ext uri="{FF2B5EF4-FFF2-40B4-BE49-F238E27FC236}">
                  <a16:creationId xmlns:a16="http://schemas.microsoft.com/office/drawing/2014/main" id="{6B135F23-9FAA-4F3A-990F-7F500931198C}"/>
                </a:ext>
              </a:extLst>
            </p:cNvPr>
            <p:cNvGrpSpPr/>
            <p:nvPr/>
          </p:nvGrpSpPr>
          <p:grpSpPr>
            <a:xfrm>
              <a:off x="307975" y="1519116"/>
              <a:ext cx="568325" cy="371597"/>
              <a:chOff x="307975" y="1519116"/>
              <a:chExt cx="568325" cy="371597"/>
            </a:xfrm>
          </p:grpSpPr>
          <p:pic>
            <p:nvPicPr>
              <p:cNvPr id="8" name="Picture 4">
                <a:extLst>
                  <a:ext uri="{FF2B5EF4-FFF2-40B4-BE49-F238E27FC236}">
                    <a16:creationId xmlns:a16="http://schemas.microsoft.com/office/drawing/2014/main" id="{70C2B751-42DD-40F9-BDA5-616C0F5B5B2F}"/>
                  </a:ext>
                </a:extLst>
              </p:cNvPr>
              <p:cNvPicPr>
                <a:picLocks noChangeAspect="1" noChangeArrowheads="1"/>
              </p:cNvPicPr>
              <p:nvPr/>
            </p:nvPicPr>
            <p:blipFill>
              <a:blip r:embed="rId5" cstate="print"/>
              <a:srcRect/>
              <a:stretch>
                <a:fillRect/>
              </a:stretch>
            </p:blipFill>
            <p:spPr bwMode="auto">
              <a:xfrm flipH="1">
                <a:off x="307975" y="1519116"/>
                <a:ext cx="568325" cy="371597"/>
              </a:xfrm>
              <a:prstGeom prst="rect">
                <a:avLst/>
              </a:prstGeom>
              <a:noFill/>
              <a:ln w="9525">
                <a:noFill/>
                <a:miter lim="800000"/>
                <a:headEnd/>
                <a:tailEnd/>
              </a:ln>
              <a:effectLst/>
            </p:spPr>
          </p:pic>
          <p:sp>
            <p:nvSpPr>
              <p:cNvPr id="9" name="TextBox 25">
                <a:extLst>
                  <a:ext uri="{FF2B5EF4-FFF2-40B4-BE49-F238E27FC236}">
                    <a16:creationId xmlns:a16="http://schemas.microsoft.com/office/drawing/2014/main" id="{E0AFCE28-6944-4C98-AA1A-AA1A6AF02F65}"/>
                  </a:ext>
                </a:extLst>
              </p:cNvPr>
              <p:cNvSpPr txBox="1"/>
              <p:nvPr/>
            </p:nvSpPr>
            <p:spPr>
              <a:xfrm flipH="1">
                <a:off x="443415" y="1555750"/>
                <a:ext cx="142668" cy="276999"/>
              </a:xfrm>
              <a:prstGeom prst="rect">
                <a:avLst/>
              </a:prstGeom>
              <a:noFill/>
            </p:spPr>
            <p:txBody>
              <a:bodyPr wrap="none" lIns="0" tIns="0" rIns="0" bIns="0" rtlCol="0">
                <a:spAutoFit/>
              </a:bodyPr>
              <a:lstStyle/>
              <a:p>
                <a:r>
                  <a:rPr lang="en-US" altLang="zh-CN" b="1" dirty="0">
                    <a:solidFill>
                      <a:srgbClr val="262626"/>
                    </a:solidFill>
                    <a:latin typeface="Segoe UI Black" pitchFamily="34" charset="0"/>
                    <a:ea typeface="Segoe UI Black" pitchFamily="34" charset="0"/>
                    <a:cs typeface="Times New Roman" pitchFamily="18" charset="0"/>
                  </a:rPr>
                  <a:t>5</a:t>
                </a:r>
                <a:endParaRPr lang="zh-CN" altLang="en-US" b="1" dirty="0">
                  <a:solidFill>
                    <a:srgbClr val="262626"/>
                  </a:solidFill>
                  <a:latin typeface="Segoe UI Black" pitchFamily="34" charset="0"/>
                  <a:cs typeface="Times New Roman" pitchFamily="18" charset="0"/>
                </a:endParaRPr>
              </a:p>
            </p:txBody>
          </p:sp>
        </p:grpSp>
        <p:sp>
          <p:nvSpPr>
            <p:cNvPr id="7" name="矩形 6">
              <a:extLst>
                <a:ext uri="{FF2B5EF4-FFF2-40B4-BE49-F238E27FC236}">
                  <a16:creationId xmlns:a16="http://schemas.microsoft.com/office/drawing/2014/main" id="{B50B05BE-0F16-4680-9B0F-FE8916C95328}"/>
                </a:ext>
              </a:extLst>
            </p:cNvPr>
            <p:cNvSpPr/>
            <p:nvPr/>
          </p:nvSpPr>
          <p:spPr>
            <a:xfrm>
              <a:off x="863675" y="1542534"/>
              <a:ext cx="6177195" cy="338554"/>
            </a:xfrm>
            <a:prstGeom prst="rect">
              <a:avLst/>
            </a:prstGeom>
          </p:spPr>
          <p:txBody>
            <a:bodyPr wrap="square">
              <a:spAutoFit/>
            </a:bodyPr>
            <a:lstStyle/>
            <a:p>
              <a:r>
                <a:rPr lang="zh-CN" altLang="en-US" sz="1600" b="1" dirty="0">
                  <a:solidFill>
                    <a:srgbClr val="6600FF"/>
                  </a:solidFill>
                  <a:latin typeface="黑体" pitchFamily="49" charset="-122"/>
                  <a:ea typeface="黑体" pitchFamily="49" charset="-122"/>
                  <a:cs typeface="Times New Roman" pitchFamily="18" charset="0"/>
                </a:rPr>
                <a:t>功耗</a:t>
              </a:r>
              <a:r>
                <a:rPr lang="en-US" altLang="zh-CN" sz="1600" b="1" dirty="0">
                  <a:solidFill>
                    <a:srgbClr val="6600FF"/>
                  </a:solidFill>
                  <a:latin typeface="黑体" pitchFamily="49" charset="-122"/>
                  <a:ea typeface="黑体" pitchFamily="49" charset="-122"/>
                  <a:cs typeface="Times New Roman" pitchFamily="18" charset="0"/>
                </a:rPr>
                <a:t>(PD)</a:t>
              </a:r>
              <a:r>
                <a:rPr lang="zh-CN" altLang="en-US" sz="1600" b="1" dirty="0">
                  <a:solidFill>
                    <a:srgbClr val="6600FF"/>
                  </a:solidFill>
                  <a:latin typeface="黑体" pitchFamily="49" charset="-122"/>
                  <a:ea typeface="黑体" pitchFamily="49" charset="-122"/>
                  <a:cs typeface="Times New Roman" pitchFamily="18" charset="0"/>
                </a:rPr>
                <a:t>：</a:t>
              </a:r>
              <a:r>
                <a:rPr lang="zh-CN" altLang="zh-CN" sz="1600" dirty="0">
                  <a:latin typeface="黑体" pitchFamily="49" charset="-122"/>
                  <a:ea typeface="黑体" pitchFamily="49" charset="-122"/>
                </a:rPr>
                <a:t>指门电路在单位时间内所消耗的电能的数量。</a:t>
              </a:r>
              <a:endParaRPr lang="zh-CN" altLang="en-US" sz="1600" b="1" dirty="0">
                <a:solidFill>
                  <a:srgbClr val="6600FF"/>
                </a:solidFill>
                <a:latin typeface="黑体" pitchFamily="49" charset="-122"/>
                <a:ea typeface="黑体" pitchFamily="49" charset="-122"/>
                <a:cs typeface="Times New Roman" pitchFamily="18" charset="0"/>
              </a:endParaRPr>
            </a:p>
          </p:txBody>
        </p:sp>
      </p:grpSp>
      <p:sp>
        <p:nvSpPr>
          <p:cNvPr id="25" name="Rectangle 21">
            <a:extLst>
              <a:ext uri="{FF2B5EF4-FFF2-40B4-BE49-F238E27FC236}">
                <a16:creationId xmlns:a16="http://schemas.microsoft.com/office/drawing/2014/main" id="{05989EDC-2695-48DF-8811-AF37B4E2ABB6}"/>
              </a:ext>
            </a:extLst>
          </p:cNvPr>
          <p:cNvSpPr>
            <a:spLocks noChangeArrowheads="1"/>
          </p:cNvSpPr>
          <p:nvPr/>
        </p:nvSpPr>
        <p:spPr bwMode="auto">
          <a:xfrm>
            <a:off x="998932" y="4977635"/>
            <a:ext cx="5570201" cy="338554"/>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txBody>
          <a:bodyPr wrap="square" lIns="0" rIns="0">
            <a:spAutoFit/>
          </a:bodyPr>
          <a:lstStyle/>
          <a:p>
            <a:pPr>
              <a:spcBef>
                <a:spcPct val="0"/>
              </a:spcBef>
              <a:defRPr/>
            </a:pPr>
            <a:r>
              <a:rPr lang="zh-CN" altLang="en-US" sz="1600" dirty="0">
                <a:solidFill>
                  <a:schemeClr val="tx1">
                    <a:lumMod val="10000"/>
                  </a:schemeClr>
                </a:solidFill>
                <a:latin typeface="Times New Roman" pitchFamily="18" charset="0"/>
                <a:ea typeface="黑体" pitchFamily="49" charset="-122"/>
                <a:cs typeface="Times New Roman" pitchFamily="18" charset="0"/>
              </a:rPr>
              <a:t>工作速度与功耗的综合性指标。用符号</a:t>
            </a:r>
            <a:r>
              <a:rPr lang="en-US" altLang="zh-CN" sz="1600" dirty="0">
                <a:solidFill>
                  <a:schemeClr val="tx1">
                    <a:lumMod val="10000"/>
                  </a:schemeClr>
                </a:solidFill>
                <a:latin typeface="Times New Roman" pitchFamily="18" charset="0"/>
                <a:ea typeface="黑体" pitchFamily="49" charset="-122"/>
                <a:cs typeface="Times New Roman" pitchFamily="18" charset="0"/>
              </a:rPr>
              <a:t>DP</a:t>
            </a:r>
            <a:r>
              <a:rPr lang="zh-CN" altLang="en-US" sz="1600" dirty="0">
                <a:solidFill>
                  <a:schemeClr val="tx1">
                    <a:lumMod val="10000"/>
                  </a:schemeClr>
                </a:solidFill>
                <a:latin typeface="Times New Roman" pitchFamily="18" charset="0"/>
                <a:ea typeface="黑体" pitchFamily="49" charset="-122"/>
                <a:cs typeface="Times New Roman" pitchFamily="18" charset="0"/>
              </a:rPr>
              <a:t>表示，其</a:t>
            </a:r>
            <a:r>
              <a:rPr lang="zh-CN" altLang="en-US" sz="1600" b="1" dirty="0">
                <a:solidFill>
                  <a:srgbClr val="6600FF"/>
                </a:solidFill>
                <a:latin typeface="方正粗黑宋简体" pitchFamily="2" charset="-122"/>
                <a:ea typeface="方正粗黑宋简体" pitchFamily="2" charset="-122"/>
              </a:rPr>
              <a:t>越小越好</a:t>
            </a:r>
            <a:r>
              <a:rPr lang="zh-CN" altLang="en-US" sz="1600" dirty="0">
                <a:solidFill>
                  <a:schemeClr val="tx1">
                    <a:lumMod val="10000"/>
                  </a:schemeClr>
                </a:solidFill>
                <a:latin typeface="Times New Roman" pitchFamily="18" charset="0"/>
                <a:ea typeface="黑体" pitchFamily="49" charset="-122"/>
                <a:cs typeface="Times New Roman" pitchFamily="18" charset="0"/>
              </a:rPr>
              <a:t>。</a:t>
            </a:r>
          </a:p>
        </p:txBody>
      </p:sp>
      <p:sp>
        <p:nvSpPr>
          <p:cNvPr id="26" name="Rectangle 14">
            <a:extLst>
              <a:ext uri="{FF2B5EF4-FFF2-40B4-BE49-F238E27FC236}">
                <a16:creationId xmlns:a16="http://schemas.microsoft.com/office/drawing/2014/main" id="{91EB4FDE-7789-4148-BCE2-CA482284BCB4}"/>
              </a:ext>
            </a:extLst>
          </p:cNvPr>
          <p:cNvSpPr>
            <a:spLocks noChangeArrowheads="1"/>
          </p:cNvSpPr>
          <p:nvPr/>
        </p:nvSpPr>
        <p:spPr bwMode="auto">
          <a:xfrm>
            <a:off x="566047" y="1834983"/>
            <a:ext cx="7823200" cy="400110"/>
          </a:xfrm>
          <a:prstGeom prst="rect">
            <a:avLst/>
          </a:prstGeom>
          <a:noFill/>
          <a:ln w="9525" algn="ctr">
            <a:noFill/>
            <a:miter lim="800000"/>
            <a:headEnd/>
            <a:tailEnd/>
          </a:ln>
        </p:spPr>
        <p:txBody>
          <a:bodyPr lIns="0" rIns="0">
            <a:spAutoFit/>
          </a:bodyPr>
          <a:lstStyle/>
          <a:p>
            <a:pPr>
              <a:lnSpc>
                <a:spcPct val="125000"/>
              </a:lnSpc>
              <a:defRPr/>
            </a:pPr>
            <a:r>
              <a:rPr lang="zh-CN" altLang="en-US" sz="1600" dirty="0">
                <a:latin typeface="Times New Roman" pitchFamily="18" charset="0"/>
                <a:ea typeface="黑体" pitchFamily="49" charset="-122"/>
                <a:cs typeface="Times New Roman" pitchFamily="18" charset="0"/>
              </a:rPr>
              <a:t>功耗是门电路的重要参数之一，有</a:t>
            </a:r>
            <a:r>
              <a:rPr lang="zh-CN" altLang="en-US" sz="1600" dirty="0">
                <a:solidFill>
                  <a:srgbClr val="6600FF"/>
                </a:solidFill>
                <a:latin typeface="方正粗黑宋简体" pitchFamily="2" charset="-122"/>
                <a:ea typeface="方正粗黑宋简体" pitchFamily="2" charset="-122"/>
              </a:rPr>
              <a:t>静态</a:t>
            </a:r>
            <a:r>
              <a:rPr lang="zh-CN" altLang="en-US" sz="1600" dirty="0">
                <a:latin typeface="Times New Roman" pitchFamily="18" charset="0"/>
                <a:ea typeface="黑体" pitchFamily="49" charset="-122"/>
                <a:cs typeface="Times New Roman" pitchFamily="18" charset="0"/>
              </a:rPr>
              <a:t>和</a:t>
            </a:r>
            <a:r>
              <a:rPr lang="zh-CN" altLang="en-US" sz="1600" dirty="0">
                <a:solidFill>
                  <a:srgbClr val="6600FF"/>
                </a:solidFill>
                <a:latin typeface="方正粗黑宋简体" pitchFamily="2" charset="-122"/>
                <a:ea typeface="方正粗黑宋简体" pitchFamily="2" charset="-122"/>
              </a:rPr>
              <a:t>动态</a:t>
            </a:r>
            <a:r>
              <a:rPr lang="zh-CN" altLang="en-US" sz="1600" dirty="0">
                <a:latin typeface="Times New Roman" pitchFamily="18" charset="0"/>
                <a:ea typeface="黑体" pitchFamily="49" charset="-122"/>
                <a:cs typeface="Times New Roman" pitchFamily="18" charset="0"/>
              </a:rPr>
              <a:t>之分。</a:t>
            </a:r>
          </a:p>
        </p:txBody>
      </p:sp>
      <p:sp>
        <p:nvSpPr>
          <p:cNvPr id="28" name="Rectangle 15">
            <a:extLst>
              <a:ext uri="{FF2B5EF4-FFF2-40B4-BE49-F238E27FC236}">
                <a16:creationId xmlns:a16="http://schemas.microsoft.com/office/drawing/2014/main" id="{F13A5485-0161-4004-875C-BC9CB462B193}"/>
              </a:ext>
            </a:extLst>
          </p:cNvPr>
          <p:cNvSpPr>
            <a:spLocks noChangeArrowheads="1"/>
          </p:cNvSpPr>
          <p:nvPr/>
        </p:nvSpPr>
        <p:spPr bwMode="auto">
          <a:xfrm>
            <a:off x="510347" y="2237866"/>
            <a:ext cx="7831138" cy="1323439"/>
          </a:xfrm>
          <a:prstGeom prst="rect">
            <a:avLst/>
          </a:prstGeom>
          <a:noFill/>
          <a:ln w="9525" algn="ctr">
            <a:noFill/>
            <a:miter lim="800000"/>
            <a:headEnd/>
            <a:tailEnd/>
          </a:ln>
        </p:spPr>
        <p:txBody>
          <a:bodyPr>
            <a:spAutoFit/>
          </a:bodyPr>
          <a:lstStyle/>
          <a:p>
            <a:pPr marL="985838" indent="-985838">
              <a:lnSpc>
                <a:spcPct val="125000"/>
              </a:lnSpc>
              <a:defRPr/>
            </a:pPr>
            <a:r>
              <a:rPr lang="zh-CN" altLang="en-US" sz="1600" dirty="0">
                <a:latin typeface="Times New Roman" pitchFamily="18" charset="0"/>
                <a:ea typeface="黑体" pitchFamily="49" charset="-122"/>
                <a:cs typeface="Times New Roman" pitchFamily="18" charset="0"/>
              </a:rPr>
              <a:t>静态功耗：指的是当电路没有状态转换时（处于某个特定的状态）的功耗，即门电路空载时电源总电流</a:t>
            </a:r>
            <a:r>
              <a:rPr lang="en-US" altLang="zh-CN" sz="1600" i="1" dirty="0">
                <a:latin typeface="Times New Roman" pitchFamily="18" charset="0"/>
                <a:ea typeface="黑体" pitchFamily="49" charset="-122"/>
                <a:cs typeface="Times New Roman" pitchFamily="18" charset="0"/>
              </a:rPr>
              <a:t>I</a:t>
            </a:r>
            <a:r>
              <a:rPr lang="en-US" altLang="zh-CN" sz="1600" baseline="-25000" dirty="0">
                <a:latin typeface="Times New Roman" pitchFamily="18" charset="0"/>
                <a:ea typeface="黑体" pitchFamily="49" charset="-122"/>
                <a:cs typeface="Times New Roman" pitchFamily="18" charset="0"/>
              </a:rPr>
              <a:t>D</a:t>
            </a:r>
            <a:r>
              <a:rPr lang="zh-CN" altLang="en-US" sz="1600" dirty="0">
                <a:latin typeface="Times New Roman" pitchFamily="18" charset="0"/>
                <a:ea typeface="黑体" pitchFamily="49" charset="-122"/>
                <a:cs typeface="Times New Roman" pitchFamily="18" charset="0"/>
              </a:rPr>
              <a:t>与电源电压</a:t>
            </a:r>
            <a:r>
              <a:rPr lang="en-US" altLang="zh-CN" sz="1600" i="1" dirty="0">
                <a:latin typeface="Times New Roman" pitchFamily="18" charset="0"/>
                <a:ea typeface="黑体" pitchFamily="49" charset="-122"/>
                <a:cs typeface="Times New Roman" pitchFamily="18" charset="0"/>
              </a:rPr>
              <a:t>V</a:t>
            </a:r>
            <a:r>
              <a:rPr lang="en-US" altLang="zh-CN" sz="1600" baseline="-25000" dirty="0">
                <a:latin typeface="Times New Roman" pitchFamily="18" charset="0"/>
                <a:ea typeface="黑体" pitchFamily="49" charset="-122"/>
                <a:cs typeface="Times New Roman" pitchFamily="18" charset="0"/>
              </a:rPr>
              <a:t>DD</a:t>
            </a:r>
            <a:r>
              <a:rPr lang="zh-CN" altLang="en-US" sz="1600" dirty="0">
                <a:latin typeface="Times New Roman" pitchFamily="18" charset="0"/>
                <a:ea typeface="黑体" pitchFamily="49" charset="-122"/>
                <a:cs typeface="Times New Roman" pitchFamily="18" charset="0"/>
              </a:rPr>
              <a:t>的乘积。</a:t>
            </a:r>
            <a:endParaRPr lang="en-US" altLang="zh-CN" sz="1600" dirty="0">
              <a:latin typeface="Times New Roman" pitchFamily="18" charset="0"/>
              <a:ea typeface="黑体" pitchFamily="49" charset="-122"/>
              <a:cs typeface="Times New Roman" pitchFamily="18" charset="0"/>
            </a:endParaRPr>
          </a:p>
          <a:p>
            <a:pPr marL="985838" indent="-985838">
              <a:lnSpc>
                <a:spcPct val="125000"/>
              </a:lnSpc>
              <a:defRPr/>
            </a:pPr>
            <a:r>
              <a:rPr lang="zh-CN" altLang="en-US" sz="1600" dirty="0">
                <a:latin typeface="Times New Roman" pitchFamily="18" charset="0"/>
                <a:ea typeface="黑体" pitchFamily="49" charset="-122"/>
                <a:cs typeface="Times New Roman" pitchFamily="18" charset="0"/>
              </a:rPr>
              <a:t>动态功耗：发生在电路状态转换瞬间（逻辑转换时）或有电容性负载时。</a:t>
            </a:r>
          </a:p>
          <a:p>
            <a:pPr marL="985838" indent="-985838">
              <a:lnSpc>
                <a:spcPct val="125000"/>
              </a:lnSpc>
              <a:defRPr/>
            </a:pPr>
            <a:endParaRPr lang="zh-CN" altLang="en-US" sz="1600" dirty="0">
              <a:latin typeface="Times New Roman" pitchFamily="18" charset="0"/>
              <a:ea typeface="黑体" pitchFamily="49" charset="-122"/>
              <a:cs typeface="Times New Roman" pitchFamily="18" charset="0"/>
            </a:endParaRPr>
          </a:p>
        </p:txBody>
      </p:sp>
      <p:grpSp>
        <p:nvGrpSpPr>
          <p:cNvPr id="31" name="组合 30">
            <a:extLst>
              <a:ext uri="{FF2B5EF4-FFF2-40B4-BE49-F238E27FC236}">
                <a16:creationId xmlns:a16="http://schemas.microsoft.com/office/drawing/2014/main" id="{43E635B0-FEA4-42EA-A095-ACF68F382A56}"/>
              </a:ext>
            </a:extLst>
          </p:cNvPr>
          <p:cNvGrpSpPr/>
          <p:nvPr/>
        </p:nvGrpSpPr>
        <p:grpSpPr>
          <a:xfrm>
            <a:off x="436491" y="4454409"/>
            <a:ext cx="3458845" cy="371597"/>
            <a:chOff x="307975" y="1519116"/>
            <a:chExt cx="3458845" cy="371597"/>
          </a:xfrm>
        </p:grpSpPr>
        <p:grpSp>
          <p:nvGrpSpPr>
            <p:cNvPr id="32" name="组合 31">
              <a:extLst>
                <a:ext uri="{FF2B5EF4-FFF2-40B4-BE49-F238E27FC236}">
                  <a16:creationId xmlns:a16="http://schemas.microsoft.com/office/drawing/2014/main" id="{B726C32B-87BF-49C7-B8C1-C435D2DDD9A6}"/>
                </a:ext>
              </a:extLst>
            </p:cNvPr>
            <p:cNvGrpSpPr/>
            <p:nvPr/>
          </p:nvGrpSpPr>
          <p:grpSpPr>
            <a:xfrm>
              <a:off x="307975" y="1519116"/>
              <a:ext cx="568325" cy="371597"/>
              <a:chOff x="307975" y="1519116"/>
              <a:chExt cx="568325" cy="371597"/>
            </a:xfrm>
          </p:grpSpPr>
          <p:pic>
            <p:nvPicPr>
              <p:cNvPr id="36" name="Picture 4">
                <a:extLst>
                  <a:ext uri="{FF2B5EF4-FFF2-40B4-BE49-F238E27FC236}">
                    <a16:creationId xmlns:a16="http://schemas.microsoft.com/office/drawing/2014/main" id="{58692AC9-E3B6-470B-9CDA-875AC9B0B2ED}"/>
                  </a:ext>
                </a:extLst>
              </p:cNvPr>
              <p:cNvPicPr>
                <a:picLocks noChangeAspect="1" noChangeArrowheads="1"/>
              </p:cNvPicPr>
              <p:nvPr/>
            </p:nvPicPr>
            <p:blipFill>
              <a:blip r:embed="rId5" cstate="print"/>
              <a:srcRect/>
              <a:stretch>
                <a:fillRect/>
              </a:stretch>
            </p:blipFill>
            <p:spPr bwMode="auto">
              <a:xfrm flipH="1">
                <a:off x="307975" y="1519116"/>
                <a:ext cx="568325" cy="371597"/>
              </a:xfrm>
              <a:prstGeom prst="rect">
                <a:avLst/>
              </a:prstGeom>
              <a:noFill/>
              <a:ln w="9525">
                <a:noFill/>
                <a:miter lim="800000"/>
                <a:headEnd/>
                <a:tailEnd/>
              </a:ln>
              <a:effectLst/>
            </p:spPr>
          </p:pic>
          <p:sp>
            <p:nvSpPr>
              <p:cNvPr id="37" name="TextBox 25">
                <a:extLst>
                  <a:ext uri="{FF2B5EF4-FFF2-40B4-BE49-F238E27FC236}">
                    <a16:creationId xmlns:a16="http://schemas.microsoft.com/office/drawing/2014/main" id="{02BE53B0-1485-4D27-893B-EB1A3B3E3696}"/>
                  </a:ext>
                </a:extLst>
              </p:cNvPr>
              <p:cNvSpPr txBox="1"/>
              <p:nvPr/>
            </p:nvSpPr>
            <p:spPr>
              <a:xfrm flipH="1">
                <a:off x="443415" y="1555750"/>
                <a:ext cx="142668" cy="276999"/>
              </a:xfrm>
              <a:prstGeom prst="rect">
                <a:avLst/>
              </a:prstGeom>
              <a:noFill/>
            </p:spPr>
            <p:txBody>
              <a:bodyPr wrap="none" lIns="0" tIns="0" rIns="0" bIns="0" rtlCol="0">
                <a:spAutoFit/>
              </a:bodyPr>
              <a:lstStyle/>
              <a:p>
                <a:r>
                  <a:rPr lang="en-US" altLang="zh-CN" b="1" dirty="0">
                    <a:solidFill>
                      <a:srgbClr val="262626"/>
                    </a:solidFill>
                    <a:latin typeface="Segoe UI Black" pitchFamily="34" charset="0"/>
                    <a:ea typeface="Segoe UI Black" pitchFamily="34" charset="0"/>
                    <a:cs typeface="Times New Roman" pitchFamily="18" charset="0"/>
                  </a:rPr>
                  <a:t>6</a:t>
                </a:r>
                <a:endParaRPr lang="zh-CN" altLang="en-US" b="1" dirty="0">
                  <a:solidFill>
                    <a:srgbClr val="262626"/>
                  </a:solidFill>
                  <a:latin typeface="Segoe UI Black" pitchFamily="34" charset="0"/>
                  <a:cs typeface="Times New Roman" pitchFamily="18" charset="0"/>
                </a:endParaRPr>
              </a:p>
            </p:txBody>
          </p:sp>
        </p:grpSp>
        <p:sp>
          <p:nvSpPr>
            <p:cNvPr id="34" name="矩形 33">
              <a:extLst>
                <a:ext uri="{FF2B5EF4-FFF2-40B4-BE49-F238E27FC236}">
                  <a16:creationId xmlns:a16="http://schemas.microsoft.com/office/drawing/2014/main" id="{9ED4006E-F249-46AD-92CC-39955348ADCE}"/>
                </a:ext>
              </a:extLst>
            </p:cNvPr>
            <p:cNvSpPr/>
            <p:nvPr/>
          </p:nvSpPr>
          <p:spPr>
            <a:xfrm>
              <a:off x="863675" y="1542534"/>
              <a:ext cx="2903145" cy="338554"/>
            </a:xfrm>
            <a:prstGeom prst="rect">
              <a:avLst/>
            </a:prstGeom>
          </p:spPr>
          <p:txBody>
            <a:bodyPr wrap="square">
              <a:spAutoFit/>
            </a:bodyPr>
            <a:lstStyle/>
            <a:p>
              <a:r>
                <a:rPr lang="zh-CN" altLang="en-US" sz="1600" b="1" dirty="0">
                  <a:solidFill>
                    <a:srgbClr val="6600FF"/>
                  </a:solidFill>
                  <a:latin typeface="黑体" pitchFamily="49" charset="-122"/>
                  <a:ea typeface="黑体" pitchFamily="49" charset="-122"/>
                  <a:cs typeface="Times New Roman" pitchFamily="18" charset="0"/>
                </a:rPr>
                <a:t>延时</a:t>
              </a:r>
              <a:r>
                <a:rPr lang="en-US" altLang="zh-CN" sz="1600" b="1" dirty="0">
                  <a:solidFill>
                    <a:srgbClr val="6600FF"/>
                  </a:solidFill>
                  <a:latin typeface="黑体" pitchFamily="49" charset="-122"/>
                  <a:ea typeface="黑体" pitchFamily="49" charset="-122"/>
                  <a:cs typeface="Times New Roman" pitchFamily="18" charset="0"/>
                </a:rPr>
                <a:t>-</a:t>
              </a:r>
              <a:r>
                <a:rPr lang="zh-CN" altLang="en-US" sz="1600" b="1" dirty="0">
                  <a:solidFill>
                    <a:srgbClr val="6600FF"/>
                  </a:solidFill>
                  <a:latin typeface="黑体" pitchFamily="49" charset="-122"/>
                  <a:ea typeface="黑体" pitchFamily="49" charset="-122"/>
                  <a:cs typeface="Times New Roman" pitchFamily="18" charset="0"/>
                </a:rPr>
                <a:t>功耗积</a:t>
              </a:r>
            </a:p>
          </p:txBody>
        </p:sp>
      </p:grpSp>
      <p:grpSp>
        <p:nvGrpSpPr>
          <p:cNvPr id="21" name="组合 20"/>
          <p:cNvGrpSpPr/>
          <p:nvPr/>
        </p:nvGrpSpPr>
        <p:grpSpPr>
          <a:xfrm>
            <a:off x="872472" y="3284706"/>
            <a:ext cx="6341598" cy="1018987"/>
            <a:chOff x="918823" y="3411120"/>
            <a:chExt cx="6341598" cy="1018987"/>
          </a:xfrm>
        </p:grpSpPr>
        <p:sp>
          <p:nvSpPr>
            <p:cNvPr id="29" name="Rectangle 16">
              <a:extLst>
                <a:ext uri="{FF2B5EF4-FFF2-40B4-BE49-F238E27FC236}">
                  <a16:creationId xmlns:a16="http://schemas.microsoft.com/office/drawing/2014/main" id="{2D27F406-42B0-43C5-921D-AA14240C33A6}"/>
                </a:ext>
              </a:extLst>
            </p:cNvPr>
            <p:cNvSpPr>
              <a:spLocks noChangeArrowheads="1"/>
            </p:cNvSpPr>
            <p:nvPr/>
          </p:nvSpPr>
          <p:spPr bwMode="auto">
            <a:xfrm>
              <a:off x="918823" y="3411120"/>
              <a:ext cx="6341598" cy="707886"/>
            </a:xfrm>
            <a:prstGeom prst="rect">
              <a:avLst/>
            </a:prstGeom>
            <a:noFill/>
            <a:ln w="9525" algn="ctr">
              <a:noFill/>
              <a:miter lim="800000"/>
              <a:headEnd/>
              <a:tailEnd/>
            </a:ln>
          </p:spPr>
          <p:txBody>
            <a:bodyPr wrap="square" lIns="0" rIns="0">
              <a:spAutoFit/>
            </a:bodyPr>
            <a:lstStyle/>
            <a:p>
              <a:pPr>
                <a:lnSpc>
                  <a:spcPct val="125000"/>
                </a:lnSpc>
                <a:buSzPct val="80000"/>
                <a:buFont typeface="Wingdings" pitchFamily="2" charset="2"/>
                <a:buChar char="u"/>
                <a:defRPr/>
              </a:pPr>
              <a:r>
                <a:rPr lang="zh-CN" altLang="en-US" sz="1600" dirty="0">
                  <a:latin typeface="Times New Roman" pitchFamily="18" charset="0"/>
                  <a:ea typeface="黑体" pitchFamily="49" charset="-122"/>
                  <a:cs typeface="Times New Roman" pitchFamily="18" charset="0"/>
                </a:rPr>
                <a:t>  对于</a:t>
              </a:r>
              <a:r>
                <a:rPr lang="en-US" altLang="zh-CN" sz="1600" dirty="0">
                  <a:latin typeface="Times New Roman" pitchFamily="18" charset="0"/>
                  <a:ea typeface="黑体" pitchFamily="49" charset="-122"/>
                  <a:cs typeface="Times New Roman" pitchFamily="18" charset="0"/>
                </a:rPr>
                <a:t>TTL</a:t>
              </a:r>
              <a:r>
                <a:rPr lang="zh-CN" altLang="en-US" sz="1600" dirty="0">
                  <a:latin typeface="Times New Roman" pitchFamily="18" charset="0"/>
                  <a:ea typeface="黑体" pitchFamily="49" charset="-122"/>
                  <a:cs typeface="Times New Roman" pitchFamily="18" charset="0"/>
                </a:rPr>
                <a:t>门电路来说，静态功耗是主要的。</a:t>
              </a:r>
            </a:p>
            <a:p>
              <a:pPr>
                <a:lnSpc>
                  <a:spcPct val="125000"/>
                </a:lnSpc>
                <a:buSzPct val="80000"/>
                <a:buFont typeface="Wingdings" pitchFamily="2" charset="2"/>
                <a:buChar char="u"/>
                <a:defRPr/>
              </a:pPr>
              <a:r>
                <a:rPr lang="en-US" altLang="zh-CN" sz="1600" dirty="0">
                  <a:solidFill>
                    <a:schemeClr val="tx1">
                      <a:lumMod val="10000"/>
                    </a:schemeClr>
                  </a:solidFill>
                  <a:latin typeface="Times New Roman" pitchFamily="18" charset="0"/>
                  <a:ea typeface="黑体" pitchFamily="49" charset="-122"/>
                  <a:cs typeface="Times New Roman" pitchFamily="18" charset="0"/>
                </a:rPr>
                <a:t>  CMOS</a:t>
              </a:r>
              <a:r>
                <a:rPr lang="zh-CN" altLang="en-US" sz="1600" dirty="0">
                  <a:solidFill>
                    <a:schemeClr val="tx1">
                      <a:lumMod val="10000"/>
                    </a:schemeClr>
                  </a:solidFill>
                  <a:latin typeface="Times New Roman" pitchFamily="18" charset="0"/>
                  <a:ea typeface="黑体" pitchFamily="49" charset="-122"/>
                  <a:cs typeface="Times New Roman" pitchFamily="18" charset="0"/>
                </a:rPr>
                <a:t>电路的静态功耗非常低，</a:t>
              </a:r>
              <a:r>
                <a:rPr lang="en-US" altLang="zh-CN" sz="1600" dirty="0">
                  <a:solidFill>
                    <a:schemeClr val="tx1">
                      <a:lumMod val="10000"/>
                    </a:schemeClr>
                  </a:solidFill>
                  <a:latin typeface="Times New Roman" pitchFamily="18" charset="0"/>
                  <a:ea typeface="黑体" pitchFamily="49" charset="-122"/>
                  <a:cs typeface="Times New Roman" pitchFamily="18" charset="0"/>
                </a:rPr>
                <a:t>CMOS</a:t>
              </a:r>
              <a:r>
                <a:rPr lang="zh-CN" altLang="en-US" sz="1600" dirty="0">
                  <a:solidFill>
                    <a:schemeClr val="tx1">
                      <a:lumMod val="10000"/>
                    </a:schemeClr>
                  </a:solidFill>
                  <a:latin typeface="Times New Roman" pitchFamily="18" charset="0"/>
                  <a:ea typeface="黑体" pitchFamily="49" charset="-122"/>
                  <a:cs typeface="Times New Roman" pitchFamily="18" charset="0"/>
                </a:rPr>
                <a:t>门电路的动态功耗</a:t>
              </a:r>
              <a:endParaRPr lang="en-US" altLang="zh-CN" sz="1600" baseline="-25000" dirty="0">
                <a:solidFill>
                  <a:schemeClr val="tx1">
                    <a:lumMod val="10000"/>
                  </a:schemeClr>
                </a:solidFill>
                <a:latin typeface="Times New Roman" pitchFamily="18" charset="0"/>
                <a:ea typeface="黑体" pitchFamily="49" charset="-122"/>
                <a:cs typeface="Times New Roman" pitchFamily="18" charset="0"/>
              </a:endParaRPr>
            </a:p>
          </p:txBody>
        </p:sp>
        <p:graphicFrame>
          <p:nvGraphicFramePr>
            <p:cNvPr id="11" name="对象 10">
              <a:extLst>
                <a:ext uri="{FF2B5EF4-FFF2-40B4-BE49-F238E27FC236}">
                  <a16:creationId xmlns:a16="http://schemas.microsoft.com/office/drawing/2014/main" id="{82322662-9872-4542-B09E-B18405AB280D}"/>
                </a:ext>
              </a:extLst>
            </p:cNvPr>
            <p:cNvGraphicFramePr>
              <a:graphicFrameLocks noChangeAspect="1"/>
            </p:cNvGraphicFramePr>
            <p:nvPr>
              <p:extLst>
                <p:ext uri="{D42A27DB-BD31-4B8C-83A1-F6EECF244321}">
                  <p14:modId xmlns:p14="http://schemas.microsoft.com/office/powerpoint/2010/main" val="2272820182"/>
                </p:ext>
              </p:extLst>
            </p:nvPr>
          </p:nvGraphicFramePr>
          <p:xfrm>
            <a:off x="3136666" y="4098331"/>
            <a:ext cx="1672704" cy="331776"/>
          </p:xfrm>
          <a:graphic>
            <a:graphicData uri="http://schemas.openxmlformats.org/presentationml/2006/ole">
              <mc:AlternateContent xmlns:mc="http://schemas.openxmlformats.org/markup-compatibility/2006">
                <mc:Choice xmlns:v="urn:schemas-microsoft-com:vml" Requires="v">
                  <p:oleObj spid="_x0000_s69648" name="公式" r:id="rId6" imgW="1141514" imgH="215619" progId="Equation.3">
                    <p:embed/>
                  </p:oleObj>
                </mc:Choice>
                <mc:Fallback>
                  <p:oleObj name="公式" r:id="rId6" imgW="1141514" imgH="215619" progId="Equation.3">
                    <p:embed/>
                    <p:pic>
                      <p:nvPicPr>
                        <p:cNvPr id="0"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36666" y="4098331"/>
                          <a:ext cx="1672704" cy="3317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3376934609"/>
      </p:ext>
    </p:extLst>
  </p:cSld>
  <p:clrMapOvr>
    <a:masterClrMapping/>
  </p:clrMapOvr>
  <p:transition spd="med">
    <p:push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Bottom)">
                                      <p:cBhvr>
                                        <p:cTn id="7" dur="1000"/>
                                        <p:tgtEl>
                                          <p:spTgt spid="5"/>
                                        </p:tgtEl>
                                      </p:cBhvr>
                                    </p:animEffect>
                                  </p:childTnLst>
                                </p:cTn>
                              </p:par>
                            </p:childTnLst>
                          </p:cTn>
                        </p:par>
                        <p:par>
                          <p:cTn id="8" fill="hold">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slide(fromBottom)">
                                      <p:cBhvr>
                                        <p:cTn id="11" dur="1000"/>
                                        <p:tgtEl>
                                          <p:spTgt spid="26"/>
                                        </p:tgtEl>
                                      </p:cBhvr>
                                    </p:animEffect>
                                  </p:childTnLst>
                                </p:cTn>
                              </p:par>
                            </p:childTnLst>
                          </p:cTn>
                        </p:par>
                        <p:par>
                          <p:cTn id="12" fill="hold">
                            <p:stCondLst>
                              <p:cond delay="2000"/>
                            </p:stCondLst>
                            <p:childTnLst>
                              <p:par>
                                <p:cTn id="13" presetID="12" presetClass="entr" presetSubtype="4" fill="hold" grpId="0" nodeType="after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slide(fromBottom)">
                                      <p:cBhvr>
                                        <p:cTn id="15" dur="1000"/>
                                        <p:tgtEl>
                                          <p:spTgt spid="28"/>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nodeType="click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slide(fromBottom)">
                                      <p:cBhvr>
                                        <p:cTn id="20" dur="1000"/>
                                        <p:tgtEl>
                                          <p:spTgt spid="21"/>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nodeType="click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slide(fromBottom)">
                                      <p:cBhvr>
                                        <p:cTn id="25" dur="1000"/>
                                        <p:tgtEl>
                                          <p:spTgt spid="31"/>
                                        </p:tgtEl>
                                      </p:cBhvr>
                                    </p:animEffect>
                                  </p:childTnLst>
                                </p:cTn>
                              </p:par>
                            </p:childTnLst>
                          </p:cTn>
                        </p:par>
                        <p:par>
                          <p:cTn id="26" fill="hold">
                            <p:stCondLst>
                              <p:cond delay="1000"/>
                            </p:stCondLst>
                            <p:childTnLst>
                              <p:par>
                                <p:cTn id="27" presetID="12" presetClass="entr" presetSubtype="4" fill="hold" grpId="0" nodeType="after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slide(fromBottom)">
                                      <p:cBhvr>
                                        <p:cTn id="29"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1041354" y="1824567"/>
            <a:ext cx="6772956" cy="2072333"/>
            <a:chOff x="1041354" y="1824567"/>
            <a:chExt cx="6772956" cy="2072333"/>
          </a:xfrm>
        </p:grpSpPr>
        <p:grpSp>
          <p:nvGrpSpPr>
            <p:cNvPr id="17" name="组合 16"/>
            <p:cNvGrpSpPr/>
            <p:nvPr/>
          </p:nvGrpSpPr>
          <p:grpSpPr>
            <a:xfrm>
              <a:off x="1101090" y="1824567"/>
              <a:ext cx="1371600" cy="760000"/>
              <a:chOff x="1101090" y="1824567"/>
              <a:chExt cx="1371600" cy="760000"/>
            </a:xfrm>
          </p:grpSpPr>
          <p:grpSp>
            <p:nvGrpSpPr>
              <p:cNvPr id="3" name="组合 35"/>
              <p:cNvGrpSpPr/>
              <p:nvPr/>
            </p:nvGrpSpPr>
            <p:grpSpPr>
              <a:xfrm>
                <a:off x="1101090" y="1972734"/>
                <a:ext cx="1371600" cy="110067"/>
                <a:chOff x="910590" y="1699260"/>
                <a:chExt cx="1371600" cy="99060"/>
              </a:xfrm>
            </p:grpSpPr>
            <p:cxnSp>
              <p:nvCxnSpPr>
                <p:cNvPr id="22" name="直接连接符 21"/>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3" name="直接连接符 22"/>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4" name="组合 36"/>
              <p:cNvGrpSpPr/>
              <p:nvPr/>
            </p:nvGrpSpPr>
            <p:grpSpPr>
              <a:xfrm rot="5400000">
                <a:off x="986715" y="2155037"/>
                <a:ext cx="760000" cy="99060"/>
                <a:chOff x="910590" y="1699260"/>
                <a:chExt cx="1371600" cy="99060"/>
              </a:xfrm>
            </p:grpSpPr>
            <p:cxnSp>
              <p:nvCxnSpPr>
                <p:cNvPr id="20" name="直接连接符 19"/>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1" name="直接连接符 20"/>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grpSp>
          <p:nvGrpSpPr>
            <p:cNvPr id="18" name="组合 17"/>
            <p:cNvGrpSpPr/>
            <p:nvPr/>
          </p:nvGrpSpPr>
          <p:grpSpPr>
            <a:xfrm>
              <a:off x="6442710" y="3136900"/>
              <a:ext cx="1371600" cy="760000"/>
              <a:chOff x="6442710" y="3136900"/>
              <a:chExt cx="1371600" cy="760000"/>
            </a:xfrm>
          </p:grpSpPr>
          <p:grpSp>
            <p:nvGrpSpPr>
              <p:cNvPr id="6" name="组合 35"/>
              <p:cNvGrpSpPr/>
              <p:nvPr/>
            </p:nvGrpSpPr>
            <p:grpSpPr>
              <a:xfrm rot="10800000">
                <a:off x="6442710" y="3638667"/>
                <a:ext cx="1371600" cy="110067"/>
                <a:chOff x="910590" y="1699260"/>
                <a:chExt cx="1371600" cy="99060"/>
              </a:xfrm>
            </p:grpSpPr>
            <p:cxnSp>
              <p:nvCxnSpPr>
                <p:cNvPr id="31" name="直接连接符 30"/>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2" name="直接连接符 31"/>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7" name="组合 36"/>
              <p:cNvGrpSpPr/>
              <p:nvPr/>
            </p:nvGrpSpPr>
            <p:grpSpPr>
              <a:xfrm rot="16200000">
                <a:off x="7092485" y="3467370"/>
                <a:ext cx="760000" cy="99060"/>
                <a:chOff x="910590" y="1699260"/>
                <a:chExt cx="1371600" cy="99060"/>
              </a:xfrm>
            </p:grpSpPr>
            <p:cxnSp>
              <p:nvCxnSpPr>
                <p:cNvPr id="28" name="直接连接符 27"/>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0" name="直接连接符 29"/>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sp>
          <p:nvSpPr>
            <p:cNvPr id="33" name="文本框 6"/>
            <p:cNvSpPr txBox="1"/>
            <p:nvPr/>
          </p:nvSpPr>
          <p:spPr>
            <a:xfrm>
              <a:off x="1041354" y="2166579"/>
              <a:ext cx="6498792" cy="1284967"/>
            </a:xfrm>
            <a:prstGeom prst="rect">
              <a:avLst/>
            </a:prstGeom>
            <a:noFill/>
          </p:spPr>
          <p:txBody>
            <a:bodyPr wrap="square" rtlCol="0">
              <a:spAutoFit/>
            </a:bodyPr>
            <a:lstStyle/>
            <a:p>
              <a:pPr algn="ctr">
                <a:lnSpc>
                  <a:spcPct val="125000"/>
                </a:lnSpc>
              </a:pPr>
              <a:r>
                <a:rPr lang="zh-CN" altLang="en-US"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第三章 逻辑门电路</a:t>
              </a:r>
              <a:endParaRPr lang="en-US" altLang="zh-CN"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a:p>
              <a:pPr algn="ctr">
                <a:lnSpc>
                  <a:spcPct val="125000"/>
                </a:lnSpc>
              </a:pPr>
              <a:r>
                <a:rPr lang="en-US" altLang="zh-CN"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itchFamily="2" charset="-122"/>
                  <a:ea typeface="方正粗黑宋简体" pitchFamily="2" charset="-122"/>
                </a:rPr>
                <a:t>3.2 TTL</a:t>
              </a:r>
              <a:r>
                <a:rPr lang="zh-CN" altLang="en-US"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itchFamily="2" charset="-122"/>
                  <a:ea typeface="方正粗黑宋简体" pitchFamily="2" charset="-122"/>
                </a:rPr>
                <a:t>逻辑门电路</a:t>
              </a:r>
            </a:p>
          </p:txBody>
        </p:sp>
      </p:grpSp>
      <p:sp>
        <p:nvSpPr>
          <p:cNvPr id="37890" name="AutoShape 2" descr="http://img1.imgtn.bdimg.com/it/u=2942258362,1117296489&amp;fm=26&amp;gp=0.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1000" fill="hold"/>
                                        <p:tgtEl>
                                          <p:spTgt spid="19"/>
                                        </p:tgtEl>
                                        <p:attrNameLst>
                                          <p:attrName>ppt_w</p:attrName>
                                        </p:attrNameLst>
                                      </p:cBhvr>
                                      <p:tavLst>
                                        <p:tav tm="0">
                                          <p:val>
                                            <p:fltVal val="0"/>
                                          </p:val>
                                        </p:tav>
                                        <p:tav tm="100000">
                                          <p:val>
                                            <p:strVal val="#ppt_w"/>
                                          </p:val>
                                        </p:tav>
                                      </p:tavLst>
                                    </p:anim>
                                    <p:anim calcmode="lin" valueType="num">
                                      <p:cBhvr>
                                        <p:cTn id="8" dur="1000" fill="hold"/>
                                        <p:tgtEl>
                                          <p:spTgt spid="1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5" name="Picture 3"/>
          <p:cNvPicPr>
            <a:picLocks noChangeAspect="1" noChangeArrowheads="1"/>
          </p:cNvPicPr>
          <p:nvPr/>
        </p:nvPicPr>
        <p:blipFill>
          <a:blip r:embed="rId3" cstate="print"/>
          <a:srcRect/>
          <a:stretch>
            <a:fillRect/>
          </a:stretch>
        </p:blipFill>
        <p:spPr bwMode="auto">
          <a:xfrm>
            <a:off x="155575" y="1285174"/>
            <a:ext cx="5385026" cy="1976568"/>
          </a:xfrm>
          <a:prstGeom prst="rect">
            <a:avLst/>
          </a:prstGeom>
          <a:noFill/>
          <a:ln w="9525">
            <a:noFill/>
            <a:miter lim="800000"/>
            <a:headEnd/>
            <a:tailEnd/>
          </a:ln>
          <a:effectLst/>
        </p:spPr>
      </p:pic>
      <p:sp>
        <p:nvSpPr>
          <p:cNvPr id="35848" name="AutoShape 8" descr="http://img1.imgtn.bdimg.com/it/u=2942258362,1117296489&amp;fm=26&amp;gp=0.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35850" name="AutoShape 10" descr="http://img1.imgtn.bdimg.com/it/u=2942258362,1117296489&amp;fm=26&amp;gp=0.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35852" name="AutoShape 12" descr="http://img1.imgtn.bdimg.com/it/u=2942258362,1117296489&amp;fm=26&amp;gp=0.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61" name="矩形 60"/>
          <p:cNvSpPr/>
          <p:nvPr/>
        </p:nvSpPr>
        <p:spPr>
          <a:xfrm>
            <a:off x="633021" y="836477"/>
            <a:ext cx="6270699" cy="442878"/>
          </a:xfrm>
          <a:prstGeom prst="rect">
            <a:avLst/>
          </a:prstGeom>
        </p:spPr>
        <p:txBody>
          <a:bodyPr wrap="square">
            <a:spAutoFit/>
          </a:bodyPr>
          <a:lstStyle/>
          <a:p>
            <a:pPr>
              <a:lnSpc>
                <a:spcPct val="150000"/>
              </a:lnSpc>
            </a:pPr>
            <a:endParaRPr lang="zh-CN" altLang="en-US" dirty="0">
              <a:latin typeface="黑体" pitchFamily="49" charset="-122"/>
              <a:ea typeface="黑体" pitchFamily="49" charset="-122"/>
            </a:endParaRPr>
          </a:p>
        </p:txBody>
      </p:sp>
      <p:grpSp>
        <p:nvGrpSpPr>
          <p:cNvPr id="36" name="组合 35"/>
          <p:cNvGrpSpPr/>
          <p:nvPr/>
        </p:nvGrpSpPr>
        <p:grpSpPr>
          <a:xfrm>
            <a:off x="282575" y="746426"/>
            <a:ext cx="2253601" cy="373579"/>
            <a:chOff x="307975" y="1517134"/>
            <a:chExt cx="2253601" cy="373579"/>
          </a:xfrm>
        </p:grpSpPr>
        <p:grpSp>
          <p:nvGrpSpPr>
            <p:cNvPr id="33" name="组合 32"/>
            <p:cNvGrpSpPr/>
            <p:nvPr/>
          </p:nvGrpSpPr>
          <p:grpSpPr>
            <a:xfrm>
              <a:off x="307975" y="1519116"/>
              <a:ext cx="568325" cy="371597"/>
              <a:chOff x="307975" y="1519116"/>
              <a:chExt cx="568325" cy="371597"/>
            </a:xfrm>
          </p:grpSpPr>
          <p:pic>
            <p:nvPicPr>
              <p:cNvPr id="32" name="Picture 4"/>
              <p:cNvPicPr>
                <a:picLocks noChangeAspect="1" noChangeArrowheads="1"/>
              </p:cNvPicPr>
              <p:nvPr/>
            </p:nvPicPr>
            <p:blipFill>
              <a:blip r:embed="rId4" cstate="print"/>
              <a:srcRect/>
              <a:stretch>
                <a:fillRect/>
              </a:stretch>
            </p:blipFill>
            <p:spPr bwMode="auto">
              <a:xfrm flipH="1">
                <a:off x="307975" y="1519116"/>
                <a:ext cx="568325" cy="371597"/>
              </a:xfrm>
              <a:prstGeom prst="rect">
                <a:avLst/>
              </a:prstGeom>
              <a:noFill/>
              <a:ln w="9525">
                <a:noFill/>
                <a:miter lim="800000"/>
                <a:headEnd/>
                <a:tailEnd/>
              </a:ln>
              <a:effectLst/>
            </p:spPr>
          </p:pic>
          <p:sp>
            <p:nvSpPr>
              <p:cNvPr id="26" name="TextBox 25"/>
              <p:cNvSpPr txBox="1"/>
              <p:nvPr/>
            </p:nvSpPr>
            <p:spPr>
              <a:xfrm flipH="1">
                <a:off x="443415" y="1555750"/>
                <a:ext cx="112210" cy="276999"/>
              </a:xfrm>
              <a:prstGeom prst="rect">
                <a:avLst/>
              </a:prstGeom>
              <a:noFill/>
            </p:spPr>
            <p:txBody>
              <a:bodyPr wrap="none" lIns="0" tIns="0" rIns="0" bIns="0" rtlCol="0">
                <a:spAutoFit/>
              </a:bodyPr>
              <a:lstStyle/>
              <a:p>
                <a:r>
                  <a:rPr lang="en-US" altLang="zh-CN" b="1" dirty="0">
                    <a:solidFill>
                      <a:srgbClr val="262626"/>
                    </a:solidFill>
                    <a:latin typeface="Segoe UI Black" pitchFamily="34" charset="0"/>
                    <a:ea typeface="Segoe UI Black" pitchFamily="34" charset="0"/>
                    <a:cs typeface="Times New Roman" pitchFamily="18" charset="0"/>
                  </a:rPr>
                  <a:t>1</a:t>
                </a:r>
                <a:endParaRPr lang="zh-CN" altLang="en-US" b="1" dirty="0">
                  <a:solidFill>
                    <a:srgbClr val="262626"/>
                  </a:solidFill>
                  <a:latin typeface="Segoe UI Black" pitchFamily="34" charset="0"/>
                  <a:cs typeface="Times New Roman" pitchFamily="18" charset="0"/>
                </a:endParaRPr>
              </a:p>
            </p:txBody>
          </p:sp>
        </p:grpSp>
        <p:sp>
          <p:nvSpPr>
            <p:cNvPr id="35" name="矩形 34"/>
            <p:cNvSpPr/>
            <p:nvPr/>
          </p:nvSpPr>
          <p:spPr>
            <a:xfrm>
              <a:off x="863675" y="1517134"/>
              <a:ext cx="1697901" cy="369332"/>
            </a:xfrm>
            <a:prstGeom prst="rect">
              <a:avLst/>
            </a:prstGeom>
          </p:spPr>
          <p:txBody>
            <a:bodyPr wrap="none">
              <a:spAutoFit/>
            </a:bodyPr>
            <a:lstStyle/>
            <a:p>
              <a:r>
                <a:rPr lang="en-US" altLang="zh-CN" b="1" dirty="0">
                  <a:solidFill>
                    <a:schemeClr val="accent1">
                      <a:lumMod val="50000"/>
                    </a:schemeClr>
                  </a:solidFill>
                  <a:latin typeface="黑体" pitchFamily="49" charset="-122"/>
                  <a:ea typeface="黑体" pitchFamily="49" charset="-122"/>
                  <a:cs typeface="Times New Roman" pitchFamily="18" charset="0"/>
                </a:rPr>
                <a:t>BJT</a:t>
              </a:r>
              <a:r>
                <a:rPr lang="zh-CN" altLang="en-US" b="1" dirty="0">
                  <a:solidFill>
                    <a:schemeClr val="accent1">
                      <a:lumMod val="50000"/>
                    </a:schemeClr>
                  </a:solidFill>
                  <a:latin typeface="黑体" pitchFamily="49" charset="-122"/>
                  <a:ea typeface="黑体" pitchFamily="49" charset="-122"/>
                  <a:cs typeface="Times New Roman" pitchFamily="18" charset="0"/>
                </a:rPr>
                <a:t>的开关特性</a:t>
              </a:r>
            </a:p>
          </p:txBody>
        </p:sp>
      </p:grpSp>
      <p:sp>
        <p:nvSpPr>
          <p:cNvPr id="39" name="椭圆 38"/>
          <p:cNvSpPr/>
          <p:nvPr/>
        </p:nvSpPr>
        <p:spPr bwMode="auto">
          <a:xfrm>
            <a:off x="3137521" y="1891753"/>
            <a:ext cx="308439" cy="245690"/>
          </a:xfrm>
          <a:prstGeom prst="ellipse">
            <a:avLst/>
          </a:prstGeom>
          <a:solidFill>
            <a:srgbClr val="66FF66">
              <a:alpha val="20000"/>
            </a:srgbClr>
          </a:solid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Aft>
                <a:spcPct val="0"/>
              </a:spcAft>
              <a:buClrTx/>
              <a:buSzTx/>
              <a:buFontTx/>
              <a:buNone/>
              <a:tabLst/>
            </a:pPr>
            <a:endParaRPr kumimoji="0" lang="en-US" altLang="zh-CN" sz="2000" b="1" i="0" u="none" strike="noStrike" cap="none" normalizeH="0" baseline="0" dirty="0">
              <a:ln>
                <a:noFill/>
              </a:ln>
              <a:solidFill>
                <a:schemeClr val="accent2"/>
              </a:solidFill>
              <a:effectLst/>
              <a:latin typeface="Times New Roman" pitchFamily="18" charset="0"/>
              <a:ea typeface="宋体" charset="-122"/>
            </a:endParaRPr>
          </a:p>
        </p:txBody>
      </p:sp>
      <p:sp>
        <p:nvSpPr>
          <p:cNvPr id="44" name="椭圆 43"/>
          <p:cNvSpPr/>
          <p:nvPr/>
        </p:nvSpPr>
        <p:spPr>
          <a:xfrm>
            <a:off x="4516181" y="2809773"/>
            <a:ext cx="344805" cy="254819"/>
          </a:xfrm>
          <a:prstGeom prst="ellipse">
            <a:avLst/>
          </a:prstGeom>
          <a:solidFill>
            <a:schemeClr val="accent1">
              <a:alpha val="21000"/>
            </a:schemeClr>
          </a:solidFill>
          <a:ln w="1905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2" name="Rectangle 8"/>
          <p:cNvSpPr>
            <a:spLocks noChangeArrowheads="1"/>
          </p:cNvSpPr>
          <p:nvPr/>
        </p:nvSpPr>
        <p:spPr bwMode="auto">
          <a:xfrm>
            <a:off x="398702" y="3310609"/>
            <a:ext cx="6342819" cy="807529"/>
          </a:xfrm>
          <a:prstGeom prst="rect">
            <a:avLst/>
          </a:prstGeom>
          <a:noFill/>
          <a:ln w="9525">
            <a:noFill/>
            <a:miter lim="800000"/>
            <a:headEnd/>
            <a:tailEnd/>
          </a:ln>
        </p:spPr>
        <p:txBody>
          <a:bodyPr wrap="square" anchor="ctr">
            <a:spAutoFit/>
          </a:bodyPr>
          <a:lstStyle/>
          <a:p>
            <a:pPr>
              <a:lnSpc>
                <a:spcPct val="200000"/>
              </a:lnSpc>
              <a:buFont typeface="Wingdings" pitchFamily="2" charset="2"/>
              <a:buChar char="Ø"/>
            </a:pPr>
            <a:r>
              <a:rPr lang="en-US" altLang="zh-CN" sz="1400" b="1" i="1" dirty="0">
                <a:solidFill>
                  <a:srgbClr val="6600FF"/>
                </a:solidFill>
                <a:latin typeface="Times New Roman" pitchFamily="18" charset="0"/>
                <a:ea typeface="微软雅黑" pitchFamily="34" charset="-122"/>
                <a:cs typeface="Times New Roman" pitchFamily="18" charset="0"/>
                <a:sym typeface="Symbol" pitchFamily="18" charset="2"/>
              </a:rPr>
              <a:t></a:t>
            </a:r>
            <a:r>
              <a:rPr lang="en-US" altLang="zh-CN" sz="1400" b="1" baseline="-25000" dirty="0">
                <a:solidFill>
                  <a:srgbClr val="6600FF"/>
                </a:solidFill>
                <a:latin typeface="Times New Roman" pitchFamily="18" charset="0"/>
                <a:ea typeface="微软雅黑" pitchFamily="34" charset="-122"/>
                <a:cs typeface="Times New Roman" pitchFamily="18" charset="0"/>
              </a:rPr>
              <a:t>I </a:t>
            </a:r>
            <a:r>
              <a:rPr lang="en-US" altLang="zh-CN" sz="1400" b="1" dirty="0">
                <a:solidFill>
                  <a:srgbClr val="6600FF"/>
                </a:solidFill>
                <a:latin typeface="Times New Roman" pitchFamily="18" charset="0"/>
                <a:ea typeface="微软雅黑" pitchFamily="34" charset="-122"/>
                <a:cs typeface="Times New Roman" pitchFamily="18" charset="0"/>
              </a:rPr>
              <a:t>= 0V</a:t>
            </a:r>
            <a:r>
              <a:rPr lang="zh-CN" altLang="en-US" sz="1400" b="1" dirty="0">
                <a:solidFill>
                  <a:srgbClr val="6600FF"/>
                </a:solidFill>
                <a:latin typeface="Times New Roman" pitchFamily="18" charset="0"/>
                <a:ea typeface="微软雅黑" pitchFamily="34" charset="-122"/>
                <a:cs typeface="Times New Roman" pitchFamily="18" charset="0"/>
              </a:rPr>
              <a:t>时</a:t>
            </a:r>
            <a:endParaRPr kumimoji="1" lang="en-US" altLang="zh-CN" sz="1400" b="1" dirty="0">
              <a:solidFill>
                <a:srgbClr val="080808"/>
              </a:solidFill>
              <a:latin typeface="Times New Roman" pitchFamily="18" charset="0"/>
              <a:ea typeface="微软雅黑" pitchFamily="34" charset="-122"/>
              <a:cs typeface="Times New Roman" pitchFamily="18" charset="0"/>
            </a:endParaRPr>
          </a:p>
          <a:p>
            <a:pPr>
              <a:lnSpc>
                <a:spcPct val="150000"/>
              </a:lnSpc>
            </a:pPr>
            <a:r>
              <a:rPr kumimoji="1" lang="zh-CN" altLang="en-US" sz="1400" dirty="0">
                <a:solidFill>
                  <a:srgbClr val="080808"/>
                </a:solidFill>
                <a:latin typeface="Times New Roman" pitchFamily="18" charset="0"/>
                <a:ea typeface="微软雅黑" pitchFamily="34" charset="-122"/>
                <a:cs typeface="Times New Roman" pitchFamily="18" charset="0"/>
              </a:rPr>
              <a:t>   三极管截止</a:t>
            </a:r>
            <a:r>
              <a:rPr kumimoji="1" lang="zh-CN" altLang="en-US" sz="1400" dirty="0">
                <a:solidFill>
                  <a:srgbClr val="080808"/>
                </a:solidFill>
                <a:latin typeface="Times New Roman" pitchFamily="18" charset="0"/>
                <a:ea typeface="微软雅黑" pitchFamily="34" charset="-122"/>
                <a:cs typeface="Times New Roman" pitchFamily="18" charset="0"/>
                <a:sym typeface="Symbol" pitchFamily="18" charset="2"/>
              </a:rPr>
              <a:t>，</a:t>
            </a:r>
            <a:r>
              <a:rPr lang="en-US" altLang="zh-CN" sz="1400" i="1" dirty="0">
                <a:solidFill>
                  <a:srgbClr val="080808"/>
                </a:solidFill>
                <a:latin typeface="Times New Roman" pitchFamily="18" charset="0"/>
                <a:ea typeface="微软雅黑" pitchFamily="34" charset="-122"/>
                <a:cs typeface="Times New Roman" pitchFamily="18" charset="0"/>
                <a:sym typeface="Symbol" pitchFamily="18" charset="2"/>
              </a:rPr>
              <a:t></a:t>
            </a:r>
            <a:r>
              <a:rPr kumimoji="1" lang="en-US" altLang="zh-CN" sz="1400" baseline="-30000" dirty="0">
                <a:solidFill>
                  <a:srgbClr val="080808"/>
                </a:solidFill>
                <a:latin typeface="Times New Roman" pitchFamily="18" charset="0"/>
                <a:ea typeface="微软雅黑" pitchFamily="34" charset="-122"/>
                <a:cs typeface="Times New Roman" pitchFamily="18" charset="0"/>
                <a:sym typeface="Symbol" pitchFamily="18" charset="2"/>
              </a:rPr>
              <a:t>O</a:t>
            </a:r>
            <a:r>
              <a:rPr kumimoji="1" lang="zh-CN" altLang="en-US" sz="1400" dirty="0">
                <a:solidFill>
                  <a:srgbClr val="080808"/>
                </a:solidFill>
                <a:latin typeface="Times New Roman" pitchFamily="18" charset="0"/>
                <a:ea typeface="微软雅黑" pitchFamily="34" charset="-122"/>
                <a:cs typeface="Times New Roman" pitchFamily="18" charset="0"/>
                <a:sym typeface="Symbol" pitchFamily="18" charset="2"/>
              </a:rPr>
              <a:t>＝</a:t>
            </a:r>
            <a:r>
              <a:rPr kumimoji="1" lang="en-US" altLang="zh-CN" sz="1400" i="1" dirty="0">
                <a:solidFill>
                  <a:srgbClr val="080808"/>
                </a:solidFill>
                <a:latin typeface="Times New Roman" pitchFamily="18" charset="0"/>
                <a:ea typeface="微软雅黑" pitchFamily="34" charset="-122"/>
                <a:cs typeface="Times New Roman" pitchFamily="18" charset="0"/>
                <a:sym typeface="Symbol" pitchFamily="18" charset="2"/>
              </a:rPr>
              <a:t>V</a:t>
            </a:r>
            <a:r>
              <a:rPr kumimoji="1" lang="en-US" altLang="zh-CN" sz="1400" baseline="-30000" dirty="0">
                <a:solidFill>
                  <a:srgbClr val="080808"/>
                </a:solidFill>
                <a:latin typeface="Times New Roman" pitchFamily="18" charset="0"/>
                <a:ea typeface="微软雅黑" pitchFamily="34" charset="-122"/>
                <a:cs typeface="Times New Roman" pitchFamily="18" charset="0"/>
                <a:sym typeface="Symbol" pitchFamily="18" charset="2"/>
              </a:rPr>
              <a:t>CE </a:t>
            </a:r>
            <a:r>
              <a:rPr kumimoji="1" lang="en-US" altLang="zh-CN" sz="1400" dirty="0">
                <a:solidFill>
                  <a:srgbClr val="080808"/>
                </a:solidFill>
                <a:latin typeface="Times New Roman" pitchFamily="18" charset="0"/>
                <a:ea typeface="微软雅黑" pitchFamily="34" charset="-122"/>
                <a:cs typeface="Times New Roman" pitchFamily="18" charset="0"/>
                <a:sym typeface="Symbol" pitchFamily="18" charset="2"/>
              </a:rPr>
              <a:t>≈ </a:t>
            </a:r>
            <a:r>
              <a:rPr kumimoji="1" lang="en-US" altLang="zh-CN" sz="1400" i="1" dirty="0">
                <a:solidFill>
                  <a:srgbClr val="080808"/>
                </a:solidFill>
                <a:latin typeface="Times New Roman" pitchFamily="18" charset="0"/>
                <a:ea typeface="微软雅黑" pitchFamily="34" charset="-122"/>
                <a:cs typeface="Times New Roman" pitchFamily="18" charset="0"/>
                <a:sym typeface="Symbol" pitchFamily="18" charset="2"/>
              </a:rPr>
              <a:t>V</a:t>
            </a:r>
            <a:r>
              <a:rPr kumimoji="1" lang="en-US" altLang="zh-CN" sz="1400" baseline="-30000" dirty="0">
                <a:solidFill>
                  <a:srgbClr val="080808"/>
                </a:solidFill>
                <a:latin typeface="Times New Roman" pitchFamily="18" charset="0"/>
                <a:ea typeface="微软雅黑" pitchFamily="34" charset="-122"/>
                <a:cs typeface="Times New Roman" pitchFamily="18" charset="0"/>
                <a:sym typeface="Symbol" pitchFamily="18" charset="2"/>
              </a:rPr>
              <a:t>CC</a:t>
            </a:r>
            <a:r>
              <a:rPr lang="en-US" altLang="zh-CN" sz="1400" dirty="0">
                <a:solidFill>
                  <a:schemeClr val="tx1">
                    <a:lumMod val="10000"/>
                  </a:schemeClr>
                </a:solidFill>
                <a:latin typeface="Times New Roman" pitchFamily="18" charset="0"/>
                <a:ea typeface="微软雅黑" pitchFamily="34" charset="-122"/>
                <a:cs typeface="Times New Roman" pitchFamily="18" charset="0"/>
              </a:rPr>
              <a:t> (</a:t>
            </a:r>
            <a:r>
              <a:rPr lang="zh-CN" altLang="en-US" sz="1400" dirty="0">
                <a:solidFill>
                  <a:schemeClr val="tx1">
                    <a:lumMod val="10000"/>
                  </a:schemeClr>
                </a:solidFill>
                <a:latin typeface="Times New Roman" pitchFamily="18" charset="0"/>
                <a:ea typeface="微软雅黑" pitchFamily="34" charset="-122"/>
                <a:cs typeface="Times New Roman" pitchFamily="18" charset="0"/>
              </a:rPr>
              <a:t>高电平</a:t>
            </a:r>
            <a:r>
              <a:rPr lang="en-US" altLang="zh-CN" sz="1400" dirty="0">
                <a:solidFill>
                  <a:schemeClr val="tx1">
                    <a:lumMod val="10000"/>
                  </a:schemeClr>
                </a:solidFill>
                <a:latin typeface="Times New Roman" pitchFamily="18" charset="0"/>
                <a:ea typeface="微软雅黑" pitchFamily="34" charset="-122"/>
                <a:cs typeface="Times New Roman" pitchFamily="18" charset="0"/>
              </a:rPr>
              <a:t>) </a:t>
            </a:r>
            <a:r>
              <a:rPr kumimoji="1" lang="zh-CN" altLang="en-US" sz="1400" dirty="0">
                <a:solidFill>
                  <a:srgbClr val="080808"/>
                </a:solidFill>
                <a:latin typeface="Times New Roman" pitchFamily="18" charset="0"/>
                <a:ea typeface="微软雅黑" pitchFamily="34" charset="-122"/>
                <a:cs typeface="Times New Roman" pitchFamily="18" charset="0"/>
                <a:sym typeface="Symbol" pitchFamily="18" charset="2"/>
              </a:rPr>
              <a:t>，</a:t>
            </a:r>
            <a:r>
              <a:rPr kumimoji="1" lang="en-US" altLang="zh-CN" sz="1400" dirty="0">
                <a:solidFill>
                  <a:srgbClr val="080808"/>
                </a:solidFill>
                <a:latin typeface="Times New Roman" pitchFamily="18" charset="0"/>
                <a:ea typeface="微软雅黑" pitchFamily="34" charset="-122"/>
                <a:cs typeface="Times New Roman" pitchFamily="18" charset="0"/>
                <a:sym typeface="Symbol" pitchFamily="18" charset="2"/>
              </a:rPr>
              <a:t>c</a:t>
            </a:r>
            <a:r>
              <a:rPr kumimoji="1" lang="zh-CN" altLang="en-US" sz="1400" dirty="0">
                <a:solidFill>
                  <a:srgbClr val="080808"/>
                </a:solidFill>
                <a:latin typeface="Times New Roman" pitchFamily="18" charset="0"/>
                <a:ea typeface="微软雅黑" pitchFamily="34" charset="-122"/>
                <a:cs typeface="Times New Roman" pitchFamily="18" charset="0"/>
                <a:sym typeface="Symbol" pitchFamily="18" charset="2"/>
              </a:rPr>
              <a:t>、</a:t>
            </a:r>
            <a:r>
              <a:rPr kumimoji="1" lang="en-US" altLang="zh-CN" sz="1400" dirty="0">
                <a:solidFill>
                  <a:srgbClr val="080808"/>
                </a:solidFill>
                <a:latin typeface="Times New Roman" pitchFamily="18" charset="0"/>
                <a:ea typeface="微软雅黑" pitchFamily="34" charset="-122"/>
                <a:cs typeface="Times New Roman" pitchFamily="18" charset="0"/>
                <a:sym typeface="Symbol" pitchFamily="18" charset="2"/>
              </a:rPr>
              <a:t>e</a:t>
            </a:r>
            <a:r>
              <a:rPr kumimoji="1" lang="zh-CN" altLang="en-US" sz="1400" dirty="0">
                <a:solidFill>
                  <a:srgbClr val="080808"/>
                </a:solidFill>
                <a:latin typeface="Times New Roman" pitchFamily="18" charset="0"/>
                <a:ea typeface="微软雅黑" pitchFamily="34" charset="-122"/>
                <a:cs typeface="Times New Roman" pitchFamily="18" charset="0"/>
                <a:sym typeface="Symbol" pitchFamily="18" charset="2"/>
              </a:rPr>
              <a:t>极之间近似于开路。</a:t>
            </a:r>
            <a:endParaRPr kumimoji="1" lang="en-US" altLang="zh-CN" sz="1400" dirty="0">
              <a:solidFill>
                <a:srgbClr val="080808"/>
              </a:solidFill>
              <a:latin typeface="Times New Roman" pitchFamily="18" charset="0"/>
              <a:ea typeface="微软雅黑" pitchFamily="34" charset="-122"/>
              <a:cs typeface="Times New Roman" pitchFamily="18" charset="0"/>
              <a:sym typeface="Symbol" pitchFamily="18" charset="2"/>
            </a:endParaRPr>
          </a:p>
        </p:txBody>
      </p:sp>
      <p:sp>
        <p:nvSpPr>
          <p:cNvPr id="43" name="Rectangle 10"/>
          <p:cNvSpPr>
            <a:spLocks noChangeArrowheads="1"/>
          </p:cNvSpPr>
          <p:nvPr/>
        </p:nvSpPr>
        <p:spPr bwMode="auto">
          <a:xfrm>
            <a:off x="370769" y="4118138"/>
            <a:ext cx="5386411" cy="592085"/>
          </a:xfrm>
          <a:prstGeom prst="rect">
            <a:avLst/>
          </a:prstGeom>
          <a:noFill/>
          <a:ln w="9525">
            <a:noFill/>
            <a:miter lim="800000"/>
            <a:headEnd/>
            <a:tailEnd/>
          </a:ln>
        </p:spPr>
        <p:txBody>
          <a:bodyPr wrap="none" anchor="ctr">
            <a:spAutoFit/>
          </a:bodyPr>
          <a:lstStyle/>
          <a:p>
            <a:pPr>
              <a:buFont typeface="Wingdings" pitchFamily="2" charset="2"/>
              <a:buChar char="Ø"/>
            </a:pPr>
            <a:r>
              <a:rPr lang="en-US" altLang="zh-CN" sz="1400" b="1" i="1" dirty="0">
                <a:solidFill>
                  <a:srgbClr val="6600FF"/>
                </a:solidFill>
                <a:latin typeface="Times New Roman" pitchFamily="18" charset="0"/>
                <a:ea typeface="微软雅黑" pitchFamily="34" charset="-122"/>
                <a:cs typeface="Times New Roman" pitchFamily="18" charset="0"/>
                <a:sym typeface="Symbol" pitchFamily="18" charset="2"/>
              </a:rPr>
              <a:t></a:t>
            </a:r>
            <a:r>
              <a:rPr lang="en-US" altLang="zh-CN" sz="1400" b="1" baseline="-25000" dirty="0">
                <a:solidFill>
                  <a:srgbClr val="6600FF"/>
                </a:solidFill>
                <a:latin typeface="Times New Roman" pitchFamily="18" charset="0"/>
                <a:ea typeface="微软雅黑" pitchFamily="34" charset="-122"/>
                <a:cs typeface="Times New Roman" pitchFamily="18" charset="0"/>
                <a:sym typeface="Symbol" pitchFamily="18" charset="2"/>
              </a:rPr>
              <a:t>I </a:t>
            </a:r>
            <a:r>
              <a:rPr lang="en-US" altLang="zh-CN" sz="1400" b="1" dirty="0">
                <a:solidFill>
                  <a:srgbClr val="6600FF"/>
                </a:solidFill>
                <a:latin typeface="Times New Roman" pitchFamily="18" charset="0"/>
                <a:ea typeface="微软雅黑" pitchFamily="34" charset="-122"/>
                <a:cs typeface="Times New Roman" pitchFamily="18" charset="0"/>
                <a:sym typeface="Symbol" pitchFamily="18" charset="2"/>
              </a:rPr>
              <a:t>= 5V</a:t>
            </a:r>
            <a:r>
              <a:rPr lang="zh-CN" altLang="en-US" sz="1400" b="1" dirty="0">
                <a:solidFill>
                  <a:srgbClr val="6600FF"/>
                </a:solidFill>
                <a:latin typeface="Times New Roman" pitchFamily="18" charset="0"/>
                <a:ea typeface="微软雅黑" pitchFamily="34" charset="-122"/>
                <a:cs typeface="Times New Roman" pitchFamily="18" charset="0"/>
                <a:sym typeface="Symbol" pitchFamily="18" charset="2"/>
              </a:rPr>
              <a:t>时</a:t>
            </a:r>
            <a:endParaRPr kumimoji="1" lang="en-US" altLang="zh-CN" sz="1400" b="1" dirty="0">
              <a:solidFill>
                <a:srgbClr val="080808"/>
              </a:solidFill>
              <a:latin typeface="Times New Roman" pitchFamily="18" charset="0"/>
              <a:ea typeface="微软雅黑" pitchFamily="34" charset="-122"/>
              <a:cs typeface="Times New Roman" pitchFamily="18" charset="0"/>
            </a:endParaRPr>
          </a:p>
          <a:p>
            <a:pPr>
              <a:lnSpc>
                <a:spcPct val="150000"/>
              </a:lnSpc>
            </a:pPr>
            <a:r>
              <a:rPr kumimoji="1" lang="zh-CN" altLang="en-US" sz="1400" b="1" dirty="0">
                <a:solidFill>
                  <a:srgbClr val="080808"/>
                </a:solidFill>
                <a:latin typeface="Times New Roman" pitchFamily="18" charset="0"/>
                <a:ea typeface="微软雅黑" pitchFamily="34" charset="-122"/>
                <a:cs typeface="Times New Roman" pitchFamily="18" charset="0"/>
              </a:rPr>
              <a:t>   </a:t>
            </a:r>
            <a:r>
              <a:rPr kumimoji="1" lang="zh-CN" altLang="en-US" sz="1400" dirty="0">
                <a:solidFill>
                  <a:srgbClr val="080808"/>
                </a:solidFill>
                <a:latin typeface="Times New Roman" pitchFamily="18" charset="0"/>
                <a:ea typeface="微软雅黑" pitchFamily="34" charset="-122"/>
                <a:cs typeface="Times New Roman" pitchFamily="18" charset="0"/>
              </a:rPr>
              <a:t>三极管饱和，</a:t>
            </a:r>
            <a:r>
              <a:rPr lang="en-US" altLang="zh-CN" sz="1400" i="1" dirty="0">
                <a:solidFill>
                  <a:srgbClr val="080808"/>
                </a:solidFill>
                <a:latin typeface="Times New Roman" pitchFamily="18" charset="0"/>
                <a:ea typeface="微软雅黑" pitchFamily="34" charset="-122"/>
                <a:cs typeface="Times New Roman" pitchFamily="18" charset="0"/>
                <a:sym typeface="Symbol" pitchFamily="18" charset="2"/>
              </a:rPr>
              <a:t></a:t>
            </a:r>
            <a:r>
              <a:rPr kumimoji="1" lang="en-US" altLang="zh-CN" sz="1400" baseline="-30000" dirty="0">
                <a:solidFill>
                  <a:srgbClr val="080808"/>
                </a:solidFill>
                <a:latin typeface="Times New Roman" pitchFamily="18" charset="0"/>
                <a:ea typeface="微软雅黑" pitchFamily="34" charset="-122"/>
                <a:cs typeface="Times New Roman" pitchFamily="18" charset="0"/>
                <a:sym typeface="Symbol" pitchFamily="18" charset="2"/>
              </a:rPr>
              <a:t>O</a:t>
            </a:r>
            <a:r>
              <a:rPr kumimoji="1" lang="zh-CN" altLang="en-US" sz="1400" dirty="0">
                <a:solidFill>
                  <a:srgbClr val="080808"/>
                </a:solidFill>
                <a:latin typeface="Times New Roman" pitchFamily="18" charset="0"/>
                <a:ea typeface="微软雅黑" pitchFamily="34" charset="-122"/>
                <a:cs typeface="Times New Roman" pitchFamily="18" charset="0"/>
                <a:sym typeface="Symbol" pitchFamily="18" charset="2"/>
              </a:rPr>
              <a:t>＝</a:t>
            </a:r>
            <a:r>
              <a:rPr kumimoji="1" lang="en-US" altLang="zh-CN" sz="1400" i="1" dirty="0">
                <a:solidFill>
                  <a:srgbClr val="080808"/>
                </a:solidFill>
                <a:latin typeface="Times New Roman" pitchFamily="18" charset="0"/>
                <a:ea typeface="微软雅黑" pitchFamily="34" charset="-122"/>
                <a:cs typeface="Times New Roman" pitchFamily="18" charset="0"/>
                <a:sym typeface="Symbol" pitchFamily="18" charset="2"/>
              </a:rPr>
              <a:t>V</a:t>
            </a:r>
            <a:r>
              <a:rPr kumimoji="1" lang="en-US" altLang="zh-CN" sz="1400" baseline="-30000" dirty="0">
                <a:solidFill>
                  <a:srgbClr val="080808"/>
                </a:solidFill>
                <a:latin typeface="Times New Roman" pitchFamily="18" charset="0"/>
                <a:ea typeface="微软雅黑" pitchFamily="34" charset="-122"/>
                <a:cs typeface="Times New Roman" pitchFamily="18" charset="0"/>
                <a:sym typeface="Symbol" pitchFamily="18" charset="2"/>
              </a:rPr>
              <a:t>CES</a:t>
            </a:r>
            <a:r>
              <a:rPr kumimoji="1" lang="en-US" altLang="zh-CN" sz="1400" dirty="0">
                <a:solidFill>
                  <a:srgbClr val="080808"/>
                </a:solidFill>
                <a:latin typeface="Times New Roman" pitchFamily="18" charset="0"/>
                <a:ea typeface="微软雅黑" pitchFamily="34" charset="-122"/>
                <a:cs typeface="Times New Roman" pitchFamily="18" charset="0"/>
                <a:sym typeface="Symbol" pitchFamily="18" charset="2"/>
              </a:rPr>
              <a:t>≈0.2V</a:t>
            </a:r>
            <a:r>
              <a:rPr lang="en-US" altLang="zh-CN" sz="1400" dirty="0">
                <a:solidFill>
                  <a:schemeClr val="tx1">
                    <a:lumMod val="10000"/>
                  </a:schemeClr>
                </a:solidFill>
                <a:latin typeface="Times New Roman" pitchFamily="18" charset="0"/>
                <a:ea typeface="微软雅黑" pitchFamily="34" charset="-122"/>
                <a:cs typeface="Times New Roman" pitchFamily="18" charset="0"/>
              </a:rPr>
              <a:t>(</a:t>
            </a:r>
            <a:r>
              <a:rPr lang="zh-CN" altLang="en-US" sz="1400" dirty="0">
                <a:solidFill>
                  <a:schemeClr val="tx1">
                    <a:lumMod val="10000"/>
                  </a:schemeClr>
                </a:solidFill>
                <a:latin typeface="Times New Roman" pitchFamily="18" charset="0"/>
                <a:ea typeface="微软雅黑" pitchFamily="34" charset="-122"/>
                <a:cs typeface="Times New Roman" pitchFamily="18" charset="0"/>
              </a:rPr>
              <a:t>低电平</a:t>
            </a:r>
            <a:r>
              <a:rPr lang="en-US" altLang="zh-CN" sz="1400" dirty="0">
                <a:solidFill>
                  <a:schemeClr val="tx1">
                    <a:lumMod val="10000"/>
                  </a:schemeClr>
                </a:solidFill>
                <a:latin typeface="Times New Roman" pitchFamily="18" charset="0"/>
                <a:ea typeface="微软雅黑" pitchFamily="34" charset="-122"/>
                <a:cs typeface="Times New Roman" pitchFamily="18" charset="0"/>
              </a:rPr>
              <a:t>) </a:t>
            </a:r>
            <a:r>
              <a:rPr kumimoji="1" lang="zh-CN" altLang="en-US" sz="1400" dirty="0">
                <a:solidFill>
                  <a:srgbClr val="080808"/>
                </a:solidFill>
                <a:latin typeface="Times New Roman" pitchFamily="18" charset="0"/>
                <a:ea typeface="微软雅黑" pitchFamily="34" charset="-122"/>
                <a:cs typeface="Times New Roman" pitchFamily="18" charset="0"/>
                <a:sym typeface="Symbol" pitchFamily="18" charset="2"/>
              </a:rPr>
              <a:t>，</a:t>
            </a:r>
            <a:r>
              <a:rPr kumimoji="1" lang="en-US" altLang="zh-CN" sz="1400" dirty="0">
                <a:solidFill>
                  <a:srgbClr val="080808"/>
                </a:solidFill>
                <a:latin typeface="Times New Roman" pitchFamily="18" charset="0"/>
                <a:ea typeface="微软雅黑" pitchFamily="34" charset="-122"/>
                <a:cs typeface="Times New Roman" pitchFamily="18" charset="0"/>
                <a:sym typeface="Symbol" pitchFamily="18" charset="2"/>
              </a:rPr>
              <a:t>c</a:t>
            </a:r>
            <a:r>
              <a:rPr kumimoji="1" lang="zh-CN" altLang="en-US" sz="1400" dirty="0">
                <a:solidFill>
                  <a:srgbClr val="080808"/>
                </a:solidFill>
                <a:latin typeface="Times New Roman" pitchFamily="18" charset="0"/>
                <a:ea typeface="微软雅黑" pitchFamily="34" charset="-122"/>
                <a:cs typeface="Times New Roman" pitchFamily="18" charset="0"/>
                <a:sym typeface="Symbol" pitchFamily="18" charset="2"/>
              </a:rPr>
              <a:t>、</a:t>
            </a:r>
            <a:r>
              <a:rPr kumimoji="1" lang="en-US" altLang="zh-CN" sz="1400" dirty="0">
                <a:solidFill>
                  <a:srgbClr val="080808"/>
                </a:solidFill>
                <a:latin typeface="Times New Roman" pitchFamily="18" charset="0"/>
                <a:ea typeface="微软雅黑" pitchFamily="34" charset="-122"/>
                <a:cs typeface="Times New Roman" pitchFamily="18" charset="0"/>
                <a:sym typeface="Symbol" pitchFamily="18" charset="2"/>
              </a:rPr>
              <a:t>e</a:t>
            </a:r>
            <a:r>
              <a:rPr kumimoji="1" lang="zh-CN" altLang="en-US" sz="1400" dirty="0">
                <a:solidFill>
                  <a:srgbClr val="080808"/>
                </a:solidFill>
                <a:latin typeface="Times New Roman" pitchFamily="18" charset="0"/>
                <a:ea typeface="微软雅黑" pitchFamily="34" charset="-122"/>
                <a:cs typeface="Times New Roman" pitchFamily="18" charset="0"/>
                <a:sym typeface="Symbol" pitchFamily="18" charset="2"/>
              </a:rPr>
              <a:t>极之间近似于短路。</a:t>
            </a:r>
            <a:endParaRPr kumimoji="1" lang="en-US" altLang="zh-CN" sz="1400" dirty="0">
              <a:solidFill>
                <a:srgbClr val="080808"/>
              </a:solidFill>
              <a:latin typeface="Times New Roman" pitchFamily="18" charset="0"/>
              <a:ea typeface="微软雅黑" pitchFamily="34" charset="-122"/>
              <a:cs typeface="Times New Roman" pitchFamily="18" charset="0"/>
              <a:sym typeface="Symbol" pitchFamily="18" charset="2"/>
            </a:endParaRPr>
          </a:p>
        </p:txBody>
      </p:sp>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4273" name="Object 1"/>
          <p:cNvGraphicFramePr>
            <a:graphicFrameLocks noChangeAspect="1"/>
          </p:cNvGraphicFramePr>
          <p:nvPr/>
        </p:nvGraphicFramePr>
        <p:xfrm>
          <a:off x="7263994" y="3719329"/>
          <a:ext cx="1600438" cy="895350"/>
        </p:xfrm>
        <a:graphic>
          <a:graphicData uri="http://schemas.openxmlformats.org/presentationml/2006/ole">
            <mc:AlternateContent xmlns:mc="http://schemas.openxmlformats.org/markup-compatibility/2006">
              <mc:Choice xmlns:v="urn:schemas-microsoft-com:vml" Requires="v">
                <p:oleObj spid="_x0000_s70658" name="Visio" r:id="rId5" imgW="890375" imgH="498221" progId="">
                  <p:embed/>
                </p:oleObj>
              </mc:Choice>
              <mc:Fallback>
                <p:oleObj name="Visio" r:id="rId5" imgW="890375" imgH="498221" progId="">
                  <p:embed/>
                  <p:pic>
                    <p:nvPicPr>
                      <p:cNvPr id="54273"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63994" y="3719329"/>
                        <a:ext cx="1600438" cy="895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 name="Group 97"/>
          <p:cNvGraphicFramePr>
            <a:graphicFrameLocks noGrp="1"/>
          </p:cNvGraphicFramePr>
          <p:nvPr/>
        </p:nvGraphicFramePr>
        <p:xfrm>
          <a:off x="5881041" y="3569674"/>
          <a:ext cx="1460704" cy="1194661"/>
        </p:xfrm>
        <a:graphic>
          <a:graphicData uri="http://schemas.openxmlformats.org/drawingml/2006/table">
            <a:tbl>
              <a:tblPr/>
              <a:tblGrid>
                <a:gridCol w="791784">
                  <a:extLst>
                    <a:ext uri="{9D8B030D-6E8A-4147-A177-3AD203B41FA5}">
                      <a16:colId xmlns:a16="http://schemas.microsoft.com/office/drawing/2014/main" val="20001"/>
                    </a:ext>
                  </a:extLst>
                </a:gridCol>
                <a:gridCol w="668920">
                  <a:extLst>
                    <a:ext uri="{9D8B030D-6E8A-4147-A177-3AD203B41FA5}">
                      <a16:colId xmlns:a16="http://schemas.microsoft.com/office/drawing/2014/main" val="20002"/>
                    </a:ext>
                  </a:extLst>
                </a:gridCol>
              </a:tblGrid>
              <a:tr h="292123">
                <a:tc gridSpan="2">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400" b="0" i="0" u="none" strike="noStrike" cap="none" normalizeH="0" baseline="0" dirty="0">
                          <a:ln>
                            <a:noFill/>
                          </a:ln>
                          <a:solidFill>
                            <a:srgbClr val="171717"/>
                          </a:solidFill>
                          <a:effectLst/>
                          <a:latin typeface="Times New Roman" pitchFamily="18" charset="0"/>
                          <a:ea typeface="黑体" pitchFamily="49" charset="-122"/>
                          <a:cs typeface="Times New Roman" pitchFamily="18" charset="0"/>
                        </a:rPr>
                        <a:t>逻辑真值表</a:t>
                      </a:r>
                      <a:endParaRPr kumimoji="1" lang="zh-CN" altLang="en-US" sz="1400" b="0" i="0" u="none" strike="noStrike" cap="none" normalizeH="0" baseline="-25000" dirty="0">
                        <a:ln>
                          <a:noFill/>
                        </a:ln>
                        <a:solidFill>
                          <a:srgbClr val="171717"/>
                        </a:solidFill>
                        <a:effectLst/>
                        <a:latin typeface="Times New Roman" pitchFamily="18" charset="0"/>
                        <a:ea typeface="黑体" pitchFamily="49" charset="-122"/>
                        <a:cs typeface="Times New Roman" pitchFamily="18" charset="0"/>
                      </a:endParaRPr>
                    </a:p>
                  </a:txBody>
                  <a:tcPr marL="0" marR="0" marT="0" marB="0" anchor="ctr" horzOverflow="overflow">
                    <a:lnL w="12700" cap="flat" cmpd="sng" algn="ctr">
                      <a:solidFill>
                        <a:srgbClr val="171717"/>
                      </a:solidFill>
                      <a:prstDash val="solid"/>
                      <a:round/>
                      <a:headEnd type="none" w="med" len="med"/>
                      <a:tailEnd type="none" w="med" len="med"/>
                    </a:lnL>
                    <a:lnR w="12700" cap="flat" cmpd="sng" algn="ctr">
                      <a:solidFill>
                        <a:srgbClr val="171717"/>
                      </a:solidFill>
                      <a:prstDash val="solid"/>
                      <a:round/>
                      <a:headEnd type="none" w="med" len="med"/>
                      <a:tailEnd type="none" w="med" len="med"/>
                    </a:lnR>
                    <a:lnT w="12700" cap="flat" cmpd="sng" algn="ctr">
                      <a:solidFill>
                        <a:srgbClr val="171717"/>
                      </a:solidFill>
                      <a:prstDash val="solid"/>
                      <a:round/>
                      <a:headEnd type="none" w="med" len="med"/>
                      <a:tailEnd type="none" w="med" len="med"/>
                    </a:lnT>
                    <a:lnB w="12700" cap="flat" cmpd="sng" algn="ctr">
                      <a:solidFill>
                        <a:srgbClr val="171717"/>
                      </a:solidFill>
                      <a:prstDash val="solid"/>
                      <a:round/>
                      <a:headEnd type="none" w="med" len="med"/>
                      <a:tailEnd type="none" w="med" len="med"/>
                    </a:lnB>
                    <a:lnTlToBr>
                      <a:noFill/>
                    </a:lnTlToBr>
                    <a:lnBlToTr>
                      <a:noFill/>
                    </a:lnBlToTr>
                    <a:solidFill>
                      <a:srgbClr val="66FF66"/>
                    </a:solidFill>
                  </a:tcPr>
                </a:tc>
                <a:tc hMerge="1">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endParaRPr kumimoji="1" lang="zh-CN" altLang="en-US" sz="1600" b="0" i="0" u="none" strike="noStrike" cap="none" normalizeH="0" baseline="-25000" dirty="0">
                        <a:ln>
                          <a:noFill/>
                        </a:ln>
                        <a:solidFill>
                          <a:srgbClr val="171717"/>
                        </a:solidFill>
                        <a:effectLst/>
                        <a:latin typeface="Times New Roman" pitchFamily="18" charset="0"/>
                        <a:ea typeface="黑体" pitchFamily="49" charset="-122"/>
                        <a:cs typeface="Times New Roman" pitchFamily="18" charset="0"/>
                      </a:endParaRPr>
                    </a:p>
                  </a:txBody>
                  <a:tcPr marL="0" marR="0" marT="0" marB="0" anchor="ctr" horzOverflow="overflow">
                    <a:lnL w="12700" cap="flat" cmpd="sng" algn="ctr">
                      <a:solidFill>
                        <a:srgbClr val="171717"/>
                      </a:solidFill>
                      <a:prstDash val="solid"/>
                      <a:round/>
                      <a:headEnd type="none" w="med" len="med"/>
                      <a:tailEnd type="none" w="med" len="med"/>
                    </a:lnL>
                    <a:lnR w="12700" cap="flat" cmpd="sng" algn="ctr">
                      <a:solidFill>
                        <a:srgbClr val="171717"/>
                      </a:solidFill>
                      <a:prstDash val="solid"/>
                      <a:round/>
                      <a:headEnd type="none" w="med" len="med"/>
                      <a:tailEnd type="none" w="med" len="med"/>
                    </a:lnR>
                    <a:lnT w="12700" cap="flat" cmpd="sng" algn="ctr">
                      <a:solidFill>
                        <a:srgbClr val="171717"/>
                      </a:solidFill>
                      <a:prstDash val="solid"/>
                      <a:round/>
                      <a:headEnd type="none" w="med" len="med"/>
                      <a:tailEnd type="none" w="med" len="med"/>
                    </a:lnT>
                    <a:lnB w="12700" cap="flat" cmpd="sng" algn="ctr">
                      <a:solidFill>
                        <a:srgbClr val="171717"/>
                      </a:solidFill>
                      <a:prstDash val="solid"/>
                      <a:round/>
                      <a:headEnd type="none" w="med" len="med"/>
                      <a:tailEnd type="none" w="med" len="med"/>
                    </a:lnB>
                    <a:lnTlToBr>
                      <a:noFill/>
                    </a:lnTlToBr>
                    <a:lnBlToTr>
                      <a:noFill/>
                    </a:lnBlToTr>
                    <a:solidFill>
                      <a:srgbClr val="66FF66"/>
                    </a:solidFill>
                  </a:tcPr>
                </a:tc>
                <a:extLst>
                  <a:ext uri="{0D108BD9-81ED-4DB2-BD59-A6C34878D82A}">
                    <a16:rowId xmlns:a16="http://schemas.microsoft.com/office/drawing/2014/main" val="10003"/>
                  </a:ext>
                </a:extLst>
              </a:tr>
              <a:tr h="292123">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l-GR" altLang="zh-CN" sz="1400" b="0" i="1" u="none" strike="noStrike" cap="none" normalizeH="0" baseline="0" dirty="0">
                          <a:ln>
                            <a:noFill/>
                          </a:ln>
                          <a:solidFill>
                            <a:srgbClr val="171717"/>
                          </a:solidFill>
                          <a:effectLst/>
                          <a:latin typeface="Times New Roman" pitchFamily="18" charset="0"/>
                          <a:ea typeface="黑体" pitchFamily="49" charset="-122"/>
                          <a:cs typeface="Times New Roman" pitchFamily="18" charset="0"/>
                        </a:rPr>
                        <a:t>υ</a:t>
                      </a:r>
                      <a:r>
                        <a:rPr kumimoji="1" lang="en-US" altLang="zh-CN" sz="1400" b="0" i="0" u="none" strike="noStrike" cap="none" normalizeH="0" baseline="-25000" dirty="0" err="1">
                          <a:ln>
                            <a:noFill/>
                          </a:ln>
                          <a:solidFill>
                            <a:srgbClr val="171717"/>
                          </a:solidFill>
                          <a:effectLst/>
                          <a:latin typeface="Times New Roman" pitchFamily="18" charset="0"/>
                          <a:ea typeface="黑体" pitchFamily="49" charset="-122"/>
                          <a:cs typeface="Times New Roman" pitchFamily="18" charset="0"/>
                        </a:rPr>
                        <a:t>i</a:t>
                      </a:r>
                      <a:endParaRPr kumimoji="1" lang="zh-CN" altLang="en-US" sz="1400" b="0" i="0" u="none" strike="noStrike" cap="none" normalizeH="0" baseline="-25000" dirty="0">
                        <a:ln>
                          <a:noFill/>
                        </a:ln>
                        <a:solidFill>
                          <a:srgbClr val="171717"/>
                        </a:solidFill>
                        <a:effectLst/>
                        <a:latin typeface="Times New Roman" pitchFamily="18" charset="0"/>
                        <a:ea typeface="黑体" pitchFamily="49" charset="-122"/>
                        <a:cs typeface="Times New Roman" pitchFamily="18" charset="0"/>
                      </a:endParaRPr>
                    </a:p>
                  </a:txBody>
                  <a:tcPr marL="0" marR="0" marT="0" marB="0" anchor="ctr" horzOverflow="overflow">
                    <a:lnL w="12700" cap="flat" cmpd="sng" algn="ctr">
                      <a:solidFill>
                        <a:srgbClr val="171717"/>
                      </a:solidFill>
                      <a:prstDash val="solid"/>
                      <a:round/>
                      <a:headEnd type="none" w="med" len="med"/>
                      <a:tailEnd type="none" w="med" len="med"/>
                    </a:lnL>
                    <a:lnR w="12700" cap="flat" cmpd="sng" algn="ctr">
                      <a:solidFill>
                        <a:srgbClr val="171717"/>
                      </a:solidFill>
                      <a:prstDash val="solid"/>
                      <a:round/>
                      <a:headEnd type="none" w="med" len="med"/>
                      <a:tailEnd type="none" w="med" len="med"/>
                    </a:lnR>
                    <a:lnT w="12700" cap="flat" cmpd="sng" algn="ctr">
                      <a:solidFill>
                        <a:srgbClr val="171717"/>
                      </a:solidFill>
                      <a:prstDash val="solid"/>
                      <a:round/>
                      <a:headEnd type="none" w="med" len="med"/>
                      <a:tailEnd type="none" w="med" len="med"/>
                    </a:lnT>
                    <a:lnB w="12700" cap="flat" cmpd="sng" algn="ctr">
                      <a:solidFill>
                        <a:srgbClr val="171717"/>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l-GR" altLang="zh-CN" sz="1400" b="0" i="1" u="none" strike="noStrike" cap="none" normalizeH="0" baseline="0" dirty="0">
                          <a:ln>
                            <a:noFill/>
                          </a:ln>
                          <a:solidFill>
                            <a:srgbClr val="171717"/>
                          </a:solidFill>
                          <a:effectLst/>
                          <a:latin typeface="Times New Roman" pitchFamily="18" charset="0"/>
                          <a:ea typeface="黑体" pitchFamily="49" charset="-122"/>
                          <a:cs typeface="Times New Roman" pitchFamily="18" charset="0"/>
                        </a:rPr>
                        <a:t>υ</a:t>
                      </a:r>
                      <a:r>
                        <a:rPr kumimoji="1" lang="en-US" altLang="zh-CN" sz="1400" b="0" i="0" u="none" strike="noStrike" cap="none" normalizeH="0" baseline="-25000" dirty="0">
                          <a:ln>
                            <a:noFill/>
                          </a:ln>
                          <a:solidFill>
                            <a:srgbClr val="171717"/>
                          </a:solidFill>
                          <a:effectLst/>
                          <a:latin typeface="Times New Roman" pitchFamily="18" charset="0"/>
                          <a:ea typeface="黑体" pitchFamily="49" charset="-122"/>
                          <a:cs typeface="Times New Roman" pitchFamily="18" charset="0"/>
                        </a:rPr>
                        <a:t>O</a:t>
                      </a:r>
                      <a:endParaRPr kumimoji="1" lang="zh-CN" altLang="en-US" sz="1400" b="0" i="0" u="none" strike="noStrike" cap="none" normalizeH="0" baseline="-25000" dirty="0">
                        <a:ln>
                          <a:noFill/>
                        </a:ln>
                        <a:solidFill>
                          <a:srgbClr val="171717"/>
                        </a:solidFill>
                        <a:effectLst/>
                        <a:latin typeface="Times New Roman" pitchFamily="18" charset="0"/>
                        <a:ea typeface="黑体" pitchFamily="49" charset="-122"/>
                        <a:cs typeface="Times New Roman" pitchFamily="18" charset="0"/>
                      </a:endParaRPr>
                    </a:p>
                  </a:txBody>
                  <a:tcPr marL="0" marR="0" marT="0" marB="0" anchor="ctr" horzOverflow="overflow">
                    <a:lnL w="12700" cap="flat" cmpd="sng" algn="ctr">
                      <a:solidFill>
                        <a:srgbClr val="171717"/>
                      </a:solidFill>
                      <a:prstDash val="solid"/>
                      <a:round/>
                      <a:headEnd type="none" w="med" len="med"/>
                      <a:tailEnd type="none" w="med" len="med"/>
                    </a:lnL>
                    <a:lnR w="12700" cap="flat" cmpd="sng" algn="ctr">
                      <a:solidFill>
                        <a:srgbClr val="171717"/>
                      </a:solidFill>
                      <a:prstDash val="solid"/>
                      <a:round/>
                      <a:headEnd type="none" w="med" len="med"/>
                      <a:tailEnd type="none" w="med" len="med"/>
                    </a:lnR>
                    <a:lnT w="12700" cap="flat" cmpd="sng" algn="ctr">
                      <a:solidFill>
                        <a:srgbClr val="171717"/>
                      </a:solidFill>
                      <a:prstDash val="solid"/>
                      <a:round/>
                      <a:headEnd type="none" w="med" len="med"/>
                      <a:tailEnd type="none" w="med" len="med"/>
                    </a:lnT>
                    <a:lnB w="12700" cap="flat" cmpd="sng" algn="ctr">
                      <a:solidFill>
                        <a:srgbClr val="171717"/>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0"/>
                  </a:ext>
                </a:extLst>
              </a:tr>
              <a:tr h="309903">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400" b="0" i="0" u="none" strike="noStrike" cap="none" normalizeH="0" baseline="0" dirty="0">
                          <a:ln>
                            <a:noFill/>
                          </a:ln>
                          <a:solidFill>
                            <a:srgbClr val="171717"/>
                          </a:solidFill>
                          <a:effectLst/>
                          <a:latin typeface="Times New Roman" pitchFamily="18" charset="0"/>
                          <a:ea typeface="黑体" pitchFamily="49" charset="-122"/>
                          <a:cs typeface="Times New Roman" pitchFamily="18" charset="0"/>
                        </a:rPr>
                        <a:t>0</a:t>
                      </a:r>
                    </a:p>
                  </a:txBody>
                  <a:tcPr marL="0" marR="0" marT="0" marB="0" anchor="ctr" horzOverflow="overflow">
                    <a:lnL w="12700" cap="flat" cmpd="sng" algn="ctr">
                      <a:solidFill>
                        <a:srgbClr val="171717"/>
                      </a:solidFill>
                      <a:prstDash val="solid"/>
                      <a:round/>
                      <a:headEnd type="none" w="med" len="med"/>
                      <a:tailEnd type="none" w="med" len="med"/>
                    </a:lnL>
                    <a:lnR w="12700" cap="flat" cmpd="sng" algn="ctr">
                      <a:solidFill>
                        <a:srgbClr val="171717"/>
                      </a:solidFill>
                      <a:prstDash val="solid"/>
                      <a:round/>
                      <a:headEnd type="none" w="med" len="med"/>
                      <a:tailEnd type="none" w="med" len="med"/>
                    </a:lnR>
                    <a:lnT w="12700" cap="flat" cmpd="sng" algn="ctr">
                      <a:solidFill>
                        <a:srgbClr val="171717"/>
                      </a:solidFill>
                      <a:prstDash val="solid"/>
                      <a:round/>
                      <a:headEnd type="none" w="med" len="med"/>
                      <a:tailEnd type="none" w="med" len="med"/>
                    </a:lnT>
                    <a:lnB w="12700" cap="flat" cmpd="sng" algn="ctr">
                      <a:solidFill>
                        <a:srgbClr val="171717"/>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400" b="0" i="0" u="none" strike="noStrike" cap="none" normalizeH="0" baseline="0" dirty="0">
                          <a:ln>
                            <a:noFill/>
                          </a:ln>
                          <a:solidFill>
                            <a:srgbClr val="171717"/>
                          </a:solidFill>
                          <a:effectLst/>
                          <a:latin typeface="Times New Roman" pitchFamily="18" charset="0"/>
                          <a:ea typeface="黑体" pitchFamily="49" charset="-122"/>
                          <a:cs typeface="Times New Roman" pitchFamily="18" charset="0"/>
                        </a:rPr>
                        <a:t>1</a:t>
                      </a:r>
                    </a:p>
                  </a:txBody>
                  <a:tcPr marL="0" marR="0" marT="0" marB="0" anchor="ctr" horzOverflow="overflow">
                    <a:lnL w="12700" cap="flat" cmpd="sng" algn="ctr">
                      <a:solidFill>
                        <a:srgbClr val="171717"/>
                      </a:solidFill>
                      <a:prstDash val="solid"/>
                      <a:round/>
                      <a:headEnd type="none" w="med" len="med"/>
                      <a:tailEnd type="none" w="med" len="med"/>
                    </a:lnL>
                    <a:lnR w="12700" cap="flat" cmpd="sng" algn="ctr">
                      <a:solidFill>
                        <a:srgbClr val="171717"/>
                      </a:solidFill>
                      <a:prstDash val="solid"/>
                      <a:round/>
                      <a:headEnd type="none" w="med" len="med"/>
                      <a:tailEnd type="none" w="med" len="med"/>
                    </a:lnR>
                    <a:lnT w="12700" cap="flat" cmpd="sng" algn="ctr">
                      <a:solidFill>
                        <a:srgbClr val="171717"/>
                      </a:solidFill>
                      <a:prstDash val="solid"/>
                      <a:round/>
                      <a:headEnd type="none" w="med" len="med"/>
                      <a:tailEnd type="none" w="med" len="med"/>
                    </a:lnT>
                    <a:lnB w="12700" cap="flat" cmpd="sng" algn="ctr">
                      <a:solidFill>
                        <a:srgbClr val="171717"/>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0051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400" b="0" i="0" u="none" strike="noStrike" cap="none" normalizeH="0" baseline="0" dirty="0">
                          <a:ln>
                            <a:noFill/>
                          </a:ln>
                          <a:solidFill>
                            <a:srgbClr val="171717"/>
                          </a:solidFill>
                          <a:effectLst/>
                          <a:latin typeface="Times New Roman" pitchFamily="18" charset="0"/>
                          <a:ea typeface="黑体" pitchFamily="49" charset="-122"/>
                          <a:cs typeface="Times New Roman" pitchFamily="18" charset="0"/>
                        </a:rPr>
                        <a:t>1</a:t>
                      </a:r>
                    </a:p>
                  </a:txBody>
                  <a:tcPr marL="0" marR="0" marT="0" marB="0" anchor="ctr" horzOverflow="overflow">
                    <a:lnL w="12700" cap="flat" cmpd="sng" algn="ctr">
                      <a:solidFill>
                        <a:srgbClr val="171717"/>
                      </a:solidFill>
                      <a:prstDash val="solid"/>
                      <a:round/>
                      <a:headEnd type="none" w="med" len="med"/>
                      <a:tailEnd type="none" w="med" len="med"/>
                    </a:lnL>
                    <a:lnR w="12700" cap="flat" cmpd="sng" algn="ctr">
                      <a:solidFill>
                        <a:srgbClr val="171717"/>
                      </a:solidFill>
                      <a:prstDash val="solid"/>
                      <a:round/>
                      <a:headEnd type="none" w="med" len="med"/>
                      <a:tailEnd type="none" w="med" len="med"/>
                    </a:lnR>
                    <a:lnT w="12700" cap="flat" cmpd="sng" algn="ctr">
                      <a:solidFill>
                        <a:srgbClr val="171717"/>
                      </a:solidFill>
                      <a:prstDash val="solid"/>
                      <a:round/>
                      <a:headEnd type="none" w="med" len="med"/>
                      <a:tailEnd type="none" w="med" len="med"/>
                    </a:lnT>
                    <a:lnB w="12700" cap="flat" cmpd="sng" algn="ctr">
                      <a:solidFill>
                        <a:srgbClr val="171717"/>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400" b="0" i="0" u="none" strike="noStrike" cap="none" normalizeH="0" baseline="0" dirty="0">
                          <a:ln>
                            <a:noFill/>
                          </a:ln>
                          <a:solidFill>
                            <a:srgbClr val="171717"/>
                          </a:solidFill>
                          <a:effectLst/>
                          <a:latin typeface="Times New Roman" pitchFamily="18" charset="0"/>
                          <a:ea typeface="黑体" pitchFamily="49" charset="-122"/>
                          <a:cs typeface="Times New Roman" pitchFamily="18" charset="0"/>
                        </a:rPr>
                        <a:t>0</a:t>
                      </a:r>
                    </a:p>
                  </a:txBody>
                  <a:tcPr marL="0" marR="0" marT="0" marB="0" anchor="ctr" horzOverflow="overflow">
                    <a:lnL w="12700" cap="flat" cmpd="sng" algn="ctr">
                      <a:solidFill>
                        <a:srgbClr val="171717"/>
                      </a:solidFill>
                      <a:prstDash val="solid"/>
                      <a:round/>
                      <a:headEnd type="none" w="med" len="med"/>
                      <a:tailEnd type="none" w="med" len="med"/>
                    </a:lnL>
                    <a:lnR w="12700" cap="flat" cmpd="sng" algn="ctr">
                      <a:solidFill>
                        <a:srgbClr val="171717"/>
                      </a:solidFill>
                      <a:prstDash val="solid"/>
                      <a:round/>
                      <a:headEnd type="none" w="med" len="med"/>
                      <a:tailEnd type="none" w="med" len="med"/>
                    </a:lnR>
                    <a:lnT w="12700" cap="flat" cmpd="sng" algn="ctr">
                      <a:solidFill>
                        <a:srgbClr val="171717"/>
                      </a:solidFill>
                      <a:prstDash val="solid"/>
                      <a:round/>
                      <a:headEnd type="none" w="med" len="med"/>
                      <a:tailEnd type="none" w="med" len="med"/>
                    </a:lnT>
                    <a:lnB w="12700" cap="flat" cmpd="sng" algn="ctr">
                      <a:solidFill>
                        <a:srgbClr val="171717"/>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graphicFrame>
        <p:nvGraphicFramePr>
          <p:cNvPr id="3" name="对象 2">
            <a:extLst>
              <a:ext uri="{FF2B5EF4-FFF2-40B4-BE49-F238E27FC236}">
                <a16:creationId xmlns:a16="http://schemas.microsoft.com/office/drawing/2014/main" id="{CD3D080E-0D3D-4FFF-AAD5-AE54566BAF09}"/>
              </a:ext>
            </a:extLst>
          </p:cNvPr>
          <p:cNvGraphicFramePr>
            <a:graphicFrameLocks noChangeAspect="1"/>
          </p:cNvGraphicFramePr>
          <p:nvPr/>
        </p:nvGraphicFramePr>
        <p:xfrm>
          <a:off x="5757180" y="1563047"/>
          <a:ext cx="3169131" cy="1713744"/>
        </p:xfrm>
        <a:graphic>
          <a:graphicData uri="http://schemas.openxmlformats.org/presentationml/2006/ole">
            <mc:AlternateContent xmlns:mc="http://schemas.openxmlformats.org/markup-compatibility/2006">
              <mc:Choice xmlns:v="urn:schemas-microsoft-com:vml" Requires="v">
                <p:oleObj spid="_x0000_s70659" name="Visio" r:id="rId7" imgW="1648789" imgH="873140" progId="">
                  <p:embed/>
                </p:oleObj>
              </mc:Choice>
              <mc:Fallback>
                <p:oleObj name="Visio" r:id="rId7" imgW="1648789" imgH="873140" progId="">
                  <p:embed/>
                  <p:pic>
                    <p:nvPicPr>
                      <p:cNvPr id="3" name="对象 2">
                        <a:extLst>
                          <a:ext uri="{FF2B5EF4-FFF2-40B4-BE49-F238E27FC236}">
                            <a16:creationId xmlns:a16="http://schemas.microsoft.com/office/drawing/2014/main" id="{CD3D080E-0D3D-4FFF-AAD5-AE54566BAF0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57180" y="1563047"/>
                        <a:ext cx="3169131" cy="17137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矩形: 圆角 4">
            <a:extLst>
              <a:ext uri="{FF2B5EF4-FFF2-40B4-BE49-F238E27FC236}">
                <a16:creationId xmlns:a16="http://schemas.microsoft.com/office/drawing/2014/main" id="{6678CE1D-6E06-4D3D-8A5E-97360488AF1D}"/>
              </a:ext>
            </a:extLst>
          </p:cNvPr>
          <p:cNvSpPr/>
          <p:nvPr/>
        </p:nvSpPr>
        <p:spPr>
          <a:xfrm>
            <a:off x="5673520" y="1478082"/>
            <a:ext cx="1590474" cy="1894626"/>
          </a:xfrm>
          <a:prstGeom prst="roundRect">
            <a:avLst>
              <a:gd name="adj" fmla="val 5726"/>
            </a:avLst>
          </a:prstGeom>
          <a:solidFill>
            <a:schemeClr val="accent2">
              <a:alpha val="3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Rectangle 5">
            <a:extLst>
              <a:ext uri="{FF2B5EF4-FFF2-40B4-BE49-F238E27FC236}">
                <a16:creationId xmlns:a16="http://schemas.microsoft.com/office/drawing/2014/main" id="{82983206-9CB5-4668-B17E-BFC69AECAC2A}"/>
              </a:ext>
            </a:extLst>
          </p:cNvPr>
          <p:cNvSpPr>
            <a:spLocks noChangeArrowheads="1"/>
          </p:cNvSpPr>
          <p:nvPr/>
        </p:nvSpPr>
        <p:spPr bwMode="auto">
          <a:xfrm>
            <a:off x="155575" y="4816466"/>
            <a:ext cx="8770736" cy="707886"/>
          </a:xfrm>
          <a:prstGeom prst="rect">
            <a:avLst/>
          </a:prstGeom>
          <a:noFill/>
          <a:ln w="9525">
            <a:noFill/>
            <a:miter lim="800000"/>
            <a:headEnd/>
            <a:tailEnd/>
          </a:ln>
        </p:spPr>
        <p:txBody>
          <a:bodyPr wrap="square" anchor="ctr">
            <a:spAutoFit/>
          </a:bodyPr>
          <a:lstStyle/>
          <a:p>
            <a:pPr indent="446088">
              <a:lnSpc>
                <a:spcPct val="125000"/>
              </a:lnSpc>
              <a:spcBef>
                <a:spcPct val="50000"/>
              </a:spcBef>
              <a:tabLst>
                <a:tab pos="487363" algn="l"/>
                <a:tab pos="1039813" algn="l"/>
              </a:tabLst>
              <a:defRPr/>
            </a:pPr>
            <a:r>
              <a:rPr kumimoji="1" lang="zh-CN" altLang="en-US" sz="1600" dirty="0">
                <a:solidFill>
                  <a:srgbClr val="080808"/>
                </a:solidFill>
                <a:latin typeface="微软雅黑" pitchFamily="34" charset="-122"/>
                <a:ea typeface="微软雅黑" pitchFamily="34" charset="-122"/>
                <a:cs typeface="Times New Roman" pitchFamily="18" charset="0"/>
              </a:rPr>
              <a:t>由单个晶体管构成的非门电路的性能无法满足实际应用对电路的需求，需要通过</a:t>
            </a:r>
            <a:r>
              <a:rPr lang="zh-CN" altLang="en-US" sz="1600" dirty="0">
                <a:solidFill>
                  <a:srgbClr val="6600FF"/>
                </a:solidFill>
                <a:latin typeface="方正粗黑宋简体" pitchFamily="2" charset="-122"/>
                <a:ea typeface="方正粗黑宋简体" pitchFamily="2" charset="-122"/>
              </a:rPr>
              <a:t>改变输入，输出电路的结构</a:t>
            </a:r>
            <a:r>
              <a:rPr kumimoji="1" lang="en-US" altLang="zh-CN" sz="1600" dirty="0">
                <a:solidFill>
                  <a:srgbClr val="080808"/>
                </a:solidFill>
                <a:latin typeface="微软雅黑" pitchFamily="34" charset="-122"/>
                <a:ea typeface="微软雅黑" pitchFamily="34" charset="-122"/>
                <a:cs typeface="Times New Roman" pitchFamily="18" charset="0"/>
              </a:rPr>
              <a:t>——</a:t>
            </a:r>
            <a:r>
              <a:rPr kumimoji="1" lang="zh-CN" altLang="en-US" sz="1600" dirty="0">
                <a:solidFill>
                  <a:srgbClr val="080808"/>
                </a:solidFill>
                <a:latin typeface="微软雅黑" pitchFamily="34" charset="-122"/>
                <a:ea typeface="微软雅黑" pitchFamily="34" charset="-122"/>
                <a:cs typeface="Times New Roman" pitchFamily="18" charset="0"/>
              </a:rPr>
              <a:t>用</a:t>
            </a:r>
            <a:r>
              <a:rPr lang="zh-CN" altLang="en-US" sz="1600" dirty="0">
                <a:solidFill>
                  <a:srgbClr val="6600FF"/>
                </a:solidFill>
                <a:latin typeface="方正粗黑宋简体" pitchFamily="2" charset="-122"/>
                <a:ea typeface="方正粗黑宋简体" pitchFamily="2" charset="-122"/>
              </a:rPr>
              <a:t>多个</a:t>
            </a:r>
            <a:r>
              <a:rPr lang="en-US" altLang="zh-CN" sz="1600" dirty="0">
                <a:solidFill>
                  <a:srgbClr val="6600FF"/>
                </a:solidFill>
                <a:latin typeface="方正粗黑宋简体" pitchFamily="2" charset="-122"/>
                <a:ea typeface="方正粗黑宋简体" pitchFamily="2" charset="-122"/>
              </a:rPr>
              <a:t>BJT</a:t>
            </a:r>
            <a:r>
              <a:rPr lang="zh-CN" altLang="en-US" sz="1600" dirty="0">
                <a:solidFill>
                  <a:srgbClr val="6600FF"/>
                </a:solidFill>
                <a:latin typeface="方正粗黑宋简体" pitchFamily="2" charset="-122"/>
                <a:ea typeface="方正粗黑宋简体" pitchFamily="2" charset="-122"/>
              </a:rPr>
              <a:t>构成</a:t>
            </a:r>
            <a:r>
              <a:rPr lang="en-US" altLang="zh-CN" sz="1600" dirty="0">
                <a:solidFill>
                  <a:srgbClr val="6600FF"/>
                </a:solidFill>
                <a:latin typeface="方正粗黑宋简体" pitchFamily="2" charset="-122"/>
                <a:ea typeface="方正粗黑宋简体" pitchFamily="2" charset="-122"/>
              </a:rPr>
              <a:t>TTL</a:t>
            </a:r>
            <a:r>
              <a:rPr lang="zh-CN" altLang="en-US" sz="1600" dirty="0">
                <a:solidFill>
                  <a:srgbClr val="6600FF"/>
                </a:solidFill>
                <a:latin typeface="方正粗黑宋简体" pitchFamily="2" charset="-122"/>
                <a:ea typeface="方正粗黑宋简体" pitchFamily="2" charset="-122"/>
              </a:rPr>
              <a:t>逻辑门</a:t>
            </a:r>
            <a:r>
              <a:rPr kumimoji="1" lang="zh-CN" altLang="en-US" sz="1600" dirty="0">
                <a:solidFill>
                  <a:srgbClr val="080808"/>
                </a:solidFill>
                <a:latin typeface="微软雅黑" pitchFamily="34" charset="-122"/>
                <a:ea typeface="微软雅黑" pitchFamily="34" charset="-122"/>
                <a:cs typeface="Times New Roman" pitchFamily="18" charset="0"/>
              </a:rPr>
              <a:t>电路。</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slide(fromBottom)">
                                      <p:cBhvr>
                                        <p:cTn id="7" dur="1000"/>
                                        <p:tgtEl>
                                          <p:spTgt spid="36"/>
                                        </p:tgtEl>
                                      </p:cBhvr>
                                    </p:animEffect>
                                  </p:childTnLst>
                                </p:cTn>
                              </p:par>
                            </p:childTnLst>
                          </p:cTn>
                        </p:par>
                        <p:par>
                          <p:cTn id="8" fill="hold">
                            <p:stCondLst>
                              <p:cond delay="1000"/>
                            </p:stCondLst>
                            <p:childTnLst>
                              <p:par>
                                <p:cTn id="9" presetID="12" presetClass="entr" presetSubtype="4" fill="hold" nodeType="afterEffect">
                                  <p:stCondLst>
                                    <p:cond delay="0"/>
                                  </p:stCondLst>
                                  <p:childTnLst>
                                    <p:set>
                                      <p:cBhvr>
                                        <p:cTn id="10" dur="1" fill="hold">
                                          <p:stCondLst>
                                            <p:cond delay="0"/>
                                          </p:stCondLst>
                                        </p:cTn>
                                        <p:tgtEl>
                                          <p:spTgt spid="54275"/>
                                        </p:tgtEl>
                                        <p:attrNameLst>
                                          <p:attrName>style.visibility</p:attrName>
                                        </p:attrNameLst>
                                      </p:cBhvr>
                                      <p:to>
                                        <p:strVal val="visible"/>
                                      </p:to>
                                    </p:set>
                                    <p:animEffect transition="in" filter="slide(fromBottom)">
                                      <p:cBhvr>
                                        <p:cTn id="11" dur="1000"/>
                                        <p:tgtEl>
                                          <p:spTgt spid="54275"/>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4" fill="hold" grpId="0" nodeType="clickEffect">
                                  <p:stCondLst>
                                    <p:cond delay="0"/>
                                  </p:stCondLst>
                                  <p:childTnLst>
                                    <p:set>
                                      <p:cBhvr>
                                        <p:cTn id="15" dur="1" fill="hold">
                                          <p:stCondLst>
                                            <p:cond delay="0"/>
                                          </p:stCondLst>
                                        </p:cTn>
                                        <p:tgtEl>
                                          <p:spTgt spid="42"/>
                                        </p:tgtEl>
                                        <p:attrNameLst>
                                          <p:attrName>style.visibility</p:attrName>
                                        </p:attrNameLst>
                                      </p:cBhvr>
                                      <p:to>
                                        <p:strVal val="visible"/>
                                      </p:to>
                                    </p:set>
                                    <p:animEffect transition="in" filter="slide(fromBottom)">
                                      <p:cBhvr>
                                        <p:cTn id="16" dur="1000"/>
                                        <p:tgtEl>
                                          <p:spTgt spid="42"/>
                                        </p:tgtEl>
                                      </p:cBhvr>
                                    </p:animEffect>
                                  </p:childTnLst>
                                </p:cTn>
                              </p:par>
                            </p:childTnLst>
                          </p:cTn>
                        </p:par>
                        <p:par>
                          <p:cTn id="17" fill="hold">
                            <p:stCondLst>
                              <p:cond delay="1000"/>
                            </p:stCondLst>
                            <p:childTnLst>
                              <p:par>
                                <p:cTn id="18" presetID="23" presetClass="entr" presetSubtype="16" fill="hold" grpId="0" nodeType="afterEffect">
                                  <p:stCondLst>
                                    <p:cond delay="0"/>
                                  </p:stCondLst>
                                  <p:childTnLst>
                                    <p:set>
                                      <p:cBhvr>
                                        <p:cTn id="19" dur="1" fill="hold">
                                          <p:stCondLst>
                                            <p:cond delay="0"/>
                                          </p:stCondLst>
                                        </p:cTn>
                                        <p:tgtEl>
                                          <p:spTgt spid="44"/>
                                        </p:tgtEl>
                                        <p:attrNameLst>
                                          <p:attrName>style.visibility</p:attrName>
                                        </p:attrNameLst>
                                      </p:cBhvr>
                                      <p:to>
                                        <p:strVal val="visible"/>
                                      </p:to>
                                    </p:set>
                                    <p:anim calcmode="lin" valueType="num">
                                      <p:cBhvr>
                                        <p:cTn id="20" dur="1000" fill="hold"/>
                                        <p:tgtEl>
                                          <p:spTgt spid="44"/>
                                        </p:tgtEl>
                                        <p:attrNameLst>
                                          <p:attrName>ppt_w</p:attrName>
                                        </p:attrNameLst>
                                      </p:cBhvr>
                                      <p:tavLst>
                                        <p:tav tm="0">
                                          <p:val>
                                            <p:fltVal val="0"/>
                                          </p:val>
                                        </p:tav>
                                        <p:tav tm="100000">
                                          <p:val>
                                            <p:strVal val="#ppt_w"/>
                                          </p:val>
                                        </p:tav>
                                      </p:tavLst>
                                    </p:anim>
                                    <p:anim calcmode="lin" valueType="num">
                                      <p:cBhvr>
                                        <p:cTn id="21" dur="1000" fill="hold"/>
                                        <p:tgtEl>
                                          <p:spTgt spid="44"/>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p:stCondLst>
                                    <p:cond delay="0"/>
                                  </p:stCondLst>
                                  <p:childTnLst>
                                    <p:set>
                                      <p:cBhvr>
                                        <p:cTn id="25" dur="1" fill="hold">
                                          <p:stCondLst>
                                            <p:cond delay="0"/>
                                          </p:stCondLst>
                                        </p:cTn>
                                        <p:tgtEl>
                                          <p:spTgt spid="43"/>
                                        </p:tgtEl>
                                        <p:attrNameLst>
                                          <p:attrName>style.visibility</p:attrName>
                                        </p:attrNameLst>
                                      </p:cBhvr>
                                      <p:to>
                                        <p:strVal val="visible"/>
                                      </p:to>
                                    </p:set>
                                    <p:animEffect transition="in" filter="slide(fromBottom)">
                                      <p:cBhvr>
                                        <p:cTn id="26" dur="1000"/>
                                        <p:tgtEl>
                                          <p:spTgt spid="43"/>
                                        </p:tgtEl>
                                      </p:cBhvr>
                                    </p:animEffect>
                                  </p:childTnLst>
                                </p:cTn>
                              </p:par>
                            </p:childTnLst>
                          </p:cTn>
                        </p:par>
                        <p:par>
                          <p:cTn id="27" fill="hold">
                            <p:stCondLst>
                              <p:cond delay="1000"/>
                            </p:stCondLst>
                            <p:childTnLst>
                              <p:par>
                                <p:cTn id="28" presetID="23" presetClass="entr" presetSubtype="16" fill="hold" grpId="0" nodeType="afterEffect">
                                  <p:stCondLst>
                                    <p:cond delay="0"/>
                                  </p:stCondLst>
                                  <p:childTnLst>
                                    <p:set>
                                      <p:cBhvr>
                                        <p:cTn id="29" dur="1" fill="hold">
                                          <p:stCondLst>
                                            <p:cond delay="0"/>
                                          </p:stCondLst>
                                        </p:cTn>
                                        <p:tgtEl>
                                          <p:spTgt spid="39"/>
                                        </p:tgtEl>
                                        <p:attrNameLst>
                                          <p:attrName>style.visibility</p:attrName>
                                        </p:attrNameLst>
                                      </p:cBhvr>
                                      <p:to>
                                        <p:strVal val="visible"/>
                                      </p:to>
                                    </p:set>
                                    <p:anim calcmode="lin" valueType="num">
                                      <p:cBhvr>
                                        <p:cTn id="30" dur="1000" fill="hold"/>
                                        <p:tgtEl>
                                          <p:spTgt spid="39"/>
                                        </p:tgtEl>
                                        <p:attrNameLst>
                                          <p:attrName>ppt_w</p:attrName>
                                        </p:attrNameLst>
                                      </p:cBhvr>
                                      <p:tavLst>
                                        <p:tav tm="0">
                                          <p:val>
                                            <p:fltVal val="0"/>
                                          </p:val>
                                        </p:tav>
                                        <p:tav tm="100000">
                                          <p:val>
                                            <p:strVal val="#ppt_w"/>
                                          </p:val>
                                        </p:tav>
                                      </p:tavLst>
                                    </p:anim>
                                    <p:anim calcmode="lin" valueType="num">
                                      <p:cBhvr>
                                        <p:cTn id="31" dur="1000" fill="hold"/>
                                        <p:tgtEl>
                                          <p:spTgt spid="39"/>
                                        </p:tgtEl>
                                        <p:attrNameLst>
                                          <p:attrName>ppt_h</p:attrName>
                                        </p:attrNameLst>
                                      </p:cBhvr>
                                      <p:tavLst>
                                        <p:tav tm="0">
                                          <p:val>
                                            <p:fltVal val="0"/>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12" presetClass="entr" presetSubtype="4" fill="hold" nodeType="clickEffect">
                                  <p:stCondLst>
                                    <p:cond delay="0"/>
                                  </p:stCondLst>
                                  <p:childTnLst>
                                    <p:set>
                                      <p:cBhvr>
                                        <p:cTn id="35" dur="1" fill="hold">
                                          <p:stCondLst>
                                            <p:cond delay="0"/>
                                          </p:stCondLst>
                                        </p:cTn>
                                        <p:tgtEl>
                                          <p:spTgt spid="3"/>
                                        </p:tgtEl>
                                        <p:attrNameLst>
                                          <p:attrName>style.visibility</p:attrName>
                                        </p:attrNameLst>
                                      </p:cBhvr>
                                      <p:to>
                                        <p:strVal val="visible"/>
                                      </p:to>
                                    </p:set>
                                    <p:anim calcmode="lin" valueType="num">
                                      <p:cBhvr additive="base">
                                        <p:cTn id="36" dur="1000"/>
                                        <p:tgtEl>
                                          <p:spTgt spid="3"/>
                                        </p:tgtEl>
                                        <p:attrNameLst>
                                          <p:attrName>ppt_y</p:attrName>
                                        </p:attrNameLst>
                                      </p:cBhvr>
                                      <p:tavLst>
                                        <p:tav tm="0">
                                          <p:val>
                                            <p:strVal val="#ppt_y+#ppt_h*1.125000"/>
                                          </p:val>
                                        </p:tav>
                                        <p:tav tm="100000">
                                          <p:val>
                                            <p:strVal val="#ppt_y"/>
                                          </p:val>
                                        </p:tav>
                                      </p:tavLst>
                                    </p:anim>
                                    <p:animEffect transition="in" filter="wipe(up)">
                                      <p:cBhvr>
                                        <p:cTn id="37" dur="1000"/>
                                        <p:tgtEl>
                                          <p:spTgt spid="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wipe(left)">
                                      <p:cBhvr>
                                        <p:cTn id="42" dur="1000"/>
                                        <p:tgtEl>
                                          <p:spTgt spid="5"/>
                                        </p:tgtEl>
                                      </p:cBhvr>
                                    </p:animEffect>
                                  </p:childTnLst>
                                </p:cTn>
                              </p:par>
                            </p:childTnLst>
                          </p:cTn>
                        </p:par>
                      </p:childTnLst>
                    </p:cTn>
                  </p:par>
                  <p:par>
                    <p:cTn id="43" fill="hold">
                      <p:stCondLst>
                        <p:cond delay="indefinite"/>
                      </p:stCondLst>
                      <p:childTnLst>
                        <p:par>
                          <p:cTn id="44" fill="hold">
                            <p:stCondLst>
                              <p:cond delay="0"/>
                            </p:stCondLst>
                            <p:childTnLst>
                              <p:par>
                                <p:cTn id="45" presetID="63" presetClass="path" presetSubtype="0" accel="50000" decel="50000" fill="hold" grpId="1" nodeType="clickEffect">
                                  <p:stCondLst>
                                    <p:cond delay="0"/>
                                  </p:stCondLst>
                                  <p:childTnLst>
                                    <p:animMotion origin="layout" path="M 4.72222E-6 -4.44444E-6 L 0.18541 -4.44444E-6 " pathEditMode="relative" rAng="0" ptsTypes="AA">
                                      <p:cBhvr>
                                        <p:cTn id="46" dur="2000" fill="hold"/>
                                        <p:tgtEl>
                                          <p:spTgt spid="5"/>
                                        </p:tgtEl>
                                        <p:attrNameLst>
                                          <p:attrName>ppt_x</p:attrName>
                                          <p:attrName>ppt_y</p:attrName>
                                        </p:attrNameLst>
                                      </p:cBhvr>
                                      <p:rCtr x="9271" y="0"/>
                                    </p:animMotion>
                                  </p:childTnLst>
                                </p:cTn>
                              </p:par>
                            </p:childTnLst>
                          </p:cTn>
                        </p:par>
                      </p:childTnLst>
                    </p:cTn>
                  </p:par>
                  <p:par>
                    <p:cTn id="47" fill="hold">
                      <p:stCondLst>
                        <p:cond delay="indefinite"/>
                      </p:stCondLst>
                      <p:childTnLst>
                        <p:par>
                          <p:cTn id="48" fill="hold">
                            <p:stCondLst>
                              <p:cond delay="0"/>
                            </p:stCondLst>
                            <p:childTnLst>
                              <p:par>
                                <p:cTn id="49" presetID="17" presetClass="entr" presetSubtype="1" fill="hold" nodeType="clickEffect">
                                  <p:stCondLst>
                                    <p:cond delay="0"/>
                                  </p:stCondLst>
                                  <p:childTnLst>
                                    <p:set>
                                      <p:cBhvr>
                                        <p:cTn id="50" dur="1" fill="hold">
                                          <p:stCondLst>
                                            <p:cond delay="0"/>
                                          </p:stCondLst>
                                        </p:cTn>
                                        <p:tgtEl>
                                          <p:spTgt spid="27"/>
                                        </p:tgtEl>
                                        <p:attrNameLst>
                                          <p:attrName>style.visibility</p:attrName>
                                        </p:attrNameLst>
                                      </p:cBhvr>
                                      <p:to>
                                        <p:strVal val="visible"/>
                                      </p:to>
                                    </p:set>
                                    <p:anim calcmode="lin" valueType="num">
                                      <p:cBhvr>
                                        <p:cTn id="51" dur="1000" fill="hold"/>
                                        <p:tgtEl>
                                          <p:spTgt spid="27"/>
                                        </p:tgtEl>
                                        <p:attrNameLst>
                                          <p:attrName>ppt_x</p:attrName>
                                        </p:attrNameLst>
                                      </p:cBhvr>
                                      <p:tavLst>
                                        <p:tav tm="0">
                                          <p:val>
                                            <p:strVal val="#ppt_x"/>
                                          </p:val>
                                        </p:tav>
                                        <p:tav tm="100000">
                                          <p:val>
                                            <p:strVal val="#ppt_x"/>
                                          </p:val>
                                        </p:tav>
                                      </p:tavLst>
                                    </p:anim>
                                    <p:anim calcmode="lin" valueType="num">
                                      <p:cBhvr>
                                        <p:cTn id="52" dur="1000" fill="hold"/>
                                        <p:tgtEl>
                                          <p:spTgt spid="27"/>
                                        </p:tgtEl>
                                        <p:attrNameLst>
                                          <p:attrName>ppt_y</p:attrName>
                                        </p:attrNameLst>
                                      </p:cBhvr>
                                      <p:tavLst>
                                        <p:tav tm="0">
                                          <p:val>
                                            <p:strVal val="#ppt_y-#ppt_h/2"/>
                                          </p:val>
                                        </p:tav>
                                        <p:tav tm="100000">
                                          <p:val>
                                            <p:strVal val="#ppt_y"/>
                                          </p:val>
                                        </p:tav>
                                      </p:tavLst>
                                    </p:anim>
                                    <p:anim calcmode="lin" valueType="num">
                                      <p:cBhvr>
                                        <p:cTn id="53" dur="1000" fill="hold"/>
                                        <p:tgtEl>
                                          <p:spTgt spid="27"/>
                                        </p:tgtEl>
                                        <p:attrNameLst>
                                          <p:attrName>ppt_w</p:attrName>
                                        </p:attrNameLst>
                                      </p:cBhvr>
                                      <p:tavLst>
                                        <p:tav tm="0">
                                          <p:val>
                                            <p:strVal val="#ppt_w"/>
                                          </p:val>
                                        </p:tav>
                                        <p:tav tm="100000">
                                          <p:val>
                                            <p:strVal val="#ppt_w"/>
                                          </p:val>
                                        </p:tav>
                                      </p:tavLst>
                                    </p:anim>
                                    <p:anim calcmode="lin" valueType="num">
                                      <p:cBhvr>
                                        <p:cTn id="54" dur="1000" fill="hold"/>
                                        <p:tgtEl>
                                          <p:spTgt spid="27"/>
                                        </p:tgtEl>
                                        <p:attrNameLst>
                                          <p:attrName>ppt_h</p:attrName>
                                        </p:attrNameLst>
                                      </p:cBhvr>
                                      <p:tavLst>
                                        <p:tav tm="0">
                                          <p:val>
                                            <p:fltVal val="0"/>
                                          </p:val>
                                        </p:tav>
                                        <p:tav tm="100000">
                                          <p:val>
                                            <p:strVal val="#ppt_h"/>
                                          </p:val>
                                        </p:tav>
                                      </p:tavLst>
                                    </p:anim>
                                  </p:childTnLst>
                                </p:cTn>
                              </p:par>
                            </p:childTnLst>
                          </p:cTn>
                        </p:par>
                        <p:par>
                          <p:cTn id="55" fill="hold">
                            <p:stCondLst>
                              <p:cond delay="1000"/>
                            </p:stCondLst>
                            <p:childTnLst>
                              <p:par>
                                <p:cTn id="56" presetID="17" presetClass="entr" presetSubtype="1" fill="hold" nodeType="afterEffect">
                                  <p:stCondLst>
                                    <p:cond delay="0"/>
                                  </p:stCondLst>
                                  <p:childTnLst>
                                    <p:set>
                                      <p:cBhvr>
                                        <p:cTn id="57" dur="1" fill="hold">
                                          <p:stCondLst>
                                            <p:cond delay="0"/>
                                          </p:stCondLst>
                                        </p:cTn>
                                        <p:tgtEl>
                                          <p:spTgt spid="54273"/>
                                        </p:tgtEl>
                                        <p:attrNameLst>
                                          <p:attrName>style.visibility</p:attrName>
                                        </p:attrNameLst>
                                      </p:cBhvr>
                                      <p:to>
                                        <p:strVal val="visible"/>
                                      </p:to>
                                    </p:set>
                                    <p:anim calcmode="lin" valueType="num">
                                      <p:cBhvr>
                                        <p:cTn id="58" dur="1000" fill="hold"/>
                                        <p:tgtEl>
                                          <p:spTgt spid="54273"/>
                                        </p:tgtEl>
                                        <p:attrNameLst>
                                          <p:attrName>ppt_x</p:attrName>
                                        </p:attrNameLst>
                                      </p:cBhvr>
                                      <p:tavLst>
                                        <p:tav tm="0">
                                          <p:val>
                                            <p:strVal val="#ppt_x"/>
                                          </p:val>
                                        </p:tav>
                                        <p:tav tm="100000">
                                          <p:val>
                                            <p:strVal val="#ppt_x"/>
                                          </p:val>
                                        </p:tav>
                                      </p:tavLst>
                                    </p:anim>
                                    <p:anim calcmode="lin" valueType="num">
                                      <p:cBhvr>
                                        <p:cTn id="59" dur="1000" fill="hold"/>
                                        <p:tgtEl>
                                          <p:spTgt spid="54273"/>
                                        </p:tgtEl>
                                        <p:attrNameLst>
                                          <p:attrName>ppt_y</p:attrName>
                                        </p:attrNameLst>
                                      </p:cBhvr>
                                      <p:tavLst>
                                        <p:tav tm="0">
                                          <p:val>
                                            <p:strVal val="#ppt_y-#ppt_h/2"/>
                                          </p:val>
                                        </p:tav>
                                        <p:tav tm="100000">
                                          <p:val>
                                            <p:strVal val="#ppt_y"/>
                                          </p:val>
                                        </p:tav>
                                      </p:tavLst>
                                    </p:anim>
                                    <p:anim calcmode="lin" valueType="num">
                                      <p:cBhvr>
                                        <p:cTn id="60" dur="1000" fill="hold"/>
                                        <p:tgtEl>
                                          <p:spTgt spid="54273"/>
                                        </p:tgtEl>
                                        <p:attrNameLst>
                                          <p:attrName>ppt_w</p:attrName>
                                        </p:attrNameLst>
                                      </p:cBhvr>
                                      <p:tavLst>
                                        <p:tav tm="0">
                                          <p:val>
                                            <p:strVal val="#ppt_w"/>
                                          </p:val>
                                        </p:tav>
                                        <p:tav tm="100000">
                                          <p:val>
                                            <p:strVal val="#ppt_w"/>
                                          </p:val>
                                        </p:tav>
                                      </p:tavLst>
                                    </p:anim>
                                    <p:anim calcmode="lin" valueType="num">
                                      <p:cBhvr>
                                        <p:cTn id="61" dur="1000" fill="hold"/>
                                        <p:tgtEl>
                                          <p:spTgt spid="54273"/>
                                        </p:tgtEl>
                                        <p:attrNameLst>
                                          <p:attrName>ppt_h</p:attrName>
                                        </p:attrNameLst>
                                      </p:cBhvr>
                                      <p:tavLst>
                                        <p:tav tm="0">
                                          <p:val>
                                            <p:flt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4" presetID="12" presetClass="entr" presetSubtype="4" fill="hold" grpId="0" nodeType="clickEffect">
                                  <p:stCondLst>
                                    <p:cond delay="0"/>
                                  </p:stCondLst>
                                  <p:childTnLst>
                                    <p:set>
                                      <p:cBhvr>
                                        <p:cTn id="65" dur="1" fill="hold">
                                          <p:stCondLst>
                                            <p:cond delay="0"/>
                                          </p:stCondLst>
                                        </p:cTn>
                                        <p:tgtEl>
                                          <p:spTgt spid="31"/>
                                        </p:tgtEl>
                                        <p:attrNameLst>
                                          <p:attrName>style.visibility</p:attrName>
                                        </p:attrNameLst>
                                      </p:cBhvr>
                                      <p:to>
                                        <p:strVal val="visible"/>
                                      </p:to>
                                    </p:set>
                                    <p:animEffect transition="in" filter="slide(fromBottom)">
                                      <p:cBhvr>
                                        <p:cTn id="66" dur="10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4" grpId="0" animBg="1"/>
      <p:bldP spid="42" grpId="0"/>
      <p:bldP spid="43" grpId="0"/>
      <p:bldP spid="5" grpId="0" animBg="1"/>
      <p:bldP spid="5" grpId="1" animBg="1"/>
      <p:bldP spid="3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p:cNvSpPr>
            <a:spLocks noChangeArrowheads="1"/>
          </p:cNvSpPr>
          <p:nvPr/>
        </p:nvSpPr>
        <p:spPr bwMode="auto">
          <a:xfrm>
            <a:off x="173718" y="1233249"/>
            <a:ext cx="1944688" cy="338554"/>
          </a:xfrm>
          <a:prstGeom prst="rect">
            <a:avLst/>
          </a:prstGeom>
          <a:noFill/>
          <a:ln w="9525" algn="ctr">
            <a:noFill/>
            <a:miter lim="800000"/>
            <a:headEnd/>
            <a:tailEnd/>
          </a:ln>
        </p:spPr>
        <p:txBody>
          <a:bodyPr>
            <a:spAutoFit/>
          </a:bodyPr>
          <a:lstStyle/>
          <a:p>
            <a:r>
              <a:rPr lang="zh-CN" altLang="en-US" sz="1600" b="1" dirty="0">
                <a:solidFill>
                  <a:srgbClr val="6600FF"/>
                </a:solidFill>
                <a:latin typeface="方正粗黑宋简体" pitchFamily="2" charset="-122"/>
                <a:ea typeface="方正粗黑宋简体" pitchFamily="2" charset="-122"/>
              </a:rPr>
              <a:t>（</a:t>
            </a:r>
            <a:r>
              <a:rPr lang="en-US" altLang="zh-CN" sz="1600" b="1" dirty="0">
                <a:solidFill>
                  <a:srgbClr val="6600FF"/>
                </a:solidFill>
                <a:latin typeface="方正粗黑宋简体" pitchFamily="2" charset="-122"/>
                <a:ea typeface="方正粗黑宋简体" pitchFamily="2" charset="-122"/>
              </a:rPr>
              <a:t>1</a:t>
            </a:r>
            <a:r>
              <a:rPr lang="zh-CN" altLang="en-US" sz="1600" b="1" dirty="0">
                <a:solidFill>
                  <a:srgbClr val="6600FF"/>
                </a:solidFill>
                <a:latin typeface="方正粗黑宋简体" pitchFamily="2" charset="-122"/>
                <a:ea typeface="方正粗黑宋简体" pitchFamily="2" charset="-122"/>
              </a:rPr>
              <a:t>）电路结构</a:t>
            </a:r>
          </a:p>
        </p:txBody>
      </p:sp>
      <p:grpSp>
        <p:nvGrpSpPr>
          <p:cNvPr id="5" name="Group 7"/>
          <p:cNvGrpSpPr>
            <a:grpSpLocks/>
          </p:cNvGrpSpPr>
          <p:nvPr/>
        </p:nvGrpSpPr>
        <p:grpSpPr bwMode="auto">
          <a:xfrm>
            <a:off x="2271448" y="1800833"/>
            <a:ext cx="4445184" cy="3018059"/>
            <a:chOff x="1425" y="1472"/>
            <a:chExt cx="3169" cy="2292"/>
          </a:xfrm>
        </p:grpSpPr>
        <p:sp>
          <p:nvSpPr>
            <p:cNvPr id="6" name="AutoShape 8"/>
            <p:cNvSpPr>
              <a:spLocks noChangeArrowheads="1"/>
            </p:cNvSpPr>
            <p:nvPr/>
          </p:nvSpPr>
          <p:spPr bwMode="auto">
            <a:xfrm>
              <a:off x="1425" y="1473"/>
              <a:ext cx="1336" cy="2280"/>
            </a:xfrm>
            <a:prstGeom prst="roundRect">
              <a:avLst>
                <a:gd name="adj" fmla="val 6551"/>
              </a:avLst>
            </a:prstGeom>
            <a:solidFill>
              <a:srgbClr val="FFFF99"/>
            </a:solidFill>
            <a:ln w="9525">
              <a:solidFill>
                <a:schemeClr val="tx1"/>
              </a:solidFill>
              <a:miter lim="800000"/>
              <a:headEnd/>
              <a:tailEnd/>
            </a:ln>
          </p:spPr>
          <p:txBody>
            <a:bodyPr wrap="none" anchor="ctr"/>
            <a:lstStyle/>
            <a:p>
              <a:endParaRPr lang="zh-CN" altLang="en-US">
                <a:solidFill>
                  <a:srgbClr val="080808"/>
                </a:solidFill>
                <a:latin typeface="Times New Roman" pitchFamily="18" charset="0"/>
                <a:cs typeface="Times New Roman" pitchFamily="18" charset="0"/>
              </a:endParaRPr>
            </a:p>
          </p:txBody>
        </p:sp>
        <p:sp>
          <p:nvSpPr>
            <p:cNvPr id="7" name="AutoShape 9"/>
            <p:cNvSpPr>
              <a:spLocks noChangeArrowheads="1"/>
            </p:cNvSpPr>
            <p:nvPr/>
          </p:nvSpPr>
          <p:spPr bwMode="auto">
            <a:xfrm>
              <a:off x="3080" y="1472"/>
              <a:ext cx="1448" cy="2282"/>
            </a:xfrm>
            <a:prstGeom prst="roundRect">
              <a:avLst>
                <a:gd name="adj" fmla="val 6551"/>
              </a:avLst>
            </a:prstGeom>
            <a:solidFill>
              <a:srgbClr val="00FFFF"/>
            </a:solidFill>
            <a:ln w="9525">
              <a:solidFill>
                <a:schemeClr val="tx1"/>
              </a:solidFill>
              <a:miter lim="800000"/>
              <a:headEnd/>
              <a:tailEnd/>
            </a:ln>
          </p:spPr>
          <p:txBody>
            <a:bodyPr wrap="none" anchor="ctr"/>
            <a:lstStyle/>
            <a:p>
              <a:endParaRPr lang="zh-CN" altLang="en-US" dirty="0">
                <a:solidFill>
                  <a:srgbClr val="080808"/>
                </a:solidFill>
                <a:latin typeface="Times New Roman" pitchFamily="18" charset="0"/>
                <a:cs typeface="Times New Roman" pitchFamily="18" charset="0"/>
              </a:endParaRPr>
            </a:p>
          </p:txBody>
        </p:sp>
        <p:sp>
          <p:nvSpPr>
            <p:cNvPr id="8" name="Rectangle 10"/>
            <p:cNvSpPr>
              <a:spLocks noChangeArrowheads="1"/>
            </p:cNvSpPr>
            <p:nvPr/>
          </p:nvSpPr>
          <p:spPr bwMode="auto">
            <a:xfrm>
              <a:off x="2560" y="1472"/>
              <a:ext cx="650" cy="2280"/>
            </a:xfrm>
            <a:prstGeom prst="rect">
              <a:avLst/>
            </a:prstGeom>
            <a:solidFill>
              <a:srgbClr val="99FF33"/>
            </a:solidFill>
            <a:ln w="9525">
              <a:solidFill>
                <a:schemeClr val="tx1"/>
              </a:solidFill>
              <a:miter lim="800000"/>
              <a:headEnd/>
              <a:tailEnd/>
            </a:ln>
          </p:spPr>
          <p:txBody>
            <a:bodyPr wrap="none" anchor="ctr"/>
            <a:lstStyle/>
            <a:p>
              <a:endParaRPr lang="zh-CN" altLang="en-US">
                <a:solidFill>
                  <a:srgbClr val="080808"/>
                </a:solidFill>
                <a:latin typeface="Times New Roman" pitchFamily="18" charset="0"/>
                <a:cs typeface="Times New Roman" pitchFamily="18" charset="0"/>
              </a:endParaRPr>
            </a:p>
          </p:txBody>
        </p:sp>
        <p:grpSp>
          <p:nvGrpSpPr>
            <p:cNvPr id="9" name="Group 11"/>
            <p:cNvGrpSpPr>
              <a:grpSpLocks/>
            </p:cNvGrpSpPr>
            <p:nvPr/>
          </p:nvGrpSpPr>
          <p:grpSpPr bwMode="auto">
            <a:xfrm>
              <a:off x="1459" y="1487"/>
              <a:ext cx="3135" cy="2277"/>
              <a:chOff x="1459" y="1487"/>
              <a:chExt cx="3135" cy="2277"/>
            </a:xfrm>
          </p:grpSpPr>
          <p:sp>
            <p:nvSpPr>
              <p:cNvPr id="10" name="AutoShape 12"/>
              <p:cNvSpPr>
                <a:spLocks noChangeAspect="1" noChangeArrowheads="1" noTextEdit="1"/>
              </p:cNvSpPr>
              <p:nvPr/>
            </p:nvSpPr>
            <p:spPr bwMode="auto">
              <a:xfrm>
                <a:off x="1459" y="1487"/>
                <a:ext cx="3135" cy="2208"/>
              </a:xfrm>
              <a:prstGeom prst="rect">
                <a:avLst/>
              </a:prstGeom>
              <a:noFill/>
              <a:ln w="9525">
                <a:noFill/>
                <a:miter lim="800000"/>
                <a:headEnd/>
                <a:tailEnd/>
              </a:ln>
            </p:spPr>
            <p:txBody>
              <a:bodyPr/>
              <a:lstStyle/>
              <a:p>
                <a:endParaRPr lang="zh-CN" altLang="en-US" dirty="0">
                  <a:latin typeface="Times New Roman" pitchFamily="18" charset="0"/>
                  <a:cs typeface="Times New Roman" pitchFamily="18" charset="0"/>
                </a:endParaRPr>
              </a:p>
            </p:txBody>
          </p:sp>
          <p:sp>
            <p:nvSpPr>
              <p:cNvPr id="11" name="Rectangle 13"/>
              <p:cNvSpPr>
                <a:spLocks noChangeArrowheads="1"/>
              </p:cNvSpPr>
              <p:nvPr/>
            </p:nvSpPr>
            <p:spPr bwMode="auto">
              <a:xfrm>
                <a:off x="4281" y="2898"/>
                <a:ext cx="94" cy="210"/>
              </a:xfrm>
              <a:prstGeom prst="rect">
                <a:avLst/>
              </a:prstGeom>
              <a:noFill/>
              <a:ln w="9525">
                <a:noFill/>
                <a:miter lim="800000"/>
                <a:headEnd/>
                <a:tailEnd/>
              </a:ln>
            </p:spPr>
            <p:txBody>
              <a:bodyPr wrap="none" lIns="0" tIns="0" rIns="0" bIns="0">
                <a:spAutoFit/>
              </a:bodyPr>
              <a:lstStyle/>
              <a:p>
                <a:r>
                  <a:rPr lang="en-US" altLang="zh-CN" b="1" i="1" dirty="0">
                    <a:solidFill>
                      <a:srgbClr val="080808"/>
                    </a:solidFill>
                    <a:latin typeface="Times New Roman" pitchFamily="18" charset="0"/>
                    <a:cs typeface="Times New Roman" pitchFamily="18" charset="0"/>
                  </a:rPr>
                  <a:t>+</a:t>
                </a:r>
                <a:endParaRPr lang="en-US" altLang="zh-CN" sz="2000" b="1" dirty="0">
                  <a:solidFill>
                    <a:srgbClr val="080808"/>
                  </a:solidFill>
                  <a:latin typeface="Times New Roman" pitchFamily="18" charset="0"/>
                  <a:cs typeface="Times New Roman" pitchFamily="18" charset="0"/>
                </a:endParaRPr>
              </a:p>
            </p:txBody>
          </p:sp>
          <p:sp>
            <p:nvSpPr>
              <p:cNvPr id="12" name="Rectangle 14"/>
              <p:cNvSpPr>
                <a:spLocks noChangeArrowheads="1"/>
              </p:cNvSpPr>
              <p:nvPr/>
            </p:nvSpPr>
            <p:spPr bwMode="auto">
              <a:xfrm>
                <a:off x="4298" y="3169"/>
                <a:ext cx="82" cy="210"/>
              </a:xfrm>
              <a:prstGeom prst="rect">
                <a:avLst/>
              </a:prstGeom>
              <a:noFill/>
              <a:ln w="9525">
                <a:noFill/>
                <a:miter lim="800000"/>
                <a:headEnd/>
                <a:tailEnd/>
              </a:ln>
            </p:spPr>
            <p:txBody>
              <a:bodyPr wrap="none" lIns="0" tIns="0" rIns="0" bIns="0">
                <a:spAutoFit/>
              </a:bodyPr>
              <a:lstStyle/>
              <a:p>
                <a:r>
                  <a:rPr lang="en-US" altLang="zh-CN" b="1" i="1">
                    <a:solidFill>
                      <a:srgbClr val="080808"/>
                    </a:solidFill>
                    <a:latin typeface="Times New Roman" pitchFamily="18" charset="0"/>
                    <a:cs typeface="Times New Roman" pitchFamily="18" charset="0"/>
                  </a:rPr>
                  <a:t>_</a:t>
                </a:r>
                <a:endParaRPr lang="en-US" altLang="zh-CN" sz="2000" b="1">
                  <a:solidFill>
                    <a:srgbClr val="080808"/>
                  </a:solidFill>
                  <a:latin typeface="Times New Roman" pitchFamily="18" charset="0"/>
                  <a:cs typeface="Times New Roman" pitchFamily="18" charset="0"/>
                </a:endParaRPr>
              </a:p>
            </p:txBody>
          </p:sp>
          <p:sp>
            <p:nvSpPr>
              <p:cNvPr id="13" name="Rectangle 15"/>
              <p:cNvSpPr>
                <a:spLocks noChangeArrowheads="1"/>
              </p:cNvSpPr>
              <p:nvPr/>
            </p:nvSpPr>
            <p:spPr bwMode="auto">
              <a:xfrm>
                <a:off x="4243" y="3075"/>
                <a:ext cx="207" cy="210"/>
              </a:xfrm>
              <a:prstGeom prst="rect">
                <a:avLst/>
              </a:prstGeom>
              <a:noFill/>
              <a:ln w="9525">
                <a:noFill/>
                <a:miter lim="800000"/>
                <a:headEnd/>
                <a:tailEnd/>
              </a:ln>
            </p:spPr>
            <p:txBody>
              <a:bodyPr wrap="square" lIns="0" tIns="0" rIns="0" bIns="0">
                <a:spAutoFit/>
              </a:bodyPr>
              <a:lstStyle/>
              <a:p>
                <a:r>
                  <a:rPr lang="en-US" altLang="zh-CN" b="1" i="1" dirty="0">
                    <a:solidFill>
                      <a:srgbClr val="6600FF"/>
                    </a:solidFill>
                    <a:latin typeface="Times New Roman" pitchFamily="18" charset="0"/>
                    <a:ea typeface="微软雅黑" pitchFamily="34" charset="-122"/>
                    <a:cs typeface="Times New Roman" pitchFamily="18" charset="0"/>
                    <a:sym typeface="Symbol" pitchFamily="18" charset="2"/>
                  </a:rPr>
                  <a:t></a:t>
                </a:r>
                <a:r>
                  <a:rPr lang="en-US" altLang="zh-CN" b="1" baseline="-25000" dirty="0">
                    <a:solidFill>
                      <a:srgbClr val="6600FF"/>
                    </a:solidFill>
                    <a:latin typeface="Times New Roman" pitchFamily="18" charset="0"/>
                    <a:ea typeface="微软雅黑" pitchFamily="34" charset="-122"/>
                    <a:cs typeface="Times New Roman" pitchFamily="18" charset="0"/>
                  </a:rPr>
                  <a:t>O</a:t>
                </a:r>
                <a:endParaRPr lang="en-US" altLang="zh-CN" sz="2000" dirty="0">
                  <a:solidFill>
                    <a:srgbClr val="080808"/>
                  </a:solidFill>
                  <a:latin typeface="Times New Roman" pitchFamily="18" charset="0"/>
                  <a:cs typeface="Times New Roman" pitchFamily="18" charset="0"/>
                </a:endParaRPr>
              </a:p>
            </p:txBody>
          </p:sp>
          <p:sp>
            <p:nvSpPr>
              <p:cNvPr id="15" name="Freeform 17"/>
              <p:cNvSpPr>
                <a:spLocks noEditPoints="1"/>
              </p:cNvSpPr>
              <p:nvPr/>
            </p:nvSpPr>
            <p:spPr bwMode="auto">
              <a:xfrm>
                <a:off x="2092" y="2422"/>
                <a:ext cx="374" cy="263"/>
              </a:xfrm>
              <a:custGeom>
                <a:avLst/>
                <a:gdLst>
                  <a:gd name="T0" fmla="*/ 188 w 374"/>
                  <a:gd name="T1" fmla="*/ 0 h 263"/>
                  <a:gd name="T2" fmla="*/ 188 w 374"/>
                  <a:gd name="T3" fmla="*/ 132 h 263"/>
                  <a:gd name="T4" fmla="*/ 93 w 374"/>
                  <a:gd name="T5" fmla="*/ 132 h 263"/>
                  <a:gd name="T6" fmla="*/ 281 w 374"/>
                  <a:gd name="T7" fmla="*/ 132 h 263"/>
                  <a:gd name="T8" fmla="*/ 234 w 374"/>
                  <a:gd name="T9" fmla="*/ 132 h 263"/>
                  <a:gd name="T10" fmla="*/ 290 w 374"/>
                  <a:gd name="T11" fmla="*/ 263 h 263"/>
                  <a:gd name="T12" fmla="*/ 374 w 374"/>
                  <a:gd name="T13" fmla="*/ 263 h 263"/>
                  <a:gd name="T14" fmla="*/ 140 w 374"/>
                  <a:gd name="T15" fmla="*/ 132 h 263"/>
                  <a:gd name="T16" fmla="*/ 82 w 374"/>
                  <a:gd name="T17" fmla="*/ 263 h 263"/>
                  <a:gd name="T18" fmla="*/ 0 w 374"/>
                  <a:gd name="T19" fmla="*/ 263 h 2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74"/>
                  <a:gd name="T31" fmla="*/ 0 h 263"/>
                  <a:gd name="T32" fmla="*/ 374 w 374"/>
                  <a:gd name="T33" fmla="*/ 263 h 2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74" h="263">
                    <a:moveTo>
                      <a:pt x="188" y="0"/>
                    </a:moveTo>
                    <a:lnTo>
                      <a:pt x="188" y="132"/>
                    </a:lnTo>
                    <a:moveTo>
                      <a:pt x="93" y="132"/>
                    </a:moveTo>
                    <a:lnTo>
                      <a:pt x="281" y="132"/>
                    </a:lnTo>
                    <a:moveTo>
                      <a:pt x="234" y="132"/>
                    </a:moveTo>
                    <a:lnTo>
                      <a:pt x="290" y="263"/>
                    </a:lnTo>
                    <a:lnTo>
                      <a:pt x="374" y="263"/>
                    </a:lnTo>
                    <a:moveTo>
                      <a:pt x="140" y="132"/>
                    </a:moveTo>
                    <a:lnTo>
                      <a:pt x="82" y="263"/>
                    </a:lnTo>
                    <a:lnTo>
                      <a:pt x="0" y="263"/>
                    </a:lnTo>
                  </a:path>
                </a:pathLst>
              </a:custGeom>
              <a:no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16" name="Freeform 18"/>
              <p:cNvSpPr>
                <a:spLocks/>
              </p:cNvSpPr>
              <p:nvPr/>
            </p:nvSpPr>
            <p:spPr bwMode="auto">
              <a:xfrm>
                <a:off x="2179" y="2650"/>
                <a:ext cx="31" cy="37"/>
              </a:xfrm>
              <a:custGeom>
                <a:avLst/>
                <a:gdLst>
                  <a:gd name="T0" fmla="*/ 2 w 31"/>
                  <a:gd name="T1" fmla="*/ 37 h 37"/>
                  <a:gd name="T2" fmla="*/ 0 w 31"/>
                  <a:gd name="T3" fmla="*/ 0 h 37"/>
                  <a:gd name="T4" fmla="*/ 31 w 31"/>
                  <a:gd name="T5" fmla="*/ 13 h 37"/>
                  <a:gd name="T6" fmla="*/ 2 w 31"/>
                  <a:gd name="T7" fmla="*/ 37 h 37"/>
                  <a:gd name="T8" fmla="*/ 0 60000 65536"/>
                  <a:gd name="T9" fmla="*/ 0 60000 65536"/>
                  <a:gd name="T10" fmla="*/ 0 60000 65536"/>
                  <a:gd name="T11" fmla="*/ 0 60000 65536"/>
                  <a:gd name="T12" fmla="*/ 0 w 31"/>
                  <a:gd name="T13" fmla="*/ 0 h 37"/>
                  <a:gd name="T14" fmla="*/ 31 w 31"/>
                  <a:gd name="T15" fmla="*/ 37 h 37"/>
                </a:gdLst>
                <a:ahLst/>
                <a:cxnLst>
                  <a:cxn ang="T8">
                    <a:pos x="T0" y="T1"/>
                  </a:cxn>
                  <a:cxn ang="T9">
                    <a:pos x="T2" y="T3"/>
                  </a:cxn>
                  <a:cxn ang="T10">
                    <a:pos x="T4" y="T5"/>
                  </a:cxn>
                  <a:cxn ang="T11">
                    <a:pos x="T6" y="T7"/>
                  </a:cxn>
                </a:cxnLst>
                <a:rect l="T12" t="T13" r="T14" b="T15"/>
                <a:pathLst>
                  <a:path w="31" h="37">
                    <a:moveTo>
                      <a:pt x="2" y="37"/>
                    </a:moveTo>
                    <a:lnTo>
                      <a:pt x="0" y="0"/>
                    </a:lnTo>
                    <a:lnTo>
                      <a:pt x="31" y="13"/>
                    </a:lnTo>
                    <a:lnTo>
                      <a:pt x="2" y="37"/>
                    </a:lnTo>
                    <a:close/>
                  </a:path>
                </a:pathLst>
              </a:custGeom>
              <a:solidFill>
                <a:srgbClr val="000000"/>
              </a:solidFill>
              <a:ln w="9525">
                <a:noFill/>
                <a:round/>
                <a:headEnd/>
                <a:tailEnd/>
              </a:ln>
            </p:spPr>
            <p:txBody>
              <a:bodyPr/>
              <a:lstStyle/>
              <a:p>
                <a:endParaRPr lang="zh-CN" altLang="en-US">
                  <a:latin typeface="Times New Roman" pitchFamily="18" charset="0"/>
                  <a:cs typeface="Times New Roman" pitchFamily="18" charset="0"/>
                </a:endParaRPr>
              </a:p>
            </p:txBody>
          </p:sp>
          <p:sp>
            <p:nvSpPr>
              <p:cNvPr id="17" name="Freeform 19"/>
              <p:cNvSpPr>
                <a:spLocks/>
              </p:cNvSpPr>
              <p:nvPr/>
            </p:nvSpPr>
            <p:spPr bwMode="auto">
              <a:xfrm>
                <a:off x="2179" y="2650"/>
                <a:ext cx="31" cy="37"/>
              </a:xfrm>
              <a:custGeom>
                <a:avLst/>
                <a:gdLst>
                  <a:gd name="T0" fmla="*/ 2 w 31"/>
                  <a:gd name="T1" fmla="*/ 37 h 37"/>
                  <a:gd name="T2" fmla="*/ 0 w 31"/>
                  <a:gd name="T3" fmla="*/ 0 h 37"/>
                  <a:gd name="T4" fmla="*/ 31 w 31"/>
                  <a:gd name="T5" fmla="*/ 13 h 37"/>
                  <a:gd name="T6" fmla="*/ 2 w 31"/>
                  <a:gd name="T7" fmla="*/ 37 h 37"/>
                  <a:gd name="T8" fmla="*/ 0 60000 65536"/>
                  <a:gd name="T9" fmla="*/ 0 60000 65536"/>
                  <a:gd name="T10" fmla="*/ 0 60000 65536"/>
                  <a:gd name="T11" fmla="*/ 0 60000 65536"/>
                  <a:gd name="T12" fmla="*/ 0 w 31"/>
                  <a:gd name="T13" fmla="*/ 0 h 37"/>
                  <a:gd name="T14" fmla="*/ 31 w 31"/>
                  <a:gd name="T15" fmla="*/ 37 h 37"/>
                </a:gdLst>
                <a:ahLst/>
                <a:cxnLst>
                  <a:cxn ang="T8">
                    <a:pos x="T0" y="T1"/>
                  </a:cxn>
                  <a:cxn ang="T9">
                    <a:pos x="T2" y="T3"/>
                  </a:cxn>
                  <a:cxn ang="T10">
                    <a:pos x="T4" y="T5"/>
                  </a:cxn>
                  <a:cxn ang="T11">
                    <a:pos x="T6" y="T7"/>
                  </a:cxn>
                </a:cxnLst>
                <a:rect l="T12" t="T13" r="T14" b="T15"/>
                <a:pathLst>
                  <a:path w="31" h="37">
                    <a:moveTo>
                      <a:pt x="2" y="37"/>
                    </a:moveTo>
                    <a:lnTo>
                      <a:pt x="0" y="0"/>
                    </a:lnTo>
                    <a:lnTo>
                      <a:pt x="31" y="13"/>
                    </a:lnTo>
                    <a:lnTo>
                      <a:pt x="2" y="37"/>
                    </a:lnTo>
                    <a:close/>
                  </a:path>
                </a:pathLst>
              </a:custGeom>
              <a:no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18" name="Rectangle 20"/>
              <p:cNvSpPr>
                <a:spLocks noChangeArrowheads="1"/>
              </p:cNvSpPr>
              <p:nvPr/>
            </p:nvSpPr>
            <p:spPr bwMode="auto">
              <a:xfrm>
                <a:off x="2223" y="2651"/>
                <a:ext cx="143" cy="192"/>
              </a:xfrm>
              <a:prstGeom prst="rect">
                <a:avLst/>
              </a:prstGeom>
              <a:noFill/>
              <a:ln w="9525">
                <a:noFill/>
                <a:miter lim="800000"/>
                <a:headEnd/>
                <a:tailEnd/>
              </a:ln>
            </p:spPr>
            <p:txBody>
              <a:bodyPr wrap="none" lIns="0" tIns="0" rIns="0" bIns="0">
                <a:spAutoFit/>
              </a:bodyPr>
              <a:lstStyle/>
              <a:p>
                <a:r>
                  <a:rPr lang="en-US" altLang="zh-CN" sz="1800" b="1" i="1" dirty="0">
                    <a:solidFill>
                      <a:srgbClr val="080808"/>
                    </a:solidFill>
                    <a:latin typeface="Times New Roman" pitchFamily="18" charset="0"/>
                    <a:cs typeface="Times New Roman" pitchFamily="18" charset="0"/>
                  </a:rPr>
                  <a:t>T</a:t>
                </a:r>
                <a:r>
                  <a:rPr lang="en-US" altLang="zh-CN" sz="1800" baseline="-25000" dirty="0">
                    <a:solidFill>
                      <a:srgbClr val="080808"/>
                    </a:solidFill>
                    <a:latin typeface="Times New Roman" pitchFamily="18" charset="0"/>
                    <a:cs typeface="Times New Roman" pitchFamily="18" charset="0"/>
                  </a:rPr>
                  <a:t>1</a:t>
                </a:r>
                <a:endParaRPr lang="en-US" altLang="zh-CN" sz="2000" baseline="-25000" dirty="0">
                  <a:solidFill>
                    <a:srgbClr val="080808"/>
                  </a:solidFill>
                  <a:latin typeface="Times New Roman" pitchFamily="18" charset="0"/>
                  <a:cs typeface="Times New Roman" pitchFamily="18" charset="0"/>
                </a:endParaRPr>
              </a:p>
            </p:txBody>
          </p:sp>
          <p:sp>
            <p:nvSpPr>
              <p:cNvPr id="20" name="Freeform 22"/>
              <p:cNvSpPr>
                <a:spLocks noEditPoints="1"/>
              </p:cNvSpPr>
              <p:nvPr/>
            </p:nvSpPr>
            <p:spPr bwMode="auto">
              <a:xfrm>
                <a:off x="2613" y="2509"/>
                <a:ext cx="279" cy="356"/>
              </a:xfrm>
              <a:custGeom>
                <a:avLst/>
                <a:gdLst>
                  <a:gd name="T0" fmla="*/ 0 w 279"/>
                  <a:gd name="T1" fmla="*/ 177 h 356"/>
                  <a:gd name="T2" fmla="*/ 139 w 279"/>
                  <a:gd name="T3" fmla="*/ 177 h 356"/>
                  <a:gd name="T4" fmla="*/ 139 w 279"/>
                  <a:gd name="T5" fmla="*/ 266 h 356"/>
                  <a:gd name="T6" fmla="*/ 139 w 279"/>
                  <a:gd name="T7" fmla="*/ 89 h 356"/>
                  <a:gd name="T8" fmla="*/ 139 w 279"/>
                  <a:gd name="T9" fmla="*/ 134 h 356"/>
                  <a:gd name="T10" fmla="*/ 279 w 279"/>
                  <a:gd name="T11" fmla="*/ 79 h 356"/>
                  <a:gd name="T12" fmla="*/ 279 w 279"/>
                  <a:gd name="T13" fmla="*/ 0 h 356"/>
                  <a:gd name="T14" fmla="*/ 139 w 279"/>
                  <a:gd name="T15" fmla="*/ 222 h 356"/>
                  <a:gd name="T16" fmla="*/ 279 w 279"/>
                  <a:gd name="T17" fmla="*/ 277 h 356"/>
                  <a:gd name="T18" fmla="*/ 279 w 279"/>
                  <a:gd name="T19" fmla="*/ 356 h 3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79"/>
                  <a:gd name="T31" fmla="*/ 0 h 356"/>
                  <a:gd name="T32" fmla="*/ 279 w 279"/>
                  <a:gd name="T33" fmla="*/ 356 h 35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79" h="356">
                    <a:moveTo>
                      <a:pt x="0" y="177"/>
                    </a:moveTo>
                    <a:lnTo>
                      <a:pt x="139" y="177"/>
                    </a:lnTo>
                    <a:moveTo>
                      <a:pt x="139" y="266"/>
                    </a:moveTo>
                    <a:lnTo>
                      <a:pt x="139" y="89"/>
                    </a:lnTo>
                    <a:moveTo>
                      <a:pt x="139" y="134"/>
                    </a:moveTo>
                    <a:lnTo>
                      <a:pt x="279" y="79"/>
                    </a:lnTo>
                    <a:lnTo>
                      <a:pt x="279" y="0"/>
                    </a:lnTo>
                    <a:moveTo>
                      <a:pt x="139" y="222"/>
                    </a:moveTo>
                    <a:lnTo>
                      <a:pt x="279" y="277"/>
                    </a:lnTo>
                    <a:lnTo>
                      <a:pt x="279" y="356"/>
                    </a:lnTo>
                  </a:path>
                </a:pathLst>
              </a:custGeom>
              <a:no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21" name="Freeform 23"/>
              <p:cNvSpPr>
                <a:spLocks/>
              </p:cNvSpPr>
              <p:nvPr/>
            </p:nvSpPr>
            <p:spPr bwMode="auto">
              <a:xfrm>
                <a:off x="2854" y="2760"/>
                <a:ext cx="39" cy="29"/>
              </a:xfrm>
              <a:custGeom>
                <a:avLst/>
                <a:gdLst>
                  <a:gd name="T0" fmla="*/ 39 w 39"/>
                  <a:gd name="T1" fmla="*/ 27 h 29"/>
                  <a:gd name="T2" fmla="*/ 0 w 39"/>
                  <a:gd name="T3" fmla="*/ 29 h 29"/>
                  <a:gd name="T4" fmla="*/ 13 w 39"/>
                  <a:gd name="T5" fmla="*/ 0 h 29"/>
                  <a:gd name="T6" fmla="*/ 39 w 39"/>
                  <a:gd name="T7" fmla="*/ 27 h 29"/>
                  <a:gd name="T8" fmla="*/ 0 60000 65536"/>
                  <a:gd name="T9" fmla="*/ 0 60000 65536"/>
                  <a:gd name="T10" fmla="*/ 0 60000 65536"/>
                  <a:gd name="T11" fmla="*/ 0 60000 65536"/>
                  <a:gd name="T12" fmla="*/ 0 w 39"/>
                  <a:gd name="T13" fmla="*/ 0 h 29"/>
                  <a:gd name="T14" fmla="*/ 39 w 39"/>
                  <a:gd name="T15" fmla="*/ 29 h 29"/>
                </a:gdLst>
                <a:ahLst/>
                <a:cxnLst>
                  <a:cxn ang="T8">
                    <a:pos x="T0" y="T1"/>
                  </a:cxn>
                  <a:cxn ang="T9">
                    <a:pos x="T2" y="T3"/>
                  </a:cxn>
                  <a:cxn ang="T10">
                    <a:pos x="T4" y="T5"/>
                  </a:cxn>
                  <a:cxn ang="T11">
                    <a:pos x="T6" y="T7"/>
                  </a:cxn>
                </a:cxnLst>
                <a:rect l="T12" t="T13" r="T14" b="T15"/>
                <a:pathLst>
                  <a:path w="39" h="29">
                    <a:moveTo>
                      <a:pt x="39" y="27"/>
                    </a:moveTo>
                    <a:lnTo>
                      <a:pt x="0" y="29"/>
                    </a:lnTo>
                    <a:lnTo>
                      <a:pt x="13" y="0"/>
                    </a:lnTo>
                    <a:lnTo>
                      <a:pt x="39" y="27"/>
                    </a:lnTo>
                    <a:close/>
                  </a:path>
                </a:pathLst>
              </a:custGeom>
              <a:solidFill>
                <a:srgbClr val="000000"/>
              </a:solidFill>
              <a:ln w="9525">
                <a:noFill/>
                <a:round/>
                <a:headEnd/>
                <a:tailEnd/>
              </a:ln>
            </p:spPr>
            <p:txBody>
              <a:bodyPr/>
              <a:lstStyle/>
              <a:p>
                <a:endParaRPr lang="zh-CN" altLang="en-US">
                  <a:latin typeface="Times New Roman" pitchFamily="18" charset="0"/>
                  <a:cs typeface="Times New Roman" pitchFamily="18" charset="0"/>
                </a:endParaRPr>
              </a:p>
            </p:txBody>
          </p:sp>
          <p:sp>
            <p:nvSpPr>
              <p:cNvPr id="22" name="Freeform 24"/>
              <p:cNvSpPr>
                <a:spLocks/>
              </p:cNvSpPr>
              <p:nvPr/>
            </p:nvSpPr>
            <p:spPr bwMode="auto">
              <a:xfrm>
                <a:off x="2854" y="2760"/>
                <a:ext cx="39" cy="29"/>
              </a:xfrm>
              <a:custGeom>
                <a:avLst/>
                <a:gdLst>
                  <a:gd name="T0" fmla="*/ 39 w 39"/>
                  <a:gd name="T1" fmla="*/ 27 h 29"/>
                  <a:gd name="T2" fmla="*/ 0 w 39"/>
                  <a:gd name="T3" fmla="*/ 29 h 29"/>
                  <a:gd name="T4" fmla="*/ 13 w 39"/>
                  <a:gd name="T5" fmla="*/ 0 h 29"/>
                  <a:gd name="T6" fmla="*/ 39 w 39"/>
                  <a:gd name="T7" fmla="*/ 27 h 29"/>
                  <a:gd name="T8" fmla="*/ 0 60000 65536"/>
                  <a:gd name="T9" fmla="*/ 0 60000 65536"/>
                  <a:gd name="T10" fmla="*/ 0 60000 65536"/>
                  <a:gd name="T11" fmla="*/ 0 60000 65536"/>
                  <a:gd name="T12" fmla="*/ 0 w 39"/>
                  <a:gd name="T13" fmla="*/ 0 h 29"/>
                  <a:gd name="T14" fmla="*/ 39 w 39"/>
                  <a:gd name="T15" fmla="*/ 29 h 29"/>
                </a:gdLst>
                <a:ahLst/>
                <a:cxnLst>
                  <a:cxn ang="T8">
                    <a:pos x="T0" y="T1"/>
                  </a:cxn>
                  <a:cxn ang="T9">
                    <a:pos x="T2" y="T3"/>
                  </a:cxn>
                  <a:cxn ang="T10">
                    <a:pos x="T4" y="T5"/>
                  </a:cxn>
                  <a:cxn ang="T11">
                    <a:pos x="T6" y="T7"/>
                  </a:cxn>
                </a:cxnLst>
                <a:rect l="T12" t="T13" r="T14" b="T15"/>
                <a:pathLst>
                  <a:path w="39" h="29">
                    <a:moveTo>
                      <a:pt x="39" y="27"/>
                    </a:moveTo>
                    <a:lnTo>
                      <a:pt x="0" y="29"/>
                    </a:lnTo>
                    <a:lnTo>
                      <a:pt x="13" y="0"/>
                    </a:lnTo>
                    <a:lnTo>
                      <a:pt x="39" y="27"/>
                    </a:lnTo>
                    <a:close/>
                  </a:path>
                </a:pathLst>
              </a:custGeom>
              <a:no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23" name="Rectangle 25"/>
              <p:cNvSpPr>
                <a:spLocks noChangeArrowheads="1"/>
              </p:cNvSpPr>
              <p:nvPr/>
            </p:nvSpPr>
            <p:spPr bwMode="auto">
              <a:xfrm>
                <a:off x="2909" y="2598"/>
                <a:ext cx="143" cy="192"/>
              </a:xfrm>
              <a:prstGeom prst="rect">
                <a:avLst/>
              </a:prstGeom>
              <a:noFill/>
              <a:ln w="9525">
                <a:noFill/>
                <a:miter lim="800000"/>
                <a:headEnd/>
                <a:tailEnd/>
              </a:ln>
            </p:spPr>
            <p:txBody>
              <a:bodyPr wrap="none" lIns="0" tIns="0" rIns="0" bIns="0">
                <a:spAutoFit/>
              </a:bodyPr>
              <a:lstStyle/>
              <a:p>
                <a:r>
                  <a:rPr lang="en-US" altLang="zh-CN" b="1" i="1" dirty="0">
                    <a:solidFill>
                      <a:srgbClr val="080808"/>
                    </a:solidFill>
                    <a:latin typeface="Times New Roman" pitchFamily="18" charset="0"/>
                    <a:cs typeface="Times New Roman" pitchFamily="18" charset="0"/>
                  </a:rPr>
                  <a:t>T</a:t>
                </a:r>
                <a:r>
                  <a:rPr lang="en-US" altLang="zh-CN" baseline="-25000" dirty="0">
                    <a:solidFill>
                      <a:srgbClr val="080808"/>
                    </a:solidFill>
                    <a:latin typeface="Times New Roman" pitchFamily="18" charset="0"/>
                    <a:cs typeface="Times New Roman" pitchFamily="18" charset="0"/>
                  </a:rPr>
                  <a:t>2</a:t>
                </a:r>
                <a:endParaRPr lang="en-US" altLang="zh-CN" sz="2000" baseline="-25000" dirty="0">
                  <a:solidFill>
                    <a:srgbClr val="080808"/>
                  </a:solidFill>
                  <a:latin typeface="Times New Roman" pitchFamily="18" charset="0"/>
                  <a:cs typeface="Times New Roman" pitchFamily="18" charset="0"/>
                </a:endParaRPr>
              </a:p>
            </p:txBody>
          </p:sp>
          <p:sp>
            <p:nvSpPr>
              <p:cNvPr id="25" name="Freeform 27"/>
              <p:cNvSpPr>
                <a:spLocks noEditPoints="1"/>
              </p:cNvSpPr>
              <p:nvPr/>
            </p:nvSpPr>
            <p:spPr bwMode="auto">
              <a:xfrm>
                <a:off x="3303" y="2173"/>
                <a:ext cx="280" cy="350"/>
              </a:xfrm>
              <a:custGeom>
                <a:avLst/>
                <a:gdLst>
                  <a:gd name="T0" fmla="*/ 0 w 280"/>
                  <a:gd name="T1" fmla="*/ 175 h 350"/>
                  <a:gd name="T2" fmla="*/ 140 w 280"/>
                  <a:gd name="T3" fmla="*/ 175 h 350"/>
                  <a:gd name="T4" fmla="*/ 140 w 280"/>
                  <a:gd name="T5" fmla="*/ 263 h 350"/>
                  <a:gd name="T6" fmla="*/ 140 w 280"/>
                  <a:gd name="T7" fmla="*/ 88 h 350"/>
                  <a:gd name="T8" fmla="*/ 140 w 280"/>
                  <a:gd name="T9" fmla="*/ 131 h 350"/>
                  <a:gd name="T10" fmla="*/ 280 w 280"/>
                  <a:gd name="T11" fmla="*/ 78 h 350"/>
                  <a:gd name="T12" fmla="*/ 280 w 280"/>
                  <a:gd name="T13" fmla="*/ 0 h 350"/>
                  <a:gd name="T14" fmla="*/ 140 w 280"/>
                  <a:gd name="T15" fmla="*/ 220 h 350"/>
                  <a:gd name="T16" fmla="*/ 280 w 280"/>
                  <a:gd name="T17" fmla="*/ 274 h 350"/>
                  <a:gd name="T18" fmla="*/ 280 w 280"/>
                  <a:gd name="T19" fmla="*/ 350 h 3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0"/>
                  <a:gd name="T31" fmla="*/ 0 h 350"/>
                  <a:gd name="T32" fmla="*/ 280 w 280"/>
                  <a:gd name="T33" fmla="*/ 350 h 35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0" h="350">
                    <a:moveTo>
                      <a:pt x="0" y="175"/>
                    </a:moveTo>
                    <a:lnTo>
                      <a:pt x="140" y="175"/>
                    </a:lnTo>
                    <a:moveTo>
                      <a:pt x="140" y="263"/>
                    </a:moveTo>
                    <a:lnTo>
                      <a:pt x="140" y="88"/>
                    </a:lnTo>
                    <a:moveTo>
                      <a:pt x="140" y="131"/>
                    </a:moveTo>
                    <a:lnTo>
                      <a:pt x="280" y="78"/>
                    </a:lnTo>
                    <a:lnTo>
                      <a:pt x="280" y="0"/>
                    </a:lnTo>
                    <a:moveTo>
                      <a:pt x="140" y="220"/>
                    </a:moveTo>
                    <a:lnTo>
                      <a:pt x="280" y="274"/>
                    </a:lnTo>
                    <a:lnTo>
                      <a:pt x="280" y="350"/>
                    </a:lnTo>
                  </a:path>
                </a:pathLst>
              </a:custGeom>
              <a:noFill/>
              <a:ln w="22225" cap="rnd">
                <a:solidFill>
                  <a:srgbClr val="000000"/>
                </a:solidFill>
                <a:round/>
                <a:headEnd/>
                <a:tailEnd/>
              </a:ln>
            </p:spPr>
            <p:txBody>
              <a:bodyPr/>
              <a:lstStyle/>
              <a:p>
                <a:endParaRPr lang="zh-CN" altLang="en-US" dirty="0">
                  <a:latin typeface="Times New Roman" pitchFamily="18" charset="0"/>
                  <a:cs typeface="Times New Roman" pitchFamily="18" charset="0"/>
                </a:endParaRPr>
              </a:p>
            </p:txBody>
          </p:sp>
          <p:sp>
            <p:nvSpPr>
              <p:cNvPr id="26" name="Freeform 28"/>
              <p:cNvSpPr>
                <a:spLocks/>
              </p:cNvSpPr>
              <p:nvPr/>
            </p:nvSpPr>
            <p:spPr bwMode="auto">
              <a:xfrm>
                <a:off x="3546" y="2419"/>
                <a:ext cx="38" cy="30"/>
              </a:xfrm>
              <a:custGeom>
                <a:avLst/>
                <a:gdLst>
                  <a:gd name="T0" fmla="*/ 38 w 38"/>
                  <a:gd name="T1" fmla="*/ 28 h 30"/>
                  <a:gd name="T2" fmla="*/ 0 w 38"/>
                  <a:gd name="T3" fmla="*/ 30 h 30"/>
                  <a:gd name="T4" fmla="*/ 13 w 38"/>
                  <a:gd name="T5" fmla="*/ 0 h 30"/>
                  <a:gd name="T6" fmla="*/ 38 w 38"/>
                  <a:gd name="T7" fmla="*/ 28 h 30"/>
                  <a:gd name="T8" fmla="*/ 0 60000 65536"/>
                  <a:gd name="T9" fmla="*/ 0 60000 65536"/>
                  <a:gd name="T10" fmla="*/ 0 60000 65536"/>
                  <a:gd name="T11" fmla="*/ 0 60000 65536"/>
                  <a:gd name="T12" fmla="*/ 0 w 38"/>
                  <a:gd name="T13" fmla="*/ 0 h 30"/>
                  <a:gd name="T14" fmla="*/ 38 w 38"/>
                  <a:gd name="T15" fmla="*/ 30 h 30"/>
                </a:gdLst>
                <a:ahLst/>
                <a:cxnLst>
                  <a:cxn ang="T8">
                    <a:pos x="T0" y="T1"/>
                  </a:cxn>
                  <a:cxn ang="T9">
                    <a:pos x="T2" y="T3"/>
                  </a:cxn>
                  <a:cxn ang="T10">
                    <a:pos x="T4" y="T5"/>
                  </a:cxn>
                  <a:cxn ang="T11">
                    <a:pos x="T6" y="T7"/>
                  </a:cxn>
                </a:cxnLst>
                <a:rect l="T12" t="T13" r="T14" b="T15"/>
                <a:pathLst>
                  <a:path w="38" h="30">
                    <a:moveTo>
                      <a:pt x="38" y="28"/>
                    </a:moveTo>
                    <a:lnTo>
                      <a:pt x="0" y="30"/>
                    </a:lnTo>
                    <a:lnTo>
                      <a:pt x="13" y="0"/>
                    </a:lnTo>
                    <a:lnTo>
                      <a:pt x="38" y="28"/>
                    </a:lnTo>
                    <a:close/>
                  </a:path>
                </a:pathLst>
              </a:custGeom>
              <a:solidFill>
                <a:srgbClr val="000000"/>
              </a:solidFill>
              <a:ln w="9525">
                <a:noFill/>
                <a:round/>
                <a:headEnd/>
                <a:tailEnd/>
              </a:ln>
            </p:spPr>
            <p:txBody>
              <a:bodyPr/>
              <a:lstStyle/>
              <a:p>
                <a:endParaRPr lang="zh-CN" altLang="en-US">
                  <a:latin typeface="Times New Roman" pitchFamily="18" charset="0"/>
                  <a:cs typeface="Times New Roman" pitchFamily="18" charset="0"/>
                </a:endParaRPr>
              </a:p>
            </p:txBody>
          </p:sp>
          <p:sp>
            <p:nvSpPr>
              <p:cNvPr id="27" name="Freeform 29"/>
              <p:cNvSpPr>
                <a:spLocks/>
              </p:cNvSpPr>
              <p:nvPr/>
            </p:nvSpPr>
            <p:spPr bwMode="auto">
              <a:xfrm>
                <a:off x="3546" y="2419"/>
                <a:ext cx="38" cy="30"/>
              </a:xfrm>
              <a:custGeom>
                <a:avLst/>
                <a:gdLst>
                  <a:gd name="T0" fmla="*/ 38 w 38"/>
                  <a:gd name="T1" fmla="*/ 28 h 30"/>
                  <a:gd name="T2" fmla="*/ 0 w 38"/>
                  <a:gd name="T3" fmla="*/ 30 h 30"/>
                  <a:gd name="T4" fmla="*/ 13 w 38"/>
                  <a:gd name="T5" fmla="*/ 0 h 30"/>
                  <a:gd name="T6" fmla="*/ 38 w 38"/>
                  <a:gd name="T7" fmla="*/ 28 h 30"/>
                  <a:gd name="T8" fmla="*/ 0 60000 65536"/>
                  <a:gd name="T9" fmla="*/ 0 60000 65536"/>
                  <a:gd name="T10" fmla="*/ 0 60000 65536"/>
                  <a:gd name="T11" fmla="*/ 0 60000 65536"/>
                  <a:gd name="T12" fmla="*/ 0 w 38"/>
                  <a:gd name="T13" fmla="*/ 0 h 30"/>
                  <a:gd name="T14" fmla="*/ 38 w 38"/>
                  <a:gd name="T15" fmla="*/ 30 h 30"/>
                </a:gdLst>
                <a:ahLst/>
                <a:cxnLst>
                  <a:cxn ang="T8">
                    <a:pos x="T0" y="T1"/>
                  </a:cxn>
                  <a:cxn ang="T9">
                    <a:pos x="T2" y="T3"/>
                  </a:cxn>
                  <a:cxn ang="T10">
                    <a:pos x="T4" y="T5"/>
                  </a:cxn>
                  <a:cxn ang="T11">
                    <a:pos x="T6" y="T7"/>
                  </a:cxn>
                </a:cxnLst>
                <a:rect l="T12" t="T13" r="T14" b="T15"/>
                <a:pathLst>
                  <a:path w="38" h="30">
                    <a:moveTo>
                      <a:pt x="38" y="28"/>
                    </a:moveTo>
                    <a:lnTo>
                      <a:pt x="0" y="30"/>
                    </a:lnTo>
                    <a:lnTo>
                      <a:pt x="13" y="0"/>
                    </a:lnTo>
                    <a:lnTo>
                      <a:pt x="38" y="28"/>
                    </a:lnTo>
                    <a:close/>
                  </a:path>
                </a:pathLst>
              </a:custGeom>
              <a:no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28" name="Rectangle 30"/>
              <p:cNvSpPr>
                <a:spLocks noChangeArrowheads="1"/>
              </p:cNvSpPr>
              <p:nvPr/>
            </p:nvSpPr>
            <p:spPr bwMode="auto">
              <a:xfrm>
                <a:off x="3636" y="2155"/>
                <a:ext cx="143" cy="192"/>
              </a:xfrm>
              <a:prstGeom prst="rect">
                <a:avLst/>
              </a:prstGeom>
              <a:noFill/>
              <a:ln w="9525">
                <a:noFill/>
                <a:miter lim="800000"/>
                <a:headEnd/>
                <a:tailEnd/>
              </a:ln>
            </p:spPr>
            <p:txBody>
              <a:bodyPr wrap="none" lIns="0" tIns="0" rIns="0" bIns="0">
                <a:spAutoFit/>
              </a:bodyPr>
              <a:lstStyle/>
              <a:p>
                <a:r>
                  <a:rPr lang="en-US" altLang="zh-CN" b="1" i="1" dirty="0">
                    <a:solidFill>
                      <a:srgbClr val="080808"/>
                    </a:solidFill>
                    <a:latin typeface="Times New Roman" pitchFamily="18" charset="0"/>
                    <a:cs typeface="Times New Roman" pitchFamily="18" charset="0"/>
                  </a:rPr>
                  <a:t>T</a:t>
                </a:r>
                <a:r>
                  <a:rPr lang="en-US" altLang="zh-CN" baseline="-25000" dirty="0">
                    <a:solidFill>
                      <a:srgbClr val="080808"/>
                    </a:solidFill>
                    <a:latin typeface="Times New Roman" pitchFamily="18" charset="0"/>
                    <a:cs typeface="Times New Roman" pitchFamily="18" charset="0"/>
                  </a:rPr>
                  <a:t>4</a:t>
                </a:r>
                <a:endParaRPr lang="en-US" altLang="zh-CN" sz="2000" i="1" dirty="0">
                  <a:solidFill>
                    <a:srgbClr val="080808"/>
                  </a:solidFill>
                  <a:latin typeface="Times New Roman" pitchFamily="18" charset="0"/>
                  <a:cs typeface="Times New Roman" pitchFamily="18" charset="0"/>
                </a:endParaRPr>
              </a:p>
            </p:txBody>
          </p:sp>
          <p:sp>
            <p:nvSpPr>
              <p:cNvPr id="30" name="Freeform 32"/>
              <p:cNvSpPr>
                <a:spLocks noEditPoints="1"/>
              </p:cNvSpPr>
              <p:nvPr/>
            </p:nvSpPr>
            <p:spPr bwMode="auto">
              <a:xfrm>
                <a:off x="3304" y="2993"/>
                <a:ext cx="280" cy="350"/>
              </a:xfrm>
              <a:custGeom>
                <a:avLst/>
                <a:gdLst>
                  <a:gd name="T0" fmla="*/ 0 w 280"/>
                  <a:gd name="T1" fmla="*/ 175 h 350"/>
                  <a:gd name="T2" fmla="*/ 140 w 280"/>
                  <a:gd name="T3" fmla="*/ 175 h 350"/>
                  <a:gd name="T4" fmla="*/ 140 w 280"/>
                  <a:gd name="T5" fmla="*/ 262 h 350"/>
                  <a:gd name="T6" fmla="*/ 140 w 280"/>
                  <a:gd name="T7" fmla="*/ 87 h 350"/>
                  <a:gd name="T8" fmla="*/ 140 w 280"/>
                  <a:gd name="T9" fmla="*/ 132 h 350"/>
                  <a:gd name="T10" fmla="*/ 280 w 280"/>
                  <a:gd name="T11" fmla="*/ 78 h 350"/>
                  <a:gd name="T12" fmla="*/ 280 w 280"/>
                  <a:gd name="T13" fmla="*/ 0 h 350"/>
                  <a:gd name="T14" fmla="*/ 140 w 280"/>
                  <a:gd name="T15" fmla="*/ 219 h 350"/>
                  <a:gd name="T16" fmla="*/ 280 w 280"/>
                  <a:gd name="T17" fmla="*/ 273 h 350"/>
                  <a:gd name="T18" fmla="*/ 280 w 280"/>
                  <a:gd name="T19" fmla="*/ 350 h 3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0"/>
                  <a:gd name="T31" fmla="*/ 0 h 350"/>
                  <a:gd name="T32" fmla="*/ 280 w 280"/>
                  <a:gd name="T33" fmla="*/ 350 h 35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0" h="350">
                    <a:moveTo>
                      <a:pt x="0" y="175"/>
                    </a:moveTo>
                    <a:lnTo>
                      <a:pt x="140" y="175"/>
                    </a:lnTo>
                    <a:moveTo>
                      <a:pt x="140" y="262"/>
                    </a:moveTo>
                    <a:lnTo>
                      <a:pt x="140" y="87"/>
                    </a:lnTo>
                    <a:moveTo>
                      <a:pt x="140" y="132"/>
                    </a:moveTo>
                    <a:lnTo>
                      <a:pt x="280" y="78"/>
                    </a:lnTo>
                    <a:lnTo>
                      <a:pt x="280" y="0"/>
                    </a:lnTo>
                    <a:moveTo>
                      <a:pt x="140" y="219"/>
                    </a:moveTo>
                    <a:lnTo>
                      <a:pt x="280" y="273"/>
                    </a:lnTo>
                    <a:lnTo>
                      <a:pt x="280" y="350"/>
                    </a:lnTo>
                  </a:path>
                </a:pathLst>
              </a:custGeom>
              <a:no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31" name="Freeform 33"/>
              <p:cNvSpPr>
                <a:spLocks/>
              </p:cNvSpPr>
              <p:nvPr/>
            </p:nvSpPr>
            <p:spPr bwMode="auto">
              <a:xfrm>
                <a:off x="3546" y="3237"/>
                <a:ext cx="38" cy="30"/>
              </a:xfrm>
              <a:custGeom>
                <a:avLst/>
                <a:gdLst>
                  <a:gd name="T0" fmla="*/ 38 w 38"/>
                  <a:gd name="T1" fmla="*/ 27 h 30"/>
                  <a:gd name="T2" fmla="*/ 0 w 38"/>
                  <a:gd name="T3" fmla="*/ 30 h 30"/>
                  <a:gd name="T4" fmla="*/ 13 w 38"/>
                  <a:gd name="T5" fmla="*/ 0 h 30"/>
                  <a:gd name="T6" fmla="*/ 38 w 38"/>
                  <a:gd name="T7" fmla="*/ 27 h 30"/>
                  <a:gd name="T8" fmla="*/ 0 60000 65536"/>
                  <a:gd name="T9" fmla="*/ 0 60000 65536"/>
                  <a:gd name="T10" fmla="*/ 0 60000 65536"/>
                  <a:gd name="T11" fmla="*/ 0 60000 65536"/>
                  <a:gd name="T12" fmla="*/ 0 w 38"/>
                  <a:gd name="T13" fmla="*/ 0 h 30"/>
                  <a:gd name="T14" fmla="*/ 38 w 38"/>
                  <a:gd name="T15" fmla="*/ 30 h 30"/>
                </a:gdLst>
                <a:ahLst/>
                <a:cxnLst>
                  <a:cxn ang="T8">
                    <a:pos x="T0" y="T1"/>
                  </a:cxn>
                  <a:cxn ang="T9">
                    <a:pos x="T2" y="T3"/>
                  </a:cxn>
                  <a:cxn ang="T10">
                    <a:pos x="T4" y="T5"/>
                  </a:cxn>
                  <a:cxn ang="T11">
                    <a:pos x="T6" y="T7"/>
                  </a:cxn>
                </a:cxnLst>
                <a:rect l="T12" t="T13" r="T14" b="T15"/>
                <a:pathLst>
                  <a:path w="38" h="30">
                    <a:moveTo>
                      <a:pt x="38" y="27"/>
                    </a:moveTo>
                    <a:lnTo>
                      <a:pt x="0" y="30"/>
                    </a:lnTo>
                    <a:lnTo>
                      <a:pt x="13" y="0"/>
                    </a:lnTo>
                    <a:lnTo>
                      <a:pt x="38" y="27"/>
                    </a:lnTo>
                    <a:close/>
                  </a:path>
                </a:pathLst>
              </a:custGeom>
              <a:solidFill>
                <a:srgbClr val="000000"/>
              </a:solidFill>
              <a:ln w="9525">
                <a:noFill/>
                <a:round/>
                <a:headEnd/>
                <a:tailEnd/>
              </a:ln>
            </p:spPr>
            <p:txBody>
              <a:bodyPr/>
              <a:lstStyle/>
              <a:p>
                <a:endParaRPr lang="zh-CN" altLang="en-US">
                  <a:latin typeface="Times New Roman" pitchFamily="18" charset="0"/>
                  <a:cs typeface="Times New Roman" pitchFamily="18" charset="0"/>
                </a:endParaRPr>
              </a:p>
            </p:txBody>
          </p:sp>
          <p:sp>
            <p:nvSpPr>
              <p:cNvPr id="32" name="Freeform 34"/>
              <p:cNvSpPr>
                <a:spLocks/>
              </p:cNvSpPr>
              <p:nvPr/>
            </p:nvSpPr>
            <p:spPr bwMode="auto">
              <a:xfrm>
                <a:off x="3546" y="3237"/>
                <a:ext cx="38" cy="30"/>
              </a:xfrm>
              <a:custGeom>
                <a:avLst/>
                <a:gdLst>
                  <a:gd name="T0" fmla="*/ 38 w 38"/>
                  <a:gd name="T1" fmla="*/ 27 h 30"/>
                  <a:gd name="T2" fmla="*/ 0 w 38"/>
                  <a:gd name="T3" fmla="*/ 30 h 30"/>
                  <a:gd name="T4" fmla="*/ 13 w 38"/>
                  <a:gd name="T5" fmla="*/ 0 h 30"/>
                  <a:gd name="T6" fmla="*/ 38 w 38"/>
                  <a:gd name="T7" fmla="*/ 27 h 30"/>
                  <a:gd name="T8" fmla="*/ 0 60000 65536"/>
                  <a:gd name="T9" fmla="*/ 0 60000 65536"/>
                  <a:gd name="T10" fmla="*/ 0 60000 65536"/>
                  <a:gd name="T11" fmla="*/ 0 60000 65536"/>
                  <a:gd name="T12" fmla="*/ 0 w 38"/>
                  <a:gd name="T13" fmla="*/ 0 h 30"/>
                  <a:gd name="T14" fmla="*/ 38 w 38"/>
                  <a:gd name="T15" fmla="*/ 30 h 30"/>
                </a:gdLst>
                <a:ahLst/>
                <a:cxnLst>
                  <a:cxn ang="T8">
                    <a:pos x="T0" y="T1"/>
                  </a:cxn>
                  <a:cxn ang="T9">
                    <a:pos x="T2" y="T3"/>
                  </a:cxn>
                  <a:cxn ang="T10">
                    <a:pos x="T4" y="T5"/>
                  </a:cxn>
                  <a:cxn ang="T11">
                    <a:pos x="T6" y="T7"/>
                  </a:cxn>
                </a:cxnLst>
                <a:rect l="T12" t="T13" r="T14" b="T15"/>
                <a:pathLst>
                  <a:path w="38" h="30">
                    <a:moveTo>
                      <a:pt x="38" y="27"/>
                    </a:moveTo>
                    <a:lnTo>
                      <a:pt x="0" y="30"/>
                    </a:lnTo>
                    <a:lnTo>
                      <a:pt x="13" y="0"/>
                    </a:lnTo>
                    <a:lnTo>
                      <a:pt x="38" y="27"/>
                    </a:lnTo>
                    <a:close/>
                  </a:path>
                </a:pathLst>
              </a:custGeom>
              <a:no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33" name="Rectangle 35"/>
              <p:cNvSpPr>
                <a:spLocks noChangeArrowheads="1"/>
              </p:cNvSpPr>
              <p:nvPr/>
            </p:nvSpPr>
            <p:spPr bwMode="auto">
              <a:xfrm>
                <a:off x="3636" y="3133"/>
                <a:ext cx="143" cy="192"/>
              </a:xfrm>
              <a:prstGeom prst="rect">
                <a:avLst/>
              </a:prstGeom>
              <a:noFill/>
              <a:ln w="9525">
                <a:noFill/>
                <a:miter lim="800000"/>
                <a:headEnd/>
                <a:tailEnd/>
              </a:ln>
            </p:spPr>
            <p:txBody>
              <a:bodyPr wrap="none" lIns="0" tIns="0" rIns="0" bIns="0">
                <a:spAutoFit/>
              </a:bodyPr>
              <a:lstStyle/>
              <a:p>
                <a:r>
                  <a:rPr lang="en-US" altLang="zh-CN" b="1" i="1" dirty="0">
                    <a:solidFill>
                      <a:srgbClr val="080808"/>
                    </a:solidFill>
                    <a:latin typeface="Times New Roman" pitchFamily="18" charset="0"/>
                    <a:cs typeface="Times New Roman" pitchFamily="18" charset="0"/>
                  </a:rPr>
                  <a:t>T</a:t>
                </a:r>
                <a:r>
                  <a:rPr lang="en-US" altLang="zh-CN" baseline="-25000" dirty="0">
                    <a:solidFill>
                      <a:srgbClr val="080808"/>
                    </a:solidFill>
                    <a:latin typeface="Times New Roman" pitchFamily="18" charset="0"/>
                    <a:cs typeface="Times New Roman" pitchFamily="18" charset="0"/>
                  </a:rPr>
                  <a:t>3</a:t>
                </a:r>
                <a:endParaRPr lang="en-US" altLang="zh-CN" sz="2000" dirty="0">
                  <a:solidFill>
                    <a:srgbClr val="080808"/>
                  </a:solidFill>
                  <a:latin typeface="Times New Roman" pitchFamily="18" charset="0"/>
                  <a:cs typeface="Times New Roman" pitchFamily="18" charset="0"/>
                </a:endParaRPr>
              </a:p>
            </p:txBody>
          </p:sp>
          <p:sp>
            <p:nvSpPr>
              <p:cNvPr id="35" name="Rectangle 37"/>
              <p:cNvSpPr>
                <a:spLocks noChangeArrowheads="1"/>
              </p:cNvSpPr>
              <p:nvPr/>
            </p:nvSpPr>
            <p:spPr bwMode="auto">
              <a:xfrm>
                <a:off x="2243" y="1919"/>
                <a:ext cx="81" cy="191"/>
              </a:xfrm>
              <a:prstGeom prst="rect">
                <a:avLst/>
              </a:prstGeom>
              <a:solidFill>
                <a:srgbClr val="FFFFFF"/>
              </a:solidFill>
              <a:ln w="9525">
                <a:noFill/>
                <a:miter lim="800000"/>
                <a:headEnd/>
                <a:tailEnd/>
              </a:ln>
            </p:spPr>
            <p:txBody>
              <a:bodyPr/>
              <a:lstStyle/>
              <a:p>
                <a:endParaRPr lang="zh-CN" altLang="en-US">
                  <a:solidFill>
                    <a:srgbClr val="080808"/>
                  </a:solidFill>
                  <a:latin typeface="Times New Roman" pitchFamily="18" charset="0"/>
                  <a:cs typeface="Times New Roman" pitchFamily="18" charset="0"/>
                </a:endParaRPr>
              </a:p>
            </p:txBody>
          </p:sp>
          <p:sp>
            <p:nvSpPr>
              <p:cNvPr id="36" name="Rectangle 38"/>
              <p:cNvSpPr>
                <a:spLocks noChangeArrowheads="1"/>
              </p:cNvSpPr>
              <p:nvPr/>
            </p:nvSpPr>
            <p:spPr bwMode="auto">
              <a:xfrm>
                <a:off x="2243" y="1919"/>
                <a:ext cx="81" cy="191"/>
              </a:xfrm>
              <a:prstGeom prst="rect">
                <a:avLst/>
              </a:prstGeom>
              <a:noFill/>
              <a:ln w="22225" cap="rnd">
                <a:solidFill>
                  <a:srgbClr val="000000"/>
                </a:solidFill>
                <a:round/>
                <a:headEnd/>
                <a:tailEnd/>
              </a:ln>
            </p:spPr>
            <p:txBody>
              <a:bodyPr/>
              <a:lstStyle/>
              <a:p>
                <a:endParaRPr lang="zh-CN" altLang="en-US">
                  <a:solidFill>
                    <a:srgbClr val="080808"/>
                  </a:solidFill>
                  <a:latin typeface="Times New Roman" pitchFamily="18" charset="0"/>
                  <a:cs typeface="Times New Roman" pitchFamily="18" charset="0"/>
                </a:endParaRPr>
              </a:p>
            </p:txBody>
          </p:sp>
          <p:sp>
            <p:nvSpPr>
              <p:cNvPr id="37" name="Rectangle 39"/>
              <p:cNvSpPr>
                <a:spLocks noChangeArrowheads="1"/>
              </p:cNvSpPr>
              <p:nvPr/>
            </p:nvSpPr>
            <p:spPr bwMode="auto">
              <a:xfrm>
                <a:off x="2022" y="1931"/>
                <a:ext cx="202" cy="192"/>
              </a:xfrm>
              <a:prstGeom prst="rect">
                <a:avLst/>
              </a:prstGeom>
              <a:noFill/>
              <a:ln w="9525">
                <a:noFill/>
                <a:miter lim="800000"/>
                <a:headEnd/>
                <a:tailEnd/>
              </a:ln>
            </p:spPr>
            <p:txBody>
              <a:bodyPr wrap="none" lIns="0" tIns="0" rIns="0" bIns="0">
                <a:spAutoFit/>
              </a:bodyPr>
              <a:lstStyle/>
              <a:p>
                <a:r>
                  <a:rPr lang="en-US" altLang="zh-CN" sz="1800" b="1" i="1" dirty="0">
                    <a:solidFill>
                      <a:srgbClr val="080808"/>
                    </a:solidFill>
                    <a:latin typeface="Times New Roman" pitchFamily="18" charset="0"/>
                    <a:cs typeface="Times New Roman" pitchFamily="18" charset="0"/>
                  </a:rPr>
                  <a:t>R</a:t>
                </a:r>
                <a:r>
                  <a:rPr lang="en-US" altLang="zh-CN" baseline="-25000" dirty="0">
                    <a:solidFill>
                      <a:srgbClr val="080808"/>
                    </a:solidFill>
                    <a:latin typeface="Times New Roman" pitchFamily="18" charset="0"/>
                    <a:cs typeface="Times New Roman" pitchFamily="18" charset="0"/>
                  </a:rPr>
                  <a:t>b1</a:t>
                </a:r>
                <a:endParaRPr lang="en-US" altLang="zh-CN" sz="2000" baseline="-25000" dirty="0">
                  <a:solidFill>
                    <a:srgbClr val="080808"/>
                  </a:solidFill>
                  <a:latin typeface="Times New Roman" pitchFamily="18" charset="0"/>
                  <a:cs typeface="Times New Roman" pitchFamily="18" charset="0"/>
                </a:endParaRPr>
              </a:p>
            </p:txBody>
          </p:sp>
          <p:sp>
            <p:nvSpPr>
              <p:cNvPr id="39" name="Line 41"/>
              <p:cNvSpPr>
                <a:spLocks noChangeShapeType="1"/>
              </p:cNvSpPr>
              <p:nvPr/>
            </p:nvSpPr>
            <p:spPr bwMode="auto">
              <a:xfrm>
                <a:off x="2473" y="2685"/>
                <a:ext cx="139" cy="1"/>
              </a:xfrm>
              <a:prstGeom prst="line">
                <a:avLst/>
              </a:prstGeom>
              <a:no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40" name="Rectangle 42"/>
              <p:cNvSpPr>
                <a:spLocks noChangeArrowheads="1"/>
              </p:cNvSpPr>
              <p:nvPr/>
            </p:nvSpPr>
            <p:spPr bwMode="auto">
              <a:xfrm>
                <a:off x="3545" y="1919"/>
                <a:ext cx="81" cy="191"/>
              </a:xfrm>
              <a:prstGeom prst="rect">
                <a:avLst/>
              </a:prstGeom>
              <a:solidFill>
                <a:srgbClr val="FFFFFF"/>
              </a:solidFill>
              <a:ln w="9525">
                <a:noFill/>
                <a:miter lim="800000"/>
                <a:headEnd/>
                <a:tailEnd/>
              </a:ln>
            </p:spPr>
            <p:txBody>
              <a:bodyPr/>
              <a:lstStyle/>
              <a:p>
                <a:endParaRPr lang="zh-CN" altLang="en-US" dirty="0">
                  <a:solidFill>
                    <a:srgbClr val="080808"/>
                  </a:solidFill>
                  <a:latin typeface="Times New Roman" pitchFamily="18" charset="0"/>
                  <a:cs typeface="Times New Roman" pitchFamily="18" charset="0"/>
                </a:endParaRPr>
              </a:p>
            </p:txBody>
          </p:sp>
          <p:sp>
            <p:nvSpPr>
              <p:cNvPr id="41" name="Rectangle 43"/>
              <p:cNvSpPr>
                <a:spLocks noChangeArrowheads="1"/>
              </p:cNvSpPr>
              <p:nvPr/>
            </p:nvSpPr>
            <p:spPr bwMode="auto">
              <a:xfrm>
                <a:off x="3541" y="1919"/>
                <a:ext cx="81" cy="191"/>
              </a:xfrm>
              <a:prstGeom prst="rect">
                <a:avLst/>
              </a:prstGeom>
              <a:noFill/>
              <a:ln w="22225" cap="rnd">
                <a:solidFill>
                  <a:srgbClr val="000000"/>
                </a:solidFill>
                <a:round/>
                <a:headEnd/>
                <a:tailEnd/>
              </a:ln>
            </p:spPr>
            <p:txBody>
              <a:bodyPr/>
              <a:lstStyle/>
              <a:p>
                <a:endParaRPr lang="zh-CN" altLang="en-US">
                  <a:solidFill>
                    <a:srgbClr val="080808"/>
                  </a:solidFill>
                  <a:latin typeface="Times New Roman" pitchFamily="18" charset="0"/>
                  <a:cs typeface="Times New Roman" pitchFamily="18" charset="0"/>
                </a:endParaRPr>
              </a:p>
            </p:txBody>
          </p:sp>
          <p:sp>
            <p:nvSpPr>
              <p:cNvPr id="42" name="Rectangle 44"/>
              <p:cNvSpPr>
                <a:spLocks noChangeArrowheads="1"/>
              </p:cNvSpPr>
              <p:nvPr/>
            </p:nvSpPr>
            <p:spPr bwMode="auto">
              <a:xfrm>
                <a:off x="3294" y="1885"/>
                <a:ext cx="238" cy="210"/>
              </a:xfrm>
              <a:prstGeom prst="rect">
                <a:avLst/>
              </a:prstGeom>
              <a:noFill/>
              <a:ln w="9525">
                <a:noFill/>
                <a:miter lim="800000"/>
                <a:headEnd/>
                <a:tailEnd/>
              </a:ln>
            </p:spPr>
            <p:txBody>
              <a:bodyPr wrap="none" lIns="0" tIns="0" rIns="0" bIns="0">
                <a:spAutoFit/>
              </a:bodyPr>
              <a:lstStyle/>
              <a:p>
                <a:r>
                  <a:rPr lang="en-US" altLang="zh-CN" b="1" i="1" dirty="0">
                    <a:solidFill>
                      <a:srgbClr val="080808"/>
                    </a:solidFill>
                    <a:latin typeface="Times New Roman" pitchFamily="18" charset="0"/>
                    <a:cs typeface="Times New Roman" pitchFamily="18" charset="0"/>
                  </a:rPr>
                  <a:t>R</a:t>
                </a:r>
                <a:r>
                  <a:rPr lang="en-US" altLang="zh-CN" baseline="-25000" dirty="0">
                    <a:solidFill>
                      <a:srgbClr val="080808"/>
                    </a:solidFill>
                    <a:latin typeface="Times New Roman" pitchFamily="18" charset="0"/>
                    <a:cs typeface="Times New Roman" pitchFamily="18" charset="0"/>
                  </a:rPr>
                  <a:t>C4</a:t>
                </a:r>
                <a:endParaRPr lang="en-US" altLang="zh-CN" sz="2000" baseline="-25000" dirty="0">
                  <a:solidFill>
                    <a:srgbClr val="080808"/>
                  </a:solidFill>
                  <a:latin typeface="Times New Roman" pitchFamily="18" charset="0"/>
                  <a:cs typeface="Times New Roman" pitchFamily="18" charset="0"/>
                </a:endParaRPr>
              </a:p>
            </p:txBody>
          </p:sp>
          <p:sp>
            <p:nvSpPr>
              <p:cNvPr id="44" name="Rectangle 46"/>
              <p:cNvSpPr>
                <a:spLocks noChangeArrowheads="1"/>
              </p:cNvSpPr>
              <p:nvPr/>
            </p:nvSpPr>
            <p:spPr bwMode="auto">
              <a:xfrm>
                <a:off x="2854" y="1919"/>
                <a:ext cx="80" cy="191"/>
              </a:xfrm>
              <a:prstGeom prst="rect">
                <a:avLst/>
              </a:prstGeom>
              <a:solidFill>
                <a:srgbClr val="FFFFFF"/>
              </a:solidFill>
              <a:ln w="9525">
                <a:noFill/>
                <a:miter lim="800000"/>
                <a:headEnd/>
                <a:tailEnd/>
              </a:ln>
            </p:spPr>
            <p:txBody>
              <a:bodyPr/>
              <a:lstStyle/>
              <a:p>
                <a:endParaRPr lang="zh-CN" altLang="en-US">
                  <a:solidFill>
                    <a:srgbClr val="080808"/>
                  </a:solidFill>
                  <a:latin typeface="Times New Roman" pitchFamily="18" charset="0"/>
                  <a:cs typeface="Times New Roman" pitchFamily="18" charset="0"/>
                </a:endParaRPr>
              </a:p>
            </p:txBody>
          </p:sp>
          <p:sp>
            <p:nvSpPr>
              <p:cNvPr id="45" name="Rectangle 47"/>
              <p:cNvSpPr>
                <a:spLocks noChangeArrowheads="1"/>
              </p:cNvSpPr>
              <p:nvPr/>
            </p:nvSpPr>
            <p:spPr bwMode="auto">
              <a:xfrm>
                <a:off x="2854" y="1919"/>
                <a:ext cx="80" cy="191"/>
              </a:xfrm>
              <a:prstGeom prst="rect">
                <a:avLst/>
              </a:prstGeom>
              <a:noFill/>
              <a:ln w="22225" cap="rnd">
                <a:solidFill>
                  <a:srgbClr val="000000"/>
                </a:solidFill>
                <a:round/>
                <a:headEnd/>
                <a:tailEnd/>
              </a:ln>
            </p:spPr>
            <p:txBody>
              <a:bodyPr/>
              <a:lstStyle/>
              <a:p>
                <a:endParaRPr lang="zh-CN" altLang="en-US">
                  <a:solidFill>
                    <a:srgbClr val="080808"/>
                  </a:solidFill>
                  <a:latin typeface="Times New Roman" pitchFamily="18" charset="0"/>
                  <a:cs typeface="Times New Roman" pitchFamily="18" charset="0"/>
                </a:endParaRPr>
              </a:p>
            </p:txBody>
          </p:sp>
          <p:sp>
            <p:nvSpPr>
              <p:cNvPr id="46" name="Rectangle 48"/>
              <p:cNvSpPr>
                <a:spLocks noChangeArrowheads="1"/>
              </p:cNvSpPr>
              <p:nvPr/>
            </p:nvSpPr>
            <p:spPr bwMode="auto">
              <a:xfrm>
                <a:off x="2615" y="1931"/>
                <a:ext cx="219" cy="405"/>
              </a:xfrm>
              <a:prstGeom prst="rect">
                <a:avLst/>
              </a:prstGeom>
              <a:noFill/>
              <a:ln w="9525">
                <a:noFill/>
                <a:miter lim="800000"/>
                <a:headEnd/>
                <a:tailEnd/>
              </a:ln>
            </p:spPr>
            <p:txBody>
              <a:bodyPr wrap="none" lIns="0" tIns="0" rIns="0" bIns="0">
                <a:spAutoFit/>
              </a:bodyPr>
              <a:lstStyle/>
              <a:p>
                <a:r>
                  <a:rPr lang="en-US" altLang="zh-CN" b="1" i="1" dirty="0">
                    <a:solidFill>
                      <a:srgbClr val="080808"/>
                    </a:solidFill>
                    <a:latin typeface="Times New Roman" pitchFamily="18" charset="0"/>
                    <a:cs typeface="Times New Roman" pitchFamily="18" charset="0"/>
                  </a:rPr>
                  <a:t>R</a:t>
                </a:r>
                <a:r>
                  <a:rPr lang="en-US" altLang="zh-CN" baseline="-25000" dirty="0">
                    <a:solidFill>
                      <a:srgbClr val="080808"/>
                    </a:solidFill>
                    <a:latin typeface="Times New Roman" pitchFamily="18" charset="0"/>
                    <a:cs typeface="Times New Roman" pitchFamily="18" charset="0"/>
                  </a:rPr>
                  <a:t>C2</a:t>
                </a:r>
                <a:endParaRPr lang="en-US" altLang="zh-CN" sz="2000" baseline="-25000" dirty="0">
                  <a:solidFill>
                    <a:srgbClr val="080808"/>
                  </a:solidFill>
                  <a:latin typeface="Times New Roman" pitchFamily="18" charset="0"/>
                  <a:cs typeface="Times New Roman" pitchFamily="18" charset="0"/>
                </a:endParaRPr>
              </a:p>
              <a:p>
                <a:endParaRPr lang="en-US" altLang="zh-CN" sz="2000" i="1" dirty="0">
                  <a:solidFill>
                    <a:srgbClr val="080808"/>
                  </a:solidFill>
                  <a:latin typeface="Times New Roman" pitchFamily="18" charset="0"/>
                  <a:cs typeface="Times New Roman" pitchFamily="18" charset="0"/>
                </a:endParaRPr>
              </a:p>
            </p:txBody>
          </p:sp>
          <p:sp>
            <p:nvSpPr>
              <p:cNvPr id="48" name="Rectangle 50"/>
              <p:cNvSpPr>
                <a:spLocks noChangeArrowheads="1"/>
              </p:cNvSpPr>
              <p:nvPr/>
            </p:nvSpPr>
            <p:spPr bwMode="auto">
              <a:xfrm>
                <a:off x="2854" y="3341"/>
                <a:ext cx="80" cy="190"/>
              </a:xfrm>
              <a:prstGeom prst="rect">
                <a:avLst/>
              </a:prstGeom>
              <a:solidFill>
                <a:srgbClr val="FFFFFF"/>
              </a:solidFill>
              <a:ln w="9525">
                <a:noFill/>
                <a:miter lim="800000"/>
                <a:headEnd/>
                <a:tailEnd/>
              </a:ln>
            </p:spPr>
            <p:txBody>
              <a:bodyPr/>
              <a:lstStyle/>
              <a:p>
                <a:endParaRPr lang="zh-CN" altLang="en-US">
                  <a:solidFill>
                    <a:srgbClr val="080808"/>
                  </a:solidFill>
                  <a:latin typeface="Times New Roman" pitchFamily="18" charset="0"/>
                  <a:cs typeface="Times New Roman" pitchFamily="18" charset="0"/>
                </a:endParaRPr>
              </a:p>
            </p:txBody>
          </p:sp>
          <p:sp>
            <p:nvSpPr>
              <p:cNvPr id="49" name="Rectangle 51"/>
              <p:cNvSpPr>
                <a:spLocks noChangeArrowheads="1"/>
              </p:cNvSpPr>
              <p:nvPr/>
            </p:nvSpPr>
            <p:spPr bwMode="auto">
              <a:xfrm>
                <a:off x="2854" y="3341"/>
                <a:ext cx="80" cy="190"/>
              </a:xfrm>
              <a:prstGeom prst="rect">
                <a:avLst/>
              </a:prstGeom>
              <a:noFill/>
              <a:ln w="22225" cap="rnd">
                <a:solidFill>
                  <a:srgbClr val="000000"/>
                </a:solidFill>
                <a:round/>
                <a:headEnd/>
                <a:tailEnd/>
              </a:ln>
            </p:spPr>
            <p:txBody>
              <a:bodyPr/>
              <a:lstStyle/>
              <a:p>
                <a:endParaRPr lang="zh-CN" altLang="en-US">
                  <a:solidFill>
                    <a:srgbClr val="080808"/>
                  </a:solidFill>
                  <a:latin typeface="Times New Roman" pitchFamily="18" charset="0"/>
                  <a:cs typeface="Times New Roman" pitchFamily="18" charset="0"/>
                </a:endParaRPr>
              </a:p>
            </p:txBody>
          </p:sp>
          <p:sp>
            <p:nvSpPr>
              <p:cNvPr id="50" name="Rectangle 52"/>
              <p:cNvSpPr>
                <a:spLocks noChangeArrowheads="1"/>
              </p:cNvSpPr>
              <p:nvPr/>
            </p:nvSpPr>
            <p:spPr bwMode="auto">
              <a:xfrm>
                <a:off x="2632" y="3359"/>
                <a:ext cx="197" cy="405"/>
              </a:xfrm>
              <a:prstGeom prst="rect">
                <a:avLst/>
              </a:prstGeom>
              <a:noFill/>
              <a:ln w="9525">
                <a:noFill/>
                <a:miter lim="800000"/>
                <a:headEnd/>
                <a:tailEnd/>
              </a:ln>
            </p:spPr>
            <p:txBody>
              <a:bodyPr wrap="none" lIns="0" tIns="0" rIns="0" bIns="0">
                <a:spAutoFit/>
              </a:bodyPr>
              <a:lstStyle/>
              <a:p>
                <a:r>
                  <a:rPr lang="en-US" altLang="zh-CN" b="1" i="1" dirty="0">
                    <a:solidFill>
                      <a:srgbClr val="080808"/>
                    </a:solidFill>
                    <a:latin typeface="Times New Roman" pitchFamily="18" charset="0"/>
                    <a:cs typeface="Times New Roman" pitchFamily="18" charset="0"/>
                  </a:rPr>
                  <a:t>R</a:t>
                </a:r>
                <a:r>
                  <a:rPr lang="en-US" altLang="zh-CN" baseline="-25000" dirty="0">
                    <a:solidFill>
                      <a:srgbClr val="080808"/>
                    </a:solidFill>
                    <a:latin typeface="Times New Roman" pitchFamily="18" charset="0"/>
                    <a:cs typeface="Times New Roman" pitchFamily="18" charset="0"/>
                  </a:rPr>
                  <a:t>e2</a:t>
                </a:r>
                <a:endParaRPr lang="en-US" altLang="zh-CN" sz="2000" baseline="-25000" dirty="0">
                  <a:solidFill>
                    <a:srgbClr val="080808"/>
                  </a:solidFill>
                  <a:latin typeface="Times New Roman" pitchFamily="18" charset="0"/>
                  <a:cs typeface="Times New Roman" pitchFamily="18" charset="0"/>
                </a:endParaRPr>
              </a:p>
              <a:p>
                <a:endParaRPr lang="en-US" altLang="zh-CN" sz="2000" i="1" dirty="0">
                  <a:solidFill>
                    <a:srgbClr val="080808"/>
                  </a:solidFill>
                  <a:latin typeface="Times New Roman" pitchFamily="18" charset="0"/>
                  <a:cs typeface="Times New Roman" pitchFamily="18" charset="0"/>
                </a:endParaRPr>
              </a:p>
            </p:txBody>
          </p:sp>
          <p:sp>
            <p:nvSpPr>
              <p:cNvPr id="52" name="Line 54"/>
              <p:cNvSpPr>
                <a:spLocks noChangeShapeType="1"/>
              </p:cNvSpPr>
              <p:nvPr/>
            </p:nvSpPr>
            <p:spPr bwMode="auto">
              <a:xfrm>
                <a:off x="2893" y="2864"/>
                <a:ext cx="1" cy="477"/>
              </a:xfrm>
              <a:prstGeom prst="line">
                <a:avLst/>
              </a:prstGeom>
              <a:no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53" name="Line 55"/>
              <p:cNvSpPr>
                <a:spLocks noChangeShapeType="1"/>
              </p:cNvSpPr>
              <p:nvPr/>
            </p:nvSpPr>
            <p:spPr bwMode="auto">
              <a:xfrm flipV="1">
                <a:off x="2893" y="2110"/>
                <a:ext cx="1" cy="404"/>
              </a:xfrm>
              <a:prstGeom prst="line">
                <a:avLst/>
              </a:prstGeom>
              <a:no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54" name="Line 56"/>
              <p:cNvSpPr>
                <a:spLocks noChangeShapeType="1"/>
              </p:cNvSpPr>
              <p:nvPr/>
            </p:nvSpPr>
            <p:spPr bwMode="auto">
              <a:xfrm flipH="1">
                <a:off x="2893" y="2347"/>
                <a:ext cx="411" cy="1"/>
              </a:xfrm>
              <a:prstGeom prst="line">
                <a:avLst/>
              </a:prstGeom>
              <a:no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55" name="Freeform 57"/>
              <p:cNvSpPr>
                <a:spLocks/>
              </p:cNvSpPr>
              <p:nvPr/>
            </p:nvSpPr>
            <p:spPr bwMode="auto">
              <a:xfrm>
                <a:off x="2861" y="2319"/>
                <a:ext cx="63" cy="59"/>
              </a:xfrm>
              <a:custGeom>
                <a:avLst/>
                <a:gdLst>
                  <a:gd name="T0" fmla="*/ 82 w 59"/>
                  <a:gd name="T1" fmla="*/ 29 h 59"/>
                  <a:gd name="T2" fmla="*/ 41 w 59"/>
                  <a:gd name="T3" fmla="*/ 0 h 59"/>
                  <a:gd name="T4" fmla="*/ 0 w 59"/>
                  <a:gd name="T5" fmla="*/ 29 h 59"/>
                  <a:gd name="T6" fmla="*/ 0 w 59"/>
                  <a:gd name="T7" fmla="*/ 29 h 59"/>
                  <a:gd name="T8" fmla="*/ 41 w 59"/>
                  <a:gd name="T9" fmla="*/ 59 h 59"/>
                  <a:gd name="T10" fmla="*/ 82 w 59"/>
                  <a:gd name="T11" fmla="*/ 29 h 59"/>
                  <a:gd name="T12" fmla="*/ 0 60000 65536"/>
                  <a:gd name="T13" fmla="*/ 0 60000 65536"/>
                  <a:gd name="T14" fmla="*/ 0 60000 65536"/>
                  <a:gd name="T15" fmla="*/ 0 60000 65536"/>
                  <a:gd name="T16" fmla="*/ 0 60000 65536"/>
                  <a:gd name="T17" fmla="*/ 0 60000 65536"/>
                  <a:gd name="T18" fmla="*/ 0 w 59"/>
                  <a:gd name="T19" fmla="*/ 0 h 59"/>
                  <a:gd name="T20" fmla="*/ 59 w 59"/>
                  <a:gd name="T21" fmla="*/ 59 h 59"/>
                </a:gdLst>
                <a:ahLst/>
                <a:cxnLst>
                  <a:cxn ang="T12">
                    <a:pos x="T0" y="T1"/>
                  </a:cxn>
                  <a:cxn ang="T13">
                    <a:pos x="T2" y="T3"/>
                  </a:cxn>
                  <a:cxn ang="T14">
                    <a:pos x="T4" y="T5"/>
                  </a:cxn>
                  <a:cxn ang="T15">
                    <a:pos x="T6" y="T7"/>
                  </a:cxn>
                  <a:cxn ang="T16">
                    <a:pos x="T8" y="T9"/>
                  </a:cxn>
                  <a:cxn ang="T17">
                    <a:pos x="T10" y="T11"/>
                  </a:cxn>
                </a:cxnLst>
                <a:rect l="T18" t="T19" r="T20" b="T21"/>
                <a:pathLst>
                  <a:path w="59" h="59">
                    <a:moveTo>
                      <a:pt x="59" y="29"/>
                    </a:moveTo>
                    <a:cubicBezTo>
                      <a:pt x="59" y="13"/>
                      <a:pt x="46" y="0"/>
                      <a:pt x="30" y="0"/>
                    </a:cubicBezTo>
                    <a:cubicBezTo>
                      <a:pt x="14" y="0"/>
                      <a:pt x="0" y="13"/>
                      <a:pt x="0" y="29"/>
                    </a:cubicBezTo>
                    <a:cubicBezTo>
                      <a:pt x="0" y="29"/>
                      <a:pt x="0" y="29"/>
                      <a:pt x="0" y="29"/>
                    </a:cubicBezTo>
                    <a:cubicBezTo>
                      <a:pt x="0" y="46"/>
                      <a:pt x="14" y="59"/>
                      <a:pt x="30" y="59"/>
                    </a:cubicBezTo>
                    <a:cubicBezTo>
                      <a:pt x="46" y="59"/>
                      <a:pt x="59" y="46"/>
                      <a:pt x="59" y="29"/>
                    </a:cubicBezTo>
                  </a:path>
                </a:pathLst>
              </a:custGeom>
              <a:solidFill>
                <a:srgbClr val="000000"/>
              </a:solidFill>
              <a:ln w="0">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56" name="Line 58"/>
              <p:cNvSpPr>
                <a:spLocks noChangeShapeType="1"/>
              </p:cNvSpPr>
              <p:nvPr/>
            </p:nvSpPr>
            <p:spPr bwMode="auto">
              <a:xfrm flipH="1">
                <a:off x="2893" y="3168"/>
                <a:ext cx="411" cy="1"/>
              </a:xfrm>
              <a:prstGeom prst="line">
                <a:avLst/>
              </a:prstGeom>
              <a:no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57" name="Freeform 59"/>
              <p:cNvSpPr>
                <a:spLocks/>
              </p:cNvSpPr>
              <p:nvPr/>
            </p:nvSpPr>
            <p:spPr bwMode="auto">
              <a:xfrm>
                <a:off x="2861" y="3136"/>
                <a:ext cx="63" cy="59"/>
              </a:xfrm>
              <a:custGeom>
                <a:avLst/>
                <a:gdLst>
                  <a:gd name="T0" fmla="*/ 82 w 59"/>
                  <a:gd name="T1" fmla="*/ 30 h 59"/>
                  <a:gd name="T2" fmla="*/ 41 w 59"/>
                  <a:gd name="T3" fmla="*/ 0 h 59"/>
                  <a:gd name="T4" fmla="*/ 0 w 59"/>
                  <a:gd name="T5" fmla="*/ 30 h 59"/>
                  <a:gd name="T6" fmla="*/ 0 w 59"/>
                  <a:gd name="T7" fmla="*/ 30 h 59"/>
                  <a:gd name="T8" fmla="*/ 41 w 59"/>
                  <a:gd name="T9" fmla="*/ 59 h 59"/>
                  <a:gd name="T10" fmla="*/ 82 w 59"/>
                  <a:gd name="T11" fmla="*/ 30 h 59"/>
                  <a:gd name="T12" fmla="*/ 0 60000 65536"/>
                  <a:gd name="T13" fmla="*/ 0 60000 65536"/>
                  <a:gd name="T14" fmla="*/ 0 60000 65536"/>
                  <a:gd name="T15" fmla="*/ 0 60000 65536"/>
                  <a:gd name="T16" fmla="*/ 0 60000 65536"/>
                  <a:gd name="T17" fmla="*/ 0 60000 65536"/>
                  <a:gd name="T18" fmla="*/ 0 w 59"/>
                  <a:gd name="T19" fmla="*/ 0 h 59"/>
                  <a:gd name="T20" fmla="*/ 59 w 59"/>
                  <a:gd name="T21" fmla="*/ 59 h 59"/>
                </a:gdLst>
                <a:ahLst/>
                <a:cxnLst>
                  <a:cxn ang="T12">
                    <a:pos x="T0" y="T1"/>
                  </a:cxn>
                  <a:cxn ang="T13">
                    <a:pos x="T2" y="T3"/>
                  </a:cxn>
                  <a:cxn ang="T14">
                    <a:pos x="T4" y="T5"/>
                  </a:cxn>
                  <a:cxn ang="T15">
                    <a:pos x="T6" y="T7"/>
                  </a:cxn>
                  <a:cxn ang="T16">
                    <a:pos x="T8" y="T9"/>
                  </a:cxn>
                  <a:cxn ang="T17">
                    <a:pos x="T10" y="T11"/>
                  </a:cxn>
                </a:cxnLst>
                <a:rect l="T18" t="T19" r="T20" b="T21"/>
                <a:pathLst>
                  <a:path w="59" h="59">
                    <a:moveTo>
                      <a:pt x="59" y="30"/>
                    </a:moveTo>
                    <a:cubicBezTo>
                      <a:pt x="59" y="14"/>
                      <a:pt x="46" y="0"/>
                      <a:pt x="30" y="0"/>
                    </a:cubicBezTo>
                    <a:cubicBezTo>
                      <a:pt x="14" y="0"/>
                      <a:pt x="0" y="14"/>
                      <a:pt x="0" y="30"/>
                    </a:cubicBezTo>
                    <a:cubicBezTo>
                      <a:pt x="0" y="30"/>
                      <a:pt x="0" y="30"/>
                      <a:pt x="0" y="30"/>
                    </a:cubicBezTo>
                    <a:cubicBezTo>
                      <a:pt x="0" y="46"/>
                      <a:pt x="14" y="59"/>
                      <a:pt x="30" y="59"/>
                    </a:cubicBezTo>
                    <a:cubicBezTo>
                      <a:pt x="46" y="59"/>
                      <a:pt x="59" y="46"/>
                      <a:pt x="59" y="30"/>
                    </a:cubicBezTo>
                  </a:path>
                </a:pathLst>
              </a:custGeom>
              <a:solidFill>
                <a:srgbClr val="000000"/>
              </a:solidFill>
              <a:ln w="0">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58" name="Freeform 60"/>
              <p:cNvSpPr>
                <a:spLocks/>
              </p:cNvSpPr>
              <p:nvPr/>
            </p:nvSpPr>
            <p:spPr bwMode="auto">
              <a:xfrm>
                <a:off x="3535" y="2634"/>
                <a:ext cx="102" cy="95"/>
              </a:xfrm>
              <a:custGeom>
                <a:avLst/>
                <a:gdLst>
                  <a:gd name="T0" fmla="*/ 0 w 102"/>
                  <a:gd name="T1" fmla="*/ 0 h 95"/>
                  <a:gd name="T2" fmla="*/ 51 w 102"/>
                  <a:gd name="T3" fmla="*/ 95 h 95"/>
                  <a:gd name="T4" fmla="*/ 102 w 102"/>
                  <a:gd name="T5" fmla="*/ 0 h 95"/>
                  <a:gd name="T6" fmla="*/ 0 w 102"/>
                  <a:gd name="T7" fmla="*/ 0 h 95"/>
                  <a:gd name="T8" fmla="*/ 0 60000 65536"/>
                  <a:gd name="T9" fmla="*/ 0 60000 65536"/>
                  <a:gd name="T10" fmla="*/ 0 60000 65536"/>
                  <a:gd name="T11" fmla="*/ 0 60000 65536"/>
                  <a:gd name="T12" fmla="*/ 0 w 102"/>
                  <a:gd name="T13" fmla="*/ 0 h 95"/>
                  <a:gd name="T14" fmla="*/ 102 w 102"/>
                  <a:gd name="T15" fmla="*/ 95 h 95"/>
                </a:gdLst>
                <a:ahLst/>
                <a:cxnLst>
                  <a:cxn ang="T8">
                    <a:pos x="T0" y="T1"/>
                  </a:cxn>
                  <a:cxn ang="T9">
                    <a:pos x="T2" y="T3"/>
                  </a:cxn>
                  <a:cxn ang="T10">
                    <a:pos x="T4" y="T5"/>
                  </a:cxn>
                  <a:cxn ang="T11">
                    <a:pos x="T6" y="T7"/>
                  </a:cxn>
                </a:cxnLst>
                <a:rect l="T12" t="T13" r="T14" b="T15"/>
                <a:pathLst>
                  <a:path w="102" h="95">
                    <a:moveTo>
                      <a:pt x="0" y="0"/>
                    </a:moveTo>
                    <a:lnTo>
                      <a:pt x="51" y="95"/>
                    </a:lnTo>
                    <a:lnTo>
                      <a:pt x="102" y="0"/>
                    </a:lnTo>
                    <a:lnTo>
                      <a:pt x="0" y="0"/>
                    </a:lnTo>
                    <a:close/>
                  </a:path>
                </a:pathLst>
              </a:custGeom>
              <a:solidFill>
                <a:srgbClr val="000000"/>
              </a:solidFill>
              <a:ln w="9525">
                <a:noFill/>
                <a:round/>
                <a:headEnd/>
                <a:tailEnd/>
              </a:ln>
            </p:spPr>
            <p:txBody>
              <a:bodyPr/>
              <a:lstStyle/>
              <a:p>
                <a:endParaRPr lang="zh-CN" altLang="en-US">
                  <a:latin typeface="Times New Roman" pitchFamily="18" charset="0"/>
                  <a:cs typeface="Times New Roman" pitchFamily="18" charset="0"/>
                </a:endParaRPr>
              </a:p>
            </p:txBody>
          </p:sp>
          <p:sp>
            <p:nvSpPr>
              <p:cNvPr id="59" name="Freeform 61"/>
              <p:cNvSpPr>
                <a:spLocks noEditPoints="1"/>
              </p:cNvSpPr>
              <p:nvPr/>
            </p:nvSpPr>
            <p:spPr bwMode="auto">
              <a:xfrm>
                <a:off x="3535" y="2634"/>
                <a:ext cx="102" cy="95"/>
              </a:xfrm>
              <a:custGeom>
                <a:avLst/>
                <a:gdLst>
                  <a:gd name="T0" fmla="*/ 102 w 102"/>
                  <a:gd name="T1" fmla="*/ 95 h 95"/>
                  <a:gd name="T2" fmla="*/ 0 w 102"/>
                  <a:gd name="T3" fmla="*/ 95 h 95"/>
                  <a:gd name="T4" fmla="*/ 0 w 102"/>
                  <a:gd name="T5" fmla="*/ 0 h 95"/>
                  <a:gd name="T6" fmla="*/ 51 w 102"/>
                  <a:gd name="T7" fmla="*/ 95 h 95"/>
                  <a:gd name="T8" fmla="*/ 102 w 102"/>
                  <a:gd name="T9" fmla="*/ 0 h 95"/>
                  <a:gd name="T10" fmla="*/ 0 w 102"/>
                  <a:gd name="T11" fmla="*/ 0 h 95"/>
                  <a:gd name="T12" fmla="*/ 0 60000 65536"/>
                  <a:gd name="T13" fmla="*/ 0 60000 65536"/>
                  <a:gd name="T14" fmla="*/ 0 60000 65536"/>
                  <a:gd name="T15" fmla="*/ 0 60000 65536"/>
                  <a:gd name="T16" fmla="*/ 0 60000 65536"/>
                  <a:gd name="T17" fmla="*/ 0 60000 65536"/>
                  <a:gd name="T18" fmla="*/ 0 w 102"/>
                  <a:gd name="T19" fmla="*/ 0 h 95"/>
                  <a:gd name="T20" fmla="*/ 102 w 102"/>
                  <a:gd name="T21" fmla="*/ 95 h 95"/>
                </a:gdLst>
                <a:ahLst/>
                <a:cxnLst>
                  <a:cxn ang="T12">
                    <a:pos x="T0" y="T1"/>
                  </a:cxn>
                  <a:cxn ang="T13">
                    <a:pos x="T2" y="T3"/>
                  </a:cxn>
                  <a:cxn ang="T14">
                    <a:pos x="T4" y="T5"/>
                  </a:cxn>
                  <a:cxn ang="T15">
                    <a:pos x="T6" y="T7"/>
                  </a:cxn>
                  <a:cxn ang="T16">
                    <a:pos x="T8" y="T9"/>
                  </a:cxn>
                  <a:cxn ang="T17">
                    <a:pos x="T10" y="T11"/>
                  </a:cxn>
                </a:cxnLst>
                <a:rect l="T18" t="T19" r="T20" b="T21"/>
                <a:pathLst>
                  <a:path w="102" h="95">
                    <a:moveTo>
                      <a:pt x="102" y="95"/>
                    </a:moveTo>
                    <a:lnTo>
                      <a:pt x="0" y="95"/>
                    </a:lnTo>
                    <a:moveTo>
                      <a:pt x="0" y="0"/>
                    </a:moveTo>
                    <a:lnTo>
                      <a:pt x="51" y="95"/>
                    </a:lnTo>
                    <a:lnTo>
                      <a:pt x="102" y="0"/>
                    </a:lnTo>
                    <a:lnTo>
                      <a:pt x="0" y="0"/>
                    </a:lnTo>
                  </a:path>
                </a:pathLst>
              </a:custGeom>
              <a:no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60" name="Line 62"/>
              <p:cNvSpPr>
                <a:spLocks noChangeShapeType="1"/>
              </p:cNvSpPr>
              <p:nvPr/>
            </p:nvSpPr>
            <p:spPr bwMode="auto">
              <a:xfrm>
                <a:off x="3583" y="2491"/>
                <a:ext cx="1" cy="381"/>
              </a:xfrm>
              <a:prstGeom prst="line">
                <a:avLst/>
              </a:prstGeom>
              <a:no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61" name="Rectangle 63"/>
              <p:cNvSpPr>
                <a:spLocks noChangeArrowheads="1"/>
              </p:cNvSpPr>
              <p:nvPr/>
            </p:nvSpPr>
            <p:spPr bwMode="auto">
              <a:xfrm>
                <a:off x="3429" y="2614"/>
                <a:ext cx="85" cy="149"/>
              </a:xfrm>
              <a:prstGeom prst="rect">
                <a:avLst/>
              </a:prstGeom>
              <a:noFill/>
              <a:ln w="9525">
                <a:noFill/>
                <a:miter lim="800000"/>
                <a:headEnd/>
                <a:tailEnd/>
              </a:ln>
            </p:spPr>
            <p:txBody>
              <a:bodyPr wrap="none" lIns="0" tIns="0" rIns="0" bIns="0">
                <a:spAutoFit/>
              </a:bodyPr>
              <a:lstStyle/>
              <a:p>
                <a:r>
                  <a:rPr lang="en-US" altLang="zh-CN" sz="1400" b="0" dirty="0">
                    <a:solidFill>
                      <a:srgbClr val="080808"/>
                    </a:solidFill>
                    <a:latin typeface="Times New Roman" pitchFamily="18" charset="0"/>
                    <a:cs typeface="Times New Roman" pitchFamily="18" charset="0"/>
                  </a:rPr>
                  <a:t>D</a:t>
                </a:r>
                <a:endParaRPr lang="en-US" altLang="zh-CN" sz="2000" dirty="0">
                  <a:solidFill>
                    <a:srgbClr val="080808"/>
                  </a:solidFill>
                  <a:latin typeface="Times New Roman" pitchFamily="18" charset="0"/>
                  <a:cs typeface="Times New Roman" pitchFamily="18" charset="0"/>
                </a:endParaRPr>
              </a:p>
            </p:txBody>
          </p:sp>
          <p:sp>
            <p:nvSpPr>
              <p:cNvPr id="62" name="Line 64"/>
              <p:cNvSpPr>
                <a:spLocks noChangeShapeType="1"/>
              </p:cNvSpPr>
              <p:nvPr/>
            </p:nvSpPr>
            <p:spPr bwMode="auto">
              <a:xfrm flipH="1">
                <a:off x="3584" y="2872"/>
                <a:ext cx="2" cy="119"/>
              </a:xfrm>
              <a:prstGeom prst="line">
                <a:avLst/>
              </a:prstGeom>
              <a:no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63" name="Line 65"/>
              <p:cNvSpPr>
                <a:spLocks noChangeShapeType="1"/>
              </p:cNvSpPr>
              <p:nvPr/>
            </p:nvSpPr>
            <p:spPr bwMode="auto">
              <a:xfrm>
                <a:off x="2894" y="3531"/>
                <a:ext cx="1" cy="140"/>
              </a:xfrm>
              <a:prstGeom prst="line">
                <a:avLst/>
              </a:prstGeom>
              <a:no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64" name="Line 66"/>
              <p:cNvSpPr>
                <a:spLocks noChangeShapeType="1"/>
              </p:cNvSpPr>
              <p:nvPr/>
            </p:nvSpPr>
            <p:spPr bwMode="auto">
              <a:xfrm flipV="1">
                <a:off x="2826" y="3676"/>
                <a:ext cx="126" cy="0"/>
              </a:xfrm>
              <a:prstGeom prst="line">
                <a:avLst/>
              </a:prstGeom>
              <a:no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65" name="Line 67"/>
              <p:cNvSpPr>
                <a:spLocks noChangeShapeType="1"/>
              </p:cNvSpPr>
              <p:nvPr/>
            </p:nvSpPr>
            <p:spPr bwMode="auto">
              <a:xfrm>
                <a:off x="3584" y="3341"/>
                <a:ext cx="1" cy="229"/>
              </a:xfrm>
              <a:prstGeom prst="line">
                <a:avLst/>
              </a:prstGeom>
              <a:no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66" name="Line 68"/>
              <p:cNvSpPr>
                <a:spLocks noChangeShapeType="1"/>
              </p:cNvSpPr>
              <p:nvPr/>
            </p:nvSpPr>
            <p:spPr bwMode="auto">
              <a:xfrm>
                <a:off x="3518" y="3570"/>
                <a:ext cx="136" cy="0"/>
              </a:xfrm>
              <a:prstGeom prst="line">
                <a:avLst/>
              </a:prstGeom>
              <a:no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67" name="Line 69"/>
              <p:cNvSpPr>
                <a:spLocks noChangeShapeType="1"/>
              </p:cNvSpPr>
              <p:nvPr/>
            </p:nvSpPr>
            <p:spPr bwMode="auto">
              <a:xfrm flipH="1" flipV="1">
                <a:off x="2283" y="2110"/>
                <a:ext cx="4" cy="314"/>
              </a:xfrm>
              <a:prstGeom prst="line">
                <a:avLst/>
              </a:prstGeom>
              <a:no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68" name="Line 70"/>
              <p:cNvSpPr>
                <a:spLocks noChangeShapeType="1"/>
              </p:cNvSpPr>
              <p:nvPr/>
            </p:nvSpPr>
            <p:spPr bwMode="auto">
              <a:xfrm flipV="1">
                <a:off x="3582" y="2110"/>
                <a:ext cx="0" cy="144"/>
              </a:xfrm>
              <a:prstGeom prst="line">
                <a:avLst/>
              </a:prstGeom>
              <a:no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69" name="Freeform 71"/>
              <p:cNvSpPr>
                <a:spLocks/>
              </p:cNvSpPr>
              <p:nvPr/>
            </p:nvSpPr>
            <p:spPr bwMode="auto">
              <a:xfrm>
                <a:off x="2283" y="1666"/>
                <a:ext cx="1615" cy="253"/>
              </a:xfrm>
              <a:custGeom>
                <a:avLst/>
                <a:gdLst>
                  <a:gd name="T0" fmla="*/ 0 w 1615"/>
                  <a:gd name="T1" fmla="*/ 253 h 253"/>
                  <a:gd name="T2" fmla="*/ 0 w 1615"/>
                  <a:gd name="T3" fmla="*/ 0 h 253"/>
                  <a:gd name="T4" fmla="*/ 1615 w 1615"/>
                  <a:gd name="T5" fmla="*/ 0 h 253"/>
                  <a:gd name="T6" fmla="*/ 0 60000 65536"/>
                  <a:gd name="T7" fmla="*/ 0 60000 65536"/>
                  <a:gd name="T8" fmla="*/ 0 60000 65536"/>
                  <a:gd name="T9" fmla="*/ 0 w 1615"/>
                  <a:gd name="T10" fmla="*/ 0 h 253"/>
                  <a:gd name="T11" fmla="*/ 1615 w 1615"/>
                  <a:gd name="T12" fmla="*/ 253 h 253"/>
                </a:gdLst>
                <a:ahLst/>
                <a:cxnLst>
                  <a:cxn ang="T6">
                    <a:pos x="T0" y="T1"/>
                  </a:cxn>
                  <a:cxn ang="T7">
                    <a:pos x="T2" y="T3"/>
                  </a:cxn>
                  <a:cxn ang="T8">
                    <a:pos x="T4" y="T5"/>
                  </a:cxn>
                </a:cxnLst>
                <a:rect l="T9" t="T10" r="T11" b="T12"/>
                <a:pathLst>
                  <a:path w="1615" h="253">
                    <a:moveTo>
                      <a:pt x="0" y="253"/>
                    </a:moveTo>
                    <a:lnTo>
                      <a:pt x="0" y="0"/>
                    </a:lnTo>
                    <a:lnTo>
                      <a:pt x="1615" y="0"/>
                    </a:lnTo>
                  </a:path>
                </a:pathLst>
              </a:custGeom>
              <a:no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70" name="Line 72"/>
              <p:cNvSpPr>
                <a:spLocks noChangeShapeType="1"/>
              </p:cNvSpPr>
              <p:nvPr/>
            </p:nvSpPr>
            <p:spPr bwMode="auto">
              <a:xfrm flipV="1">
                <a:off x="2894" y="1666"/>
                <a:ext cx="1" cy="253"/>
              </a:xfrm>
              <a:prstGeom prst="line">
                <a:avLst/>
              </a:prstGeom>
              <a:no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71" name="Freeform 73"/>
              <p:cNvSpPr>
                <a:spLocks/>
              </p:cNvSpPr>
              <p:nvPr/>
            </p:nvSpPr>
            <p:spPr bwMode="auto">
              <a:xfrm>
                <a:off x="2863" y="1636"/>
                <a:ext cx="62" cy="58"/>
              </a:xfrm>
              <a:custGeom>
                <a:avLst/>
                <a:gdLst>
                  <a:gd name="T0" fmla="*/ 40 w 58"/>
                  <a:gd name="T1" fmla="*/ 54 h 59"/>
                  <a:gd name="T2" fmla="*/ 81 w 58"/>
                  <a:gd name="T3" fmla="*/ 29 h 59"/>
                  <a:gd name="T4" fmla="*/ 40 w 58"/>
                  <a:gd name="T5" fmla="*/ 0 h 59"/>
                  <a:gd name="T6" fmla="*/ 40 w 58"/>
                  <a:gd name="T7" fmla="*/ 0 h 59"/>
                  <a:gd name="T8" fmla="*/ 0 w 58"/>
                  <a:gd name="T9" fmla="*/ 29 h 59"/>
                  <a:gd name="T10" fmla="*/ 40 w 58"/>
                  <a:gd name="T11" fmla="*/ 54 h 59"/>
                  <a:gd name="T12" fmla="*/ 0 60000 65536"/>
                  <a:gd name="T13" fmla="*/ 0 60000 65536"/>
                  <a:gd name="T14" fmla="*/ 0 60000 65536"/>
                  <a:gd name="T15" fmla="*/ 0 60000 65536"/>
                  <a:gd name="T16" fmla="*/ 0 60000 65536"/>
                  <a:gd name="T17" fmla="*/ 0 60000 65536"/>
                  <a:gd name="T18" fmla="*/ 0 w 58"/>
                  <a:gd name="T19" fmla="*/ 0 h 59"/>
                  <a:gd name="T20" fmla="*/ 58 w 58"/>
                  <a:gd name="T21" fmla="*/ 59 h 59"/>
                </a:gdLst>
                <a:ahLst/>
                <a:cxnLst>
                  <a:cxn ang="T12">
                    <a:pos x="T0" y="T1"/>
                  </a:cxn>
                  <a:cxn ang="T13">
                    <a:pos x="T2" y="T3"/>
                  </a:cxn>
                  <a:cxn ang="T14">
                    <a:pos x="T4" y="T5"/>
                  </a:cxn>
                  <a:cxn ang="T15">
                    <a:pos x="T6" y="T7"/>
                  </a:cxn>
                  <a:cxn ang="T16">
                    <a:pos x="T8" y="T9"/>
                  </a:cxn>
                  <a:cxn ang="T17">
                    <a:pos x="T10" y="T11"/>
                  </a:cxn>
                </a:cxnLst>
                <a:rect l="T18" t="T19" r="T20" b="T21"/>
                <a:pathLst>
                  <a:path w="58" h="59">
                    <a:moveTo>
                      <a:pt x="29" y="59"/>
                    </a:moveTo>
                    <a:cubicBezTo>
                      <a:pt x="45" y="59"/>
                      <a:pt x="58" y="46"/>
                      <a:pt x="58" y="30"/>
                    </a:cubicBezTo>
                    <a:cubicBezTo>
                      <a:pt x="58" y="14"/>
                      <a:pt x="45" y="0"/>
                      <a:pt x="29" y="0"/>
                    </a:cubicBezTo>
                    <a:cubicBezTo>
                      <a:pt x="29" y="0"/>
                      <a:pt x="29" y="0"/>
                      <a:pt x="29" y="0"/>
                    </a:cubicBezTo>
                    <a:cubicBezTo>
                      <a:pt x="13" y="0"/>
                      <a:pt x="0" y="14"/>
                      <a:pt x="0" y="30"/>
                    </a:cubicBezTo>
                    <a:cubicBezTo>
                      <a:pt x="0" y="46"/>
                      <a:pt x="13" y="59"/>
                      <a:pt x="29" y="59"/>
                    </a:cubicBezTo>
                  </a:path>
                </a:pathLst>
              </a:custGeom>
              <a:solidFill>
                <a:srgbClr val="000000"/>
              </a:solidFill>
              <a:ln w="0">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72" name="Line 74"/>
              <p:cNvSpPr>
                <a:spLocks noChangeShapeType="1"/>
              </p:cNvSpPr>
              <p:nvPr/>
            </p:nvSpPr>
            <p:spPr bwMode="auto">
              <a:xfrm flipV="1">
                <a:off x="3582" y="1673"/>
                <a:ext cx="0" cy="246"/>
              </a:xfrm>
              <a:prstGeom prst="line">
                <a:avLst/>
              </a:prstGeom>
              <a:no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73" name="Freeform 75"/>
              <p:cNvSpPr>
                <a:spLocks/>
              </p:cNvSpPr>
              <p:nvPr/>
            </p:nvSpPr>
            <p:spPr bwMode="auto">
              <a:xfrm>
                <a:off x="3554" y="1636"/>
                <a:ext cx="63" cy="58"/>
              </a:xfrm>
              <a:custGeom>
                <a:avLst/>
                <a:gdLst>
                  <a:gd name="T0" fmla="*/ 41 w 59"/>
                  <a:gd name="T1" fmla="*/ 54 h 59"/>
                  <a:gd name="T2" fmla="*/ 82 w 59"/>
                  <a:gd name="T3" fmla="*/ 29 h 59"/>
                  <a:gd name="T4" fmla="*/ 41 w 59"/>
                  <a:gd name="T5" fmla="*/ 0 h 59"/>
                  <a:gd name="T6" fmla="*/ 41 w 59"/>
                  <a:gd name="T7" fmla="*/ 0 h 59"/>
                  <a:gd name="T8" fmla="*/ 0 w 59"/>
                  <a:gd name="T9" fmla="*/ 29 h 59"/>
                  <a:gd name="T10" fmla="*/ 41 w 59"/>
                  <a:gd name="T11" fmla="*/ 54 h 59"/>
                  <a:gd name="T12" fmla="*/ 0 60000 65536"/>
                  <a:gd name="T13" fmla="*/ 0 60000 65536"/>
                  <a:gd name="T14" fmla="*/ 0 60000 65536"/>
                  <a:gd name="T15" fmla="*/ 0 60000 65536"/>
                  <a:gd name="T16" fmla="*/ 0 60000 65536"/>
                  <a:gd name="T17" fmla="*/ 0 60000 65536"/>
                  <a:gd name="T18" fmla="*/ 0 w 59"/>
                  <a:gd name="T19" fmla="*/ 0 h 59"/>
                  <a:gd name="T20" fmla="*/ 59 w 59"/>
                  <a:gd name="T21" fmla="*/ 59 h 59"/>
                </a:gdLst>
                <a:ahLst/>
                <a:cxnLst>
                  <a:cxn ang="T12">
                    <a:pos x="T0" y="T1"/>
                  </a:cxn>
                  <a:cxn ang="T13">
                    <a:pos x="T2" y="T3"/>
                  </a:cxn>
                  <a:cxn ang="T14">
                    <a:pos x="T4" y="T5"/>
                  </a:cxn>
                  <a:cxn ang="T15">
                    <a:pos x="T6" y="T7"/>
                  </a:cxn>
                  <a:cxn ang="T16">
                    <a:pos x="T8" y="T9"/>
                  </a:cxn>
                  <a:cxn ang="T17">
                    <a:pos x="T10" y="T11"/>
                  </a:cxn>
                </a:cxnLst>
                <a:rect l="T18" t="T19" r="T20" b="T21"/>
                <a:pathLst>
                  <a:path w="59" h="59">
                    <a:moveTo>
                      <a:pt x="30" y="59"/>
                    </a:moveTo>
                    <a:cubicBezTo>
                      <a:pt x="46" y="59"/>
                      <a:pt x="59" y="46"/>
                      <a:pt x="59" y="30"/>
                    </a:cubicBezTo>
                    <a:cubicBezTo>
                      <a:pt x="59" y="14"/>
                      <a:pt x="46" y="0"/>
                      <a:pt x="30" y="0"/>
                    </a:cubicBezTo>
                    <a:cubicBezTo>
                      <a:pt x="30" y="0"/>
                      <a:pt x="30" y="0"/>
                      <a:pt x="30" y="0"/>
                    </a:cubicBezTo>
                    <a:cubicBezTo>
                      <a:pt x="14" y="0"/>
                      <a:pt x="0" y="14"/>
                      <a:pt x="0" y="30"/>
                    </a:cubicBezTo>
                    <a:cubicBezTo>
                      <a:pt x="0" y="46"/>
                      <a:pt x="14" y="59"/>
                      <a:pt x="30" y="59"/>
                    </a:cubicBezTo>
                  </a:path>
                </a:pathLst>
              </a:custGeom>
              <a:solidFill>
                <a:srgbClr val="000000"/>
              </a:solidFill>
              <a:ln w="0">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74" name="Line 76"/>
              <p:cNvSpPr>
                <a:spLocks noChangeShapeType="1"/>
              </p:cNvSpPr>
              <p:nvPr/>
            </p:nvSpPr>
            <p:spPr bwMode="auto">
              <a:xfrm flipH="1">
                <a:off x="1727" y="2685"/>
                <a:ext cx="372" cy="1"/>
              </a:xfrm>
              <a:prstGeom prst="line">
                <a:avLst/>
              </a:prstGeom>
              <a:no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75" name="Rectangle 77"/>
              <p:cNvSpPr>
                <a:spLocks noChangeArrowheads="1"/>
              </p:cNvSpPr>
              <p:nvPr/>
            </p:nvSpPr>
            <p:spPr bwMode="auto">
              <a:xfrm>
                <a:off x="4129" y="3062"/>
                <a:ext cx="81" cy="190"/>
              </a:xfrm>
              <a:prstGeom prst="rect">
                <a:avLst/>
              </a:prstGeom>
              <a:solidFill>
                <a:srgbClr val="FFFFFF"/>
              </a:solidFill>
              <a:ln w="9525">
                <a:noFill/>
                <a:miter lim="800000"/>
                <a:headEnd/>
                <a:tailEnd/>
              </a:ln>
            </p:spPr>
            <p:txBody>
              <a:bodyPr/>
              <a:lstStyle/>
              <a:p>
                <a:endParaRPr lang="zh-CN" altLang="en-US">
                  <a:solidFill>
                    <a:srgbClr val="080808"/>
                  </a:solidFill>
                  <a:latin typeface="Times New Roman" pitchFamily="18" charset="0"/>
                  <a:cs typeface="Times New Roman" pitchFamily="18" charset="0"/>
                </a:endParaRPr>
              </a:p>
            </p:txBody>
          </p:sp>
          <p:sp>
            <p:nvSpPr>
              <p:cNvPr id="76" name="Rectangle 78"/>
              <p:cNvSpPr>
                <a:spLocks noChangeArrowheads="1"/>
              </p:cNvSpPr>
              <p:nvPr/>
            </p:nvSpPr>
            <p:spPr bwMode="auto">
              <a:xfrm>
                <a:off x="4129" y="3062"/>
                <a:ext cx="81" cy="190"/>
              </a:xfrm>
              <a:prstGeom prst="rect">
                <a:avLst/>
              </a:prstGeom>
              <a:noFill/>
              <a:ln w="22225" cap="rnd">
                <a:solidFill>
                  <a:srgbClr val="000000"/>
                </a:solidFill>
                <a:round/>
                <a:headEnd/>
                <a:tailEnd/>
              </a:ln>
            </p:spPr>
            <p:txBody>
              <a:bodyPr/>
              <a:lstStyle/>
              <a:p>
                <a:endParaRPr lang="zh-CN" altLang="en-US">
                  <a:solidFill>
                    <a:srgbClr val="080808"/>
                  </a:solidFill>
                  <a:latin typeface="Times New Roman" pitchFamily="18" charset="0"/>
                  <a:cs typeface="Times New Roman" pitchFamily="18" charset="0"/>
                </a:endParaRPr>
              </a:p>
            </p:txBody>
          </p:sp>
          <p:sp>
            <p:nvSpPr>
              <p:cNvPr id="77" name="Rectangle 79"/>
              <p:cNvSpPr>
                <a:spLocks noChangeArrowheads="1"/>
              </p:cNvSpPr>
              <p:nvPr/>
            </p:nvSpPr>
            <p:spPr bwMode="auto">
              <a:xfrm>
                <a:off x="3938" y="3075"/>
                <a:ext cx="163" cy="192"/>
              </a:xfrm>
              <a:prstGeom prst="rect">
                <a:avLst/>
              </a:prstGeom>
              <a:noFill/>
              <a:ln w="9525">
                <a:noFill/>
                <a:miter lim="800000"/>
                <a:headEnd/>
                <a:tailEnd/>
              </a:ln>
            </p:spPr>
            <p:txBody>
              <a:bodyPr wrap="none" lIns="0" tIns="0" rIns="0" bIns="0">
                <a:spAutoFit/>
              </a:bodyPr>
              <a:lstStyle/>
              <a:p>
                <a:r>
                  <a:rPr lang="en-US" altLang="zh-CN" b="1" i="1" dirty="0">
                    <a:solidFill>
                      <a:srgbClr val="080808"/>
                    </a:solidFill>
                    <a:latin typeface="Times New Roman" pitchFamily="18" charset="0"/>
                    <a:cs typeface="Times New Roman" pitchFamily="18" charset="0"/>
                  </a:rPr>
                  <a:t>R</a:t>
                </a:r>
                <a:r>
                  <a:rPr lang="en-US" altLang="zh-CN" baseline="-25000" dirty="0">
                    <a:solidFill>
                      <a:srgbClr val="080808"/>
                    </a:solidFill>
                    <a:latin typeface="Times New Roman" pitchFamily="18" charset="0"/>
                    <a:cs typeface="Times New Roman" pitchFamily="18" charset="0"/>
                  </a:rPr>
                  <a:t>L</a:t>
                </a:r>
                <a:endParaRPr lang="en-US" altLang="zh-CN" sz="2000" baseline="-25000" dirty="0">
                  <a:solidFill>
                    <a:srgbClr val="080808"/>
                  </a:solidFill>
                  <a:latin typeface="Times New Roman" pitchFamily="18" charset="0"/>
                  <a:cs typeface="Times New Roman" pitchFamily="18" charset="0"/>
                </a:endParaRPr>
              </a:p>
            </p:txBody>
          </p:sp>
          <p:sp>
            <p:nvSpPr>
              <p:cNvPr id="79" name="Freeform 81"/>
              <p:cNvSpPr>
                <a:spLocks/>
              </p:cNvSpPr>
              <p:nvPr/>
            </p:nvSpPr>
            <p:spPr bwMode="auto">
              <a:xfrm>
                <a:off x="3586" y="2872"/>
                <a:ext cx="583" cy="190"/>
              </a:xfrm>
              <a:custGeom>
                <a:avLst/>
                <a:gdLst>
                  <a:gd name="T0" fmla="*/ 0 w 583"/>
                  <a:gd name="T1" fmla="*/ 0 h 190"/>
                  <a:gd name="T2" fmla="*/ 0 w 583"/>
                  <a:gd name="T3" fmla="*/ 47 h 190"/>
                  <a:gd name="T4" fmla="*/ 583 w 583"/>
                  <a:gd name="T5" fmla="*/ 47 h 190"/>
                  <a:gd name="T6" fmla="*/ 583 w 583"/>
                  <a:gd name="T7" fmla="*/ 190 h 190"/>
                  <a:gd name="T8" fmla="*/ 0 60000 65536"/>
                  <a:gd name="T9" fmla="*/ 0 60000 65536"/>
                  <a:gd name="T10" fmla="*/ 0 60000 65536"/>
                  <a:gd name="T11" fmla="*/ 0 60000 65536"/>
                  <a:gd name="T12" fmla="*/ 0 w 583"/>
                  <a:gd name="T13" fmla="*/ 0 h 190"/>
                  <a:gd name="T14" fmla="*/ 583 w 583"/>
                  <a:gd name="T15" fmla="*/ 190 h 190"/>
                </a:gdLst>
                <a:ahLst/>
                <a:cxnLst>
                  <a:cxn ang="T8">
                    <a:pos x="T0" y="T1"/>
                  </a:cxn>
                  <a:cxn ang="T9">
                    <a:pos x="T2" y="T3"/>
                  </a:cxn>
                  <a:cxn ang="T10">
                    <a:pos x="T4" y="T5"/>
                  </a:cxn>
                  <a:cxn ang="T11">
                    <a:pos x="T6" y="T7"/>
                  </a:cxn>
                </a:cxnLst>
                <a:rect l="T12" t="T13" r="T14" b="T15"/>
                <a:pathLst>
                  <a:path w="583" h="190">
                    <a:moveTo>
                      <a:pt x="0" y="0"/>
                    </a:moveTo>
                    <a:lnTo>
                      <a:pt x="0" y="47"/>
                    </a:lnTo>
                    <a:lnTo>
                      <a:pt x="583" y="47"/>
                    </a:lnTo>
                    <a:lnTo>
                      <a:pt x="583" y="190"/>
                    </a:lnTo>
                  </a:path>
                </a:pathLst>
              </a:custGeom>
              <a:no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80" name="Line 82"/>
              <p:cNvSpPr>
                <a:spLocks noChangeShapeType="1"/>
              </p:cNvSpPr>
              <p:nvPr/>
            </p:nvSpPr>
            <p:spPr bwMode="auto">
              <a:xfrm flipH="1">
                <a:off x="3586" y="2919"/>
                <a:ext cx="411" cy="1"/>
              </a:xfrm>
              <a:prstGeom prst="line">
                <a:avLst/>
              </a:prstGeom>
              <a:no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81" name="Freeform 83"/>
              <p:cNvSpPr>
                <a:spLocks/>
              </p:cNvSpPr>
              <p:nvPr/>
            </p:nvSpPr>
            <p:spPr bwMode="auto">
              <a:xfrm>
                <a:off x="3551" y="2889"/>
                <a:ext cx="63" cy="59"/>
              </a:xfrm>
              <a:custGeom>
                <a:avLst/>
                <a:gdLst>
                  <a:gd name="T0" fmla="*/ 82 w 59"/>
                  <a:gd name="T1" fmla="*/ 30 h 59"/>
                  <a:gd name="T2" fmla="*/ 41 w 59"/>
                  <a:gd name="T3" fmla="*/ 0 h 59"/>
                  <a:gd name="T4" fmla="*/ 0 w 59"/>
                  <a:gd name="T5" fmla="*/ 30 h 59"/>
                  <a:gd name="T6" fmla="*/ 0 w 59"/>
                  <a:gd name="T7" fmla="*/ 30 h 59"/>
                  <a:gd name="T8" fmla="*/ 41 w 59"/>
                  <a:gd name="T9" fmla="*/ 59 h 59"/>
                  <a:gd name="T10" fmla="*/ 82 w 59"/>
                  <a:gd name="T11" fmla="*/ 30 h 59"/>
                  <a:gd name="T12" fmla="*/ 0 60000 65536"/>
                  <a:gd name="T13" fmla="*/ 0 60000 65536"/>
                  <a:gd name="T14" fmla="*/ 0 60000 65536"/>
                  <a:gd name="T15" fmla="*/ 0 60000 65536"/>
                  <a:gd name="T16" fmla="*/ 0 60000 65536"/>
                  <a:gd name="T17" fmla="*/ 0 60000 65536"/>
                  <a:gd name="T18" fmla="*/ 0 w 59"/>
                  <a:gd name="T19" fmla="*/ 0 h 59"/>
                  <a:gd name="T20" fmla="*/ 59 w 59"/>
                  <a:gd name="T21" fmla="*/ 59 h 59"/>
                </a:gdLst>
                <a:ahLst/>
                <a:cxnLst>
                  <a:cxn ang="T12">
                    <a:pos x="T0" y="T1"/>
                  </a:cxn>
                  <a:cxn ang="T13">
                    <a:pos x="T2" y="T3"/>
                  </a:cxn>
                  <a:cxn ang="T14">
                    <a:pos x="T4" y="T5"/>
                  </a:cxn>
                  <a:cxn ang="T15">
                    <a:pos x="T6" y="T7"/>
                  </a:cxn>
                  <a:cxn ang="T16">
                    <a:pos x="T8" y="T9"/>
                  </a:cxn>
                  <a:cxn ang="T17">
                    <a:pos x="T10" y="T11"/>
                  </a:cxn>
                </a:cxnLst>
                <a:rect l="T18" t="T19" r="T20" b="T21"/>
                <a:pathLst>
                  <a:path w="59" h="59">
                    <a:moveTo>
                      <a:pt x="59" y="30"/>
                    </a:moveTo>
                    <a:cubicBezTo>
                      <a:pt x="59" y="14"/>
                      <a:pt x="46" y="0"/>
                      <a:pt x="30" y="0"/>
                    </a:cubicBezTo>
                    <a:cubicBezTo>
                      <a:pt x="14" y="0"/>
                      <a:pt x="0" y="14"/>
                      <a:pt x="0" y="30"/>
                    </a:cubicBezTo>
                    <a:cubicBezTo>
                      <a:pt x="0" y="30"/>
                      <a:pt x="0" y="30"/>
                      <a:pt x="0" y="30"/>
                    </a:cubicBezTo>
                    <a:cubicBezTo>
                      <a:pt x="0" y="46"/>
                      <a:pt x="14" y="59"/>
                      <a:pt x="30" y="59"/>
                    </a:cubicBezTo>
                    <a:cubicBezTo>
                      <a:pt x="46" y="59"/>
                      <a:pt x="59" y="46"/>
                      <a:pt x="59" y="30"/>
                    </a:cubicBezTo>
                  </a:path>
                </a:pathLst>
              </a:custGeom>
              <a:solidFill>
                <a:srgbClr val="000000"/>
              </a:solidFill>
              <a:ln w="0">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82" name="Line 84"/>
              <p:cNvSpPr>
                <a:spLocks noChangeShapeType="1"/>
              </p:cNvSpPr>
              <p:nvPr/>
            </p:nvSpPr>
            <p:spPr bwMode="auto">
              <a:xfrm flipH="1">
                <a:off x="4168" y="3252"/>
                <a:ext cx="0" cy="267"/>
              </a:xfrm>
              <a:prstGeom prst="line">
                <a:avLst/>
              </a:prstGeom>
              <a:no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83" name="Line 85"/>
              <p:cNvSpPr>
                <a:spLocks noChangeShapeType="1"/>
              </p:cNvSpPr>
              <p:nvPr/>
            </p:nvSpPr>
            <p:spPr bwMode="auto">
              <a:xfrm>
                <a:off x="4101" y="3519"/>
                <a:ext cx="136" cy="0"/>
              </a:xfrm>
              <a:prstGeom prst="line">
                <a:avLst/>
              </a:prstGeom>
              <a:no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84" name="Rectangle 86"/>
              <p:cNvSpPr>
                <a:spLocks noChangeArrowheads="1"/>
              </p:cNvSpPr>
              <p:nvPr/>
            </p:nvSpPr>
            <p:spPr bwMode="auto">
              <a:xfrm>
                <a:off x="1564" y="2566"/>
                <a:ext cx="126" cy="192"/>
              </a:xfrm>
              <a:prstGeom prst="rect">
                <a:avLst/>
              </a:prstGeom>
              <a:noFill/>
              <a:ln w="9525">
                <a:noFill/>
                <a:miter lim="800000"/>
                <a:headEnd/>
                <a:tailEnd/>
              </a:ln>
            </p:spPr>
            <p:txBody>
              <a:bodyPr wrap="none" lIns="0" tIns="0" rIns="0" bIns="0">
                <a:spAutoFit/>
              </a:bodyPr>
              <a:lstStyle/>
              <a:p>
                <a:r>
                  <a:rPr lang="en-US" altLang="zh-CN" b="1" i="1" dirty="0">
                    <a:solidFill>
                      <a:srgbClr val="6600FF"/>
                    </a:solidFill>
                    <a:latin typeface="Times New Roman" pitchFamily="18" charset="0"/>
                    <a:ea typeface="微软雅黑" pitchFamily="34" charset="-122"/>
                    <a:cs typeface="Times New Roman" pitchFamily="18" charset="0"/>
                    <a:sym typeface="Symbol" pitchFamily="18" charset="2"/>
                  </a:rPr>
                  <a:t></a:t>
                </a:r>
                <a:r>
                  <a:rPr lang="en-US" altLang="zh-CN" b="1" baseline="-25000" dirty="0">
                    <a:solidFill>
                      <a:srgbClr val="6600FF"/>
                    </a:solidFill>
                    <a:latin typeface="Times New Roman" pitchFamily="18" charset="0"/>
                    <a:ea typeface="微软雅黑" pitchFamily="34" charset="-122"/>
                    <a:cs typeface="Times New Roman" pitchFamily="18" charset="0"/>
                  </a:rPr>
                  <a:t>I</a:t>
                </a:r>
                <a:endParaRPr lang="en-US" altLang="zh-CN" sz="2000" dirty="0">
                  <a:latin typeface="Times New Roman" pitchFamily="18" charset="0"/>
                  <a:cs typeface="Times New Roman" pitchFamily="18" charset="0"/>
                </a:endParaRPr>
              </a:p>
            </p:txBody>
          </p:sp>
          <p:sp>
            <p:nvSpPr>
              <p:cNvPr id="86" name="Rectangle 88"/>
              <p:cNvSpPr>
                <a:spLocks noChangeArrowheads="1"/>
              </p:cNvSpPr>
              <p:nvPr/>
            </p:nvSpPr>
            <p:spPr bwMode="auto">
              <a:xfrm>
                <a:off x="2349" y="1963"/>
                <a:ext cx="118" cy="149"/>
              </a:xfrm>
              <a:prstGeom prst="rect">
                <a:avLst/>
              </a:prstGeom>
              <a:noFill/>
              <a:ln w="9525">
                <a:noFill/>
                <a:miter lim="800000"/>
                <a:headEnd/>
                <a:tailEnd/>
              </a:ln>
            </p:spPr>
            <p:txBody>
              <a:bodyPr wrap="none" lIns="0" tIns="0" rIns="0" bIns="0">
                <a:spAutoFit/>
              </a:bodyPr>
              <a:lstStyle/>
              <a:p>
                <a:r>
                  <a:rPr lang="en-US" altLang="zh-CN" sz="1400" b="0" dirty="0">
                    <a:solidFill>
                      <a:srgbClr val="080808"/>
                    </a:solidFill>
                    <a:latin typeface="Times New Roman" pitchFamily="18" charset="0"/>
                    <a:cs typeface="Times New Roman" pitchFamily="18" charset="0"/>
                  </a:rPr>
                  <a:t>4k</a:t>
                </a:r>
                <a:endParaRPr lang="en-US" altLang="zh-CN" sz="2000" dirty="0">
                  <a:solidFill>
                    <a:srgbClr val="080808"/>
                  </a:solidFill>
                  <a:latin typeface="Times New Roman" pitchFamily="18" charset="0"/>
                  <a:cs typeface="Times New Roman" pitchFamily="18" charset="0"/>
                </a:endParaRPr>
              </a:p>
            </p:txBody>
          </p:sp>
          <p:sp>
            <p:nvSpPr>
              <p:cNvPr id="87" name="Rectangle 89"/>
              <p:cNvSpPr>
                <a:spLocks noChangeArrowheads="1"/>
              </p:cNvSpPr>
              <p:nvPr/>
            </p:nvSpPr>
            <p:spPr bwMode="auto">
              <a:xfrm>
                <a:off x="2974" y="1963"/>
                <a:ext cx="205" cy="148"/>
              </a:xfrm>
              <a:prstGeom prst="rect">
                <a:avLst/>
              </a:prstGeom>
              <a:noFill/>
              <a:ln w="9525">
                <a:noFill/>
                <a:miter lim="800000"/>
                <a:headEnd/>
                <a:tailEnd/>
              </a:ln>
            </p:spPr>
            <p:txBody>
              <a:bodyPr wrap="none" lIns="0" tIns="0" rIns="0" bIns="0">
                <a:spAutoFit/>
              </a:bodyPr>
              <a:lstStyle/>
              <a:p>
                <a:r>
                  <a:rPr lang="en-US" altLang="zh-CN" sz="1400" b="0" dirty="0">
                    <a:solidFill>
                      <a:srgbClr val="080808"/>
                    </a:solidFill>
                    <a:latin typeface="Times New Roman" pitchFamily="18" charset="0"/>
                    <a:cs typeface="Times New Roman" pitchFamily="18" charset="0"/>
                  </a:rPr>
                  <a:t>1.6k</a:t>
                </a:r>
                <a:endParaRPr lang="en-US" altLang="zh-CN" sz="2000" dirty="0">
                  <a:solidFill>
                    <a:srgbClr val="080808"/>
                  </a:solidFill>
                  <a:latin typeface="Times New Roman" pitchFamily="18" charset="0"/>
                  <a:cs typeface="Times New Roman" pitchFamily="18" charset="0"/>
                </a:endParaRPr>
              </a:p>
            </p:txBody>
          </p:sp>
          <p:sp>
            <p:nvSpPr>
              <p:cNvPr id="88" name="Rectangle 90"/>
              <p:cNvSpPr>
                <a:spLocks noChangeArrowheads="1"/>
              </p:cNvSpPr>
              <p:nvPr/>
            </p:nvSpPr>
            <p:spPr bwMode="auto">
              <a:xfrm>
                <a:off x="3669" y="1942"/>
                <a:ext cx="177" cy="149"/>
              </a:xfrm>
              <a:prstGeom prst="rect">
                <a:avLst/>
              </a:prstGeom>
              <a:noFill/>
              <a:ln w="9525">
                <a:noFill/>
                <a:miter lim="800000"/>
                <a:headEnd/>
                <a:tailEnd/>
              </a:ln>
            </p:spPr>
            <p:txBody>
              <a:bodyPr wrap="none" lIns="0" tIns="0" rIns="0" bIns="0">
                <a:spAutoFit/>
              </a:bodyPr>
              <a:lstStyle/>
              <a:p>
                <a:r>
                  <a:rPr lang="en-US" altLang="zh-CN" sz="1400" b="0" dirty="0">
                    <a:solidFill>
                      <a:srgbClr val="080808"/>
                    </a:solidFill>
                    <a:latin typeface="Times New Roman" pitchFamily="18" charset="0"/>
                    <a:cs typeface="Times New Roman" pitchFamily="18" charset="0"/>
                  </a:rPr>
                  <a:t>130</a:t>
                </a:r>
                <a:endParaRPr lang="en-US" altLang="zh-CN" sz="2000" dirty="0">
                  <a:solidFill>
                    <a:srgbClr val="080808"/>
                  </a:solidFill>
                  <a:latin typeface="Times New Roman" pitchFamily="18" charset="0"/>
                  <a:cs typeface="Times New Roman" pitchFamily="18" charset="0"/>
                </a:endParaRPr>
              </a:p>
            </p:txBody>
          </p:sp>
          <p:sp>
            <p:nvSpPr>
              <p:cNvPr id="89" name="Rectangle 91"/>
              <p:cNvSpPr>
                <a:spLocks noChangeArrowheads="1"/>
              </p:cNvSpPr>
              <p:nvPr/>
            </p:nvSpPr>
            <p:spPr bwMode="auto">
              <a:xfrm>
                <a:off x="3785" y="1677"/>
                <a:ext cx="101" cy="192"/>
              </a:xfrm>
              <a:prstGeom prst="rect">
                <a:avLst/>
              </a:prstGeom>
              <a:noFill/>
              <a:ln w="9525">
                <a:noFill/>
                <a:miter lim="800000"/>
                <a:headEnd/>
                <a:tailEnd/>
              </a:ln>
            </p:spPr>
            <p:txBody>
              <a:bodyPr wrap="none" lIns="0" tIns="0" rIns="0" bIns="0">
                <a:spAutoFit/>
              </a:bodyPr>
              <a:lstStyle/>
              <a:p>
                <a:r>
                  <a:rPr lang="en-US" altLang="zh-CN" sz="1800" b="1" i="1" dirty="0">
                    <a:solidFill>
                      <a:srgbClr val="080808"/>
                    </a:solidFill>
                    <a:latin typeface="Times New Roman" pitchFamily="18" charset="0"/>
                    <a:cs typeface="Times New Roman" pitchFamily="18" charset="0"/>
                  </a:rPr>
                  <a:t>V</a:t>
                </a:r>
                <a:endParaRPr lang="en-US" altLang="zh-CN" sz="2000" b="1" dirty="0">
                  <a:solidFill>
                    <a:srgbClr val="080808"/>
                  </a:solidFill>
                  <a:latin typeface="Times New Roman" pitchFamily="18" charset="0"/>
                  <a:cs typeface="Times New Roman" pitchFamily="18" charset="0"/>
                </a:endParaRPr>
              </a:p>
            </p:txBody>
          </p:sp>
          <p:sp>
            <p:nvSpPr>
              <p:cNvPr id="90" name="Rectangle 92"/>
              <p:cNvSpPr>
                <a:spLocks noChangeArrowheads="1"/>
              </p:cNvSpPr>
              <p:nvPr/>
            </p:nvSpPr>
            <p:spPr bwMode="auto">
              <a:xfrm>
                <a:off x="3887" y="1773"/>
                <a:ext cx="134" cy="127"/>
              </a:xfrm>
              <a:prstGeom prst="rect">
                <a:avLst/>
              </a:prstGeom>
              <a:noFill/>
              <a:ln w="9525">
                <a:noFill/>
                <a:miter lim="800000"/>
                <a:headEnd/>
                <a:tailEnd/>
              </a:ln>
            </p:spPr>
            <p:txBody>
              <a:bodyPr wrap="none" lIns="0" tIns="0" rIns="0" bIns="0">
                <a:spAutoFit/>
              </a:bodyPr>
              <a:lstStyle/>
              <a:p>
                <a:r>
                  <a:rPr lang="en-US" altLang="zh-CN" sz="1200" b="0" dirty="0">
                    <a:solidFill>
                      <a:srgbClr val="080808"/>
                    </a:solidFill>
                    <a:latin typeface="Times New Roman" pitchFamily="18" charset="0"/>
                    <a:cs typeface="Times New Roman" pitchFamily="18" charset="0"/>
                  </a:rPr>
                  <a:t>CC</a:t>
                </a:r>
                <a:endParaRPr lang="en-US" altLang="zh-CN" sz="2000" dirty="0">
                  <a:solidFill>
                    <a:srgbClr val="080808"/>
                  </a:solidFill>
                  <a:latin typeface="Times New Roman" pitchFamily="18" charset="0"/>
                  <a:cs typeface="Times New Roman" pitchFamily="18" charset="0"/>
                </a:endParaRPr>
              </a:p>
            </p:txBody>
          </p:sp>
          <p:sp>
            <p:nvSpPr>
              <p:cNvPr id="91" name="Rectangle 93"/>
              <p:cNvSpPr>
                <a:spLocks noChangeArrowheads="1"/>
              </p:cNvSpPr>
              <p:nvPr/>
            </p:nvSpPr>
            <p:spPr bwMode="auto">
              <a:xfrm>
                <a:off x="4023" y="1677"/>
                <a:ext cx="286" cy="192"/>
              </a:xfrm>
              <a:prstGeom prst="rect">
                <a:avLst/>
              </a:prstGeom>
              <a:noFill/>
              <a:ln w="9525">
                <a:noFill/>
                <a:miter lim="800000"/>
                <a:headEnd/>
                <a:tailEnd/>
              </a:ln>
            </p:spPr>
            <p:txBody>
              <a:bodyPr wrap="none" lIns="0" tIns="0" rIns="0" bIns="0">
                <a:spAutoFit/>
              </a:bodyPr>
              <a:lstStyle/>
              <a:p>
                <a:r>
                  <a:rPr lang="en-US" altLang="zh-CN" sz="1800" b="0">
                    <a:solidFill>
                      <a:srgbClr val="080808"/>
                    </a:solidFill>
                    <a:latin typeface="Times New Roman" pitchFamily="18" charset="0"/>
                    <a:cs typeface="Times New Roman" pitchFamily="18" charset="0"/>
                  </a:rPr>
                  <a:t>(5V)</a:t>
                </a:r>
                <a:endParaRPr lang="en-US" altLang="zh-CN" sz="2000">
                  <a:solidFill>
                    <a:srgbClr val="080808"/>
                  </a:solidFill>
                  <a:latin typeface="Times New Roman" pitchFamily="18" charset="0"/>
                  <a:cs typeface="Times New Roman" pitchFamily="18" charset="0"/>
                </a:endParaRPr>
              </a:p>
            </p:txBody>
          </p:sp>
          <p:sp>
            <p:nvSpPr>
              <p:cNvPr id="92" name="Rectangle 94"/>
              <p:cNvSpPr>
                <a:spLocks noChangeArrowheads="1"/>
              </p:cNvSpPr>
              <p:nvPr/>
            </p:nvSpPr>
            <p:spPr bwMode="auto">
              <a:xfrm>
                <a:off x="2974" y="3371"/>
                <a:ext cx="117" cy="148"/>
              </a:xfrm>
              <a:prstGeom prst="rect">
                <a:avLst/>
              </a:prstGeom>
              <a:noFill/>
              <a:ln w="9525">
                <a:noFill/>
                <a:miter lim="800000"/>
                <a:headEnd/>
                <a:tailEnd/>
              </a:ln>
            </p:spPr>
            <p:txBody>
              <a:bodyPr wrap="none" lIns="0" tIns="0" rIns="0" bIns="0">
                <a:spAutoFit/>
              </a:bodyPr>
              <a:lstStyle/>
              <a:p>
                <a:r>
                  <a:rPr lang="en-US" altLang="zh-CN" sz="1400" b="0" dirty="0">
                    <a:solidFill>
                      <a:srgbClr val="080808"/>
                    </a:solidFill>
                    <a:latin typeface="Times New Roman" pitchFamily="18" charset="0"/>
                    <a:cs typeface="Times New Roman" pitchFamily="18" charset="0"/>
                  </a:rPr>
                  <a:t>1k</a:t>
                </a:r>
                <a:endParaRPr lang="en-US" altLang="zh-CN" sz="2000" dirty="0">
                  <a:solidFill>
                    <a:srgbClr val="080808"/>
                  </a:solidFill>
                  <a:latin typeface="Times New Roman" pitchFamily="18" charset="0"/>
                  <a:cs typeface="Times New Roman" pitchFamily="18" charset="0"/>
                </a:endParaRPr>
              </a:p>
            </p:txBody>
          </p:sp>
          <p:sp>
            <p:nvSpPr>
              <p:cNvPr id="98" name="Rectangle 100"/>
              <p:cNvSpPr>
                <a:spLocks noChangeArrowheads="1"/>
              </p:cNvSpPr>
              <p:nvPr/>
            </p:nvSpPr>
            <p:spPr bwMode="auto">
              <a:xfrm>
                <a:off x="1615" y="2852"/>
                <a:ext cx="0" cy="187"/>
              </a:xfrm>
              <a:prstGeom prst="rect">
                <a:avLst/>
              </a:prstGeom>
              <a:noFill/>
              <a:ln w="9525">
                <a:noFill/>
                <a:miter lim="800000"/>
                <a:headEnd/>
                <a:tailEnd/>
              </a:ln>
            </p:spPr>
            <p:txBody>
              <a:bodyPr wrap="none" lIns="0" tIns="0" rIns="0" bIns="0">
                <a:spAutoFit/>
              </a:bodyPr>
              <a:lstStyle/>
              <a:p>
                <a:endParaRPr lang="zh-CN" altLang="en-US" sz="1600" dirty="0">
                  <a:solidFill>
                    <a:srgbClr val="080808"/>
                  </a:solidFill>
                  <a:latin typeface="方正粗黑宋简体" pitchFamily="2" charset="-122"/>
                  <a:ea typeface="方正粗黑宋简体" pitchFamily="2" charset="-122"/>
                  <a:cs typeface="Times New Roman" pitchFamily="18" charset="0"/>
                </a:endParaRPr>
              </a:p>
            </p:txBody>
          </p:sp>
          <p:sp>
            <p:nvSpPr>
              <p:cNvPr id="100" name="Rectangle 102"/>
              <p:cNvSpPr>
                <a:spLocks noChangeArrowheads="1"/>
              </p:cNvSpPr>
              <p:nvPr/>
            </p:nvSpPr>
            <p:spPr bwMode="auto">
              <a:xfrm>
                <a:off x="1988" y="3185"/>
                <a:ext cx="0" cy="187"/>
              </a:xfrm>
              <a:prstGeom prst="rect">
                <a:avLst/>
              </a:prstGeom>
              <a:noFill/>
              <a:ln w="9525">
                <a:noFill/>
                <a:miter lim="800000"/>
                <a:headEnd/>
                <a:tailEnd/>
              </a:ln>
            </p:spPr>
            <p:txBody>
              <a:bodyPr wrap="none" lIns="0" tIns="0" rIns="0" bIns="0">
                <a:spAutoFit/>
              </a:bodyPr>
              <a:lstStyle/>
              <a:p>
                <a:endParaRPr lang="zh-CN" altLang="en-US" sz="1600" dirty="0">
                  <a:solidFill>
                    <a:srgbClr val="080808"/>
                  </a:solidFill>
                  <a:latin typeface="方正粗黑宋简体" pitchFamily="2" charset="-122"/>
                  <a:ea typeface="方正粗黑宋简体" pitchFamily="2" charset="-122"/>
                  <a:cs typeface="Times New Roman" pitchFamily="18" charset="0"/>
                </a:endParaRPr>
              </a:p>
            </p:txBody>
          </p:sp>
          <p:sp>
            <p:nvSpPr>
              <p:cNvPr id="101" name="Rectangle 103"/>
              <p:cNvSpPr>
                <a:spLocks noChangeArrowheads="1"/>
              </p:cNvSpPr>
              <p:nvPr/>
            </p:nvSpPr>
            <p:spPr bwMode="auto">
              <a:xfrm>
                <a:off x="1750" y="3359"/>
                <a:ext cx="0" cy="187"/>
              </a:xfrm>
              <a:prstGeom prst="rect">
                <a:avLst/>
              </a:prstGeom>
              <a:noFill/>
              <a:ln w="9525">
                <a:noFill/>
                <a:miter lim="800000"/>
                <a:headEnd/>
                <a:tailEnd/>
              </a:ln>
            </p:spPr>
            <p:txBody>
              <a:bodyPr wrap="none" lIns="0" tIns="0" rIns="0" bIns="0">
                <a:spAutoFit/>
              </a:bodyPr>
              <a:lstStyle/>
              <a:p>
                <a:endParaRPr lang="en-US" altLang="zh-CN" sz="1600" dirty="0">
                  <a:latin typeface="方正粗黑宋简体" pitchFamily="2" charset="-122"/>
                  <a:ea typeface="方正粗黑宋简体" pitchFamily="2" charset="-122"/>
                  <a:cs typeface="Times New Roman" pitchFamily="18" charset="0"/>
                </a:endParaRPr>
              </a:p>
            </p:txBody>
          </p:sp>
          <p:sp>
            <p:nvSpPr>
              <p:cNvPr id="103" name="Rectangle 105"/>
              <p:cNvSpPr>
                <a:spLocks noChangeArrowheads="1"/>
              </p:cNvSpPr>
              <p:nvPr/>
            </p:nvSpPr>
            <p:spPr bwMode="auto">
              <a:xfrm>
                <a:off x="3993" y="2593"/>
                <a:ext cx="0" cy="187"/>
              </a:xfrm>
              <a:prstGeom prst="rect">
                <a:avLst/>
              </a:prstGeom>
              <a:noFill/>
              <a:ln w="9525">
                <a:noFill/>
                <a:miter lim="800000"/>
                <a:headEnd/>
                <a:tailEnd/>
              </a:ln>
            </p:spPr>
            <p:txBody>
              <a:bodyPr wrap="none" lIns="0" tIns="0" rIns="0" bIns="0">
                <a:spAutoFit/>
              </a:bodyPr>
              <a:lstStyle/>
              <a:p>
                <a:endParaRPr lang="zh-CN" altLang="en-US" sz="1600" dirty="0">
                  <a:solidFill>
                    <a:srgbClr val="080808"/>
                  </a:solidFill>
                  <a:latin typeface="方正粗黑宋简体" pitchFamily="2" charset="-122"/>
                  <a:ea typeface="方正粗黑宋简体" pitchFamily="2" charset="-122"/>
                  <a:cs typeface="Times New Roman" pitchFamily="18" charset="0"/>
                </a:endParaRPr>
              </a:p>
            </p:txBody>
          </p:sp>
        </p:grpSp>
      </p:grpSp>
      <p:grpSp>
        <p:nvGrpSpPr>
          <p:cNvPr id="105" name="组合 104"/>
          <p:cNvGrpSpPr/>
          <p:nvPr/>
        </p:nvGrpSpPr>
        <p:grpSpPr>
          <a:xfrm>
            <a:off x="282575" y="734179"/>
            <a:ext cx="2718472" cy="373579"/>
            <a:chOff x="307975" y="1517134"/>
            <a:chExt cx="2718472" cy="373579"/>
          </a:xfrm>
        </p:grpSpPr>
        <p:grpSp>
          <p:nvGrpSpPr>
            <p:cNvPr id="106" name="组合 32"/>
            <p:cNvGrpSpPr/>
            <p:nvPr/>
          </p:nvGrpSpPr>
          <p:grpSpPr>
            <a:xfrm>
              <a:off x="307975" y="1519116"/>
              <a:ext cx="568325" cy="371597"/>
              <a:chOff x="307975" y="1519116"/>
              <a:chExt cx="568325" cy="371597"/>
            </a:xfrm>
          </p:grpSpPr>
          <p:pic>
            <p:nvPicPr>
              <p:cNvPr id="108" name="Picture 4"/>
              <p:cNvPicPr>
                <a:picLocks noChangeAspect="1" noChangeArrowheads="1"/>
              </p:cNvPicPr>
              <p:nvPr/>
            </p:nvPicPr>
            <p:blipFill>
              <a:blip r:embed="rId2" cstate="print"/>
              <a:srcRect/>
              <a:stretch>
                <a:fillRect/>
              </a:stretch>
            </p:blipFill>
            <p:spPr bwMode="auto">
              <a:xfrm flipH="1">
                <a:off x="307975" y="1519116"/>
                <a:ext cx="568325" cy="371597"/>
              </a:xfrm>
              <a:prstGeom prst="rect">
                <a:avLst/>
              </a:prstGeom>
              <a:noFill/>
              <a:ln w="9525">
                <a:noFill/>
                <a:miter lim="800000"/>
                <a:headEnd/>
                <a:tailEnd/>
              </a:ln>
              <a:effectLst/>
            </p:spPr>
          </p:pic>
          <p:sp>
            <p:nvSpPr>
              <p:cNvPr id="109" name="TextBox 108"/>
              <p:cNvSpPr txBox="1"/>
              <p:nvPr/>
            </p:nvSpPr>
            <p:spPr>
              <a:xfrm flipH="1">
                <a:off x="443415" y="1555750"/>
                <a:ext cx="137858" cy="276999"/>
              </a:xfrm>
              <a:prstGeom prst="rect">
                <a:avLst/>
              </a:prstGeom>
              <a:noFill/>
            </p:spPr>
            <p:txBody>
              <a:bodyPr wrap="none" lIns="0" tIns="0" rIns="0" bIns="0" rtlCol="0">
                <a:spAutoFit/>
              </a:bodyPr>
              <a:lstStyle/>
              <a:p>
                <a:r>
                  <a:rPr lang="en-US" altLang="zh-CN" b="1" dirty="0">
                    <a:solidFill>
                      <a:srgbClr val="262626"/>
                    </a:solidFill>
                    <a:latin typeface="Segoe UI Black" pitchFamily="34" charset="0"/>
                    <a:ea typeface="Segoe UI Black" pitchFamily="34" charset="0"/>
                    <a:cs typeface="Times New Roman" pitchFamily="18" charset="0"/>
                  </a:rPr>
                  <a:t>2</a:t>
                </a:r>
                <a:endParaRPr lang="zh-CN" altLang="en-US" b="1" dirty="0">
                  <a:solidFill>
                    <a:srgbClr val="262626"/>
                  </a:solidFill>
                  <a:latin typeface="Segoe UI Black" pitchFamily="34" charset="0"/>
                  <a:cs typeface="Times New Roman" pitchFamily="18" charset="0"/>
                </a:endParaRPr>
              </a:p>
            </p:txBody>
          </p:sp>
        </p:grpSp>
        <p:sp>
          <p:nvSpPr>
            <p:cNvPr id="107" name="矩形 106"/>
            <p:cNvSpPr/>
            <p:nvPr/>
          </p:nvSpPr>
          <p:spPr>
            <a:xfrm>
              <a:off x="863675" y="1517134"/>
              <a:ext cx="2162772" cy="369332"/>
            </a:xfrm>
            <a:prstGeom prst="rect">
              <a:avLst/>
            </a:prstGeom>
          </p:spPr>
          <p:txBody>
            <a:bodyPr wrap="none">
              <a:spAutoFit/>
            </a:bodyPr>
            <a:lstStyle/>
            <a:p>
              <a:r>
                <a:rPr lang="en-US" altLang="zh-CN" b="1" dirty="0">
                  <a:solidFill>
                    <a:schemeClr val="accent1">
                      <a:lumMod val="50000"/>
                    </a:schemeClr>
                  </a:solidFill>
                  <a:latin typeface="黑体" pitchFamily="49" charset="-122"/>
                  <a:ea typeface="黑体" pitchFamily="49" charset="-122"/>
                  <a:cs typeface="Times New Roman" pitchFamily="18" charset="0"/>
                </a:rPr>
                <a:t>TTL</a:t>
              </a:r>
              <a:r>
                <a:rPr lang="zh-CN" altLang="en-US" b="1" dirty="0">
                  <a:solidFill>
                    <a:schemeClr val="accent1">
                      <a:lumMod val="50000"/>
                    </a:schemeClr>
                  </a:solidFill>
                  <a:latin typeface="黑体" pitchFamily="49" charset="-122"/>
                  <a:ea typeface="黑体" pitchFamily="49" charset="-122"/>
                  <a:cs typeface="Times New Roman" pitchFamily="18" charset="0"/>
                </a:rPr>
                <a:t>非门的基本电路</a:t>
              </a:r>
            </a:p>
          </p:txBody>
        </p:sp>
      </p:grpSp>
      <p:sp>
        <p:nvSpPr>
          <p:cNvPr id="113" name="AutoShape 134"/>
          <p:cNvSpPr>
            <a:spLocks noChangeArrowheads="1"/>
          </p:cNvSpPr>
          <p:nvPr/>
        </p:nvSpPr>
        <p:spPr bwMode="auto">
          <a:xfrm>
            <a:off x="457200" y="2270442"/>
            <a:ext cx="1859281" cy="1077790"/>
          </a:xfrm>
          <a:prstGeom prst="wedgeRoundRectCallout">
            <a:avLst>
              <a:gd name="adj1" fmla="val 68985"/>
              <a:gd name="adj2" fmla="val 12283"/>
              <a:gd name="adj3" fmla="val 16667"/>
            </a:avLst>
          </a:prstGeom>
          <a:solidFill>
            <a:srgbClr val="FFC000"/>
          </a:solidFill>
          <a:ln w="19050">
            <a:solidFill>
              <a:srgbClr val="0000FF"/>
            </a:solid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lvl="0" algn="ctr">
              <a:spcBef>
                <a:spcPts val="600"/>
              </a:spcBef>
            </a:pPr>
            <a:r>
              <a:rPr lang="zh-CN" altLang="en-US" sz="1600" dirty="0">
                <a:solidFill>
                  <a:srgbClr val="080808"/>
                </a:solidFill>
                <a:latin typeface="方正粗黑宋简体" pitchFamily="2" charset="-122"/>
                <a:ea typeface="方正粗黑宋简体" pitchFamily="2" charset="-122"/>
                <a:cs typeface="Times New Roman" pitchFamily="18" charset="0"/>
              </a:rPr>
              <a:t>输入级</a:t>
            </a:r>
            <a:endParaRPr lang="en-US" altLang="zh-CN" sz="1600" dirty="0">
              <a:solidFill>
                <a:srgbClr val="080808"/>
              </a:solidFill>
              <a:latin typeface="方正粗黑宋简体" pitchFamily="2" charset="-122"/>
              <a:ea typeface="方正粗黑宋简体" pitchFamily="2" charset="-122"/>
              <a:cs typeface="Times New Roman" pitchFamily="18" charset="0"/>
            </a:endParaRPr>
          </a:p>
          <a:p>
            <a:pPr lvl="0" algn="ctr">
              <a:spcBef>
                <a:spcPts val="600"/>
              </a:spcBef>
            </a:pPr>
            <a:r>
              <a:rPr kumimoji="1" lang="en-US" altLang="zh-CN" sz="1400" i="1" dirty="0">
                <a:solidFill>
                  <a:srgbClr val="080808"/>
                </a:solidFill>
                <a:latin typeface="Times New Roman" pitchFamily="18" charset="0"/>
                <a:ea typeface="微软雅黑" pitchFamily="34" charset="-122"/>
                <a:cs typeface="Times New Roman" pitchFamily="18" charset="0"/>
              </a:rPr>
              <a:t>T</a:t>
            </a:r>
            <a:r>
              <a:rPr kumimoji="1" lang="en-US" altLang="zh-CN" sz="1400" baseline="-25000" dirty="0">
                <a:solidFill>
                  <a:srgbClr val="080808"/>
                </a:solidFill>
                <a:latin typeface="Times New Roman" pitchFamily="18" charset="0"/>
                <a:ea typeface="微软雅黑" pitchFamily="34" charset="-122"/>
                <a:cs typeface="Times New Roman" pitchFamily="18" charset="0"/>
              </a:rPr>
              <a:t>1</a:t>
            </a:r>
            <a:r>
              <a:rPr kumimoji="1" lang="zh-CN" altLang="en-US" sz="1400" dirty="0">
                <a:solidFill>
                  <a:srgbClr val="080808"/>
                </a:solidFill>
                <a:latin typeface="Times New Roman" pitchFamily="18" charset="0"/>
                <a:ea typeface="微软雅黑" pitchFamily="34" charset="-122"/>
                <a:cs typeface="Times New Roman" pitchFamily="18" charset="0"/>
              </a:rPr>
              <a:t>、</a:t>
            </a:r>
            <a:r>
              <a:rPr kumimoji="1" lang="en-US" altLang="zh-CN" sz="1400" i="1" dirty="0">
                <a:solidFill>
                  <a:srgbClr val="080808"/>
                </a:solidFill>
                <a:latin typeface="Times New Roman" pitchFamily="18" charset="0"/>
                <a:ea typeface="微软雅黑" pitchFamily="34" charset="-122"/>
                <a:cs typeface="Times New Roman" pitchFamily="18" charset="0"/>
              </a:rPr>
              <a:t>R</a:t>
            </a:r>
            <a:r>
              <a:rPr kumimoji="1" lang="en-US" altLang="zh-CN" sz="1400" baseline="-25000" dirty="0">
                <a:solidFill>
                  <a:srgbClr val="080808"/>
                </a:solidFill>
                <a:latin typeface="Times New Roman" pitchFamily="18" charset="0"/>
                <a:ea typeface="微软雅黑" pitchFamily="34" charset="-122"/>
                <a:cs typeface="Times New Roman" pitchFamily="18" charset="0"/>
              </a:rPr>
              <a:t>b1</a:t>
            </a:r>
            <a:r>
              <a:rPr kumimoji="1" lang="zh-CN" altLang="en-US" sz="1400" dirty="0">
                <a:solidFill>
                  <a:srgbClr val="080808"/>
                </a:solidFill>
                <a:latin typeface="Times New Roman" pitchFamily="18" charset="0"/>
                <a:ea typeface="微软雅黑" pitchFamily="34" charset="-122"/>
                <a:cs typeface="Times New Roman" pitchFamily="18" charset="0"/>
              </a:rPr>
              <a:t>构成共基电路，</a:t>
            </a:r>
            <a:r>
              <a:rPr kumimoji="1" lang="en-US" altLang="zh-CN" sz="1400" i="1" dirty="0">
                <a:solidFill>
                  <a:srgbClr val="080808"/>
                </a:solidFill>
                <a:latin typeface="Times New Roman" pitchFamily="18" charset="0"/>
                <a:ea typeface="微软雅黑" pitchFamily="34" charset="-122"/>
                <a:cs typeface="Times New Roman" pitchFamily="18" charset="0"/>
              </a:rPr>
              <a:t> T</a:t>
            </a:r>
            <a:r>
              <a:rPr kumimoji="1" lang="en-US" altLang="zh-CN" sz="1400" baseline="-25000" dirty="0">
                <a:solidFill>
                  <a:srgbClr val="080808"/>
                </a:solidFill>
                <a:latin typeface="Times New Roman" pitchFamily="18" charset="0"/>
                <a:ea typeface="微软雅黑" pitchFamily="34" charset="-122"/>
                <a:cs typeface="Times New Roman" pitchFamily="18" charset="0"/>
              </a:rPr>
              <a:t>1</a:t>
            </a:r>
            <a:r>
              <a:rPr kumimoji="1" lang="zh-CN" altLang="en-US" sz="1400" dirty="0">
                <a:solidFill>
                  <a:srgbClr val="080808"/>
                </a:solidFill>
                <a:latin typeface="Times New Roman" pitchFamily="18" charset="0"/>
                <a:ea typeface="微软雅黑" pitchFamily="34" charset="-122"/>
                <a:cs typeface="Times New Roman" pitchFamily="18" charset="0"/>
              </a:rPr>
              <a:t>工作在线性放大状态。</a:t>
            </a:r>
            <a:endParaRPr kumimoji="1" lang="en-US" altLang="zh-CN" sz="1400" dirty="0">
              <a:solidFill>
                <a:srgbClr val="080808"/>
              </a:solidFill>
              <a:latin typeface="Times New Roman" pitchFamily="18" charset="0"/>
              <a:ea typeface="微软雅黑" pitchFamily="34" charset="-122"/>
              <a:cs typeface="Times New Roman" pitchFamily="18" charset="0"/>
            </a:endParaRPr>
          </a:p>
        </p:txBody>
      </p:sp>
      <p:sp>
        <p:nvSpPr>
          <p:cNvPr id="114" name="AutoShape 134"/>
          <p:cNvSpPr>
            <a:spLocks noChangeArrowheads="1"/>
          </p:cNvSpPr>
          <p:nvPr/>
        </p:nvSpPr>
        <p:spPr bwMode="auto">
          <a:xfrm>
            <a:off x="1089660" y="3729232"/>
            <a:ext cx="2552701" cy="1097280"/>
          </a:xfrm>
          <a:prstGeom prst="wedgeRoundRectCallout">
            <a:avLst>
              <a:gd name="adj1" fmla="val 64401"/>
              <a:gd name="adj2" fmla="val -38237"/>
              <a:gd name="adj3" fmla="val 16667"/>
            </a:avLst>
          </a:prstGeom>
          <a:solidFill>
            <a:srgbClr val="FFC000"/>
          </a:solidFill>
          <a:ln w="19050">
            <a:solidFill>
              <a:srgbClr val="0000FF"/>
            </a:solid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lIns="36000" tIns="0" rIns="36000" bIns="0" anchor="ctr"/>
          <a:lstStyle/>
          <a:p>
            <a:pPr algn="ctr"/>
            <a:r>
              <a:rPr lang="zh-CN" altLang="en-US" sz="1600" dirty="0">
                <a:solidFill>
                  <a:srgbClr val="080808"/>
                </a:solidFill>
                <a:latin typeface="方正粗黑宋简体" pitchFamily="2" charset="-122"/>
                <a:ea typeface="方正粗黑宋简体" pitchFamily="2" charset="-122"/>
                <a:cs typeface="Times New Roman" pitchFamily="18" charset="0"/>
              </a:rPr>
              <a:t>中间级</a:t>
            </a:r>
            <a:endParaRPr lang="en-US" altLang="zh-CN" sz="1600" dirty="0">
              <a:solidFill>
                <a:srgbClr val="080808"/>
              </a:solidFill>
              <a:latin typeface="方正粗黑宋简体" pitchFamily="2" charset="-122"/>
              <a:ea typeface="方正粗黑宋简体" pitchFamily="2" charset="-122"/>
              <a:cs typeface="Times New Roman" pitchFamily="18" charset="0"/>
            </a:endParaRPr>
          </a:p>
          <a:p>
            <a:pPr algn="ctr"/>
            <a:r>
              <a:rPr lang="en-US" altLang="zh-CN" sz="1400" i="1" kern="0" dirty="0">
                <a:latin typeface="Times New Roman" pitchFamily="18" charset="0"/>
                <a:ea typeface="黑体" pitchFamily="49" charset="-122"/>
                <a:cs typeface="Times New Roman" pitchFamily="18" charset="0"/>
              </a:rPr>
              <a:t>T</a:t>
            </a:r>
            <a:r>
              <a:rPr lang="en-US" altLang="zh-CN" sz="1400" kern="0" baseline="-25000" dirty="0">
                <a:latin typeface="Times New Roman" pitchFamily="18" charset="0"/>
                <a:ea typeface="黑体" pitchFamily="49" charset="-122"/>
                <a:cs typeface="Times New Roman" pitchFamily="18" charset="0"/>
              </a:rPr>
              <a:t>2</a:t>
            </a:r>
            <a:r>
              <a:rPr lang="zh-CN" altLang="en-US" sz="1400" kern="0" dirty="0">
                <a:latin typeface="Times New Roman" pitchFamily="18" charset="0"/>
                <a:ea typeface="黑体" pitchFamily="49" charset="-122"/>
                <a:cs typeface="Times New Roman" pitchFamily="18" charset="0"/>
              </a:rPr>
              <a:t>、</a:t>
            </a:r>
            <a:r>
              <a:rPr lang="en-US" altLang="zh-CN" sz="1400" i="1" kern="0" dirty="0">
                <a:latin typeface="Times New Roman" pitchFamily="18" charset="0"/>
                <a:ea typeface="黑体" pitchFamily="49" charset="-122"/>
                <a:cs typeface="Times New Roman" pitchFamily="18" charset="0"/>
              </a:rPr>
              <a:t>R</a:t>
            </a:r>
            <a:r>
              <a:rPr lang="en-US" altLang="zh-CN" sz="1400" kern="0" baseline="-25000" dirty="0">
                <a:latin typeface="Times New Roman" pitchFamily="18" charset="0"/>
                <a:ea typeface="黑体" pitchFamily="49" charset="-122"/>
                <a:cs typeface="Times New Roman" pitchFamily="18" charset="0"/>
              </a:rPr>
              <a:t>C2</a:t>
            </a:r>
            <a:r>
              <a:rPr lang="zh-CN" altLang="en-US" sz="1400" kern="0" dirty="0">
                <a:latin typeface="Times New Roman" pitchFamily="18" charset="0"/>
                <a:ea typeface="黑体" pitchFamily="49" charset="-122"/>
                <a:cs typeface="Times New Roman" pitchFamily="18" charset="0"/>
              </a:rPr>
              <a:t>，</a:t>
            </a:r>
            <a:r>
              <a:rPr lang="en-US" altLang="zh-CN" sz="1400" i="1" kern="0" dirty="0">
                <a:latin typeface="Times New Roman" pitchFamily="18" charset="0"/>
                <a:ea typeface="黑体" pitchFamily="49" charset="-122"/>
                <a:cs typeface="Times New Roman" pitchFamily="18" charset="0"/>
              </a:rPr>
              <a:t>R</a:t>
            </a:r>
            <a:r>
              <a:rPr lang="en-US" altLang="zh-CN" sz="1400" kern="0" baseline="-25000" dirty="0">
                <a:latin typeface="Times New Roman" pitchFamily="18" charset="0"/>
                <a:ea typeface="黑体" pitchFamily="49" charset="-122"/>
                <a:cs typeface="Times New Roman" pitchFamily="18" charset="0"/>
              </a:rPr>
              <a:t>e2</a:t>
            </a:r>
            <a:r>
              <a:rPr lang="zh-CN" altLang="en-US" sz="1400" kern="0" baseline="-25000" dirty="0">
                <a:latin typeface="Times New Roman" pitchFamily="18" charset="0"/>
                <a:ea typeface="黑体" pitchFamily="49" charset="-122"/>
                <a:cs typeface="Times New Roman" pitchFamily="18" charset="0"/>
              </a:rPr>
              <a:t>。</a:t>
            </a:r>
            <a:r>
              <a:rPr lang="en-US" altLang="zh-CN" sz="1400" i="1" kern="0" dirty="0">
                <a:latin typeface="Times New Roman" pitchFamily="18" charset="0"/>
                <a:ea typeface="黑体" pitchFamily="49" charset="-122"/>
                <a:cs typeface="Times New Roman" pitchFamily="18" charset="0"/>
              </a:rPr>
              <a:t> T</a:t>
            </a:r>
            <a:r>
              <a:rPr lang="en-US" altLang="zh-CN" sz="1400" kern="0" baseline="-25000" dirty="0">
                <a:latin typeface="Times New Roman" pitchFamily="18" charset="0"/>
                <a:ea typeface="黑体" pitchFamily="49" charset="-122"/>
                <a:cs typeface="Times New Roman" pitchFamily="18" charset="0"/>
              </a:rPr>
              <a:t>2</a:t>
            </a:r>
            <a:r>
              <a:rPr lang="zh-CN" altLang="en-US" sz="1400" kern="0" dirty="0">
                <a:latin typeface="Times New Roman" pitchFamily="18" charset="0"/>
                <a:ea typeface="黑体" pitchFamily="49" charset="-122"/>
                <a:cs typeface="Times New Roman" pitchFamily="18" charset="0"/>
              </a:rPr>
              <a:t>工作在开关状态，有两路输出。</a:t>
            </a:r>
            <a:endParaRPr lang="en-US" altLang="zh-CN" sz="1400" dirty="0">
              <a:latin typeface="Times New Roman" pitchFamily="18" charset="0"/>
              <a:ea typeface="黑体" pitchFamily="49" charset="-122"/>
              <a:cs typeface="Times New Roman" pitchFamily="18" charset="0"/>
            </a:endParaRPr>
          </a:p>
        </p:txBody>
      </p:sp>
      <p:sp>
        <p:nvSpPr>
          <p:cNvPr id="115" name="AutoShape 134"/>
          <p:cNvSpPr>
            <a:spLocks noChangeArrowheads="1"/>
          </p:cNvSpPr>
          <p:nvPr/>
        </p:nvSpPr>
        <p:spPr bwMode="auto">
          <a:xfrm>
            <a:off x="6560820" y="1927541"/>
            <a:ext cx="2421255" cy="1883605"/>
          </a:xfrm>
          <a:prstGeom prst="wedgeRoundRectCallout">
            <a:avLst>
              <a:gd name="adj1" fmla="val -62225"/>
              <a:gd name="adj2" fmla="val 24209"/>
              <a:gd name="adj3" fmla="val 16667"/>
            </a:avLst>
          </a:prstGeom>
          <a:solidFill>
            <a:srgbClr val="FFC000"/>
          </a:solidFill>
          <a:ln w="19050">
            <a:solidFill>
              <a:srgbClr val="0000FF"/>
            </a:solid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lIns="36000" tIns="0" rIns="36000" bIns="0" anchor="ctr"/>
          <a:lstStyle/>
          <a:p>
            <a:pPr algn="ctr"/>
            <a:r>
              <a:rPr lang="zh-CN" altLang="en-US" sz="1600" dirty="0">
                <a:solidFill>
                  <a:srgbClr val="080808"/>
                </a:solidFill>
                <a:latin typeface="方正粗黑宋简体" pitchFamily="2" charset="-122"/>
                <a:ea typeface="方正粗黑宋简体" pitchFamily="2" charset="-122"/>
                <a:cs typeface="Times New Roman" pitchFamily="18" charset="0"/>
              </a:rPr>
              <a:t>输出级</a:t>
            </a:r>
            <a:endParaRPr lang="en-US" altLang="zh-CN" sz="1600" dirty="0">
              <a:solidFill>
                <a:srgbClr val="080808"/>
              </a:solidFill>
              <a:latin typeface="方正粗黑宋简体" pitchFamily="2" charset="-122"/>
              <a:ea typeface="方正粗黑宋简体" pitchFamily="2" charset="-122"/>
              <a:cs typeface="Times New Roman" pitchFamily="18" charset="0"/>
            </a:endParaRPr>
          </a:p>
          <a:p>
            <a:pPr algn="ctr"/>
            <a:r>
              <a:rPr lang="en-US" altLang="zh-CN" sz="1400" i="1" kern="0" dirty="0">
                <a:latin typeface="Times New Roman" pitchFamily="18" charset="0"/>
                <a:ea typeface="黑体" pitchFamily="49" charset="-122"/>
                <a:cs typeface="Times New Roman" pitchFamily="18" charset="0"/>
              </a:rPr>
              <a:t>T</a:t>
            </a:r>
            <a:r>
              <a:rPr lang="en-US" altLang="zh-CN" sz="1400" kern="0" baseline="-25000" dirty="0">
                <a:latin typeface="Times New Roman" pitchFamily="18" charset="0"/>
                <a:ea typeface="黑体" pitchFamily="49" charset="-122"/>
                <a:cs typeface="Times New Roman" pitchFamily="18" charset="0"/>
              </a:rPr>
              <a:t>3</a:t>
            </a:r>
            <a:r>
              <a:rPr lang="zh-CN" altLang="en-US" sz="1400" kern="0" dirty="0">
                <a:latin typeface="Times New Roman" pitchFamily="18" charset="0"/>
                <a:ea typeface="黑体" pitchFamily="49" charset="-122"/>
                <a:cs typeface="Times New Roman" pitchFamily="18" charset="0"/>
              </a:rPr>
              <a:t>、</a:t>
            </a:r>
            <a:r>
              <a:rPr lang="en-US" altLang="zh-CN" sz="1400" kern="0" dirty="0">
                <a:latin typeface="Times New Roman" pitchFamily="18" charset="0"/>
                <a:ea typeface="黑体" pitchFamily="49" charset="-122"/>
                <a:cs typeface="Times New Roman" pitchFamily="18" charset="0"/>
              </a:rPr>
              <a:t> </a:t>
            </a:r>
            <a:r>
              <a:rPr lang="en-US" altLang="zh-CN" sz="1400" i="1" kern="0" dirty="0">
                <a:latin typeface="Times New Roman" pitchFamily="18" charset="0"/>
                <a:ea typeface="黑体" pitchFamily="49" charset="-122"/>
                <a:cs typeface="Times New Roman" pitchFamily="18" charset="0"/>
              </a:rPr>
              <a:t>T</a:t>
            </a:r>
            <a:r>
              <a:rPr lang="en-US" altLang="zh-CN" sz="1400" kern="0" baseline="-25000" dirty="0">
                <a:latin typeface="Times New Roman" pitchFamily="18" charset="0"/>
                <a:ea typeface="黑体" pitchFamily="49" charset="-122"/>
                <a:cs typeface="Times New Roman" pitchFamily="18" charset="0"/>
              </a:rPr>
              <a:t>4</a:t>
            </a:r>
            <a:r>
              <a:rPr lang="zh-CN" altLang="en-US" sz="1400" kern="0" dirty="0">
                <a:latin typeface="Times New Roman" pitchFamily="18" charset="0"/>
                <a:ea typeface="黑体" pitchFamily="49" charset="-122"/>
                <a:cs typeface="Times New Roman" pitchFamily="18" charset="0"/>
              </a:rPr>
              <a:t>、 </a:t>
            </a:r>
            <a:r>
              <a:rPr lang="en-US" altLang="zh-CN" sz="1400" i="1" kern="0" dirty="0">
                <a:latin typeface="Times New Roman" pitchFamily="18" charset="0"/>
                <a:ea typeface="黑体" pitchFamily="49" charset="-122"/>
                <a:cs typeface="Times New Roman" pitchFamily="18" charset="0"/>
              </a:rPr>
              <a:t>R</a:t>
            </a:r>
            <a:r>
              <a:rPr lang="en-US" altLang="zh-CN" sz="1400" kern="0" baseline="-25000" dirty="0">
                <a:latin typeface="Times New Roman" pitchFamily="18" charset="0"/>
                <a:ea typeface="黑体" pitchFamily="49" charset="-122"/>
                <a:cs typeface="Times New Roman" pitchFamily="18" charset="0"/>
              </a:rPr>
              <a:t>C4</a:t>
            </a:r>
            <a:r>
              <a:rPr lang="zh-CN" altLang="en-US" sz="1400" kern="0" dirty="0">
                <a:latin typeface="Times New Roman" pitchFamily="18" charset="0"/>
                <a:ea typeface="黑体" pitchFamily="49" charset="-122"/>
                <a:cs typeface="Times New Roman" pitchFamily="18" charset="0"/>
              </a:rPr>
              <a:t>、</a:t>
            </a:r>
            <a:r>
              <a:rPr lang="en-US" altLang="zh-CN" sz="1400" i="1" kern="0" dirty="0">
                <a:latin typeface="Times New Roman" pitchFamily="18" charset="0"/>
                <a:ea typeface="黑体" pitchFamily="49" charset="-122"/>
                <a:cs typeface="Times New Roman" pitchFamily="18" charset="0"/>
              </a:rPr>
              <a:t>D</a:t>
            </a:r>
            <a:r>
              <a:rPr lang="zh-CN" altLang="en-US" sz="1400" kern="0" dirty="0">
                <a:latin typeface="Times New Roman" pitchFamily="18" charset="0"/>
                <a:ea typeface="黑体" pitchFamily="49" charset="-122"/>
                <a:cs typeface="Times New Roman" pitchFamily="18" charset="0"/>
              </a:rPr>
              <a:t>构成输出电路，</a:t>
            </a:r>
            <a:r>
              <a:rPr lang="en-US" altLang="zh-CN" sz="1400" i="1" kern="0" dirty="0">
                <a:latin typeface="Times New Roman" pitchFamily="18" charset="0"/>
                <a:ea typeface="黑体" pitchFamily="49" charset="-122"/>
                <a:cs typeface="Times New Roman" pitchFamily="18" charset="0"/>
              </a:rPr>
              <a:t> T</a:t>
            </a:r>
            <a:r>
              <a:rPr lang="en-US" altLang="zh-CN" sz="1400" kern="0" baseline="-25000" dirty="0">
                <a:latin typeface="Times New Roman" pitchFamily="18" charset="0"/>
                <a:ea typeface="黑体" pitchFamily="49" charset="-122"/>
                <a:cs typeface="Times New Roman" pitchFamily="18" charset="0"/>
              </a:rPr>
              <a:t>3</a:t>
            </a:r>
            <a:r>
              <a:rPr lang="zh-CN" altLang="en-US" sz="1400" kern="0" dirty="0">
                <a:latin typeface="Times New Roman" pitchFamily="18" charset="0"/>
                <a:ea typeface="黑体" pitchFamily="49" charset="-122"/>
                <a:cs typeface="Times New Roman" pitchFamily="18" charset="0"/>
              </a:rPr>
              <a:t>、</a:t>
            </a:r>
            <a:r>
              <a:rPr lang="en-US" altLang="zh-CN" sz="1400" kern="0" dirty="0">
                <a:latin typeface="Times New Roman" pitchFamily="18" charset="0"/>
                <a:ea typeface="黑体" pitchFamily="49" charset="-122"/>
                <a:cs typeface="Times New Roman" pitchFamily="18" charset="0"/>
              </a:rPr>
              <a:t> </a:t>
            </a:r>
            <a:r>
              <a:rPr lang="en-US" altLang="zh-CN" sz="1400" i="1" kern="0" dirty="0">
                <a:latin typeface="Times New Roman" pitchFamily="18" charset="0"/>
                <a:ea typeface="黑体" pitchFamily="49" charset="-122"/>
                <a:cs typeface="Times New Roman" pitchFamily="18" charset="0"/>
              </a:rPr>
              <a:t>T</a:t>
            </a:r>
            <a:r>
              <a:rPr lang="en-US" altLang="zh-CN" sz="1400" kern="0" baseline="-25000" dirty="0">
                <a:latin typeface="Times New Roman" pitchFamily="18" charset="0"/>
                <a:ea typeface="黑体" pitchFamily="49" charset="-122"/>
                <a:cs typeface="Times New Roman" pitchFamily="18" charset="0"/>
              </a:rPr>
              <a:t>4</a:t>
            </a:r>
            <a:r>
              <a:rPr lang="zh-CN" altLang="en-US" sz="1400" kern="0" dirty="0">
                <a:latin typeface="Times New Roman" pitchFamily="18" charset="0"/>
                <a:ea typeface="黑体" pitchFamily="49" charset="-122"/>
                <a:cs typeface="Times New Roman" pitchFamily="18" charset="0"/>
              </a:rPr>
              <a:t>工作在开关状态。</a:t>
            </a:r>
            <a:r>
              <a:rPr lang="en-US" altLang="zh-CN" sz="1400" i="1" kern="0" dirty="0">
                <a:latin typeface="Times New Roman" pitchFamily="18" charset="0"/>
                <a:ea typeface="黑体" pitchFamily="49" charset="-122"/>
                <a:cs typeface="Times New Roman" pitchFamily="18" charset="0"/>
              </a:rPr>
              <a:t>D</a:t>
            </a:r>
            <a:r>
              <a:rPr lang="zh-CN" altLang="en-US" sz="1400" kern="0" dirty="0">
                <a:latin typeface="Times New Roman" pitchFamily="18" charset="0"/>
                <a:ea typeface="黑体" pitchFamily="49" charset="-122"/>
                <a:cs typeface="Times New Roman" pitchFamily="18" charset="0"/>
              </a:rPr>
              <a:t>起到电平转换的作用。整个输出电路为“推拉式” 输出。</a:t>
            </a:r>
            <a:endParaRPr lang="zh-CN" altLang="en-US" sz="1400" dirty="0">
              <a:latin typeface="Times New Roman" pitchFamily="18" charset="0"/>
              <a:ea typeface="黑体" pitchFamily="49" charset="-122"/>
              <a:cs typeface="Times New Roman"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slide(fromBottom)">
                                      <p:cBhvr>
                                        <p:cTn id="7" dur="1000"/>
                                        <p:tgtEl>
                                          <p:spTgt spid="105"/>
                                        </p:tgtEl>
                                      </p:cBhvr>
                                    </p:animEffect>
                                  </p:childTnLst>
                                </p:cTn>
                              </p:par>
                            </p:childTnLst>
                          </p:cTn>
                        </p:par>
                        <p:par>
                          <p:cTn id="8" fill="hold">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slide(fromBottom)">
                                      <p:cBhvr>
                                        <p:cTn id="11" dur="1000"/>
                                        <p:tgtEl>
                                          <p:spTgt spid="4"/>
                                        </p:tgtEl>
                                      </p:cBhvr>
                                    </p:animEffect>
                                  </p:childTnLst>
                                </p:cTn>
                              </p:par>
                            </p:childTnLst>
                          </p:cTn>
                        </p:par>
                        <p:par>
                          <p:cTn id="12" fill="hold">
                            <p:stCondLst>
                              <p:cond delay="2000"/>
                            </p:stCondLst>
                            <p:childTnLst>
                              <p:par>
                                <p:cTn id="13" presetID="12" presetClass="entr" presetSubtype="4"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slide(fromBottom)">
                                      <p:cBhvr>
                                        <p:cTn id="15" dur="10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2" fill="hold" grpId="0" nodeType="clickEffect">
                                  <p:stCondLst>
                                    <p:cond delay="0"/>
                                  </p:stCondLst>
                                  <p:childTnLst>
                                    <p:set>
                                      <p:cBhvr>
                                        <p:cTn id="19" dur="1" fill="hold">
                                          <p:stCondLst>
                                            <p:cond delay="0"/>
                                          </p:stCondLst>
                                        </p:cTn>
                                        <p:tgtEl>
                                          <p:spTgt spid="113"/>
                                        </p:tgtEl>
                                        <p:attrNameLst>
                                          <p:attrName>style.visibility</p:attrName>
                                        </p:attrNameLst>
                                      </p:cBhvr>
                                      <p:to>
                                        <p:strVal val="visible"/>
                                      </p:to>
                                    </p:set>
                                    <p:animEffect transition="in" filter="wipe(right)">
                                      <p:cBhvr>
                                        <p:cTn id="20" dur="1000"/>
                                        <p:tgtEl>
                                          <p:spTgt spid="11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2" fill="hold" grpId="0" nodeType="clickEffect">
                                  <p:stCondLst>
                                    <p:cond delay="0"/>
                                  </p:stCondLst>
                                  <p:childTnLst>
                                    <p:set>
                                      <p:cBhvr>
                                        <p:cTn id="24" dur="1" fill="hold">
                                          <p:stCondLst>
                                            <p:cond delay="0"/>
                                          </p:stCondLst>
                                        </p:cTn>
                                        <p:tgtEl>
                                          <p:spTgt spid="114"/>
                                        </p:tgtEl>
                                        <p:attrNameLst>
                                          <p:attrName>style.visibility</p:attrName>
                                        </p:attrNameLst>
                                      </p:cBhvr>
                                      <p:to>
                                        <p:strVal val="visible"/>
                                      </p:to>
                                    </p:set>
                                    <p:animEffect transition="in" filter="wipe(right)">
                                      <p:cBhvr>
                                        <p:cTn id="25" dur="1000"/>
                                        <p:tgtEl>
                                          <p:spTgt spid="11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15"/>
                                        </p:tgtEl>
                                        <p:attrNameLst>
                                          <p:attrName>style.visibility</p:attrName>
                                        </p:attrNameLst>
                                      </p:cBhvr>
                                      <p:to>
                                        <p:strVal val="visible"/>
                                      </p:to>
                                    </p:set>
                                    <p:animEffect transition="in" filter="wipe(left)">
                                      <p:cBhvr>
                                        <p:cTn id="30" dur="1000"/>
                                        <p:tgtEl>
                                          <p:spTgt spid="1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3" grpId="0" animBg="1"/>
      <p:bldP spid="114" grpId="0" animBg="1"/>
      <p:bldP spid="11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82575" y="734179"/>
            <a:ext cx="2718472" cy="373579"/>
            <a:chOff x="307975" y="1517134"/>
            <a:chExt cx="2718472" cy="373579"/>
          </a:xfrm>
        </p:grpSpPr>
        <p:grpSp>
          <p:nvGrpSpPr>
            <p:cNvPr id="3" name="组合 32"/>
            <p:cNvGrpSpPr/>
            <p:nvPr/>
          </p:nvGrpSpPr>
          <p:grpSpPr>
            <a:xfrm>
              <a:off x="307975" y="1519116"/>
              <a:ext cx="568325" cy="371597"/>
              <a:chOff x="307975" y="1519116"/>
              <a:chExt cx="568325" cy="371597"/>
            </a:xfrm>
          </p:grpSpPr>
          <p:pic>
            <p:nvPicPr>
              <p:cNvPr id="5" name="Picture 4"/>
              <p:cNvPicPr>
                <a:picLocks noChangeAspect="1" noChangeArrowheads="1"/>
              </p:cNvPicPr>
              <p:nvPr/>
            </p:nvPicPr>
            <p:blipFill>
              <a:blip r:embed="rId2" cstate="print"/>
              <a:srcRect/>
              <a:stretch>
                <a:fillRect/>
              </a:stretch>
            </p:blipFill>
            <p:spPr bwMode="auto">
              <a:xfrm flipH="1">
                <a:off x="307975" y="1519116"/>
                <a:ext cx="568325" cy="371597"/>
              </a:xfrm>
              <a:prstGeom prst="rect">
                <a:avLst/>
              </a:prstGeom>
              <a:noFill/>
              <a:ln w="9525">
                <a:noFill/>
                <a:miter lim="800000"/>
                <a:headEnd/>
                <a:tailEnd/>
              </a:ln>
              <a:effectLst/>
            </p:spPr>
          </p:pic>
          <p:sp>
            <p:nvSpPr>
              <p:cNvPr id="6" name="TextBox 5"/>
              <p:cNvSpPr txBox="1"/>
              <p:nvPr/>
            </p:nvSpPr>
            <p:spPr>
              <a:xfrm flipH="1">
                <a:off x="443415" y="1555750"/>
                <a:ext cx="137858" cy="276999"/>
              </a:xfrm>
              <a:prstGeom prst="rect">
                <a:avLst/>
              </a:prstGeom>
              <a:noFill/>
            </p:spPr>
            <p:txBody>
              <a:bodyPr wrap="none" lIns="0" tIns="0" rIns="0" bIns="0" rtlCol="0">
                <a:spAutoFit/>
              </a:bodyPr>
              <a:lstStyle/>
              <a:p>
                <a:r>
                  <a:rPr lang="en-US" altLang="zh-CN" b="1" dirty="0">
                    <a:solidFill>
                      <a:srgbClr val="262626"/>
                    </a:solidFill>
                    <a:latin typeface="Segoe UI Black" pitchFamily="34" charset="0"/>
                    <a:ea typeface="Segoe UI Black" pitchFamily="34" charset="0"/>
                    <a:cs typeface="Times New Roman" pitchFamily="18" charset="0"/>
                  </a:rPr>
                  <a:t>2</a:t>
                </a:r>
                <a:endParaRPr lang="zh-CN" altLang="en-US" b="1" dirty="0">
                  <a:solidFill>
                    <a:srgbClr val="262626"/>
                  </a:solidFill>
                  <a:latin typeface="Segoe UI Black" pitchFamily="34" charset="0"/>
                  <a:cs typeface="Times New Roman" pitchFamily="18" charset="0"/>
                </a:endParaRPr>
              </a:p>
            </p:txBody>
          </p:sp>
        </p:grpSp>
        <p:sp>
          <p:nvSpPr>
            <p:cNvPr id="4" name="矩形 3"/>
            <p:cNvSpPr/>
            <p:nvPr/>
          </p:nvSpPr>
          <p:spPr>
            <a:xfrm>
              <a:off x="863675" y="1517134"/>
              <a:ext cx="2162772" cy="369332"/>
            </a:xfrm>
            <a:prstGeom prst="rect">
              <a:avLst/>
            </a:prstGeom>
          </p:spPr>
          <p:txBody>
            <a:bodyPr wrap="none">
              <a:spAutoFit/>
            </a:bodyPr>
            <a:lstStyle/>
            <a:p>
              <a:r>
                <a:rPr lang="en-US" altLang="zh-CN" b="1" dirty="0">
                  <a:solidFill>
                    <a:schemeClr val="accent1">
                      <a:lumMod val="50000"/>
                    </a:schemeClr>
                  </a:solidFill>
                  <a:latin typeface="黑体" pitchFamily="49" charset="-122"/>
                  <a:ea typeface="黑体" pitchFamily="49" charset="-122"/>
                  <a:cs typeface="Times New Roman" pitchFamily="18" charset="0"/>
                </a:rPr>
                <a:t>TTL</a:t>
              </a:r>
              <a:r>
                <a:rPr lang="zh-CN" altLang="en-US" b="1" dirty="0">
                  <a:solidFill>
                    <a:schemeClr val="accent1">
                      <a:lumMod val="50000"/>
                    </a:schemeClr>
                  </a:solidFill>
                  <a:latin typeface="黑体" pitchFamily="49" charset="-122"/>
                  <a:ea typeface="黑体" pitchFamily="49" charset="-122"/>
                  <a:cs typeface="Times New Roman" pitchFamily="18" charset="0"/>
                </a:rPr>
                <a:t>非门的基本电路</a:t>
              </a:r>
            </a:p>
          </p:txBody>
        </p:sp>
      </p:grpSp>
      <p:sp>
        <p:nvSpPr>
          <p:cNvPr id="7" name="Rectangle 6"/>
          <p:cNvSpPr>
            <a:spLocks noChangeArrowheads="1"/>
          </p:cNvSpPr>
          <p:nvPr/>
        </p:nvSpPr>
        <p:spPr bwMode="auto">
          <a:xfrm>
            <a:off x="171770" y="1258108"/>
            <a:ext cx="1944688" cy="338554"/>
          </a:xfrm>
          <a:prstGeom prst="rect">
            <a:avLst/>
          </a:prstGeom>
          <a:noFill/>
          <a:ln w="9525" algn="ctr">
            <a:noFill/>
            <a:miter lim="800000"/>
            <a:headEnd/>
            <a:tailEnd/>
          </a:ln>
        </p:spPr>
        <p:txBody>
          <a:bodyPr>
            <a:spAutoFit/>
          </a:bodyPr>
          <a:lstStyle/>
          <a:p>
            <a:r>
              <a:rPr lang="zh-CN" altLang="en-US" sz="1600" b="1" dirty="0">
                <a:solidFill>
                  <a:srgbClr val="6600FF"/>
                </a:solidFill>
                <a:latin typeface="方正粗黑宋简体" pitchFamily="2" charset="-122"/>
                <a:ea typeface="方正粗黑宋简体" pitchFamily="2" charset="-122"/>
              </a:rPr>
              <a:t>（</a:t>
            </a:r>
            <a:r>
              <a:rPr lang="en-US" altLang="zh-CN" sz="1600" b="1" dirty="0">
                <a:solidFill>
                  <a:srgbClr val="6600FF"/>
                </a:solidFill>
                <a:latin typeface="方正粗黑宋简体" pitchFamily="2" charset="-122"/>
                <a:ea typeface="方正粗黑宋简体" pitchFamily="2" charset="-122"/>
              </a:rPr>
              <a:t>2</a:t>
            </a:r>
            <a:r>
              <a:rPr lang="zh-CN" altLang="en-US" sz="1600" b="1" dirty="0">
                <a:solidFill>
                  <a:srgbClr val="6600FF"/>
                </a:solidFill>
                <a:latin typeface="方正粗黑宋简体" pitchFamily="2" charset="-122"/>
                <a:ea typeface="方正粗黑宋简体" pitchFamily="2" charset="-122"/>
              </a:rPr>
              <a:t>）工作原理</a:t>
            </a:r>
          </a:p>
        </p:txBody>
      </p:sp>
      <p:grpSp>
        <p:nvGrpSpPr>
          <p:cNvPr id="96" name="组合 95"/>
          <p:cNvGrpSpPr/>
          <p:nvPr/>
        </p:nvGrpSpPr>
        <p:grpSpPr>
          <a:xfrm>
            <a:off x="5365694" y="734179"/>
            <a:ext cx="3536950" cy="3018059"/>
            <a:chOff x="5130801" y="776701"/>
            <a:chExt cx="3536950" cy="3018059"/>
          </a:xfrm>
          <a:solidFill>
            <a:schemeClr val="bg1"/>
          </a:solidFill>
        </p:grpSpPr>
        <p:sp>
          <p:nvSpPr>
            <p:cNvPr id="10" name="AutoShape 9"/>
            <p:cNvSpPr>
              <a:spLocks noChangeArrowheads="1"/>
            </p:cNvSpPr>
            <p:nvPr/>
          </p:nvSpPr>
          <p:spPr bwMode="auto">
            <a:xfrm>
              <a:off x="5130801" y="776701"/>
              <a:ext cx="3536950" cy="3004891"/>
            </a:xfrm>
            <a:prstGeom prst="roundRect">
              <a:avLst>
                <a:gd name="adj" fmla="val 6551"/>
              </a:avLst>
            </a:prstGeom>
            <a:grpFill/>
            <a:ln w="19050">
              <a:solidFill>
                <a:srgbClr val="0070C0"/>
              </a:solidFill>
              <a:miter lim="800000"/>
              <a:headEnd/>
              <a:tailEnd/>
            </a:ln>
          </p:spPr>
          <p:txBody>
            <a:bodyPr wrap="none" anchor="ctr"/>
            <a:lstStyle/>
            <a:p>
              <a:endParaRPr lang="zh-CN" altLang="en-US">
                <a:solidFill>
                  <a:srgbClr val="080808"/>
                </a:solidFill>
                <a:latin typeface="Times New Roman" pitchFamily="18" charset="0"/>
                <a:cs typeface="Times New Roman" pitchFamily="18" charset="0"/>
              </a:endParaRPr>
            </a:p>
          </p:txBody>
        </p:sp>
        <p:sp>
          <p:nvSpPr>
            <p:cNvPr id="14" name="Rectangle 13"/>
            <p:cNvSpPr>
              <a:spLocks noChangeArrowheads="1"/>
            </p:cNvSpPr>
            <p:nvPr/>
          </p:nvSpPr>
          <p:spPr bwMode="auto">
            <a:xfrm>
              <a:off x="8323495" y="2654429"/>
              <a:ext cx="131855" cy="276524"/>
            </a:xfrm>
            <a:prstGeom prst="rect">
              <a:avLst/>
            </a:prstGeom>
            <a:grpFill/>
            <a:ln w="9525">
              <a:noFill/>
              <a:miter lim="800000"/>
              <a:headEnd/>
              <a:tailEnd/>
            </a:ln>
          </p:spPr>
          <p:txBody>
            <a:bodyPr wrap="none" lIns="0" tIns="0" rIns="0" bIns="0">
              <a:spAutoFit/>
            </a:bodyPr>
            <a:lstStyle/>
            <a:p>
              <a:r>
                <a:rPr lang="en-US" altLang="zh-CN" b="1" i="1" dirty="0">
                  <a:solidFill>
                    <a:srgbClr val="080808"/>
                  </a:solidFill>
                  <a:latin typeface="Times New Roman" pitchFamily="18" charset="0"/>
                  <a:cs typeface="Times New Roman" pitchFamily="18" charset="0"/>
                </a:rPr>
                <a:t>+</a:t>
              </a:r>
              <a:endParaRPr lang="en-US" altLang="zh-CN" sz="2000" b="1" dirty="0">
                <a:solidFill>
                  <a:srgbClr val="080808"/>
                </a:solidFill>
                <a:latin typeface="Times New Roman" pitchFamily="18" charset="0"/>
                <a:cs typeface="Times New Roman" pitchFamily="18" charset="0"/>
              </a:endParaRPr>
            </a:p>
          </p:txBody>
        </p:sp>
        <p:sp>
          <p:nvSpPr>
            <p:cNvPr id="15" name="Rectangle 14"/>
            <p:cNvSpPr>
              <a:spLocks noChangeArrowheads="1"/>
            </p:cNvSpPr>
            <p:nvPr/>
          </p:nvSpPr>
          <p:spPr bwMode="auto">
            <a:xfrm>
              <a:off x="8347341" y="3011276"/>
              <a:ext cx="115022" cy="276524"/>
            </a:xfrm>
            <a:prstGeom prst="rect">
              <a:avLst/>
            </a:prstGeom>
            <a:grpFill/>
            <a:ln w="9525">
              <a:noFill/>
              <a:miter lim="800000"/>
              <a:headEnd/>
              <a:tailEnd/>
            </a:ln>
          </p:spPr>
          <p:txBody>
            <a:bodyPr wrap="none" lIns="0" tIns="0" rIns="0" bIns="0">
              <a:spAutoFit/>
            </a:bodyPr>
            <a:lstStyle/>
            <a:p>
              <a:r>
                <a:rPr lang="en-US" altLang="zh-CN" b="1" i="1">
                  <a:solidFill>
                    <a:srgbClr val="080808"/>
                  </a:solidFill>
                  <a:latin typeface="Times New Roman" pitchFamily="18" charset="0"/>
                  <a:cs typeface="Times New Roman" pitchFamily="18" charset="0"/>
                </a:rPr>
                <a:t>_</a:t>
              </a:r>
              <a:endParaRPr lang="en-US" altLang="zh-CN" sz="2000" b="1">
                <a:solidFill>
                  <a:srgbClr val="080808"/>
                </a:solidFill>
                <a:latin typeface="Times New Roman" pitchFamily="18" charset="0"/>
                <a:cs typeface="Times New Roman" pitchFamily="18" charset="0"/>
              </a:endParaRPr>
            </a:p>
          </p:txBody>
        </p:sp>
        <p:sp>
          <p:nvSpPr>
            <p:cNvPr id="16" name="Rectangle 15"/>
            <p:cNvSpPr>
              <a:spLocks noChangeArrowheads="1"/>
            </p:cNvSpPr>
            <p:nvPr/>
          </p:nvSpPr>
          <p:spPr bwMode="auto">
            <a:xfrm>
              <a:off x="8270192" y="2887499"/>
              <a:ext cx="290361" cy="276524"/>
            </a:xfrm>
            <a:prstGeom prst="rect">
              <a:avLst/>
            </a:prstGeom>
            <a:grpFill/>
            <a:ln w="9525">
              <a:noFill/>
              <a:miter lim="800000"/>
              <a:headEnd/>
              <a:tailEnd/>
            </a:ln>
          </p:spPr>
          <p:txBody>
            <a:bodyPr wrap="square" lIns="0" tIns="0" rIns="0" bIns="0">
              <a:spAutoFit/>
            </a:bodyPr>
            <a:lstStyle/>
            <a:p>
              <a:r>
                <a:rPr lang="en-US" altLang="zh-CN" b="1" i="1" dirty="0">
                  <a:solidFill>
                    <a:srgbClr val="6600FF"/>
                  </a:solidFill>
                  <a:latin typeface="Times New Roman" pitchFamily="18" charset="0"/>
                  <a:ea typeface="微软雅黑" pitchFamily="34" charset="-122"/>
                  <a:cs typeface="Times New Roman" pitchFamily="18" charset="0"/>
                  <a:sym typeface="Symbol" pitchFamily="18" charset="2"/>
                </a:rPr>
                <a:t></a:t>
              </a:r>
              <a:r>
                <a:rPr lang="en-US" altLang="zh-CN" b="1" baseline="-25000" dirty="0">
                  <a:solidFill>
                    <a:srgbClr val="6600FF"/>
                  </a:solidFill>
                  <a:latin typeface="Times New Roman" pitchFamily="18" charset="0"/>
                  <a:ea typeface="微软雅黑" pitchFamily="34" charset="-122"/>
                  <a:cs typeface="Times New Roman" pitchFamily="18" charset="0"/>
                </a:rPr>
                <a:t>O</a:t>
              </a:r>
              <a:endParaRPr lang="en-US" altLang="zh-CN" sz="2000" dirty="0">
                <a:solidFill>
                  <a:srgbClr val="080808"/>
                </a:solidFill>
                <a:latin typeface="Times New Roman" pitchFamily="18" charset="0"/>
                <a:cs typeface="Times New Roman" pitchFamily="18" charset="0"/>
              </a:endParaRPr>
            </a:p>
          </p:txBody>
        </p:sp>
        <p:sp>
          <p:nvSpPr>
            <p:cNvPr id="17" name="Freeform 17"/>
            <p:cNvSpPr>
              <a:spLocks noEditPoints="1"/>
            </p:cNvSpPr>
            <p:nvPr/>
          </p:nvSpPr>
          <p:spPr bwMode="auto">
            <a:xfrm>
              <a:off x="5620475" y="2027642"/>
              <a:ext cx="524613" cy="346313"/>
            </a:xfrm>
            <a:custGeom>
              <a:avLst/>
              <a:gdLst>
                <a:gd name="T0" fmla="*/ 188 w 374"/>
                <a:gd name="T1" fmla="*/ 0 h 263"/>
                <a:gd name="T2" fmla="*/ 188 w 374"/>
                <a:gd name="T3" fmla="*/ 132 h 263"/>
                <a:gd name="T4" fmla="*/ 93 w 374"/>
                <a:gd name="T5" fmla="*/ 132 h 263"/>
                <a:gd name="T6" fmla="*/ 281 w 374"/>
                <a:gd name="T7" fmla="*/ 132 h 263"/>
                <a:gd name="T8" fmla="*/ 234 w 374"/>
                <a:gd name="T9" fmla="*/ 132 h 263"/>
                <a:gd name="T10" fmla="*/ 290 w 374"/>
                <a:gd name="T11" fmla="*/ 263 h 263"/>
                <a:gd name="T12" fmla="*/ 374 w 374"/>
                <a:gd name="T13" fmla="*/ 263 h 263"/>
                <a:gd name="T14" fmla="*/ 140 w 374"/>
                <a:gd name="T15" fmla="*/ 132 h 263"/>
                <a:gd name="T16" fmla="*/ 82 w 374"/>
                <a:gd name="T17" fmla="*/ 263 h 263"/>
                <a:gd name="T18" fmla="*/ 0 w 374"/>
                <a:gd name="T19" fmla="*/ 263 h 2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74"/>
                <a:gd name="T31" fmla="*/ 0 h 263"/>
                <a:gd name="T32" fmla="*/ 374 w 374"/>
                <a:gd name="T33" fmla="*/ 263 h 2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74" h="263">
                  <a:moveTo>
                    <a:pt x="188" y="0"/>
                  </a:moveTo>
                  <a:lnTo>
                    <a:pt x="188" y="132"/>
                  </a:lnTo>
                  <a:moveTo>
                    <a:pt x="93" y="132"/>
                  </a:moveTo>
                  <a:lnTo>
                    <a:pt x="281" y="132"/>
                  </a:lnTo>
                  <a:moveTo>
                    <a:pt x="234" y="132"/>
                  </a:moveTo>
                  <a:lnTo>
                    <a:pt x="290" y="263"/>
                  </a:lnTo>
                  <a:lnTo>
                    <a:pt x="374" y="263"/>
                  </a:lnTo>
                  <a:moveTo>
                    <a:pt x="140" y="132"/>
                  </a:moveTo>
                  <a:lnTo>
                    <a:pt x="82" y="263"/>
                  </a:lnTo>
                  <a:lnTo>
                    <a:pt x="0" y="263"/>
                  </a:lnTo>
                </a:path>
              </a:pathLst>
            </a:cu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19" name="Freeform 19"/>
            <p:cNvSpPr>
              <a:spLocks/>
            </p:cNvSpPr>
            <p:nvPr/>
          </p:nvSpPr>
          <p:spPr bwMode="auto">
            <a:xfrm>
              <a:off x="5728483" y="2327868"/>
              <a:ext cx="43484" cy="48721"/>
            </a:xfrm>
            <a:custGeom>
              <a:avLst/>
              <a:gdLst>
                <a:gd name="T0" fmla="*/ 2 w 31"/>
                <a:gd name="T1" fmla="*/ 37 h 37"/>
                <a:gd name="T2" fmla="*/ 0 w 31"/>
                <a:gd name="T3" fmla="*/ 0 h 37"/>
                <a:gd name="T4" fmla="*/ 31 w 31"/>
                <a:gd name="T5" fmla="*/ 13 h 37"/>
                <a:gd name="T6" fmla="*/ 2 w 31"/>
                <a:gd name="T7" fmla="*/ 37 h 37"/>
                <a:gd name="T8" fmla="*/ 0 60000 65536"/>
                <a:gd name="T9" fmla="*/ 0 60000 65536"/>
                <a:gd name="T10" fmla="*/ 0 60000 65536"/>
                <a:gd name="T11" fmla="*/ 0 60000 65536"/>
                <a:gd name="T12" fmla="*/ 0 w 31"/>
                <a:gd name="T13" fmla="*/ 0 h 37"/>
                <a:gd name="T14" fmla="*/ 31 w 31"/>
                <a:gd name="T15" fmla="*/ 37 h 37"/>
              </a:gdLst>
              <a:ahLst/>
              <a:cxnLst>
                <a:cxn ang="T8">
                  <a:pos x="T0" y="T1"/>
                </a:cxn>
                <a:cxn ang="T9">
                  <a:pos x="T2" y="T3"/>
                </a:cxn>
                <a:cxn ang="T10">
                  <a:pos x="T4" y="T5"/>
                </a:cxn>
                <a:cxn ang="T11">
                  <a:pos x="T6" y="T7"/>
                </a:cxn>
              </a:cxnLst>
              <a:rect l="T12" t="T13" r="T14" b="T15"/>
              <a:pathLst>
                <a:path w="31" h="37">
                  <a:moveTo>
                    <a:pt x="2" y="37"/>
                  </a:moveTo>
                  <a:lnTo>
                    <a:pt x="0" y="0"/>
                  </a:lnTo>
                  <a:lnTo>
                    <a:pt x="31" y="13"/>
                  </a:lnTo>
                  <a:lnTo>
                    <a:pt x="2" y="37"/>
                  </a:lnTo>
                  <a:close/>
                </a:path>
              </a:pathLst>
            </a:cu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20" name="Rectangle 20"/>
            <p:cNvSpPr>
              <a:spLocks noChangeArrowheads="1"/>
            </p:cNvSpPr>
            <p:nvPr/>
          </p:nvSpPr>
          <p:spPr bwMode="auto">
            <a:xfrm>
              <a:off x="5781786" y="2384489"/>
              <a:ext cx="200587" cy="252822"/>
            </a:xfrm>
            <a:prstGeom prst="rect">
              <a:avLst/>
            </a:prstGeom>
            <a:grpFill/>
            <a:ln w="9525">
              <a:noFill/>
              <a:miter lim="800000"/>
              <a:headEnd/>
              <a:tailEnd/>
            </a:ln>
          </p:spPr>
          <p:txBody>
            <a:bodyPr wrap="none" lIns="0" tIns="0" rIns="0" bIns="0">
              <a:spAutoFit/>
            </a:bodyPr>
            <a:lstStyle/>
            <a:p>
              <a:r>
                <a:rPr lang="en-US" altLang="zh-CN" sz="1800" b="1" i="1" dirty="0">
                  <a:solidFill>
                    <a:srgbClr val="080808"/>
                  </a:solidFill>
                  <a:latin typeface="Times New Roman" pitchFamily="18" charset="0"/>
                  <a:cs typeface="Times New Roman" pitchFamily="18" charset="0"/>
                </a:rPr>
                <a:t>T</a:t>
              </a:r>
              <a:r>
                <a:rPr lang="en-US" altLang="zh-CN" sz="1800" baseline="-25000" dirty="0">
                  <a:solidFill>
                    <a:srgbClr val="080808"/>
                  </a:solidFill>
                  <a:latin typeface="Times New Roman" pitchFamily="18" charset="0"/>
                  <a:cs typeface="Times New Roman" pitchFamily="18" charset="0"/>
                </a:rPr>
                <a:t>1</a:t>
              </a:r>
              <a:endParaRPr lang="en-US" altLang="zh-CN" sz="2000" baseline="-25000" dirty="0">
                <a:solidFill>
                  <a:srgbClr val="080808"/>
                </a:solidFill>
                <a:latin typeface="Times New Roman" pitchFamily="18" charset="0"/>
                <a:cs typeface="Times New Roman" pitchFamily="18" charset="0"/>
              </a:endParaRPr>
            </a:p>
          </p:txBody>
        </p:sp>
        <p:sp>
          <p:nvSpPr>
            <p:cNvPr id="21" name="Freeform 22"/>
            <p:cNvSpPr>
              <a:spLocks noEditPoints="1"/>
            </p:cNvSpPr>
            <p:nvPr/>
          </p:nvSpPr>
          <p:spPr bwMode="auto">
            <a:xfrm>
              <a:off x="6188572" y="2142202"/>
              <a:ext cx="391356" cy="468774"/>
            </a:xfrm>
            <a:custGeom>
              <a:avLst/>
              <a:gdLst>
                <a:gd name="T0" fmla="*/ 0 w 279"/>
                <a:gd name="T1" fmla="*/ 177 h 356"/>
                <a:gd name="T2" fmla="*/ 139 w 279"/>
                <a:gd name="T3" fmla="*/ 177 h 356"/>
                <a:gd name="T4" fmla="*/ 139 w 279"/>
                <a:gd name="T5" fmla="*/ 266 h 356"/>
                <a:gd name="T6" fmla="*/ 139 w 279"/>
                <a:gd name="T7" fmla="*/ 89 h 356"/>
                <a:gd name="T8" fmla="*/ 139 w 279"/>
                <a:gd name="T9" fmla="*/ 134 h 356"/>
                <a:gd name="T10" fmla="*/ 279 w 279"/>
                <a:gd name="T11" fmla="*/ 79 h 356"/>
                <a:gd name="T12" fmla="*/ 279 w 279"/>
                <a:gd name="T13" fmla="*/ 0 h 356"/>
                <a:gd name="T14" fmla="*/ 139 w 279"/>
                <a:gd name="T15" fmla="*/ 222 h 356"/>
                <a:gd name="T16" fmla="*/ 279 w 279"/>
                <a:gd name="T17" fmla="*/ 277 h 356"/>
                <a:gd name="T18" fmla="*/ 279 w 279"/>
                <a:gd name="T19" fmla="*/ 356 h 3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79"/>
                <a:gd name="T31" fmla="*/ 0 h 356"/>
                <a:gd name="T32" fmla="*/ 279 w 279"/>
                <a:gd name="T33" fmla="*/ 356 h 35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79" h="356">
                  <a:moveTo>
                    <a:pt x="0" y="177"/>
                  </a:moveTo>
                  <a:lnTo>
                    <a:pt x="139" y="177"/>
                  </a:lnTo>
                  <a:moveTo>
                    <a:pt x="139" y="266"/>
                  </a:moveTo>
                  <a:lnTo>
                    <a:pt x="139" y="89"/>
                  </a:lnTo>
                  <a:moveTo>
                    <a:pt x="139" y="134"/>
                  </a:moveTo>
                  <a:lnTo>
                    <a:pt x="279" y="79"/>
                  </a:lnTo>
                  <a:lnTo>
                    <a:pt x="279" y="0"/>
                  </a:lnTo>
                  <a:moveTo>
                    <a:pt x="139" y="222"/>
                  </a:moveTo>
                  <a:lnTo>
                    <a:pt x="279" y="277"/>
                  </a:lnTo>
                  <a:lnTo>
                    <a:pt x="279" y="356"/>
                  </a:lnTo>
                </a:path>
              </a:pathLst>
            </a:cu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22" name="Freeform 23"/>
            <p:cNvSpPr>
              <a:spLocks/>
            </p:cNvSpPr>
            <p:nvPr/>
          </p:nvSpPr>
          <p:spPr bwMode="auto">
            <a:xfrm>
              <a:off x="6523819" y="2472713"/>
              <a:ext cx="54706" cy="38187"/>
            </a:xfrm>
            <a:custGeom>
              <a:avLst/>
              <a:gdLst>
                <a:gd name="T0" fmla="*/ 39 w 39"/>
                <a:gd name="T1" fmla="*/ 27 h 29"/>
                <a:gd name="T2" fmla="*/ 0 w 39"/>
                <a:gd name="T3" fmla="*/ 29 h 29"/>
                <a:gd name="T4" fmla="*/ 13 w 39"/>
                <a:gd name="T5" fmla="*/ 0 h 29"/>
                <a:gd name="T6" fmla="*/ 39 w 39"/>
                <a:gd name="T7" fmla="*/ 27 h 29"/>
                <a:gd name="T8" fmla="*/ 0 60000 65536"/>
                <a:gd name="T9" fmla="*/ 0 60000 65536"/>
                <a:gd name="T10" fmla="*/ 0 60000 65536"/>
                <a:gd name="T11" fmla="*/ 0 60000 65536"/>
                <a:gd name="T12" fmla="*/ 0 w 39"/>
                <a:gd name="T13" fmla="*/ 0 h 29"/>
                <a:gd name="T14" fmla="*/ 39 w 39"/>
                <a:gd name="T15" fmla="*/ 29 h 29"/>
              </a:gdLst>
              <a:ahLst/>
              <a:cxnLst>
                <a:cxn ang="T8">
                  <a:pos x="T0" y="T1"/>
                </a:cxn>
                <a:cxn ang="T9">
                  <a:pos x="T2" y="T3"/>
                </a:cxn>
                <a:cxn ang="T10">
                  <a:pos x="T4" y="T5"/>
                </a:cxn>
                <a:cxn ang="T11">
                  <a:pos x="T6" y="T7"/>
                </a:cxn>
              </a:cxnLst>
              <a:rect l="T12" t="T13" r="T14" b="T15"/>
              <a:pathLst>
                <a:path w="39" h="29">
                  <a:moveTo>
                    <a:pt x="39" y="27"/>
                  </a:moveTo>
                  <a:lnTo>
                    <a:pt x="0" y="29"/>
                  </a:lnTo>
                  <a:lnTo>
                    <a:pt x="13" y="0"/>
                  </a:lnTo>
                  <a:lnTo>
                    <a:pt x="39" y="27"/>
                  </a:lnTo>
                  <a:close/>
                </a:path>
              </a:pathLst>
            </a:custGeom>
            <a:grpFill/>
            <a:ln w="9525">
              <a:noFill/>
              <a:round/>
              <a:headEnd/>
              <a:tailEnd/>
            </a:ln>
          </p:spPr>
          <p:txBody>
            <a:bodyPr/>
            <a:lstStyle/>
            <a:p>
              <a:endParaRPr lang="zh-CN" altLang="en-US">
                <a:latin typeface="Times New Roman" pitchFamily="18" charset="0"/>
                <a:cs typeface="Times New Roman" pitchFamily="18" charset="0"/>
              </a:endParaRPr>
            </a:p>
          </p:txBody>
        </p:sp>
        <p:sp>
          <p:nvSpPr>
            <p:cNvPr id="23" name="Freeform 24"/>
            <p:cNvSpPr>
              <a:spLocks/>
            </p:cNvSpPr>
            <p:nvPr/>
          </p:nvSpPr>
          <p:spPr bwMode="auto">
            <a:xfrm>
              <a:off x="6523819" y="2472713"/>
              <a:ext cx="54706" cy="38187"/>
            </a:xfrm>
            <a:custGeom>
              <a:avLst/>
              <a:gdLst>
                <a:gd name="T0" fmla="*/ 39 w 39"/>
                <a:gd name="T1" fmla="*/ 27 h 29"/>
                <a:gd name="T2" fmla="*/ 0 w 39"/>
                <a:gd name="T3" fmla="*/ 29 h 29"/>
                <a:gd name="T4" fmla="*/ 13 w 39"/>
                <a:gd name="T5" fmla="*/ 0 h 29"/>
                <a:gd name="T6" fmla="*/ 39 w 39"/>
                <a:gd name="T7" fmla="*/ 27 h 29"/>
                <a:gd name="T8" fmla="*/ 0 60000 65536"/>
                <a:gd name="T9" fmla="*/ 0 60000 65536"/>
                <a:gd name="T10" fmla="*/ 0 60000 65536"/>
                <a:gd name="T11" fmla="*/ 0 60000 65536"/>
                <a:gd name="T12" fmla="*/ 0 w 39"/>
                <a:gd name="T13" fmla="*/ 0 h 29"/>
                <a:gd name="T14" fmla="*/ 39 w 39"/>
                <a:gd name="T15" fmla="*/ 29 h 29"/>
              </a:gdLst>
              <a:ahLst/>
              <a:cxnLst>
                <a:cxn ang="T8">
                  <a:pos x="T0" y="T1"/>
                </a:cxn>
                <a:cxn ang="T9">
                  <a:pos x="T2" y="T3"/>
                </a:cxn>
                <a:cxn ang="T10">
                  <a:pos x="T4" y="T5"/>
                </a:cxn>
                <a:cxn ang="T11">
                  <a:pos x="T6" y="T7"/>
                </a:cxn>
              </a:cxnLst>
              <a:rect l="T12" t="T13" r="T14" b="T15"/>
              <a:pathLst>
                <a:path w="39" h="29">
                  <a:moveTo>
                    <a:pt x="39" y="27"/>
                  </a:moveTo>
                  <a:lnTo>
                    <a:pt x="0" y="29"/>
                  </a:lnTo>
                  <a:lnTo>
                    <a:pt x="13" y="0"/>
                  </a:lnTo>
                  <a:lnTo>
                    <a:pt x="39" y="27"/>
                  </a:lnTo>
                  <a:close/>
                </a:path>
              </a:pathLst>
            </a:cu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24" name="Rectangle 25"/>
            <p:cNvSpPr>
              <a:spLocks noChangeArrowheads="1"/>
            </p:cNvSpPr>
            <p:nvPr/>
          </p:nvSpPr>
          <p:spPr bwMode="auto">
            <a:xfrm>
              <a:off x="6600968" y="2259395"/>
              <a:ext cx="200587" cy="252822"/>
            </a:xfrm>
            <a:prstGeom prst="rect">
              <a:avLst/>
            </a:prstGeom>
            <a:grpFill/>
            <a:ln w="9525">
              <a:noFill/>
              <a:miter lim="800000"/>
              <a:headEnd/>
              <a:tailEnd/>
            </a:ln>
          </p:spPr>
          <p:txBody>
            <a:bodyPr wrap="none" lIns="0" tIns="0" rIns="0" bIns="0">
              <a:spAutoFit/>
            </a:bodyPr>
            <a:lstStyle/>
            <a:p>
              <a:r>
                <a:rPr lang="en-US" altLang="zh-CN" b="1" i="1" dirty="0">
                  <a:solidFill>
                    <a:srgbClr val="080808"/>
                  </a:solidFill>
                  <a:latin typeface="Times New Roman" pitchFamily="18" charset="0"/>
                  <a:cs typeface="Times New Roman" pitchFamily="18" charset="0"/>
                </a:rPr>
                <a:t>T</a:t>
              </a:r>
              <a:r>
                <a:rPr lang="en-US" altLang="zh-CN" baseline="-25000" dirty="0">
                  <a:solidFill>
                    <a:srgbClr val="080808"/>
                  </a:solidFill>
                  <a:latin typeface="Times New Roman" pitchFamily="18" charset="0"/>
                  <a:cs typeface="Times New Roman" pitchFamily="18" charset="0"/>
                </a:rPr>
                <a:t>2</a:t>
              </a:r>
              <a:endParaRPr lang="en-US" altLang="zh-CN" sz="2000" baseline="-25000" dirty="0">
                <a:solidFill>
                  <a:srgbClr val="080808"/>
                </a:solidFill>
                <a:latin typeface="Times New Roman" pitchFamily="18" charset="0"/>
                <a:cs typeface="Times New Roman" pitchFamily="18" charset="0"/>
              </a:endParaRPr>
            </a:p>
          </p:txBody>
        </p:sp>
        <p:sp>
          <p:nvSpPr>
            <p:cNvPr id="25" name="Freeform 27"/>
            <p:cNvSpPr>
              <a:spLocks noEditPoints="1"/>
            </p:cNvSpPr>
            <p:nvPr/>
          </p:nvSpPr>
          <p:spPr bwMode="auto">
            <a:xfrm>
              <a:off x="7153636" y="1699764"/>
              <a:ext cx="392759" cy="460873"/>
            </a:xfrm>
            <a:custGeom>
              <a:avLst/>
              <a:gdLst>
                <a:gd name="T0" fmla="*/ 0 w 280"/>
                <a:gd name="T1" fmla="*/ 175 h 350"/>
                <a:gd name="T2" fmla="*/ 140 w 280"/>
                <a:gd name="T3" fmla="*/ 175 h 350"/>
                <a:gd name="T4" fmla="*/ 140 w 280"/>
                <a:gd name="T5" fmla="*/ 263 h 350"/>
                <a:gd name="T6" fmla="*/ 140 w 280"/>
                <a:gd name="T7" fmla="*/ 88 h 350"/>
                <a:gd name="T8" fmla="*/ 140 w 280"/>
                <a:gd name="T9" fmla="*/ 131 h 350"/>
                <a:gd name="T10" fmla="*/ 280 w 280"/>
                <a:gd name="T11" fmla="*/ 78 h 350"/>
                <a:gd name="T12" fmla="*/ 280 w 280"/>
                <a:gd name="T13" fmla="*/ 0 h 350"/>
                <a:gd name="T14" fmla="*/ 140 w 280"/>
                <a:gd name="T15" fmla="*/ 220 h 350"/>
                <a:gd name="T16" fmla="*/ 280 w 280"/>
                <a:gd name="T17" fmla="*/ 274 h 350"/>
                <a:gd name="T18" fmla="*/ 280 w 280"/>
                <a:gd name="T19" fmla="*/ 350 h 3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0"/>
                <a:gd name="T31" fmla="*/ 0 h 350"/>
                <a:gd name="T32" fmla="*/ 280 w 280"/>
                <a:gd name="T33" fmla="*/ 350 h 35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0" h="350">
                  <a:moveTo>
                    <a:pt x="0" y="175"/>
                  </a:moveTo>
                  <a:lnTo>
                    <a:pt x="140" y="175"/>
                  </a:lnTo>
                  <a:moveTo>
                    <a:pt x="140" y="263"/>
                  </a:moveTo>
                  <a:lnTo>
                    <a:pt x="140" y="88"/>
                  </a:lnTo>
                  <a:moveTo>
                    <a:pt x="140" y="131"/>
                  </a:moveTo>
                  <a:lnTo>
                    <a:pt x="280" y="78"/>
                  </a:lnTo>
                  <a:lnTo>
                    <a:pt x="280" y="0"/>
                  </a:lnTo>
                  <a:moveTo>
                    <a:pt x="140" y="220"/>
                  </a:moveTo>
                  <a:lnTo>
                    <a:pt x="280" y="274"/>
                  </a:lnTo>
                  <a:lnTo>
                    <a:pt x="280" y="350"/>
                  </a:lnTo>
                </a:path>
              </a:pathLst>
            </a:cu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26" name="Freeform 28"/>
            <p:cNvSpPr>
              <a:spLocks/>
            </p:cNvSpPr>
            <p:nvPr/>
          </p:nvSpPr>
          <p:spPr bwMode="auto">
            <a:xfrm>
              <a:off x="7494494" y="2023691"/>
              <a:ext cx="53303" cy="39503"/>
            </a:xfrm>
            <a:custGeom>
              <a:avLst/>
              <a:gdLst>
                <a:gd name="T0" fmla="*/ 38 w 38"/>
                <a:gd name="T1" fmla="*/ 28 h 30"/>
                <a:gd name="T2" fmla="*/ 0 w 38"/>
                <a:gd name="T3" fmla="*/ 30 h 30"/>
                <a:gd name="T4" fmla="*/ 13 w 38"/>
                <a:gd name="T5" fmla="*/ 0 h 30"/>
                <a:gd name="T6" fmla="*/ 38 w 38"/>
                <a:gd name="T7" fmla="*/ 28 h 30"/>
                <a:gd name="T8" fmla="*/ 0 60000 65536"/>
                <a:gd name="T9" fmla="*/ 0 60000 65536"/>
                <a:gd name="T10" fmla="*/ 0 60000 65536"/>
                <a:gd name="T11" fmla="*/ 0 60000 65536"/>
                <a:gd name="T12" fmla="*/ 0 w 38"/>
                <a:gd name="T13" fmla="*/ 0 h 30"/>
                <a:gd name="T14" fmla="*/ 38 w 38"/>
                <a:gd name="T15" fmla="*/ 30 h 30"/>
              </a:gdLst>
              <a:ahLst/>
              <a:cxnLst>
                <a:cxn ang="T8">
                  <a:pos x="T0" y="T1"/>
                </a:cxn>
                <a:cxn ang="T9">
                  <a:pos x="T2" y="T3"/>
                </a:cxn>
                <a:cxn ang="T10">
                  <a:pos x="T4" y="T5"/>
                </a:cxn>
                <a:cxn ang="T11">
                  <a:pos x="T6" y="T7"/>
                </a:cxn>
              </a:cxnLst>
              <a:rect l="T12" t="T13" r="T14" b="T15"/>
              <a:pathLst>
                <a:path w="38" h="30">
                  <a:moveTo>
                    <a:pt x="38" y="28"/>
                  </a:moveTo>
                  <a:lnTo>
                    <a:pt x="0" y="30"/>
                  </a:lnTo>
                  <a:lnTo>
                    <a:pt x="13" y="0"/>
                  </a:lnTo>
                  <a:lnTo>
                    <a:pt x="38" y="28"/>
                  </a:lnTo>
                  <a:close/>
                </a:path>
              </a:pathLst>
            </a:custGeom>
            <a:grpFill/>
            <a:ln w="9525">
              <a:noFill/>
              <a:round/>
              <a:headEnd/>
              <a:tailEnd/>
            </a:ln>
          </p:spPr>
          <p:txBody>
            <a:bodyPr/>
            <a:lstStyle/>
            <a:p>
              <a:endParaRPr lang="zh-CN" altLang="en-US">
                <a:latin typeface="Times New Roman" pitchFamily="18" charset="0"/>
                <a:cs typeface="Times New Roman" pitchFamily="18" charset="0"/>
              </a:endParaRPr>
            </a:p>
          </p:txBody>
        </p:sp>
        <p:sp>
          <p:nvSpPr>
            <p:cNvPr id="27" name="Freeform 29"/>
            <p:cNvSpPr>
              <a:spLocks/>
            </p:cNvSpPr>
            <p:nvPr/>
          </p:nvSpPr>
          <p:spPr bwMode="auto">
            <a:xfrm>
              <a:off x="7494494" y="2023691"/>
              <a:ext cx="53303" cy="39503"/>
            </a:xfrm>
            <a:custGeom>
              <a:avLst/>
              <a:gdLst>
                <a:gd name="T0" fmla="*/ 38 w 38"/>
                <a:gd name="T1" fmla="*/ 28 h 30"/>
                <a:gd name="T2" fmla="*/ 0 w 38"/>
                <a:gd name="T3" fmla="*/ 30 h 30"/>
                <a:gd name="T4" fmla="*/ 13 w 38"/>
                <a:gd name="T5" fmla="*/ 0 h 30"/>
                <a:gd name="T6" fmla="*/ 38 w 38"/>
                <a:gd name="T7" fmla="*/ 28 h 30"/>
                <a:gd name="T8" fmla="*/ 0 60000 65536"/>
                <a:gd name="T9" fmla="*/ 0 60000 65536"/>
                <a:gd name="T10" fmla="*/ 0 60000 65536"/>
                <a:gd name="T11" fmla="*/ 0 60000 65536"/>
                <a:gd name="T12" fmla="*/ 0 w 38"/>
                <a:gd name="T13" fmla="*/ 0 h 30"/>
                <a:gd name="T14" fmla="*/ 38 w 38"/>
                <a:gd name="T15" fmla="*/ 30 h 30"/>
              </a:gdLst>
              <a:ahLst/>
              <a:cxnLst>
                <a:cxn ang="T8">
                  <a:pos x="T0" y="T1"/>
                </a:cxn>
                <a:cxn ang="T9">
                  <a:pos x="T2" y="T3"/>
                </a:cxn>
                <a:cxn ang="T10">
                  <a:pos x="T4" y="T5"/>
                </a:cxn>
                <a:cxn ang="T11">
                  <a:pos x="T6" y="T7"/>
                </a:cxn>
              </a:cxnLst>
              <a:rect l="T12" t="T13" r="T14" b="T15"/>
              <a:pathLst>
                <a:path w="38" h="30">
                  <a:moveTo>
                    <a:pt x="38" y="28"/>
                  </a:moveTo>
                  <a:lnTo>
                    <a:pt x="0" y="30"/>
                  </a:lnTo>
                  <a:lnTo>
                    <a:pt x="13" y="0"/>
                  </a:lnTo>
                  <a:lnTo>
                    <a:pt x="38" y="28"/>
                  </a:lnTo>
                  <a:close/>
                </a:path>
              </a:pathLst>
            </a:cu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28" name="Rectangle 30"/>
            <p:cNvSpPr>
              <a:spLocks noChangeArrowheads="1"/>
            </p:cNvSpPr>
            <p:nvPr/>
          </p:nvSpPr>
          <p:spPr bwMode="auto">
            <a:xfrm>
              <a:off x="7580059" y="1794572"/>
              <a:ext cx="200587" cy="252822"/>
            </a:xfrm>
            <a:prstGeom prst="rect">
              <a:avLst/>
            </a:prstGeom>
            <a:grpFill/>
            <a:ln w="9525">
              <a:noFill/>
              <a:miter lim="800000"/>
              <a:headEnd/>
              <a:tailEnd/>
            </a:ln>
          </p:spPr>
          <p:txBody>
            <a:bodyPr wrap="none" lIns="0" tIns="0" rIns="0" bIns="0">
              <a:spAutoFit/>
            </a:bodyPr>
            <a:lstStyle/>
            <a:p>
              <a:r>
                <a:rPr lang="en-US" altLang="zh-CN" b="1" i="1" dirty="0">
                  <a:solidFill>
                    <a:srgbClr val="080808"/>
                  </a:solidFill>
                  <a:latin typeface="Times New Roman" pitchFamily="18" charset="0"/>
                  <a:cs typeface="Times New Roman" pitchFamily="18" charset="0"/>
                </a:rPr>
                <a:t>T</a:t>
              </a:r>
              <a:r>
                <a:rPr lang="en-US" altLang="zh-CN" baseline="-25000" dirty="0">
                  <a:solidFill>
                    <a:srgbClr val="080808"/>
                  </a:solidFill>
                  <a:latin typeface="Times New Roman" pitchFamily="18" charset="0"/>
                  <a:cs typeface="Times New Roman" pitchFamily="18" charset="0"/>
                </a:rPr>
                <a:t>4</a:t>
              </a:r>
              <a:endParaRPr lang="en-US" altLang="zh-CN" sz="2000" i="1" dirty="0">
                <a:solidFill>
                  <a:srgbClr val="080808"/>
                </a:solidFill>
                <a:latin typeface="Times New Roman" pitchFamily="18" charset="0"/>
                <a:cs typeface="Times New Roman" pitchFamily="18" charset="0"/>
              </a:endParaRPr>
            </a:p>
          </p:txBody>
        </p:sp>
        <p:sp>
          <p:nvSpPr>
            <p:cNvPr id="29" name="Freeform 32"/>
            <p:cNvSpPr>
              <a:spLocks noEditPoints="1"/>
            </p:cNvSpPr>
            <p:nvPr/>
          </p:nvSpPr>
          <p:spPr bwMode="auto">
            <a:xfrm>
              <a:off x="7157844" y="2779523"/>
              <a:ext cx="392759" cy="460873"/>
            </a:xfrm>
            <a:custGeom>
              <a:avLst/>
              <a:gdLst>
                <a:gd name="T0" fmla="*/ 0 w 280"/>
                <a:gd name="T1" fmla="*/ 175 h 350"/>
                <a:gd name="T2" fmla="*/ 140 w 280"/>
                <a:gd name="T3" fmla="*/ 175 h 350"/>
                <a:gd name="T4" fmla="*/ 140 w 280"/>
                <a:gd name="T5" fmla="*/ 262 h 350"/>
                <a:gd name="T6" fmla="*/ 140 w 280"/>
                <a:gd name="T7" fmla="*/ 87 h 350"/>
                <a:gd name="T8" fmla="*/ 140 w 280"/>
                <a:gd name="T9" fmla="*/ 132 h 350"/>
                <a:gd name="T10" fmla="*/ 280 w 280"/>
                <a:gd name="T11" fmla="*/ 78 h 350"/>
                <a:gd name="T12" fmla="*/ 280 w 280"/>
                <a:gd name="T13" fmla="*/ 0 h 350"/>
                <a:gd name="T14" fmla="*/ 140 w 280"/>
                <a:gd name="T15" fmla="*/ 219 h 350"/>
                <a:gd name="T16" fmla="*/ 280 w 280"/>
                <a:gd name="T17" fmla="*/ 273 h 350"/>
                <a:gd name="T18" fmla="*/ 280 w 280"/>
                <a:gd name="T19" fmla="*/ 350 h 3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0"/>
                <a:gd name="T31" fmla="*/ 0 h 350"/>
                <a:gd name="T32" fmla="*/ 280 w 280"/>
                <a:gd name="T33" fmla="*/ 350 h 35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0" h="350">
                  <a:moveTo>
                    <a:pt x="0" y="175"/>
                  </a:moveTo>
                  <a:lnTo>
                    <a:pt x="140" y="175"/>
                  </a:lnTo>
                  <a:moveTo>
                    <a:pt x="140" y="262"/>
                  </a:moveTo>
                  <a:lnTo>
                    <a:pt x="140" y="87"/>
                  </a:lnTo>
                  <a:moveTo>
                    <a:pt x="140" y="132"/>
                  </a:moveTo>
                  <a:lnTo>
                    <a:pt x="280" y="78"/>
                  </a:lnTo>
                  <a:lnTo>
                    <a:pt x="280" y="0"/>
                  </a:lnTo>
                  <a:moveTo>
                    <a:pt x="140" y="219"/>
                  </a:moveTo>
                  <a:lnTo>
                    <a:pt x="280" y="273"/>
                  </a:lnTo>
                  <a:lnTo>
                    <a:pt x="280" y="350"/>
                  </a:lnTo>
                </a:path>
              </a:pathLst>
            </a:cu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30" name="Freeform 33"/>
            <p:cNvSpPr>
              <a:spLocks/>
            </p:cNvSpPr>
            <p:nvPr/>
          </p:nvSpPr>
          <p:spPr bwMode="auto">
            <a:xfrm>
              <a:off x="7494494" y="3100817"/>
              <a:ext cx="53303" cy="39503"/>
            </a:xfrm>
            <a:custGeom>
              <a:avLst/>
              <a:gdLst>
                <a:gd name="T0" fmla="*/ 38 w 38"/>
                <a:gd name="T1" fmla="*/ 27 h 30"/>
                <a:gd name="T2" fmla="*/ 0 w 38"/>
                <a:gd name="T3" fmla="*/ 30 h 30"/>
                <a:gd name="T4" fmla="*/ 13 w 38"/>
                <a:gd name="T5" fmla="*/ 0 h 30"/>
                <a:gd name="T6" fmla="*/ 38 w 38"/>
                <a:gd name="T7" fmla="*/ 27 h 30"/>
                <a:gd name="T8" fmla="*/ 0 60000 65536"/>
                <a:gd name="T9" fmla="*/ 0 60000 65536"/>
                <a:gd name="T10" fmla="*/ 0 60000 65536"/>
                <a:gd name="T11" fmla="*/ 0 60000 65536"/>
                <a:gd name="T12" fmla="*/ 0 w 38"/>
                <a:gd name="T13" fmla="*/ 0 h 30"/>
                <a:gd name="T14" fmla="*/ 38 w 38"/>
                <a:gd name="T15" fmla="*/ 30 h 30"/>
              </a:gdLst>
              <a:ahLst/>
              <a:cxnLst>
                <a:cxn ang="T8">
                  <a:pos x="T0" y="T1"/>
                </a:cxn>
                <a:cxn ang="T9">
                  <a:pos x="T2" y="T3"/>
                </a:cxn>
                <a:cxn ang="T10">
                  <a:pos x="T4" y="T5"/>
                </a:cxn>
                <a:cxn ang="T11">
                  <a:pos x="T6" y="T7"/>
                </a:cxn>
              </a:cxnLst>
              <a:rect l="T12" t="T13" r="T14" b="T15"/>
              <a:pathLst>
                <a:path w="38" h="30">
                  <a:moveTo>
                    <a:pt x="38" y="27"/>
                  </a:moveTo>
                  <a:lnTo>
                    <a:pt x="0" y="30"/>
                  </a:lnTo>
                  <a:lnTo>
                    <a:pt x="13" y="0"/>
                  </a:lnTo>
                  <a:lnTo>
                    <a:pt x="38" y="27"/>
                  </a:lnTo>
                  <a:close/>
                </a:path>
              </a:pathLst>
            </a:custGeom>
            <a:grpFill/>
            <a:ln w="9525">
              <a:noFill/>
              <a:round/>
              <a:headEnd/>
              <a:tailEnd/>
            </a:ln>
          </p:spPr>
          <p:txBody>
            <a:bodyPr/>
            <a:lstStyle/>
            <a:p>
              <a:endParaRPr lang="zh-CN" altLang="en-US">
                <a:latin typeface="Times New Roman" pitchFamily="18" charset="0"/>
                <a:cs typeface="Times New Roman" pitchFamily="18" charset="0"/>
              </a:endParaRPr>
            </a:p>
          </p:txBody>
        </p:sp>
        <p:sp>
          <p:nvSpPr>
            <p:cNvPr id="31" name="Freeform 34"/>
            <p:cNvSpPr>
              <a:spLocks/>
            </p:cNvSpPr>
            <p:nvPr/>
          </p:nvSpPr>
          <p:spPr bwMode="auto">
            <a:xfrm>
              <a:off x="7494494" y="3100817"/>
              <a:ext cx="53303" cy="39503"/>
            </a:xfrm>
            <a:custGeom>
              <a:avLst/>
              <a:gdLst>
                <a:gd name="T0" fmla="*/ 38 w 38"/>
                <a:gd name="T1" fmla="*/ 27 h 30"/>
                <a:gd name="T2" fmla="*/ 0 w 38"/>
                <a:gd name="T3" fmla="*/ 30 h 30"/>
                <a:gd name="T4" fmla="*/ 13 w 38"/>
                <a:gd name="T5" fmla="*/ 0 h 30"/>
                <a:gd name="T6" fmla="*/ 38 w 38"/>
                <a:gd name="T7" fmla="*/ 27 h 30"/>
                <a:gd name="T8" fmla="*/ 0 60000 65536"/>
                <a:gd name="T9" fmla="*/ 0 60000 65536"/>
                <a:gd name="T10" fmla="*/ 0 60000 65536"/>
                <a:gd name="T11" fmla="*/ 0 60000 65536"/>
                <a:gd name="T12" fmla="*/ 0 w 38"/>
                <a:gd name="T13" fmla="*/ 0 h 30"/>
                <a:gd name="T14" fmla="*/ 38 w 38"/>
                <a:gd name="T15" fmla="*/ 30 h 30"/>
              </a:gdLst>
              <a:ahLst/>
              <a:cxnLst>
                <a:cxn ang="T8">
                  <a:pos x="T0" y="T1"/>
                </a:cxn>
                <a:cxn ang="T9">
                  <a:pos x="T2" y="T3"/>
                </a:cxn>
                <a:cxn ang="T10">
                  <a:pos x="T4" y="T5"/>
                </a:cxn>
                <a:cxn ang="T11">
                  <a:pos x="T6" y="T7"/>
                </a:cxn>
              </a:cxnLst>
              <a:rect l="T12" t="T13" r="T14" b="T15"/>
              <a:pathLst>
                <a:path w="38" h="30">
                  <a:moveTo>
                    <a:pt x="38" y="27"/>
                  </a:moveTo>
                  <a:lnTo>
                    <a:pt x="0" y="30"/>
                  </a:lnTo>
                  <a:lnTo>
                    <a:pt x="13" y="0"/>
                  </a:lnTo>
                  <a:lnTo>
                    <a:pt x="38" y="27"/>
                  </a:lnTo>
                  <a:close/>
                </a:path>
              </a:pathLst>
            </a:cu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32" name="Rectangle 35"/>
            <p:cNvSpPr>
              <a:spLocks noChangeArrowheads="1"/>
            </p:cNvSpPr>
            <p:nvPr/>
          </p:nvSpPr>
          <p:spPr bwMode="auto">
            <a:xfrm>
              <a:off x="7561824" y="2883549"/>
              <a:ext cx="200587" cy="252822"/>
            </a:xfrm>
            <a:prstGeom prst="rect">
              <a:avLst/>
            </a:prstGeom>
            <a:grpFill/>
            <a:ln w="9525">
              <a:noFill/>
              <a:miter lim="800000"/>
              <a:headEnd/>
              <a:tailEnd/>
            </a:ln>
          </p:spPr>
          <p:txBody>
            <a:bodyPr wrap="none" lIns="0" tIns="0" rIns="0" bIns="0">
              <a:spAutoFit/>
            </a:bodyPr>
            <a:lstStyle/>
            <a:p>
              <a:r>
                <a:rPr lang="en-US" altLang="zh-CN" b="1" i="1" dirty="0">
                  <a:solidFill>
                    <a:srgbClr val="080808"/>
                  </a:solidFill>
                  <a:latin typeface="Times New Roman" pitchFamily="18" charset="0"/>
                  <a:cs typeface="Times New Roman" pitchFamily="18" charset="0"/>
                </a:rPr>
                <a:t>T</a:t>
              </a:r>
              <a:r>
                <a:rPr lang="en-US" altLang="zh-CN" baseline="-25000" dirty="0">
                  <a:solidFill>
                    <a:srgbClr val="080808"/>
                  </a:solidFill>
                  <a:latin typeface="Times New Roman" pitchFamily="18" charset="0"/>
                  <a:cs typeface="Times New Roman" pitchFamily="18" charset="0"/>
                </a:rPr>
                <a:t>3</a:t>
              </a:r>
              <a:endParaRPr lang="en-US" altLang="zh-CN" sz="2000" dirty="0">
                <a:solidFill>
                  <a:srgbClr val="080808"/>
                </a:solidFill>
                <a:latin typeface="Times New Roman" pitchFamily="18" charset="0"/>
                <a:cs typeface="Times New Roman" pitchFamily="18" charset="0"/>
              </a:endParaRPr>
            </a:p>
          </p:txBody>
        </p:sp>
        <p:sp>
          <p:nvSpPr>
            <p:cNvPr id="34" name="Rectangle 38"/>
            <p:cNvSpPr>
              <a:spLocks noChangeArrowheads="1"/>
            </p:cNvSpPr>
            <p:nvPr/>
          </p:nvSpPr>
          <p:spPr bwMode="auto">
            <a:xfrm>
              <a:off x="5826673" y="1365302"/>
              <a:ext cx="113619" cy="251505"/>
            </a:xfrm>
            <a:prstGeom prst="rect">
              <a:avLst/>
            </a:prstGeom>
            <a:grpFill/>
            <a:ln w="22225" cap="rnd">
              <a:solidFill>
                <a:srgbClr val="000000"/>
              </a:solidFill>
              <a:round/>
              <a:headEnd/>
              <a:tailEnd/>
            </a:ln>
          </p:spPr>
          <p:txBody>
            <a:bodyPr/>
            <a:lstStyle/>
            <a:p>
              <a:endParaRPr lang="zh-CN" altLang="en-US">
                <a:solidFill>
                  <a:srgbClr val="080808"/>
                </a:solidFill>
                <a:latin typeface="Times New Roman" pitchFamily="18" charset="0"/>
                <a:cs typeface="Times New Roman" pitchFamily="18" charset="0"/>
              </a:endParaRPr>
            </a:p>
          </p:txBody>
        </p:sp>
        <p:sp>
          <p:nvSpPr>
            <p:cNvPr id="35" name="Rectangle 39"/>
            <p:cNvSpPr>
              <a:spLocks noChangeArrowheads="1"/>
            </p:cNvSpPr>
            <p:nvPr/>
          </p:nvSpPr>
          <p:spPr bwMode="auto">
            <a:xfrm>
              <a:off x="5509661" y="1224406"/>
              <a:ext cx="283347" cy="252822"/>
            </a:xfrm>
            <a:prstGeom prst="rect">
              <a:avLst/>
            </a:prstGeom>
            <a:grpFill/>
            <a:ln w="9525">
              <a:noFill/>
              <a:miter lim="800000"/>
              <a:headEnd/>
              <a:tailEnd/>
            </a:ln>
          </p:spPr>
          <p:txBody>
            <a:bodyPr wrap="none" lIns="0" tIns="0" rIns="0" bIns="0">
              <a:spAutoFit/>
            </a:bodyPr>
            <a:lstStyle/>
            <a:p>
              <a:r>
                <a:rPr lang="en-US" altLang="zh-CN" sz="1800" b="1" i="1" dirty="0">
                  <a:solidFill>
                    <a:srgbClr val="080808"/>
                  </a:solidFill>
                  <a:latin typeface="Times New Roman" pitchFamily="18" charset="0"/>
                  <a:cs typeface="Times New Roman" pitchFamily="18" charset="0"/>
                </a:rPr>
                <a:t>R</a:t>
              </a:r>
              <a:r>
                <a:rPr lang="en-US" altLang="zh-CN" baseline="-25000" dirty="0">
                  <a:solidFill>
                    <a:srgbClr val="080808"/>
                  </a:solidFill>
                  <a:latin typeface="Times New Roman" pitchFamily="18" charset="0"/>
                  <a:cs typeface="Times New Roman" pitchFamily="18" charset="0"/>
                </a:rPr>
                <a:t>b1</a:t>
              </a:r>
              <a:endParaRPr lang="en-US" altLang="zh-CN" sz="2000" baseline="-25000" dirty="0">
                <a:solidFill>
                  <a:srgbClr val="080808"/>
                </a:solidFill>
                <a:latin typeface="Times New Roman" pitchFamily="18" charset="0"/>
                <a:cs typeface="Times New Roman" pitchFamily="18" charset="0"/>
              </a:endParaRPr>
            </a:p>
          </p:txBody>
        </p:sp>
        <p:sp>
          <p:nvSpPr>
            <p:cNvPr id="39" name="Rectangle 44"/>
            <p:cNvSpPr>
              <a:spLocks noChangeArrowheads="1"/>
            </p:cNvSpPr>
            <p:nvPr/>
          </p:nvSpPr>
          <p:spPr bwMode="auto">
            <a:xfrm>
              <a:off x="7141011" y="1320531"/>
              <a:ext cx="333845" cy="276524"/>
            </a:xfrm>
            <a:prstGeom prst="rect">
              <a:avLst/>
            </a:prstGeom>
            <a:grpFill/>
            <a:ln w="9525">
              <a:noFill/>
              <a:miter lim="800000"/>
              <a:headEnd/>
              <a:tailEnd/>
            </a:ln>
          </p:spPr>
          <p:txBody>
            <a:bodyPr wrap="none" lIns="0" tIns="0" rIns="0" bIns="0">
              <a:spAutoFit/>
            </a:bodyPr>
            <a:lstStyle/>
            <a:p>
              <a:r>
                <a:rPr lang="en-US" altLang="zh-CN" b="1" i="1" dirty="0">
                  <a:solidFill>
                    <a:srgbClr val="080808"/>
                  </a:solidFill>
                  <a:latin typeface="Times New Roman" pitchFamily="18" charset="0"/>
                  <a:cs typeface="Times New Roman" pitchFamily="18" charset="0"/>
                </a:rPr>
                <a:t>R</a:t>
              </a:r>
              <a:r>
                <a:rPr lang="en-US" altLang="zh-CN" baseline="-25000" dirty="0">
                  <a:solidFill>
                    <a:srgbClr val="080808"/>
                  </a:solidFill>
                  <a:latin typeface="Times New Roman" pitchFamily="18" charset="0"/>
                  <a:cs typeface="Times New Roman" pitchFamily="18" charset="0"/>
                </a:rPr>
                <a:t>C4</a:t>
              </a:r>
              <a:endParaRPr lang="en-US" altLang="zh-CN" sz="2000" baseline="-25000" dirty="0">
                <a:solidFill>
                  <a:srgbClr val="080808"/>
                </a:solidFill>
                <a:latin typeface="Times New Roman" pitchFamily="18" charset="0"/>
                <a:cs typeface="Times New Roman" pitchFamily="18" charset="0"/>
              </a:endParaRPr>
            </a:p>
          </p:txBody>
        </p:sp>
        <p:sp>
          <p:nvSpPr>
            <p:cNvPr id="41" name="Rectangle 47"/>
            <p:cNvSpPr>
              <a:spLocks noChangeArrowheads="1"/>
            </p:cNvSpPr>
            <p:nvPr/>
          </p:nvSpPr>
          <p:spPr bwMode="auto">
            <a:xfrm>
              <a:off x="6523819" y="1365302"/>
              <a:ext cx="112217" cy="251505"/>
            </a:xfrm>
            <a:prstGeom prst="rect">
              <a:avLst/>
            </a:prstGeom>
            <a:grpFill/>
            <a:ln w="22225" cap="rnd">
              <a:solidFill>
                <a:srgbClr val="000000"/>
              </a:solidFill>
              <a:round/>
              <a:headEnd/>
              <a:tailEnd/>
            </a:ln>
          </p:spPr>
          <p:txBody>
            <a:bodyPr/>
            <a:lstStyle/>
            <a:p>
              <a:endParaRPr lang="zh-CN" altLang="en-US">
                <a:solidFill>
                  <a:srgbClr val="080808"/>
                </a:solidFill>
                <a:latin typeface="Times New Roman" pitchFamily="18" charset="0"/>
                <a:cs typeface="Times New Roman" pitchFamily="18" charset="0"/>
              </a:endParaRPr>
            </a:p>
          </p:txBody>
        </p:sp>
        <p:sp>
          <p:nvSpPr>
            <p:cNvPr id="42" name="Rectangle 48"/>
            <p:cNvSpPr>
              <a:spLocks noChangeArrowheads="1"/>
            </p:cNvSpPr>
            <p:nvPr/>
          </p:nvSpPr>
          <p:spPr bwMode="auto">
            <a:xfrm>
              <a:off x="6173142" y="1317898"/>
              <a:ext cx="333845" cy="276524"/>
            </a:xfrm>
            <a:prstGeom prst="rect">
              <a:avLst/>
            </a:prstGeom>
            <a:grpFill/>
            <a:ln w="9525">
              <a:noFill/>
              <a:miter lim="800000"/>
              <a:headEnd/>
              <a:tailEnd/>
            </a:ln>
          </p:spPr>
          <p:txBody>
            <a:bodyPr wrap="none" lIns="0" tIns="0" rIns="0" bIns="0">
              <a:spAutoFit/>
            </a:bodyPr>
            <a:lstStyle/>
            <a:p>
              <a:r>
                <a:rPr lang="en-US" altLang="zh-CN" b="1" i="1" dirty="0">
                  <a:solidFill>
                    <a:srgbClr val="080808"/>
                  </a:solidFill>
                  <a:latin typeface="Times New Roman" pitchFamily="18" charset="0"/>
                  <a:cs typeface="Times New Roman" pitchFamily="18" charset="0"/>
                </a:rPr>
                <a:t>R</a:t>
              </a:r>
              <a:r>
                <a:rPr lang="en-US" altLang="zh-CN" baseline="-25000" dirty="0">
                  <a:solidFill>
                    <a:srgbClr val="080808"/>
                  </a:solidFill>
                  <a:latin typeface="Times New Roman" pitchFamily="18" charset="0"/>
                  <a:cs typeface="Times New Roman" pitchFamily="18" charset="0"/>
                </a:rPr>
                <a:t>C2</a:t>
              </a:r>
              <a:endParaRPr lang="en-US" altLang="zh-CN" sz="2000" baseline="-25000" dirty="0">
                <a:solidFill>
                  <a:srgbClr val="080808"/>
                </a:solidFill>
                <a:latin typeface="Times New Roman" pitchFamily="18" charset="0"/>
                <a:cs typeface="Times New Roman" pitchFamily="18" charset="0"/>
              </a:endParaRPr>
            </a:p>
          </p:txBody>
        </p:sp>
        <p:sp>
          <p:nvSpPr>
            <p:cNvPr id="44" name="Rectangle 51"/>
            <p:cNvSpPr>
              <a:spLocks noChangeArrowheads="1"/>
            </p:cNvSpPr>
            <p:nvPr/>
          </p:nvSpPr>
          <p:spPr bwMode="auto">
            <a:xfrm>
              <a:off x="6523819" y="3237762"/>
              <a:ext cx="112217" cy="250188"/>
            </a:xfrm>
            <a:prstGeom prst="rect">
              <a:avLst/>
            </a:prstGeom>
            <a:grpFill/>
            <a:ln w="22225" cap="rnd">
              <a:solidFill>
                <a:srgbClr val="000000"/>
              </a:solidFill>
              <a:round/>
              <a:headEnd/>
              <a:tailEnd/>
            </a:ln>
          </p:spPr>
          <p:txBody>
            <a:bodyPr/>
            <a:lstStyle/>
            <a:p>
              <a:endParaRPr lang="zh-CN" altLang="en-US">
                <a:solidFill>
                  <a:srgbClr val="080808"/>
                </a:solidFill>
                <a:latin typeface="Times New Roman" pitchFamily="18" charset="0"/>
                <a:cs typeface="Times New Roman" pitchFamily="18" charset="0"/>
              </a:endParaRPr>
            </a:p>
          </p:txBody>
        </p:sp>
        <p:sp>
          <p:nvSpPr>
            <p:cNvPr id="45" name="Rectangle 52"/>
            <p:cNvSpPr>
              <a:spLocks noChangeArrowheads="1"/>
            </p:cNvSpPr>
            <p:nvPr/>
          </p:nvSpPr>
          <p:spPr bwMode="auto">
            <a:xfrm>
              <a:off x="6212418" y="3261464"/>
              <a:ext cx="276334" cy="533296"/>
            </a:xfrm>
            <a:prstGeom prst="rect">
              <a:avLst/>
            </a:prstGeom>
            <a:noFill/>
            <a:ln w="9525">
              <a:noFill/>
              <a:miter lim="800000"/>
              <a:headEnd/>
              <a:tailEnd/>
            </a:ln>
          </p:spPr>
          <p:txBody>
            <a:bodyPr wrap="none" lIns="0" tIns="0" rIns="0" bIns="0">
              <a:spAutoFit/>
            </a:bodyPr>
            <a:lstStyle/>
            <a:p>
              <a:r>
                <a:rPr lang="en-US" altLang="zh-CN" b="1" i="1" dirty="0">
                  <a:solidFill>
                    <a:srgbClr val="080808"/>
                  </a:solidFill>
                  <a:latin typeface="Times New Roman" pitchFamily="18" charset="0"/>
                  <a:cs typeface="Times New Roman" pitchFamily="18" charset="0"/>
                </a:rPr>
                <a:t>R</a:t>
              </a:r>
              <a:r>
                <a:rPr lang="en-US" altLang="zh-CN" baseline="-25000" dirty="0">
                  <a:solidFill>
                    <a:srgbClr val="080808"/>
                  </a:solidFill>
                  <a:latin typeface="Times New Roman" pitchFamily="18" charset="0"/>
                  <a:cs typeface="Times New Roman" pitchFamily="18" charset="0"/>
                </a:rPr>
                <a:t>e2</a:t>
              </a:r>
              <a:endParaRPr lang="en-US" altLang="zh-CN" sz="2000" baseline="-25000" dirty="0">
                <a:solidFill>
                  <a:srgbClr val="080808"/>
                </a:solidFill>
                <a:latin typeface="Times New Roman" pitchFamily="18" charset="0"/>
                <a:cs typeface="Times New Roman" pitchFamily="18" charset="0"/>
              </a:endParaRPr>
            </a:p>
            <a:p>
              <a:endParaRPr lang="en-US" altLang="zh-CN" sz="2000" i="1" dirty="0">
                <a:solidFill>
                  <a:srgbClr val="080808"/>
                </a:solidFill>
                <a:latin typeface="Times New Roman" pitchFamily="18" charset="0"/>
                <a:cs typeface="Times New Roman" pitchFamily="18" charset="0"/>
              </a:endParaRPr>
            </a:p>
          </p:txBody>
        </p:sp>
        <p:sp>
          <p:nvSpPr>
            <p:cNvPr id="46" name="Line 54"/>
            <p:cNvSpPr>
              <a:spLocks noChangeShapeType="1"/>
            </p:cNvSpPr>
            <p:nvPr/>
          </p:nvSpPr>
          <p:spPr bwMode="auto">
            <a:xfrm>
              <a:off x="6580962" y="2609658"/>
              <a:ext cx="1403" cy="628104"/>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47" name="Line 55"/>
            <p:cNvSpPr>
              <a:spLocks noChangeShapeType="1"/>
            </p:cNvSpPr>
            <p:nvPr/>
          </p:nvSpPr>
          <p:spPr bwMode="auto">
            <a:xfrm flipV="1">
              <a:off x="6578525" y="1616807"/>
              <a:ext cx="1403" cy="531979"/>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48" name="Line 56"/>
            <p:cNvSpPr>
              <a:spLocks noChangeShapeType="1"/>
            </p:cNvSpPr>
            <p:nvPr/>
          </p:nvSpPr>
          <p:spPr bwMode="auto">
            <a:xfrm flipH="1">
              <a:off x="6578525" y="1928883"/>
              <a:ext cx="576513" cy="1317"/>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49" name="Freeform 57"/>
            <p:cNvSpPr>
              <a:spLocks/>
            </p:cNvSpPr>
            <p:nvPr/>
          </p:nvSpPr>
          <p:spPr bwMode="auto">
            <a:xfrm>
              <a:off x="6533638" y="1892013"/>
              <a:ext cx="88371" cy="77690"/>
            </a:xfrm>
            <a:custGeom>
              <a:avLst/>
              <a:gdLst>
                <a:gd name="T0" fmla="*/ 82 w 59"/>
                <a:gd name="T1" fmla="*/ 29 h 59"/>
                <a:gd name="T2" fmla="*/ 41 w 59"/>
                <a:gd name="T3" fmla="*/ 0 h 59"/>
                <a:gd name="T4" fmla="*/ 0 w 59"/>
                <a:gd name="T5" fmla="*/ 29 h 59"/>
                <a:gd name="T6" fmla="*/ 0 w 59"/>
                <a:gd name="T7" fmla="*/ 29 h 59"/>
                <a:gd name="T8" fmla="*/ 41 w 59"/>
                <a:gd name="T9" fmla="*/ 59 h 59"/>
                <a:gd name="T10" fmla="*/ 82 w 59"/>
                <a:gd name="T11" fmla="*/ 29 h 59"/>
                <a:gd name="T12" fmla="*/ 0 60000 65536"/>
                <a:gd name="T13" fmla="*/ 0 60000 65536"/>
                <a:gd name="T14" fmla="*/ 0 60000 65536"/>
                <a:gd name="T15" fmla="*/ 0 60000 65536"/>
                <a:gd name="T16" fmla="*/ 0 60000 65536"/>
                <a:gd name="T17" fmla="*/ 0 60000 65536"/>
                <a:gd name="T18" fmla="*/ 0 w 59"/>
                <a:gd name="T19" fmla="*/ 0 h 59"/>
                <a:gd name="T20" fmla="*/ 59 w 59"/>
                <a:gd name="T21" fmla="*/ 59 h 59"/>
              </a:gdLst>
              <a:ahLst/>
              <a:cxnLst>
                <a:cxn ang="T12">
                  <a:pos x="T0" y="T1"/>
                </a:cxn>
                <a:cxn ang="T13">
                  <a:pos x="T2" y="T3"/>
                </a:cxn>
                <a:cxn ang="T14">
                  <a:pos x="T4" y="T5"/>
                </a:cxn>
                <a:cxn ang="T15">
                  <a:pos x="T6" y="T7"/>
                </a:cxn>
                <a:cxn ang="T16">
                  <a:pos x="T8" y="T9"/>
                </a:cxn>
                <a:cxn ang="T17">
                  <a:pos x="T10" y="T11"/>
                </a:cxn>
              </a:cxnLst>
              <a:rect l="T18" t="T19" r="T20" b="T21"/>
              <a:pathLst>
                <a:path w="59" h="59">
                  <a:moveTo>
                    <a:pt x="59" y="29"/>
                  </a:moveTo>
                  <a:cubicBezTo>
                    <a:pt x="59" y="13"/>
                    <a:pt x="46" y="0"/>
                    <a:pt x="30" y="0"/>
                  </a:cubicBezTo>
                  <a:cubicBezTo>
                    <a:pt x="14" y="0"/>
                    <a:pt x="0" y="13"/>
                    <a:pt x="0" y="29"/>
                  </a:cubicBezTo>
                  <a:cubicBezTo>
                    <a:pt x="0" y="29"/>
                    <a:pt x="0" y="29"/>
                    <a:pt x="0" y="29"/>
                  </a:cubicBezTo>
                  <a:cubicBezTo>
                    <a:pt x="0" y="46"/>
                    <a:pt x="14" y="59"/>
                    <a:pt x="30" y="59"/>
                  </a:cubicBezTo>
                  <a:cubicBezTo>
                    <a:pt x="46" y="59"/>
                    <a:pt x="59" y="46"/>
                    <a:pt x="59" y="29"/>
                  </a:cubicBezTo>
                </a:path>
              </a:pathLst>
            </a:custGeom>
            <a:solidFill>
              <a:schemeClr val="tx1"/>
            </a:solidFill>
            <a:ln w="0">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50" name="Line 58"/>
            <p:cNvSpPr>
              <a:spLocks noChangeShapeType="1"/>
            </p:cNvSpPr>
            <p:nvPr/>
          </p:nvSpPr>
          <p:spPr bwMode="auto">
            <a:xfrm flipH="1">
              <a:off x="6585725" y="3009959"/>
              <a:ext cx="576513" cy="1317"/>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51" name="Freeform 59"/>
            <p:cNvSpPr>
              <a:spLocks/>
            </p:cNvSpPr>
            <p:nvPr/>
          </p:nvSpPr>
          <p:spPr bwMode="auto">
            <a:xfrm>
              <a:off x="6544469" y="2967822"/>
              <a:ext cx="77540" cy="77690"/>
            </a:xfrm>
            <a:custGeom>
              <a:avLst/>
              <a:gdLst>
                <a:gd name="T0" fmla="*/ 82 w 59"/>
                <a:gd name="T1" fmla="*/ 30 h 59"/>
                <a:gd name="T2" fmla="*/ 41 w 59"/>
                <a:gd name="T3" fmla="*/ 0 h 59"/>
                <a:gd name="T4" fmla="*/ 0 w 59"/>
                <a:gd name="T5" fmla="*/ 30 h 59"/>
                <a:gd name="T6" fmla="*/ 0 w 59"/>
                <a:gd name="T7" fmla="*/ 30 h 59"/>
                <a:gd name="T8" fmla="*/ 41 w 59"/>
                <a:gd name="T9" fmla="*/ 59 h 59"/>
                <a:gd name="T10" fmla="*/ 82 w 59"/>
                <a:gd name="T11" fmla="*/ 30 h 59"/>
                <a:gd name="T12" fmla="*/ 0 60000 65536"/>
                <a:gd name="T13" fmla="*/ 0 60000 65536"/>
                <a:gd name="T14" fmla="*/ 0 60000 65536"/>
                <a:gd name="T15" fmla="*/ 0 60000 65536"/>
                <a:gd name="T16" fmla="*/ 0 60000 65536"/>
                <a:gd name="T17" fmla="*/ 0 60000 65536"/>
                <a:gd name="T18" fmla="*/ 0 w 59"/>
                <a:gd name="T19" fmla="*/ 0 h 59"/>
                <a:gd name="T20" fmla="*/ 59 w 59"/>
                <a:gd name="T21" fmla="*/ 59 h 59"/>
              </a:gdLst>
              <a:ahLst/>
              <a:cxnLst>
                <a:cxn ang="T12">
                  <a:pos x="T0" y="T1"/>
                </a:cxn>
                <a:cxn ang="T13">
                  <a:pos x="T2" y="T3"/>
                </a:cxn>
                <a:cxn ang="T14">
                  <a:pos x="T4" y="T5"/>
                </a:cxn>
                <a:cxn ang="T15">
                  <a:pos x="T6" y="T7"/>
                </a:cxn>
                <a:cxn ang="T16">
                  <a:pos x="T8" y="T9"/>
                </a:cxn>
                <a:cxn ang="T17">
                  <a:pos x="T10" y="T11"/>
                </a:cxn>
              </a:cxnLst>
              <a:rect l="T18" t="T19" r="T20" b="T21"/>
              <a:pathLst>
                <a:path w="59" h="59">
                  <a:moveTo>
                    <a:pt x="59" y="30"/>
                  </a:moveTo>
                  <a:cubicBezTo>
                    <a:pt x="59" y="14"/>
                    <a:pt x="46" y="0"/>
                    <a:pt x="30" y="0"/>
                  </a:cubicBezTo>
                  <a:cubicBezTo>
                    <a:pt x="14" y="0"/>
                    <a:pt x="0" y="14"/>
                    <a:pt x="0" y="30"/>
                  </a:cubicBezTo>
                  <a:cubicBezTo>
                    <a:pt x="0" y="30"/>
                    <a:pt x="0" y="30"/>
                    <a:pt x="0" y="30"/>
                  </a:cubicBezTo>
                  <a:cubicBezTo>
                    <a:pt x="0" y="46"/>
                    <a:pt x="14" y="59"/>
                    <a:pt x="30" y="59"/>
                  </a:cubicBezTo>
                  <a:cubicBezTo>
                    <a:pt x="46" y="59"/>
                    <a:pt x="59" y="46"/>
                    <a:pt x="59" y="30"/>
                  </a:cubicBezTo>
                </a:path>
              </a:pathLst>
            </a:custGeom>
            <a:solidFill>
              <a:schemeClr val="tx1"/>
            </a:solidFill>
            <a:ln w="0">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52" name="Freeform 60"/>
            <p:cNvSpPr>
              <a:spLocks/>
            </p:cNvSpPr>
            <p:nvPr/>
          </p:nvSpPr>
          <p:spPr bwMode="auto">
            <a:xfrm>
              <a:off x="7476259" y="2306799"/>
              <a:ext cx="143076" cy="125094"/>
            </a:xfrm>
            <a:custGeom>
              <a:avLst/>
              <a:gdLst>
                <a:gd name="T0" fmla="*/ 0 w 102"/>
                <a:gd name="T1" fmla="*/ 0 h 95"/>
                <a:gd name="T2" fmla="*/ 51 w 102"/>
                <a:gd name="T3" fmla="*/ 95 h 95"/>
                <a:gd name="T4" fmla="*/ 102 w 102"/>
                <a:gd name="T5" fmla="*/ 0 h 95"/>
                <a:gd name="T6" fmla="*/ 0 w 102"/>
                <a:gd name="T7" fmla="*/ 0 h 95"/>
                <a:gd name="T8" fmla="*/ 0 60000 65536"/>
                <a:gd name="T9" fmla="*/ 0 60000 65536"/>
                <a:gd name="T10" fmla="*/ 0 60000 65536"/>
                <a:gd name="T11" fmla="*/ 0 60000 65536"/>
                <a:gd name="T12" fmla="*/ 0 w 102"/>
                <a:gd name="T13" fmla="*/ 0 h 95"/>
                <a:gd name="T14" fmla="*/ 102 w 102"/>
                <a:gd name="T15" fmla="*/ 95 h 95"/>
              </a:gdLst>
              <a:ahLst/>
              <a:cxnLst>
                <a:cxn ang="T8">
                  <a:pos x="T0" y="T1"/>
                </a:cxn>
                <a:cxn ang="T9">
                  <a:pos x="T2" y="T3"/>
                </a:cxn>
                <a:cxn ang="T10">
                  <a:pos x="T4" y="T5"/>
                </a:cxn>
                <a:cxn ang="T11">
                  <a:pos x="T6" y="T7"/>
                </a:cxn>
              </a:cxnLst>
              <a:rect l="T12" t="T13" r="T14" b="T15"/>
              <a:pathLst>
                <a:path w="102" h="95">
                  <a:moveTo>
                    <a:pt x="0" y="0"/>
                  </a:moveTo>
                  <a:lnTo>
                    <a:pt x="51" y="95"/>
                  </a:lnTo>
                  <a:lnTo>
                    <a:pt x="102" y="0"/>
                  </a:lnTo>
                  <a:lnTo>
                    <a:pt x="0" y="0"/>
                  </a:lnTo>
                  <a:close/>
                </a:path>
              </a:pathLst>
            </a:custGeom>
            <a:grpFill/>
            <a:ln w="9525">
              <a:noFill/>
              <a:round/>
              <a:headEnd/>
              <a:tailEnd/>
            </a:ln>
          </p:spPr>
          <p:txBody>
            <a:bodyPr/>
            <a:lstStyle/>
            <a:p>
              <a:endParaRPr lang="zh-CN" altLang="en-US">
                <a:latin typeface="Times New Roman" pitchFamily="18" charset="0"/>
                <a:cs typeface="Times New Roman" pitchFamily="18" charset="0"/>
              </a:endParaRPr>
            </a:p>
          </p:txBody>
        </p:sp>
        <p:sp>
          <p:nvSpPr>
            <p:cNvPr id="53" name="Freeform 61"/>
            <p:cNvSpPr>
              <a:spLocks noEditPoints="1"/>
            </p:cNvSpPr>
            <p:nvPr/>
          </p:nvSpPr>
          <p:spPr bwMode="auto">
            <a:xfrm>
              <a:off x="7476259" y="2306799"/>
              <a:ext cx="143076" cy="125094"/>
            </a:xfrm>
            <a:custGeom>
              <a:avLst/>
              <a:gdLst>
                <a:gd name="T0" fmla="*/ 102 w 102"/>
                <a:gd name="T1" fmla="*/ 95 h 95"/>
                <a:gd name="T2" fmla="*/ 0 w 102"/>
                <a:gd name="T3" fmla="*/ 95 h 95"/>
                <a:gd name="T4" fmla="*/ 0 w 102"/>
                <a:gd name="T5" fmla="*/ 0 h 95"/>
                <a:gd name="T6" fmla="*/ 51 w 102"/>
                <a:gd name="T7" fmla="*/ 95 h 95"/>
                <a:gd name="T8" fmla="*/ 102 w 102"/>
                <a:gd name="T9" fmla="*/ 0 h 95"/>
                <a:gd name="T10" fmla="*/ 0 w 102"/>
                <a:gd name="T11" fmla="*/ 0 h 95"/>
                <a:gd name="T12" fmla="*/ 0 60000 65536"/>
                <a:gd name="T13" fmla="*/ 0 60000 65536"/>
                <a:gd name="T14" fmla="*/ 0 60000 65536"/>
                <a:gd name="T15" fmla="*/ 0 60000 65536"/>
                <a:gd name="T16" fmla="*/ 0 60000 65536"/>
                <a:gd name="T17" fmla="*/ 0 60000 65536"/>
                <a:gd name="T18" fmla="*/ 0 w 102"/>
                <a:gd name="T19" fmla="*/ 0 h 95"/>
                <a:gd name="T20" fmla="*/ 102 w 102"/>
                <a:gd name="T21" fmla="*/ 95 h 95"/>
              </a:gdLst>
              <a:ahLst/>
              <a:cxnLst>
                <a:cxn ang="T12">
                  <a:pos x="T0" y="T1"/>
                </a:cxn>
                <a:cxn ang="T13">
                  <a:pos x="T2" y="T3"/>
                </a:cxn>
                <a:cxn ang="T14">
                  <a:pos x="T4" y="T5"/>
                </a:cxn>
                <a:cxn ang="T15">
                  <a:pos x="T6" y="T7"/>
                </a:cxn>
                <a:cxn ang="T16">
                  <a:pos x="T8" y="T9"/>
                </a:cxn>
                <a:cxn ang="T17">
                  <a:pos x="T10" y="T11"/>
                </a:cxn>
              </a:cxnLst>
              <a:rect l="T18" t="T19" r="T20" b="T21"/>
              <a:pathLst>
                <a:path w="102" h="95">
                  <a:moveTo>
                    <a:pt x="102" y="95"/>
                  </a:moveTo>
                  <a:lnTo>
                    <a:pt x="0" y="95"/>
                  </a:lnTo>
                  <a:moveTo>
                    <a:pt x="0" y="0"/>
                  </a:moveTo>
                  <a:lnTo>
                    <a:pt x="51" y="95"/>
                  </a:lnTo>
                  <a:lnTo>
                    <a:pt x="102" y="0"/>
                  </a:lnTo>
                  <a:lnTo>
                    <a:pt x="0" y="0"/>
                  </a:lnTo>
                </a:path>
              </a:pathLst>
            </a:cu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54" name="Line 62"/>
            <p:cNvSpPr>
              <a:spLocks noChangeShapeType="1"/>
            </p:cNvSpPr>
            <p:nvPr/>
          </p:nvSpPr>
          <p:spPr bwMode="auto">
            <a:xfrm>
              <a:off x="7546394" y="2118500"/>
              <a:ext cx="1403" cy="501693"/>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55" name="Rectangle 63"/>
            <p:cNvSpPr>
              <a:spLocks noChangeArrowheads="1"/>
            </p:cNvSpPr>
            <p:nvPr/>
          </p:nvSpPr>
          <p:spPr bwMode="auto">
            <a:xfrm>
              <a:off x="7330377" y="2280463"/>
              <a:ext cx="119230" cy="196200"/>
            </a:xfrm>
            <a:prstGeom prst="rect">
              <a:avLst/>
            </a:prstGeom>
            <a:grpFill/>
            <a:ln w="9525">
              <a:noFill/>
              <a:miter lim="800000"/>
              <a:headEnd/>
              <a:tailEnd/>
            </a:ln>
          </p:spPr>
          <p:txBody>
            <a:bodyPr wrap="none" lIns="0" tIns="0" rIns="0" bIns="0">
              <a:spAutoFit/>
            </a:bodyPr>
            <a:lstStyle/>
            <a:p>
              <a:r>
                <a:rPr lang="en-US" altLang="zh-CN" sz="1400" b="0" dirty="0">
                  <a:solidFill>
                    <a:srgbClr val="080808"/>
                  </a:solidFill>
                  <a:latin typeface="Times New Roman" pitchFamily="18" charset="0"/>
                  <a:cs typeface="Times New Roman" pitchFamily="18" charset="0"/>
                </a:rPr>
                <a:t>D</a:t>
              </a:r>
              <a:endParaRPr lang="en-US" altLang="zh-CN" sz="2000" dirty="0">
                <a:solidFill>
                  <a:srgbClr val="080808"/>
                </a:solidFill>
                <a:latin typeface="Times New Roman" pitchFamily="18" charset="0"/>
                <a:cs typeface="Times New Roman" pitchFamily="18" charset="0"/>
              </a:endParaRPr>
            </a:p>
          </p:txBody>
        </p:sp>
        <p:sp>
          <p:nvSpPr>
            <p:cNvPr id="57" name="Line 65"/>
            <p:cNvSpPr>
              <a:spLocks noChangeShapeType="1"/>
            </p:cNvSpPr>
            <p:nvPr/>
          </p:nvSpPr>
          <p:spPr bwMode="auto">
            <a:xfrm>
              <a:off x="6579928" y="3487950"/>
              <a:ext cx="1403" cy="184349"/>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58" name="Line 66"/>
            <p:cNvSpPr>
              <a:spLocks noChangeShapeType="1"/>
            </p:cNvSpPr>
            <p:nvPr/>
          </p:nvSpPr>
          <p:spPr bwMode="auto">
            <a:xfrm flipV="1">
              <a:off x="6484544" y="3678883"/>
              <a:ext cx="176741" cy="0"/>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59" name="Line 67"/>
            <p:cNvSpPr>
              <a:spLocks noChangeShapeType="1"/>
            </p:cNvSpPr>
            <p:nvPr/>
          </p:nvSpPr>
          <p:spPr bwMode="auto">
            <a:xfrm>
              <a:off x="7550602" y="3237762"/>
              <a:ext cx="1403" cy="301543"/>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60" name="Line 68"/>
            <p:cNvSpPr>
              <a:spLocks noChangeShapeType="1"/>
            </p:cNvSpPr>
            <p:nvPr/>
          </p:nvSpPr>
          <p:spPr bwMode="auto">
            <a:xfrm>
              <a:off x="7455218" y="3539305"/>
              <a:ext cx="190768" cy="0"/>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61" name="Line 69"/>
            <p:cNvSpPr>
              <a:spLocks noChangeShapeType="1"/>
            </p:cNvSpPr>
            <p:nvPr/>
          </p:nvSpPr>
          <p:spPr bwMode="auto">
            <a:xfrm flipH="1" flipV="1">
              <a:off x="5884184" y="1616807"/>
              <a:ext cx="0" cy="413469"/>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62" name="Line 70"/>
            <p:cNvSpPr>
              <a:spLocks noChangeShapeType="1"/>
            </p:cNvSpPr>
            <p:nvPr/>
          </p:nvSpPr>
          <p:spPr bwMode="auto">
            <a:xfrm flipV="1">
              <a:off x="7546394" y="1619440"/>
              <a:ext cx="0" cy="104026"/>
            </a:xfrm>
            <a:prstGeom prst="line">
              <a:avLst/>
            </a:prstGeom>
            <a:grpFill/>
            <a:ln w="22225" cap="rnd">
              <a:solidFill>
                <a:srgbClr val="000000"/>
              </a:solidFill>
              <a:round/>
              <a:headEnd/>
              <a:tailEnd/>
            </a:ln>
          </p:spPr>
          <p:txBody>
            <a:bodyPr/>
            <a:lstStyle/>
            <a:p>
              <a:endParaRPr lang="zh-CN" altLang="en-US" b="1" dirty="0">
                <a:latin typeface="Times New Roman" pitchFamily="18" charset="0"/>
                <a:cs typeface="Times New Roman" pitchFamily="18" charset="0"/>
              </a:endParaRPr>
            </a:p>
          </p:txBody>
        </p:sp>
        <p:sp>
          <p:nvSpPr>
            <p:cNvPr id="63" name="Freeform 71"/>
            <p:cNvSpPr>
              <a:spLocks/>
            </p:cNvSpPr>
            <p:nvPr/>
          </p:nvSpPr>
          <p:spPr bwMode="auto">
            <a:xfrm>
              <a:off x="5888392" y="1032156"/>
              <a:ext cx="2099855" cy="333145"/>
            </a:xfrm>
            <a:custGeom>
              <a:avLst/>
              <a:gdLst>
                <a:gd name="T0" fmla="*/ 0 w 1615"/>
                <a:gd name="T1" fmla="*/ 253 h 253"/>
                <a:gd name="T2" fmla="*/ 0 w 1615"/>
                <a:gd name="T3" fmla="*/ 0 h 253"/>
                <a:gd name="T4" fmla="*/ 1615 w 1615"/>
                <a:gd name="T5" fmla="*/ 0 h 253"/>
                <a:gd name="T6" fmla="*/ 0 60000 65536"/>
                <a:gd name="T7" fmla="*/ 0 60000 65536"/>
                <a:gd name="T8" fmla="*/ 0 60000 65536"/>
                <a:gd name="T9" fmla="*/ 0 w 1615"/>
                <a:gd name="T10" fmla="*/ 0 h 253"/>
                <a:gd name="T11" fmla="*/ 1615 w 1615"/>
                <a:gd name="T12" fmla="*/ 253 h 253"/>
              </a:gdLst>
              <a:ahLst/>
              <a:cxnLst>
                <a:cxn ang="T6">
                  <a:pos x="T0" y="T1"/>
                </a:cxn>
                <a:cxn ang="T7">
                  <a:pos x="T2" y="T3"/>
                </a:cxn>
                <a:cxn ang="T8">
                  <a:pos x="T4" y="T5"/>
                </a:cxn>
              </a:cxnLst>
              <a:rect l="T9" t="T10" r="T11" b="T12"/>
              <a:pathLst>
                <a:path w="1615" h="253">
                  <a:moveTo>
                    <a:pt x="0" y="253"/>
                  </a:moveTo>
                  <a:lnTo>
                    <a:pt x="0" y="0"/>
                  </a:lnTo>
                  <a:lnTo>
                    <a:pt x="1615" y="0"/>
                  </a:lnTo>
                </a:path>
              </a:pathLst>
            </a:cu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64" name="Line 72"/>
            <p:cNvSpPr>
              <a:spLocks noChangeShapeType="1"/>
            </p:cNvSpPr>
            <p:nvPr/>
          </p:nvSpPr>
          <p:spPr bwMode="auto">
            <a:xfrm flipV="1">
              <a:off x="6579928" y="1032156"/>
              <a:ext cx="1403" cy="333145"/>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65" name="Freeform 73"/>
            <p:cNvSpPr>
              <a:spLocks/>
            </p:cNvSpPr>
            <p:nvPr/>
          </p:nvSpPr>
          <p:spPr bwMode="auto">
            <a:xfrm>
              <a:off x="6536444" y="992653"/>
              <a:ext cx="86968" cy="76373"/>
            </a:xfrm>
            <a:custGeom>
              <a:avLst/>
              <a:gdLst>
                <a:gd name="T0" fmla="*/ 40 w 58"/>
                <a:gd name="T1" fmla="*/ 54 h 59"/>
                <a:gd name="T2" fmla="*/ 81 w 58"/>
                <a:gd name="T3" fmla="*/ 29 h 59"/>
                <a:gd name="T4" fmla="*/ 40 w 58"/>
                <a:gd name="T5" fmla="*/ 0 h 59"/>
                <a:gd name="T6" fmla="*/ 40 w 58"/>
                <a:gd name="T7" fmla="*/ 0 h 59"/>
                <a:gd name="T8" fmla="*/ 0 w 58"/>
                <a:gd name="T9" fmla="*/ 29 h 59"/>
                <a:gd name="T10" fmla="*/ 40 w 58"/>
                <a:gd name="T11" fmla="*/ 54 h 59"/>
                <a:gd name="T12" fmla="*/ 0 60000 65536"/>
                <a:gd name="T13" fmla="*/ 0 60000 65536"/>
                <a:gd name="T14" fmla="*/ 0 60000 65536"/>
                <a:gd name="T15" fmla="*/ 0 60000 65536"/>
                <a:gd name="T16" fmla="*/ 0 60000 65536"/>
                <a:gd name="T17" fmla="*/ 0 60000 65536"/>
                <a:gd name="T18" fmla="*/ 0 w 58"/>
                <a:gd name="T19" fmla="*/ 0 h 59"/>
                <a:gd name="T20" fmla="*/ 58 w 58"/>
                <a:gd name="T21" fmla="*/ 59 h 59"/>
              </a:gdLst>
              <a:ahLst/>
              <a:cxnLst>
                <a:cxn ang="T12">
                  <a:pos x="T0" y="T1"/>
                </a:cxn>
                <a:cxn ang="T13">
                  <a:pos x="T2" y="T3"/>
                </a:cxn>
                <a:cxn ang="T14">
                  <a:pos x="T4" y="T5"/>
                </a:cxn>
                <a:cxn ang="T15">
                  <a:pos x="T6" y="T7"/>
                </a:cxn>
                <a:cxn ang="T16">
                  <a:pos x="T8" y="T9"/>
                </a:cxn>
                <a:cxn ang="T17">
                  <a:pos x="T10" y="T11"/>
                </a:cxn>
              </a:cxnLst>
              <a:rect l="T18" t="T19" r="T20" b="T21"/>
              <a:pathLst>
                <a:path w="58" h="59">
                  <a:moveTo>
                    <a:pt x="29" y="59"/>
                  </a:moveTo>
                  <a:cubicBezTo>
                    <a:pt x="45" y="59"/>
                    <a:pt x="58" y="46"/>
                    <a:pt x="58" y="30"/>
                  </a:cubicBezTo>
                  <a:cubicBezTo>
                    <a:pt x="58" y="14"/>
                    <a:pt x="45" y="0"/>
                    <a:pt x="29" y="0"/>
                  </a:cubicBezTo>
                  <a:cubicBezTo>
                    <a:pt x="29" y="0"/>
                    <a:pt x="29" y="0"/>
                    <a:pt x="29" y="0"/>
                  </a:cubicBezTo>
                  <a:cubicBezTo>
                    <a:pt x="13" y="0"/>
                    <a:pt x="0" y="14"/>
                    <a:pt x="0" y="30"/>
                  </a:cubicBezTo>
                  <a:cubicBezTo>
                    <a:pt x="0" y="46"/>
                    <a:pt x="13" y="59"/>
                    <a:pt x="29" y="59"/>
                  </a:cubicBezTo>
                </a:path>
              </a:pathLst>
            </a:custGeom>
            <a:solidFill>
              <a:schemeClr val="tx1"/>
            </a:solidFill>
            <a:ln w="0">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66" name="Line 74"/>
            <p:cNvSpPr>
              <a:spLocks noChangeShapeType="1"/>
            </p:cNvSpPr>
            <p:nvPr/>
          </p:nvSpPr>
          <p:spPr bwMode="auto">
            <a:xfrm flipV="1">
              <a:off x="7546394" y="1032156"/>
              <a:ext cx="1403" cy="333145"/>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67" name="Freeform 75"/>
            <p:cNvSpPr>
              <a:spLocks/>
            </p:cNvSpPr>
            <p:nvPr/>
          </p:nvSpPr>
          <p:spPr bwMode="auto">
            <a:xfrm>
              <a:off x="7505716" y="992653"/>
              <a:ext cx="88371" cy="76373"/>
            </a:xfrm>
            <a:custGeom>
              <a:avLst/>
              <a:gdLst>
                <a:gd name="T0" fmla="*/ 41 w 59"/>
                <a:gd name="T1" fmla="*/ 54 h 59"/>
                <a:gd name="T2" fmla="*/ 82 w 59"/>
                <a:gd name="T3" fmla="*/ 29 h 59"/>
                <a:gd name="T4" fmla="*/ 41 w 59"/>
                <a:gd name="T5" fmla="*/ 0 h 59"/>
                <a:gd name="T6" fmla="*/ 41 w 59"/>
                <a:gd name="T7" fmla="*/ 0 h 59"/>
                <a:gd name="T8" fmla="*/ 0 w 59"/>
                <a:gd name="T9" fmla="*/ 29 h 59"/>
                <a:gd name="T10" fmla="*/ 41 w 59"/>
                <a:gd name="T11" fmla="*/ 54 h 59"/>
                <a:gd name="T12" fmla="*/ 0 60000 65536"/>
                <a:gd name="T13" fmla="*/ 0 60000 65536"/>
                <a:gd name="T14" fmla="*/ 0 60000 65536"/>
                <a:gd name="T15" fmla="*/ 0 60000 65536"/>
                <a:gd name="T16" fmla="*/ 0 60000 65536"/>
                <a:gd name="T17" fmla="*/ 0 60000 65536"/>
                <a:gd name="T18" fmla="*/ 0 w 59"/>
                <a:gd name="T19" fmla="*/ 0 h 59"/>
                <a:gd name="T20" fmla="*/ 59 w 59"/>
                <a:gd name="T21" fmla="*/ 59 h 59"/>
              </a:gdLst>
              <a:ahLst/>
              <a:cxnLst>
                <a:cxn ang="T12">
                  <a:pos x="T0" y="T1"/>
                </a:cxn>
                <a:cxn ang="T13">
                  <a:pos x="T2" y="T3"/>
                </a:cxn>
                <a:cxn ang="T14">
                  <a:pos x="T4" y="T5"/>
                </a:cxn>
                <a:cxn ang="T15">
                  <a:pos x="T6" y="T7"/>
                </a:cxn>
                <a:cxn ang="T16">
                  <a:pos x="T8" y="T9"/>
                </a:cxn>
                <a:cxn ang="T17">
                  <a:pos x="T10" y="T11"/>
                </a:cxn>
              </a:cxnLst>
              <a:rect l="T18" t="T19" r="T20" b="T21"/>
              <a:pathLst>
                <a:path w="59" h="59">
                  <a:moveTo>
                    <a:pt x="30" y="59"/>
                  </a:moveTo>
                  <a:cubicBezTo>
                    <a:pt x="46" y="59"/>
                    <a:pt x="59" y="46"/>
                    <a:pt x="59" y="30"/>
                  </a:cubicBezTo>
                  <a:cubicBezTo>
                    <a:pt x="59" y="14"/>
                    <a:pt x="46" y="0"/>
                    <a:pt x="30" y="0"/>
                  </a:cubicBezTo>
                  <a:cubicBezTo>
                    <a:pt x="30" y="0"/>
                    <a:pt x="30" y="0"/>
                    <a:pt x="30" y="0"/>
                  </a:cubicBezTo>
                  <a:cubicBezTo>
                    <a:pt x="14" y="0"/>
                    <a:pt x="0" y="14"/>
                    <a:pt x="0" y="30"/>
                  </a:cubicBezTo>
                  <a:cubicBezTo>
                    <a:pt x="0" y="46"/>
                    <a:pt x="14" y="59"/>
                    <a:pt x="30" y="59"/>
                  </a:cubicBezTo>
                </a:path>
              </a:pathLst>
            </a:custGeom>
            <a:solidFill>
              <a:schemeClr val="tx1"/>
            </a:solidFill>
            <a:ln w="0">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68" name="Line 76"/>
            <p:cNvSpPr>
              <a:spLocks noChangeShapeType="1"/>
            </p:cNvSpPr>
            <p:nvPr/>
          </p:nvSpPr>
          <p:spPr bwMode="auto">
            <a:xfrm flipH="1">
              <a:off x="5432512" y="2373955"/>
              <a:ext cx="287555" cy="1317"/>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70" name="Rectangle 78"/>
            <p:cNvSpPr>
              <a:spLocks noChangeArrowheads="1"/>
            </p:cNvSpPr>
            <p:nvPr/>
          </p:nvSpPr>
          <p:spPr bwMode="auto">
            <a:xfrm>
              <a:off x="8107478" y="2870381"/>
              <a:ext cx="113619" cy="250188"/>
            </a:xfrm>
            <a:prstGeom prst="rect">
              <a:avLst/>
            </a:prstGeom>
            <a:grpFill/>
            <a:ln w="22225" cap="rnd">
              <a:solidFill>
                <a:srgbClr val="000000"/>
              </a:solidFill>
              <a:round/>
              <a:headEnd/>
              <a:tailEnd/>
            </a:ln>
          </p:spPr>
          <p:txBody>
            <a:bodyPr/>
            <a:lstStyle/>
            <a:p>
              <a:endParaRPr lang="zh-CN" altLang="en-US">
                <a:solidFill>
                  <a:srgbClr val="080808"/>
                </a:solidFill>
                <a:latin typeface="Times New Roman" pitchFamily="18" charset="0"/>
                <a:cs typeface="Times New Roman" pitchFamily="18" charset="0"/>
              </a:endParaRPr>
            </a:p>
          </p:txBody>
        </p:sp>
        <p:sp>
          <p:nvSpPr>
            <p:cNvPr id="71" name="Rectangle 79"/>
            <p:cNvSpPr>
              <a:spLocks noChangeArrowheads="1"/>
            </p:cNvSpPr>
            <p:nvPr/>
          </p:nvSpPr>
          <p:spPr bwMode="auto">
            <a:xfrm>
              <a:off x="7852185" y="2937536"/>
              <a:ext cx="228642" cy="252822"/>
            </a:xfrm>
            <a:prstGeom prst="rect">
              <a:avLst/>
            </a:prstGeom>
            <a:grpFill/>
            <a:ln w="9525">
              <a:noFill/>
              <a:miter lim="800000"/>
              <a:headEnd/>
              <a:tailEnd/>
            </a:ln>
          </p:spPr>
          <p:txBody>
            <a:bodyPr wrap="none" lIns="0" tIns="0" rIns="0" bIns="0">
              <a:spAutoFit/>
            </a:bodyPr>
            <a:lstStyle/>
            <a:p>
              <a:r>
                <a:rPr lang="en-US" altLang="zh-CN" b="1" i="1" dirty="0">
                  <a:solidFill>
                    <a:srgbClr val="080808"/>
                  </a:solidFill>
                  <a:latin typeface="Times New Roman" pitchFamily="18" charset="0"/>
                  <a:cs typeface="Times New Roman" pitchFamily="18" charset="0"/>
                </a:rPr>
                <a:t>R</a:t>
              </a:r>
              <a:r>
                <a:rPr lang="en-US" altLang="zh-CN" baseline="-25000" dirty="0">
                  <a:solidFill>
                    <a:srgbClr val="080808"/>
                  </a:solidFill>
                  <a:latin typeface="Times New Roman" pitchFamily="18" charset="0"/>
                  <a:cs typeface="Times New Roman" pitchFamily="18" charset="0"/>
                </a:rPr>
                <a:t>L</a:t>
              </a:r>
              <a:endParaRPr lang="en-US" altLang="zh-CN" sz="2000" baseline="-25000" dirty="0">
                <a:solidFill>
                  <a:srgbClr val="080808"/>
                </a:solidFill>
                <a:latin typeface="Times New Roman" pitchFamily="18" charset="0"/>
                <a:cs typeface="Times New Roman" pitchFamily="18" charset="0"/>
              </a:endParaRPr>
            </a:p>
          </p:txBody>
        </p:sp>
        <p:sp>
          <p:nvSpPr>
            <p:cNvPr id="74" name="Freeform 83"/>
            <p:cNvSpPr>
              <a:spLocks/>
            </p:cNvSpPr>
            <p:nvPr/>
          </p:nvSpPr>
          <p:spPr bwMode="auto">
            <a:xfrm>
              <a:off x="7505716" y="2599124"/>
              <a:ext cx="88371" cy="77690"/>
            </a:xfrm>
            <a:custGeom>
              <a:avLst/>
              <a:gdLst>
                <a:gd name="T0" fmla="*/ 82 w 59"/>
                <a:gd name="T1" fmla="*/ 30 h 59"/>
                <a:gd name="T2" fmla="*/ 41 w 59"/>
                <a:gd name="T3" fmla="*/ 0 h 59"/>
                <a:gd name="T4" fmla="*/ 0 w 59"/>
                <a:gd name="T5" fmla="*/ 30 h 59"/>
                <a:gd name="T6" fmla="*/ 0 w 59"/>
                <a:gd name="T7" fmla="*/ 30 h 59"/>
                <a:gd name="T8" fmla="*/ 41 w 59"/>
                <a:gd name="T9" fmla="*/ 59 h 59"/>
                <a:gd name="T10" fmla="*/ 82 w 59"/>
                <a:gd name="T11" fmla="*/ 30 h 59"/>
                <a:gd name="T12" fmla="*/ 0 60000 65536"/>
                <a:gd name="T13" fmla="*/ 0 60000 65536"/>
                <a:gd name="T14" fmla="*/ 0 60000 65536"/>
                <a:gd name="T15" fmla="*/ 0 60000 65536"/>
                <a:gd name="T16" fmla="*/ 0 60000 65536"/>
                <a:gd name="T17" fmla="*/ 0 60000 65536"/>
                <a:gd name="T18" fmla="*/ 0 w 59"/>
                <a:gd name="T19" fmla="*/ 0 h 59"/>
                <a:gd name="T20" fmla="*/ 59 w 59"/>
                <a:gd name="T21" fmla="*/ 59 h 59"/>
              </a:gdLst>
              <a:ahLst/>
              <a:cxnLst>
                <a:cxn ang="T12">
                  <a:pos x="T0" y="T1"/>
                </a:cxn>
                <a:cxn ang="T13">
                  <a:pos x="T2" y="T3"/>
                </a:cxn>
                <a:cxn ang="T14">
                  <a:pos x="T4" y="T5"/>
                </a:cxn>
                <a:cxn ang="T15">
                  <a:pos x="T6" y="T7"/>
                </a:cxn>
                <a:cxn ang="T16">
                  <a:pos x="T8" y="T9"/>
                </a:cxn>
                <a:cxn ang="T17">
                  <a:pos x="T10" y="T11"/>
                </a:cxn>
              </a:cxnLst>
              <a:rect l="T18" t="T19" r="T20" b="T21"/>
              <a:pathLst>
                <a:path w="59" h="59">
                  <a:moveTo>
                    <a:pt x="59" y="30"/>
                  </a:moveTo>
                  <a:cubicBezTo>
                    <a:pt x="59" y="14"/>
                    <a:pt x="46" y="0"/>
                    <a:pt x="30" y="0"/>
                  </a:cubicBezTo>
                  <a:cubicBezTo>
                    <a:pt x="14" y="0"/>
                    <a:pt x="0" y="14"/>
                    <a:pt x="0" y="30"/>
                  </a:cubicBezTo>
                  <a:cubicBezTo>
                    <a:pt x="0" y="30"/>
                    <a:pt x="0" y="30"/>
                    <a:pt x="0" y="30"/>
                  </a:cubicBezTo>
                  <a:cubicBezTo>
                    <a:pt x="0" y="46"/>
                    <a:pt x="14" y="59"/>
                    <a:pt x="30" y="59"/>
                  </a:cubicBezTo>
                  <a:cubicBezTo>
                    <a:pt x="46" y="59"/>
                    <a:pt x="59" y="46"/>
                    <a:pt x="59" y="30"/>
                  </a:cubicBezTo>
                </a:path>
              </a:pathLst>
            </a:custGeom>
            <a:solidFill>
              <a:schemeClr val="tx1"/>
            </a:solidFill>
            <a:ln w="0">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75" name="Line 84"/>
            <p:cNvSpPr>
              <a:spLocks noChangeShapeType="1"/>
            </p:cNvSpPr>
            <p:nvPr/>
          </p:nvSpPr>
          <p:spPr bwMode="auto">
            <a:xfrm flipH="1">
              <a:off x="8164989" y="3120569"/>
              <a:ext cx="0" cy="351580"/>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76" name="Line 85"/>
            <p:cNvSpPr>
              <a:spLocks noChangeShapeType="1"/>
            </p:cNvSpPr>
            <p:nvPr/>
          </p:nvSpPr>
          <p:spPr bwMode="auto">
            <a:xfrm>
              <a:off x="8071007" y="3472149"/>
              <a:ext cx="190768" cy="0"/>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77" name="Rectangle 86"/>
            <p:cNvSpPr>
              <a:spLocks noChangeArrowheads="1"/>
            </p:cNvSpPr>
            <p:nvPr/>
          </p:nvSpPr>
          <p:spPr bwMode="auto">
            <a:xfrm>
              <a:off x="5231924" y="2217258"/>
              <a:ext cx="176741" cy="252822"/>
            </a:xfrm>
            <a:prstGeom prst="rect">
              <a:avLst/>
            </a:prstGeom>
            <a:grpFill/>
            <a:ln w="9525">
              <a:noFill/>
              <a:miter lim="800000"/>
              <a:headEnd/>
              <a:tailEnd/>
            </a:ln>
          </p:spPr>
          <p:txBody>
            <a:bodyPr wrap="none" lIns="0" tIns="0" rIns="0" bIns="0">
              <a:spAutoFit/>
            </a:bodyPr>
            <a:lstStyle/>
            <a:p>
              <a:r>
                <a:rPr lang="en-US" altLang="zh-CN" b="1" i="1" dirty="0">
                  <a:solidFill>
                    <a:srgbClr val="6600FF"/>
                  </a:solidFill>
                  <a:latin typeface="Times New Roman" pitchFamily="18" charset="0"/>
                  <a:ea typeface="微软雅黑" pitchFamily="34" charset="-122"/>
                  <a:cs typeface="Times New Roman" pitchFamily="18" charset="0"/>
                  <a:sym typeface="Symbol" pitchFamily="18" charset="2"/>
                </a:rPr>
                <a:t></a:t>
              </a:r>
              <a:r>
                <a:rPr lang="en-US" altLang="zh-CN" b="1" baseline="-25000" dirty="0">
                  <a:solidFill>
                    <a:srgbClr val="6600FF"/>
                  </a:solidFill>
                  <a:latin typeface="Times New Roman" pitchFamily="18" charset="0"/>
                  <a:ea typeface="微软雅黑" pitchFamily="34" charset="-122"/>
                  <a:cs typeface="Times New Roman" pitchFamily="18" charset="0"/>
                </a:rPr>
                <a:t>I</a:t>
              </a:r>
              <a:endParaRPr lang="en-US" altLang="zh-CN" sz="2000" dirty="0">
                <a:latin typeface="Times New Roman" pitchFamily="18" charset="0"/>
                <a:cs typeface="Times New Roman" pitchFamily="18" charset="0"/>
              </a:endParaRPr>
            </a:p>
          </p:txBody>
        </p:sp>
        <p:sp>
          <p:nvSpPr>
            <p:cNvPr id="78" name="Rectangle 88"/>
            <p:cNvSpPr>
              <a:spLocks noChangeArrowheads="1"/>
            </p:cNvSpPr>
            <p:nvPr/>
          </p:nvSpPr>
          <p:spPr bwMode="auto">
            <a:xfrm>
              <a:off x="5588213" y="1539117"/>
              <a:ext cx="165520" cy="196200"/>
            </a:xfrm>
            <a:prstGeom prst="rect">
              <a:avLst/>
            </a:prstGeom>
            <a:grpFill/>
            <a:ln w="9525">
              <a:noFill/>
              <a:miter lim="800000"/>
              <a:headEnd/>
              <a:tailEnd/>
            </a:ln>
          </p:spPr>
          <p:txBody>
            <a:bodyPr wrap="none" lIns="0" tIns="0" rIns="0" bIns="0">
              <a:spAutoFit/>
            </a:bodyPr>
            <a:lstStyle/>
            <a:p>
              <a:r>
                <a:rPr lang="en-US" altLang="zh-CN" sz="1400" b="0" dirty="0">
                  <a:solidFill>
                    <a:srgbClr val="080808"/>
                  </a:solidFill>
                  <a:latin typeface="Times New Roman" pitchFamily="18" charset="0"/>
                  <a:cs typeface="Times New Roman" pitchFamily="18" charset="0"/>
                </a:rPr>
                <a:t>4k</a:t>
              </a:r>
              <a:endParaRPr lang="en-US" altLang="zh-CN" sz="2000" dirty="0">
                <a:solidFill>
                  <a:srgbClr val="080808"/>
                </a:solidFill>
                <a:latin typeface="Times New Roman" pitchFamily="18" charset="0"/>
                <a:cs typeface="Times New Roman" pitchFamily="18" charset="0"/>
              </a:endParaRPr>
            </a:p>
          </p:txBody>
        </p:sp>
        <p:sp>
          <p:nvSpPr>
            <p:cNvPr id="79" name="Rectangle 89"/>
            <p:cNvSpPr>
              <a:spLocks noChangeArrowheads="1"/>
            </p:cNvSpPr>
            <p:nvPr/>
          </p:nvSpPr>
          <p:spPr bwMode="auto">
            <a:xfrm>
              <a:off x="6666896" y="1398221"/>
              <a:ext cx="287555" cy="194883"/>
            </a:xfrm>
            <a:prstGeom prst="rect">
              <a:avLst/>
            </a:prstGeom>
            <a:grpFill/>
            <a:ln w="9525">
              <a:noFill/>
              <a:miter lim="800000"/>
              <a:headEnd/>
              <a:tailEnd/>
            </a:ln>
          </p:spPr>
          <p:txBody>
            <a:bodyPr wrap="none" lIns="0" tIns="0" rIns="0" bIns="0">
              <a:spAutoFit/>
            </a:bodyPr>
            <a:lstStyle/>
            <a:p>
              <a:r>
                <a:rPr lang="en-US" altLang="zh-CN" sz="1400" b="0" dirty="0">
                  <a:solidFill>
                    <a:srgbClr val="080808"/>
                  </a:solidFill>
                  <a:latin typeface="Times New Roman" pitchFamily="18" charset="0"/>
                  <a:cs typeface="Times New Roman" pitchFamily="18" charset="0"/>
                </a:rPr>
                <a:t>1.6k</a:t>
              </a:r>
              <a:endParaRPr lang="en-US" altLang="zh-CN" sz="2000" dirty="0">
                <a:solidFill>
                  <a:srgbClr val="080808"/>
                </a:solidFill>
                <a:latin typeface="Times New Roman" pitchFamily="18" charset="0"/>
                <a:cs typeface="Times New Roman" pitchFamily="18" charset="0"/>
              </a:endParaRPr>
            </a:p>
          </p:txBody>
        </p:sp>
        <p:sp>
          <p:nvSpPr>
            <p:cNvPr id="80" name="Rectangle 90"/>
            <p:cNvSpPr>
              <a:spLocks noChangeArrowheads="1"/>
            </p:cNvSpPr>
            <p:nvPr/>
          </p:nvSpPr>
          <p:spPr bwMode="auto">
            <a:xfrm>
              <a:off x="7667027" y="1395588"/>
              <a:ext cx="248279" cy="196200"/>
            </a:xfrm>
            <a:prstGeom prst="rect">
              <a:avLst/>
            </a:prstGeom>
            <a:grpFill/>
            <a:ln w="9525">
              <a:noFill/>
              <a:miter lim="800000"/>
              <a:headEnd/>
              <a:tailEnd/>
            </a:ln>
          </p:spPr>
          <p:txBody>
            <a:bodyPr wrap="none" lIns="0" tIns="0" rIns="0" bIns="0">
              <a:spAutoFit/>
            </a:bodyPr>
            <a:lstStyle/>
            <a:p>
              <a:r>
                <a:rPr lang="en-US" altLang="zh-CN" sz="1400" b="0" dirty="0">
                  <a:solidFill>
                    <a:srgbClr val="080808"/>
                  </a:solidFill>
                  <a:latin typeface="Times New Roman" pitchFamily="18" charset="0"/>
                  <a:cs typeface="Times New Roman" pitchFamily="18" charset="0"/>
                </a:rPr>
                <a:t>130</a:t>
              </a:r>
              <a:endParaRPr lang="en-US" altLang="zh-CN" sz="2000" dirty="0">
                <a:solidFill>
                  <a:srgbClr val="080808"/>
                </a:solidFill>
                <a:latin typeface="Times New Roman" pitchFamily="18" charset="0"/>
                <a:cs typeface="Times New Roman" pitchFamily="18" charset="0"/>
              </a:endParaRPr>
            </a:p>
          </p:txBody>
        </p:sp>
        <p:sp>
          <p:nvSpPr>
            <p:cNvPr id="81" name="Rectangle 91"/>
            <p:cNvSpPr>
              <a:spLocks noChangeArrowheads="1"/>
            </p:cNvSpPr>
            <p:nvPr/>
          </p:nvSpPr>
          <p:spPr bwMode="auto">
            <a:xfrm>
              <a:off x="7829741" y="1046641"/>
              <a:ext cx="141674" cy="252822"/>
            </a:xfrm>
            <a:prstGeom prst="rect">
              <a:avLst/>
            </a:prstGeom>
            <a:grpFill/>
            <a:ln w="9525">
              <a:noFill/>
              <a:miter lim="800000"/>
              <a:headEnd/>
              <a:tailEnd/>
            </a:ln>
          </p:spPr>
          <p:txBody>
            <a:bodyPr wrap="none" lIns="0" tIns="0" rIns="0" bIns="0">
              <a:spAutoFit/>
            </a:bodyPr>
            <a:lstStyle/>
            <a:p>
              <a:r>
                <a:rPr lang="en-US" altLang="zh-CN" sz="1800" b="1" i="1" dirty="0">
                  <a:solidFill>
                    <a:srgbClr val="080808"/>
                  </a:solidFill>
                  <a:latin typeface="Times New Roman" pitchFamily="18" charset="0"/>
                  <a:cs typeface="Times New Roman" pitchFamily="18" charset="0"/>
                </a:rPr>
                <a:t>V</a:t>
              </a:r>
              <a:endParaRPr lang="en-US" altLang="zh-CN" sz="2000" b="1" dirty="0">
                <a:solidFill>
                  <a:srgbClr val="080808"/>
                </a:solidFill>
                <a:latin typeface="Times New Roman" pitchFamily="18" charset="0"/>
                <a:cs typeface="Times New Roman" pitchFamily="18" charset="0"/>
              </a:endParaRPr>
            </a:p>
          </p:txBody>
        </p:sp>
        <p:sp>
          <p:nvSpPr>
            <p:cNvPr id="82" name="Rectangle 92"/>
            <p:cNvSpPr>
              <a:spLocks noChangeArrowheads="1"/>
            </p:cNvSpPr>
            <p:nvPr/>
          </p:nvSpPr>
          <p:spPr bwMode="auto">
            <a:xfrm>
              <a:off x="7972818" y="1173052"/>
              <a:ext cx="187963" cy="167231"/>
            </a:xfrm>
            <a:prstGeom prst="rect">
              <a:avLst/>
            </a:prstGeom>
            <a:grpFill/>
            <a:ln w="9525">
              <a:noFill/>
              <a:miter lim="800000"/>
              <a:headEnd/>
              <a:tailEnd/>
            </a:ln>
          </p:spPr>
          <p:txBody>
            <a:bodyPr wrap="none" lIns="0" tIns="0" rIns="0" bIns="0">
              <a:spAutoFit/>
            </a:bodyPr>
            <a:lstStyle/>
            <a:p>
              <a:r>
                <a:rPr lang="en-US" altLang="zh-CN" sz="1200" b="0" dirty="0">
                  <a:solidFill>
                    <a:srgbClr val="080808"/>
                  </a:solidFill>
                  <a:latin typeface="Times New Roman" pitchFamily="18" charset="0"/>
                  <a:cs typeface="Times New Roman" pitchFamily="18" charset="0"/>
                </a:rPr>
                <a:t>CC</a:t>
              </a:r>
              <a:endParaRPr lang="en-US" altLang="zh-CN" sz="2000" dirty="0">
                <a:solidFill>
                  <a:srgbClr val="080808"/>
                </a:solidFill>
                <a:latin typeface="Times New Roman" pitchFamily="18" charset="0"/>
                <a:cs typeface="Times New Roman" pitchFamily="18" charset="0"/>
              </a:endParaRPr>
            </a:p>
          </p:txBody>
        </p:sp>
        <p:sp>
          <p:nvSpPr>
            <p:cNvPr id="83" name="Rectangle 93"/>
            <p:cNvSpPr>
              <a:spLocks noChangeArrowheads="1"/>
            </p:cNvSpPr>
            <p:nvPr/>
          </p:nvSpPr>
          <p:spPr bwMode="auto">
            <a:xfrm>
              <a:off x="8163586" y="1046641"/>
              <a:ext cx="401175" cy="252822"/>
            </a:xfrm>
            <a:prstGeom prst="rect">
              <a:avLst/>
            </a:prstGeom>
            <a:grpFill/>
            <a:ln w="9525">
              <a:noFill/>
              <a:miter lim="800000"/>
              <a:headEnd/>
              <a:tailEnd/>
            </a:ln>
          </p:spPr>
          <p:txBody>
            <a:bodyPr wrap="none" lIns="0" tIns="0" rIns="0" bIns="0">
              <a:spAutoFit/>
            </a:bodyPr>
            <a:lstStyle/>
            <a:p>
              <a:r>
                <a:rPr lang="en-US" altLang="zh-CN" sz="1800" b="0">
                  <a:solidFill>
                    <a:srgbClr val="080808"/>
                  </a:solidFill>
                  <a:latin typeface="Times New Roman" pitchFamily="18" charset="0"/>
                  <a:cs typeface="Times New Roman" pitchFamily="18" charset="0"/>
                </a:rPr>
                <a:t>(5V)</a:t>
              </a:r>
              <a:endParaRPr lang="en-US" altLang="zh-CN" sz="2000">
                <a:solidFill>
                  <a:srgbClr val="080808"/>
                </a:solidFill>
                <a:latin typeface="Times New Roman" pitchFamily="18" charset="0"/>
                <a:cs typeface="Times New Roman" pitchFamily="18" charset="0"/>
              </a:endParaRPr>
            </a:p>
          </p:txBody>
        </p:sp>
        <p:sp>
          <p:nvSpPr>
            <p:cNvPr id="84" name="Rectangle 94"/>
            <p:cNvSpPr>
              <a:spLocks noChangeArrowheads="1"/>
            </p:cNvSpPr>
            <p:nvPr/>
          </p:nvSpPr>
          <p:spPr bwMode="auto">
            <a:xfrm>
              <a:off x="6692145" y="3277266"/>
              <a:ext cx="164117" cy="194883"/>
            </a:xfrm>
            <a:prstGeom prst="rect">
              <a:avLst/>
            </a:prstGeom>
            <a:grpFill/>
            <a:ln w="9525">
              <a:noFill/>
              <a:miter lim="800000"/>
              <a:headEnd/>
              <a:tailEnd/>
            </a:ln>
          </p:spPr>
          <p:txBody>
            <a:bodyPr wrap="none" lIns="0" tIns="0" rIns="0" bIns="0">
              <a:spAutoFit/>
            </a:bodyPr>
            <a:lstStyle/>
            <a:p>
              <a:r>
                <a:rPr lang="en-US" altLang="zh-CN" sz="1400" b="0" dirty="0">
                  <a:solidFill>
                    <a:srgbClr val="080808"/>
                  </a:solidFill>
                  <a:latin typeface="Times New Roman" pitchFamily="18" charset="0"/>
                  <a:cs typeface="Times New Roman" pitchFamily="18" charset="0"/>
                </a:rPr>
                <a:t>1k</a:t>
              </a:r>
              <a:endParaRPr lang="en-US" altLang="zh-CN" sz="2000" dirty="0">
                <a:solidFill>
                  <a:srgbClr val="080808"/>
                </a:solidFill>
                <a:latin typeface="Times New Roman" pitchFamily="18" charset="0"/>
                <a:cs typeface="Times New Roman" pitchFamily="18" charset="0"/>
              </a:endParaRPr>
            </a:p>
          </p:txBody>
        </p:sp>
        <p:sp>
          <p:nvSpPr>
            <p:cNvPr id="90" name="Rectangle 105"/>
            <p:cNvSpPr>
              <a:spLocks noChangeArrowheads="1"/>
            </p:cNvSpPr>
            <p:nvPr/>
          </p:nvSpPr>
          <p:spPr bwMode="auto">
            <a:xfrm>
              <a:off x="8121505" y="2252811"/>
              <a:ext cx="0" cy="246238"/>
            </a:xfrm>
            <a:prstGeom prst="rect">
              <a:avLst/>
            </a:prstGeom>
            <a:grpFill/>
            <a:ln w="9525">
              <a:noFill/>
              <a:miter lim="800000"/>
              <a:headEnd/>
              <a:tailEnd/>
            </a:ln>
          </p:spPr>
          <p:txBody>
            <a:bodyPr wrap="none" lIns="0" tIns="0" rIns="0" bIns="0">
              <a:spAutoFit/>
            </a:bodyPr>
            <a:lstStyle/>
            <a:p>
              <a:endParaRPr lang="zh-CN" altLang="en-US" sz="1600" dirty="0">
                <a:solidFill>
                  <a:srgbClr val="080808"/>
                </a:solidFill>
                <a:latin typeface="方正粗黑宋简体" pitchFamily="2" charset="-122"/>
                <a:ea typeface="方正粗黑宋简体" pitchFamily="2" charset="-122"/>
                <a:cs typeface="Times New Roman" pitchFamily="18" charset="0"/>
              </a:endParaRPr>
            </a:p>
          </p:txBody>
        </p:sp>
        <p:sp>
          <p:nvSpPr>
            <p:cNvPr id="38" name="Rectangle 43"/>
            <p:cNvSpPr>
              <a:spLocks noChangeArrowheads="1"/>
            </p:cNvSpPr>
            <p:nvPr/>
          </p:nvSpPr>
          <p:spPr bwMode="auto">
            <a:xfrm>
              <a:off x="7488883" y="1365302"/>
              <a:ext cx="113619" cy="251505"/>
            </a:xfrm>
            <a:prstGeom prst="rect">
              <a:avLst/>
            </a:prstGeom>
            <a:grpFill/>
            <a:ln w="22225" cap="rnd">
              <a:solidFill>
                <a:srgbClr val="000000"/>
              </a:solidFill>
              <a:round/>
              <a:headEnd/>
              <a:tailEnd/>
            </a:ln>
          </p:spPr>
          <p:txBody>
            <a:bodyPr/>
            <a:lstStyle/>
            <a:p>
              <a:endParaRPr lang="zh-CN" altLang="en-US">
                <a:solidFill>
                  <a:srgbClr val="080808"/>
                </a:solidFill>
                <a:latin typeface="Times New Roman" pitchFamily="18" charset="0"/>
                <a:cs typeface="Times New Roman" pitchFamily="18" charset="0"/>
              </a:endParaRPr>
            </a:p>
          </p:txBody>
        </p:sp>
        <p:sp>
          <p:nvSpPr>
            <p:cNvPr id="91" name="Line 54"/>
            <p:cNvSpPr>
              <a:spLocks noChangeShapeType="1"/>
            </p:cNvSpPr>
            <p:nvPr/>
          </p:nvSpPr>
          <p:spPr bwMode="auto">
            <a:xfrm>
              <a:off x="7547693" y="2447733"/>
              <a:ext cx="1403" cy="360000"/>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92" name="Line 54"/>
            <p:cNvSpPr>
              <a:spLocks noChangeShapeType="1"/>
            </p:cNvSpPr>
            <p:nvPr/>
          </p:nvSpPr>
          <p:spPr bwMode="auto">
            <a:xfrm flipH="1">
              <a:off x="7546714" y="2643188"/>
              <a:ext cx="612000" cy="0"/>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93" name="Line 84"/>
            <p:cNvSpPr>
              <a:spLocks noChangeShapeType="1"/>
            </p:cNvSpPr>
            <p:nvPr/>
          </p:nvSpPr>
          <p:spPr bwMode="auto">
            <a:xfrm flipH="1">
              <a:off x="8159831" y="2644304"/>
              <a:ext cx="0" cy="216000"/>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95" name="Line 69"/>
            <p:cNvSpPr>
              <a:spLocks noChangeShapeType="1"/>
            </p:cNvSpPr>
            <p:nvPr/>
          </p:nvSpPr>
          <p:spPr bwMode="auto">
            <a:xfrm>
              <a:off x="6041964" y="2373175"/>
              <a:ext cx="285018" cy="0"/>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grpSp>
      <p:sp>
        <p:nvSpPr>
          <p:cNvPr id="97" name="Rectangle 104"/>
          <p:cNvSpPr>
            <a:spLocks noChangeArrowheads="1"/>
          </p:cNvSpPr>
          <p:nvPr/>
        </p:nvSpPr>
        <p:spPr bwMode="auto">
          <a:xfrm>
            <a:off x="282575" y="2436620"/>
            <a:ext cx="3493264" cy="338554"/>
          </a:xfrm>
          <a:prstGeom prst="rect">
            <a:avLst/>
          </a:prstGeom>
          <a:noFill/>
          <a:ln>
            <a:noFill/>
          </a:ln>
          <a:effectLst/>
        </p:spPr>
        <p:txBody>
          <a:bodyPr wrap="none" anchor="ctr">
            <a:spAutoFit/>
          </a:bodyPr>
          <a:lstStyle>
            <a:lvl1pPr eaLnBrk="0" hangingPunct="0">
              <a:defRPr sz="2000" b="1">
                <a:solidFill>
                  <a:schemeClr val="accent2"/>
                </a:solidFill>
                <a:latin typeface="Times New Roman" pitchFamily="18" charset="0"/>
                <a:ea typeface="宋体" charset="-122"/>
              </a:defRPr>
            </a:lvl1pPr>
            <a:lvl2pPr marL="742950" indent="-285750" eaLnBrk="0" hangingPunct="0">
              <a:defRPr sz="2000" b="1">
                <a:solidFill>
                  <a:schemeClr val="accent2"/>
                </a:solidFill>
                <a:latin typeface="Times New Roman" pitchFamily="18" charset="0"/>
                <a:ea typeface="宋体" charset="-122"/>
              </a:defRPr>
            </a:lvl2pPr>
            <a:lvl3pPr marL="1143000" indent="-228600" eaLnBrk="0" hangingPunct="0">
              <a:defRPr sz="2000" b="1">
                <a:solidFill>
                  <a:schemeClr val="accent2"/>
                </a:solidFill>
                <a:latin typeface="Times New Roman" pitchFamily="18" charset="0"/>
                <a:ea typeface="宋体" charset="-122"/>
              </a:defRPr>
            </a:lvl3pPr>
            <a:lvl4pPr marL="1600200" indent="-228600" eaLnBrk="0" hangingPunct="0">
              <a:defRPr sz="2000" b="1">
                <a:solidFill>
                  <a:schemeClr val="accent2"/>
                </a:solidFill>
                <a:latin typeface="Times New Roman" pitchFamily="18" charset="0"/>
                <a:ea typeface="宋体" charset="-122"/>
              </a:defRPr>
            </a:lvl4pPr>
            <a:lvl5pPr marL="2057400" indent="-228600" eaLnBrk="0" hangingPunct="0">
              <a:defRPr sz="2000" b="1">
                <a:solidFill>
                  <a:schemeClr val="accent2"/>
                </a:solidFill>
                <a:latin typeface="Times New Roman" pitchFamily="18" charset="0"/>
                <a:ea typeface="宋体" charset="-122"/>
              </a:defRPr>
            </a:lvl5pPr>
            <a:lvl6pPr marL="25146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6pPr>
            <a:lvl7pPr marL="29718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7pPr>
            <a:lvl8pPr marL="34290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8pPr>
            <a:lvl9pPr marL="38862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9pPr>
          </a:lstStyle>
          <a:p>
            <a:pPr algn="l">
              <a:spcBef>
                <a:spcPct val="0"/>
              </a:spcBef>
              <a:buFont typeface="Wingdings" pitchFamily="2" charset="2"/>
              <a:buChar char="Ø"/>
            </a:pPr>
            <a:r>
              <a:rPr lang="zh-CN" altLang="en-US" sz="1600" dirty="0">
                <a:solidFill>
                  <a:srgbClr val="6600FF"/>
                </a:solidFill>
                <a:latin typeface="方正粗黑宋简体" pitchFamily="2" charset="-122"/>
                <a:ea typeface="方正粗黑宋简体" pitchFamily="2" charset="-122"/>
              </a:rPr>
              <a:t> 输入为高电平</a:t>
            </a:r>
            <a:r>
              <a:rPr lang="en-US" altLang="zh-CN" sz="1600" dirty="0">
                <a:solidFill>
                  <a:srgbClr val="6600FF"/>
                </a:solidFill>
                <a:latin typeface="方正粗黑宋简体" pitchFamily="2" charset="-122"/>
                <a:ea typeface="方正粗黑宋简体" pitchFamily="2" charset="-122"/>
              </a:rPr>
              <a:t>“1”</a:t>
            </a:r>
            <a:r>
              <a:rPr lang="zh-CN" altLang="en-US" sz="1600" dirty="0">
                <a:solidFill>
                  <a:srgbClr val="6600FF"/>
                </a:solidFill>
                <a:latin typeface="方正粗黑宋简体" pitchFamily="2" charset="-122"/>
                <a:ea typeface="方正粗黑宋简体" pitchFamily="2" charset="-122"/>
              </a:rPr>
              <a:t>时（约</a:t>
            </a:r>
            <a:r>
              <a:rPr lang="en-US" altLang="zh-CN" sz="1600" dirty="0">
                <a:solidFill>
                  <a:srgbClr val="6600FF"/>
                </a:solidFill>
                <a:latin typeface="方正粗黑宋简体" pitchFamily="2" charset="-122"/>
                <a:ea typeface="方正粗黑宋简体" pitchFamily="2" charset="-122"/>
              </a:rPr>
              <a:t>3.6V</a:t>
            </a:r>
            <a:r>
              <a:rPr lang="zh-CN" altLang="en-US" sz="1600" dirty="0">
                <a:solidFill>
                  <a:srgbClr val="6600FF"/>
                </a:solidFill>
                <a:latin typeface="方正粗黑宋简体" pitchFamily="2" charset="-122"/>
                <a:ea typeface="方正粗黑宋简体" pitchFamily="2" charset="-122"/>
              </a:rPr>
              <a:t>） </a:t>
            </a:r>
          </a:p>
        </p:txBody>
      </p:sp>
      <p:sp>
        <p:nvSpPr>
          <p:cNvPr id="99" name="Rectangle 109"/>
          <p:cNvSpPr>
            <a:spLocks noChangeArrowheads="1"/>
          </p:cNvSpPr>
          <p:nvPr/>
        </p:nvSpPr>
        <p:spPr bwMode="auto">
          <a:xfrm>
            <a:off x="1719504" y="4988806"/>
            <a:ext cx="6513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eaLnBrk="0" hangingPunct="0">
              <a:spcBef>
                <a:spcPct val="0"/>
              </a:spcBef>
              <a:defRPr/>
            </a:pPr>
            <a:r>
              <a:rPr lang="zh-CN" altLang="en-US" b="1" dirty="0">
                <a:solidFill>
                  <a:srgbClr val="2D2D8A"/>
                </a:solidFill>
                <a:latin typeface="黑体" pitchFamily="49" charset="-122"/>
                <a:ea typeface="黑体" pitchFamily="49" charset="-122"/>
              </a:rPr>
              <a:t>实现反相器的逻辑功能之一</a:t>
            </a:r>
            <a:r>
              <a:rPr lang="zh-CN" altLang="en-US" b="1" dirty="0">
                <a:solidFill>
                  <a:srgbClr val="2D2D8A"/>
                </a:solidFill>
                <a:latin typeface="方正粗黑宋简体" pitchFamily="2" charset="-122"/>
                <a:ea typeface="方正粗黑宋简体" pitchFamily="2" charset="-122"/>
              </a:rPr>
              <a:t>：</a:t>
            </a:r>
            <a:r>
              <a:rPr lang="zh-CN" altLang="en-US" b="1" u="sng" dirty="0">
                <a:solidFill>
                  <a:srgbClr val="C00000"/>
                </a:solidFill>
                <a:latin typeface="方正粗黑宋简体" pitchFamily="2" charset="-122"/>
                <a:ea typeface="方正粗黑宋简体" pitchFamily="2" charset="-122"/>
              </a:rPr>
              <a:t>输入为高电平，输出为低电平。</a:t>
            </a:r>
            <a:r>
              <a:rPr lang="zh-CN" altLang="en-US" dirty="0">
                <a:solidFill>
                  <a:srgbClr val="2D2D8A"/>
                </a:solidFill>
                <a:ea typeface="楷体_GB2312" pitchFamily="49" charset="-122"/>
              </a:rPr>
              <a:t> </a:t>
            </a:r>
          </a:p>
        </p:txBody>
      </p:sp>
      <p:sp>
        <p:nvSpPr>
          <p:cNvPr id="101" name="AutoShape 134"/>
          <p:cNvSpPr>
            <a:spLocks noChangeArrowheads="1"/>
          </p:cNvSpPr>
          <p:nvPr/>
        </p:nvSpPr>
        <p:spPr bwMode="auto">
          <a:xfrm>
            <a:off x="5294032" y="2578049"/>
            <a:ext cx="615449" cy="272760"/>
          </a:xfrm>
          <a:prstGeom prst="wedgeRoundRectCallout">
            <a:avLst>
              <a:gd name="adj1" fmla="val 26014"/>
              <a:gd name="adj2" fmla="val -116024"/>
              <a:gd name="adj3" fmla="val 16667"/>
            </a:avLst>
          </a:prstGeom>
          <a:solidFill>
            <a:srgbClr val="FFFF99"/>
          </a:solidFill>
          <a:ln w="19050">
            <a:solidFill>
              <a:srgbClr val="FF00FF"/>
            </a:solidFill>
            <a:miter lim="800000"/>
            <a:headEnd/>
            <a:tailEnd/>
          </a:ln>
          <a:effectLst>
            <a:outerShdw blurRad="50800" dist="38100" dir="5400000" algn="t"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r>
              <a:rPr lang="en-US" altLang="zh-CN" sz="1600" dirty="0">
                <a:solidFill>
                  <a:schemeClr val="tx1"/>
                </a:solidFill>
                <a:latin typeface="方正粗黑宋简体" pitchFamily="2" charset="-122"/>
                <a:ea typeface="方正粗黑宋简体" pitchFamily="2" charset="-122"/>
              </a:rPr>
              <a:t>3.6V</a:t>
            </a:r>
          </a:p>
        </p:txBody>
      </p:sp>
      <p:sp>
        <p:nvSpPr>
          <p:cNvPr id="120" name="AutoShape 134"/>
          <p:cNvSpPr>
            <a:spLocks noChangeArrowheads="1"/>
          </p:cNvSpPr>
          <p:nvPr/>
        </p:nvSpPr>
        <p:spPr bwMode="auto">
          <a:xfrm>
            <a:off x="5438309" y="1773495"/>
            <a:ext cx="506249" cy="272760"/>
          </a:xfrm>
          <a:prstGeom prst="wedgeRoundRectCallout">
            <a:avLst>
              <a:gd name="adj1" fmla="val 73070"/>
              <a:gd name="adj2" fmla="val 52282"/>
              <a:gd name="adj3" fmla="val 16667"/>
            </a:avLst>
          </a:prstGeom>
          <a:solidFill>
            <a:srgbClr val="FFFF99"/>
          </a:solidFill>
          <a:ln w="19050">
            <a:solidFill>
              <a:srgbClr val="FF00FF"/>
            </a:solidFill>
            <a:miter lim="800000"/>
            <a:headEnd/>
            <a:tailEnd/>
          </a:ln>
          <a:effectLst>
            <a:outerShdw blurRad="50800" dist="38100" dir="5400000" algn="t" rotWithShape="0">
              <a:prstClr val="black">
                <a:alpha val="40000"/>
              </a:prstClr>
            </a:outerShdw>
          </a:effectLst>
        </p:spPr>
        <p:txBody>
          <a:bodyPr lIns="0" tIns="0" rIns="0" bIns="0" anchor="ctr"/>
          <a:lstStyle/>
          <a:p>
            <a:pPr algn="ctr"/>
            <a:r>
              <a:rPr lang="en-US" altLang="zh-CN" sz="1600" b="1" dirty="0">
                <a:solidFill>
                  <a:srgbClr val="0000FF"/>
                </a:solidFill>
                <a:latin typeface="方正粗黑宋简体" pitchFamily="2" charset="-122"/>
                <a:ea typeface="方正粗黑宋简体" pitchFamily="2" charset="-122"/>
              </a:rPr>
              <a:t>2.1V</a:t>
            </a:r>
          </a:p>
        </p:txBody>
      </p:sp>
      <p:sp>
        <p:nvSpPr>
          <p:cNvPr id="121" name="AutoShape 134"/>
          <p:cNvSpPr>
            <a:spLocks noChangeArrowheads="1"/>
          </p:cNvSpPr>
          <p:nvPr/>
        </p:nvSpPr>
        <p:spPr bwMode="auto">
          <a:xfrm>
            <a:off x="6974119" y="3154770"/>
            <a:ext cx="506249" cy="272760"/>
          </a:xfrm>
          <a:prstGeom prst="wedgeRoundRectCallout">
            <a:avLst>
              <a:gd name="adj1" fmla="val 38172"/>
              <a:gd name="adj2" fmla="val -96061"/>
              <a:gd name="adj3" fmla="val 16667"/>
            </a:avLst>
          </a:prstGeom>
          <a:solidFill>
            <a:srgbClr val="FFFF99"/>
          </a:solidFill>
          <a:ln w="19050">
            <a:solidFill>
              <a:srgbClr val="FF00FF"/>
            </a:solidFill>
            <a:miter lim="800000"/>
            <a:headEnd/>
            <a:tailEnd/>
          </a:ln>
          <a:effectLst>
            <a:outerShdw blurRad="50800" dist="38100" dir="5400000" algn="t" rotWithShape="0">
              <a:prstClr val="black">
                <a:alpha val="40000"/>
              </a:prstClr>
            </a:outerShdw>
          </a:effectLst>
        </p:spPr>
        <p:txBody>
          <a:bodyPr lIns="0" tIns="0" rIns="0" bIns="0" anchor="ctr"/>
          <a:lstStyle/>
          <a:p>
            <a:pPr algn="ctr"/>
            <a:r>
              <a:rPr lang="en-US" altLang="zh-CN" sz="1600" b="1" dirty="0">
                <a:solidFill>
                  <a:srgbClr val="0000FF"/>
                </a:solidFill>
                <a:latin typeface="方正粗黑宋简体" pitchFamily="2" charset="-122"/>
                <a:ea typeface="方正粗黑宋简体" pitchFamily="2" charset="-122"/>
              </a:rPr>
              <a:t>0.7V</a:t>
            </a:r>
          </a:p>
        </p:txBody>
      </p:sp>
      <p:sp>
        <p:nvSpPr>
          <p:cNvPr id="122" name="AutoShape 134"/>
          <p:cNvSpPr>
            <a:spLocks noChangeArrowheads="1"/>
          </p:cNvSpPr>
          <p:nvPr/>
        </p:nvSpPr>
        <p:spPr bwMode="auto">
          <a:xfrm>
            <a:off x="6082432" y="2632720"/>
            <a:ext cx="506249" cy="272760"/>
          </a:xfrm>
          <a:prstGeom prst="wedgeRoundRectCallout">
            <a:avLst>
              <a:gd name="adj1" fmla="val 38549"/>
              <a:gd name="adj2" fmla="val -132352"/>
              <a:gd name="adj3" fmla="val 16667"/>
            </a:avLst>
          </a:prstGeom>
          <a:solidFill>
            <a:srgbClr val="FFFF99"/>
          </a:solidFill>
          <a:ln w="19050">
            <a:solidFill>
              <a:srgbClr val="FF00FF"/>
            </a:solidFill>
            <a:miter lim="800000"/>
            <a:headEnd/>
            <a:tailEnd/>
          </a:ln>
          <a:effectLst>
            <a:outerShdw blurRad="50800" dist="38100" dir="5400000" algn="t" rotWithShape="0">
              <a:prstClr val="black">
                <a:alpha val="40000"/>
              </a:prstClr>
            </a:outerShdw>
          </a:effectLst>
        </p:spPr>
        <p:txBody>
          <a:bodyPr lIns="0" tIns="0" rIns="0" bIns="0" anchor="ctr"/>
          <a:lstStyle/>
          <a:p>
            <a:pPr algn="ctr"/>
            <a:r>
              <a:rPr lang="en-US" altLang="zh-CN" sz="1600" b="1" dirty="0">
                <a:solidFill>
                  <a:srgbClr val="0000FF"/>
                </a:solidFill>
                <a:latin typeface="方正粗黑宋简体" pitchFamily="2" charset="-122"/>
                <a:ea typeface="方正粗黑宋简体" pitchFamily="2" charset="-122"/>
              </a:rPr>
              <a:t>1.4V</a:t>
            </a:r>
          </a:p>
        </p:txBody>
      </p:sp>
      <p:sp>
        <p:nvSpPr>
          <p:cNvPr id="131" name="AutoShape 134"/>
          <p:cNvSpPr>
            <a:spLocks noChangeArrowheads="1"/>
          </p:cNvSpPr>
          <p:nvPr/>
        </p:nvSpPr>
        <p:spPr bwMode="auto">
          <a:xfrm>
            <a:off x="7076870" y="1447122"/>
            <a:ext cx="506249" cy="272760"/>
          </a:xfrm>
          <a:prstGeom prst="wedgeRoundRectCallout">
            <a:avLst>
              <a:gd name="adj1" fmla="val -42368"/>
              <a:gd name="adj2" fmla="val 95256"/>
              <a:gd name="adj3" fmla="val 16667"/>
            </a:avLst>
          </a:prstGeom>
          <a:solidFill>
            <a:srgbClr val="FFFF99"/>
          </a:solidFill>
          <a:ln w="19050">
            <a:solidFill>
              <a:srgbClr val="FF00FF"/>
            </a:solidFill>
            <a:miter lim="800000"/>
            <a:headEnd/>
            <a:tailEnd/>
          </a:ln>
          <a:effectLst>
            <a:outerShdw blurRad="50800" dist="38100" dir="5400000" algn="t" rotWithShape="0">
              <a:prstClr val="black">
                <a:alpha val="40000"/>
              </a:prstClr>
            </a:outerShdw>
          </a:effectLst>
        </p:spPr>
        <p:txBody>
          <a:bodyPr lIns="0" tIns="0" rIns="0" bIns="0" anchor="ctr"/>
          <a:lstStyle/>
          <a:p>
            <a:pPr algn="ctr"/>
            <a:r>
              <a:rPr lang="en-US" altLang="zh-CN" sz="1600" b="1" dirty="0">
                <a:solidFill>
                  <a:srgbClr val="0000FF"/>
                </a:solidFill>
                <a:latin typeface="方正粗黑宋简体" pitchFamily="2" charset="-122"/>
                <a:ea typeface="方正粗黑宋简体" pitchFamily="2" charset="-122"/>
              </a:rPr>
              <a:t>0.9V</a:t>
            </a:r>
          </a:p>
        </p:txBody>
      </p:sp>
      <p:grpSp>
        <p:nvGrpSpPr>
          <p:cNvPr id="141" name="组合 140"/>
          <p:cNvGrpSpPr/>
          <p:nvPr/>
        </p:nvGrpSpPr>
        <p:grpSpPr>
          <a:xfrm>
            <a:off x="7525930" y="1627626"/>
            <a:ext cx="562863" cy="915808"/>
            <a:chOff x="7637658" y="1766389"/>
            <a:chExt cx="378841" cy="781712"/>
          </a:xfrm>
        </p:grpSpPr>
        <p:sp>
          <p:nvSpPr>
            <p:cNvPr id="135" name="乘号 134"/>
            <p:cNvSpPr/>
            <p:nvPr/>
          </p:nvSpPr>
          <p:spPr>
            <a:xfrm rot="10800000">
              <a:off x="7637658" y="1766389"/>
              <a:ext cx="327660" cy="419100"/>
            </a:xfrm>
            <a:prstGeom prst="mathMultiply">
              <a:avLst>
                <a:gd name="adj1" fmla="val 13414"/>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乘号 135"/>
            <p:cNvSpPr/>
            <p:nvPr/>
          </p:nvSpPr>
          <p:spPr>
            <a:xfrm rot="10800000">
              <a:off x="7688839" y="2129001"/>
              <a:ext cx="327660" cy="419100"/>
            </a:xfrm>
            <a:prstGeom prst="mathMultiply">
              <a:avLst>
                <a:gd name="adj1" fmla="val 13414"/>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7" name="AutoShape 134"/>
          <p:cNvSpPr>
            <a:spLocks noChangeArrowheads="1"/>
          </p:cNvSpPr>
          <p:nvPr/>
        </p:nvSpPr>
        <p:spPr bwMode="auto">
          <a:xfrm>
            <a:off x="8269402" y="2126721"/>
            <a:ext cx="506249" cy="272760"/>
          </a:xfrm>
          <a:prstGeom prst="wedgeRoundRectCallout">
            <a:avLst>
              <a:gd name="adj1" fmla="val -63998"/>
              <a:gd name="adj2" fmla="val 92511"/>
              <a:gd name="adj3" fmla="val 16667"/>
            </a:avLst>
          </a:prstGeom>
          <a:solidFill>
            <a:srgbClr val="FFFF99"/>
          </a:solidFill>
          <a:ln w="19050">
            <a:solidFill>
              <a:srgbClr val="FF00FF"/>
            </a:solidFill>
            <a:miter lim="800000"/>
            <a:headEnd/>
            <a:tailEnd/>
          </a:ln>
          <a:effectLst>
            <a:outerShdw blurRad="50800" dist="38100" dir="5400000" algn="t" rotWithShape="0">
              <a:prstClr val="black">
                <a:alpha val="40000"/>
              </a:prstClr>
            </a:outerShdw>
          </a:effectLst>
        </p:spPr>
        <p:txBody>
          <a:bodyPr lIns="0" tIns="0" rIns="0" bIns="0" anchor="ctr"/>
          <a:lstStyle/>
          <a:p>
            <a:pPr algn="ctr"/>
            <a:r>
              <a:rPr lang="en-US" altLang="zh-CN" sz="1600" b="1" dirty="0">
                <a:solidFill>
                  <a:srgbClr val="0000FF"/>
                </a:solidFill>
                <a:latin typeface="方正粗黑宋简体" pitchFamily="2" charset="-122"/>
                <a:ea typeface="方正粗黑宋简体" pitchFamily="2" charset="-122"/>
              </a:rPr>
              <a:t>0.2V</a:t>
            </a:r>
          </a:p>
        </p:txBody>
      </p:sp>
      <p:sp>
        <p:nvSpPr>
          <p:cNvPr id="138" name="空心弧 137"/>
          <p:cNvSpPr/>
          <p:nvPr/>
        </p:nvSpPr>
        <p:spPr>
          <a:xfrm rot="5400000">
            <a:off x="7226814" y="2664013"/>
            <a:ext cx="612000" cy="626400"/>
          </a:xfrm>
          <a:prstGeom prst="blockArc">
            <a:avLst>
              <a:gd name="adj1" fmla="val 14184012"/>
              <a:gd name="adj2" fmla="val 17725741"/>
              <a:gd name="adj3" fmla="val 11679"/>
            </a:avLst>
          </a:prstGeom>
          <a:solidFill>
            <a:srgbClr val="FF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9" name="空心弧 138"/>
          <p:cNvSpPr/>
          <p:nvPr/>
        </p:nvSpPr>
        <p:spPr>
          <a:xfrm rot="5400000">
            <a:off x="6256240" y="2044152"/>
            <a:ext cx="612000" cy="617377"/>
          </a:xfrm>
          <a:prstGeom prst="blockArc">
            <a:avLst>
              <a:gd name="adj1" fmla="val 14184012"/>
              <a:gd name="adj2" fmla="val 17682556"/>
              <a:gd name="adj3" fmla="val 10614"/>
            </a:avLst>
          </a:prstGeom>
          <a:solidFill>
            <a:srgbClr val="FF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任意多边形: 形状 12">
            <a:extLst>
              <a:ext uri="{FF2B5EF4-FFF2-40B4-BE49-F238E27FC236}">
                <a16:creationId xmlns:a16="http://schemas.microsoft.com/office/drawing/2014/main" id="{F7D8149C-30C3-428D-9403-418DC283DD6D}"/>
              </a:ext>
            </a:extLst>
          </p:cNvPr>
          <p:cNvSpPr/>
          <p:nvPr/>
        </p:nvSpPr>
        <p:spPr>
          <a:xfrm>
            <a:off x="6223083" y="1080482"/>
            <a:ext cx="1759774" cy="2337632"/>
          </a:xfrm>
          <a:custGeom>
            <a:avLst/>
            <a:gdLst>
              <a:gd name="connsiteX0" fmla="*/ 1759774 w 1759774"/>
              <a:gd name="connsiteY0" fmla="*/ 832 h 2337632"/>
              <a:gd name="connsiteX1" fmla="*/ 431717 w 1759774"/>
              <a:gd name="connsiteY1" fmla="*/ 29861 h 2337632"/>
              <a:gd name="connsiteX2" fmla="*/ 90631 w 1759774"/>
              <a:gd name="connsiteY2" fmla="*/ 196775 h 2337632"/>
              <a:gd name="connsiteX3" fmla="*/ 3546 w 1759774"/>
              <a:gd name="connsiteY3" fmla="*/ 755575 h 2337632"/>
              <a:gd name="connsiteX4" fmla="*/ 177717 w 1759774"/>
              <a:gd name="connsiteY4" fmla="*/ 1205518 h 2337632"/>
              <a:gd name="connsiteX5" fmla="*/ 388174 w 1759774"/>
              <a:gd name="connsiteY5" fmla="*/ 1437747 h 2337632"/>
              <a:gd name="connsiteX6" fmla="*/ 656688 w 1759774"/>
              <a:gd name="connsiteY6" fmla="*/ 1546604 h 2337632"/>
              <a:gd name="connsiteX7" fmla="*/ 729260 w 1759774"/>
              <a:gd name="connsiteY7" fmla="*/ 1822375 h 2337632"/>
              <a:gd name="connsiteX8" fmla="*/ 1084860 w 1759774"/>
              <a:gd name="connsiteY8" fmla="*/ 1974775 h 2337632"/>
              <a:gd name="connsiteX9" fmla="*/ 1411431 w 1759774"/>
              <a:gd name="connsiteY9" fmla="*/ 2083632 h 2337632"/>
              <a:gd name="connsiteX10" fmla="*/ 1527546 w 1759774"/>
              <a:gd name="connsiteY10" fmla="*/ 2337632 h 2337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59774" h="2337632">
                <a:moveTo>
                  <a:pt x="1759774" y="832"/>
                </a:moveTo>
                <a:cubicBezTo>
                  <a:pt x="1234840" y="-982"/>
                  <a:pt x="709907" y="-2796"/>
                  <a:pt x="431717" y="29861"/>
                </a:cubicBezTo>
                <a:cubicBezTo>
                  <a:pt x="153526" y="62518"/>
                  <a:pt x="161993" y="75823"/>
                  <a:pt x="90631" y="196775"/>
                </a:cubicBezTo>
                <a:cubicBezTo>
                  <a:pt x="19269" y="317727"/>
                  <a:pt x="-10968" y="587451"/>
                  <a:pt x="3546" y="755575"/>
                </a:cubicBezTo>
                <a:cubicBezTo>
                  <a:pt x="18060" y="923699"/>
                  <a:pt x="113612" y="1091823"/>
                  <a:pt x="177717" y="1205518"/>
                </a:cubicBezTo>
                <a:cubicBezTo>
                  <a:pt x="241822" y="1319213"/>
                  <a:pt x="308346" y="1380899"/>
                  <a:pt x="388174" y="1437747"/>
                </a:cubicBezTo>
                <a:cubicBezTo>
                  <a:pt x="468002" y="1494595"/>
                  <a:pt x="599840" y="1482499"/>
                  <a:pt x="656688" y="1546604"/>
                </a:cubicBezTo>
                <a:cubicBezTo>
                  <a:pt x="713536" y="1610709"/>
                  <a:pt x="657898" y="1751013"/>
                  <a:pt x="729260" y="1822375"/>
                </a:cubicBezTo>
                <a:cubicBezTo>
                  <a:pt x="800622" y="1893737"/>
                  <a:pt x="971165" y="1931232"/>
                  <a:pt x="1084860" y="1974775"/>
                </a:cubicBezTo>
                <a:cubicBezTo>
                  <a:pt x="1198555" y="2018318"/>
                  <a:pt x="1337650" y="2023156"/>
                  <a:pt x="1411431" y="2083632"/>
                </a:cubicBezTo>
                <a:cubicBezTo>
                  <a:pt x="1485212" y="2144108"/>
                  <a:pt x="1506379" y="2240870"/>
                  <a:pt x="1527546" y="2337632"/>
                </a:cubicBezTo>
              </a:path>
            </a:pathLst>
          </a:custGeom>
          <a:noFill/>
          <a:ln w="19050">
            <a:solidFill>
              <a:srgbClr val="6600FF"/>
            </a:solidFill>
            <a:headEnd type="none" w="med" len="med"/>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圆角 17">
            <a:extLst>
              <a:ext uri="{FF2B5EF4-FFF2-40B4-BE49-F238E27FC236}">
                <a16:creationId xmlns:a16="http://schemas.microsoft.com/office/drawing/2014/main" id="{24F99CFB-5AEA-4EF9-948D-F7952855121D}"/>
              </a:ext>
            </a:extLst>
          </p:cNvPr>
          <p:cNvSpPr/>
          <p:nvPr/>
        </p:nvSpPr>
        <p:spPr>
          <a:xfrm>
            <a:off x="381071" y="1648487"/>
            <a:ext cx="4756771" cy="744369"/>
          </a:xfrm>
          <a:prstGeom prst="roundRect">
            <a:avLst>
              <a:gd name="adj" fmla="val 70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4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假设条件</a:t>
            </a:r>
            <a:endParaRPr lang="en-US" altLang="zh-CN" sz="14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pPr algn="ctr">
              <a:lnSpc>
                <a:spcPct val="150000"/>
              </a:lnSpc>
            </a:pPr>
            <a:r>
              <a:rPr kumimoji="0" lang="en-US" altLang="zh-CN" sz="1400" b="1" i="1"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V</a:t>
            </a:r>
            <a:r>
              <a:rPr kumimoji="0" lang="en-US" altLang="zh-CN" sz="1400" b="1" i="0" u="none" strike="noStrike" cap="none" normalizeH="0" baseline="-2500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IH</a:t>
            </a:r>
            <a:r>
              <a:rPr kumimoji="0" lang="en-US" altLang="zh-CN" sz="14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=3.6V</a:t>
            </a:r>
            <a:r>
              <a:rPr lang="zh-CN" altLang="en-US" sz="14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400" b="1" i="1"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 V</a:t>
            </a:r>
            <a:r>
              <a:rPr kumimoji="0" lang="en-US" altLang="zh-CN" sz="1400" b="1" i="0" u="none" strike="noStrike" cap="none" normalizeH="0" baseline="-2500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IL </a:t>
            </a:r>
            <a:r>
              <a:rPr kumimoji="0" lang="en-US" altLang="zh-CN" sz="1400" b="1" i="0" u="none" strike="noStrike" cap="none" normalizeH="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4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0.2V</a:t>
            </a:r>
            <a:r>
              <a:rPr kumimoji="0" lang="zh-CN" altLang="en-US" sz="14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400" b="1" i="1"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V</a:t>
            </a:r>
            <a:r>
              <a:rPr kumimoji="0" lang="en-US" altLang="zh-CN" sz="1400" b="1" i="0" u="none" strike="noStrike" cap="none" normalizeH="0" baseline="-2500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0" lang="en-US" altLang="zh-CN" sz="14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=0.7V</a:t>
            </a:r>
            <a:r>
              <a:rPr kumimoji="0" lang="zh-CN" altLang="en-US" sz="14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400" b="1" i="1"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 V</a:t>
            </a:r>
            <a:r>
              <a:rPr kumimoji="0" lang="en-US" altLang="zh-CN" sz="1400" b="1" i="0" u="none" strike="noStrike" cap="none" normalizeH="0" baseline="-2500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th </a:t>
            </a:r>
            <a:r>
              <a:rPr kumimoji="0" lang="en-US" altLang="zh-CN" sz="1400" b="1" i="0" u="none" strike="noStrike" cap="none" normalizeH="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4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0.7V</a:t>
            </a:r>
            <a:r>
              <a:rPr kumimoji="0" lang="zh-CN" altLang="en-US" sz="14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400" b="1" i="1"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 V</a:t>
            </a:r>
            <a:r>
              <a:rPr kumimoji="0" lang="en-US" altLang="zh-CN" sz="1400" b="1" u="none" strike="noStrike" cap="none" normalizeH="0" baseline="-2500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CES</a:t>
            </a:r>
            <a:r>
              <a:rPr kumimoji="0" lang="en-US" altLang="zh-CN" sz="1400" b="1" i="0" u="none" strike="noStrike" cap="none" normalizeH="0" baseline="-2500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400" b="1" i="0" u="none" strike="noStrike" cap="none" normalizeH="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4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0.2V</a:t>
            </a:r>
            <a:endParaRPr lang="zh-CN" altLang="en-US" sz="1400" b="1" dirty="0">
              <a:solidFill>
                <a:schemeClr val="bg1"/>
              </a:solidFill>
            </a:endParaRPr>
          </a:p>
        </p:txBody>
      </p:sp>
      <p:sp>
        <p:nvSpPr>
          <p:cNvPr id="111" name="文本框 110">
            <a:extLst>
              <a:ext uri="{FF2B5EF4-FFF2-40B4-BE49-F238E27FC236}">
                <a16:creationId xmlns:a16="http://schemas.microsoft.com/office/drawing/2014/main" id="{6D9E80DE-761F-4402-95D9-F988FC329245}"/>
              </a:ext>
            </a:extLst>
          </p:cNvPr>
          <p:cNvSpPr txBox="1"/>
          <p:nvPr/>
        </p:nvSpPr>
        <p:spPr>
          <a:xfrm>
            <a:off x="523229" y="2750169"/>
            <a:ext cx="4451492" cy="700448"/>
          </a:xfrm>
          <a:prstGeom prst="rect">
            <a:avLst/>
          </a:prstGeom>
          <a:noFill/>
        </p:spPr>
        <p:txBody>
          <a:bodyPr wrap="square">
            <a:spAutoFit/>
          </a:bodyPr>
          <a:lstStyle/>
          <a:p>
            <a:pPr marL="285750" indent="-285750">
              <a:lnSpc>
                <a:spcPct val="150000"/>
              </a:lnSpc>
              <a:buFont typeface="Wingdings" panose="05000000000000000000" pitchFamily="2" charset="2"/>
              <a:buChar char="u"/>
            </a:pPr>
            <a:r>
              <a:rPr lang="en-US" altLang="zh-CN" sz="1400" i="1" kern="100" dirty="0">
                <a:effectLst/>
                <a:latin typeface="Times New Roman" panose="02020603050405020304" pitchFamily="18" charset="0"/>
                <a:ea typeface="微软雅黑" panose="020B0503020204020204" pitchFamily="34" charset="-122"/>
                <a:cs typeface="Times New Roman" panose="02020603050405020304" pitchFamily="18" charset="0"/>
              </a:rPr>
              <a:t>V</a:t>
            </a:r>
            <a:r>
              <a:rPr lang="en-US" altLang="zh-CN" sz="1400" kern="100" baseline="-25000" dirty="0">
                <a:effectLst/>
                <a:latin typeface="Times New Roman" panose="02020603050405020304" pitchFamily="18" charset="0"/>
                <a:ea typeface="微软雅黑" panose="020B0503020204020204" pitchFamily="34" charset="-122"/>
                <a:cs typeface="Times New Roman" panose="02020603050405020304" pitchFamily="18" charset="0"/>
              </a:rPr>
              <a:t>CC</a:t>
            </a:r>
            <a:r>
              <a:rPr lang="zh-CN" altLang="zh-CN" sz="1400" kern="100" dirty="0">
                <a:effectLst/>
                <a:latin typeface="Times New Roman" panose="02020603050405020304" pitchFamily="18" charset="0"/>
                <a:ea typeface="微软雅黑" panose="020B0503020204020204" pitchFamily="34" charset="-122"/>
                <a:cs typeface="Times New Roman" panose="02020603050405020304" pitchFamily="18" charset="0"/>
              </a:rPr>
              <a:t>通过</a:t>
            </a:r>
            <a:r>
              <a:rPr lang="en-US" altLang="zh-CN" sz="1400" i="1" kern="100" dirty="0">
                <a:effectLst/>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1400" kern="100" baseline="-25000" dirty="0">
                <a:effectLst/>
                <a:latin typeface="Times New Roman" panose="02020603050405020304" pitchFamily="18" charset="0"/>
                <a:ea typeface="微软雅黑" panose="020B0503020204020204" pitchFamily="34" charset="-122"/>
                <a:cs typeface="Times New Roman" panose="02020603050405020304" pitchFamily="18" charset="0"/>
              </a:rPr>
              <a:t>b1</a:t>
            </a:r>
            <a:r>
              <a:rPr lang="zh-CN" altLang="zh-CN" sz="1400" kern="100" dirty="0">
                <a:effectLst/>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1400" kern="100" dirty="0">
                <a:effectLst/>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1400" kern="100" baseline="-25000" dirty="0">
                <a:effectLst/>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400" kern="100" dirty="0">
                <a:effectLst/>
                <a:latin typeface="Times New Roman" panose="02020603050405020304" pitchFamily="18" charset="0"/>
                <a:ea typeface="微软雅黑" panose="020B0503020204020204" pitchFamily="34" charset="-122"/>
                <a:cs typeface="Times New Roman" panose="02020603050405020304" pitchFamily="18" charset="0"/>
              </a:rPr>
              <a:t>的集电结为</a:t>
            </a:r>
            <a:r>
              <a:rPr lang="en-US" altLang="zh-CN" sz="1400" kern="100" dirty="0">
                <a:effectLst/>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1400" kern="100" baseline="-25000" dirty="0">
                <a:effectLst/>
                <a:latin typeface="Times New Roman" panose="02020603050405020304" pitchFamily="18" charset="0"/>
                <a:ea typeface="微软雅黑" panose="020B0503020204020204" pitchFamily="34" charset="-122"/>
                <a:cs typeface="Times New Roman" panose="02020603050405020304" pitchFamily="18" charset="0"/>
              </a:rPr>
              <a:t>2</a:t>
            </a:r>
            <a:r>
              <a:rPr lang="zh-CN" altLang="zh-CN" sz="1400" kern="1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kern="100" dirty="0">
                <a:effectLst/>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1400" kern="100" baseline="-25000" dirty="0">
                <a:effectLst/>
                <a:latin typeface="Times New Roman" panose="02020603050405020304" pitchFamily="18" charset="0"/>
                <a:ea typeface="微软雅黑" panose="020B0503020204020204" pitchFamily="34" charset="-122"/>
                <a:cs typeface="Times New Roman" panose="02020603050405020304" pitchFamily="18" charset="0"/>
              </a:rPr>
              <a:t>3</a:t>
            </a:r>
            <a:r>
              <a:rPr lang="zh-CN" altLang="zh-CN" sz="1400" kern="100" dirty="0">
                <a:effectLst/>
                <a:latin typeface="Times New Roman" panose="02020603050405020304" pitchFamily="18" charset="0"/>
                <a:ea typeface="微软雅黑" panose="020B0503020204020204" pitchFamily="34" charset="-122"/>
                <a:cs typeface="Times New Roman" panose="02020603050405020304" pitchFamily="18" charset="0"/>
              </a:rPr>
              <a:t>提供基极电流，使</a:t>
            </a:r>
            <a:r>
              <a:rPr lang="en-US" altLang="zh-CN" sz="1400" kern="100" dirty="0">
                <a:effectLst/>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1400" kern="100" baseline="-25000" dirty="0">
                <a:effectLst/>
                <a:latin typeface="Times New Roman" panose="02020603050405020304" pitchFamily="18" charset="0"/>
                <a:ea typeface="微软雅黑" panose="020B0503020204020204" pitchFamily="34" charset="-122"/>
                <a:cs typeface="Times New Roman" panose="02020603050405020304" pitchFamily="18" charset="0"/>
              </a:rPr>
              <a:t>2</a:t>
            </a:r>
            <a:r>
              <a:rPr lang="zh-CN" altLang="zh-CN" sz="1400" kern="1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kern="100" dirty="0">
                <a:effectLst/>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1400" kern="100" baseline="-25000" dirty="0">
                <a:effectLst/>
                <a:latin typeface="Times New Roman" panose="02020603050405020304" pitchFamily="18" charset="0"/>
                <a:ea typeface="微软雅黑" panose="020B0503020204020204" pitchFamily="34" charset="-122"/>
                <a:cs typeface="Times New Roman" panose="02020603050405020304" pitchFamily="18" charset="0"/>
              </a:rPr>
              <a:t>3</a:t>
            </a:r>
            <a:r>
              <a:rPr lang="zh-CN" altLang="zh-CN" sz="1400" kern="100" dirty="0">
                <a:effectLst/>
                <a:latin typeface="Times New Roman" panose="02020603050405020304" pitchFamily="18" charset="0"/>
                <a:ea typeface="微软雅黑" panose="020B0503020204020204" pitchFamily="34" charset="-122"/>
                <a:cs typeface="Times New Roman" panose="02020603050405020304" pitchFamily="18" charset="0"/>
              </a:rPr>
              <a:t>饱和导通</a:t>
            </a:r>
            <a:r>
              <a:rPr lang="zh-CN" altLang="en-US" sz="1400" kern="1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4" name="文本框 93">
            <a:extLst>
              <a:ext uri="{FF2B5EF4-FFF2-40B4-BE49-F238E27FC236}">
                <a16:creationId xmlns:a16="http://schemas.microsoft.com/office/drawing/2014/main" id="{48106D76-B92C-4562-A392-F3A60A669C00}"/>
              </a:ext>
            </a:extLst>
          </p:cNvPr>
          <p:cNvSpPr txBox="1"/>
          <p:nvPr/>
        </p:nvSpPr>
        <p:spPr>
          <a:xfrm>
            <a:off x="523229" y="3431309"/>
            <a:ext cx="4451492" cy="705001"/>
          </a:xfrm>
          <a:prstGeom prst="rect">
            <a:avLst/>
          </a:prstGeom>
          <a:noFill/>
        </p:spPr>
        <p:txBody>
          <a:bodyPr wrap="square">
            <a:spAutoFit/>
          </a:bodyPr>
          <a:lstStyle/>
          <a:p>
            <a:pPr marL="285750" indent="-285750">
              <a:lnSpc>
                <a:spcPct val="150000"/>
              </a:lnSpc>
              <a:buFont typeface="Wingdings" panose="05000000000000000000" pitchFamily="2" charset="2"/>
              <a:buChar char="u"/>
            </a:pPr>
            <a:r>
              <a:rPr lang="en-US" altLang="zh-CN" sz="1400" i="1" dirty="0">
                <a:latin typeface="Times New Roman" panose="02020603050405020304" pitchFamily="18" charset="0"/>
                <a:ea typeface="黑体" pitchFamily="49" charset="-122"/>
                <a:cs typeface="Times New Roman" pitchFamily="18" charset="0"/>
              </a:rPr>
              <a:t>V</a:t>
            </a:r>
            <a:r>
              <a:rPr lang="en-US" altLang="zh-CN" sz="1400" baseline="-25000" dirty="0">
                <a:latin typeface="Times New Roman" panose="02020603050405020304" pitchFamily="18" charset="0"/>
                <a:ea typeface="黑体" pitchFamily="49" charset="-122"/>
                <a:cs typeface="Times New Roman" pitchFamily="18" charset="0"/>
              </a:rPr>
              <a:t>C1</a:t>
            </a:r>
            <a:r>
              <a:rPr lang="en-US" altLang="zh-CN" sz="1400" dirty="0">
                <a:latin typeface="Times New Roman" panose="02020603050405020304" pitchFamily="18" charset="0"/>
                <a:ea typeface="黑体" pitchFamily="49" charset="-122"/>
                <a:cs typeface="Times New Roman" pitchFamily="18" charset="0"/>
              </a:rPr>
              <a:t>=1.4V</a:t>
            </a:r>
            <a:r>
              <a:rPr lang="zh-CN" altLang="en-US" sz="1400" dirty="0">
                <a:latin typeface="Times New Roman" panose="02020603050405020304" pitchFamily="18" charset="0"/>
                <a:ea typeface="黑体" pitchFamily="49" charset="-122"/>
                <a:cs typeface="Times New Roman" pitchFamily="18" charset="0"/>
              </a:rPr>
              <a:t>，</a:t>
            </a:r>
            <a:r>
              <a:rPr lang="en-US" altLang="zh-CN" sz="1400" i="1" dirty="0">
                <a:latin typeface="Times New Roman" panose="02020603050405020304" pitchFamily="18" charset="0"/>
                <a:ea typeface="黑体" pitchFamily="49" charset="-122"/>
                <a:cs typeface="Times New Roman" pitchFamily="18" charset="0"/>
              </a:rPr>
              <a:t> V</a:t>
            </a:r>
            <a:r>
              <a:rPr lang="en-US" altLang="zh-CN" sz="1400" baseline="-25000" dirty="0">
                <a:latin typeface="Times New Roman" panose="02020603050405020304" pitchFamily="18" charset="0"/>
                <a:ea typeface="黑体" pitchFamily="49" charset="-122"/>
                <a:cs typeface="Times New Roman" pitchFamily="18" charset="0"/>
              </a:rPr>
              <a:t>B1</a:t>
            </a:r>
            <a:r>
              <a:rPr lang="en-US" altLang="zh-CN" sz="1400" dirty="0">
                <a:latin typeface="Times New Roman" panose="02020603050405020304" pitchFamily="18" charset="0"/>
                <a:ea typeface="黑体" pitchFamily="49" charset="-122"/>
                <a:cs typeface="Times New Roman" pitchFamily="18" charset="0"/>
              </a:rPr>
              <a:t>=2.1V</a:t>
            </a:r>
            <a:r>
              <a:rPr lang="zh-CN" altLang="en-US" sz="1400" dirty="0">
                <a:latin typeface="Times New Roman" panose="02020603050405020304" pitchFamily="18" charset="0"/>
                <a:ea typeface="黑体" pitchFamily="49" charset="-122"/>
                <a:cs typeface="Times New Roman" pitchFamily="18" charset="0"/>
              </a:rPr>
              <a:t>，</a:t>
            </a:r>
            <a:r>
              <a:rPr lang="en-US" altLang="zh-CN" sz="1400" i="1" dirty="0">
                <a:latin typeface="Times New Roman" panose="02020603050405020304" pitchFamily="18" charset="0"/>
                <a:ea typeface="黑体" pitchFamily="49" charset="-122"/>
                <a:cs typeface="Times New Roman" pitchFamily="18" charset="0"/>
              </a:rPr>
              <a:t> V</a:t>
            </a:r>
            <a:r>
              <a:rPr lang="en-US" altLang="zh-CN" sz="1400" baseline="-25000" dirty="0">
                <a:latin typeface="Times New Roman" panose="02020603050405020304" pitchFamily="18" charset="0"/>
                <a:ea typeface="黑体" pitchFamily="49" charset="-122"/>
                <a:cs typeface="Times New Roman" pitchFamily="18" charset="0"/>
              </a:rPr>
              <a:t>E1</a:t>
            </a:r>
            <a:r>
              <a:rPr lang="en-US" altLang="zh-CN" sz="1400" dirty="0">
                <a:latin typeface="Times New Roman" panose="02020603050405020304" pitchFamily="18" charset="0"/>
                <a:ea typeface="黑体" pitchFamily="49" charset="-122"/>
                <a:cs typeface="Times New Roman" pitchFamily="18" charset="0"/>
              </a:rPr>
              <a:t>=3.6V</a:t>
            </a:r>
            <a:r>
              <a:rPr lang="zh-CN" altLang="en-US" sz="1400" dirty="0">
                <a:latin typeface="Times New Roman" panose="02020603050405020304" pitchFamily="18" charset="0"/>
                <a:ea typeface="黑体" pitchFamily="49" charset="-122"/>
                <a:cs typeface="Times New Roman" pitchFamily="18" charset="0"/>
              </a:rPr>
              <a:t>，</a:t>
            </a:r>
            <a:r>
              <a:rPr lang="en-US" altLang="zh-CN" sz="1400" dirty="0">
                <a:latin typeface="Times New Roman" panose="02020603050405020304" pitchFamily="18" charset="0"/>
                <a:ea typeface="黑体" pitchFamily="49" charset="-122"/>
                <a:cs typeface="Times New Roman" pitchFamily="18" charset="0"/>
              </a:rPr>
              <a:t> </a:t>
            </a:r>
            <a:r>
              <a:rPr lang="en-US" altLang="zh-CN" sz="1400" i="1" dirty="0">
                <a:latin typeface="Times New Roman" panose="02020603050405020304" pitchFamily="18" charset="0"/>
                <a:ea typeface="黑体" pitchFamily="49" charset="-122"/>
                <a:cs typeface="Times New Roman" pitchFamily="18" charset="0"/>
              </a:rPr>
              <a:t>T</a:t>
            </a:r>
            <a:r>
              <a:rPr lang="en-US" altLang="zh-CN" sz="1400" baseline="-25000" dirty="0">
                <a:latin typeface="Times New Roman" panose="02020603050405020304" pitchFamily="18" charset="0"/>
                <a:ea typeface="黑体" pitchFamily="49" charset="-122"/>
                <a:cs typeface="Times New Roman" pitchFamily="18" charset="0"/>
              </a:rPr>
              <a:t>1</a:t>
            </a:r>
            <a:r>
              <a:rPr lang="zh-CN" altLang="en-US" sz="1400" dirty="0">
                <a:latin typeface="Times New Roman" panose="02020603050405020304" pitchFamily="18" charset="0"/>
                <a:ea typeface="黑体" pitchFamily="49" charset="-122"/>
                <a:cs typeface="Times New Roman" pitchFamily="18" charset="0"/>
              </a:rPr>
              <a:t>管发射结反偏，集电结正偏（</a:t>
            </a:r>
            <a:r>
              <a:rPr lang="zh-CN" altLang="en-US" sz="1400" dirty="0">
                <a:solidFill>
                  <a:srgbClr val="6600FF"/>
                </a:solidFill>
                <a:latin typeface="Times New Roman" panose="02020603050405020304" pitchFamily="18" charset="0"/>
                <a:ea typeface="方正粗黑宋简体" pitchFamily="2" charset="-122"/>
                <a:cs typeface="Times New Roman" panose="02020603050405020304" pitchFamily="18" charset="0"/>
              </a:rPr>
              <a:t>倒置放大状态</a:t>
            </a:r>
            <a:r>
              <a:rPr lang="zh-CN" altLang="en-US" sz="1400" dirty="0">
                <a:latin typeface="Times New Roman" panose="02020603050405020304" pitchFamily="18" charset="0"/>
                <a:ea typeface="黑体" pitchFamily="49" charset="-122"/>
                <a:cs typeface="Times New Roman" pitchFamily="18" charset="0"/>
              </a:rPr>
              <a:t>）。</a:t>
            </a:r>
            <a:endParaRPr lang="en-US" altLang="zh-CN" sz="1400" dirty="0">
              <a:latin typeface="Times New Roman" panose="02020603050405020304" pitchFamily="18" charset="0"/>
              <a:ea typeface="黑体" pitchFamily="49" charset="-122"/>
              <a:cs typeface="Times New Roman" pitchFamily="18" charset="0"/>
            </a:endParaRPr>
          </a:p>
        </p:txBody>
      </p:sp>
      <p:sp>
        <p:nvSpPr>
          <p:cNvPr id="98" name="文本框 97">
            <a:extLst>
              <a:ext uri="{FF2B5EF4-FFF2-40B4-BE49-F238E27FC236}">
                <a16:creationId xmlns:a16="http://schemas.microsoft.com/office/drawing/2014/main" id="{AB71B440-8A04-4E20-83F4-BE3BFBED038D}"/>
              </a:ext>
            </a:extLst>
          </p:cNvPr>
          <p:cNvSpPr txBox="1"/>
          <p:nvPr/>
        </p:nvSpPr>
        <p:spPr>
          <a:xfrm>
            <a:off x="523229" y="4117002"/>
            <a:ext cx="4451492" cy="375103"/>
          </a:xfrm>
          <a:prstGeom prst="rect">
            <a:avLst/>
          </a:prstGeom>
          <a:noFill/>
        </p:spPr>
        <p:txBody>
          <a:bodyPr wrap="square">
            <a:spAutoFit/>
          </a:bodyPr>
          <a:lstStyle/>
          <a:p>
            <a:pPr marL="285750" indent="-285750">
              <a:lnSpc>
                <a:spcPct val="150000"/>
              </a:lnSpc>
              <a:buFont typeface="Wingdings" panose="05000000000000000000" pitchFamily="2" charset="2"/>
              <a:buChar char="u"/>
            </a:pPr>
            <a:r>
              <a:rPr lang="en-US" altLang="zh-CN" sz="1400" i="1" dirty="0">
                <a:latin typeface="Times New Roman" panose="02020603050405020304" pitchFamily="18" charset="0"/>
                <a:ea typeface="黑体" pitchFamily="49" charset="-122"/>
                <a:cs typeface="Times New Roman" pitchFamily="18" charset="0"/>
              </a:rPr>
              <a:t>V</a:t>
            </a:r>
            <a:r>
              <a:rPr lang="en-US" altLang="zh-CN" sz="1400" baseline="-25000" dirty="0">
                <a:latin typeface="Times New Roman" panose="02020603050405020304" pitchFamily="18" charset="0"/>
                <a:ea typeface="黑体" pitchFamily="49" charset="-122"/>
                <a:cs typeface="Times New Roman" pitchFamily="18" charset="0"/>
              </a:rPr>
              <a:t>C2</a:t>
            </a:r>
            <a:r>
              <a:rPr lang="en-US" altLang="zh-CN" sz="1400" dirty="0">
                <a:latin typeface="Times New Roman" panose="02020603050405020304" pitchFamily="18" charset="0"/>
                <a:ea typeface="黑体" pitchFamily="49" charset="-122"/>
                <a:cs typeface="Times New Roman" pitchFamily="18" charset="0"/>
              </a:rPr>
              <a:t>=0.9V</a:t>
            </a:r>
            <a:r>
              <a:rPr lang="zh-CN" altLang="en-US" sz="1400" dirty="0">
                <a:latin typeface="Times New Roman" panose="02020603050405020304" pitchFamily="18" charset="0"/>
                <a:ea typeface="黑体" pitchFamily="49" charset="-122"/>
                <a:cs typeface="Times New Roman" pitchFamily="18" charset="0"/>
              </a:rPr>
              <a:t>，</a:t>
            </a:r>
            <a:r>
              <a:rPr lang="zh-CN" altLang="zh-CN" sz="1400" kern="100" dirty="0">
                <a:latin typeface="Times New Roman" panose="02020603050405020304" pitchFamily="18" charset="0"/>
                <a:ea typeface="微软雅黑" panose="020B0503020204020204" pitchFamily="34" charset="-122"/>
                <a:cs typeface="Times New Roman" panose="02020603050405020304" pitchFamily="18" charset="0"/>
              </a:rPr>
              <a:t>无法使</a:t>
            </a:r>
            <a:r>
              <a:rPr lang="en-US" altLang="zh-CN" sz="1400" i="1" kern="100" dirty="0">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1400" kern="100" baseline="-25000" dirty="0">
                <a:latin typeface="Times New Roman" panose="02020603050405020304" pitchFamily="18" charset="0"/>
                <a:ea typeface="微软雅黑" panose="020B0503020204020204" pitchFamily="34" charset="-122"/>
                <a:cs typeface="Times New Roman" panose="02020603050405020304" pitchFamily="18" charset="0"/>
              </a:rPr>
              <a:t>4</a:t>
            </a:r>
            <a:r>
              <a:rPr lang="zh-CN" altLang="zh-CN" sz="1400" kern="100"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1400" i="1" kern="100" dirty="0">
                <a:latin typeface="Times New Roman" panose="02020603050405020304" pitchFamily="18" charset="0"/>
                <a:ea typeface="微软雅黑" panose="020B0503020204020204" pitchFamily="34" charset="-122"/>
                <a:cs typeface="Times New Roman" panose="02020603050405020304" pitchFamily="18" charset="0"/>
              </a:rPr>
              <a:t>D</a:t>
            </a:r>
            <a:r>
              <a:rPr lang="zh-CN" altLang="zh-CN" sz="1400" kern="100" dirty="0">
                <a:latin typeface="Times New Roman" panose="02020603050405020304" pitchFamily="18" charset="0"/>
                <a:ea typeface="微软雅黑" panose="020B0503020204020204" pitchFamily="34" charset="-122"/>
                <a:cs typeface="Times New Roman" panose="02020603050405020304" pitchFamily="18" charset="0"/>
              </a:rPr>
              <a:t>二者导通，因此</a:t>
            </a:r>
            <a:r>
              <a:rPr lang="en-US" altLang="zh-CN" sz="1400" i="1" kern="100" dirty="0">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1400" kern="100" baseline="-25000" dirty="0">
                <a:latin typeface="Times New Roman" panose="02020603050405020304" pitchFamily="18" charset="0"/>
                <a:ea typeface="微软雅黑" panose="020B0503020204020204" pitchFamily="34" charset="-122"/>
                <a:cs typeface="Times New Roman" panose="02020603050405020304" pitchFamily="18" charset="0"/>
              </a:rPr>
              <a:t>4</a:t>
            </a:r>
            <a:r>
              <a:rPr lang="zh-CN" altLang="zh-CN" sz="1400" kern="100"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1400" i="1" kern="100" dirty="0">
                <a:latin typeface="Times New Roman" panose="02020603050405020304" pitchFamily="18" charset="0"/>
                <a:ea typeface="微软雅黑" panose="020B0503020204020204" pitchFamily="34" charset="-122"/>
                <a:cs typeface="Times New Roman" panose="02020603050405020304" pitchFamily="18" charset="0"/>
              </a:rPr>
              <a:t>D</a:t>
            </a:r>
            <a:r>
              <a:rPr lang="zh-CN" altLang="zh-CN" sz="1400" kern="100" dirty="0">
                <a:latin typeface="Times New Roman" panose="02020603050405020304" pitchFamily="18" charset="0"/>
                <a:ea typeface="微软雅黑" panose="020B0503020204020204" pitchFamily="34" charset="-122"/>
                <a:cs typeface="Times New Roman" panose="02020603050405020304" pitchFamily="18" charset="0"/>
              </a:rPr>
              <a:t>截止</a:t>
            </a:r>
            <a:r>
              <a:rPr lang="zh-CN" altLang="en-US" sz="1400" kern="1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kern="1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0" name="文本框 99">
            <a:extLst>
              <a:ext uri="{FF2B5EF4-FFF2-40B4-BE49-F238E27FC236}">
                <a16:creationId xmlns:a16="http://schemas.microsoft.com/office/drawing/2014/main" id="{324D75D9-26A1-43EC-91D7-769D02E2C0E2}"/>
              </a:ext>
            </a:extLst>
          </p:cNvPr>
          <p:cNvSpPr txBox="1"/>
          <p:nvPr/>
        </p:nvSpPr>
        <p:spPr>
          <a:xfrm>
            <a:off x="523229" y="4472797"/>
            <a:ext cx="4451492" cy="420371"/>
          </a:xfrm>
          <a:prstGeom prst="rect">
            <a:avLst/>
          </a:prstGeom>
          <a:noFill/>
        </p:spPr>
        <p:txBody>
          <a:bodyPr wrap="square">
            <a:spAutoFit/>
          </a:bodyPr>
          <a:lstStyle/>
          <a:p>
            <a:pPr marL="285750" indent="-285750">
              <a:lnSpc>
                <a:spcPct val="150000"/>
              </a:lnSpc>
              <a:buFont typeface="Wingdings" panose="05000000000000000000" pitchFamily="2" charset="2"/>
              <a:buChar char="u"/>
            </a:pPr>
            <a:r>
              <a:rPr lang="en-US" altLang="zh-CN" sz="1400" i="1" kern="100" dirty="0">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1400" kern="100" baseline="-2500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zh-CN" sz="1400" kern="100" dirty="0">
                <a:latin typeface="Times New Roman" panose="02020603050405020304" pitchFamily="18" charset="0"/>
                <a:ea typeface="微软雅黑" panose="020B0503020204020204" pitchFamily="34" charset="-122"/>
                <a:cs typeface="Times New Roman" panose="02020603050405020304" pitchFamily="18" charset="0"/>
              </a:rPr>
              <a:t>饱和导通</a:t>
            </a:r>
            <a:r>
              <a:rPr lang="zh-CN" altLang="en-US" sz="1400" kern="100" dirty="0">
                <a:latin typeface="Times New Roman" panose="02020603050405020304" pitchFamily="18" charset="0"/>
                <a:ea typeface="微软雅黑" panose="020B0503020204020204" pitchFamily="34" charset="-122"/>
                <a:cs typeface="Times New Roman" panose="02020603050405020304" pitchFamily="18" charset="0"/>
              </a:rPr>
              <a:t>，</a:t>
            </a:r>
            <a:r>
              <a:rPr lang="el-GR" altLang="zh-CN" sz="1600" i="1" kern="100" dirty="0">
                <a:latin typeface="Times New Roman" panose="02020603050405020304" pitchFamily="18" charset="0"/>
                <a:ea typeface="宋体" panose="02010600030101010101" pitchFamily="2" charset="-122"/>
                <a:cs typeface="Times New Roman" panose="02020603050405020304" pitchFamily="18" charset="0"/>
              </a:rPr>
              <a:t>υ</a:t>
            </a:r>
            <a:r>
              <a:rPr lang="en-US" altLang="zh-CN" sz="1600" kern="100" baseline="-25000" dirty="0">
                <a:latin typeface="Times New Roman" panose="02020603050405020304" pitchFamily="18" charset="0"/>
                <a:ea typeface="宋体" panose="02010600030101010101" pitchFamily="2" charset="-122"/>
                <a:cs typeface="Times New Roman" panose="02020603050405020304" pitchFamily="18" charset="0"/>
              </a:rPr>
              <a:t>o</a:t>
            </a:r>
            <a:r>
              <a:rPr lang="zh-CN" altLang="en-US" sz="1400"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0.2V</a:t>
            </a:r>
            <a:r>
              <a:rPr lang="zh-CN" altLang="en-US" sz="1400"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1400" dirty="0">
                <a:solidFill>
                  <a:srgbClr val="6600FF"/>
                </a:solidFill>
                <a:latin typeface="Times New Roman" panose="02020603050405020304" pitchFamily="18" charset="0"/>
                <a:ea typeface="方正粗黑宋简体" pitchFamily="2" charset="-122"/>
                <a:cs typeface="Times New Roman" panose="02020603050405020304" pitchFamily="18" charset="0"/>
              </a:rPr>
              <a:t>低电平</a:t>
            </a:r>
            <a:r>
              <a:rPr lang="zh-CN" altLang="en-US" sz="1400" kern="1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96"/>
                                        </p:tgtEl>
                                        <p:attrNameLst>
                                          <p:attrName>style.visibility</p:attrName>
                                        </p:attrNameLst>
                                      </p:cBhvr>
                                      <p:to>
                                        <p:strVal val="visible"/>
                                      </p:to>
                                    </p:set>
                                    <p:animEffect transition="in" filter="slide(fromBottom)">
                                      <p:cBhvr>
                                        <p:cTn id="7" dur="1000"/>
                                        <p:tgtEl>
                                          <p:spTgt spid="96"/>
                                        </p:tgtEl>
                                      </p:cBhvr>
                                    </p:animEffect>
                                  </p:childTnLst>
                                </p:cTn>
                              </p:par>
                            </p:childTnLst>
                          </p:cTn>
                        </p:par>
                        <p:par>
                          <p:cTn id="8" fill="hold">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slide(fromBottom)">
                                      <p:cBhvr>
                                        <p:cTn id="11" dur="1000"/>
                                        <p:tgtEl>
                                          <p:spTgt spid="7"/>
                                        </p:tgtEl>
                                      </p:cBhvr>
                                    </p:animEffect>
                                  </p:childTnLst>
                                </p:cTn>
                              </p:par>
                            </p:childTnLst>
                          </p:cTn>
                        </p:par>
                        <p:par>
                          <p:cTn id="12" fill="hold">
                            <p:stCondLst>
                              <p:cond delay="2000"/>
                            </p:stCondLst>
                            <p:childTnLst>
                              <p:par>
                                <p:cTn id="13" presetID="12" presetClass="entr" presetSubtype="4" fill="hold" grpId="0" nodeType="afterEffect">
                                  <p:stCondLst>
                                    <p:cond delay="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1000"/>
                                        <p:tgtEl>
                                          <p:spTgt spid="18"/>
                                        </p:tgtEl>
                                        <p:attrNameLst>
                                          <p:attrName>ppt_y</p:attrName>
                                        </p:attrNameLst>
                                      </p:cBhvr>
                                      <p:tavLst>
                                        <p:tav tm="0">
                                          <p:val>
                                            <p:strVal val="#ppt_y+#ppt_h*1.125000"/>
                                          </p:val>
                                        </p:tav>
                                        <p:tav tm="100000">
                                          <p:val>
                                            <p:strVal val="#ppt_y"/>
                                          </p:val>
                                        </p:tav>
                                      </p:tavLst>
                                    </p:anim>
                                    <p:animEffect transition="in" filter="wipe(up)">
                                      <p:cBhvr>
                                        <p:cTn id="16" dur="1000"/>
                                        <p:tgtEl>
                                          <p:spTgt spid="18"/>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4" fill="hold" grpId="0" nodeType="clickEffect">
                                  <p:stCondLst>
                                    <p:cond delay="0"/>
                                  </p:stCondLst>
                                  <p:childTnLst>
                                    <p:set>
                                      <p:cBhvr>
                                        <p:cTn id="20" dur="1" fill="hold">
                                          <p:stCondLst>
                                            <p:cond delay="0"/>
                                          </p:stCondLst>
                                        </p:cTn>
                                        <p:tgtEl>
                                          <p:spTgt spid="97"/>
                                        </p:tgtEl>
                                        <p:attrNameLst>
                                          <p:attrName>style.visibility</p:attrName>
                                        </p:attrNameLst>
                                      </p:cBhvr>
                                      <p:to>
                                        <p:strVal val="visible"/>
                                      </p:to>
                                    </p:set>
                                    <p:animEffect transition="in" filter="slide(fromBottom)">
                                      <p:cBhvr>
                                        <p:cTn id="21" dur="1000"/>
                                        <p:tgtEl>
                                          <p:spTgt spid="97"/>
                                        </p:tgtEl>
                                      </p:cBhvr>
                                    </p:animEffec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111"/>
                                        </p:tgtEl>
                                        <p:attrNameLst>
                                          <p:attrName>style.visibility</p:attrName>
                                        </p:attrNameLst>
                                      </p:cBhvr>
                                      <p:to>
                                        <p:strVal val="visible"/>
                                      </p:to>
                                    </p:set>
                                    <p:animEffect transition="in" filter="wipe(left)">
                                      <p:cBhvr>
                                        <p:cTn id="25" dur="1000"/>
                                        <p:tgtEl>
                                          <p:spTgt spid="111"/>
                                        </p:tgtEl>
                                      </p:cBhvr>
                                    </p:animEffect>
                                  </p:childTnLst>
                                </p:cTn>
                              </p:par>
                            </p:childTnLst>
                          </p:cTn>
                        </p:par>
                        <p:par>
                          <p:cTn id="26" fill="hold">
                            <p:stCondLst>
                              <p:cond delay="2000"/>
                            </p:stCondLst>
                            <p:childTnLst>
                              <p:par>
                                <p:cTn id="27" presetID="12" presetClass="entr" presetSubtype="4" fill="hold" grpId="0" nodeType="afterEffect">
                                  <p:stCondLst>
                                    <p:cond delay="0"/>
                                  </p:stCondLst>
                                  <p:childTnLst>
                                    <p:set>
                                      <p:cBhvr>
                                        <p:cTn id="28" dur="1" fill="hold">
                                          <p:stCondLst>
                                            <p:cond delay="0"/>
                                          </p:stCondLst>
                                        </p:cTn>
                                        <p:tgtEl>
                                          <p:spTgt spid="101"/>
                                        </p:tgtEl>
                                        <p:attrNameLst>
                                          <p:attrName>style.visibility</p:attrName>
                                        </p:attrNameLst>
                                      </p:cBhvr>
                                      <p:to>
                                        <p:strVal val="visible"/>
                                      </p:to>
                                    </p:set>
                                    <p:animEffect transition="in" filter="slide(fromBottom)">
                                      <p:cBhvr>
                                        <p:cTn id="29" dur="1000"/>
                                        <p:tgtEl>
                                          <p:spTgt spid="101"/>
                                        </p:tgtEl>
                                      </p:cBhvr>
                                    </p:animEffect>
                                  </p:childTnLst>
                                </p:cTn>
                              </p:par>
                            </p:childTnLst>
                          </p:cTn>
                        </p:par>
                        <p:par>
                          <p:cTn id="30" fill="hold">
                            <p:stCondLst>
                              <p:cond delay="3000"/>
                            </p:stCondLst>
                            <p:childTnLst>
                              <p:par>
                                <p:cTn id="31" presetID="22" presetClass="entr" presetSubtype="1" fill="hold" grpId="0" nodeType="after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wipe(up)">
                                      <p:cBhvr>
                                        <p:cTn id="33" dur="2000"/>
                                        <p:tgtEl>
                                          <p:spTgt spid="13"/>
                                        </p:tgtEl>
                                      </p:cBhvr>
                                    </p:animEffect>
                                  </p:childTnLst>
                                </p:cTn>
                              </p:par>
                            </p:childTnLst>
                          </p:cTn>
                        </p:par>
                        <p:par>
                          <p:cTn id="34" fill="hold">
                            <p:stCondLst>
                              <p:cond delay="5000"/>
                            </p:stCondLst>
                            <p:childTnLst>
                              <p:par>
                                <p:cTn id="35" presetID="12" presetClass="entr" presetSubtype="2" fill="hold" grpId="0" nodeType="afterEffect">
                                  <p:stCondLst>
                                    <p:cond delay="0"/>
                                  </p:stCondLst>
                                  <p:childTnLst>
                                    <p:set>
                                      <p:cBhvr>
                                        <p:cTn id="36" dur="1" fill="hold">
                                          <p:stCondLst>
                                            <p:cond delay="0"/>
                                          </p:stCondLst>
                                        </p:cTn>
                                        <p:tgtEl>
                                          <p:spTgt spid="138"/>
                                        </p:tgtEl>
                                        <p:attrNameLst>
                                          <p:attrName>style.visibility</p:attrName>
                                        </p:attrNameLst>
                                      </p:cBhvr>
                                      <p:to>
                                        <p:strVal val="visible"/>
                                      </p:to>
                                    </p:set>
                                    <p:animEffect transition="in" filter="slide(fromRight)">
                                      <p:cBhvr>
                                        <p:cTn id="37" dur="1000"/>
                                        <p:tgtEl>
                                          <p:spTgt spid="138"/>
                                        </p:tgtEl>
                                      </p:cBhvr>
                                    </p:animEffect>
                                  </p:childTnLst>
                                </p:cTn>
                              </p:par>
                            </p:childTnLst>
                          </p:cTn>
                        </p:par>
                        <p:par>
                          <p:cTn id="38" fill="hold">
                            <p:stCondLst>
                              <p:cond delay="6000"/>
                            </p:stCondLst>
                            <p:childTnLst>
                              <p:par>
                                <p:cTn id="39" presetID="12" presetClass="entr" presetSubtype="2" fill="hold" grpId="0" nodeType="afterEffect">
                                  <p:stCondLst>
                                    <p:cond delay="0"/>
                                  </p:stCondLst>
                                  <p:childTnLst>
                                    <p:set>
                                      <p:cBhvr>
                                        <p:cTn id="40" dur="1" fill="hold">
                                          <p:stCondLst>
                                            <p:cond delay="0"/>
                                          </p:stCondLst>
                                        </p:cTn>
                                        <p:tgtEl>
                                          <p:spTgt spid="139"/>
                                        </p:tgtEl>
                                        <p:attrNameLst>
                                          <p:attrName>style.visibility</p:attrName>
                                        </p:attrNameLst>
                                      </p:cBhvr>
                                      <p:to>
                                        <p:strVal val="visible"/>
                                      </p:to>
                                    </p:set>
                                    <p:animEffect transition="in" filter="slide(fromRight)">
                                      <p:cBhvr>
                                        <p:cTn id="41" dur="1000"/>
                                        <p:tgtEl>
                                          <p:spTgt spid="139"/>
                                        </p:tgtEl>
                                      </p:cBhvr>
                                    </p:animEffect>
                                  </p:childTnLst>
                                </p:cTn>
                              </p:par>
                            </p:childTnLst>
                          </p:cTn>
                        </p:par>
                      </p:childTnLst>
                    </p:cTn>
                  </p:par>
                  <p:par>
                    <p:cTn id="42" fill="hold">
                      <p:stCondLst>
                        <p:cond delay="indefinite"/>
                      </p:stCondLst>
                      <p:childTnLst>
                        <p:par>
                          <p:cTn id="43" fill="hold">
                            <p:stCondLst>
                              <p:cond delay="0"/>
                            </p:stCondLst>
                            <p:childTnLst>
                              <p:par>
                                <p:cTn id="44" presetID="12" presetClass="entr" presetSubtype="4" fill="hold" grpId="0" nodeType="clickEffect">
                                  <p:stCondLst>
                                    <p:cond delay="0"/>
                                  </p:stCondLst>
                                  <p:childTnLst>
                                    <p:set>
                                      <p:cBhvr>
                                        <p:cTn id="45" dur="1" fill="hold">
                                          <p:stCondLst>
                                            <p:cond delay="0"/>
                                          </p:stCondLst>
                                        </p:cTn>
                                        <p:tgtEl>
                                          <p:spTgt spid="121"/>
                                        </p:tgtEl>
                                        <p:attrNameLst>
                                          <p:attrName>style.visibility</p:attrName>
                                        </p:attrNameLst>
                                      </p:cBhvr>
                                      <p:to>
                                        <p:strVal val="visible"/>
                                      </p:to>
                                    </p:set>
                                    <p:animEffect transition="in" filter="slide(fromBottom)">
                                      <p:cBhvr>
                                        <p:cTn id="46" dur="1000"/>
                                        <p:tgtEl>
                                          <p:spTgt spid="121"/>
                                        </p:tgtEl>
                                      </p:cBhvr>
                                    </p:animEffect>
                                  </p:childTnLst>
                                </p:cTn>
                              </p:par>
                            </p:childTnLst>
                          </p:cTn>
                        </p:par>
                      </p:childTnLst>
                    </p:cTn>
                  </p:par>
                  <p:par>
                    <p:cTn id="47" fill="hold">
                      <p:stCondLst>
                        <p:cond delay="indefinite"/>
                      </p:stCondLst>
                      <p:childTnLst>
                        <p:par>
                          <p:cTn id="48" fill="hold">
                            <p:stCondLst>
                              <p:cond delay="0"/>
                            </p:stCondLst>
                            <p:childTnLst>
                              <p:par>
                                <p:cTn id="49" presetID="12" presetClass="entr" presetSubtype="4" fill="hold" grpId="0" nodeType="clickEffect">
                                  <p:stCondLst>
                                    <p:cond delay="0"/>
                                  </p:stCondLst>
                                  <p:childTnLst>
                                    <p:set>
                                      <p:cBhvr>
                                        <p:cTn id="50" dur="1" fill="hold">
                                          <p:stCondLst>
                                            <p:cond delay="0"/>
                                          </p:stCondLst>
                                        </p:cTn>
                                        <p:tgtEl>
                                          <p:spTgt spid="122"/>
                                        </p:tgtEl>
                                        <p:attrNameLst>
                                          <p:attrName>style.visibility</p:attrName>
                                        </p:attrNameLst>
                                      </p:cBhvr>
                                      <p:to>
                                        <p:strVal val="visible"/>
                                      </p:to>
                                    </p:set>
                                    <p:animEffect transition="in" filter="slide(fromBottom)">
                                      <p:cBhvr>
                                        <p:cTn id="51" dur="1000"/>
                                        <p:tgtEl>
                                          <p:spTgt spid="122"/>
                                        </p:tgtEl>
                                      </p:cBhvr>
                                    </p:animEffect>
                                  </p:childTnLst>
                                </p:cTn>
                              </p:par>
                            </p:childTnLst>
                          </p:cTn>
                        </p:par>
                      </p:childTnLst>
                    </p:cTn>
                  </p:par>
                  <p:par>
                    <p:cTn id="52" fill="hold">
                      <p:stCondLst>
                        <p:cond delay="indefinite"/>
                      </p:stCondLst>
                      <p:childTnLst>
                        <p:par>
                          <p:cTn id="53" fill="hold">
                            <p:stCondLst>
                              <p:cond delay="0"/>
                            </p:stCondLst>
                            <p:childTnLst>
                              <p:par>
                                <p:cTn id="54" presetID="12" presetClass="entr" presetSubtype="8" fill="hold" grpId="0" nodeType="clickEffect">
                                  <p:stCondLst>
                                    <p:cond delay="0"/>
                                  </p:stCondLst>
                                  <p:childTnLst>
                                    <p:set>
                                      <p:cBhvr>
                                        <p:cTn id="55" dur="1" fill="hold">
                                          <p:stCondLst>
                                            <p:cond delay="0"/>
                                          </p:stCondLst>
                                        </p:cTn>
                                        <p:tgtEl>
                                          <p:spTgt spid="120"/>
                                        </p:tgtEl>
                                        <p:attrNameLst>
                                          <p:attrName>style.visibility</p:attrName>
                                        </p:attrNameLst>
                                      </p:cBhvr>
                                      <p:to>
                                        <p:strVal val="visible"/>
                                      </p:to>
                                    </p:set>
                                    <p:anim calcmode="lin" valueType="num">
                                      <p:cBhvr additive="base">
                                        <p:cTn id="56" dur="1000"/>
                                        <p:tgtEl>
                                          <p:spTgt spid="120"/>
                                        </p:tgtEl>
                                        <p:attrNameLst>
                                          <p:attrName>ppt_x</p:attrName>
                                        </p:attrNameLst>
                                      </p:cBhvr>
                                      <p:tavLst>
                                        <p:tav tm="0">
                                          <p:val>
                                            <p:strVal val="#ppt_x-#ppt_w*1.125000"/>
                                          </p:val>
                                        </p:tav>
                                        <p:tav tm="100000">
                                          <p:val>
                                            <p:strVal val="#ppt_x"/>
                                          </p:val>
                                        </p:tav>
                                      </p:tavLst>
                                    </p:anim>
                                    <p:animEffect transition="in" filter="wipe(right)">
                                      <p:cBhvr>
                                        <p:cTn id="57" dur="1000"/>
                                        <p:tgtEl>
                                          <p:spTgt spid="120"/>
                                        </p:tgtEl>
                                      </p:cBhvr>
                                    </p:animEffect>
                                  </p:childTnLst>
                                </p:cTn>
                              </p:par>
                            </p:childTnLst>
                          </p:cTn>
                        </p:par>
                        <p:par>
                          <p:cTn id="58" fill="hold">
                            <p:stCondLst>
                              <p:cond delay="1000"/>
                            </p:stCondLst>
                            <p:childTnLst>
                              <p:par>
                                <p:cTn id="59" presetID="22" presetClass="entr" presetSubtype="8" fill="hold" grpId="0" nodeType="afterEffect">
                                  <p:stCondLst>
                                    <p:cond delay="0"/>
                                  </p:stCondLst>
                                  <p:childTnLst>
                                    <p:set>
                                      <p:cBhvr>
                                        <p:cTn id="60" dur="1" fill="hold">
                                          <p:stCondLst>
                                            <p:cond delay="0"/>
                                          </p:stCondLst>
                                        </p:cTn>
                                        <p:tgtEl>
                                          <p:spTgt spid="94"/>
                                        </p:tgtEl>
                                        <p:attrNameLst>
                                          <p:attrName>style.visibility</p:attrName>
                                        </p:attrNameLst>
                                      </p:cBhvr>
                                      <p:to>
                                        <p:strVal val="visible"/>
                                      </p:to>
                                    </p:set>
                                    <p:animEffect transition="in" filter="wipe(left)">
                                      <p:cBhvr>
                                        <p:cTn id="61" dur="1000"/>
                                        <p:tgtEl>
                                          <p:spTgt spid="94"/>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grpId="0" nodeType="clickEffect">
                                  <p:stCondLst>
                                    <p:cond delay="0"/>
                                  </p:stCondLst>
                                  <p:childTnLst>
                                    <p:set>
                                      <p:cBhvr>
                                        <p:cTn id="65" dur="1" fill="hold">
                                          <p:stCondLst>
                                            <p:cond delay="0"/>
                                          </p:stCondLst>
                                        </p:cTn>
                                        <p:tgtEl>
                                          <p:spTgt spid="131"/>
                                        </p:tgtEl>
                                        <p:attrNameLst>
                                          <p:attrName>style.visibility</p:attrName>
                                        </p:attrNameLst>
                                      </p:cBhvr>
                                      <p:to>
                                        <p:strVal val="visible"/>
                                      </p:to>
                                    </p:set>
                                    <p:animEffect transition="in" filter="wipe(up)">
                                      <p:cBhvr>
                                        <p:cTn id="66" dur="1000"/>
                                        <p:tgtEl>
                                          <p:spTgt spid="131"/>
                                        </p:tgtEl>
                                      </p:cBhvr>
                                    </p:animEffect>
                                  </p:childTnLst>
                                </p:cTn>
                              </p:par>
                            </p:childTnLst>
                          </p:cTn>
                        </p:par>
                        <p:par>
                          <p:cTn id="67" fill="hold">
                            <p:stCondLst>
                              <p:cond delay="1000"/>
                            </p:stCondLst>
                            <p:childTnLst>
                              <p:par>
                                <p:cTn id="68" presetID="12" presetClass="entr" presetSubtype="8" fill="hold" nodeType="afterEffect">
                                  <p:stCondLst>
                                    <p:cond delay="0"/>
                                  </p:stCondLst>
                                  <p:childTnLst>
                                    <p:set>
                                      <p:cBhvr>
                                        <p:cTn id="69" dur="1" fill="hold">
                                          <p:stCondLst>
                                            <p:cond delay="0"/>
                                          </p:stCondLst>
                                        </p:cTn>
                                        <p:tgtEl>
                                          <p:spTgt spid="141"/>
                                        </p:tgtEl>
                                        <p:attrNameLst>
                                          <p:attrName>style.visibility</p:attrName>
                                        </p:attrNameLst>
                                      </p:cBhvr>
                                      <p:to>
                                        <p:strVal val="visible"/>
                                      </p:to>
                                    </p:set>
                                    <p:animEffect transition="in" filter="slide(fromLeft)">
                                      <p:cBhvr>
                                        <p:cTn id="70" dur="1000"/>
                                        <p:tgtEl>
                                          <p:spTgt spid="141"/>
                                        </p:tgtEl>
                                      </p:cBhvr>
                                    </p:animEffect>
                                  </p:childTnLst>
                                </p:cTn>
                              </p:par>
                            </p:childTnLst>
                          </p:cTn>
                        </p:par>
                        <p:par>
                          <p:cTn id="71" fill="hold">
                            <p:stCondLst>
                              <p:cond delay="2000"/>
                            </p:stCondLst>
                            <p:childTnLst>
                              <p:par>
                                <p:cTn id="72" presetID="22" presetClass="entr" presetSubtype="8" fill="hold" grpId="0" nodeType="afterEffect">
                                  <p:stCondLst>
                                    <p:cond delay="0"/>
                                  </p:stCondLst>
                                  <p:childTnLst>
                                    <p:set>
                                      <p:cBhvr>
                                        <p:cTn id="73" dur="1" fill="hold">
                                          <p:stCondLst>
                                            <p:cond delay="0"/>
                                          </p:stCondLst>
                                        </p:cTn>
                                        <p:tgtEl>
                                          <p:spTgt spid="98"/>
                                        </p:tgtEl>
                                        <p:attrNameLst>
                                          <p:attrName>style.visibility</p:attrName>
                                        </p:attrNameLst>
                                      </p:cBhvr>
                                      <p:to>
                                        <p:strVal val="visible"/>
                                      </p:to>
                                    </p:set>
                                    <p:animEffect transition="in" filter="wipe(left)">
                                      <p:cBhvr>
                                        <p:cTn id="74" dur="1000"/>
                                        <p:tgtEl>
                                          <p:spTgt spid="98"/>
                                        </p:tgtEl>
                                      </p:cBhvr>
                                    </p:animEffect>
                                  </p:childTnLst>
                                </p:cTn>
                              </p:par>
                            </p:childTnLst>
                          </p:cTn>
                        </p:par>
                      </p:childTnLst>
                    </p:cTn>
                  </p:par>
                  <p:par>
                    <p:cTn id="75" fill="hold">
                      <p:stCondLst>
                        <p:cond delay="indefinite"/>
                      </p:stCondLst>
                      <p:childTnLst>
                        <p:par>
                          <p:cTn id="76" fill="hold">
                            <p:stCondLst>
                              <p:cond delay="0"/>
                            </p:stCondLst>
                            <p:childTnLst>
                              <p:par>
                                <p:cTn id="77" presetID="12" presetClass="entr" presetSubtype="2" fill="hold" grpId="0" nodeType="clickEffect">
                                  <p:stCondLst>
                                    <p:cond delay="0"/>
                                  </p:stCondLst>
                                  <p:childTnLst>
                                    <p:set>
                                      <p:cBhvr>
                                        <p:cTn id="78" dur="1" fill="hold">
                                          <p:stCondLst>
                                            <p:cond delay="0"/>
                                          </p:stCondLst>
                                        </p:cTn>
                                        <p:tgtEl>
                                          <p:spTgt spid="137"/>
                                        </p:tgtEl>
                                        <p:attrNameLst>
                                          <p:attrName>style.visibility</p:attrName>
                                        </p:attrNameLst>
                                      </p:cBhvr>
                                      <p:to>
                                        <p:strVal val="visible"/>
                                      </p:to>
                                    </p:set>
                                    <p:animEffect transition="in" filter="slide(fromRight)">
                                      <p:cBhvr>
                                        <p:cTn id="79" dur="1000"/>
                                        <p:tgtEl>
                                          <p:spTgt spid="137"/>
                                        </p:tgtEl>
                                      </p:cBhvr>
                                    </p:animEffect>
                                  </p:childTnLst>
                                </p:cTn>
                              </p:par>
                            </p:childTnLst>
                          </p:cTn>
                        </p:par>
                        <p:par>
                          <p:cTn id="80" fill="hold">
                            <p:stCondLst>
                              <p:cond delay="1000"/>
                            </p:stCondLst>
                            <p:childTnLst>
                              <p:par>
                                <p:cTn id="81" presetID="22" presetClass="entr" presetSubtype="8" fill="hold" grpId="0" nodeType="afterEffect">
                                  <p:stCondLst>
                                    <p:cond delay="0"/>
                                  </p:stCondLst>
                                  <p:childTnLst>
                                    <p:set>
                                      <p:cBhvr>
                                        <p:cTn id="82" dur="1" fill="hold">
                                          <p:stCondLst>
                                            <p:cond delay="0"/>
                                          </p:stCondLst>
                                        </p:cTn>
                                        <p:tgtEl>
                                          <p:spTgt spid="100"/>
                                        </p:tgtEl>
                                        <p:attrNameLst>
                                          <p:attrName>style.visibility</p:attrName>
                                        </p:attrNameLst>
                                      </p:cBhvr>
                                      <p:to>
                                        <p:strVal val="visible"/>
                                      </p:to>
                                    </p:set>
                                    <p:animEffect transition="in" filter="wipe(left)">
                                      <p:cBhvr>
                                        <p:cTn id="83" dur="1000"/>
                                        <p:tgtEl>
                                          <p:spTgt spid="100"/>
                                        </p:tgtEl>
                                      </p:cBhvr>
                                    </p:animEffect>
                                  </p:childTnLst>
                                </p:cTn>
                              </p:par>
                            </p:childTnLst>
                          </p:cTn>
                        </p:par>
                      </p:childTnLst>
                    </p:cTn>
                  </p:par>
                  <p:par>
                    <p:cTn id="84" fill="hold">
                      <p:stCondLst>
                        <p:cond delay="indefinite"/>
                      </p:stCondLst>
                      <p:childTnLst>
                        <p:par>
                          <p:cTn id="85" fill="hold">
                            <p:stCondLst>
                              <p:cond delay="0"/>
                            </p:stCondLst>
                            <p:childTnLst>
                              <p:par>
                                <p:cTn id="86" presetID="12" presetClass="entr" presetSubtype="4" fill="hold" grpId="0" nodeType="clickEffect">
                                  <p:stCondLst>
                                    <p:cond delay="0"/>
                                  </p:stCondLst>
                                  <p:childTnLst>
                                    <p:set>
                                      <p:cBhvr>
                                        <p:cTn id="87" dur="1" fill="hold">
                                          <p:stCondLst>
                                            <p:cond delay="0"/>
                                          </p:stCondLst>
                                        </p:cTn>
                                        <p:tgtEl>
                                          <p:spTgt spid="99"/>
                                        </p:tgtEl>
                                        <p:attrNameLst>
                                          <p:attrName>style.visibility</p:attrName>
                                        </p:attrNameLst>
                                      </p:cBhvr>
                                      <p:to>
                                        <p:strVal val="visible"/>
                                      </p:to>
                                    </p:set>
                                    <p:animEffect transition="in" filter="slide(fromBottom)">
                                      <p:cBhvr>
                                        <p:cTn id="88" dur="10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7" grpId="0"/>
      <p:bldP spid="99" grpId="0"/>
      <p:bldP spid="101" grpId="0" animBg="1"/>
      <p:bldP spid="120" grpId="0" animBg="1"/>
      <p:bldP spid="121" grpId="0" animBg="1"/>
      <p:bldP spid="122" grpId="0" animBg="1"/>
      <p:bldP spid="131" grpId="0" animBg="1"/>
      <p:bldP spid="137" grpId="0" animBg="1"/>
      <p:bldP spid="138" grpId="0" animBg="1"/>
      <p:bldP spid="139" grpId="0" animBg="1"/>
      <p:bldP spid="13" grpId="0" animBg="1"/>
      <p:bldP spid="18" grpId="0" animBg="1"/>
      <p:bldP spid="111" grpId="0"/>
      <p:bldP spid="94" grpId="0"/>
      <p:bldP spid="98" grpId="0"/>
      <p:bldP spid="10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82575" y="734179"/>
            <a:ext cx="2718472" cy="373579"/>
            <a:chOff x="307975" y="1517134"/>
            <a:chExt cx="2718472" cy="373579"/>
          </a:xfrm>
        </p:grpSpPr>
        <p:grpSp>
          <p:nvGrpSpPr>
            <p:cNvPr id="3" name="组合 32"/>
            <p:cNvGrpSpPr/>
            <p:nvPr/>
          </p:nvGrpSpPr>
          <p:grpSpPr>
            <a:xfrm>
              <a:off x="307975" y="1519116"/>
              <a:ext cx="568325" cy="371597"/>
              <a:chOff x="307975" y="1519116"/>
              <a:chExt cx="568325" cy="371597"/>
            </a:xfrm>
          </p:grpSpPr>
          <p:pic>
            <p:nvPicPr>
              <p:cNvPr id="5" name="Picture 4"/>
              <p:cNvPicPr>
                <a:picLocks noChangeAspect="1" noChangeArrowheads="1"/>
              </p:cNvPicPr>
              <p:nvPr/>
            </p:nvPicPr>
            <p:blipFill>
              <a:blip r:embed="rId2" cstate="print"/>
              <a:srcRect/>
              <a:stretch>
                <a:fillRect/>
              </a:stretch>
            </p:blipFill>
            <p:spPr bwMode="auto">
              <a:xfrm flipH="1">
                <a:off x="307975" y="1519116"/>
                <a:ext cx="568325" cy="371597"/>
              </a:xfrm>
              <a:prstGeom prst="rect">
                <a:avLst/>
              </a:prstGeom>
              <a:noFill/>
              <a:ln w="9525">
                <a:noFill/>
                <a:miter lim="800000"/>
                <a:headEnd/>
                <a:tailEnd/>
              </a:ln>
              <a:effectLst/>
            </p:spPr>
          </p:pic>
          <p:sp>
            <p:nvSpPr>
              <p:cNvPr id="6" name="TextBox 5"/>
              <p:cNvSpPr txBox="1"/>
              <p:nvPr/>
            </p:nvSpPr>
            <p:spPr>
              <a:xfrm flipH="1">
                <a:off x="443415" y="1555750"/>
                <a:ext cx="137858" cy="276999"/>
              </a:xfrm>
              <a:prstGeom prst="rect">
                <a:avLst/>
              </a:prstGeom>
              <a:noFill/>
            </p:spPr>
            <p:txBody>
              <a:bodyPr wrap="none" lIns="0" tIns="0" rIns="0" bIns="0" rtlCol="0">
                <a:spAutoFit/>
              </a:bodyPr>
              <a:lstStyle/>
              <a:p>
                <a:r>
                  <a:rPr lang="en-US" altLang="zh-CN" b="1" dirty="0">
                    <a:solidFill>
                      <a:srgbClr val="262626"/>
                    </a:solidFill>
                    <a:latin typeface="Segoe UI Black" pitchFamily="34" charset="0"/>
                    <a:ea typeface="Segoe UI Black" pitchFamily="34" charset="0"/>
                    <a:cs typeface="Times New Roman" pitchFamily="18" charset="0"/>
                  </a:rPr>
                  <a:t>2</a:t>
                </a:r>
                <a:endParaRPr lang="zh-CN" altLang="en-US" b="1" dirty="0">
                  <a:solidFill>
                    <a:srgbClr val="262626"/>
                  </a:solidFill>
                  <a:latin typeface="Segoe UI Black" pitchFamily="34" charset="0"/>
                  <a:cs typeface="Times New Roman" pitchFamily="18" charset="0"/>
                </a:endParaRPr>
              </a:p>
            </p:txBody>
          </p:sp>
        </p:grpSp>
        <p:sp>
          <p:nvSpPr>
            <p:cNvPr id="4" name="矩形 3"/>
            <p:cNvSpPr/>
            <p:nvPr/>
          </p:nvSpPr>
          <p:spPr>
            <a:xfrm>
              <a:off x="863675" y="1517134"/>
              <a:ext cx="2162772" cy="369332"/>
            </a:xfrm>
            <a:prstGeom prst="rect">
              <a:avLst/>
            </a:prstGeom>
          </p:spPr>
          <p:txBody>
            <a:bodyPr wrap="none">
              <a:spAutoFit/>
            </a:bodyPr>
            <a:lstStyle/>
            <a:p>
              <a:r>
                <a:rPr lang="en-US" altLang="zh-CN" b="1" dirty="0">
                  <a:solidFill>
                    <a:schemeClr val="accent1">
                      <a:lumMod val="50000"/>
                    </a:schemeClr>
                  </a:solidFill>
                  <a:latin typeface="黑体" pitchFamily="49" charset="-122"/>
                  <a:ea typeface="黑体" pitchFamily="49" charset="-122"/>
                  <a:cs typeface="Times New Roman" pitchFamily="18" charset="0"/>
                </a:rPr>
                <a:t>TTL</a:t>
              </a:r>
              <a:r>
                <a:rPr lang="zh-CN" altLang="en-US" b="1" dirty="0">
                  <a:solidFill>
                    <a:schemeClr val="accent1">
                      <a:lumMod val="50000"/>
                    </a:schemeClr>
                  </a:solidFill>
                  <a:latin typeface="黑体" pitchFamily="49" charset="-122"/>
                  <a:ea typeface="黑体" pitchFamily="49" charset="-122"/>
                  <a:cs typeface="Times New Roman" pitchFamily="18" charset="0"/>
                </a:rPr>
                <a:t>非门的基本电路</a:t>
              </a:r>
            </a:p>
          </p:txBody>
        </p:sp>
      </p:grpSp>
      <p:sp>
        <p:nvSpPr>
          <p:cNvPr id="7" name="Rectangle 6"/>
          <p:cNvSpPr>
            <a:spLocks noChangeArrowheads="1"/>
          </p:cNvSpPr>
          <p:nvPr/>
        </p:nvSpPr>
        <p:spPr bwMode="auto">
          <a:xfrm>
            <a:off x="171770" y="1258108"/>
            <a:ext cx="1944688" cy="338554"/>
          </a:xfrm>
          <a:prstGeom prst="rect">
            <a:avLst/>
          </a:prstGeom>
          <a:noFill/>
          <a:ln w="9525" algn="ctr">
            <a:noFill/>
            <a:miter lim="800000"/>
            <a:headEnd/>
            <a:tailEnd/>
          </a:ln>
        </p:spPr>
        <p:txBody>
          <a:bodyPr>
            <a:spAutoFit/>
          </a:bodyPr>
          <a:lstStyle/>
          <a:p>
            <a:r>
              <a:rPr lang="zh-CN" altLang="en-US" sz="1600" b="1" dirty="0">
                <a:solidFill>
                  <a:srgbClr val="6600FF"/>
                </a:solidFill>
                <a:latin typeface="方正粗黑宋简体" pitchFamily="2" charset="-122"/>
                <a:ea typeface="方正粗黑宋简体" pitchFamily="2" charset="-122"/>
              </a:rPr>
              <a:t>（</a:t>
            </a:r>
            <a:r>
              <a:rPr lang="en-US" altLang="zh-CN" sz="1600" b="1" dirty="0">
                <a:solidFill>
                  <a:srgbClr val="6600FF"/>
                </a:solidFill>
                <a:latin typeface="方正粗黑宋简体" pitchFamily="2" charset="-122"/>
                <a:ea typeface="方正粗黑宋简体" pitchFamily="2" charset="-122"/>
              </a:rPr>
              <a:t>2</a:t>
            </a:r>
            <a:r>
              <a:rPr lang="zh-CN" altLang="en-US" sz="1600" b="1" dirty="0">
                <a:solidFill>
                  <a:srgbClr val="6600FF"/>
                </a:solidFill>
                <a:latin typeface="方正粗黑宋简体" pitchFamily="2" charset="-122"/>
                <a:ea typeface="方正粗黑宋简体" pitchFamily="2" charset="-122"/>
              </a:rPr>
              <a:t>）工作原理</a:t>
            </a:r>
          </a:p>
        </p:txBody>
      </p:sp>
      <p:grpSp>
        <p:nvGrpSpPr>
          <p:cNvPr id="96" name="组合 95"/>
          <p:cNvGrpSpPr/>
          <p:nvPr/>
        </p:nvGrpSpPr>
        <p:grpSpPr>
          <a:xfrm>
            <a:off x="5365694" y="734179"/>
            <a:ext cx="3536950" cy="3018059"/>
            <a:chOff x="5130801" y="776701"/>
            <a:chExt cx="3536950" cy="3018059"/>
          </a:xfrm>
          <a:solidFill>
            <a:schemeClr val="bg1"/>
          </a:solidFill>
        </p:grpSpPr>
        <p:sp>
          <p:nvSpPr>
            <p:cNvPr id="10" name="AutoShape 9"/>
            <p:cNvSpPr>
              <a:spLocks noChangeArrowheads="1"/>
            </p:cNvSpPr>
            <p:nvPr/>
          </p:nvSpPr>
          <p:spPr bwMode="auto">
            <a:xfrm>
              <a:off x="5130801" y="776701"/>
              <a:ext cx="3536950" cy="3004891"/>
            </a:xfrm>
            <a:prstGeom prst="roundRect">
              <a:avLst>
                <a:gd name="adj" fmla="val 6551"/>
              </a:avLst>
            </a:prstGeom>
            <a:grpFill/>
            <a:ln w="19050">
              <a:solidFill>
                <a:srgbClr val="0070C0"/>
              </a:solidFill>
              <a:miter lim="800000"/>
              <a:headEnd/>
              <a:tailEnd/>
            </a:ln>
          </p:spPr>
          <p:txBody>
            <a:bodyPr wrap="none" anchor="ctr"/>
            <a:lstStyle/>
            <a:p>
              <a:endParaRPr lang="zh-CN" altLang="en-US">
                <a:solidFill>
                  <a:srgbClr val="080808"/>
                </a:solidFill>
                <a:latin typeface="Times New Roman" pitchFamily="18" charset="0"/>
                <a:cs typeface="Times New Roman" pitchFamily="18" charset="0"/>
              </a:endParaRPr>
            </a:p>
          </p:txBody>
        </p:sp>
        <p:sp>
          <p:nvSpPr>
            <p:cNvPr id="14" name="Rectangle 13"/>
            <p:cNvSpPr>
              <a:spLocks noChangeArrowheads="1"/>
            </p:cNvSpPr>
            <p:nvPr/>
          </p:nvSpPr>
          <p:spPr bwMode="auto">
            <a:xfrm>
              <a:off x="8323495" y="2654429"/>
              <a:ext cx="131855" cy="276524"/>
            </a:xfrm>
            <a:prstGeom prst="rect">
              <a:avLst/>
            </a:prstGeom>
            <a:grpFill/>
            <a:ln w="9525">
              <a:noFill/>
              <a:miter lim="800000"/>
              <a:headEnd/>
              <a:tailEnd/>
            </a:ln>
          </p:spPr>
          <p:txBody>
            <a:bodyPr wrap="none" lIns="0" tIns="0" rIns="0" bIns="0">
              <a:spAutoFit/>
            </a:bodyPr>
            <a:lstStyle/>
            <a:p>
              <a:r>
                <a:rPr lang="en-US" altLang="zh-CN" b="1" i="1" dirty="0">
                  <a:solidFill>
                    <a:srgbClr val="080808"/>
                  </a:solidFill>
                  <a:latin typeface="Times New Roman" pitchFamily="18" charset="0"/>
                  <a:cs typeface="Times New Roman" pitchFamily="18" charset="0"/>
                </a:rPr>
                <a:t>+</a:t>
              </a:r>
              <a:endParaRPr lang="en-US" altLang="zh-CN" sz="2000" b="1" dirty="0">
                <a:solidFill>
                  <a:srgbClr val="080808"/>
                </a:solidFill>
                <a:latin typeface="Times New Roman" pitchFamily="18" charset="0"/>
                <a:cs typeface="Times New Roman" pitchFamily="18" charset="0"/>
              </a:endParaRPr>
            </a:p>
          </p:txBody>
        </p:sp>
        <p:sp>
          <p:nvSpPr>
            <p:cNvPr id="15" name="Rectangle 14"/>
            <p:cNvSpPr>
              <a:spLocks noChangeArrowheads="1"/>
            </p:cNvSpPr>
            <p:nvPr/>
          </p:nvSpPr>
          <p:spPr bwMode="auto">
            <a:xfrm>
              <a:off x="8347341" y="3011276"/>
              <a:ext cx="115022" cy="276524"/>
            </a:xfrm>
            <a:prstGeom prst="rect">
              <a:avLst/>
            </a:prstGeom>
            <a:grpFill/>
            <a:ln w="9525">
              <a:noFill/>
              <a:miter lim="800000"/>
              <a:headEnd/>
              <a:tailEnd/>
            </a:ln>
          </p:spPr>
          <p:txBody>
            <a:bodyPr wrap="none" lIns="0" tIns="0" rIns="0" bIns="0">
              <a:spAutoFit/>
            </a:bodyPr>
            <a:lstStyle/>
            <a:p>
              <a:r>
                <a:rPr lang="en-US" altLang="zh-CN" b="1" i="1">
                  <a:solidFill>
                    <a:srgbClr val="080808"/>
                  </a:solidFill>
                  <a:latin typeface="Times New Roman" pitchFamily="18" charset="0"/>
                  <a:cs typeface="Times New Roman" pitchFamily="18" charset="0"/>
                </a:rPr>
                <a:t>_</a:t>
              </a:r>
              <a:endParaRPr lang="en-US" altLang="zh-CN" sz="2000" b="1">
                <a:solidFill>
                  <a:srgbClr val="080808"/>
                </a:solidFill>
                <a:latin typeface="Times New Roman" pitchFamily="18" charset="0"/>
                <a:cs typeface="Times New Roman" pitchFamily="18" charset="0"/>
              </a:endParaRPr>
            </a:p>
          </p:txBody>
        </p:sp>
        <p:sp>
          <p:nvSpPr>
            <p:cNvPr id="16" name="Rectangle 15"/>
            <p:cNvSpPr>
              <a:spLocks noChangeArrowheads="1"/>
            </p:cNvSpPr>
            <p:nvPr/>
          </p:nvSpPr>
          <p:spPr bwMode="auto">
            <a:xfrm>
              <a:off x="8270192" y="2887499"/>
              <a:ext cx="290361" cy="276524"/>
            </a:xfrm>
            <a:prstGeom prst="rect">
              <a:avLst/>
            </a:prstGeom>
            <a:grpFill/>
            <a:ln w="9525">
              <a:noFill/>
              <a:miter lim="800000"/>
              <a:headEnd/>
              <a:tailEnd/>
            </a:ln>
          </p:spPr>
          <p:txBody>
            <a:bodyPr wrap="square" lIns="0" tIns="0" rIns="0" bIns="0">
              <a:spAutoFit/>
            </a:bodyPr>
            <a:lstStyle/>
            <a:p>
              <a:r>
                <a:rPr lang="en-US" altLang="zh-CN" b="1" i="1" dirty="0">
                  <a:solidFill>
                    <a:srgbClr val="6600FF"/>
                  </a:solidFill>
                  <a:latin typeface="Times New Roman" pitchFamily="18" charset="0"/>
                  <a:ea typeface="微软雅黑" pitchFamily="34" charset="-122"/>
                  <a:cs typeface="Times New Roman" pitchFamily="18" charset="0"/>
                  <a:sym typeface="Symbol" pitchFamily="18" charset="2"/>
                </a:rPr>
                <a:t></a:t>
              </a:r>
              <a:r>
                <a:rPr lang="en-US" altLang="zh-CN" b="1" baseline="-25000" dirty="0">
                  <a:solidFill>
                    <a:srgbClr val="6600FF"/>
                  </a:solidFill>
                  <a:latin typeface="Times New Roman" pitchFamily="18" charset="0"/>
                  <a:ea typeface="微软雅黑" pitchFamily="34" charset="-122"/>
                  <a:cs typeface="Times New Roman" pitchFamily="18" charset="0"/>
                </a:rPr>
                <a:t>O</a:t>
              </a:r>
              <a:endParaRPr lang="en-US" altLang="zh-CN" sz="2000" dirty="0">
                <a:solidFill>
                  <a:srgbClr val="080808"/>
                </a:solidFill>
                <a:latin typeface="Times New Roman" pitchFamily="18" charset="0"/>
                <a:cs typeface="Times New Roman" pitchFamily="18" charset="0"/>
              </a:endParaRPr>
            </a:p>
          </p:txBody>
        </p:sp>
        <p:sp>
          <p:nvSpPr>
            <p:cNvPr id="17" name="Freeform 17"/>
            <p:cNvSpPr>
              <a:spLocks noEditPoints="1"/>
            </p:cNvSpPr>
            <p:nvPr/>
          </p:nvSpPr>
          <p:spPr bwMode="auto">
            <a:xfrm>
              <a:off x="5620475" y="2027642"/>
              <a:ext cx="524613" cy="346313"/>
            </a:xfrm>
            <a:custGeom>
              <a:avLst/>
              <a:gdLst>
                <a:gd name="T0" fmla="*/ 188 w 374"/>
                <a:gd name="T1" fmla="*/ 0 h 263"/>
                <a:gd name="T2" fmla="*/ 188 w 374"/>
                <a:gd name="T3" fmla="*/ 132 h 263"/>
                <a:gd name="T4" fmla="*/ 93 w 374"/>
                <a:gd name="T5" fmla="*/ 132 h 263"/>
                <a:gd name="T6" fmla="*/ 281 w 374"/>
                <a:gd name="T7" fmla="*/ 132 h 263"/>
                <a:gd name="T8" fmla="*/ 234 w 374"/>
                <a:gd name="T9" fmla="*/ 132 h 263"/>
                <a:gd name="T10" fmla="*/ 290 w 374"/>
                <a:gd name="T11" fmla="*/ 263 h 263"/>
                <a:gd name="T12" fmla="*/ 374 w 374"/>
                <a:gd name="T13" fmla="*/ 263 h 263"/>
                <a:gd name="T14" fmla="*/ 140 w 374"/>
                <a:gd name="T15" fmla="*/ 132 h 263"/>
                <a:gd name="T16" fmla="*/ 82 w 374"/>
                <a:gd name="T17" fmla="*/ 263 h 263"/>
                <a:gd name="T18" fmla="*/ 0 w 374"/>
                <a:gd name="T19" fmla="*/ 263 h 2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74"/>
                <a:gd name="T31" fmla="*/ 0 h 263"/>
                <a:gd name="T32" fmla="*/ 374 w 374"/>
                <a:gd name="T33" fmla="*/ 263 h 2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74" h="263">
                  <a:moveTo>
                    <a:pt x="188" y="0"/>
                  </a:moveTo>
                  <a:lnTo>
                    <a:pt x="188" y="132"/>
                  </a:lnTo>
                  <a:moveTo>
                    <a:pt x="93" y="132"/>
                  </a:moveTo>
                  <a:lnTo>
                    <a:pt x="281" y="132"/>
                  </a:lnTo>
                  <a:moveTo>
                    <a:pt x="234" y="132"/>
                  </a:moveTo>
                  <a:lnTo>
                    <a:pt x="290" y="263"/>
                  </a:lnTo>
                  <a:lnTo>
                    <a:pt x="374" y="263"/>
                  </a:lnTo>
                  <a:moveTo>
                    <a:pt x="140" y="132"/>
                  </a:moveTo>
                  <a:lnTo>
                    <a:pt x="82" y="263"/>
                  </a:lnTo>
                  <a:lnTo>
                    <a:pt x="0" y="263"/>
                  </a:lnTo>
                </a:path>
              </a:pathLst>
            </a:cu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19" name="Freeform 19"/>
            <p:cNvSpPr>
              <a:spLocks/>
            </p:cNvSpPr>
            <p:nvPr/>
          </p:nvSpPr>
          <p:spPr bwMode="auto">
            <a:xfrm>
              <a:off x="5728483" y="2327868"/>
              <a:ext cx="43484" cy="48721"/>
            </a:xfrm>
            <a:custGeom>
              <a:avLst/>
              <a:gdLst>
                <a:gd name="T0" fmla="*/ 2 w 31"/>
                <a:gd name="T1" fmla="*/ 37 h 37"/>
                <a:gd name="T2" fmla="*/ 0 w 31"/>
                <a:gd name="T3" fmla="*/ 0 h 37"/>
                <a:gd name="T4" fmla="*/ 31 w 31"/>
                <a:gd name="T5" fmla="*/ 13 h 37"/>
                <a:gd name="T6" fmla="*/ 2 w 31"/>
                <a:gd name="T7" fmla="*/ 37 h 37"/>
                <a:gd name="T8" fmla="*/ 0 60000 65536"/>
                <a:gd name="T9" fmla="*/ 0 60000 65536"/>
                <a:gd name="T10" fmla="*/ 0 60000 65536"/>
                <a:gd name="T11" fmla="*/ 0 60000 65536"/>
                <a:gd name="T12" fmla="*/ 0 w 31"/>
                <a:gd name="T13" fmla="*/ 0 h 37"/>
                <a:gd name="T14" fmla="*/ 31 w 31"/>
                <a:gd name="T15" fmla="*/ 37 h 37"/>
              </a:gdLst>
              <a:ahLst/>
              <a:cxnLst>
                <a:cxn ang="T8">
                  <a:pos x="T0" y="T1"/>
                </a:cxn>
                <a:cxn ang="T9">
                  <a:pos x="T2" y="T3"/>
                </a:cxn>
                <a:cxn ang="T10">
                  <a:pos x="T4" y="T5"/>
                </a:cxn>
                <a:cxn ang="T11">
                  <a:pos x="T6" y="T7"/>
                </a:cxn>
              </a:cxnLst>
              <a:rect l="T12" t="T13" r="T14" b="T15"/>
              <a:pathLst>
                <a:path w="31" h="37">
                  <a:moveTo>
                    <a:pt x="2" y="37"/>
                  </a:moveTo>
                  <a:lnTo>
                    <a:pt x="0" y="0"/>
                  </a:lnTo>
                  <a:lnTo>
                    <a:pt x="31" y="13"/>
                  </a:lnTo>
                  <a:lnTo>
                    <a:pt x="2" y="37"/>
                  </a:lnTo>
                  <a:close/>
                </a:path>
              </a:pathLst>
            </a:cu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20" name="Rectangle 20"/>
            <p:cNvSpPr>
              <a:spLocks noChangeArrowheads="1"/>
            </p:cNvSpPr>
            <p:nvPr/>
          </p:nvSpPr>
          <p:spPr bwMode="auto">
            <a:xfrm>
              <a:off x="5781786" y="2384489"/>
              <a:ext cx="200587" cy="252822"/>
            </a:xfrm>
            <a:prstGeom prst="rect">
              <a:avLst/>
            </a:prstGeom>
            <a:grpFill/>
            <a:ln w="9525">
              <a:noFill/>
              <a:miter lim="800000"/>
              <a:headEnd/>
              <a:tailEnd/>
            </a:ln>
          </p:spPr>
          <p:txBody>
            <a:bodyPr wrap="none" lIns="0" tIns="0" rIns="0" bIns="0">
              <a:spAutoFit/>
            </a:bodyPr>
            <a:lstStyle/>
            <a:p>
              <a:r>
                <a:rPr lang="en-US" altLang="zh-CN" sz="1800" b="1" i="1" dirty="0">
                  <a:solidFill>
                    <a:srgbClr val="080808"/>
                  </a:solidFill>
                  <a:latin typeface="Times New Roman" pitchFamily="18" charset="0"/>
                  <a:cs typeface="Times New Roman" pitchFamily="18" charset="0"/>
                </a:rPr>
                <a:t>T</a:t>
              </a:r>
              <a:r>
                <a:rPr lang="en-US" altLang="zh-CN" sz="1800" baseline="-25000" dirty="0">
                  <a:solidFill>
                    <a:srgbClr val="080808"/>
                  </a:solidFill>
                  <a:latin typeface="Times New Roman" pitchFamily="18" charset="0"/>
                  <a:cs typeface="Times New Roman" pitchFamily="18" charset="0"/>
                </a:rPr>
                <a:t>1</a:t>
              </a:r>
              <a:endParaRPr lang="en-US" altLang="zh-CN" sz="2000" baseline="-25000" dirty="0">
                <a:solidFill>
                  <a:srgbClr val="080808"/>
                </a:solidFill>
                <a:latin typeface="Times New Roman" pitchFamily="18" charset="0"/>
                <a:cs typeface="Times New Roman" pitchFamily="18" charset="0"/>
              </a:endParaRPr>
            </a:p>
          </p:txBody>
        </p:sp>
        <p:sp>
          <p:nvSpPr>
            <p:cNvPr id="21" name="Freeform 22"/>
            <p:cNvSpPr>
              <a:spLocks noEditPoints="1"/>
            </p:cNvSpPr>
            <p:nvPr/>
          </p:nvSpPr>
          <p:spPr bwMode="auto">
            <a:xfrm>
              <a:off x="6188572" y="2142202"/>
              <a:ext cx="391356" cy="468774"/>
            </a:xfrm>
            <a:custGeom>
              <a:avLst/>
              <a:gdLst>
                <a:gd name="T0" fmla="*/ 0 w 279"/>
                <a:gd name="T1" fmla="*/ 177 h 356"/>
                <a:gd name="T2" fmla="*/ 139 w 279"/>
                <a:gd name="T3" fmla="*/ 177 h 356"/>
                <a:gd name="T4" fmla="*/ 139 w 279"/>
                <a:gd name="T5" fmla="*/ 266 h 356"/>
                <a:gd name="T6" fmla="*/ 139 w 279"/>
                <a:gd name="T7" fmla="*/ 89 h 356"/>
                <a:gd name="T8" fmla="*/ 139 w 279"/>
                <a:gd name="T9" fmla="*/ 134 h 356"/>
                <a:gd name="T10" fmla="*/ 279 w 279"/>
                <a:gd name="T11" fmla="*/ 79 h 356"/>
                <a:gd name="T12" fmla="*/ 279 w 279"/>
                <a:gd name="T13" fmla="*/ 0 h 356"/>
                <a:gd name="T14" fmla="*/ 139 w 279"/>
                <a:gd name="T15" fmla="*/ 222 h 356"/>
                <a:gd name="T16" fmla="*/ 279 w 279"/>
                <a:gd name="T17" fmla="*/ 277 h 356"/>
                <a:gd name="T18" fmla="*/ 279 w 279"/>
                <a:gd name="T19" fmla="*/ 356 h 3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79"/>
                <a:gd name="T31" fmla="*/ 0 h 356"/>
                <a:gd name="T32" fmla="*/ 279 w 279"/>
                <a:gd name="T33" fmla="*/ 356 h 35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79" h="356">
                  <a:moveTo>
                    <a:pt x="0" y="177"/>
                  </a:moveTo>
                  <a:lnTo>
                    <a:pt x="139" y="177"/>
                  </a:lnTo>
                  <a:moveTo>
                    <a:pt x="139" y="266"/>
                  </a:moveTo>
                  <a:lnTo>
                    <a:pt x="139" y="89"/>
                  </a:lnTo>
                  <a:moveTo>
                    <a:pt x="139" y="134"/>
                  </a:moveTo>
                  <a:lnTo>
                    <a:pt x="279" y="79"/>
                  </a:lnTo>
                  <a:lnTo>
                    <a:pt x="279" y="0"/>
                  </a:lnTo>
                  <a:moveTo>
                    <a:pt x="139" y="222"/>
                  </a:moveTo>
                  <a:lnTo>
                    <a:pt x="279" y="277"/>
                  </a:lnTo>
                  <a:lnTo>
                    <a:pt x="279" y="356"/>
                  </a:lnTo>
                </a:path>
              </a:pathLst>
            </a:cu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22" name="Freeform 23"/>
            <p:cNvSpPr>
              <a:spLocks/>
            </p:cNvSpPr>
            <p:nvPr/>
          </p:nvSpPr>
          <p:spPr bwMode="auto">
            <a:xfrm>
              <a:off x="6523819" y="2472713"/>
              <a:ext cx="54706" cy="38187"/>
            </a:xfrm>
            <a:custGeom>
              <a:avLst/>
              <a:gdLst>
                <a:gd name="T0" fmla="*/ 39 w 39"/>
                <a:gd name="T1" fmla="*/ 27 h 29"/>
                <a:gd name="T2" fmla="*/ 0 w 39"/>
                <a:gd name="T3" fmla="*/ 29 h 29"/>
                <a:gd name="T4" fmla="*/ 13 w 39"/>
                <a:gd name="T5" fmla="*/ 0 h 29"/>
                <a:gd name="T6" fmla="*/ 39 w 39"/>
                <a:gd name="T7" fmla="*/ 27 h 29"/>
                <a:gd name="T8" fmla="*/ 0 60000 65536"/>
                <a:gd name="T9" fmla="*/ 0 60000 65536"/>
                <a:gd name="T10" fmla="*/ 0 60000 65536"/>
                <a:gd name="T11" fmla="*/ 0 60000 65536"/>
                <a:gd name="T12" fmla="*/ 0 w 39"/>
                <a:gd name="T13" fmla="*/ 0 h 29"/>
                <a:gd name="T14" fmla="*/ 39 w 39"/>
                <a:gd name="T15" fmla="*/ 29 h 29"/>
              </a:gdLst>
              <a:ahLst/>
              <a:cxnLst>
                <a:cxn ang="T8">
                  <a:pos x="T0" y="T1"/>
                </a:cxn>
                <a:cxn ang="T9">
                  <a:pos x="T2" y="T3"/>
                </a:cxn>
                <a:cxn ang="T10">
                  <a:pos x="T4" y="T5"/>
                </a:cxn>
                <a:cxn ang="T11">
                  <a:pos x="T6" y="T7"/>
                </a:cxn>
              </a:cxnLst>
              <a:rect l="T12" t="T13" r="T14" b="T15"/>
              <a:pathLst>
                <a:path w="39" h="29">
                  <a:moveTo>
                    <a:pt x="39" y="27"/>
                  </a:moveTo>
                  <a:lnTo>
                    <a:pt x="0" y="29"/>
                  </a:lnTo>
                  <a:lnTo>
                    <a:pt x="13" y="0"/>
                  </a:lnTo>
                  <a:lnTo>
                    <a:pt x="39" y="27"/>
                  </a:lnTo>
                  <a:close/>
                </a:path>
              </a:pathLst>
            </a:custGeom>
            <a:grpFill/>
            <a:ln w="9525">
              <a:noFill/>
              <a:round/>
              <a:headEnd/>
              <a:tailEnd/>
            </a:ln>
          </p:spPr>
          <p:txBody>
            <a:bodyPr/>
            <a:lstStyle/>
            <a:p>
              <a:endParaRPr lang="zh-CN" altLang="en-US">
                <a:latin typeface="Times New Roman" pitchFamily="18" charset="0"/>
                <a:cs typeface="Times New Roman" pitchFamily="18" charset="0"/>
              </a:endParaRPr>
            </a:p>
          </p:txBody>
        </p:sp>
        <p:sp>
          <p:nvSpPr>
            <p:cNvPr id="23" name="Freeform 24"/>
            <p:cNvSpPr>
              <a:spLocks/>
            </p:cNvSpPr>
            <p:nvPr/>
          </p:nvSpPr>
          <p:spPr bwMode="auto">
            <a:xfrm>
              <a:off x="6523819" y="2472713"/>
              <a:ext cx="54706" cy="38187"/>
            </a:xfrm>
            <a:custGeom>
              <a:avLst/>
              <a:gdLst>
                <a:gd name="T0" fmla="*/ 39 w 39"/>
                <a:gd name="T1" fmla="*/ 27 h 29"/>
                <a:gd name="T2" fmla="*/ 0 w 39"/>
                <a:gd name="T3" fmla="*/ 29 h 29"/>
                <a:gd name="T4" fmla="*/ 13 w 39"/>
                <a:gd name="T5" fmla="*/ 0 h 29"/>
                <a:gd name="T6" fmla="*/ 39 w 39"/>
                <a:gd name="T7" fmla="*/ 27 h 29"/>
                <a:gd name="T8" fmla="*/ 0 60000 65536"/>
                <a:gd name="T9" fmla="*/ 0 60000 65536"/>
                <a:gd name="T10" fmla="*/ 0 60000 65536"/>
                <a:gd name="T11" fmla="*/ 0 60000 65536"/>
                <a:gd name="T12" fmla="*/ 0 w 39"/>
                <a:gd name="T13" fmla="*/ 0 h 29"/>
                <a:gd name="T14" fmla="*/ 39 w 39"/>
                <a:gd name="T15" fmla="*/ 29 h 29"/>
              </a:gdLst>
              <a:ahLst/>
              <a:cxnLst>
                <a:cxn ang="T8">
                  <a:pos x="T0" y="T1"/>
                </a:cxn>
                <a:cxn ang="T9">
                  <a:pos x="T2" y="T3"/>
                </a:cxn>
                <a:cxn ang="T10">
                  <a:pos x="T4" y="T5"/>
                </a:cxn>
                <a:cxn ang="T11">
                  <a:pos x="T6" y="T7"/>
                </a:cxn>
              </a:cxnLst>
              <a:rect l="T12" t="T13" r="T14" b="T15"/>
              <a:pathLst>
                <a:path w="39" h="29">
                  <a:moveTo>
                    <a:pt x="39" y="27"/>
                  </a:moveTo>
                  <a:lnTo>
                    <a:pt x="0" y="29"/>
                  </a:lnTo>
                  <a:lnTo>
                    <a:pt x="13" y="0"/>
                  </a:lnTo>
                  <a:lnTo>
                    <a:pt x="39" y="27"/>
                  </a:lnTo>
                  <a:close/>
                </a:path>
              </a:pathLst>
            </a:cu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24" name="Rectangle 25"/>
            <p:cNvSpPr>
              <a:spLocks noChangeArrowheads="1"/>
            </p:cNvSpPr>
            <p:nvPr/>
          </p:nvSpPr>
          <p:spPr bwMode="auto">
            <a:xfrm>
              <a:off x="6600968" y="2259395"/>
              <a:ext cx="200587" cy="252822"/>
            </a:xfrm>
            <a:prstGeom prst="rect">
              <a:avLst/>
            </a:prstGeom>
            <a:grpFill/>
            <a:ln w="9525">
              <a:noFill/>
              <a:miter lim="800000"/>
              <a:headEnd/>
              <a:tailEnd/>
            </a:ln>
          </p:spPr>
          <p:txBody>
            <a:bodyPr wrap="none" lIns="0" tIns="0" rIns="0" bIns="0">
              <a:spAutoFit/>
            </a:bodyPr>
            <a:lstStyle/>
            <a:p>
              <a:r>
                <a:rPr lang="en-US" altLang="zh-CN" b="1" i="1" dirty="0">
                  <a:solidFill>
                    <a:srgbClr val="080808"/>
                  </a:solidFill>
                  <a:latin typeface="Times New Roman" pitchFamily="18" charset="0"/>
                  <a:cs typeface="Times New Roman" pitchFamily="18" charset="0"/>
                </a:rPr>
                <a:t>T</a:t>
              </a:r>
              <a:r>
                <a:rPr lang="en-US" altLang="zh-CN" baseline="-25000" dirty="0">
                  <a:solidFill>
                    <a:srgbClr val="080808"/>
                  </a:solidFill>
                  <a:latin typeface="Times New Roman" pitchFamily="18" charset="0"/>
                  <a:cs typeface="Times New Roman" pitchFamily="18" charset="0"/>
                </a:rPr>
                <a:t>2</a:t>
              </a:r>
              <a:endParaRPr lang="en-US" altLang="zh-CN" sz="2000" baseline="-25000" dirty="0">
                <a:solidFill>
                  <a:srgbClr val="080808"/>
                </a:solidFill>
                <a:latin typeface="Times New Roman" pitchFamily="18" charset="0"/>
                <a:cs typeface="Times New Roman" pitchFamily="18" charset="0"/>
              </a:endParaRPr>
            </a:p>
          </p:txBody>
        </p:sp>
        <p:sp>
          <p:nvSpPr>
            <p:cNvPr id="25" name="Freeform 27"/>
            <p:cNvSpPr>
              <a:spLocks noEditPoints="1"/>
            </p:cNvSpPr>
            <p:nvPr/>
          </p:nvSpPr>
          <p:spPr bwMode="auto">
            <a:xfrm>
              <a:off x="7153636" y="1699764"/>
              <a:ext cx="392759" cy="460873"/>
            </a:xfrm>
            <a:custGeom>
              <a:avLst/>
              <a:gdLst>
                <a:gd name="T0" fmla="*/ 0 w 280"/>
                <a:gd name="T1" fmla="*/ 175 h 350"/>
                <a:gd name="T2" fmla="*/ 140 w 280"/>
                <a:gd name="T3" fmla="*/ 175 h 350"/>
                <a:gd name="T4" fmla="*/ 140 w 280"/>
                <a:gd name="T5" fmla="*/ 263 h 350"/>
                <a:gd name="T6" fmla="*/ 140 w 280"/>
                <a:gd name="T7" fmla="*/ 88 h 350"/>
                <a:gd name="T8" fmla="*/ 140 w 280"/>
                <a:gd name="T9" fmla="*/ 131 h 350"/>
                <a:gd name="T10" fmla="*/ 280 w 280"/>
                <a:gd name="T11" fmla="*/ 78 h 350"/>
                <a:gd name="T12" fmla="*/ 280 w 280"/>
                <a:gd name="T13" fmla="*/ 0 h 350"/>
                <a:gd name="T14" fmla="*/ 140 w 280"/>
                <a:gd name="T15" fmla="*/ 220 h 350"/>
                <a:gd name="T16" fmla="*/ 280 w 280"/>
                <a:gd name="T17" fmla="*/ 274 h 350"/>
                <a:gd name="T18" fmla="*/ 280 w 280"/>
                <a:gd name="T19" fmla="*/ 350 h 3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0"/>
                <a:gd name="T31" fmla="*/ 0 h 350"/>
                <a:gd name="T32" fmla="*/ 280 w 280"/>
                <a:gd name="T33" fmla="*/ 350 h 35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0" h="350">
                  <a:moveTo>
                    <a:pt x="0" y="175"/>
                  </a:moveTo>
                  <a:lnTo>
                    <a:pt x="140" y="175"/>
                  </a:lnTo>
                  <a:moveTo>
                    <a:pt x="140" y="263"/>
                  </a:moveTo>
                  <a:lnTo>
                    <a:pt x="140" y="88"/>
                  </a:lnTo>
                  <a:moveTo>
                    <a:pt x="140" y="131"/>
                  </a:moveTo>
                  <a:lnTo>
                    <a:pt x="280" y="78"/>
                  </a:lnTo>
                  <a:lnTo>
                    <a:pt x="280" y="0"/>
                  </a:lnTo>
                  <a:moveTo>
                    <a:pt x="140" y="220"/>
                  </a:moveTo>
                  <a:lnTo>
                    <a:pt x="280" y="274"/>
                  </a:lnTo>
                  <a:lnTo>
                    <a:pt x="280" y="350"/>
                  </a:lnTo>
                </a:path>
              </a:pathLst>
            </a:cu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26" name="Freeform 28"/>
            <p:cNvSpPr>
              <a:spLocks/>
            </p:cNvSpPr>
            <p:nvPr/>
          </p:nvSpPr>
          <p:spPr bwMode="auto">
            <a:xfrm>
              <a:off x="7494494" y="2023691"/>
              <a:ext cx="53303" cy="39503"/>
            </a:xfrm>
            <a:custGeom>
              <a:avLst/>
              <a:gdLst>
                <a:gd name="T0" fmla="*/ 38 w 38"/>
                <a:gd name="T1" fmla="*/ 28 h 30"/>
                <a:gd name="T2" fmla="*/ 0 w 38"/>
                <a:gd name="T3" fmla="*/ 30 h 30"/>
                <a:gd name="T4" fmla="*/ 13 w 38"/>
                <a:gd name="T5" fmla="*/ 0 h 30"/>
                <a:gd name="T6" fmla="*/ 38 w 38"/>
                <a:gd name="T7" fmla="*/ 28 h 30"/>
                <a:gd name="T8" fmla="*/ 0 60000 65536"/>
                <a:gd name="T9" fmla="*/ 0 60000 65536"/>
                <a:gd name="T10" fmla="*/ 0 60000 65536"/>
                <a:gd name="T11" fmla="*/ 0 60000 65536"/>
                <a:gd name="T12" fmla="*/ 0 w 38"/>
                <a:gd name="T13" fmla="*/ 0 h 30"/>
                <a:gd name="T14" fmla="*/ 38 w 38"/>
                <a:gd name="T15" fmla="*/ 30 h 30"/>
              </a:gdLst>
              <a:ahLst/>
              <a:cxnLst>
                <a:cxn ang="T8">
                  <a:pos x="T0" y="T1"/>
                </a:cxn>
                <a:cxn ang="T9">
                  <a:pos x="T2" y="T3"/>
                </a:cxn>
                <a:cxn ang="T10">
                  <a:pos x="T4" y="T5"/>
                </a:cxn>
                <a:cxn ang="T11">
                  <a:pos x="T6" y="T7"/>
                </a:cxn>
              </a:cxnLst>
              <a:rect l="T12" t="T13" r="T14" b="T15"/>
              <a:pathLst>
                <a:path w="38" h="30">
                  <a:moveTo>
                    <a:pt x="38" y="28"/>
                  </a:moveTo>
                  <a:lnTo>
                    <a:pt x="0" y="30"/>
                  </a:lnTo>
                  <a:lnTo>
                    <a:pt x="13" y="0"/>
                  </a:lnTo>
                  <a:lnTo>
                    <a:pt x="38" y="28"/>
                  </a:lnTo>
                  <a:close/>
                </a:path>
              </a:pathLst>
            </a:custGeom>
            <a:grpFill/>
            <a:ln w="9525">
              <a:noFill/>
              <a:round/>
              <a:headEnd/>
              <a:tailEnd/>
            </a:ln>
          </p:spPr>
          <p:txBody>
            <a:bodyPr/>
            <a:lstStyle/>
            <a:p>
              <a:endParaRPr lang="zh-CN" altLang="en-US">
                <a:latin typeface="Times New Roman" pitchFamily="18" charset="0"/>
                <a:cs typeface="Times New Roman" pitchFamily="18" charset="0"/>
              </a:endParaRPr>
            </a:p>
          </p:txBody>
        </p:sp>
        <p:sp>
          <p:nvSpPr>
            <p:cNvPr id="27" name="Freeform 29"/>
            <p:cNvSpPr>
              <a:spLocks/>
            </p:cNvSpPr>
            <p:nvPr/>
          </p:nvSpPr>
          <p:spPr bwMode="auto">
            <a:xfrm>
              <a:off x="7494494" y="2023691"/>
              <a:ext cx="53303" cy="39503"/>
            </a:xfrm>
            <a:custGeom>
              <a:avLst/>
              <a:gdLst>
                <a:gd name="T0" fmla="*/ 38 w 38"/>
                <a:gd name="T1" fmla="*/ 28 h 30"/>
                <a:gd name="T2" fmla="*/ 0 w 38"/>
                <a:gd name="T3" fmla="*/ 30 h 30"/>
                <a:gd name="T4" fmla="*/ 13 w 38"/>
                <a:gd name="T5" fmla="*/ 0 h 30"/>
                <a:gd name="T6" fmla="*/ 38 w 38"/>
                <a:gd name="T7" fmla="*/ 28 h 30"/>
                <a:gd name="T8" fmla="*/ 0 60000 65536"/>
                <a:gd name="T9" fmla="*/ 0 60000 65536"/>
                <a:gd name="T10" fmla="*/ 0 60000 65536"/>
                <a:gd name="T11" fmla="*/ 0 60000 65536"/>
                <a:gd name="T12" fmla="*/ 0 w 38"/>
                <a:gd name="T13" fmla="*/ 0 h 30"/>
                <a:gd name="T14" fmla="*/ 38 w 38"/>
                <a:gd name="T15" fmla="*/ 30 h 30"/>
              </a:gdLst>
              <a:ahLst/>
              <a:cxnLst>
                <a:cxn ang="T8">
                  <a:pos x="T0" y="T1"/>
                </a:cxn>
                <a:cxn ang="T9">
                  <a:pos x="T2" y="T3"/>
                </a:cxn>
                <a:cxn ang="T10">
                  <a:pos x="T4" y="T5"/>
                </a:cxn>
                <a:cxn ang="T11">
                  <a:pos x="T6" y="T7"/>
                </a:cxn>
              </a:cxnLst>
              <a:rect l="T12" t="T13" r="T14" b="T15"/>
              <a:pathLst>
                <a:path w="38" h="30">
                  <a:moveTo>
                    <a:pt x="38" y="28"/>
                  </a:moveTo>
                  <a:lnTo>
                    <a:pt x="0" y="30"/>
                  </a:lnTo>
                  <a:lnTo>
                    <a:pt x="13" y="0"/>
                  </a:lnTo>
                  <a:lnTo>
                    <a:pt x="38" y="28"/>
                  </a:lnTo>
                  <a:close/>
                </a:path>
              </a:pathLst>
            </a:cu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28" name="Rectangle 30"/>
            <p:cNvSpPr>
              <a:spLocks noChangeArrowheads="1"/>
            </p:cNvSpPr>
            <p:nvPr/>
          </p:nvSpPr>
          <p:spPr bwMode="auto">
            <a:xfrm>
              <a:off x="7580059" y="1794572"/>
              <a:ext cx="200587" cy="252822"/>
            </a:xfrm>
            <a:prstGeom prst="rect">
              <a:avLst/>
            </a:prstGeom>
            <a:grpFill/>
            <a:ln w="9525">
              <a:noFill/>
              <a:miter lim="800000"/>
              <a:headEnd/>
              <a:tailEnd/>
            </a:ln>
          </p:spPr>
          <p:txBody>
            <a:bodyPr wrap="none" lIns="0" tIns="0" rIns="0" bIns="0">
              <a:spAutoFit/>
            </a:bodyPr>
            <a:lstStyle/>
            <a:p>
              <a:r>
                <a:rPr lang="en-US" altLang="zh-CN" b="1" i="1" dirty="0">
                  <a:solidFill>
                    <a:srgbClr val="080808"/>
                  </a:solidFill>
                  <a:latin typeface="Times New Roman" pitchFamily="18" charset="0"/>
                  <a:cs typeface="Times New Roman" pitchFamily="18" charset="0"/>
                </a:rPr>
                <a:t>T</a:t>
              </a:r>
              <a:r>
                <a:rPr lang="en-US" altLang="zh-CN" baseline="-25000" dirty="0">
                  <a:solidFill>
                    <a:srgbClr val="080808"/>
                  </a:solidFill>
                  <a:latin typeface="Times New Roman" pitchFamily="18" charset="0"/>
                  <a:cs typeface="Times New Roman" pitchFamily="18" charset="0"/>
                </a:rPr>
                <a:t>4</a:t>
              </a:r>
              <a:endParaRPr lang="en-US" altLang="zh-CN" sz="2000" i="1" dirty="0">
                <a:solidFill>
                  <a:srgbClr val="080808"/>
                </a:solidFill>
                <a:latin typeface="Times New Roman" pitchFamily="18" charset="0"/>
                <a:cs typeface="Times New Roman" pitchFamily="18" charset="0"/>
              </a:endParaRPr>
            </a:p>
          </p:txBody>
        </p:sp>
        <p:sp>
          <p:nvSpPr>
            <p:cNvPr id="29" name="Freeform 32"/>
            <p:cNvSpPr>
              <a:spLocks noEditPoints="1"/>
            </p:cNvSpPr>
            <p:nvPr/>
          </p:nvSpPr>
          <p:spPr bwMode="auto">
            <a:xfrm>
              <a:off x="7157844" y="2779523"/>
              <a:ext cx="392759" cy="460873"/>
            </a:xfrm>
            <a:custGeom>
              <a:avLst/>
              <a:gdLst>
                <a:gd name="T0" fmla="*/ 0 w 280"/>
                <a:gd name="T1" fmla="*/ 175 h 350"/>
                <a:gd name="T2" fmla="*/ 140 w 280"/>
                <a:gd name="T3" fmla="*/ 175 h 350"/>
                <a:gd name="T4" fmla="*/ 140 w 280"/>
                <a:gd name="T5" fmla="*/ 262 h 350"/>
                <a:gd name="T6" fmla="*/ 140 w 280"/>
                <a:gd name="T7" fmla="*/ 87 h 350"/>
                <a:gd name="T8" fmla="*/ 140 w 280"/>
                <a:gd name="T9" fmla="*/ 132 h 350"/>
                <a:gd name="T10" fmla="*/ 280 w 280"/>
                <a:gd name="T11" fmla="*/ 78 h 350"/>
                <a:gd name="T12" fmla="*/ 280 w 280"/>
                <a:gd name="T13" fmla="*/ 0 h 350"/>
                <a:gd name="T14" fmla="*/ 140 w 280"/>
                <a:gd name="T15" fmla="*/ 219 h 350"/>
                <a:gd name="T16" fmla="*/ 280 w 280"/>
                <a:gd name="T17" fmla="*/ 273 h 350"/>
                <a:gd name="T18" fmla="*/ 280 w 280"/>
                <a:gd name="T19" fmla="*/ 350 h 3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0"/>
                <a:gd name="T31" fmla="*/ 0 h 350"/>
                <a:gd name="T32" fmla="*/ 280 w 280"/>
                <a:gd name="T33" fmla="*/ 350 h 35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0" h="350">
                  <a:moveTo>
                    <a:pt x="0" y="175"/>
                  </a:moveTo>
                  <a:lnTo>
                    <a:pt x="140" y="175"/>
                  </a:lnTo>
                  <a:moveTo>
                    <a:pt x="140" y="262"/>
                  </a:moveTo>
                  <a:lnTo>
                    <a:pt x="140" y="87"/>
                  </a:lnTo>
                  <a:moveTo>
                    <a:pt x="140" y="132"/>
                  </a:moveTo>
                  <a:lnTo>
                    <a:pt x="280" y="78"/>
                  </a:lnTo>
                  <a:lnTo>
                    <a:pt x="280" y="0"/>
                  </a:lnTo>
                  <a:moveTo>
                    <a:pt x="140" y="219"/>
                  </a:moveTo>
                  <a:lnTo>
                    <a:pt x="280" y="273"/>
                  </a:lnTo>
                  <a:lnTo>
                    <a:pt x="280" y="350"/>
                  </a:lnTo>
                </a:path>
              </a:pathLst>
            </a:cu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30" name="Freeform 33"/>
            <p:cNvSpPr>
              <a:spLocks/>
            </p:cNvSpPr>
            <p:nvPr/>
          </p:nvSpPr>
          <p:spPr bwMode="auto">
            <a:xfrm>
              <a:off x="7494494" y="3100817"/>
              <a:ext cx="53303" cy="39503"/>
            </a:xfrm>
            <a:custGeom>
              <a:avLst/>
              <a:gdLst>
                <a:gd name="T0" fmla="*/ 38 w 38"/>
                <a:gd name="T1" fmla="*/ 27 h 30"/>
                <a:gd name="T2" fmla="*/ 0 w 38"/>
                <a:gd name="T3" fmla="*/ 30 h 30"/>
                <a:gd name="T4" fmla="*/ 13 w 38"/>
                <a:gd name="T5" fmla="*/ 0 h 30"/>
                <a:gd name="T6" fmla="*/ 38 w 38"/>
                <a:gd name="T7" fmla="*/ 27 h 30"/>
                <a:gd name="T8" fmla="*/ 0 60000 65536"/>
                <a:gd name="T9" fmla="*/ 0 60000 65536"/>
                <a:gd name="T10" fmla="*/ 0 60000 65536"/>
                <a:gd name="T11" fmla="*/ 0 60000 65536"/>
                <a:gd name="T12" fmla="*/ 0 w 38"/>
                <a:gd name="T13" fmla="*/ 0 h 30"/>
                <a:gd name="T14" fmla="*/ 38 w 38"/>
                <a:gd name="T15" fmla="*/ 30 h 30"/>
              </a:gdLst>
              <a:ahLst/>
              <a:cxnLst>
                <a:cxn ang="T8">
                  <a:pos x="T0" y="T1"/>
                </a:cxn>
                <a:cxn ang="T9">
                  <a:pos x="T2" y="T3"/>
                </a:cxn>
                <a:cxn ang="T10">
                  <a:pos x="T4" y="T5"/>
                </a:cxn>
                <a:cxn ang="T11">
                  <a:pos x="T6" y="T7"/>
                </a:cxn>
              </a:cxnLst>
              <a:rect l="T12" t="T13" r="T14" b="T15"/>
              <a:pathLst>
                <a:path w="38" h="30">
                  <a:moveTo>
                    <a:pt x="38" y="27"/>
                  </a:moveTo>
                  <a:lnTo>
                    <a:pt x="0" y="30"/>
                  </a:lnTo>
                  <a:lnTo>
                    <a:pt x="13" y="0"/>
                  </a:lnTo>
                  <a:lnTo>
                    <a:pt x="38" y="27"/>
                  </a:lnTo>
                  <a:close/>
                </a:path>
              </a:pathLst>
            </a:custGeom>
            <a:grpFill/>
            <a:ln w="9525">
              <a:noFill/>
              <a:round/>
              <a:headEnd/>
              <a:tailEnd/>
            </a:ln>
          </p:spPr>
          <p:txBody>
            <a:bodyPr/>
            <a:lstStyle/>
            <a:p>
              <a:endParaRPr lang="zh-CN" altLang="en-US">
                <a:latin typeface="Times New Roman" pitchFamily="18" charset="0"/>
                <a:cs typeface="Times New Roman" pitchFamily="18" charset="0"/>
              </a:endParaRPr>
            </a:p>
          </p:txBody>
        </p:sp>
        <p:sp>
          <p:nvSpPr>
            <p:cNvPr id="31" name="Freeform 34"/>
            <p:cNvSpPr>
              <a:spLocks/>
            </p:cNvSpPr>
            <p:nvPr/>
          </p:nvSpPr>
          <p:spPr bwMode="auto">
            <a:xfrm>
              <a:off x="7494494" y="3100817"/>
              <a:ext cx="53303" cy="39503"/>
            </a:xfrm>
            <a:custGeom>
              <a:avLst/>
              <a:gdLst>
                <a:gd name="T0" fmla="*/ 38 w 38"/>
                <a:gd name="T1" fmla="*/ 27 h 30"/>
                <a:gd name="T2" fmla="*/ 0 w 38"/>
                <a:gd name="T3" fmla="*/ 30 h 30"/>
                <a:gd name="T4" fmla="*/ 13 w 38"/>
                <a:gd name="T5" fmla="*/ 0 h 30"/>
                <a:gd name="T6" fmla="*/ 38 w 38"/>
                <a:gd name="T7" fmla="*/ 27 h 30"/>
                <a:gd name="T8" fmla="*/ 0 60000 65536"/>
                <a:gd name="T9" fmla="*/ 0 60000 65536"/>
                <a:gd name="T10" fmla="*/ 0 60000 65536"/>
                <a:gd name="T11" fmla="*/ 0 60000 65536"/>
                <a:gd name="T12" fmla="*/ 0 w 38"/>
                <a:gd name="T13" fmla="*/ 0 h 30"/>
                <a:gd name="T14" fmla="*/ 38 w 38"/>
                <a:gd name="T15" fmla="*/ 30 h 30"/>
              </a:gdLst>
              <a:ahLst/>
              <a:cxnLst>
                <a:cxn ang="T8">
                  <a:pos x="T0" y="T1"/>
                </a:cxn>
                <a:cxn ang="T9">
                  <a:pos x="T2" y="T3"/>
                </a:cxn>
                <a:cxn ang="T10">
                  <a:pos x="T4" y="T5"/>
                </a:cxn>
                <a:cxn ang="T11">
                  <a:pos x="T6" y="T7"/>
                </a:cxn>
              </a:cxnLst>
              <a:rect l="T12" t="T13" r="T14" b="T15"/>
              <a:pathLst>
                <a:path w="38" h="30">
                  <a:moveTo>
                    <a:pt x="38" y="27"/>
                  </a:moveTo>
                  <a:lnTo>
                    <a:pt x="0" y="30"/>
                  </a:lnTo>
                  <a:lnTo>
                    <a:pt x="13" y="0"/>
                  </a:lnTo>
                  <a:lnTo>
                    <a:pt x="38" y="27"/>
                  </a:lnTo>
                  <a:close/>
                </a:path>
              </a:pathLst>
            </a:cu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32" name="Rectangle 35"/>
            <p:cNvSpPr>
              <a:spLocks noChangeArrowheads="1"/>
            </p:cNvSpPr>
            <p:nvPr/>
          </p:nvSpPr>
          <p:spPr bwMode="auto">
            <a:xfrm>
              <a:off x="7561824" y="2883549"/>
              <a:ext cx="200587" cy="252822"/>
            </a:xfrm>
            <a:prstGeom prst="rect">
              <a:avLst/>
            </a:prstGeom>
            <a:grpFill/>
            <a:ln w="9525">
              <a:noFill/>
              <a:miter lim="800000"/>
              <a:headEnd/>
              <a:tailEnd/>
            </a:ln>
          </p:spPr>
          <p:txBody>
            <a:bodyPr wrap="none" lIns="0" tIns="0" rIns="0" bIns="0">
              <a:spAutoFit/>
            </a:bodyPr>
            <a:lstStyle/>
            <a:p>
              <a:r>
                <a:rPr lang="en-US" altLang="zh-CN" b="1" i="1" dirty="0">
                  <a:solidFill>
                    <a:srgbClr val="080808"/>
                  </a:solidFill>
                  <a:latin typeface="Times New Roman" pitchFamily="18" charset="0"/>
                  <a:cs typeface="Times New Roman" pitchFamily="18" charset="0"/>
                </a:rPr>
                <a:t>T</a:t>
              </a:r>
              <a:r>
                <a:rPr lang="en-US" altLang="zh-CN" baseline="-25000" dirty="0">
                  <a:solidFill>
                    <a:srgbClr val="080808"/>
                  </a:solidFill>
                  <a:latin typeface="Times New Roman" pitchFamily="18" charset="0"/>
                  <a:cs typeface="Times New Roman" pitchFamily="18" charset="0"/>
                </a:rPr>
                <a:t>3</a:t>
              </a:r>
              <a:endParaRPr lang="en-US" altLang="zh-CN" sz="2000" dirty="0">
                <a:solidFill>
                  <a:srgbClr val="080808"/>
                </a:solidFill>
                <a:latin typeface="Times New Roman" pitchFamily="18" charset="0"/>
                <a:cs typeface="Times New Roman" pitchFamily="18" charset="0"/>
              </a:endParaRPr>
            </a:p>
          </p:txBody>
        </p:sp>
        <p:sp>
          <p:nvSpPr>
            <p:cNvPr id="34" name="Rectangle 38"/>
            <p:cNvSpPr>
              <a:spLocks noChangeArrowheads="1"/>
            </p:cNvSpPr>
            <p:nvPr/>
          </p:nvSpPr>
          <p:spPr bwMode="auto">
            <a:xfrm>
              <a:off x="5826673" y="1365302"/>
              <a:ext cx="113619" cy="251505"/>
            </a:xfrm>
            <a:prstGeom prst="rect">
              <a:avLst/>
            </a:prstGeom>
            <a:grpFill/>
            <a:ln w="22225" cap="rnd">
              <a:solidFill>
                <a:srgbClr val="000000"/>
              </a:solidFill>
              <a:round/>
              <a:headEnd/>
              <a:tailEnd/>
            </a:ln>
          </p:spPr>
          <p:txBody>
            <a:bodyPr/>
            <a:lstStyle/>
            <a:p>
              <a:endParaRPr lang="zh-CN" altLang="en-US">
                <a:solidFill>
                  <a:srgbClr val="080808"/>
                </a:solidFill>
                <a:latin typeface="Times New Roman" pitchFamily="18" charset="0"/>
                <a:cs typeface="Times New Roman" pitchFamily="18" charset="0"/>
              </a:endParaRPr>
            </a:p>
          </p:txBody>
        </p:sp>
        <p:sp>
          <p:nvSpPr>
            <p:cNvPr id="35" name="Rectangle 39"/>
            <p:cNvSpPr>
              <a:spLocks noChangeArrowheads="1"/>
            </p:cNvSpPr>
            <p:nvPr/>
          </p:nvSpPr>
          <p:spPr bwMode="auto">
            <a:xfrm>
              <a:off x="5509661" y="1224406"/>
              <a:ext cx="283347" cy="252822"/>
            </a:xfrm>
            <a:prstGeom prst="rect">
              <a:avLst/>
            </a:prstGeom>
            <a:grpFill/>
            <a:ln w="9525">
              <a:noFill/>
              <a:miter lim="800000"/>
              <a:headEnd/>
              <a:tailEnd/>
            </a:ln>
          </p:spPr>
          <p:txBody>
            <a:bodyPr wrap="none" lIns="0" tIns="0" rIns="0" bIns="0">
              <a:spAutoFit/>
            </a:bodyPr>
            <a:lstStyle/>
            <a:p>
              <a:r>
                <a:rPr lang="en-US" altLang="zh-CN" sz="1800" b="1" i="1" dirty="0">
                  <a:solidFill>
                    <a:srgbClr val="080808"/>
                  </a:solidFill>
                  <a:latin typeface="Times New Roman" pitchFamily="18" charset="0"/>
                  <a:cs typeface="Times New Roman" pitchFamily="18" charset="0"/>
                </a:rPr>
                <a:t>R</a:t>
              </a:r>
              <a:r>
                <a:rPr lang="en-US" altLang="zh-CN" baseline="-25000" dirty="0">
                  <a:solidFill>
                    <a:srgbClr val="080808"/>
                  </a:solidFill>
                  <a:latin typeface="Times New Roman" pitchFamily="18" charset="0"/>
                  <a:cs typeface="Times New Roman" pitchFamily="18" charset="0"/>
                </a:rPr>
                <a:t>b1</a:t>
              </a:r>
              <a:endParaRPr lang="en-US" altLang="zh-CN" sz="2000" baseline="-25000" dirty="0">
                <a:solidFill>
                  <a:srgbClr val="080808"/>
                </a:solidFill>
                <a:latin typeface="Times New Roman" pitchFamily="18" charset="0"/>
                <a:cs typeface="Times New Roman" pitchFamily="18" charset="0"/>
              </a:endParaRPr>
            </a:p>
          </p:txBody>
        </p:sp>
        <p:sp>
          <p:nvSpPr>
            <p:cNvPr id="39" name="Rectangle 44"/>
            <p:cNvSpPr>
              <a:spLocks noChangeArrowheads="1"/>
            </p:cNvSpPr>
            <p:nvPr/>
          </p:nvSpPr>
          <p:spPr bwMode="auto">
            <a:xfrm>
              <a:off x="7141011" y="1320531"/>
              <a:ext cx="333845" cy="276524"/>
            </a:xfrm>
            <a:prstGeom prst="rect">
              <a:avLst/>
            </a:prstGeom>
            <a:grpFill/>
            <a:ln w="9525">
              <a:noFill/>
              <a:miter lim="800000"/>
              <a:headEnd/>
              <a:tailEnd/>
            </a:ln>
          </p:spPr>
          <p:txBody>
            <a:bodyPr wrap="none" lIns="0" tIns="0" rIns="0" bIns="0">
              <a:spAutoFit/>
            </a:bodyPr>
            <a:lstStyle/>
            <a:p>
              <a:r>
                <a:rPr lang="en-US" altLang="zh-CN" b="1" i="1" dirty="0">
                  <a:solidFill>
                    <a:srgbClr val="080808"/>
                  </a:solidFill>
                  <a:latin typeface="Times New Roman" pitchFamily="18" charset="0"/>
                  <a:cs typeface="Times New Roman" pitchFamily="18" charset="0"/>
                </a:rPr>
                <a:t>R</a:t>
              </a:r>
              <a:r>
                <a:rPr lang="en-US" altLang="zh-CN" baseline="-25000" dirty="0">
                  <a:solidFill>
                    <a:srgbClr val="080808"/>
                  </a:solidFill>
                  <a:latin typeface="Times New Roman" pitchFamily="18" charset="0"/>
                  <a:cs typeface="Times New Roman" pitchFamily="18" charset="0"/>
                </a:rPr>
                <a:t>C4</a:t>
              </a:r>
              <a:endParaRPr lang="en-US" altLang="zh-CN" sz="2000" baseline="-25000" dirty="0">
                <a:solidFill>
                  <a:srgbClr val="080808"/>
                </a:solidFill>
                <a:latin typeface="Times New Roman" pitchFamily="18" charset="0"/>
                <a:cs typeface="Times New Roman" pitchFamily="18" charset="0"/>
              </a:endParaRPr>
            </a:p>
          </p:txBody>
        </p:sp>
        <p:sp>
          <p:nvSpPr>
            <p:cNvPr id="41" name="Rectangle 47"/>
            <p:cNvSpPr>
              <a:spLocks noChangeArrowheads="1"/>
            </p:cNvSpPr>
            <p:nvPr/>
          </p:nvSpPr>
          <p:spPr bwMode="auto">
            <a:xfrm>
              <a:off x="6523819" y="1365302"/>
              <a:ext cx="112217" cy="251505"/>
            </a:xfrm>
            <a:prstGeom prst="rect">
              <a:avLst/>
            </a:prstGeom>
            <a:grpFill/>
            <a:ln w="22225" cap="rnd">
              <a:solidFill>
                <a:srgbClr val="000000"/>
              </a:solidFill>
              <a:round/>
              <a:headEnd/>
              <a:tailEnd/>
            </a:ln>
          </p:spPr>
          <p:txBody>
            <a:bodyPr/>
            <a:lstStyle/>
            <a:p>
              <a:endParaRPr lang="zh-CN" altLang="en-US">
                <a:solidFill>
                  <a:srgbClr val="080808"/>
                </a:solidFill>
                <a:latin typeface="Times New Roman" pitchFamily="18" charset="0"/>
                <a:cs typeface="Times New Roman" pitchFamily="18" charset="0"/>
              </a:endParaRPr>
            </a:p>
          </p:txBody>
        </p:sp>
        <p:sp>
          <p:nvSpPr>
            <p:cNvPr id="42" name="Rectangle 48"/>
            <p:cNvSpPr>
              <a:spLocks noChangeArrowheads="1"/>
            </p:cNvSpPr>
            <p:nvPr/>
          </p:nvSpPr>
          <p:spPr bwMode="auto">
            <a:xfrm>
              <a:off x="6173142" y="1317898"/>
              <a:ext cx="333845" cy="276524"/>
            </a:xfrm>
            <a:prstGeom prst="rect">
              <a:avLst/>
            </a:prstGeom>
            <a:grpFill/>
            <a:ln w="9525">
              <a:noFill/>
              <a:miter lim="800000"/>
              <a:headEnd/>
              <a:tailEnd/>
            </a:ln>
          </p:spPr>
          <p:txBody>
            <a:bodyPr wrap="none" lIns="0" tIns="0" rIns="0" bIns="0">
              <a:spAutoFit/>
            </a:bodyPr>
            <a:lstStyle/>
            <a:p>
              <a:r>
                <a:rPr lang="en-US" altLang="zh-CN" b="1" i="1" dirty="0">
                  <a:solidFill>
                    <a:srgbClr val="080808"/>
                  </a:solidFill>
                  <a:latin typeface="Times New Roman" pitchFamily="18" charset="0"/>
                  <a:cs typeface="Times New Roman" pitchFamily="18" charset="0"/>
                </a:rPr>
                <a:t>R</a:t>
              </a:r>
              <a:r>
                <a:rPr lang="en-US" altLang="zh-CN" baseline="-25000" dirty="0">
                  <a:solidFill>
                    <a:srgbClr val="080808"/>
                  </a:solidFill>
                  <a:latin typeface="Times New Roman" pitchFamily="18" charset="0"/>
                  <a:cs typeface="Times New Roman" pitchFamily="18" charset="0"/>
                </a:rPr>
                <a:t>C2</a:t>
              </a:r>
              <a:endParaRPr lang="en-US" altLang="zh-CN" sz="2000" baseline="-25000" dirty="0">
                <a:solidFill>
                  <a:srgbClr val="080808"/>
                </a:solidFill>
                <a:latin typeface="Times New Roman" pitchFamily="18" charset="0"/>
                <a:cs typeface="Times New Roman" pitchFamily="18" charset="0"/>
              </a:endParaRPr>
            </a:p>
          </p:txBody>
        </p:sp>
        <p:sp>
          <p:nvSpPr>
            <p:cNvPr id="44" name="Rectangle 51"/>
            <p:cNvSpPr>
              <a:spLocks noChangeArrowheads="1"/>
            </p:cNvSpPr>
            <p:nvPr/>
          </p:nvSpPr>
          <p:spPr bwMode="auto">
            <a:xfrm>
              <a:off x="6523819" y="3237762"/>
              <a:ext cx="112217" cy="250188"/>
            </a:xfrm>
            <a:prstGeom prst="rect">
              <a:avLst/>
            </a:prstGeom>
            <a:grpFill/>
            <a:ln w="22225" cap="rnd">
              <a:solidFill>
                <a:srgbClr val="000000"/>
              </a:solidFill>
              <a:round/>
              <a:headEnd/>
              <a:tailEnd/>
            </a:ln>
          </p:spPr>
          <p:txBody>
            <a:bodyPr/>
            <a:lstStyle/>
            <a:p>
              <a:endParaRPr lang="zh-CN" altLang="en-US">
                <a:solidFill>
                  <a:srgbClr val="080808"/>
                </a:solidFill>
                <a:latin typeface="Times New Roman" pitchFamily="18" charset="0"/>
                <a:cs typeface="Times New Roman" pitchFamily="18" charset="0"/>
              </a:endParaRPr>
            </a:p>
          </p:txBody>
        </p:sp>
        <p:sp>
          <p:nvSpPr>
            <p:cNvPr id="45" name="Rectangle 52"/>
            <p:cNvSpPr>
              <a:spLocks noChangeArrowheads="1"/>
            </p:cNvSpPr>
            <p:nvPr/>
          </p:nvSpPr>
          <p:spPr bwMode="auto">
            <a:xfrm>
              <a:off x="6212418" y="3261464"/>
              <a:ext cx="276334" cy="533296"/>
            </a:xfrm>
            <a:prstGeom prst="rect">
              <a:avLst/>
            </a:prstGeom>
            <a:noFill/>
            <a:ln w="9525">
              <a:noFill/>
              <a:miter lim="800000"/>
              <a:headEnd/>
              <a:tailEnd/>
            </a:ln>
          </p:spPr>
          <p:txBody>
            <a:bodyPr wrap="none" lIns="0" tIns="0" rIns="0" bIns="0">
              <a:spAutoFit/>
            </a:bodyPr>
            <a:lstStyle/>
            <a:p>
              <a:r>
                <a:rPr lang="en-US" altLang="zh-CN" b="1" i="1" dirty="0">
                  <a:solidFill>
                    <a:srgbClr val="080808"/>
                  </a:solidFill>
                  <a:latin typeface="Times New Roman" pitchFamily="18" charset="0"/>
                  <a:cs typeface="Times New Roman" pitchFamily="18" charset="0"/>
                </a:rPr>
                <a:t>R</a:t>
              </a:r>
              <a:r>
                <a:rPr lang="en-US" altLang="zh-CN" baseline="-25000" dirty="0">
                  <a:solidFill>
                    <a:srgbClr val="080808"/>
                  </a:solidFill>
                  <a:latin typeface="Times New Roman" pitchFamily="18" charset="0"/>
                  <a:cs typeface="Times New Roman" pitchFamily="18" charset="0"/>
                </a:rPr>
                <a:t>e2</a:t>
              </a:r>
              <a:endParaRPr lang="en-US" altLang="zh-CN" sz="2000" baseline="-25000" dirty="0">
                <a:solidFill>
                  <a:srgbClr val="080808"/>
                </a:solidFill>
                <a:latin typeface="Times New Roman" pitchFamily="18" charset="0"/>
                <a:cs typeface="Times New Roman" pitchFamily="18" charset="0"/>
              </a:endParaRPr>
            </a:p>
            <a:p>
              <a:endParaRPr lang="en-US" altLang="zh-CN" sz="2000" i="1" dirty="0">
                <a:solidFill>
                  <a:srgbClr val="080808"/>
                </a:solidFill>
                <a:latin typeface="Times New Roman" pitchFamily="18" charset="0"/>
                <a:cs typeface="Times New Roman" pitchFamily="18" charset="0"/>
              </a:endParaRPr>
            </a:p>
          </p:txBody>
        </p:sp>
        <p:sp>
          <p:nvSpPr>
            <p:cNvPr id="46" name="Line 54"/>
            <p:cNvSpPr>
              <a:spLocks noChangeShapeType="1"/>
            </p:cNvSpPr>
            <p:nvPr/>
          </p:nvSpPr>
          <p:spPr bwMode="auto">
            <a:xfrm>
              <a:off x="6580962" y="2609658"/>
              <a:ext cx="1403" cy="628104"/>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47" name="Line 55"/>
            <p:cNvSpPr>
              <a:spLocks noChangeShapeType="1"/>
            </p:cNvSpPr>
            <p:nvPr/>
          </p:nvSpPr>
          <p:spPr bwMode="auto">
            <a:xfrm flipV="1">
              <a:off x="6578525" y="1616807"/>
              <a:ext cx="1403" cy="531979"/>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48" name="Line 56"/>
            <p:cNvSpPr>
              <a:spLocks noChangeShapeType="1"/>
            </p:cNvSpPr>
            <p:nvPr/>
          </p:nvSpPr>
          <p:spPr bwMode="auto">
            <a:xfrm flipH="1">
              <a:off x="6578525" y="1928883"/>
              <a:ext cx="576513" cy="1317"/>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49" name="Freeform 57"/>
            <p:cNvSpPr>
              <a:spLocks/>
            </p:cNvSpPr>
            <p:nvPr/>
          </p:nvSpPr>
          <p:spPr bwMode="auto">
            <a:xfrm>
              <a:off x="6533638" y="1892013"/>
              <a:ext cx="88371" cy="77690"/>
            </a:xfrm>
            <a:custGeom>
              <a:avLst/>
              <a:gdLst>
                <a:gd name="T0" fmla="*/ 82 w 59"/>
                <a:gd name="T1" fmla="*/ 29 h 59"/>
                <a:gd name="T2" fmla="*/ 41 w 59"/>
                <a:gd name="T3" fmla="*/ 0 h 59"/>
                <a:gd name="T4" fmla="*/ 0 w 59"/>
                <a:gd name="T5" fmla="*/ 29 h 59"/>
                <a:gd name="T6" fmla="*/ 0 w 59"/>
                <a:gd name="T7" fmla="*/ 29 h 59"/>
                <a:gd name="T8" fmla="*/ 41 w 59"/>
                <a:gd name="T9" fmla="*/ 59 h 59"/>
                <a:gd name="T10" fmla="*/ 82 w 59"/>
                <a:gd name="T11" fmla="*/ 29 h 59"/>
                <a:gd name="T12" fmla="*/ 0 60000 65536"/>
                <a:gd name="T13" fmla="*/ 0 60000 65536"/>
                <a:gd name="T14" fmla="*/ 0 60000 65536"/>
                <a:gd name="T15" fmla="*/ 0 60000 65536"/>
                <a:gd name="T16" fmla="*/ 0 60000 65536"/>
                <a:gd name="T17" fmla="*/ 0 60000 65536"/>
                <a:gd name="T18" fmla="*/ 0 w 59"/>
                <a:gd name="T19" fmla="*/ 0 h 59"/>
                <a:gd name="T20" fmla="*/ 59 w 59"/>
                <a:gd name="T21" fmla="*/ 59 h 59"/>
              </a:gdLst>
              <a:ahLst/>
              <a:cxnLst>
                <a:cxn ang="T12">
                  <a:pos x="T0" y="T1"/>
                </a:cxn>
                <a:cxn ang="T13">
                  <a:pos x="T2" y="T3"/>
                </a:cxn>
                <a:cxn ang="T14">
                  <a:pos x="T4" y="T5"/>
                </a:cxn>
                <a:cxn ang="T15">
                  <a:pos x="T6" y="T7"/>
                </a:cxn>
                <a:cxn ang="T16">
                  <a:pos x="T8" y="T9"/>
                </a:cxn>
                <a:cxn ang="T17">
                  <a:pos x="T10" y="T11"/>
                </a:cxn>
              </a:cxnLst>
              <a:rect l="T18" t="T19" r="T20" b="T21"/>
              <a:pathLst>
                <a:path w="59" h="59">
                  <a:moveTo>
                    <a:pt x="59" y="29"/>
                  </a:moveTo>
                  <a:cubicBezTo>
                    <a:pt x="59" y="13"/>
                    <a:pt x="46" y="0"/>
                    <a:pt x="30" y="0"/>
                  </a:cubicBezTo>
                  <a:cubicBezTo>
                    <a:pt x="14" y="0"/>
                    <a:pt x="0" y="13"/>
                    <a:pt x="0" y="29"/>
                  </a:cubicBezTo>
                  <a:cubicBezTo>
                    <a:pt x="0" y="29"/>
                    <a:pt x="0" y="29"/>
                    <a:pt x="0" y="29"/>
                  </a:cubicBezTo>
                  <a:cubicBezTo>
                    <a:pt x="0" y="46"/>
                    <a:pt x="14" y="59"/>
                    <a:pt x="30" y="59"/>
                  </a:cubicBezTo>
                  <a:cubicBezTo>
                    <a:pt x="46" y="59"/>
                    <a:pt x="59" y="46"/>
                    <a:pt x="59" y="29"/>
                  </a:cubicBezTo>
                </a:path>
              </a:pathLst>
            </a:custGeom>
            <a:solidFill>
              <a:schemeClr val="tx1"/>
            </a:solidFill>
            <a:ln w="0">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50" name="Line 58"/>
            <p:cNvSpPr>
              <a:spLocks noChangeShapeType="1"/>
            </p:cNvSpPr>
            <p:nvPr/>
          </p:nvSpPr>
          <p:spPr bwMode="auto">
            <a:xfrm flipH="1">
              <a:off x="6585725" y="3009959"/>
              <a:ext cx="576513" cy="1317"/>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51" name="Freeform 59"/>
            <p:cNvSpPr>
              <a:spLocks/>
            </p:cNvSpPr>
            <p:nvPr/>
          </p:nvSpPr>
          <p:spPr bwMode="auto">
            <a:xfrm>
              <a:off x="6544469" y="2967822"/>
              <a:ext cx="77540" cy="77690"/>
            </a:xfrm>
            <a:custGeom>
              <a:avLst/>
              <a:gdLst>
                <a:gd name="T0" fmla="*/ 82 w 59"/>
                <a:gd name="T1" fmla="*/ 30 h 59"/>
                <a:gd name="T2" fmla="*/ 41 w 59"/>
                <a:gd name="T3" fmla="*/ 0 h 59"/>
                <a:gd name="T4" fmla="*/ 0 w 59"/>
                <a:gd name="T5" fmla="*/ 30 h 59"/>
                <a:gd name="T6" fmla="*/ 0 w 59"/>
                <a:gd name="T7" fmla="*/ 30 h 59"/>
                <a:gd name="T8" fmla="*/ 41 w 59"/>
                <a:gd name="T9" fmla="*/ 59 h 59"/>
                <a:gd name="T10" fmla="*/ 82 w 59"/>
                <a:gd name="T11" fmla="*/ 30 h 59"/>
                <a:gd name="T12" fmla="*/ 0 60000 65536"/>
                <a:gd name="T13" fmla="*/ 0 60000 65536"/>
                <a:gd name="T14" fmla="*/ 0 60000 65536"/>
                <a:gd name="T15" fmla="*/ 0 60000 65536"/>
                <a:gd name="T16" fmla="*/ 0 60000 65536"/>
                <a:gd name="T17" fmla="*/ 0 60000 65536"/>
                <a:gd name="T18" fmla="*/ 0 w 59"/>
                <a:gd name="T19" fmla="*/ 0 h 59"/>
                <a:gd name="T20" fmla="*/ 59 w 59"/>
                <a:gd name="T21" fmla="*/ 59 h 59"/>
              </a:gdLst>
              <a:ahLst/>
              <a:cxnLst>
                <a:cxn ang="T12">
                  <a:pos x="T0" y="T1"/>
                </a:cxn>
                <a:cxn ang="T13">
                  <a:pos x="T2" y="T3"/>
                </a:cxn>
                <a:cxn ang="T14">
                  <a:pos x="T4" y="T5"/>
                </a:cxn>
                <a:cxn ang="T15">
                  <a:pos x="T6" y="T7"/>
                </a:cxn>
                <a:cxn ang="T16">
                  <a:pos x="T8" y="T9"/>
                </a:cxn>
                <a:cxn ang="T17">
                  <a:pos x="T10" y="T11"/>
                </a:cxn>
              </a:cxnLst>
              <a:rect l="T18" t="T19" r="T20" b="T21"/>
              <a:pathLst>
                <a:path w="59" h="59">
                  <a:moveTo>
                    <a:pt x="59" y="30"/>
                  </a:moveTo>
                  <a:cubicBezTo>
                    <a:pt x="59" y="14"/>
                    <a:pt x="46" y="0"/>
                    <a:pt x="30" y="0"/>
                  </a:cubicBezTo>
                  <a:cubicBezTo>
                    <a:pt x="14" y="0"/>
                    <a:pt x="0" y="14"/>
                    <a:pt x="0" y="30"/>
                  </a:cubicBezTo>
                  <a:cubicBezTo>
                    <a:pt x="0" y="30"/>
                    <a:pt x="0" y="30"/>
                    <a:pt x="0" y="30"/>
                  </a:cubicBezTo>
                  <a:cubicBezTo>
                    <a:pt x="0" y="46"/>
                    <a:pt x="14" y="59"/>
                    <a:pt x="30" y="59"/>
                  </a:cubicBezTo>
                  <a:cubicBezTo>
                    <a:pt x="46" y="59"/>
                    <a:pt x="59" y="46"/>
                    <a:pt x="59" y="30"/>
                  </a:cubicBezTo>
                </a:path>
              </a:pathLst>
            </a:custGeom>
            <a:solidFill>
              <a:schemeClr val="tx1"/>
            </a:solidFill>
            <a:ln w="0">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52" name="Freeform 60"/>
            <p:cNvSpPr>
              <a:spLocks/>
            </p:cNvSpPr>
            <p:nvPr/>
          </p:nvSpPr>
          <p:spPr bwMode="auto">
            <a:xfrm>
              <a:off x="7476259" y="2306799"/>
              <a:ext cx="143076" cy="125094"/>
            </a:xfrm>
            <a:custGeom>
              <a:avLst/>
              <a:gdLst>
                <a:gd name="T0" fmla="*/ 0 w 102"/>
                <a:gd name="T1" fmla="*/ 0 h 95"/>
                <a:gd name="T2" fmla="*/ 51 w 102"/>
                <a:gd name="T3" fmla="*/ 95 h 95"/>
                <a:gd name="T4" fmla="*/ 102 w 102"/>
                <a:gd name="T5" fmla="*/ 0 h 95"/>
                <a:gd name="T6" fmla="*/ 0 w 102"/>
                <a:gd name="T7" fmla="*/ 0 h 95"/>
                <a:gd name="T8" fmla="*/ 0 60000 65536"/>
                <a:gd name="T9" fmla="*/ 0 60000 65536"/>
                <a:gd name="T10" fmla="*/ 0 60000 65536"/>
                <a:gd name="T11" fmla="*/ 0 60000 65536"/>
                <a:gd name="T12" fmla="*/ 0 w 102"/>
                <a:gd name="T13" fmla="*/ 0 h 95"/>
                <a:gd name="T14" fmla="*/ 102 w 102"/>
                <a:gd name="T15" fmla="*/ 95 h 95"/>
              </a:gdLst>
              <a:ahLst/>
              <a:cxnLst>
                <a:cxn ang="T8">
                  <a:pos x="T0" y="T1"/>
                </a:cxn>
                <a:cxn ang="T9">
                  <a:pos x="T2" y="T3"/>
                </a:cxn>
                <a:cxn ang="T10">
                  <a:pos x="T4" y="T5"/>
                </a:cxn>
                <a:cxn ang="T11">
                  <a:pos x="T6" y="T7"/>
                </a:cxn>
              </a:cxnLst>
              <a:rect l="T12" t="T13" r="T14" b="T15"/>
              <a:pathLst>
                <a:path w="102" h="95">
                  <a:moveTo>
                    <a:pt x="0" y="0"/>
                  </a:moveTo>
                  <a:lnTo>
                    <a:pt x="51" y="95"/>
                  </a:lnTo>
                  <a:lnTo>
                    <a:pt x="102" y="0"/>
                  </a:lnTo>
                  <a:lnTo>
                    <a:pt x="0" y="0"/>
                  </a:lnTo>
                  <a:close/>
                </a:path>
              </a:pathLst>
            </a:custGeom>
            <a:grpFill/>
            <a:ln w="9525">
              <a:noFill/>
              <a:round/>
              <a:headEnd/>
              <a:tailEnd/>
            </a:ln>
          </p:spPr>
          <p:txBody>
            <a:bodyPr/>
            <a:lstStyle/>
            <a:p>
              <a:endParaRPr lang="zh-CN" altLang="en-US">
                <a:latin typeface="Times New Roman" pitchFamily="18" charset="0"/>
                <a:cs typeface="Times New Roman" pitchFamily="18" charset="0"/>
              </a:endParaRPr>
            </a:p>
          </p:txBody>
        </p:sp>
        <p:sp>
          <p:nvSpPr>
            <p:cNvPr id="53" name="Freeform 61"/>
            <p:cNvSpPr>
              <a:spLocks noEditPoints="1"/>
            </p:cNvSpPr>
            <p:nvPr/>
          </p:nvSpPr>
          <p:spPr bwMode="auto">
            <a:xfrm>
              <a:off x="7476259" y="2306799"/>
              <a:ext cx="143076" cy="125094"/>
            </a:xfrm>
            <a:custGeom>
              <a:avLst/>
              <a:gdLst>
                <a:gd name="T0" fmla="*/ 102 w 102"/>
                <a:gd name="T1" fmla="*/ 95 h 95"/>
                <a:gd name="T2" fmla="*/ 0 w 102"/>
                <a:gd name="T3" fmla="*/ 95 h 95"/>
                <a:gd name="T4" fmla="*/ 0 w 102"/>
                <a:gd name="T5" fmla="*/ 0 h 95"/>
                <a:gd name="T6" fmla="*/ 51 w 102"/>
                <a:gd name="T7" fmla="*/ 95 h 95"/>
                <a:gd name="T8" fmla="*/ 102 w 102"/>
                <a:gd name="T9" fmla="*/ 0 h 95"/>
                <a:gd name="T10" fmla="*/ 0 w 102"/>
                <a:gd name="T11" fmla="*/ 0 h 95"/>
                <a:gd name="T12" fmla="*/ 0 60000 65536"/>
                <a:gd name="T13" fmla="*/ 0 60000 65536"/>
                <a:gd name="T14" fmla="*/ 0 60000 65536"/>
                <a:gd name="T15" fmla="*/ 0 60000 65536"/>
                <a:gd name="T16" fmla="*/ 0 60000 65536"/>
                <a:gd name="T17" fmla="*/ 0 60000 65536"/>
                <a:gd name="T18" fmla="*/ 0 w 102"/>
                <a:gd name="T19" fmla="*/ 0 h 95"/>
                <a:gd name="T20" fmla="*/ 102 w 102"/>
                <a:gd name="T21" fmla="*/ 95 h 95"/>
              </a:gdLst>
              <a:ahLst/>
              <a:cxnLst>
                <a:cxn ang="T12">
                  <a:pos x="T0" y="T1"/>
                </a:cxn>
                <a:cxn ang="T13">
                  <a:pos x="T2" y="T3"/>
                </a:cxn>
                <a:cxn ang="T14">
                  <a:pos x="T4" y="T5"/>
                </a:cxn>
                <a:cxn ang="T15">
                  <a:pos x="T6" y="T7"/>
                </a:cxn>
                <a:cxn ang="T16">
                  <a:pos x="T8" y="T9"/>
                </a:cxn>
                <a:cxn ang="T17">
                  <a:pos x="T10" y="T11"/>
                </a:cxn>
              </a:cxnLst>
              <a:rect l="T18" t="T19" r="T20" b="T21"/>
              <a:pathLst>
                <a:path w="102" h="95">
                  <a:moveTo>
                    <a:pt x="102" y="95"/>
                  </a:moveTo>
                  <a:lnTo>
                    <a:pt x="0" y="95"/>
                  </a:lnTo>
                  <a:moveTo>
                    <a:pt x="0" y="0"/>
                  </a:moveTo>
                  <a:lnTo>
                    <a:pt x="51" y="95"/>
                  </a:lnTo>
                  <a:lnTo>
                    <a:pt x="102" y="0"/>
                  </a:lnTo>
                  <a:lnTo>
                    <a:pt x="0" y="0"/>
                  </a:lnTo>
                </a:path>
              </a:pathLst>
            </a:cu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54" name="Line 62"/>
            <p:cNvSpPr>
              <a:spLocks noChangeShapeType="1"/>
            </p:cNvSpPr>
            <p:nvPr/>
          </p:nvSpPr>
          <p:spPr bwMode="auto">
            <a:xfrm>
              <a:off x="7546394" y="2118500"/>
              <a:ext cx="1403" cy="501693"/>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55" name="Rectangle 63"/>
            <p:cNvSpPr>
              <a:spLocks noChangeArrowheads="1"/>
            </p:cNvSpPr>
            <p:nvPr/>
          </p:nvSpPr>
          <p:spPr bwMode="auto">
            <a:xfrm>
              <a:off x="7330377" y="2280463"/>
              <a:ext cx="119230" cy="196200"/>
            </a:xfrm>
            <a:prstGeom prst="rect">
              <a:avLst/>
            </a:prstGeom>
            <a:grpFill/>
            <a:ln w="9525">
              <a:noFill/>
              <a:miter lim="800000"/>
              <a:headEnd/>
              <a:tailEnd/>
            </a:ln>
          </p:spPr>
          <p:txBody>
            <a:bodyPr wrap="none" lIns="0" tIns="0" rIns="0" bIns="0">
              <a:spAutoFit/>
            </a:bodyPr>
            <a:lstStyle/>
            <a:p>
              <a:r>
                <a:rPr lang="en-US" altLang="zh-CN" sz="1400" b="0" dirty="0">
                  <a:solidFill>
                    <a:srgbClr val="080808"/>
                  </a:solidFill>
                  <a:latin typeface="Times New Roman" pitchFamily="18" charset="0"/>
                  <a:cs typeface="Times New Roman" pitchFamily="18" charset="0"/>
                </a:rPr>
                <a:t>D</a:t>
              </a:r>
              <a:endParaRPr lang="en-US" altLang="zh-CN" sz="2000" dirty="0">
                <a:solidFill>
                  <a:srgbClr val="080808"/>
                </a:solidFill>
                <a:latin typeface="Times New Roman" pitchFamily="18" charset="0"/>
                <a:cs typeface="Times New Roman" pitchFamily="18" charset="0"/>
              </a:endParaRPr>
            </a:p>
          </p:txBody>
        </p:sp>
        <p:sp>
          <p:nvSpPr>
            <p:cNvPr id="57" name="Line 65"/>
            <p:cNvSpPr>
              <a:spLocks noChangeShapeType="1"/>
            </p:cNvSpPr>
            <p:nvPr/>
          </p:nvSpPr>
          <p:spPr bwMode="auto">
            <a:xfrm>
              <a:off x="6579928" y="3487950"/>
              <a:ext cx="1403" cy="184349"/>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58" name="Line 66"/>
            <p:cNvSpPr>
              <a:spLocks noChangeShapeType="1"/>
            </p:cNvSpPr>
            <p:nvPr/>
          </p:nvSpPr>
          <p:spPr bwMode="auto">
            <a:xfrm flipV="1">
              <a:off x="6484544" y="3678883"/>
              <a:ext cx="176741" cy="0"/>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59" name="Line 67"/>
            <p:cNvSpPr>
              <a:spLocks noChangeShapeType="1"/>
            </p:cNvSpPr>
            <p:nvPr/>
          </p:nvSpPr>
          <p:spPr bwMode="auto">
            <a:xfrm>
              <a:off x="7550602" y="3237762"/>
              <a:ext cx="1403" cy="301543"/>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60" name="Line 68"/>
            <p:cNvSpPr>
              <a:spLocks noChangeShapeType="1"/>
            </p:cNvSpPr>
            <p:nvPr/>
          </p:nvSpPr>
          <p:spPr bwMode="auto">
            <a:xfrm>
              <a:off x="7455218" y="3539305"/>
              <a:ext cx="190768" cy="0"/>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61" name="Line 69"/>
            <p:cNvSpPr>
              <a:spLocks noChangeShapeType="1"/>
            </p:cNvSpPr>
            <p:nvPr/>
          </p:nvSpPr>
          <p:spPr bwMode="auto">
            <a:xfrm flipH="1" flipV="1">
              <a:off x="5884184" y="1616807"/>
              <a:ext cx="0" cy="413469"/>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62" name="Line 70"/>
            <p:cNvSpPr>
              <a:spLocks noChangeShapeType="1"/>
            </p:cNvSpPr>
            <p:nvPr/>
          </p:nvSpPr>
          <p:spPr bwMode="auto">
            <a:xfrm flipV="1">
              <a:off x="7546394" y="1619440"/>
              <a:ext cx="0" cy="104026"/>
            </a:xfrm>
            <a:prstGeom prst="line">
              <a:avLst/>
            </a:prstGeom>
            <a:grpFill/>
            <a:ln w="22225" cap="rnd">
              <a:solidFill>
                <a:srgbClr val="000000"/>
              </a:solidFill>
              <a:round/>
              <a:headEnd/>
              <a:tailEnd/>
            </a:ln>
          </p:spPr>
          <p:txBody>
            <a:bodyPr/>
            <a:lstStyle/>
            <a:p>
              <a:endParaRPr lang="zh-CN" altLang="en-US" b="1" dirty="0">
                <a:latin typeface="Times New Roman" pitchFamily="18" charset="0"/>
                <a:cs typeface="Times New Roman" pitchFamily="18" charset="0"/>
              </a:endParaRPr>
            </a:p>
          </p:txBody>
        </p:sp>
        <p:sp>
          <p:nvSpPr>
            <p:cNvPr id="63" name="Freeform 71"/>
            <p:cNvSpPr>
              <a:spLocks/>
            </p:cNvSpPr>
            <p:nvPr/>
          </p:nvSpPr>
          <p:spPr bwMode="auto">
            <a:xfrm>
              <a:off x="5888392" y="1032156"/>
              <a:ext cx="2099855" cy="333145"/>
            </a:xfrm>
            <a:custGeom>
              <a:avLst/>
              <a:gdLst>
                <a:gd name="T0" fmla="*/ 0 w 1615"/>
                <a:gd name="T1" fmla="*/ 253 h 253"/>
                <a:gd name="T2" fmla="*/ 0 w 1615"/>
                <a:gd name="T3" fmla="*/ 0 h 253"/>
                <a:gd name="T4" fmla="*/ 1615 w 1615"/>
                <a:gd name="T5" fmla="*/ 0 h 253"/>
                <a:gd name="T6" fmla="*/ 0 60000 65536"/>
                <a:gd name="T7" fmla="*/ 0 60000 65536"/>
                <a:gd name="T8" fmla="*/ 0 60000 65536"/>
                <a:gd name="T9" fmla="*/ 0 w 1615"/>
                <a:gd name="T10" fmla="*/ 0 h 253"/>
                <a:gd name="T11" fmla="*/ 1615 w 1615"/>
                <a:gd name="T12" fmla="*/ 253 h 253"/>
              </a:gdLst>
              <a:ahLst/>
              <a:cxnLst>
                <a:cxn ang="T6">
                  <a:pos x="T0" y="T1"/>
                </a:cxn>
                <a:cxn ang="T7">
                  <a:pos x="T2" y="T3"/>
                </a:cxn>
                <a:cxn ang="T8">
                  <a:pos x="T4" y="T5"/>
                </a:cxn>
              </a:cxnLst>
              <a:rect l="T9" t="T10" r="T11" b="T12"/>
              <a:pathLst>
                <a:path w="1615" h="253">
                  <a:moveTo>
                    <a:pt x="0" y="253"/>
                  </a:moveTo>
                  <a:lnTo>
                    <a:pt x="0" y="0"/>
                  </a:lnTo>
                  <a:lnTo>
                    <a:pt x="1615" y="0"/>
                  </a:lnTo>
                </a:path>
              </a:pathLst>
            </a:cu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64" name="Line 72"/>
            <p:cNvSpPr>
              <a:spLocks noChangeShapeType="1"/>
            </p:cNvSpPr>
            <p:nvPr/>
          </p:nvSpPr>
          <p:spPr bwMode="auto">
            <a:xfrm flipV="1">
              <a:off x="6579928" y="1032156"/>
              <a:ext cx="1403" cy="333145"/>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65" name="Freeform 73"/>
            <p:cNvSpPr>
              <a:spLocks/>
            </p:cNvSpPr>
            <p:nvPr/>
          </p:nvSpPr>
          <p:spPr bwMode="auto">
            <a:xfrm>
              <a:off x="6536444" y="992653"/>
              <a:ext cx="86968" cy="76373"/>
            </a:xfrm>
            <a:custGeom>
              <a:avLst/>
              <a:gdLst>
                <a:gd name="T0" fmla="*/ 40 w 58"/>
                <a:gd name="T1" fmla="*/ 54 h 59"/>
                <a:gd name="T2" fmla="*/ 81 w 58"/>
                <a:gd name="T3" fmla="*/ 29 h 59"/>
                <a:gd name="T4" fmla="*/ 40 w 58"/>
                <a:gd name="T5" fmla="*/ 0 h 59"/>
                <a:gd name="T6" fmla="*/ 40 w 58"/>
                <a:gd name="T7" fmla="*/ 0 h 59"/>
                <a:gd name="T8" fmla="*/ 0 w 58"/>
                <a:gd name="T9" fmla="*/ 29 h 59"/>
                <a:gd name="T10" fmla="*/ 40 w 58"/>
                <a:gd name="T11" fmla="*/ 54 h 59"/>
                <a:gd name="T12" fmla="*/ 0 60000 65536"/>
                <a:gd name="T13" fmla="*/ 0 60000 65536"/>
                <a:gd name="T14" fmla="*/ 0 60000 65536"/>
                <a:gd name="T15" fmla="*/ 0 60000 65536"/>
                <a:gd name="T16" fmla="*/ 0 60000 65536"/>
                <a:gd name="T17" fmla="*/ 0 60000 65536"/>
                <a:gd name="T18" fmla="*/ 0 w 58"/>
                <a:gd name="T19" fmla="*/ 0 h 59"/>
                <a:gd name="T20" fmla="*/ 58 w 58"/>
                <a:gd name="T21" fmla="*/ 59 h 59"/>
              </a:gdLst>
              <a:ahLst/>
              <a:cxnLst>
                <a:cxn ang="T12">
                  <a:pos x="T0" y="T1"/>
                </a:cxn>
                <a:cxn ang="T13">
                  <a:pos x="T2" y="T3"/>
                </a:cxn>
                <a:cxn ang="T14">
                  <a:pos x="T4" y="T5"/>
                </a:cxn>
                <a:cxn ang="T15">
                  <a:pos x="T6" y="T7"/>
                </a:cxn>
                <a:cxn ang="T16">
                  <a:pos x="T8" y="T9"/>
                </a:cxn>
                <a:cxn ang="T17">
                  <a:pos x="T10" y="T11"/>
                </a:cxn>
              </a:cxnLst>
              <a:rect l="T18" t="T19" r="T20" b="T21"/>
              <a:pathLst>
                <a:path w="58" h="59">
                  <a:moveTo>
                    <a:pt x="29" y="59"/>
                  </a:moveTo>
                  <a:cubicBezTo>
                    <a:pt x="45" y="59"/>
                    <a:pt x="58" y="46"/>
                    <a:pt x="58" y="30"/>
                  </a:cubicBezTo>
                  <a:cubicBezTo>
                    <a:pt x="58" y="14"/>
                    <a:pt x="45" y="0"/>
                    <a:pt x="29" y="0"/>
                  </a:cubicBezTo>
                  <a:cubicBezTo>
                    <a:pt x="29" y="0"/>
                    <a:pt x="29" y="0"/>
                    <a:pt x="29" y="0"/>
                  </a:cubicBezTo>
                  <a:cubicBezTo>
                    <a:pt x="13" y="0"/>
                    <a:pt x="0" y="14"/>
                    <a:pt x="0" y="30"/>
                  </a:cubicBezTo>
                  <a:cubicBezTo>
                    <a:pt x="0" y="46"/>
                    <a:pt x="13" y="59"/>
                    <a:pt x="29" y="59"/>
                  </a:cubicBezTo>
                </a:path>
              </a:pathLst>
            </a:custGeom>
            <a:solidFill>
              <a:schemeClr val="tx1"/>
            </a:solidFill>
            <a:ln w="0">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66" name="Line 74"/>
            <p:cNvSpPr>
              <a:spLocks noChangeShapeType="1"/>
            </p:cNvSpPr>
            <p:nvPr/>
          </p:nvSpPr>
          <p:spPr bwMode="auto">
            <a:xfrm flipV="1">
              <a:off x="7546394" y="1032156"/>
              <a:ext cx="1403" cy="333145"/>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67" name="Freeform 75"/>
            <p:cNvSpPr>
              <a:spLocks/>
            </p:cNvSpPr>
            <p:nvPr/>
          </p:nvSpPr>
          <p:spPr bwMode="auto">
            <a:xfrm>
              <a:off x="7505716" y="992653"/>
              <a:ext cx="88371" cy="76373"/>
            </a:xfrm>
            <a:custGeom>
              <a:avLst/>
              <a:gdLst>
                <a:gd name="T0" fmla="*/ 41 w 59"/>
                <a:gd name="T1" fmla="*/ 54 h 59"/>
                <a:gd name="T2" fmla="*/ 82 w 59"/>
                <a:gd name="T3" fmla="*/ 29 h 59"/>
                <a:gd name="T4" fmla="*/ 41 w 59"/>
                <a:gd name="T5" fmla="*/ 0 h 59"/>
                <a:gd name="T6" fmla="*/ 41 w 59"/>
                <a:gd name="T7" fmla="*/ 0 h 59"/>
                <a:gd name="T8" fmla="*/ 0 w 59"/>
                <a:gd name="T9" fmla="*/ 29 h 59"/>
                <a:gd name="T10" fmla="*/ 41 w 59"/>
                <a:gd name="T11" fmla="*/ 54 h 59"/>
                <a:gd name="T12" fmla="*/ 0 60000 65536"/>
                <a:gd name="T13" fmla="*/ 0 60000 65536"/>
                <a:gd name="T14" fmla="*/ 0 60000 65536"/>
                <a:gd name="T15" fmla="*/ 0 60000 65536"/>
                <a:gd name="T16" fmla="*/ 0 60000 65536"/>
                <a:gd name="T17" fmla="*/ 0 60000 65536"/>
                <a:gd name="T18" fmla="*/ 0 w 59"/>
                <a:gd name="T19" fmla="*/ 0 h 59"/>
                <a:gd name="T20" fmla="*/ 59 w 59"/>
                <a:gd name="T21" fmla="*/ 59 h 59"/>
              </a:gdLst>
              <a:ahLst/>
              <a:cxnLst>
                <a:cxn ang="T12">
                  <a:pos x="T0" y="T1"/>
                </a:cxn>
                <a:cxn ang="T13">
                  <a:pos x="T2" y="T3"/>
                </a:cxn>
                <a:cxn ang="T14">
                  <a:pos x="T4" y="T5"/>
                </a:cxn>
                <a:cxn ang="T15">
                  <a:pos x="T6" y="T7"/>
                </a:cxn>
                <a:cxn ang="T16">
                  <a:pos x="T8" y="T9"/>
                </a:cxn>
                <a:cxn ang="T17">
                  <a:pos x="T10" y="T11"/>
                </a:cxn>
              </a:cxnLst>
              <a:rect l="T18" t="T19" r="T20" b="T21"/>
              <a:pathLst>
                <a:path w="59" h="59">
                  <a:moveTo>
                    <a:pt x="30" y="59"/>
                  </a:moveTo>
                  <a:cubicBezTo>
                    <a:pt x="46" y="59"/>
                    <a:pt x="59" y="46"/>
                    <a:pt x="59" y="30"/>
                  </a:cubicBezTo>
                  <a:cubicBezTo>
                    <a:pt x="59" y="14"/>
                    <a:pt x="46" y="0"/>
                    <a:pt x="30" y="0"/>
                  </a:cubicBezTo>
                  <a:cubicBezTo>
                    <a:pt x="30" y="0"/>
                    <a:pt x="30" y="0"/>
                    <a:pt x="30" y="0"/>
                  </a:cubicBezTo>
                  <a:cubicBezTo>
                    <a:pt x="14" y="0"/>
                    <a:pt x="0" y="14"/>
                    <a:pt x="0" y="30"/>
                  </a:cubicBezTo>
                  <a:cubicBezTo>
                    <a:pt x="0" y="46"/>
                    <a:pt x="14" y="59"/>
                    <a:pt x="30" y="59"/>
                  </a:cubicBezTo>
                </a:path>
              </a:pathLst>
            </a:custGeom>
            <a:solidFill>
              <a:schemeClr val="tx1"/>
            </a:solidFill>
            <a:ln w="0">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68" name="Line 76"/>
            <p:cNvSpPr>
              <a:spLocks noChangeShapeType="1"/>
            </p:cNvSpPr>
            <p:nvPr/>
          </p:nvSpPr>
          <p:spPr bwMode="auto">
            <a:xfrm flipH="1">
              <a:off x="5432512" y="2373955"/>
              <a:ext cx="287555" cy="1317"/>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70" name="Rectangle 78"/>
            <p:cNvSpPr>
              <a:spLocks noChangeArrowheads="1"/>
            </p:cNvSpPr>
            <p:nvPr/>
          </p:nvSpPr>
          <p:spPr bwMode="auto">
            <a:xfrm>
              <a:off x="8107478" y="2870381"/>
              <a:ext cx="113619" cy="250188"/>
            </a:xfrm>
            <a:prstGeom prst="rect">
              <a:avLst/>
            </a:prstGeom>
            <a:grpFill/>
            <a:ln w="22225" cap="rnd">
              <a:solidFill>
                <a:srgbClr val="000000"/>
              </a:solidFill>
              <a:round/>
              <a:headEnd/>
              <a:tailEnd/>
            </a:ln>
          </p:spPr>
          <p:txBody>
            <a:bodyPr/>
            <a:lstStyle/>
            <a:p>
              <a:endParaRPr lang="zh-CN" altLang="en-US">
                <a:solidFill>
                  <a:srgbClr val="080808"/>
                </a:solidFill>
                <a:latin typeface="Times New Roman" pitchFamily="18" charset="0"/>
                <a:cs typeface="Times New Roman" pitchFamily="18" charset="0"/>
              </a:endParaRPr>
            </a:p>
          </p:txBody>
        </p:sp>
        <p:sp>
          <p:nvSpPr>
            <p:cNvPr id="71" name="Rectangle 79"/>
            <p:cNvSpPr>
              <a:spLocks noChangeArrowheads="1"/>
            </p:cNvSpPr>
            <p:nvPr/>
          </p:nvSpPr>
          <p:spPr bwMode="auto">
            <a:xfrm>
              <a:off x="7852185" y="2937536"/>
              <a:ext cx="228642" cy="252822"/>
            </a:xfrm>
            <a:prstGeom prst="rect">
              <a:avLst/>
            </a:prstGeom>
            <a:grpFill/>
            <a:ln w="9525">
              <a:noFill/>
              <a:miter lim="800000"/>
              <a:headEnd/>
              <a:tailEnd/>
            </a:ln>
          </p:spPr>
          <p:txBody>
            <a:bodyPr wrap="none" lIns="0" tIns="0" rIns="0" bIns="0">
              <a:spAutoFit/>
            </a:bodyPr>
            <a:lstStyle/>
            <a:p>
              <a:r>
                <a:rPr lang="en-US" altLang="zh-CN" b="1" i="1" dirty="0">
                  <a:solidFill>
                    <a:srgbClr val="080808"/>
                  </a:solidFill>
                  <a:latin typeface="Times New Roman" pitchFamily="18" charset="0"/>
                  <a:cs typeface="Times New Roman" pitchFamily="18" charset="0"/>
                </a:rPr>
                <a:t>R</a:t>
              </a:r>
              <a:r>
                <a:rPr lang="en-US" altLang="zh-CN" baseline="-25000" dirty="0">
                  <a:solidFill>
                    <a:srgbClr val="080808"/>
                  </a:solidFill>
                  <a:latin typeface="Times New Roman" pitchFamily="18" charset="0"/>
                  <a:cs typeface="Times New Roman" pitchFamily="18" charset="0"/>
                </a:rPr>
                <a:t>L</a:t>
              </a:r>
              <a:endParaRPr lang="en-US" altLang="zh-CN" sz="2000" baseline="-25000" dirty="0">
                <a:solidFill>
                  <a:srgbClr val="080808"/>
                </a:solidFill>
                <a:latin typeface="Times New Roman" pitchFamily="18" charset="0"/>
                <a:cs typeface="Times New Roman" pitchFamily="18" charset="0"/>
              </a:endParaRPr>
            </a:p>
          </p:txBody>
        </p:sp>
        <p:sp>
          <p:nvSpPr>
            <p:cNvPr id="74" name="Freeform 83"/>
            <p:cNvSpPr>
              <a:spLocks/>
            </p:cNvSpPr>
            <p:nvPr/>
          </p:nvSpPr>
          <p:spPr bwMode="auto">
            <a:xfrm>
              <a:off x="7505716" y="2599124"/>
              <a:ext cx="88371" cy="77690"/>
            </a:xfrm>
            <a:custGeom>
              <a:avLst/>
              <a:gdLst>
                <a:gd name="T0" fmla="*/ 82 w 59"/>
                <a:gd name="T1" fmla="*/ 30 h 59"/>
                <a:gd name="T2" fmla="*/ 41 w 59"/>
                <a:gd name="T3" fmla="*/ 0 h 59"/>
                <a:gd name="T4" fmla="*/ 0 w 59"/>
                <a:gd name="T5" fmla="*/ 30 h 59"/>
                <a:gd name="T6" fmla="*/ 0 w 59"/>
                <a:gd name="T7" fmla="*/ 30 h 59"/>
                <a:gd name="T8" fmla="*/ 41 w 59"/>
                <a:gd name="T9" fmla="*/ 59 h 59"/>
                <a:gd name="T10" fmla="*/ 82 w 59"/>
                <a:gd name="T11" fmla="*/ 30 h 59"/>
                <a:gd name="T12" fmla="*/ 0 60000 65536"/>
                <a:gd name="T13" fmla="*/ 0 60000 65536"/>
                <a:gd name="T14" fmla="*/ 0 60000 65536"/>
                <a:gd name="T15" fmla="*/ 0 60000 65536"/>
                <a:gd name="T16" fmla="*/ 0 60000 65536"/>
                <a:gd name="T17" fmla="*/ 0 60000 65536"/>
                <a:gd name="T18" fmla="*/ 0 w 59"/>
                <a:gd name="T19" fmla="*/ 0 h 59"/>
                <a:gd name="T20" fmla="*/ 59 w 59"/>
                <a:gd name="T21" fmla="*/ 59 h 59"/>
              </a:gdLst>
              <a:ahLst/>
              <a:cxnLst>
                <a:cxn ang="T12">
                  <a:pos x="T0" y="T1"/>
                </a:cxn>
                <a:cxn ang="T13">
                  <a:pos x="T2" y="T3"/>
                </a:cxn>
                <a:cxn ang="T14">
                  <a:pos x="T4" y="T5"/>
                </a:cxn>
                <a:cxn ang="T15">
                  <a:pos x="T6" y="T7"/>
                </a:cxn>
                <a:cxn ang="T16">
                  <a:pos x="T8" y="T9"/>
                </a:cxn>
                <a:cxn ang="T17">
                  <a:pos x="T10" y="T11"/>
                </a:cxn>
              </a:cxnLst>
              <a:rect l="T18" t="T19" r="T20" b="T21"/>
              <a:pathLst>
                <a:path w="59" h="59">
                  <a:moveTo>
                    <a:pt x="59" y="30"/>
                  </a:moveTo>
                  <a:cubicBezTo>
                    <a:pt x="59" y="14"/>
                    <a:pt x="46" y="0"/>
                    <a:pt x="30" y="0"/>
                  </a:cubicBezTo>
                  <a:cubicBezTo>
                    <a:pt x="14" y="0"/>
                    <a:pt x="0" y="14"/>
                    <a:pt x="0" y="30"/>
                  </a:cubicBezTo>
                  <a:cubicBezTo>
                    <a:pt x="0" y="30"/>
                    <a:pt x="0" y="30"/>
                    <a:pt x="0" y="30"/>
                  </a:cubicBezTo>
                  <a:cubicBezTo>
                    <a:pt x="0" y="46"/>
                    <a:pt x="14" y="59"/>
                    <a:pt x="30" y="59"/>
                  </a:cubicBezTo>
                  <a:cubicBezTo>
                    <a:pt x="46" y="59"/>
                    <a:pt x="59" y="46"/>
                    <a:pt x="59" y="30"/>
                  </a:cubicBezTo>
                </a:path>
              </a:pathLst>
            </a:custGeom>
            <a:solidFill>
              <a:schemeClr val="tx1"/>
            </a:solidFill>
            <a:ln w="0">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75" name="Line 84"/>
            <p:cNvSpPr>
              <a:spLocks noChangeShapeType="1"/>
            </p:cNvSpPr>
            <p:nvPr/>
          </p:nvSpPr>
          <p:spPr bwMode="auto">
            <a:xfrm flipH="1">
              <a:off x="8164989" y="3120569"/>
              <a:ext cx="0" cy="351580"/>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76" name="Line 85"/>
            <p:cNvSpPr>
              <a:spLocks noChangeShapeType="1"/>
            </p:cNvSpPr>
            <p:nvPr/>
          </p:nvSpPr>
          <p:spPr bwMode="auto">
            <a:xfrm>
              <a:off x="8071007" y="3472149"/>
              <a:ext cx="190768" cy="0"/>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77" name="Rectangle 86"/>
            <p:cNvSpPr>
              <a:spLocks noChangeArrowheads="1"/>
            </p:cNvSpPr>
            <p:nvPr/>
          </p:nvSpPr>
          <p:spPr bwMode="auto">
            <a:xfrm>
              <a:off x="5231924" y="2217258"/>
              <a:ext cx="176741" cy="252822"/>
            </a:xfrm>
            <a:prstGeom prst="rect">
              <a:avLst/>
            </a:prstGeom>
            <a:grpFill/>
            <a:ln w="9525">
              <a:noFill/>
              <a:miter lim="800000"/>
              <a:headEnd/>
              <a:tailEnd/>
            </a:ln>
          </p:spPr>
          <p:txBody>
            <a:bodyPr wrap="none" lIns="0" tIns="0" rIns="0" bIns="0">
              <a:spAutoFit/>
            </a:bodyPr>
            <a:lstStyle/>
            <a:p>
              <a:r>
                <a:rPr lang="en-US" altLang="zh-CN" b="1" i="1" dirty="0">
                  <a:solidFill>
                    <a:srgbClr val="6600FF"/>
                  </a:solidFill>
                  <a:latin typeface="Times New Roman" pitchFamily="18" charset="0"/>
                  <a:ea typeface="微软雅黑" pitchFamily="34" charset="-122"/>
                  <a:cs typeface="Times New Roman" pitchFamily="18" charset="0"/>
                  <a:sym typeface="Symbol" pitchFamily="18" charset="2"/>
                </a:rPr>
                <a:t></a:t>
              </a:r>
              <a:r>
                <a:rPr lang="en-US" altLang="zh-CN" b="1" baseline="-25000" dirty="0">
                  <a:solidFill>
                    <a:srgbClr val="6600FF"/>
                  </a:solidFill>
                  <a:latin typeface="Times New Roman" pitchFamily="18" charset="0"/>
                  <a:ea typeface="微软雅黑" pitchFamily="34" charset="-122"/>
                  <a:cs typeface="Times New Roman" pitchFamily="18" charset="0"/>
                </a:rPr>
                <a:t>I</a:t>
              </a:r>
              <a:endParaRPr lang="en-US" altLang="zh-CN" sz="2000" dirty="0">
                <a:latin typeface="Times New Roman" pitchFamily="18" charset="0"/>
                <a:cs typeface="Times New Roman" pitchFamily="18" charset="0"/>
              </a:endParaRPr>
            </a:p>
          </p:txBody>
        </p:sp>
        <p:sp>
          <p:nvSpPr>
            <p:cNvPr id="78" name="Rectangle 88"/>
            <p:cNvSpPr>
              <a:spLocks noChangeArrowheads="1"/>
            </p:cNvSpPr>
            <p:nvPr/>
          </p:nvSpPr>
          <p:spPr bwMode="auto">
            <a:xfrm>
              <a:off x="5588213" y="1539117"/>
              <a:ext cx="165520" cy="196200"/>
            </a:xfrm>
            <a:prstGeom prst="rect">
              <a:avLst/>
            </a:prstGeom>
            <a:grpFill/>
            <a:ln w="9525">
              <a:noFill/>
              <a:miter lim="800000"/>
              <a:headEnd/>
              <a:tailEnd/>
            </a:ln>
          </p:spPr>
          <p:txBody>
            <a:bodyPr wrap="none" lIns="0" tIns="0" rIns="0" bIns="0">
              <a:spAutoFit/>
            </a:bodyPr>
            <a:lstStyle/>
            <a:p>
              <a:r>
                <a:rPr lang="en-US" altLang="zh-CN" sz="1400" b="0" dirty="0">
                  <a:solidFill>
                    <a:srgbClr val="080808"/>
                  </a:solidFill>
                  <a:latin typeface="Times New Roman" pitchFamily="18" charset="0"/>
                  <a:cs typeface="Times New Roman" pitchFamily="18" charset="0"/>
                </a:rPr>
                <a:t>4k</a:t>
              </a:r>
              <a:endParaRPr lang="en-US" altLang="zh-CN" sz="2000" dirty="0">
                <a:solidFill>
                  <a:srgbClr val="080808"/>
                </a:solidFill>
                <a:latin typeface="Times New Roman" pitchFamily="18" charset="0"/>
                <a:cs typeface="Times New Roman" pitchFamily="18" charset="0"/>
              </a:endParaRPr>
            </a:p>
          </p:txBody>
        </p:sp>
        <p:sp>
          <p:nvSpPr>
            <p:cNvPr id="79" name="Rectangle 89"/>
            <p:cNvSpPr>
              <a:spLocks noChangeArrowheads="1"/>
            </p:cNvSpPr>
            <p:nvPr/>
          </p:nvSpPr>
          <p:spPr bwMode="auto">
            <a:xfrm>
              <a:off x="6666896" y="1398221"/>
              <a:ext cx="287555" cy="194883"/>
            </a:xfrm>
            <a:prstGeom prst="rect">
              <a:avLst/>
            </a:prstGeom>
            <a:grpFill/>
            <a:ln w="9525">
              <a:noFill/>
              <a:miter lim="800000"/>
              <a:headEnd/>
              <a:tailEnd/>
            </a:ln>
          </p:spPr>
          <p:txBody>
            <a:bodyPr wrap="none" lIns="0" tIns="0" rIns="0" bIns="0">
              <a:spAutoFit/>
            </a:bodyPr>
            <a:lstStyle/>
            <a:p>
              <a:r>
                <a:rPr lang="en-US" altLang="zh-CN" sz="1400" b="0" dirty="0">
                  <a:solidFill>
                    <a:srgbClr val="080808"/>
                  </a:solidFill>
                  <a:latin typeface="Times New Roman" pitchFamily="18" charset="0"/>
                  <a:cs typeface="Times New Roman" pitchFamily="18" charset="0"/>
                </a:rPr>
                <a:t>1.6k</a:t>
              </a:r>
              <a:endParaRPr lang="en-US" altLang="zh-CN" sz="2000" dirty="0">
                <a:solidFill>
                  <a:srgbClr val="080808"/>
                </a:solidFill>
                <a:latin typeface="Times New Roman" pitchFamily="18" charset="0"/>
                <a:cs typeface="Times New Roman" pitchFamily="18" charset="0"/>
              </a:endParaRPr>
            </a:p>
          </p:txBody>
        </p:sp>
        <p:sp>
          <p:nvSpPr>
            <p:cNvPr id="80" name="Rectangle 90"/>
            <p:cNvSpPr>
              <a:spLocks noChangeArrowheads="1"/>
            </p:cNvSpPr>
            <p:nvPr/>
          </p:nvSpPr>
          <p:spPr bwMode="auto">
            <a:xfrm>
              <a:off x="7667027" y="1395588"/>
              <a:ext cx="248279" cy="196200"/>
            </a:xfrm>
            <a:prstGeom prst="rect">
              <a:avLst/>
            </a:prstGeom>
            <a:grpFill/>
            <a:ln w="9525">
              <a:noFill/>
              <a:miter lim="800000"/>
              <a:headEnd/>
              <a:tailEnd/>
            </a:ln>
          </p:spPr>
          <p:txBody>
            <a:bodyPr wrap="none" lIns="0" tIns="0" rIns="0" bIns="0">
              <a:spAutoFit/>
            </a:bodyPr>
            <a:lstStyle/>
            <a:p>
              <a:r>
                <a:rPr lang="en-US" altLang="zh-CN" sz="1400" b="0" dirty="0">
                  <a:solidFill>
                    <a:srgbClr val="080808"/>
                  </a:solidFill>
                  <a:latin typeface="Times New Roman" pitchFamily="18" charset="0"/>
                  <a:cs typeface="Times New Roman" pitchFamily="18" charset="0"/>
                </a:rPr>
                <a:t>130</a:t>
              </a:r>
              <a:endParaRPr lang="en-US" altLang="zh-CN" sz="2000" dirty="0">
                <a:solidFill>
                  <a:srgbClr val="080808"/>
                </a:solidFill>
                <a:latin typeface="Times New Roman" pitchFamily="18" charset="0"/>
                <a:cs typeface="Times New Roman" pitchFamily="18" charset="0"/>
              </a:endParaRPr>
            </a:p>
          </p:txBody>
        </p:sp>
        <p:sp>
          <p:nvSpPr>
            <p:cNvPr id="81" name="Rectangle 91"/>
            <p:cNvSpPr>
              <a:spLocks noChangeArrowheads="1"/>
            </p:cNvSpPr>
            <p:nvPr/>
          </p:nvSpPr>
          <p:spPr bwMode="auto">
            <a:xfrm>
              <a:off x="7829741" y="1046641"/>
              <a:ext cx="141674" cy="252822"/>
            </a:xfrm>
            <a:prstGeom prst="rect">
              <a:avLst/>
            </a:prstGeom>
            <a:grpFill/>
            <a:ln w="9525">
              <a:noFill/>
              <a:miter lim="800000"/>
              <a:headEnd/>
              <a:tailEnd/>
            </a:ln>
          </p:spPr>
          <p:txBody>
            <a:bodyPr wrap="none" lIns="0" tIns="0" rIns="0" bIns="0">
              <a:spAutoFit/>
            </a:bodyPr>
            <a:lstStyle/>
            <a:p>
              <a:r>
                <a:rPr lang="en-US" altLang="zh-CN" sz="1800" b="1" i="1" dirty="0">
                  <a:solidFill>
                    <a:srgbClr val="080808"/>
                  </a:solidFill>
                  <a:latin typeface="Times New Roman" pitchFamily="18" charset="0"/>
                  <a:cs typeface="Times New Roman" pitchFamily="18" charset="0"/>
                </a:rPr>
                <a:t>V</a:t>
              </a:r>
              <a:endParaRPr lang="en-US" altLang="zh-CN" sz="2000" b="1" dirty="0">
                <a:solidFill>
                  <a:srgbClr val="080808"/>
                </a:solidFill>
                <a:latin typeface="Times New Roman" pitchFamily="18" charset="0"/>
                <a:cs typeface="Times New Roman" pitchFamily="18" charset="0"/>
              </a:endParaRPr>
            </a:p>
          </p:txBody>
        </p:sp>
        <p:sp>
          <p:nvSpPr>
            <p:cNvPr id="82" name="Rectangle 92"/>
            <p:cNvSpPr>
              <a:spLocks noChangeArrowheads="1"/>
            </p:cNvSpPr>
            <p:nvPr/>
          </p:nvSpPr>
          <p:spPr bwMode="auto">
            <a:xfrm>
              <a:off x="7972818" y="1173052"/>
              <a:ext cx="187963" cy="167231"/>
            </a:xfrm>
            <a:prstGeom prst="rect">
              <a:avLst/>
            </a:prstGeom>
            <a:grpFill/>
            <a:ln w="9525">
              <a:noFill/>
              <a:miter lim="800000"/>
              <a:headEnd/>
              <a:tailEnd/>
            </a:ln>
          </p:spPr>
          <p:txBody>
            <a:bodyPr wrap="none" lIns="0" tIns="0" rIns="0" bIns="0">
              <a:spAutoFit/>
            </a:bodyPr>
            <a:lstStyle/>
            <a:p>
              <a:r>
                <a:rPr lang="en-US" altLang="zh-CN" sz="1200" b="0" dirty="0">
                  <a:solidFill>
                    <a:srgbClr val="080808"/>
                  </a:solidFill>
                  <a:latin typeface="Times New Roman" pitchFamily="18" charset="0"/>
                  <a:cs typeface="Times New Roman" pitchFamily="18" charset="0"/>
                </a:rPr>
                <a:t>CC</a:t>
              </a:r>
              <a:endParaRPr lang="en-US" altLang="zh-CN" sz="2000" dirty="0">
                <a:solidFill>
                  <a:srgbClr val="080808"/>
                </a:solidFill>
                <a:latin typeface="Times New Roman" pitchFamily="18" charset="0"/>
                <a:cs typeface="Times New Roman" pitchFamily="18" charset="0"/>
              </a:endParaRPr>
            </a:p>
          </p:txBody>
        </p:sp>
        <p:sp>
          <p:nvSpPr>
            <p:cNvPr id="83" name="Rectangle 93"/>
            <p:cNvSpPr>
              <a:spLocks noChangeArrowheads="1"/>
            </p:cNvSpPr>
            <p:nvPr/>
          </p:nvSpPr>
          <p:spPr bwMode="auto">
            <a:xfrm>
              <a:off x="8163586" y="1046641"/>
              <a:ext cx="401175" cy="252822"/>
            </a:xfrm>
            <a:prstGeom prst="rect">
              <a:avLst/>
            </a:prstGeom>
            <a:grpFill/>
            <a:ln w="9525">
              <a:noFill/>
              <a:miter lim="800000"/>
              <a:headEnd/>
              <a:tailEnd/>
            </a:ln>
          </p:spPr>
          <p:txBody>
            <a:bodyPr wrap="none" lIns="0" tIns="0" rIns="0" bIns="0">
              <a:spAutoFit/>
            </a:bodyPr>
            <a:lstStyle/>
            <a:p>
              <a:r>
                <a:rPr lang="en-US" altLang="zh-CN" sz="1800" b="0">
                  <a:solidFill>
                    <a:srgbClr val="080808"/>
                  </a:solidFill>
                  <a:latin typeface="Times New Roman" pitchFamily="18" charset="0"/>
                  <a:cs typeface="Times New Roman" pitchFamily="18" charset="0"/>
                </a:rPr>
                <a:t>(5V)</a:t>
              </a:r>
              <a:endParaRPr lang="en-US" altLang="zh-CN" sz="2000">
                <a:solidFill>
                  <a:srgbClr val="080808"/>
                </a:solidFill>
                <a:latin typeface="Times New Roman" pitchFamily="18" charset="0"/>
                <a:cs typeface="Times New Roman" pitchFamily="18" charset="0"/>
              </a:endParaRPr>
            </a:p>
          </p:txBody>
        </p:sp>
        <p:sp>
          <p:nvSpPr>
            <p:cNvPr id="84" name="Rectangle 94"/>
            <p:cNvSpPr>
              <a:spLocks noChangeArrowheads="1"/>
            </p:cNvSpPr>
            <p:nvPr/>
          </p:nvSpPr>
          <p:spPr bwMode="auto">
            <a:xfrm>
              <a:off x="6692145" y="3277266"/>
              <a:ext cx="164117" cy="194883"/>
            </a:xfrm>
            <a:prstGeom prst="rect">
              <a:avLst/>
            </a:prstGeom>
            <a:grpFill/>
            <a:ln w="9525">
              <a:noFill/>
              <a:miter lim="800000"/>
              <a:headEnd/>
              <a:tailEnd/>
            </a:ln>
          </p:spPr>
          <p:txBody>
            <a:bodyPr wrap="none" lIns="0" tIns="0" rIns="0" bIns="0">
              <a:spAutoFit/>
            </a:bodyPr>
            <a:lstStyle/>
            <a:p>
              <a:r>
                <a:rPr lang="en-US" altLang="zh-CN" sz="1400" b="0" dirty="0">
                  <a:solidFill>
                    <a:srgbClr val="080808"/>
                  </a:solidFill>
                  <a:latin typeface="Times New Roman" pitchFamily="18" charset="0"/>
                  <a:cs typeface="Times New Roman" pitchFamily="18" charset="0"/>
                </a:rPr>
                <a:t>1k</a:t>
              </a:r>
              <a:endParaRPr lang="en-US" altLang="zh-CN" sz="2000" dirty="0">
                <a:solidFill>
                  <a:srgbClr val="080808"/>
                </a:solidFill>
                <a:latin typeface="Times New Roman" pitchFamily="18" charset="0"/>
                <a:cs typeface="Times New Roman" pitchFamily="18" charset="0"/>
              </a:endParaRPr>
            </a:p>
          </p:txBody>
        </p:sp>
        <p:sp>
          <p:nvSpPr>
            <p:cNvPr id="90" name="Rectangle 105"/>
            <p:cNvSpPr>
              <a:spLocks noChangeArrowheads="1"/>
            </p:cNvSpPr>
            <p:nvPr/>
          </p:nvSpPr>
          <p:spPr bwMode="auto">
            <a:xfrm>
              <a:off x="8121505" y="2252811"/>
              <a:ext cx="0" cy="246238"/>
            </a:xfrm>
            <a:prstGeom prst="rect">
              <a:avLst/>
            </a:prstGeom>
            <a:grpFill/>
            <a:ln w="9525">
              <a:noFill/>
              <a:miter lim="800000"/>
              <a:headEnd/>
              <a:tailEnd/>
            </a:ln>
          </p:spPr>
          <p:txBody>
            <a:bodyPr wrap="none" lIns="0" tIns="0" rIns="0" bIns="0">
              <a:spAutoFit/>
            </a:bodyPr>
            <a:lstStyle/>
            <a:p>
              <a:endParaRPr lang="zh-CN" altLang="en-US" sz="1600" dirty="0">
                <a:solidFill>
                  <a:srgbClr val="080808"/>
                </a:solidFill>
                <a:latin typeface="方正粗黑宋简体" pitchFamily="2" charset="-122"/>
                <a:ea typeface="方正粗黑宋简体" pitchFamily="2" charset="-122"/>
                <a:cs typeface="Times New Roman" pitchFamily="18" charset="0"/>
              </a:endParaRPr>
            </a:p>
          </p:txBody>
        </p:sp>
        <p:sp>
          <p:nvSpPr>
            <p:cNvPr id="38" name="Rectangle 43"/>
            <p:cNvSpPr>
              <a:spLocks noChangeArrowheads="1"/>
            </p:cNvSpPr>
            <p:nvPr/>
          </p:nvSpPr>
          <p:spPr bwMode="auto">
            <a:xfrm>
              <a:off x="7488883" y="1365302"/>
              <a:ext cx="113619" cy="251505"/>
            </a:xfrm>
            <a:prstGeom prst="rect">
              <a:avLst/>
            </a:prstGeom>
            <a:grpFill/>
            <a:ln w="22225" cap="rnd">
              <a:solidFill>
                <a:srgbClr val="000000"/>
              </a:solidFill>
              <a:round/>
              <a:headEnd/>
              <a:tailEnd/>
            </a:ln>
          </p:spPr>
          <p:txBody>
            <a:bodyPr/>
            <a:lstStyle/>
            <a:p>
              <a:endParaRPr lang="zh-CN" altLang="en-US">
                <a:solidFill>
                  <a:srgbClr val="080808"/>
                </a:solidFill>
                <a:latin typeface="Times New Roman" pitchFamily="18" charset="0"/>
                <a:cs typeface="Times New Roman" pitchFamily="18" charset="0"/>
              </a:endParaRPr>
            </a:p>
          </p:txBody>
        </p:sp>
        <p:sp>
          <p:nvSpPr>
            <p:cNvPr id="91" name="Line 54"/>
            <p:cNvSpPr>
              <a:spLocks noChangeShapeType="1"/>
            </p:cNvSpPr>
            <p:nvPr/>
          </p:nvSpPr>
          <p:spPr bwMode="auto">
            <a:xfrm>
              <a:off x="7547693" y="2447733"/>
              <a:ext cx="1403" cy="360000"/>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92" name="Line 54"/>
            <p:cNvSpPr>
              <a:spLocks noChangeShapeType="1"/>
            </p:cNvSpPr>
            <p:nvPr/>
          </p:nvSpPr>
          <p:spPr bwMode="auto">
            <a:xfrm flipH="1">
              <a:off x="7546714" y="2643188"/>
              <a:ext cx="612000" cy="0"/>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93" name="Line 84"/>
            <p:cNvSpPr>
              <a:spLocks noChangeShapeType="1"/>
            </p:cNvSpPr>
            <p:nvPr/>
          </p:nvSpPr>
          <p:spPr bwMode="auto">
            <a:xfrm flipH="1">
              <a:off x="8159831" y="2644304"/>
              <a:ext cx="0" cy="216000"/>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95" name="Line 69"/>
            <p:cNvSpPr>
              <a:spLocks noChangeShapeType="1"/>
            </p:cNvSpPr>
            <p:nvPr/>
          </p:nvSpPr>
          <p:spPr bwMode="auto">
            <a:xfrm>
              <a:off x="6041964" y="2373175"/>
              <a:ext cx="285018" cy="0"/>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grpSp>
      <p:sp>
        <p:nvSpPr>
          <p:cNvPr id="97" name="Rectangle 104"/>
          <p:cNvSpPr>
            <a:spLocks noChangeArrowheads="1"/>
          </p:cNvSpPr>
          <p:nvPr/>
        </p:nvSpPr>
        <p:spPr bwMode="auto">
          <a:xfrm>
            <a:off x="282575" y="2436620"/>
            <a:ext cx="3493264" cy="338554"/>
          </a:xfrm>
          <a:prstGeom prst="rect">
            <a:avLst/>
          </a:prstGeom>
          <a:noFill/>
          <a:ln>
            <a:noFill/>
          </a:ln>
          <a:effectLst/>
        </p:spPr>
        <p:txBody>
          <a:bodyPr wrap="none" anchor="ctr">
            <a:spAutoFit/>
          </a:bodyPr>
          <a:lstStyle>
            <a:lvl1pPr eaLnBrk="0" hangingPunct="0">
              <a:defRPr sz="2000" b="1">
                <a:solidFill>
                  <a:schemeClr val="accent2"/>
                </a:solidFill>
                <a:latin typeface="Times New Roman" pitchFamily="18" charset="0"/>
                <a:ea typeface="宋体" charset="-122"/>
              </a:defRPr>
            </a:lvl1pPr>
            <a:lvl2pPr marL="742950" indent="-285750" eaLnBrk="0" hangingPunct="0">
              <a:defRPr sz="2000" b="1">
                <a:solidFill>
                  <a:schemeClr val="accent2"/>
                </a:solidFill>
                <a:latin typeface="Times New Roman" pitchFamily="18" charset="0"/>
                <a:ea typeface="宋体" charset="-122"/>
              </a:defRPr>
            </a:lvl2pPr>
            <a:lvl3pPr marL="1143000" indent="-228600" eaLnBrk="0" hangingPunct="0">
              <a:defRPr sz="2000" b="1">
                <a:solidFill>
                  <a:schemeClr val="accent2"/>
                </a:solidFill>
                <a:latin typeface="Times New Roman" pitchFamily="18" charset="0"/>
                <a:ea typeface="宋体" charset="-122"/>
              </a:defRPr>
            </a:lvl3pPr>
            <a:lvl4pPr marL="1600200" indent="-228600" eaLnBrk="0" hangingPunct="0">
              <a:defRPr sz="2000" b="1">
                <a:solidFill>
                  <a:schemeClr val="accent2"/>
                </a:solidFill>
                <a:latin typeface="Times New Roman" pitchFamily="18" charset="0"/>
                <a:ea typeface="宋体" charset="-122"/>
              </a:defRPr>
            </a:lvl4pPr>
            <a:lvl5pPr marL="2057400" indent="-228600" eaLnBrk="0" hangingPunct="0">
              <a:defRPr sz="2000" b="1">
                <a:solidFill>
                  <a:schemeClr val="accent2"/>
                </a:solidFill>
                <a:latin typeface="Times New Roman" pitchFamily="18" charset="0"/>
                <a:ea typeface="宋体" charset="-122"/>
              </a:defRPr>
            </a:lvl5pPr>
            <a:lvl6pPr marL="25146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6pPr>
            <a:lvl7pPr marL="29718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7pPr>
            <a:lvl8pPr marL="34290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8pPr>
            <a:lvl9pPr marL="38862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9pPr>
          </a:lstStyle>
          <a:p>
            <a:pPr algn="l">
              <a:spcBef>
                <a:spcPct val="0"/>
              </a:spcBef>
              <a:buFont typeface="Wingdings" pitchFamily="2" charset="2"/>
              <a:buChar char="Ø"/>
            </a:pPr>
            <a:r>
              <a:rPr lang="zh-CN" altLang="en-US" sz="1600" dirty="0">
                <a:solidFill>
                  <a:srgbClr val="6600FF"/>
                </a:solidFill>
                <a:latin typeface="方正粗黑宋简体" pitchFamily="2" charset="-122"/>
                <a:ea typeface="方正粗黑宋简体" pitchFamily="2" charset="-122"/>
              </a:rPr>
              <a:t> 输入为低电平</a:t>
            </a:r>
            <a:r>
              <a:rPr lang="en-US" altLang="zh-CN" sz="1600" dirty="0">
                <a:solidFill>
                  <a:srgbClr val="6600FF"/>
                </a:solidFill>
                <a:latin typeface="方正粗黑宋简体" pitchFamily="2" charset="-122"/>
                <a:ea typeface="方正粗黑宋简体" pitchFamily="2" charset="-122"/>
              </a:rPr>
              <a:t>“0”</a:t>
            </a:r>
            <a:r>
              <a:rPr lang="zh-CN" altLang="en-US" sz="1600" dirty="0">
                <a:solidFill>
                  <a:srgbClr val="6600FF"/>
                </a:solidFill>
                <a:latin typeface="方正粗黑宋简体" pitchFamily="2" charset="-122"/>
                <a:ea typeface="方正粗黑宋简体" pitchFamily="2" charset="-122"/>
              </a:rPr>
              <a:t>时（约</a:t>
            </a:r>
            <a:r>
              <a:rPr lang="en-US" altLang="zh-CN" sz="1600" dirty="0">
                <a:solidFill>
                  <a:srgbClr val="6600FF"/>
                </a:solidFill>
                <a:latin typeface="方正粗黑宋简体" pitchFamily="2" charset="-122"/>
                <a:ea typeface="方正粗黑宋简体" pitchFamily="2" charset="-122"/>
              </a:rPr>
              <a:t>0.2V</a:t>
            </a:r>
            <a:r>
              <a:rPr lang="zh-CN" altLang="en-US" sz="1600" dirty="0">
                <a:solidFill>
                  <a:srgbClr val="6600FF"/>
                </a:solidFill>
                <a:latin typeface="方正粗黑宋简体" pitchFamily="2" charset="-122"/>
                <a:ea typeface="方正粗黑宋简体" pitchFamily="2" charset="-122"/>
              </a:rPr>
              <a:t>） </a:t>
            </a:r>
          </a:p>
        </p:txBody>
      </p:sp>
      <p:sp>
        <p:nvSpPr>
          <p:cNvPr id="99" name="Rectangle 109"/>
          <p:cNvSpPr>
            <a:spLocks noChangeArrowheads="1"/>
          </p:cNvSpPr>
          <p:nvPr/>
        </p:nvSpPr>
        <p:spPr bwMode="auto">
          <a:xfrm>
            <a:off x="1301630" y="4389935"/>
            <a:ext cx="6513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eaLnBrk="0" hangingPunct="0">
              <a:spcBef>
                <a:spcPct val="0"/>
              </a:spcBef>
              <a:defRPr/>
            </a:pPr>
            <a:r>
              <a:rPr lang="zh-CN" altLang="en-US" b="1" dirty="0">
                <a:solidFill>
                  <a:srgbClr val="2D2D8A"/>
                </a:solidFill>
                <a:latin typeface="黑体" pitchFamily="49" charset="-122"/>
                <a:ea typeface="黑体" pitchFamily="49" charset="-122"/>
              </a:rPr>
              <a:t>实现反相器的逻辑功能之一</a:t>
            </a:r>
            <a:r>
              <a:rPr lang="zh-CN" altLang="en-US" b="1" dirty="0">
                <a:solidFill>
                  <a:srgbClr val="2D2D8A"/>
                </a:solidFill>
                <a:latin typeface="方正粗黑宋简体" pitchFamily="2" charset="-122"/>
                <a:ea typeface="方正粗黑宋简体" pitchFamily="2" charset="-122"/>
              </a:rPr>
              <a:t>：</a:t>
            </a:r>
            <a:r>
              <a:rPr lang="zh-CN" altLang="en-US" b="1" u="sng" dirty="0">
                <a:solidFill>
                  <a:srgbClr val="C00000"/>
                </a:solidFill>
                <a:latin typeface="方正粗黑宋简体" pitchFamily="2" charset="-122"/>
                <a:ea typeface="方正粗黑宋简体" pitchFamily="2" charset="-122"/>
              </a:rPr>
              <a:t>输入为低电平，输出为高电平。</a:t>
            </a:r>
            <a:r>
              <a:rPr lang="zh-CN" altLang="en-US" dirty="0">
                <a:solidFill>
                  <a:srgbClr val="2D2D8A"/>
                </a:solidFill>
                <a:ea typeface="楷体_GB2312" pitchFamily="49" charset="-122"/>
              </a:rPr>
              <a:t> </a:t>
            </a:r>
          </a:p>
        </p:txBody>
      </p:sp>
      <p:sp>
        <p:nvSpPr>
          <p:cNvPr id="18" name="矩形: 圆角 17">
            <a:extLst>
              <a:ext uri="{FF2B5EF4-FFF2-40B4-BE49-F238E27FC236}">
                <a16:creationId xmlns:a16="http://schemas.microsoft.com/office/drawing/2014/main" id="{24F99CFB-5AEA-4EF9-948D-F7952855121D}"/>
              </a:ext>
            </a:extLst>
          </p:cNvPr>
          <p:cNvSpPr/>
          <p:nvPr/>
        </p:nvSpPr>
        <p:spPr>
          <a:xfrm>
            <a:off x="381720" y="1655112"/>
            <a:ext cx="4756771" cy="646577"/>
          </a:xfrm>
          <a:prstGeom prst="roundRect">
            <a:avLst>
              <a:gd name="adj" fmla="val 70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4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假设条件</a:t>
            </a:r>
            <a:endParaRPr lang="en-US" altLang="zh-CN" sz="14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pPr algn="ctr">
              <a:lnSpc>
                <a:spcPct val="150000"/>
              </a:lnSpc>
            </a:pPr>
            <a:r>
              <a:rPr kumimoji="0" lang="en-US" altLang="zh-CN" sz="1400" b="1" i="1"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V</a:t>
            </a:r>
            <a:r>
              <a:rPr kumimoji="0" lang="en-US" altLang="zh-CN" sz="1400" b="1" i="0" u="none" strike="noStrike" cap="none" normalizeH="0" baseline="-2500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IH</a:t>
            </a:r>
            <a:r>
              <a:rPr kumimoji="0" lang="en-US" altLang="zh-CN" sz="14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=3.6V</a:t>
            </a:r>
            <a:r>
              <a:rPr lang="zh-CN" altLang="en-US" sz="14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400" b="1" i="1"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 V</a:t>
            </a:r>
            <a:r>
              <a:rPr kumimoji="0" lang="en-US" altLang="zh-CN" sz="1400" b="1" i="0" u="none" strike="noStrike" cap="none" normalizeH="0" baseline="-2500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IL </a:t>
            </a:r>
            <a:r>
              <a:rPr kumimoji="0" lang="en-US" altLang="zh-CN" sz="1400" b="1" i="0" u="none" strike="noStrike" cap="none" normalizeH="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4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0.2V</a:t>
            </a:r>
            <a:r>
              <a:rPr kumimoji="0" lang="zh-CN" altLang="en-US" sz="14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400" b="1" i="1"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V</a:t>
            </a:r>
            <a:r>
              <a:rPr kumimoji="0" lang="en-US" altLang="zh-CN" sz="1400" b="1" i="0" u="none" strike="noStrike" cap="none" normalizeH="0" baseline="-2500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0" lang="en-US" altLang="zh-CN" sz="14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=0.7V</a:t>
            </a:r>
            <a:r>
              <a:rPr kumimoji="0" lang="zh-CN" altLang="en-US" sz="14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400" b="1" i="1"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 V</a:t>
            </a:r>
            <a:r>
              <a:rPr kumimoji="0" lang="en-US" altLang="zh-CN" sz="1400" b="1" i="0" u="none" strike="noStrike" cap="none" normalizeH="0" baseline="-2500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th </a:t>
            </a:r>
            <a:r>
              <a:rPr kumimoji="0" lang="en-US" altLang="zh-CN" sz="1400" b="1" i="0" u="none" strike="noStrike" cap="none" normalizeH="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4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0.7V</a:t>
            </a:r>
            <a:r>
              <a:rPr kumimoji="0" lang="zh-CN" altLang="en-US" sz="14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400" b="1" i="1"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 V</a:t>
            </a:r>
            <a:r>
              <a:rPr kumimoji="0" lang="en-US" altLang="zh-CN" sz="1400" b="1" u="none" strike="noStrike" cap="none" normalizeH="0" baseline="-2500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CES</a:t>
            </a:r>
            <a:r>
              <a:rPr kumimoji="0" lang="en-US" altLang="zh-CN" sz="1400" b="1" i="0" u="none" strike="noStrike" cap="none" normalizeH="0" baseline="-2500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400" b="1" i="0" u="none" strike="noStrike" cap="none" normalizeH="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4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0.2V</a:t>
            </a:r>
            <a:endParaRPr lang="zh-CN" altLang="en-US" sz="1400" b="1" dirty="0">
              <a:solidFill>
                <a:schemeClr val="bg1"/>
              </a:solidFill>
            </a:endParaRPr>
          </a:p>
        </p:txBody>
      </p:sp>
      <p:sp>
        <p:nvSpPr>
          <p:cNvPr id="94" name="Rectangle 105">
            <a:extLst>
              <a:ext uri="{FF2B5EF4-FFF2-40B4-BE49-F238E27FC236}">
                <a16:creationId xmlns:a16="http://schemas.microsoft.com/office/drawing/2014/main" id="{D4905EBA-7797-4881-B90F-2E27CC3C5A5D}"/>
              </a:ext>
            </a:extLst>
          </p:cNvPr>
          <p:cNvSpPr>
            <a:spLocks noChangeArrowheads="1"/>
          </p:cNvSpPr>
          <p:nvPr/>
        </p:nvSpPr>
        <p:spPr bwMode="auto">
          <a:xfrm>
            <a:off x="444464" y="2841027"/>
            <a:ext cx="4643995" cy="60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t">
            <a:spAutoFit/>
          </a:bodyPr>
          <a:lstStyle>
            <a:lvl1pPr eaLnBrk="0" hangingPunct="0">
              <a:defRPr sz="2000" b="1">
                <a:solidFill>
                  <a:schemeClr val="accent2"/>
                </a:solidFill>
                <a:latin typeface="Times New Roman" pitchFamily="18" charset="0"/>
                <a:ea typeface="宋体" charset="-122"/>
              </a:defRPr>
            </a:lvl1pPr>
            <a:lvl2pPr marL="742950" indent="-285750" eaLnBrk="0" hangingPunct="0">
              <a:defRPr sz="2000" b="1">
                <a:solidFill>
                  <a:schemeClr val="accent2"/>
                </a:solidFill>
                <a:latin typeface="Times New Roman" pitchFamily="18" charset="0"/>
                <a:ea typeface="宋体" charset="-122"/>
              </a:defRPr>
            </a:lvl2pPr>
            <a:lvl3pPr marL="1143000" indent="-228600" eaLnBrk="0" hangingPunct="0">
              <a:defRPr sz="2000" b="1">
                <a:solidFill>
                  <a:schemeClr val="accent2"/>
                </a:solidFill>
                <a:latin typeface="Times New Roman" pitchFamily="18" charset="0"/>
                <a:ea typeface="宋体" charset="-122"/>
              </a:defRPr>
            </a:lvl3pPr>
            <a:lvl4pPr marL="1600200" indent="-228600" eaLnBrk="0" hangingPunct="0">
              <a:defRPr sz="2000" b="1">
                <a:solidFill>
                  <a:schemeClr val="accent2"/>
                </a:solidFill>
                <a:latin typeface="Times New Roman" pitchFamily="18" charset="0"/>
                <a:ea typeface="宋体" charset="-122"/>
              </a:defRPr>
            </a:lvl4pPr>
            <a:lvl5pPr marL="2057400" indent="-228600" eaLnBrk="0" hangingPunct="0">
              <a:defRPr sz="2000" b="1">
                <a:solidFill>
                  <a:schemeClr val="accent2"/>
                </a:solidFill>
                <a:latin typeface="Times New Roman" pitchFamily="18" charset="0"/>
                <a:ea typeface="宋体" charset="-122"/>
              </a:defRPr>
            </a:lvl5pPr>
            <a:lvl6pPr marL="25146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6pPr>
            <a:lvl7pPr marL="29718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7pPr>
            <a:lvl8pPr marL="34290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8pPr>
            <a:lvl9pPr marL="38862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9pPr>
          </a:lstStyle>
          <a:p>
            <a:pPr marL="342900" indent="-342900" eaLnBrk="1" hangingPunct="1">
              <a:lnSpc>
                <a:spcPct val="125000"/>
              </a:lnSpc>
              <a:spcBef>
                <a:spcPct val="0"/>
              </a:spcBef>
              <a:buFont typeface="Wingdings" panose="05000000000000000000" pitchFamily="2" charset="2"/>
              <a:buChar char="u"/>
            </a:pPr>
            <a:r>
              <a:rPr lang="en-US" altLang="zh-CN" sz="1400" b="0" i="1" dirty="0">
                <a:solidFill>
                  <a:schemeClr val="tx1"/>
                </a:solidFill>
                <a:ea typeface="黑体" pitchFamily="49" charset="-122"/>
                <a:cs typeface="Times New Roman" pitchFamily="18" charset="0"/>
              </a:rPr>
              <a:t>T</a:t>
            </a:r>
            <a:r>
              <a:rPr lang="en-US" altLang="zh-CN" sz="1400" b="0" baseline="-25000" dirty="0">
                <a:solidFill>
                  <a:schemeClr val="tx1"/>
                </a:solidFill>
                <a:ea typeface="黑体" pitchFamily="49" charset="-122"/>
                <a:cs typeface="Times New Roman" pitchFamily="18" charset="0"/>
              </a:rPr>
              <a:t>1 </a:t>
            </a:r>
            <a:r>
              <a:rPr lang="zh-CN" altLang="en-US" sz="1400" b="0" dirty="0">
                <a:solidFill>
                  <a:schemeClr val="tx1"/>
                </a:solidFill>
                <a:ea typeface="黑体" pitchFamily="49" charset="-122"/>
                <a:cs typeface="Times New Roman" pitchFamily="18" charset="0"/>
              </a:rPr>
              <a:t>导通，</a:t>
            </a:r>
            <a:r>
              <a:rPr lang="en-US" altLang="zh-CN" sz="1400" b="0" i="1" dirty="0">
                <a:solidFill>
                  <a:schemeClr val="tx1"/>
                </a:solidFill>
                <a:ea typeface="黑体" pitchFamily="49" charset="-122"/>
                <a:cs typeface="Times New Roman" pitchFamily="18" charset="0"/>
              </a:rPr>
              <a:t>V</a:t>
            </a:r>
            <a:r>
              <a:rPr lang="en-US" altLang="zh-CN" sz="1400" b="0" baseline="-25000" dirty="0">
                <a:solidFill>
                  <a:schemeClr val="tx1"/>
                </a:solidFill>
                <a:ea typeface="黑体" pitchFamily="49" charset="-122"/>
                <a:cs typeface="Times New Roman" pitchFamily="18" charset="0"/>
              </a:rPr>
              <a:t>B1</a:t>
            </a:r>
            <a:r>
              <a:rPr lang="en-US" altLang="zh-CN" sz="1400" b="0" dirty="0">
                <a:solidFill>
                  <a:schemeClr val="tx1"/>
                </a:solidFill>
                <a:ea typeface="黑体" pitchFamily="49" charset="-122"/>
                <a:cs typeface="Times New Roman" pitchFamily="18" charset="0"/>
              </a:rPr>
              <a:t>=0.9V</a:t>
            </a:r>
            <a:r>
              <a:rPr lang="zh-CN" altLang="en-US" sz="1400" b="0" dirty="0">
                <a:solidFill>
                  <a:schemeClr val="tx1"/>
                </a:solidFill>
                <a:ea typeface="黑体" pitchFamily="49" charset="-122"/>
                <a:cs typeface="Times New Roman" pitchFamily="18" charset="0"/>
              </a:rPr>
              <a:t>，</a:t>
            </a:r>
            <a:r>
              <a:rPr lang="zh-CN" altLang="zh-CN" sz="1400" b="0" dirty="0">
                <a:solidFill>
                  <a:schemeClr val="tx1"/>
                </a:solidFill>
                <a:ea typeface="黑体" pitchFamily="49" charset="-122"/>
                <a:cs typeface="Times New Roman" pitchFamily="18" charset="0"/>
              </a:rPr>
              <a:t>无法使</a:t>
            </a:r>
            <a:r>
              <a:rPr lang="en-US" altLang="zh-CN" sz="1400" b="0" i="1" dirty="0">
                <a:solidFill>
                  <a:schemeClr val="tx1"/>
                </a:solidFill>
                <a:ea typeface="黑体" pitchFamily="49" charset="-122"/>
                <a:cs typeface="Times New Roman" pitchFamily="18" charset="0"/>
              </a:rPr>
              <a:t>T</a:t>
            </a:r>
            <a:r>
              <a:rPr lang="en-US" altLang="zh-CN" sz="1400" b="0" baseline="-25000" dirty="0">
                <a:solidFill>
                  <a:schemeClr val="tx1"/>
                </a:solidFill>
                <a:ea typeface="黑体" pitchFamily="49" charset="-122"/>
                <a:cs typeface="Times New Roman" pitchFamily="18" charset="0"/>
              </a:rPr>
              <a:t>1</a:t>
            </a:r>
            <a:r>
              <a:rPr lang="zh-CN" altLang="zh-CN" sz="1400" b="0" dirty="0">
                <a:solidFill>
                  <a:schemeClr val="tx1"/>
                </a:solidFill>
                <a:ea typeface="黑体" pitchFamily="49" charset="-122"/>
                <a:cs typeface="Times New Roman" pitchFamily="18" charset="0"/>
              </a:rPr>
              <a:t>的集电结和</a:t>
            </a:r>
            <a:r>
              <a:rPr lang="en-US" altLang="zh-CN" sz="1400" b="0" i="1" dirty="0">
                <a:solidFill>
                  <a:schemeClr val="tx1"/>
                </a:solidFill>
                <a:ea typeface="黑体" pitchFamily="49" charset="-122"/>
                <a:cs typeface="Times New Roman" pitchFamily="18" charset="0"/>
              </a:rPr>
              <a:t>T</a:t>
            </a:r>
            <a:r>
              <a:rPr lang="en-US" altLang="zh-CN" sz="1400" b="0" baseline="-25000" dirty="0">
                <a:solidFill>
                  <a:schemeClr val="tx1"/>
                </a:solidFill>
                <a:ea typeface="黑体" pitchFamily="49" charset="-122"/>
                <a:cs typeface="Times New Roman" pitchFamily="18" charset="0"/>
              </a:rPr>
              <a:t>2</a:t>
            </a:r>
            <a:r>
              <a:rPr lang="zh-CN" altLang="zh-CN" sz="1400" b="0" dirty="0">
                <a:solidFill>
                  <a:schemeClr val="tx1"/>
                </a:solidFill>
                <a:ea typeface="黑体" pitchFamily="49" charset="-122"/>
                <a:cs typeface="Times New Roman" pitchFamily="18" charset="0"/>
              </a:rPr>
              <a:t>、</a:t>
            </a:r>
            <a:r>
              <a:rPr lang="en-US" altLang="zh-CN" sz="1400" b="0" i="1" dirty="0">
                <a:solidFill>
                  <a:schemeClr val="tx1"/>
                </a:solidFill>
                <a:ea typeface="黑体" pitchFamily="49" charset="-122"/>
                <a:cs typeface="Times New Roman" pitchFamily="18" charset="0"/>
              </a:rPr>
              <a:t>T</a:t>
            </a:r>
            <a:r>
              <a:rPr lang="en-US" altLang="zh-CN" sz="1400" b="0" baseline="-25000" dirty="0">
                <a:solidFill>
                  <a:schemeClr val="tx1"/>
                </a:solidFill>
                <a:ea typeface="黑体" pitchFamily="49" charset="-122"/>
                <a:cs typeface="Times New Roman" pitchFamily="18" charset="0"/>
              </a:rPr>
              <a:t>3</a:t>
            </a:r>
            <a:r>
              <a:rPr lang="zh-CN" altLang="zh-CN" sz="1400" b="0" dirty="0">
                <a:solidFill>
                  <a:schemeClr val="tx1"/>
                </a:solidFill>
                <a:ea typeface="黑体" pitchFamily="49" charset="-122"/>
                <a:cs typeface="Times New Roman" pitchFamily="18" charset="0"/>
              </a:rPr>
              <a:t>的发射结导通</a:t>
            </a:r>
            <a:r>
              <a:rPr lang="zh-CN" altLang="en-US" sz="1400" b="0" dirty="0">
                <a:solidFill>
                  <a:schemeClr val="tx1"/>
                </a:solidFill>
                <a:ea typeface="黑体" pitchFamily="49" charset="-122"/>
                <a:cs typeface="Times New Roman" pitchFamily="18" charset="0"/>
              </a:rPr>
              <a:t>，因此，</a:t>
            </a:r>
            <a:r>
              <a:rPr lang="en-US" altLang="zh-CN" sz="1400" b="0" i="1" dirty="0">
                <a:solidFill>
                  <a:schemeClr val="tx1"/>
                </a:solidFill>
                <a:ea typeface="黑体" pitchFamily="49" charset="-122"/>
                <a:cs typeface="Times New Roman" pitchFamily="18" charset="0"/>
              </a:rPr>
              <a:t>T</a:t>
            </a:r>
            <a:r>
              <a:rPr lang="en-US" altLang="zh-CN" sz="1400" b="0" baseline="-25000" dirty="0">
                <a:solidFill>
                  <a:schemeClr val="tx1"/>
                </a:solidFill>
                <a:ea typeface="黑体" pitchFamily="49" charset="-122"/>
                <a:cs typeface="Times New Roman" pitchFamily="18" charset="0"/>
              </a:rPr>
              <a:t>2</a:t>
            </a:r>
            <a:r>
              <a:rPr lang="zh-CN" altLang="en-US" sz="1400" b="0" dirty="0">
                <a:solidFill>
                  <a:schemeClr val="tx1"/>
                </a:solidFill>
                <a:ea typeface="黑体" pitchFamily="49" charset="-122"/>
                <a:cs typeface="Times New Roman" pitchFamily="18" charset="0"/>
              </a:rPr>
              <a:t>、</a:t>
            </a:r>
            <a:r>
              <a:rPr lang="en-US" altLang="zh-CN" sz="1400" b="0" i="1" dirty="0">
                <a:solidFill>
                  <a:schemeClr val="tx1"/>
                </a:solidFill>
                <a:ea typeface="黑体" pitchFamily="49" charset="-122"/>
                <a:cs typeface="Times New Roman" pitchFamily="18" charset="0"/>
              </a:rPr>
              <a:t>T</a:t>
            </a:r>
            <a:r>
              <a:rPr lang="en-US" altLang="zh-CN" sz="1400" b="0" baseline="-25000" dirty="0">
                <a:solidFill>
                  <a:schemeClr val="tx1"/>
                </a:solidFill>
                <a:ea typeface="黑体" pitchFamily="49" charset="-122"/>
                <a:cs typeface="Times New Roman" pitchFamily="18" charset="0"/>
              </a:rPr>
              <a:t>3</a:t>
            </a:r>
            <a:r>
              <a:rPr lang="zh-CN" altLang="en-US" sz="1400" b="0" dirty="0">
                <a:solidFill>
                  <a:schemeClr val="tx1"/>
                </a:solidFill>
                <a:ea typeface="黑体" pitchFamily="49" charset="-122"/>
                <a:cs typeface="Times New Roman" pitchFamily="18" charset="0"/>
              </a:rPr>
              <a:t>截止。</a:t>
            </a:r>
            <a:endParaRPr lang="en-US" altLang="zh-CN" sz="1400" b="0" dirty="0">
              <a:solidFill>
                <a:schemeClr val="tx1"/>
              </a:solidFill>
              <a:ea typeface="黑体" pitchFamily="49" charset="-122"/>
              <a:cs typeface="Times New Roman" pitchFamily="18" charset="0"/>
            </a:endParaRPr>
          </a:p>
        </p:txBody>
      </p:sp>
      <p:sp>
        <p:nvSpPr>
          <p:cNvPr id="98" name="AutoShape 134">
            <a:extLst>
              <a:ext uri="{FF2B5EF4-FFF2-40B4-BE49-F238E27FC236}">
                <a16:creationId xmlns:a16="http://schemas.microsoft.com/office/drawing/2014/main" id="{1B533925-49F6-46CD-BCE7-E8CB595DACD0}"/>
              </a:ext>
            </a:extLst>
          </p:cNvPr>
          <p:cNvSpPr>
            <a:spLocks noChangeArrowheads="1"/>
          </p:cNvSpPr>
          <p:nvPr/>
        </p:nvSpPr>
        <p:spPr bwMode="auto">
          <a:xfrm>
            <a:off x="5316022" y="2600621"/>
            <a:ext cx="615449" cy="272760"/>
          </a:xfrm>
          <a:prstGeom prst="wedgeRoundRectCallout">
            <a:avLst>
              <a:gd name="adj1" fmla="val 26014"/>
              <a:gd name="adj2" fmla="val -116024"/>
              <a:gd name="adj3" fmla="val 16667"/>
            </a:avLst>
          </a:prstGeom>
          <a:solidFill>
            <a:srgbClr val="FFFF99"/>
          </a:solidFill>
          <a:ln w="19050">
            <a:solidFill>
              <a:srgbClr val="FF00FF"/>
            </a:solidFill>
            <a:miter lim="800000"/>
            <a:headEnd/>
            <a:tailEnd/>
          </a:ln>
          <a:effectLst>
            <a:outerShdw blurRad="50800" dist="38100" dir="5400000" algn="t"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r>
              <a:rPr lang="en-US" altLang="zh-CN" sz="1600" dirty="0">
                <a:solidFill>
                  <a:schemeClr val="tx1"/>
                </a:solidFill>
                <a:latin typeface="方正粗黑宋简体" pitchFamily="2" charset="-122"/>
                <a:ea typeface="方正粗黑宋简体" pitchFamily="2" charset="-122"/>
              </a:rPr>
              <a:t>0.2V</a:t>
            </a:r>
          </a:p>
        </p:txBody>
      </p:sp>
      <p:sp>
        <p:nvSpPr>
          <p:cNvPr id="100" name="AutoShape 134">
            <a:extLst>
              <a:ext uri="{FF2B5EF4-FFF2-40B4-BE49-F238E27FC236}">
                <a16:creationId xmlns:a16="http://schemas.microsoft.com/office/drawing/2014/main" id="{45AC1B92-94F8-48A9-A5F9-5743B49F666F}"/>
              </a:ext>
            </a:extLst>
          </p:cNvPr>
          <p:cNvSpPr>
            <a:spLocks noChangeArrowheads="1"/>
          </p:cNvSpPr>
          <p:nvPr/>
        </p:nvSpPr>
        <p:spPr bwMode="auto">
          <a:xfrm>
            <a:off x="5438309" y="1773495"/>
            <a:ext cx="506249" cy="272760"/>
          </a:xfrm>
          <a:prstGeom prst="wedgeRoundRectCallout">
            <a:avLst>
              <a:gd name="adj1" fmla="val 73070"/>
              <a:gd name="adj2" fmla="val 52282"/>
              <a:gd name="adj3" fmla="val 16667"/>
            </a:avLst>
          </a:prstGeom>
          <a:solidFill>
            <a:srgbClr val="FFFF99"/>
          </a:solidFill>
          <a:ln w="19050">
            <a:solidFill>
              <a:srgbClr val="FF00FF"/>
            </a:solidFill>
            <a:miter lim="800000"/>
            <a:headEnd/>
            <a:tailEnd/>
          </a:ln>
          <a:effectLst>
            <a:outerShdw blurRad="50800" dist="38100" dir="5400000" algn="t" rotWithShape="0">
              <a:prstClr val="black">
                <a:alpha val="40000"/>
              </a:prstClr>
            </a:outerShdw>
          </a:effectLst>
        </p:spPr>
        <p:txBody>
          <a:bodyPr lIns="0" tIns="0" rIns="0" bIns="0" anchor="ctr"/>
          <a:lstStyle/>
          <a:p>
            <a:pPr algn="ctr"/>
            <a:r>
              <a:rPr lang="en-US" altLang="zh-CN" sz="1600" b="1" dirty="0">
                <a:solidFill>
                  <a:srgbClr val="0000FF"/>
                </a:solidFill>
                <a:latin typeface="方正粗黑宋简体" pitchFamily="2" charset="-122"/>
                <a:ea typeface="方正粗黑宋简体" pitchFamily="2" charset="-122"/>
              </a:rPr>
              <a:t>0.9V</a:t>
            </a:r>
          </a:p>
        </p:txBody>
      </p:sp>
      <p:sp>
        <p:nvSpPr>
          <p:cNvPr id="105" name="任意多边形 112">
            <a:extLst>
              <a:ext uri="{FF2B5EF4-FFF2-40B4-BE49-F238E27FC236}">
                <a16:creationId xmlns:a16="http://schemas.microsoft.com/office/drawing/2014/main" id="{E4C06E3C-4D04-494A-B111-409F75D20F15}"/>
              </a:ext>
            </a:extLst>
          </p:cNvPr>
          <p:cNvSpPr/>
          <p:nvPr/>
        </p:nvSpPr>
        <p:spPr>
          <a:xfrm>
            <a:off x="6887260" y="885472"/>
            <a:ext cx="1347600" cy="2270400"/>
          </a:xfrm>
          <a:custGeom>
            <a:avLst/>
            <a:gdLst>
              <a:gd name="connsiteX0" fmla="*/ 1110000 w 1381200"/>
              <a:gd name="connsiteY0" fmla="*/ 9600 h 2320800"/>
              <a:gd name="connsiteX1" fmla="*/ 267600 w 1381200"/>
              <a:gd name="connsiteY1" fmla="*/ 31200 h 2320800"/>
              <a:gd name="connsiteX2" fmla="*/ 58800 w 1381200"/>
              <a:gd name="connsiteY2" fmla="*/ 196800 h 2320800"/>
              <a:gd name="connsiteX3" fmla="*/ 8400 w 1381200"/>
              <a:gd name="connsiteY3" fmla="*/ 607200 h 2320800"/>
              <a:gd name="connsiteX4" fmla="*/ 30000 w 1381200"/>
              <a:gd name="connsiteY4" fmla="*/ 916800 h 2320800"/>
              <a:gd name="connsiteX5" fmla="*/ 188400 w 1381200"/>
              <a:gd name="connsiteY5" fmla="*/ 1068000 h 2320800"/>
              <a:gd name="connsiteX6" fmla="*/ 469200 w 1381200"/>
              <a:gd name="connsiteY6" fmla="*/ 1096800 h 2320800"/>
              <a:gd name="connsiteX7" fmla="*/ 714000 w 1381200"/>
              <a:gd name="connsiteY7" fmla="*/ 1176000 h 2320800"/>
              <a:gd name="connsiteX8" fmla="*/ 793200 w 1381200"/>
              <a:gd name="connsiteY8" fmla="*/ 1320000 h 2320800"/>
              <a:gd name="connsiteX9" fmla="*/ 807600 w 1381200"/>
              <a:gd name="connsiteY9" fmla="*/ 1795200 h 2320800"/>
              <a:gd name="connsiteX10" fmla="*/ 951600 w 1381200"/>
              <a:gd name="connsiteY10" fmla="*/ 1860000 h 2320800"/>
              <a:gd name="connsiteX11" fmla="*/ 1304400 w 1381200"/>
              <a:gd name="connsiteY11" fmla="*/ 1881600 h 2320800"/>
              <a:gd name="connsiteX12" fmla="*/ 1369200 w 1381200"/>
              <a:gd name="connsiteY12" fmla="*/ 2054400 h 2320800"/>
              <a:gd name="connsiteX13" fmla="*/ 1376400 w 1381200"/>
              <a:gd name="connsiteY13" fmla="*/ 2320800 h 232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81200" h="2320800">
                <a:moveTo>
                  <a:pt x="1110000" y="9600"/>
                </a:moveTo>
                <a:cubicBezTo>
                  <a:pt x="776400" y="4800"/>
                  <a:pt x="442800" y="0"/>
                  <a:pt x="267600" y="31200"/>
                </a:cubicBezTo>
                <a:cubicBezTo>
                  <a:pt x="92400" y="62400"/>
                  <a:pt x="102000" y="100800"/>
                  <a:pt x="58800" y="196800"/>
                </a:cubicBezTo>
                <a:cubicBezTo>
                  <a:pt x="15600" y="292800"/>
                  <a:pt x="13200" y="487200"/>
                  <a:pt x="8400" y="607200"/>
                </a:cubicBezTo>
                <a:cubicBezTo>
                  <a:pt x="3600" y="727200"/>
                  <a:pt x="0" y="840000"/>
                  <a:pt x="30000" y="916800"/>
                </a:cubicBezTo>
                <a:cubicBezTo>
                  <a:pt x="60000" y="993600"/>
                  <a:pt x="115200" y="1038000"/>
                  <a:pt x="188400" y="1068000"/>
                </a:cubicBezTo>
                <a:cubicBezTo>
                  <a:pt x="261600" y="1098000"/>
                  <a:pt x="381600" y="1078800"/>
                  <a:pt x="469200" y="1096800"/>
                </a:cubicBezTo>
                <a:cubicBezTo>
                  <a:pt x="556800" y="1114800"/>
                  <a:pt x="660000" y="1138800"/>
                  <a:pt x="714000" y="1176000"/>
                </a:cubicBezTo>
                <a:cubicBezTo>
                  <a:pt x="768000" y="1213200"/>
                  <a:pt x="777600" y="1216800"/>
                  <a:pt x="793200" y="1320000"/>
                </a:cubicBezTo>
                <a:cubicBezTo>
                  <a:pt x="808800" y="1423200"/>
                  <a:pt x="781200" y="1705200"/>
                  <a:pt x="807600" y="1795200"/>
                </a:cubicBezTo>
                <a:cubicBezTo>
                  <a:pt x="834000" y="1885200"/>
                  <a:pt x="868800" y="1845600"/>
                  <a:pt x="951600" y="1860000"/>
                </a:cubicBezTo>
                <a:cubicBezTo>
                  <a:pt x="1034400" y="1874400"/>
                  <a:pt x="1234800" y="1849200"/>
                  <a:pt x="1304400" y="1881600"/>
                </a:cubicBezTo>
                <a:cubicBezTo>
                  <a:pt x="1374000" y="1914000"/>
                  <a:pt x="1357200" y="1981200"/>
                  <a:pt x="1369200" y="2054400"/>
                </a:cubicBezTo>
                <a:cubicBezTo>
                  <a:pt x="1381200" y="2127600"/>
                  <a:pt x="1378800" y="2224200"/>
                  <a:pt x="1376400" y="2320800"/>
                </a:cubicBezTo>
              </a:path>
            </a:pathLst>
          </a:custGeom>
          <a:ln w="38100">
            <a:solidFill>
              <a:srgbClr val="0000FF"/>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8" name="组合 7">
            <a:extLst>
              <a:ext uri="{FF2B5EF4-FFF2-40B4-BE49-F238E27FC236}">
                <a16:creationId xmlns:a16="http://schemas.microsoft.com/office/drawing/2014/main" id="{A1FDB4A9-9704-43E5-8730-6F1D9077B7F0}"/>
              </a:ext>
            </a:extLst>
          </p:cNvPr>
          <p:cNvGrpSpPr/>
          <p:nvPr/>
        </p:nvGrpSpPr>
        <p:grpSpPr>
          <a:xfrm>
            <a:off x="6183007" y="1997089"/>
            <a:ext cx="1702620" cy="1406363"/>
            <a:chOff x="6183007" y="1997089"/>
            <a:chExt cx="1702620" cy="1406363"/>
          </a:xfrm>
        </p:grpSpPr>
        <p:sp>
          <p:nvSpPr>
            <p:cNvPr id="103" name="乘号 102">
              <a:extLst>
                <a:ext uri="{FF2B5EF4-FFF2-40B4-BE49-F238E27FC236}">
                  <a16:creationId xmlns:a16="http://schemas.microsoft.com/office/drawing/2014/main" id="{A05C01C2-7D26-4935-B43A-9F55A033F4A8}"/>
                </a:ext>
              </a:extLst>
            </p:cNvPr>
            <p:cNvSpPr/>
            <p:nvPr/>
          </p:nvSpPr>
          <p:spPr>
            <a:xfrm rot="10800000">
              <a:off x="6457009" y="2083768"/>
              <a:ext cx="486821" cy="490993"/>
            </a:xfrm>
            <a:prstGeom prst="mathMultiply">
              <a:avLst>
                <a:gd name="adj1" fmla="val 13414"/>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乘号 103">
              <a:extLst>
                <a:ext uri="{FF2B5EF4-FFF2-40B4-BE49-F238E27FC236}">
                  <a16:creationId xmlns:a16="http://schemas.microsoft.com/office/drawing/2014/main" id="{73745D45-DE4C-498A-AC66-37B8AA4B863C}"/>
                </a:ext>
              </a:extLst>
            </p:cNvPr>
            <p:cNvSpPr/>
            <p:nvPr/>
          </p:nvSpPr>
          <p:spPr>
            <a:xfrm rot="10800000">
              <a:off x="7398806" y="2733559"/>
              <a:ext cx="486821" cy="490993"/>
            </a:xfrm>
            <a:prstGeom prst="mathMultiply">
              <a:avLst>
                <a:gd name="adj1" fmla="val 13414"/>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任意多边形 115">
              <a:extLst>
                <a:ext uri="{FF2B5EF4-FFF2-40B4-BE49-F238E27FC236}">
                  <a16:creationId xmlns:a16="http://schemas.microsoft.com/office/drawing/2014/main" id="{1D2595B6-5C64-411F-A0C7-E792B8E43043}"/>
                </a:ext>
              </a:extLst>
            </p:cNvPr>
            <p:cNvSpPr/>
            <p:nvPr/>
          </p:nvSpPr>
          <p:spPr>
            <a:xfrm>
              <a:off x="6183007" y="1997089"/>
              <a:ext cx="1509712" cy="1406363"/>
            </a:xfrm>
            <a:custGeom>
              <a:avLst/>
              <a:gdLst>
                <a:gd name="connsiteX0" fmla="*/ 0 w 1509712"/>
                <a:gd name="connsiteY0" fmla="*/ 0 h 1300163"/>
                <a:gd name="connsiteX1" fmla="*/ 104775 w 1509712"/>
                <a:gd name="connsiteY1" fmla="*/ 228600 h 1300163"/>
                <a:gd name="connsiteX2" fmla="*/ 261937 w 1509712"/>
                <a:gd name="connsiteY2" fmla="*/ 328613 h 1300163"/>
                <a:gd name="connsiteX3" fmla="*/ 452437 w 1509712"/>
                <a:gd name="connsiteY3" fmla="*/ 433388 h 1300163"/>
                <a:gd name="connsiteX4" fmla="*/ 633412 w 1509712"/>
                <a:gd name="connsiteY4" fmla="*/ 552450 h 1300163"/>
                <a:gd name="connsiteX5" fmla="*/ 685800 w 1509712"/>
                <a:gd name="connsiteY5" fmla="*/ 823913 h 1300163"/>
                <a:gd name="connsiteX6" fmla="*/ 890587 w 1509712"/>
                <a:gd name="connsiteY6" fmla="*/ 971550 h 1300163"/>
                <a:gd name="connsiteX7" fmla="*/ 1223962 w 1509712"/>
                <a:gd name="connsiteY7" fmla="*/ 1004888 h 1300163"/>
                <a:gd name="connsiteX8" fmla="*/ 1447800 w 1509712"/>
                <a:gd name="connsiteY8" fmla="*/ 1119188 h 1300163"/>
                <a:gd name="connsiteX9" fmla="*/ 1509712 w 1509712"/>
                <a:gd name="connsiteY9" fmla="*/ 1300163 h 1300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09712" h="1300163">
                  <a:moveTo>
                    <a:pt x="0" y="0"/>
                  </a:moveTo>
                  <a:cubicBezTo>
                    <a:pt x="30559" y="86915"/>
                    <a:pt x="61119" y="173831"/>
                    <a:pt x="104775" y="228600"/>
                  </a:cubicBezTo>
                  <a:cubicBezTo>
                    <a:pt x="148431" y="283369"/>
                    <a:pt x="203993" y="294482"/>
                    <a:pt x="261937" y="328613"/>
                  </a:cubicBezTo>
                  <a:cubicBezTo>
                    <a:pt x="319881" y="362744"/>
                    <a:pt x="390525" y="396082"/>
                    <a:pt x="452437" y="433388"/>
                  </a:cubicBezTo>
                  <a:cubicBezTo>
                    <a:pt x="514349" y="470694"/>
                    <a:pt x="594518" y="487362"/>
                    <a:pt x="633412" y="552450"/>
                  </a:cubicBezTo>
                  <a:cubicBezTo>
                    <a:pt x="672306" y="617538"/>
                    <a:pt x="642937" y="754063"/>
                    <a:pt x="685800" y="823913"/>
                  </a:cubicBezTo>
                  <a:cubicBezTo>
                    <a:pt x="728663" y="893763"/>
                    <a:pt x="800893" y="941388"/>
                    <a:pt x="890587" y="971550"/>
                  </a:cubicBezTo>
                  <a:cubicBezTo>
                    <a:pt x="980281" y="1001712"/>
                    <a:pt x="1131093" y="980282"/>
                    <a:pt x="1223962" y="1004888"/>
                  </a:cubicBezTo>
                  <a:cubicBezTo>
                    <a:pt x="1316831" y="1029494"/>
                    <a:pt x="1400175" y="1069976"/>
                    <a:pt x="1447800" y="1119188"/>
                  </a:cubicBezTo>
                  <a:cubicBezTo>
                    <a:pt x="1495425" y="1168401"/>
                    <a:pt x="1502568" y="1234282"/>
                    <a:pt x="1509712" y="1300163"/>
                  </a:cubicBezTo>
                </a:path>
              </a:pathLst>
            </a:cu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114" name="AutoShape 134">
            <a:extLst>
              <a:ext uri="{FF2B5EF4-FFF2-40B4-BE49-F238E27FC236}">
                <a16:creationId xmlns:a16="http://schemas.microsoft.com/office/drawing/2014/main" id="{86F4CDC6-0107-4C55-8762-E8D5CF631DE1}"/>
              </a:ext>
            </a:extLst>
          </p:cNvPr>
          <p:cNvSpPr>
            <a:spLocks noChangeArrowheads="1"/>
          </p:cNvSpPr>
          <p:nvPr/>
        </p:nvSpPr>
        <p:spPr bwMode="auto">
          <a:xfrm>
            <a:off x="8167575" y="2134090"/>
            <a:ext cx="506249" cy="272760"/>
          </a:xfrm>
          <a:prstGeom prst="wedgeRoundRectCallout">
            <a:avLst>
              <a:gd name="adj1" fmla="val -63998"/>
              <a:gd name="adj2" fmla="val 92511"/>
              <a:gd name="adj3" fmla="val 16667"/>
            </a:avLst>
          </a:prstGeom>
          <a:solidFill>
            <a:srgbClr val="FFFF99"/>
          </a:solidFill>
          <a:ln w="19050">
            <a:solidFill>
              <a:srgbClr val="FF00FF"/>
            </a:solidFill>
            <a:miter lim="800000"/>
            <a:headEnd/>
            <a:tailEnd/>
          </a:ln>
          <a:effectLst>
            <a:outerShdw blurRad="50800" dist="38100" dir="5400000" algn="t" rotWithShape="0">
              <a:prstClr val="black">
                <a:alpha val="40000"/>
              </a:prstClr>
            </a:outerShdw>
          </a:effectLst>
        </p:spPr>
        <p:txBody>
          <a:bodyPr lIns="0" tIns="0" rIns="0" bIns="0" anchor="ctr"/>
          <a:lstStyle/>
          <a:p>
            <a:pPr algn="ctr"/>
            <a:r>
              <a:rPr lang="en-US" altLang="zh-CN" sz="1600" b="1" dirty="0">
                <a:solidFill>
                  <a:srgbClr val="0000FF"/>
                </a:solidFill>
                <a:latin typeface="方正粗黑宋简体" pitchFamily="2" charset="-122"/>
                <a:ea typeface="方正粗黑宋简体" pitchFamily="2" charset="-122"/>
              </a:rPr>
              <a:t>3.6V</a:t>
            </a:r>
          </a:p>
        </p:txBody>
      </p:sp>
      <p:grpSp>
        <p:nvGrpSpPr>
          <p:cNvPr id="115" name="组合 114">
            <a:extLst>
              <a:ext uri="{FF2B5EF4-FFF2-40B4-BE49-F238E27FC236}">
                <a16:creationId xmlns:a16="http://schemas.microsoft.com/office/drawing/2014/main" id="{CC520C08-162F-4D5C-8369-DE75DC28503F}"/>
              </a:ext>
            </a:extLst>
          </p:cNvPr>
          <p:cNvGrpSpPr/>
          <p:nvPr/>
        </p:nvGrpSpPr>
        <p:grpSpPr>
          <a:xfrm>
            <a:off x="7978735" y="1607911"/>
            <a:ext cx="512249" cy="310357"/>
            <a:chOff x="8127788" y="1666874"/>
            <a:chExt cx="512249" cy="310357"/>
          </a:xfrm>
        </p:grpSpPr>
        <p:grpSp>
          <p:nvGrpSpPr>
            <p:cNvPr id="119" name="组合 118">
              <a:extLst>
                <a:ext uri="{FF2B5EF4-FFF2-40B4-BE49-F238E27FC236}">
                  <a16:creationId xmlns:a16="http://schemas.microsoft.com/office/drawing/2014/main" id="{EC0BDAC3-28FA-4CE5-AF31-CEA5D938C7F2}"/>
                </a:ext>
              </a:extLst>
            </p:cNvPr>
            <p:cNvGrpSpPr/>
            <p:nvPr/>
          </p:nvGrpSpPr>
          <p:grpSpPr>
            <a:xfrm>
              <a:off x="8127788" y="1666874"/>
              <a:ext cx="512249" cy="273960"/>
              <a:chOff x="7990988" y="1602074"/>
              <a:chExt cx="512249" cy="273960"/>
            </a:xfrm>
          </p:grpSpPr>
          <p:sp>
            <p:nvSpPr>
              <p:cNvPr id="123" name="AutoShape 134">
                <a:extLst>
                  <a:ext uri="{FF2B5EF4-FFF2-40B4-BE49-F238E27FC236}">
                    <a16:creationId xmlns:a16="http://schemas.microsoft.com/office/drawing/2014/main" id="{74A6F980-DBF0-4BA0-83FC-D1831DB948FE}"/>
                  </a:ext>
                </a:extLst>
              </p:cNvPr>
              <p:cNvSpPr>
                <a:spLocks noChangeArrowheads="1"/>
              </p:cNvSpPr>
              <p:nvPr/>
            </p:nvSpPr>
            <p:spPr bwMode="auto">
              <a:xfrm>
                <a:off x="7990988" y="1603274"/>
                <a:ext cx="506249" cy="272760"/>
              </a:xfrm>
              <a:prstGeom prst="wedgeRoundRectCallout">
                <a:avLst>
                  <a:gd name="adj1" fmla="val -71064"/>
                  <a:gd name="adj2" fmla="val 169611"/>
                  <a:gd name="adj3" fmla="val 16667"/>
                </a:avLst>
              </a:prstGeom>
              <a:solidFill>
                <a:srgbClr val="FFFF00"/>
              </a:solidFill>
              <a:ln w="19050">
                <a:solidFill>
                  <a:srgbClr val="FF00FF"/>
                </a:solidFill>
                <a:miter lim="800000"/>
                <a:headEnd/>
                <a:tailEnd/>
              </a:ln>
              <a:effectLst>
                <a:outerShdw blurRad="50800" dist="38100" dir="5400000" algn="t" rotWithShape="0">
                  <a:prstClr val="black">
                    <a:alpha val="40000"/>
                  </a:prstClr>
                </a:outerShdw>
              </a:effectLst>
            </p:spPr>
            <p:txBody>
              <a:bodyPr lIns="0" tIns="0" rIns="0" bIns="0" anchor="ctr"/>
              <a:lstStyle/>
              <a:p>
                <a:pPr algn="ctr"/>
                <a:r>
                  <a:rPr lang="en-US" altLang="zh-CN" sz="1600" b="1" dirty="0">
                    <a:solidFill>
                      <a:srgbClr val="0000FF"/>
                    </a:solidFill>
                    <a:latin typeface="方正粗黑宋简体" pitchFamily="2" charset="-122"/>
                    <a:ea typeface="方正粗黑宋简体" pitchFamily="2" charset="-122"/>
                  </a:rPr>
                  <a:t>0.7V</a:t>
                </a:r>
              </a:p>
            </p:txBody>
          </p:sp>
          <p:sp>
            <p:nvSpPr>
              <p:cNvPr id="124" name="AutoShape 134">
                <a:extLst>
                  <a:ext uri="{FF2B5EF4-FFF2-40B4-BE49-F238E27FC236}">
                    <a16:creationId xmlns:a16="http://schemas.microsoft.com/office/drawing/2014/main" id="{5DE16AE5-66FC-4F0B-8F22-8B33F0540E11}"/>
                  </a:ext>
                </a:extLst>
              </p:cNvPr>
              <p:cNvSpPr>
                <a:spLocks noChangeArrowheads="1"/>
              </p:cNvSpPr>
              <p:nvPr/>
            </p:nvSpPr>
            <p:spPr bwMode="auto">
              <a:xfrm>
                <a:off x="7996988" y="1602074"/>
                <a:ext cx="506249" cy="272760"/>
              </a:xfrm>
              <a:prstGeom prst="wedgeRoundRectCallout">
                <a:avLst>
                  <a:gd name="adj1" fmla="val -105243"/>
                  <a:gd name="adj2" fmla="val 60835"/>
                  <a:gd name="adj3" fmla="val 16667"/>
                </a:avLst>
              </a:prstGeom>
              <a:solidFill>
                <a:srgbClr val="FFFF00"/>
              </a:solidFill>
              <a:ln w="19050">
                <a:solidFill>
                  <a:srgbClr val="FF00FF"/>
                </a:solidFill>
                <a:miter lim="800000"/>
                <a:headEnd/>
                <a:tailEnd/>
              </a:ln>
              <a:effectLst/>
            </p:spPr>
            <p:txBody>
              <a:bodyPr lIns="0" tIns="0" rIns="0" bIns="0" anchor="ctr"/>
              <a:lstStyle/>
              <a:p>
                <a:pPr algn="ctr"/>
                <a:r>
                  <a:rPr lang="en-US" altLang="zh-CN" sz="1600" b="1" dirty="0">
                    <a:solidFill>
                      <a:srgbClr val="0000FF"/>
                    </a:solidFill>
                    <a:latin typeface="方正粗黑宋简体" pitchFamily="2" charset="-122"/>
                    <a:ea typeface="方正粗黑宋简体" pitchFamily="2" charset="-122"/>
                  </a:rPr>
                  <a:t>0.7V</a:t>
                </a:r>
              </a:p>
            </p:txBody>
          </p:sp>
        </p:grpSp>
        <p:sp>
          <p:nvSpPr>
            <p:cNvPr id="117" name="任意多边形 129">
              <a:extLst>
                <a:ext uri="{FF2B5EF4-FFF2-40B4-BE49-F238E27FC236}">
                  <a16:creationId xmlns:a16="http://schemas.microsoft.com/office/drawing/2014/main" id="{AA0CA8EB-DA9C-4CBD-B8E7-E89FD873207A}"/>
                </a:ext>
              </a:extLst>
            </p:cNvPr>
            <p:cNvSpPr/>
            <p:nvPr/>
          </p:nvSpPr>
          <p:spPr>
            <a:xfrm>
              <a:off x="8200231" y="1903413"/>
              <a:ext cx="157162" cy="73818"/>
            </a:xfrm>
            <a:custGeom>
              <a:avLst/>
              <a:gdLst>
                <a:gd name="connsiteX0" fmla="*/ 0 w 157162"/>
                <a:gd name="connsiteY0" fmla="*/ 73818 h 73818"/>
                <a:gd name="connsiteX1" fmla="*/ 64294 w 157162"/>
                <a:gd name="connsiteY1" fmla="*/ 0 h 73818"/>
                <a:gd name="connsiteX2" fmla="*/ 157162 w 157162"/>
                <a:gd name="connsiteY2" fmla="*/ 0 h 73818"/>
                <a:gd name="connsiteX3" fmla="*/ 66675 w 157162"/>
                <a:gd name="connsiteY3" fmla="*/ 66675 h 73818"/>
                <a:gd name="connsiteX4" fmla="*/ 0 w 157162"/>
                <a:gd name="connsiteY4" fmla="*/ 73818 h 738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162" h="73818">
                  <a:moveTo>
                    <a:pt x="0" y="73818"/>
                  </a:moveTo>
                  <a:lnTo>
                    <a:pt x="64294" y="0"/>
                  </a:lnTo>
                  <a:lnTo>
                    <a:pt x="157162" y="0"/>
                  </a:lnTo>
                  <a:lnTo>
                    <a:pt x="66675" y="66675"/>
                  </a:lnTo>
                  <a:lnTo>
                    <a:pt x="0" y="73818"/>
                  </a:lnTo>
                  <a:close/>
                </a:path>
              </a:pathLst>
            </a:cu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1" name="Rectangle 105">
            <a:extLst>
              <a:ext uri="{FF2B5EF4-FFF2-40B4-BE49-F238E27FC236}">
                <a16:creationId xmlns:a16="http://schemas.microsoft.com/office/drawing/2014/main" id="{53703533-FE2D-4DE2-814E-8BFCD3A4E415}"/>
              </a:ext>
            </a:extLst>
          </p:cNvPr>
          <p:cNvSpPr>
            <a:spLocks noChangeArrowheads="1"/>
          </p:cNvSpPr>
          <p:nvPr/>
        </p:nvSpPr>
        <p:spPr bwMode="auto">
          <a:xfrm>
            <a:off x="441068" y="3426845"/>
            <a:ext cx="4643995" cy="7261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t">
            <a:spAutoFit/>
          </a:bodyPr>
          <a:lstStyle>
            <a:lvl1pPr eaLnBrk="0" hangingPunct="0">
              <a:defRPr sz="2000" b="1">
                <a:solidFill>
                  <a:schemeClr val="accent2"/>
                </a:solidFill>
                <a:latin typeface="Times New Roman" pitchFamily="18" charset="0"/>
                <a:ea typeface="宋体" charset="-122"/>
              </a:defRPr>
            </a:lvl1pPr>
            <a:lvl2pPr marL="742950" indent="-285750" eaLnBrk="0" hangingPunct="0">
              <a:defRPr sz="2000" b="1">
                <a:solidFill>
                  <a:schemeClr val="accent2"/>
                </a:solidFill>
                <a:latin typeface="Times New Roman" pitchFamily="18" charset="0"/>
                <a:ea typeface="宋体" charset="-122"/>
              </a:defRPr>
            </a:lvl2pPr>
            <a:lvl3pPr marL="1143000" indent="-228600" eaLnBrk="0" hangingPunct="0">
              <a:defRPr sz="2000" b="1">
                <a:solidFill>
                  <a:schemeClr val="accent2"/>
                </a:solidFill>
                <a:latin typeface="Times New Roman" pitchFamily="18" charset="0"/>
                <a:ea typeface="宋体" charset="-122"/>
              </a:defRPr>
            </a:lvl3pPr>
            <a:lvl4pPr marL="1600200" indent="-228600" eaLnBrk="0" hangingPunct="0">
              <a:defRPr sz="2000" b="1">
                <a:solidFill>
                  <a:schemeClr val="accent2"/>
                </a:solidFill>
                <a:latin typeface="Times New Roman" pitchFamily="18" charset="0"/>
                <a:ea typeface="宋体" charset="-122"/>
              </a:defRPr>
            </a:lvl4pPr>
            <a:lvl5pPr marL="2057400" indent="-228600" eaLnBrk="0" hangingPunct="0">
              <a:defRPr sz="2000" b="1">
                <a:solidFill>
                  <a:schemeClr val="accent2"/>
                </a:solidFill>
                <a:latin typeface="Times New Roman" pitchFamily="18" charset="0"/>
                <a:ea typeface="宋体" charset="-122"/>
              </a:defRPr>
            </a:lvl5pPr>
            <a:lvl6pPr marL="25146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6pPr>
            <a:lvl7pPr marL="29718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7pPr>
            <a:lvl8pPr marL="34290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8pPr>
            <a:lvl9pPr marL="38862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9pPr>
          </a:lstStyle>
          <a:p>
            <a:pPr marL="342900" indent="-342900" eaLnBrk="1" hangingPunct="1">
              <a:lnSpc>
                <a:spcPct val="125000"/>
              </a:lnSpc>
              <a:spcBef>
                <a:spcPct val="0"/>
              </a:spcBef>
              <a:buFont typeface="Wingdings" panose="05000000000000000000" pitchFamily="2" charset="2"/>
              <a:buChar char="u"/>
            </a:pPr>
            <a:r>
              <a:rPr lang="en-US" altLang="zh-CN" sz="1400" b="0" i="1" dirty="0">
                <a:solidFill>
                  <a:schemeClr val="tx1"/>
                </a:solidFill>
                <a:ea typeface="黑体" pitchFamily="49" charset="-122"/>
                <a:cs typeface="Times New Roman" pitchFamily="18" charset="0"/>
              </a:rPr>
              <a:t>T</a:t>
            </a:r>
            <a:r>
              <a:rPr lang="en-US" altLang="zh-CN" sz="1400" b="0" baseline="-25000" dirty="0">
                <a:solidFill>
                  <a:schemeClr val="tx1"/>
                </a:solidFill>
                <a:ea typeface="黑体" pitchFamily="49" charset="-122"/>
                <a:cs typeface="Times New Roman" pitchFamily="18" charset="0"/>
              </a:rPr>
              <a:t>4</a:t>
            </a:r>
            <a:r>
              <a:rPr lang="zh-CN" altLang="en-US" sz="1400" b="0" dirty="0">
                <a:solidFill>
                  <a:schemeClr val="tx1"/>
                </a:solidFill>
                <a:ea typeface="黑体" pitchFamily="49" charset="-122"/>
                <a:cs typeface="Times New Roman" pitchFamily="18" charset="0"/>
              </a:rPr>
              <a:t>和</a:t>
            </a:r>
            <a:r>
              <a:rPr lang="en-US" altLang="zh-CN" sz="1400" b="0" i="1" dirty="0">
                <a:solidFill>
                  <a:schemeClr val="tx1"/>
                </a:solidFill>
                <a:ea typeface="黑体" pitchFamily="49" charset="-122"/>
                <a:cs typeface="Times New Roman" pitchFamily="18" charset="0"/>
              </a:rPr>
              <a:t>D</a:t>
            </a:r>
            <a:r>
              <a:rPr lang="en-US" altLang="zh-CN" dirty="0"/>
              <a:t> </a:t>
            </a:r>
            <a:r>
              <a:rPr lang="zh-CN" altLang="en-US" sz="1400" b="0" dirty="0">
                <a:solidFill>
                  <a:schemeClr val="tx1"/>
                </a:solidFill>
                <a:ea typeface="微软雅黑" panose="020B0503020204020204" pitchFamily="34" charset="-122"/>
                <a:cs typeface="Times New Roman" panose="02020603050405020304" pitchFamily="18" charset="0"/>
              </a:rPr>
              <a:t>在</a:t>
            </a:r>
            <a:r>
              <a:rPr lang="zh-CN" altLang="zh-CN" sz="1400" b="0" dirty="0">
                <a:solidFill>
                  <a:schemeClr val="tx1"/>
                </a:solidFill>
                <a:ea typeface="微软雅黑" panose="020B0503020204020204" pitchFamily="34" charset="-122"/>
                <a:cs typeface="Times New Roman" panose="02020603050405020304" pitchFamily="18" charset="0"/>
              </a:rPr>
              <a:t>电源</a:t>
            </a:r>
            <a:r>
              <a:rPr lang="zh-CN" altLang="en-US" sz="1400" b="0" dirty="0">
                <a:solidFill>
                  <a:schemeClr val="tx1"/>
                </a:solidFill>
                <a:ea typeface="微软雅黑" panose="020B0503020204020204" pitchFamily="34" charset="-122"/>
                <a:cs typeface="Times New Roman" panose="02020603050405020304" pitchFamily="18" charset="0"/>
              </a:rPr>
              <a:t>、</a:t>
            </a:r>
            <a:r>
              <a:rPr lang="en-US" altLang="zh-CN" sz="1400" b="0" i="1" dirty="0">
                <a:solidFill>
                  <a:schemeClr val="tx1"/>
                </a:solidFill>
                <a:ea typeface="微软雅黑" panose="020B0503020204020204" pitchFamily="34" charset="-122"/>
                <a:cs typeface="Times New Roman" panose="02020603050405020304" pitchFamily="18" charset="0"/>
              </a:rPr>
              <a:t>R</a:t>
            </a:r>
            <a:r>
              <a:rPr lang="en-US" altLang="zh-CN" sz="1400" b="0" baseline="-25000" dirty="0">
                <a:solidFill>
                  <a:schemeClr val="tx1"/>
                </a:solidFill>
                <a:ea typeface="微软雅黑" panose="020B0503020204020204" pitchFamily="34" charset="-122"/>
                <a:cs typeface="Times New Roman" panose="02020603050405020304" pitchFamily="18" charset="0"/>
              </a:rPr>
              <a:t>C2</a:t>
            </a:r>
            <a:r>
              <a:rPr lang="zh-CN" altLang="zh-CN" sz="1400" b="0" dirty="0">
                <a:solidFill>
                  <a:schemeClr val="tx1"/>
                </a:solidFill>
                <a:ea typeface="微软雅黑" panose="020B0503020204020204" pitchFamily="34" charset="-122"/>
                <a:cs typeface="Times New Roman" panose="02020603050405020304" pitchFamily="18" charset="0"/>
              </a:rPr>
              <a:t>、</a:t>
            </a:r>
            <a:r>
              <a:rPr lang="en-US" altLang="zh-CN" sz="1400" b="0" i="1" dirty="0">
                <a:solidFill>
                  <a:schemeClr val="tx1"/>
                </a:solidFill>
                <a:ea typeface="微软雅黑" panose="020B0503020204020204" pitchFamily="34" charset="-122"/>
                <a:cs typeface="Times New Roman" panose="02020603050405020304" pitchFamily="18" charset="0"/>
              </a:rPr>
              <a:t>R</a:t>
            </a:r>
            <a:r>
              <a:rPr lang="en-US" altLang="zh-CN" sz="1400" b="0" baseline="-25000" dirty="0">
                <a:solidFill>
                  <a:schemeClr val="tx1"/>
                </a:solidFill>
                <a:ea typeface="微软雅黑" panose="020B0503020204020204" pitchFamily="34" charset="-122"/>
                <a:cs typeface="Times New Roman" panose="02020603050405020304" pitchFamily="18" charset="0"/>
              </a:rPr>
              <a:t>C4</a:t>
            </a:r>
            <a:r>
              <a:rPr lang="zh-CN" altLang="zh-CN" sz="1400" b="0" dirty="0">
                <a:solidFill>
                  <a:schemeClr val="tx1"/>
                </a:solidFill>
                <a:ea typeface="微软雅黑" panose="020B0503020204020204" pitchFamily="34" charset="-122"/>
                <a:cs typeface="Times New Roman" panose="02020603050405020304" pitchFamily="18" charset="0"/>
              </a:rPr>
              <a:t>的作用下导通，</a:t>
            </a:r>
            <a:r>
              <a:rPr lang="zh-CN" altLang="en-US" sz="1400" b="0" dirty="0">
                <a:solidFill>
                  <a:schemeClr val="tx1"/>
                </a:solidFill>
                <a:ea typeface="黑体" pitchFamily="49" charset="-122"/>
                <a:cs typeface="Times New Roman" pitchFamily="18" charset="0"/>
              </a:rPr>
              <a:t>输出为高电平</a:t>
            </a:r>
            <a:r>
              <a:rPr lang="en-US" altLang="zh-CN" sz="1400" b="0" i="1" dirty="0">
                <a:solidFill>
                  <a:schemeClr val="tx1"/>
                </a:solidFill>
                <a:ea typeface="黑体" pitchFamily="49" charset="-122"/>
                <a:cs typeface="Times New Roman" pitchFamily="18" charset="0"/>
                <a:sym typeface="Symbol" pitchFamily="18" charset="2"/>
              </a:rPr>
              <a:t></a:t>
            </a:r>
            <a:r>
              <a:rPr lang="en-US" altLang="zh-CN" sz="1400" b="0" baseline="-25000" dirty="0">
                <a:solidFill>
                  <a:schemeClr val="tx1"/>
                </a:solidFill>
                <a:ea typeface="黑体" pitchFamily="49" charset="-122"/>
                <a:cs typeface="Times New Roman" pitchFamily="18" charset="0"/>
              </a:rPr>
              <a:t>O </a:t>
            </a:r>
            <a:r>
              <a:rPr lang="en-US" altLang="zh-CN" sz="1400" b="0" dirty="0">
                <a:solidFill>
                  <a:schemeClr val="tx1"/>
                </a:solidFill>
                <a:latin typeface="Times New Roman"/>
                <a:ea typeface="黑体" pitchFamily="49" charset="-122"/>
                <a:cs typeface="Times New Roman"/>
              </a:rPr>
              <a:t>≈</a:t>
            </a:r>
            <a:r>
              <a:rPr lang="en-US" altLang="zh-CN" sz="1400" b="0" dirty="0">
                <a:solidFill>
                  <a:schemeClr val="tx1"/>
                </a:solidFill>
                <a:ea typeface="黑体" pitchFamily="49" charset="-122"/>
                <a:cs typeface="Times New Roman" pitchFamily="18" charset="0"/>
              </a:rPr>
              <a:t> 3.6V</a:t>
            </a:r>
            <a:r>
              <a:rPr lang="zh-CN" altLang="en-US" sz="1400" b="0" dirty="0">
                <a:solidFill>
                  <a:schemeClr val="tx1"/>
                </a:solidFill>
                <a:ea typeface="黑体" pitchFamily="49" charset="-122"/>
                <a:cs typeface="Times New Roman" pitchFamily="18" charset="0"/>
              </a:rPr>
              <a:t>（</a:t>
            </a:r>
            <a:r>
              <a:rPr lang="zh-CN" altLang="en-US" sz="1400" dirty="0">
                <a:solidFill>
                  <a:srgbClr val="6600FF"/>
                </a:solidFill>
                <a:ea typeface="方正粗黑宋简体" pitchFamily="2" charset="-122"/>
                <a:cs typeface="Times New Roman" panose="02020603050405020304" pitchFamily="18" charset="0"/>
              </a:rPr>
              <a:t>高电平</a:t>
            </a:r>
            <a:r>
              <a:rPr lang="zh-CN" altLang="en-US" sz="1400" b="0" dirty="0">
                <a:solidFill>
                  <a:schemeClr val="tx1"/>
                </a:solidFill>
                <a:ea typeface="黑体" pitchFamily="49" charset="-122"/>
                <a:cs typeface="Times New Roman" pitchFamily="18" charset="0"/>
              </a:rPr>
              <a:t>）。 </a:t>
            </a:r>
          </a:p>
        </p:txBody>
      </p:sp>
    </p:spTree>
    <p:extLst>
      <p:ext uri="{BB962C8B-B14F-4D97-AF65-F5344CB8AC3E}">
        <p14:creationId xmlns:p14="http://schemas.microsoft.com/office/powerpoint/2010/main" val="1922508963"/>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slide(fromBottom)">
                                      <p:cBhvr>
                                        <p:cTn id="7" dur="1000"/>
                                        <p:tgtEl>
                                          <p:spTgt spid="97"/>
                                        </p:tgtEl>
                                      </p:cBhvr>
                                    </p:animEffect>
                                  </p:childTnLst>
                                </p:cTn>
                              </p:par>
                            </p:childTnLst>
                          </p:cTn>
                        </p:par>
                        <p:par>
                          <p:cTn id="8" fill="hold">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94"/>
                                        </p:tgtEl>
                                        <p:attrNameLst>
                                          <p:attrName>style.visibility</p:attrName>
                                        </p:attrNameLst>
                                      </p:cBhvr>
                                      <p:to>
                                        <p:strVal val="visible"/>
                                      </p:to>
                                    </p:set>
                                    <p:animEffect transition="in" filter="slide(fromBottom)">
                                      <p:cBhvr>
                                        <p:cTn id="11" dur="1000"/>
                                        <p:tgtEl>
                                          <p:spTgt spid="94"/>
                                        </p:tgtEl>
                                      </p:cBhvr>
                                    </p:animEffect>
                                  </p:childTnLst>
                                </p:cTn>
                              </p:par>
                              <p:par>
                                <p:cTn id="12" presetID="12" presetClass="entr" presetSubtype="4" fill="hold" grpId="0" nodeType="withEffect">
                                  <p:stCondLst>
                                    <p:cond delay="0"/>
                                  </p:stCondLst>
                                  <p:childTnLst>
                                    <p:set>
                                      <p:cBhvr>
                                        <p:cTn id="13" dur="1" fill="hold">
                                          <p:stCondLst>
                                            <p:cond delay="0"/>
                                          </p:stCondLst>
                                        </p:cTn>
                                        <p:tgtEl>
                                          <p:spTgt spid="98"/>
                                        </p:tgtEl>
                                        <p:attrNameLst>
                                          <p:attrName>style.visibility</p:attrName>
                                        </p:attrNameLst>
                                      </p:cBhvr>
                                      <p:to>
                                        <p:strVal val="visible"/>
                                      </p:to>
                                    </p:set>
                                    <p:animEffect transition="in" filter="slide(fromBottom)">
                                      <p:cBhvr>
                                        <p:cTn id="14" dur="1000"/>
                                        <p:tgtEl>
                                          <p:spTgt spid="98"/>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2" fill="hold" grpId="0" nodeType="clickEffect">
                                  <p:stCondLst>
                                    <p:cond delay="0"/>
                                  </p:stCondLst>
                                  <p:childTnLst>
                                    <p:set>
                                      <p:cBhvr>
                                        <p:cTn id="18" dur="1" fill="hold">
                                          <p:stCondLst>
                                            <p:cond delay="0"/>
                                          </p:stCondLst>
                                        </p:cTn>
                                        <p:tgtEl>
                                          <p:spTgt spid="100"/>
                                        </p:tgtEl>
                                        <p:attrNameLst>
                                          <p:attrName>style.visibility</p:attrName>
                                        </p:attrNameLst>
                                      </p:cBhvr>
                                      <p:to>
                                        <p:strVal val="visible"/>
                                      </p:to>
                                    </p:set>
                                    <p:animEffect transition="in" filter="wipe(right)">
                                      <p:cBhvr>
                                        <p:cTn id="19" dur="1000"/>
                                        <p:tgtEl>
                                          <p:spTgt spid="100"/>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up)">
                                      <p:cBhvr>
                                        <p:cTn id="24" dur="20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105"/>
                                        </p:tgtEl>
                                        <p:attrNameLst>
                                          <p:attrName>style.visibility</p:attrName>
                                        </p:attrNameLst>
                                      </p:cBhvr>
                                      <p:to>
                                        <p:strVal val="visible"/>
                                      </p:to>
                                    </p:set>
                                    <p:animEffect transition="in" filter="wipe(up)">
                                      <p:cBhvr>
                                        <p:cTn id="29" dur="2000"/>
                                        <p:tgtEl>
                                          <p:spTgt spid="105"/>
                                        </p:tgtEl>
                                      </p:cBhvr>
                                    </p:animEffect>
                                  </p:childTnLst>
                                </p:cTn>
                              </p:par>
                            </p:childTnLst>
                          </p:cTn>
                        </p:par>
                        <p:par>
                          <p:cTn id="30" fill="hold">
                            <p:stCondLst>
                              <p:cond delay="2000"/>
                            </p:stCondLst>
                            <p:childTnLst>
                              <p:par>
                                <p:cTn id="31" presetID="12" presetClass="entr" presetSubtype="4" fill="hold" grpId="0" nodeType="afterEffect">
                                  <p:stCondLst>
                                    <p:cond delay="0"/>
                                  </p:stCondLst>
                                  <p:childTnLst>
                                    <p:set>
                                      <p:cBhvr>
                                        <p:cTn id="32" dur="1" fill="hold">
                                          <p:stCondLst>
                                            <p:cond delay="0"/>
                                          </p:stCondLst>
                                        </p:cTn>
                                        <p:tgtEl>
                                          <p:spTgt spid="101"/>
                                        </p:tgtEl>
                                        <p:attrNameLst>
                                          <p:attrName>style.visibility</p:attrName>
                                        </p:attrNameLst>
                                      </p:cBhvr>
                                      <p:to>
                                        <p:strVal val="visible"/>
                                      </p:to>
                                    </p:set>
                                    <p:animEffect transition="in" filter="slide(fromBottom)">
                                      <p:cBhvr>
                                        <p:cTn id="33" dur="1000"/>
                                        <p:tgtEl>
                                          <p:spTgt spid="10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15"/>
                                        </p:tgtEl>
                                        <p:attrNameLst>
                                          <p:attrName>style.visibility</p:attrName>
                                        </p:attrNameLst>
                                      </p:cBhvr>
                                      <p:to>
                                        <p:strVal val="visible"/>
                                      </p:to>
                                    </p:set>
                                    <p:animEffect transition="in" filter="wipe(left)">
                                      <p:cBhvr>
                                        <p:cTn id="38" dur="1000"/>
                                        <p:tgtEl>
                                          <p:spTgt spid="115"/>
                                        </p:tgtEl>
                                      </p:cBhvr>
                                    </p:animEffect>
                                  </p:childTnLst>
                                </p:cTn>
                              </p:par>
                            </p:childTnLst>
                          </p:cTn>
                        </p:par>
                        <p:par>
                          <p:cTn id="39" fill="hold">
                            <p:stCondLst>
                              <p:cond delay="1000"/>
                            </p:stCondLst>
                            <p:childTnLst>
                              <p:par>
                                <p:cTn id="40" presetID="12" presetClass="entr" presetSubtype="2" fill="hold" grpId="0" nodeType="afterEffect">
                                  <p:stCondLst>
                                    <p:cond delay="0"/>
                                  </p:stCondLst>
                                  <p:childTnLst>
                                    <p:set>
                                      <p:cBhvr>
                                        <p:cTn id="41" dur="1" fill="hold">
                                          <p:stCondLst>
                                            <p:cond delay="0"/>
                                          </p:stCondLst>
                                        </p:cTn>
                                        <p:tgtEl>
                                          <p:spTgt spid="114"/>
                                        </p:tgtEl>
                                        <p:attrNameLst>
                                          <p:attrName>style.visibility</p:attrName>
                                        </p:attrNameLst>
                                      </p:cBhvr>
                                      <p:to>
                                        <p:strVal val="visible"/>
                                      </p:to>
                                    </p:set>
                                    <p:animEffect transition="in" filter="slide(fromRight)">
                                      <p:cBhvr>
                                        <p:cTn id="42" dur="1000"/>
                                        <p:tgtEl>
                                          <p:spTgt spid="114"/>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4" fill="hold" grpId="0" nodeType="clickEffect">
                                  <p:stCondLst>
                                    <p:cond delay="0"/>
                                  </p:stCondLst>
                                  <p:childTnLst>
                                    <p:set>
                                      <p:cBhvr>
                                        <p:cTn id="46" dur="1" fill="hold">
                                          <p:stCondLst>
                                            <p:cond delay="0"/>
                                          </p:stCondLst>
                                        </p:cTn>
                                        <p:tgtEl>
                                          <p:spTgt spid="99"/>
                                        </p:tgtEl>
                                        <p:attrNameLst>
                                          <p:attrName>style.visibility</p:attrName>
                                        </p:attrNameLst>
                                      </p:cBhvr>
                                      <p:to>
                                        <p:strVal val="visible"/>
                                      </p:to>
                                    </p:set>
                                    <p:animEffect transition="in" filter="slide(fromBottom)">
                                      <p:cBhvr>
                                        <p:cTn id="47" dur="10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p:bldP spid="99" grpId="0"/>
      <p:bldP spid="94" grpId="0"/>
      <p:bldP spid="98" grpId="0" animBg="1"/>
      <p:bldP spid="100" grpId="0" animBg="1"/>
      <p:bldP spid="105" grpId="0" animBg="1"/>
      <p:bldP spid="114" grpId="0" animBg="1"/>
      <p:bldP spid="10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82575" y="734179"/>
            <a:ext cx="2718472" cy="373579"/>
            <a:chOff x="307975" y="1517134"/>
            <a:chExt cx="2718472" cy="373579"/>
          </a:xfrm>
        </p:grpSpPr>
        <p:grpSp>
          <p:nvGrpSpPr>
            <p:cNvPr id="3" name="组合 32"/>
            <p:cNvGrpSpPr/>
            <p:nvPr/>
          </p:nvGrpSpPr>
          <p:grpSpPr>
            <a:xfrm>
              <a:off x="307975" y="1519116"/>
              <a:ext cx="568325" cy="371597"/>
              <a:chOff x="307975" y="1519116"/>
              <a:chExt cx="568325" cy="371597"/>
            </a:xfrm>
          </p:grpSpPr>
          <p:pic>
            <p:nvPicPr>
              <p:cNvPr id="5" name="Picture 4"/>
              <p:cNvPicPr>
                <a:picLocks noChangeAspect="1" noChangeArrowheads="1"/>
              </p:cNvPicPr>
              <p:nvPr/>
            </p:nvPicPr>
            <p:blipFill>
              <a:blip r:embed="rId2" cstate="print"/>
              <a:srcRect/>
              <a:stretch>
                <a:fillRect/>
              </a:stretch>
            </p:blipFill>
            <p:spPr bwMode="auto">
              <a:xfrm flipH="1">
                <a:off x="307975" y="1519116"/>
                <a:ext cx="568325" cy="371597"/>
              </a:xfrm>
              <a:prstGeom prst="rect">
                <a:avLst/>
              </a:prstGeom>
              <a:noFill/>
              <a:ln w="9525">
                <a:noFill/>
                <a:miter lim="800000"/>
                <a:headEnd/>
                <a:tailEnd/>
              </a:ln>
              <a:effectLst/>
            </p:spPr>
          </p:pic>
          <p:sp>
            <p:nvSpPr>
              <p:cNvPr id="6" name="TextBox 5"/>
              <p:cNvSpPr txBox="1"/>
              <p:nvPr/>
            </p:nvSpPr>
            <p:spPr>
              <a:xfrm flipH="1">
                <a:off x="443415" y="1555750"/>
                <a:ext cx="137858" cy="276999"/>
              </a:xfrm>
              <a:prstGeom prst="rect">
                <a:avLst/>
              </a:prstGeom>
              <a:noFill/>
            </p:spPr>
            <p:txBody>
              <a:bodyPr wrap="none" lIns="0" tIns="0" rIns="0" bIns="0" rtlCol="0">
                <a:spAutoFit/>
              </a:bodyPr>
              <a:lstStyle/>
              <a:p>
                <a:r>
                  <a:rPr lang="en-US" altLang="zh-CN" b="1" dirty="0">
                    <a:solidFill>
                      <a:srgbClr val="262626"/>
                    </a:solidFill>
                    <a:latin typeface="Segoe UI Black" pitchFamily="34" charset="0"/>
                    <a:ea typeface="Segoe UI Black" pitchFamily="34" charset="0"/>
                    <a:cs typeface="Times New Roman" pitchFamily="18" charset="0"/>
                  </a:rPr>
                  <a:t>2</a:t>
                </a:r>
                <a:endParaRPr lang="zh-CN" altLang="en-US" b="1" dirty="0">
                  <a:solidFill>
                    <a:srgbClr val="262626"/>
                  </a:solidFill>
                  <a:latin typeface="Segoe UI Black" pitchFamily="34" charset="0"/>
                  <a:cs typeface="Times New Roman" pitchFamily="18" charset="0"/>
                </a:endParaRPr>
              </a:p>
            </p:txBody>
          </p:sp>
        </p:grpSp>
        <p:sp>
          <p:nvSpPr>
            <p:cNvPr id="4" name="矩形 3"/>
            <p:cNvSpPr/>
            <p:nvPr/>
          </p:nvSpPr>
          <p:spPr>
            <a:xfrm>
              <a:off x="863675" y="1517134"/>
              <a:ext cx="2162772" cy="369332"/>
            </a:xfrm>
            <a:prstGeom prst="rect">
              <a:avLst/>
            </a:prstGeom>
          </p:spPr>
          <p:txBody>
            <a:bodyPr wrap="none">
              <a:spAutoFit/>
            </a:bodyPr>
            <a:lstStyle/>
            <a:p>
              <a:r>
                <a:rPr lang="en-US" altLang="zh-CN" b="1" dirty="0">
                  <a:solidFill>
                    <a:schemeClr val="accent1">
                      <a:lumMod val="50000"/>
                    </a:schemeClr>
                  </a:solidFill>
                  <a:latin typeface="黑体" pitchFamily="49" charset="-122"/>
                  <a:ea typeface="黑体" pitchFamily="49" charset="-122"/>
                  <a:cs typeface="Times New Roman" pitchFamily="18" charset="0"/>
                </a:rPr>
                <a:t>TTL</a:t>
              </a:r>
              <a:r>
                <a:rPr lang="zh-CN" altLang="en-US" b="1" dirty="0">
                  <a:solidFill>
                    <a:schemeClr val="accent1">
                      <a:lumMod val="50000"/>
                    </a:schemeClr>
                  </a:solidFill>
                  <a:latin typeface="黑体" pitchFamily="49" charset="-122"/>
                  <a:ea typeface="黑体" pitchFamily="49" charset="-122"/>
                  <a:cs typeface="Times New Roman" pitchFamily="18" charset="0"/>
                </a:rPr>
                <a:t>非门的基本电路</a:t>
              </a:r>
            </a:p>
          </p:txBody>
        </p:sp>
      </p:grpSp>
      <p:sp>
        <p:nvSpPr>
          <p:cNvPr id="7" name="Rectangle 6"/>
          <p:cNvSpPr>
            <a:spLocks noChangeArrowheads="1"/>
          </p:cNvSpPr>
          <p:nvPr/>
        </p:nvSpPr>
        <p:spPr bwMode="auto">
          <a:xfrm>
            <a:off x="171769" y="1258108"/>
            <a:ext cx="2907929" cy="338554"/>
          </a:xfrm>
          <a:prstGeom prst="rect">
            <a:avLst/>
          </a:prstGeom>
          <a:noFill/>
          <a:ln w="9525" algn="ctr">
            <a:noFill/>
            <a:miter lim="800000"/>
            <a:headEnd/>
            <a:tailEnd/>
          </a:ln>
        </p:spPr>
        <p:txBody>
          <a:bodyPr wrap="square">
            <a:spAutoFit/>
          </a:bodyPr>
          <a:lstStyle/>
          <a:p>
            <a:r>
              <a:rPr lang="zh-CN" altLang="en-US" sz="1600" b="1" dirty="0">
                <a:solidFill>
                  <a:srgbClr val="6600FF"/>
                </a:solidFill>
                <a:latin typeface="方正粗黑宋简体" pitchFamily="2" charset="-122"/>
                <a:ea typeface="方正粗黑宋简体" pitchFamily="2" charset="-122"/>
              </a:rPr>
              <a:t>（</a:t>
            </a:r>
            <a:r>
              <a:rPr lang="en-US" altLang="zh-CN" sz="1600" b="1" dirty="0">
                <a:solidFill>
                  <a:srgbClr val="6600FF"/>
                </a:solidFill>
                <a:latin typeface="方正粗黑宋简体" pitchFamily="2" charset="-122"/>
                <a:ea typeface="方正粗黑宋简体" pitchFamily="2" charset="-122"/>
              </a:rPr>
              <a:t>3</a:t>
            </a:r>
            <a:r>
              <a:rPr lang="zh-CN" altLang="en-US" sz="1600" b="1" dirty="0">
                <a:solidFill>
                  <a:srgbClr val="6600FF"/>
                </a:solidFill>
                <a:latin typeface="方正粗黑宋简体" pitchFamily="2" charset="-122"/>
                <a:ea typeface="方正粗黑宋简体" pitchFamily="2" charset="-122"/>
              </a:rPr>
              <a:t>）电路的工作特点</a:t>
            </a:r>
          </a:p>
        </p:txBody>
      </p:sp>
      <p:grpSp>
        <p:nvGrpSpPr>
          <p:cNvPr id="96" name="组合 95"/>
          <p:cNvGrpSpPr/>
          <p:nvPr/>
        </p:nvGrpSpPr>
        <p:grpSpPr>
          <a:xfrm>
            <a:off x="5435281" y="858538"/>
            <a:ext cx="3536950" cy="3018059"/>
            <a:chOff x="5130801" y="776701"/>
            <a:chExt cx="3536950" cy="3018059"/>
          </a:xfrm>
          <a:solidFill>
            <a:schemeClr val="bg1"/>
          </a:solidFill>
        </p:grpSpPr>
        <p:sp>
          <p:nvSpPr>
            <p:cNvPr id="10" name="AutoShape 9"/>
            <p:cNvSpPr>
              <a:spLocks noChangeArrowheads="1"/>
            </p:cNvSpPr>
            <p:nvPr/>
          </p:nvSpPr>
          <p:spPr bwMode="auto">
            <a:xfrm>
              <a:off x="5130801" y="776701"/>
              <a:ext cx="3536950" cy="3004891"/>
            </a:xfrm>
            <a:prstGeom prst="roundRect">
              <a:avLst>
                <a:gd name="adj" fmla="val 6551"/>
              </a:avLst>
            </a:prstGeom>
            <a:grpFill/>
            <a:ln w="19050">
              <a:solidFill>
                <a:srgbClr val="0070C0"/>
              </a:solidFill>
              <a:miter lim="800000"/>
              <a:headEnd/>
              <a:tailEnd/>
            </a:ln>
          </p:spPr>
          <p:txBody>
            <a:bodyPr wrap="none" anchor="ctr"/>
            <a:lstStyle/>
            <a:p>
              <a:endParaRPr lang="zh-CN" altLang="en-US">
                <a:solidFill>
                  <a:srgbClr val="080808"/>
                </a:solidFill>
                <a:latin typeface="Times New Roman" pitchFamily="18" charset="0"/>
                <a:cs typeface="Times New Roman" pitchFamily="18" charset="0"/>
              </a:endParaRPr>
            </a:p>
          </p:txBody>
        </p:sp>
        <p:sp>
          <p:nvSpPr>
            <p:cNvPr id="14" name="Rectangle 13"/>
            <p:cNvSpPr>
              <a:spLocks noChangeArrowheads="1"/>
            </p:cNvSpPr>
            <p:nvPr/>
          </p:nvSpPr>
          <p:spPr bwMode="auto">
            <a:xfrm>
              <a:off x="8323495" y="2654429"/>
              <a:ext cx="131855" cy="276524"/>
            </a:xfrm>
            <a:prstGeom prst="rect">
              <a:avLst/>
            </a:prstGeom>
            <a:grpFill/>
            <a:ln w="9525">
              <a:noFill/>
              <a:miter lim="800000"/>
              <a:headEnd/>
              <a:tailEnd/>
            </a:ln>
          </p:spPr>
          <p:txBody>
            <a:bodyPr wrap="none" lIns="0" tIns="0" rIns="0" bIns="0">
              <a:spAutoFit/>
            </a:bodyPr>
            <a:lstStyle/>
            <a:p>
              <a:r>
                <a:rPr lang="en-US" altLang="zh-CN" b="1" i="1" dirty="0">
                  <a:solidFill>
                    <a:srgbClr val="080808"/>
                  </a:solidFill>
                  <a:latin typeface="Times New Roman" pitchFamily="18" charset="0"/>
                  <a:cs typeface="Times New Roman" pitchFamily="18" charset="0"/>
                </a:rPr>
                <a:t>+</a:t>
              </a:r>
              <a:endParaRPr lang="en-US" altLang="zh-CN" sz="2000" b="1" dirty="0">
                <a:solidFill>
                  <a:srgbClr val="080808"/>
                </a:solidFill>
                <a:latin typeface="Times New Roman" pitchFamily="18" charset="0"/>
                <a:cs typeface="Times New Roman" pitchFamily="18" charset="0"/>
              </a:endParaRPr>
            </a:p>
          </p:txBody>
        </p:sp>
        <p:sp>
          <p:nvSpPr>
            <p:cNvPr id="15" name="Rectangle 14"/>
            <p:cNvSpPr>
              <a:spLocks noChangeArrowheads="1"/>
            </p:cNvSpPr>
            <p:nvPr/>
          </p:nvSpPr>
          <p:spPr bwMode="auto">
            <a:xfrm>
              <a:off x="8347341" y="3011276"/>
              <a:ext cx="115022" cy="276524"/>
            </a:xfrm>
            <a:prstGeom prst="rect">
              <a:avLst/>
            </a:prstGeom>
            <a:grpFill/>
            <a:ln w="9525">
              <a:noFill/>
              <a:miter lim="800000"/>
              <a:headEnd/>
              <a:tailEnd/>
            </a:ln>
          </p:spPr>
          <p:txBody>
            <a:bodyPr wrap="none" lIns="0" tIns="0" rIns="0" bIns="0">
              <a:spAutoFit/>
            </a:bodyPr>
            <a:lstStyle/>
            <a:p>
              <a:r>
                <a:rPr lang="en-US" altLang="zh-CN" b="1" i="1">
                  <a:solidFill>
                    <a:srgbClr val="080808"/>
                  </a:solidFill>
                  <a:latin typeface="Times New Roman" pitchFamily="18" charset="0"/>
                  <a:cs typeface="Times New Roman" pitchFamily="18" charset="0"/>
                </a:rPr>
                <a:t>_</a:t>
              </a:r>
              <a:endParaRPr lang="en-US" altLang="zh-CN" sz="2000" b="1">
                <a:solidFill>
                  <a:srgbClr val="080808"/>
                </a:solidFill>
                <a:latin typeface="Times New Roman" pitchFamily="18" charset="0"/>
                <a:cs typeface="Times New Roman" pitchFamily="18" charset="0"/>
              </a:endParaRPr>
            </a:p>
          </p:txBody>
        </p:sp>
        <p:sp>
          <p:nvSpPr>
            <p:cNvPr id="16" name="Rectangle 15"/>
            <p:cNvSpPr>
              <a:spLocks noChangeArrowheads="1"/>
            </p:cNvSpPr>
            <p:nvPr/>
          </p:nvSpPr>
          <p:spPr bwMode="auto">
            <a:xfrm>
              <a:off x="8270192" y="2887499"/>
              <a:ext cx="290361" cy="276524"/>
            </a:xfrm>
            <a:prstGeom prst="rect">
              <a:avLst/>
            </a:prstGeom>
            <a:grpFill/>
            <a:ln w="9525">
              <a:noFill/>
              <a:miter lim="800000"/>
              <a:headEnd/>
              <a:tailEnd/>
            </a:ln>
          </p:spPr>
          <p:txBody>
            <a:bodyPr wrap="square" lIns="0" tIns="0" rIns="0" bIns="0">
              <a:spAutoFit/>
            </a:bodyPr>
            <a:lstStyle/>
            <a:p>
              <a:r>
                <a:rPr lang="en-US" altLang="zh-CN" b="1" i="1" dirty="0">
                  <a:solidFill>
                    <a:srgbClr val="6600FF"/>
                  </a:solidFill>
                  <a:latin typeface="Times New Roman" pitchFamily="18" charset="0"/>
                  <a:ea typeface="微软雅黑" pitchFamily="34" charset="-122"/>
                  <a:cs typeface="Times New Roman" pitchFamily="18" charset="0"/>
                  <a:sym typeface="Symbol" pitchFamily="18" charset="2"/>
                </a:rPr>
                <a:t></a:t>
              </a:r>
              <a:r>
                <a:rPr lang="en-US" altLang="zh-CN" b="1" baseline="-25000" dirty="0">
                  <a:solidFill>
                    <a:srgbClr val="6600FF"/>
                  </a:solidFill>
                  <a:latin typeface="Times New Roman" pitchFamily="18" charset="0"/>
                  <a:ea typeface="微软雅黑" pitchFamily="34" charset="-122"/>
                  <a:cs typeface="Times New Roman" pitchFamily="18" charset="0"/>
                </a:rPr>
                <a:t>O</a:t>
              </a:r>
              <a:endParaRPr lang="en-US" altLang="zh-CN" sz="2000" dirty="0">
                <a:solidFill>
                  <a:srgbClr val="080808"/>
                </a:solidFill>
                <a:latin typeface="Times New Roman" pitchFamily="18" charset="0"/>
                <a:cs typeface="Times New Roman" pitchFamily="18" charset="0"/>
              </a:endParaRPr>
            </a:p>
          </p:txBody>
        </p:sp>
        <p:sp>
          <p:nvSpPr>
            <p:cNvPr id="17" name="Freeform 17"/>
            <p:cNvSpPr>
              <a:spLocks noEditPoints="1"/>
            </p:cNvSpPr>
            <p:nvPr/>
          </p:nvSpPr>
          <p:spPr bwMode="auto">
            <a:xfrm>
              <a:off x="5620475" y="2027642"/>
              <a:ext cx="524613" cy="346313"/>
            </a:xfrm>
            <a:custGeom>
              <a:avLst/>
              <a:gdLst>
                <a:gd name="T0" fmla="*/ 188 w 374"/>
                <a:gd name="T1" fmla="*/ 0 h 263"/>
                <a:gd name="T2" fmla="*/ 188 w 374"/>
                <a:gd name="T3" fmla="*/ 132 h 263"/>
                <a:gd name="T4" fmla="*/ 93 w 374"/>
                <a:gd name="T5" fmla="*/ 132 h 263"/>
                <a:gd name="T6" fmla="*/ 281 w 374"/>
                <a:gd name="T7" fmla="*/ 132 h 263"/>
                <a:gd name="T8" fmla="*/ 234 w 374"/>
                <a:gd name="T9" fmla="*/ 132 h 263"/>
                <a:gd name="T10" fmla="*/ 290 w 374"/>
                <a:gd name="T11" fmla="*/ 263 h 263"/>
                <a:gd name="T12" fmla="*/ 374 w 374"/>
                <a:gd name="T13" fmla="*/ 263 h 263"/>
                <a:gd name="T14" fmla="*/ 140 w 374"/>
                <a:gd name="T15" fmla="*/ 132 h 263"/>
                <a:gd name="T16" fmla="*/ 82 w 374"/>
                <a:gd name="T17" fmla="*/ 263 h 263"/>
                <a:gd name="T18" fmla="*/ 0 w 374"/>
                <a:gd name="T19" fmla="*/ 263 h 2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74"/>
                <a:gd name="T31" fmla="*/ 0 h 263"/>
                <a:gd name="T32" fmla="*/ 374 w 374"/>
                <a:gd name="T33" fmla="*/ 263 h 2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74" h="263">
                  <a:moveTo>
                    <a:pt x="188" y="0"/>
                  </a:moveTo>
                  <a:lnTo>
                    <a:pt x="188" y="132"/>
                  </a:lnTo>
                  <a:moveTo>
                    <a:pt x="93" y="132"/>
                  </a:moveTo>
                  <a:lnTo>
                    <a:pt x="281" y="132"/>
                  </a:lnTo>
                  <a:moveTo>
                    <a:pt x="234" y="132"/>
                  </a:moveTo>
                  <a:lnTo>
                    <a:pt x="290" y="263"/>
                  </a:lnTo>
                  <a:lnTo>
                    <a:pt x="374" y="263"/>
                  </a:lnTo>
                  <a:moveTo>
                    <a:pt x="140" y="132"/>
                  </a:moveTo>
                  <a:lnTo>
                    <a:pt x="82" y="263"/>
                  </a:lnTo>
                  <a:lnTo>
                    <a:pt x="0" y="263"/>
                  </a:lnTo>
                </a:path>
              </a:pathLst>
            </a:cu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19" name="Freeform 19"/>
            <p:cNvSpPr>
              <a:spLocks/>
            </p:cNvSpPr>
            <p:nvPr/>
          </p:nvSpPr>
          <p:spPr bwMode="auto">
            <a:xfrm>
              <a:off x="5728483" y="2327868"/>
              <a:ext cx="43484" cy="48721"/>
            </a:xfrm>
            <a:custGeom>
              <a:avLst/>
              <a:gdLst>
                <a:gd name="T0" fmla="*/ 2 w 31"/>
                <a:gd name="T1" fmla="*/ 37 h 37"/>
                <a:gd name="T2" fmla="*/ 0 w 31"/>
                <a:gd name="T3" fmla="*/ 0 h 37"/>
                <a:gd name="T4" fmla="*/ 31 w 31"/>
                <a:gd name="T5" fmla="*/ 13 h 37"/>
                <a:gd name="T6" fmla="*/ 2 w 31"/>
                <a:gd name="T7" fmla="*/ 37 h 37"/>
                <a:gd name="T8" fmla="*/ 0 60000 65536"/>
                <a:gd name="T9" fmla="*/ 0 60000 65536"/>
                <a:gd name="T10" fmla="*/ 0 60000 65536"/>
                <a:gd name="T11" fmla="*/ 0 60000 65536"/>
                <a:gd name="T12" fmla="*/ 0 w 31"/>
                <a:gd name="T13" fmla="*/ 0 h 37"/>
                <a:gd name="T14" fmla="*/ 31 w 31"/>
                <a:gd name="T15" fmla="*/ 37 h 37"/>
              </a:gdLst>
              <a:ahLst/>
              <a:cxnLst>
                <a:cxn ang="T8">
                  <a:pos x="T0" y="T1"/>
                </a:cxn>
                <a:cxn ang="T9">
                  <a:pos x="T2" y="T3"/>
                </a:cxn>
                <a:cxn ang="T10">
                  <a:pos x="T4" y="T5"/>
                </a:cxn>
                <a:cxn ang="T11">
                  <a:pos x="T6" y="T7"/>
                </a:cxn>
              </a:cxnLst>
              <a:rect l="T12" t="T13" r="T14" b="T15"/>
              <a:pathLst>
                <a:path w="31" h="37">
                  <a:moveTo>
                    <a:pt x="2" y="37"/>
                  </a:moveTo>
                  <a:lnTo>
                    <a:pt x="0" y="0"/>
                  </a:lnTo>
                  <a:lnTo>
                    <a:pt x="31" y="13"/>
                  </a:lnTo>
                  <a:lnTo>
                    <a:pt x="2" y="37"/>
                  </a:lnTo>
                  <a:close/>
                </a:path>
              </a:pathLst>
            </a:cu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20" name="Rectangle 20"/>
            <p:cNvSpPr>
              <a:spLocks noChangeArrowheads="1"/>
            </p:cNvSpPr>
            <p:nvPr/>
          </p:nvSpPr>
          <p:spPr bwMode="auto">
            <a:xfrm>
              <a:off x="5781786" y="2384489"/>
              <a:ext cx="200587" cy="252822"/>
            </a:xfrm>
            <a:prstGeom prst="rect">
              <a:avLst/>
            </a:prstGeom>
            <a:grpFill/>
            <a:ln w="9525">
              <a:noFill/>
              <a:miter lim="800000"/>
              <a:headEnd/>
              <a:tailEnd/>
            </a:ln>
          </p:spPr>
          <p:txBody>
            <a:bodyPr wrap="none" lIns="0" tIns="0" rIns="0" bIns="0">
              <a:spAutoFit/>
            </a:bodyPr>
            <a:lstStyle/>
            <a:p>
              <a:r>
                <a:rPr lang="en-US" altLang="zh-CN" sz="1800" b="1" i="1" dirty="0">
                  <a:solidFill>
                    <a:srgbClr val="080808"/>
                  </a:solidFill>
                  <a:latin typeface="Times New Roman" pitchFamily="18" charset="0"/>
                  <a:cs typeface="Times New Roman" pitchFamily="18" charset="0"/>
                </a:rPr>
                <a:t>T</a:t>
              </a:r>
              <a:r>
                <a:rPr lang="en-US" altLang="zh-CN" sz="1800" baseline="-25000" dirty="0">
                  <a:solidFill>
                    <a:srgbClr val="080808"/>
                  </a:solidFill>
                  <a:latin typeface="Times New Roman" pitchFamily="18" charset="0"/>
                  <a:cs typeface="Times New Roman" pitchFamily="18" charset="0"/>
                </a:rPr>
                <a:t>1</a:t>
              </a:r>
              <a:endParaRPr lang="en-US" altLang="zh-CN" sz="2000" baseline="-25000" dirty="0">
                <a:solidFill>
                  <a:srgbClr val="080808"/>
                </a:solidFill>
                <a:latin typeface="Times New Roman" pitchFamily="18" charset="0"/>
                <a:cs typeface="Times New Roman" pitchFamily="18" charset="0"/>
              </a:endParaRPr>
            </a:p>
          </p:txBody>
        </p:sp>
        <p:sp>
          <p:nvSpPr>
            <p:cNvPr id="21" name="Freeform 22"/>
            <p:cNvSpPr>
              <a:spLocks noEditPoints="1"/>
            </p:cNvSpPr>
            <p:nvPr/>
          </p:nvSpPr>
          <p:spPr bwMode="auto">
            <a:xfrm>
              <a:off x="6188572" y="2142202"/>
              <a:ext cx="391356" cy="468774"/>
            </a:xfrm>
            <a:custGeom>
              <a:avLst/>
              <a:gdLst>
                <a:gd name="T0" fmla="*/ 0 w 279"/>
                <a:gd name="T1" fmla="*/ 177 h 356"/>
                <a:gd name="T2" fmla="*/ 139 w 279"/>
                <a:gd name="T3" fmla="*/ 177 h 356"/>
                <a:gd name="T4" fmla="*/ 139 w 279"/>
                <a:gd name="T5" fmla="*/ 266 h 356"/>
                <a:gd name="T6" fmla="*/ 139 w 279"/>
                <a:gd name="T7" fmla="*/ 89 h 356"/>
                <a:gd name="T8" fmla="*/ 139 w 279"/>
                <a:gd name="T9" fmla="*/ 134 h 356"/>
                <a:gd name="T10" fmla="*/ 279 w 279"/>
                <a:gd name="T11" fmla="*/ 79 h 356"/>
                <a:gd name="T12" fmla="*/ 279 w 279"/>
                <a:gd name="T13" fmla="*/ 0 h 356"/>
                <a:gd name="T14" fmla="*/ 139 w 279"/>
                <a:gd name="T15" fmla="*/ 222 h 356"/>
                <a:gd name="T16" fmla="*/ 279 w 279"/>
                <a:gd name="T17" fmla="*/ 277 h 356"/>
                <a:gd name="T18" fmla="*/ 279 w 279"/>
                <a:gd name="T19" fmla="*/ 356 h 3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79"/>
                <a:gd name="T31" fmla="*/ 0 h 356"/>
                <a:gd name="T32" fmla="*/ 279 w 279"/>
                <a:gd name="T33" fmla="*/ 356 h 35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79" h="356">
                  <a:moveTo>
                    <a:pt x="0" y="177"/>
                  </a:moveTo>
                  <a:lnTo>
                    <a:pt x="139" y="177"/>
                  </a:lnTo>
                  <a:moveTo>
                    <a:pt x="139" y="266"/>
                  </a:moveTo>
                  <a:lnTo>
                    <a:pt x="139" y="89"/>
                  </a:lnTo>
                  <a:moveTo>
                    <a:pt x="139" y="134"/>
                  </a:moveTo>
                  <a:lnTo>
                    <a:pt x="279" y="79"/>
                  </a:lnTo>
                  <a:lnTo>
                    <a:pt x="279" y="0"/>
                  </a:lnTo>
                  <a:moveTo>
                    <a:pt x="139" y="222"/>
                  </a:moveTo>
                  <a:lnTo>
                    <a:pt x="279" y="277"/>
                  </a:lnTo>
                  <a:lnTo>
                    <a:pt x="279" y="356"/>
                  </a:lnTo>
                </a:path>
              </a:pathLst>
            </a:cu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22" name="Freeform 23"/>
            <p:cNvSpPr>
              <a:spLocks/>
            </p:cNvSpPr>
            <p:nvPr/>
          </p:nvSpPr>
          <p:spPr bwMode="auto">
            <a:xfrm>
              <a:off x="6523819" y="2472713"/>
              <a:ext cx="54706" cy="38187"/>
            </a:xfrm>
            <a:custGeom>
              <a:avLst/>
              <a:gdLst>
                <a:gd name="T0" fmla="*/ 39 w 39"/>
                <a:gd name="T1" fmla="*/ 27 h 29"/>
                <a:gd name="T2" fmla="*/ 0 w 39"/>
                <a:gd name="T3" fmla="*/ 29 h 29"/>
                <a:gd name="T4" fmla="*/ 13 w 39"/>
                <a:gd name="T5" fmla="*/ 0 h 29"/>
                <a:gd name="T6" fmla="*/ 39 w 39"/>
                <a:gd name="T7" fmla="*/ 27 h 29"/>
                <a:gd name="T8" fmla="*/ 0 60000 65536"/>
                <a:gd name="T9" fmla="*/ 0 60000 65536"/>
                <a:gd name="T10" fmla="*/ 0 60000 65536"/>
                <a:gd name="T11" fmla="*/ 0 60000 65536"/>
                <a:gd name="T12" fmla="*/ 0 w 39"/>
                <a:gd name="T13" fmla="*/ 0 h 29"/>
                <a:gd name="T14" fmla="*/ 39 w 39"/>
                <a:gd name="T15" fmla="*/ 29 h 29"/>
              </a:gdLst>
              <a:ahLst/>
              <a:cxnLst>
                <a:cxn ang="T8">
                  <a:pos x="T0" y="T1"/>
                </a:cxn>
                <a:cxn ang="T9">
                  <a:pos x="T2" y="T3"/>
                </a:cxn>
                <a:cxn ang="T10">
                  <a:pos x="T4" y="T5"/>
                </a:cxn>
                <a:cxn ang="T11">
                  <a:pos x="T6" y="T7"/>
                </a:cxn>
              </a:cxnLst>
              <a:rect l="T12" t="T13" r="T14" b="T15"/>
              <a:pathLst>
                <a:path w="39" h="29">
                  <a:moveTo>
                    <a:pt x="39" y="27"/>
                  </a:moveTo>
                  <a:lnTo>
                    <a:pt x="0" y="29"/>
                  </a:lnTo>
                  <a:lnTo>
                    <a:pt x="13" y="0"/>
                  </a:lnTo>
                  <a:lnTo>
                    <a:pt x="39" y="27"/>
                  </a:lnTo>
                  <a:close/>
                </a:path>
              </a:pathLst>
            </a:custGeom>
            <a:grpFill/>
            <a:ln w="9525">
              <a:noFill/>
              <a:round/>
              <a:headEnd/>
              <a:tailEnd/>
            </a:ln>
          </p:spPr>
          <p:txBody>
            <a:bodyPr/>
            <a:lstStyle/>
            <a:p>
              <a:endParaRPr lang="zh-CN" altLang="en-US">
                <a:latin typeface="Times New Roman" pitchFamily="18" charset="0"/>
                <a:cs typeface="Times New Roman" pitchFamily="18" charset="0"/>
              </a:endParaRPr>
            </a:p>
          </p:txBody>
        </p:sp>
        <p:sp>
          <p:nvSpPr>
            <p:cNvPr id="23" name="Freeform 24"/>
            <p:cNvSpPr>
              <a:spLocks/>
            </p:cNvSpPr>
            <p:nvPr/>
          </p:nvSpPr>
          <p:spPr bwMode="auto">
            <a:xfrm>
              <a:off x="6523819" y="2472713"/>
              <a:ext cx="54706" cy="38187"/>
            </a:xfrm>
            <a:custGeom>
              <a:avLst/>
              <a:gdLst>
                <a:gd name="T0" fmla="*/ 39 w 39"/>
                <a:gd name="T1" fmla="*/ 27 h 29"/>
                <a:gd name="T2" fmla="*/ 0 w 39"/>
                <a:gd name="T3" fmla="*/ 29 h 29"/>
                <a:gd name="T4" fmla="*/ 13 w 39"/>
                <a:gd name="T5" fmla="*/ 0 h 29"/>
                <a:gd name="T6" fmla="*/ 39 w 39"/>
                <a:gd name="T7" fmla="*/ 27 h 29"/>
                <a:gd name="T8" fmla="*/ 0 60000 65536"/>
                <a:gd name="T9" fmla="*/ 0 60000 65536"/>
                <a:gd name="T10" fmla="*/ 0 60000 65536"/>
                <a:gd name="T11" fmla="*/ 0 60000 65536"/>
                <a:gd name="T12" fmla="*/ 0 w 39"/>
                <a:gd name="T13" fmla="*/ 0 h 29"/>
                <a:gd name="T14" fmla="*/ 39 w 39"/>
                <a:gd name="T15" fmla="*/ 29 h 29"/>
              </a:gdLst>
              <a:ahLst/>
              <a:cxnLst>
                <a:cxn ang="T8">
                  <a:pos x="T0" y="T1"/>
                </a:cxn>
                <a:cxn ang="T9">
                  <a:pos x="T2" y="T3"/>
                </a:cxn>
                <a:cxn ang="T10">
                  <a:pos x="T4" y="T5"/>
                </a:cxn>
                <a:cxn ang="T11">
                  <a:pos x="T6" y="T7"/>
                </a:cxn>
              </a:cxnLst>
              <a:rect l="T12" t="T13" r="T14" b="T15"/>
              <a:pathLst>
                <a:path w="39" h="29">
                  <a:moveTo>
                    <a:pt x="39" y="27"/>
                  </a:moveTo>
                  <a:lnTo>
                    <a:pt x="0" y="29"/>
                  </a:lnTo>
                  <a:lnTo>
                    <a:pt x="13" y="0"/>
                  </a:lnTo>
                  <a:lnTo>
                    <a:pt x="39" y="27"/>
                  </a:lnTo>
                  <a:close/>
                </a:path>
              </a:pathLst>
            </a:cu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24" name="Rectangle 25"/>
            <p:cNvSpPr>
              <a:spLocks noChangeArrowheads="1"/>
            </p:cNvSpPr>
            <p:nvPr/>
          </p:nvSpPr>
          <p:spPr bwMode="auto">
            <a:xfrm>
              <a:off x="6600968" y="2259395"/>
              <a:ext cx="200587" cy="252822"/>
            </a:xfrm>
            <a:prstGeom prst="rect">
              <a:avLst/>
            </a:prstGeom>
            <a:grpFill/>
            <a:ln w="9525">
              <a:noFill/>
              <a:miter lim="800000"/>
              <a:headEnd/>
              <a:tailEnd/>
            </a:ln>
          </p:spPr>
          <p:txBody>
            <a:bodyPr wrap="none" lIns="0" tIns="0" rIns="0" bIns="0">
              <a:spAutoFit/>
            </a:bodyPr>
            <a:lstStyle/>
            <a:p>
              <a:r>
                <a:rPr lang="en-US" altLang="zh-CN" b="1" i="1" dirty="0">
                  <a:solidFill>
                    <a:srgbClr val="080808"/>
                  </a:solidFill>
                  <a:latin typeface="Times New Roman" pitchFamily="18" charset="0"/>
                  <a:cs typeface="Times New Roman" pitchFamily="18" charset="0"/>
                </a:rPr>
                <a:t>T</a:t>
              </a:r>
              <a:r>
                <a:rPr lang="en-US" altLang="zh-CN" baseline="-25000" dirty="0">
                  <a:solidFill>
                    <a:srgbClr val="080808"/>
                  </a:solidFill>
                  <a:latin typeface="Times New Roman" pitchFamily="18" charset="0"/>
                  <a:cs typeface="Times New Roman" pitchFamily="18" charset="0"/>
                </a:rPr>
                <a:t>2</a:t>
              </a:r>
              <a:endParaRPr lang="en-US" altLang="zh-CN" sz="2000" baseline="-25000" dirty="0">
                <a:solidFill>
                  <a:srgbClr val="080808"/>
                </a:solidFill>
                <a:latin typeface="Times New Roman" pitchFamily="18" charset="0"/>
                <a:cs typeface="Times New Roman" pitchFamily="18" charset="0"/>
              </a:endParaRPr>
            </a:p>
          </p:txBody>
        </p:sp>
        <p:sp>
          <p:nvSpPr>
            <p:cNvPr id="25" name="Freeform 27"/>
            <p:cNvSpPr>
              <a:spLocks noEditPoints="1"/>
            </p:cNvSpPr>
            <p:nvPr/>
          </p:nvSpPr>
          <p:spPr bwMode="auto">
            <a:xfrm>
              <a:off x="7153636" y="1699764"/>
              <a:ext cx="392759" cy="460873"/>
            </a:xfrm>
            <a:custGeom>
              <a:avLst/>
              <a:gdLst>
                <a:gd name="T0" fmla="*/ 0 w 280"/>
                <a:gd name="T1" fmla="*/ 175 h 350"/>
                <a:gd name="T2" fmla="*/ 140 w 280"/>
                <a:gd name="T3" fmla="*/ 175 h 350"/>
                <a:gd name="T4" fmla="*/ 140 w 280"/>
                <a:gd name="T5" fmla="*/ 263 h 350"/>
                <a:gd name="T6" fmla="*/ 140 w 280"/>
                <a:gd name="T7" fmla="*/ 88 h 350"/>
                <a:gd name="T8" fmla="*/ 140 w 280"/>
                <a:gd name="T9" fmla="*/ 131 h 350"/>
                <a:gd name="T10" fmla="*/ 280 w 280"/>
                <a:gd name="T11" fmla="*/ 78 h 350"/>
                <a:gd name="T12" fmla="*/ 280 w 280"/>
                <a:gd name="T13" fmla="*/ 0 h 350"/>
                <a:gd name="T14" fmla="*/ 140 w 280"/>
                <a:gd name="T15" fmla="*/ 220 h 350"/>
                <a:gd name="T16" fmla="*/ 280 w 280"/>
                <a:gd name="T17" fmla="*/ 274 h 350"/>
                <a:gd name="T18" fmla="*/ 280 w 280"/>
                <a:gd name="T19" fmla="*/ 350 h 3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0"/>
                <a:gd name="T31" fmla="*/ 0 h 350"/>
                <a:gd name="T32" fmla="*/ 280 w 280"/>
                <a:gd name="T33" fmla="*/ 350 h 35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0" h="350">
                  <a:moveTo>
                    <a:pt x="0" y="175"/>
                  </a:moveTo>
                  <a:lnTo>
                    <a:pt x="140" y="175"/>
                  </a:lnTo>
                  <a:moveTo>
                    <a:pt x="140" y="263"/>
                  </a:moveTo>
                  <a:lnTo>
                    <a:pt x="140" y="88"/>
                  </a:lnTo>
                  <a:moveTo>
                    <a:pt x="140" y="131"/>
                  </a:moveTo>
                  <a:lnTo>
                    <a:pt x="280" y="78"/>
                  </a:lnTo>
                  <a:lnTo>
                    <a:pt x="280" y="0"/>
                  </a:lnTo>
                  <a:moveTo>
                    <a:pt x="140" y="220"/>
                  </a:moveTo>
                  <a:lnTo>
                    <a:pt x="280" y="274"/>
                  </a:lnTo>
                  <a:lnTo>
                    <a:pt x="280" y="350"/>
                  </a:lnTo>
                </a:path>
              </a:pathLst>
            </a:cu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26" name="Freeform 28"/>
            <p:cNvSpPr>
              <a:spLocks/>
            </p:cNvSpPr>
            <p:nvPr/>
          </p:nvSpPr>
          <p:spPr bwMode="auto">
            <a:xfrm>
              <a:off x="7494494" y="2023691"/>
              <a:ext cx="53303" cy="39503"/>
            </a:xfrm>
            <a:custGeom>
              <a:avLst/>
              <a:gdLst>
                <a:gd name="T0" fmla="*/ 38 w 38"/>
                <a:gd name="T1" fmla="*/ 28 h 30"/>
                <a:gd name="T2" fmla="*/ 0 w 38"/>
                <a:gd name="T3" fmla="*/ 30 h 30"/>
                <a:gd name="T4" fmla="*/ 13 w 38"/>
                <a:gd name="T5" fmla="*/ 0 h 30"/>
                <a:gd name="T6" fmla="*/ 38 w 38"/>
                <a:gd name="T7" fmla="*/ 28 h 30"/>
                <a:gd name="T8" fmla="*/ 0 60000 65536"/>
                <a:gd name="T9" fmla="*/ 0 60000 65536"/>
                <a:gd name="T10" fmla="*/ 0 60000 65536"/>
                <a:gd name="T11" fmla="*/ 0 60000 65536"/>
                <a:gd name="T12" fmla="*/ 0 w 38"/>
                <a:gd name="T13" fmla="*/ 0 h 30"/>
                <a:gd name="T14" fmla="*/ 38 w 38"/>
                <a:gd name="T15" fmla="*/ 30 h 30"/>
              </a:gdLst>
              <a:ahLst/>
              <a:cxnLst>
                <a:cxn ang="T8">
                  <a:pos x="T0" y="T1"/>
                </a:cxn>
                <a:cxn ang="T9">
                  <a:pos x="T2" y="T3"/>
                </a:cxn>
                <a:cxn ang="T10">
                  <a:pos x="T4" y="T5"/>
                </a:cxn>
                <a:cxn ang="T11">
                  <a:pos x="T6" y="T7"/>
                </a:cxn>
              </a:cxnLst>
              <a:rect l="T12" t="T13" r="T14" b="T15"/>
              <a:pathLst>
                <a:path w="38" h="30">
                  <a:moveTo>
                    <a:pt x="38" y="28"/>
                  </a:moveTo>
                  <a:lnTo>
                    <a:pt x="0" y="30"/>
                  </a:lnTo>
                  <a:lnTo>
                    <a:pt x="13" y="0"/>
                  </a:lnTo>
                  <a:lnTo>
                    <a:pt x="38" y="28"/>
                  </a:lnTo>
                  <a:close/>
                </a:path>
              </a:pathLst>
            </a:custGeom>
            <a:grpFill/>
            <a:ln w="9525">
              <a:noFill/>
              <a:round/>
              <a:headEnd/>
              <a:tailEnd/>
            </a:ln>
          </p:spPr>
          <p:txBody>
            <a:bodyPr/>
            <a:lstStyle/>
            <a:p>
              <a:endParaRPr lang="zh-CN" altLang="en-US">
                <a:latin typeface="Times New Roman" pitchFamily="18" charset="0"/>
                <a:cs typeface="Times New Roman" pitchFamily="18" charset="0"/>
              </a:endParaRPr>
            </a:p>
          </p:txBody>
        </p:sp>
        <p:sp>
          <p:nvSpPr>
            <p:cNvPr id="27" name="Freeform 29"/>
            <p:cNvSpPr>
              <a:spLocks/>
            </p:cNvSpPr>
            <p:nvPr/>
          </p:nvSpPr>
          <p:spPr bwMode="auto">
            <a:xfrm>
              <a:off x="7494494" y="2023691"/>
              <a:ext cx="53303" cy="39503"/>
            </a:xfrm>
            <a:custGeom>
              <a:avLst/>
              <a:gdLst>
                <a:gd name="T0" fmla="*/ 38 w 38"/>
                <a:gd name="T1" fmla="*/ 28 h 30"/>
                <a:gd name="T2" fmla="*/ 0 w 38"/>
                <a:gd name="T3" fmla="*/ 30 h 30"/>
                <a:gd name="T4" fmla="*/ 13 w 38"/>
                <a:gd name="T5" fmla="*/ 0 h 30"/>
                <a:gd name="T6" fmla="*/ 38 w 38"/>
                <a:gd name="T7" fmla="*/ 28 h 30"/>
                <a:gd name="T8" fmla="*/ 0 60000 65536"/>
                <a:gd name="T9" fmla="*/ 0 60000 65536"/>
                <a:gd name="T10" fmla="*/ 0 60000 65536"/>
                <a:gd name="T11" fmla="*/ 0 60000 65536"/>
                <a:gd name="T12" fmla="*/ 0 w 38"/>
                <a:gd name="T13" fmla="*/ 0 h 30"/>
                <a:gd name="T14" fmla="*/ 38 w 38"/>
                <a:gd name="T15" fmla="*/ 30 h 30"/>
              </a:gdLst>
              <a:ahLst/>
              <a:cxnLst>
                <a:cxn ang="T8">
                  <a:pos x="T0" y="T1"/>
                </a:cxn>
                <a:cxn ang="T9">
                  <a:pos x="T2" y="T3"/>
                </a:cxn>
                <a:cxn ang="T10">
                  <a:pos x="T4" y="T5"/>
                </a:cxn>
                <a:cxn ang="T11">
                  <a:pos x="T6" y="T7"/>
                </a:cxn>
              </a:cxnLst>
              <a:rect l="T12" t="T13" r="T14" b="T15"/>
              <a:pathLst>
                <a:path w="38" h="30">
                  <a:moveTo>
                    <a:pt x="38" y="28"/>
                  </a:moveTo>
                  <a:lnTo>
                    <a:pt x="0" y="30"/>
                  </a:lnTo>
                  <a:lnTo>
                    <a:pt x="13" y="0"/>
                  </a:lnTo>
                  <a:lnTo>
                    <a:pt x="38" y="28"/>
                  </a:lnTo>
                  <a:close/>
                </a:path>
              </a:pathLst>
            </a:cu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28" name="Rectangle 30"/>
            <p:cNvSpPr>
              <a:spLocks noChangeArrowheads="1"/>
            </p:cNvSpPr>
            <p:nvPr/>
          </p:nvSpPr>
          <p:spPr bwMode="auto">
            <a:xfrm>
              <a:off x="7580059" y="1794572"/>
              <a:ext cx="200587" cy="252822"/>
            </a:xfrm>
            <a:prstGeom prst="rect">
              <a:avLst/>
            </a:prstGeom>
            <a:grpFill/>
            <a:ln w="9525">
              <a:noFill/>
              <a:miter lim="800000"/>
              <a:headEnd/>
              <a:tailEnd/>
            </a:ln>
          </p:spPr>
          <p:txBody>
            <a:bodyPr wrap="none" lIns="0" tIns="0" rIns="0" bIns="0">
              <a:spAutoFit/>
            </a:bodyPr>
            <a:lstStyle/>
            <a:p>
              <a:r>
                <a:rPr lang="en-US" altLang="zh-CN" b="1" i="1" dirty="0">
                  <a:solidFill>
                    <a:srgbClr val="080808"/>
                  </a:solidFill>
                  <a:latin typeface="Times New Roman" pitchFamily="18" charset="0"/>
                  <a:cs typeface="Times New Roman" pitchFamily="18" charset="0"/>
                </a:rPr>
                <a:t>T</a:t>
              </a:r>
              <a:r>
                <a:rPr lang="en-US" altLang="zh-CN" baseline="-25000" dirty="0">
                  <a:solidFill>
                    <a:srgbClr val="080808"/>
                  </a:solidFill>
                  <a:latin typeface="Times New Roman" pitchFamily="18" charset="0"/>
                  <a:cs typeface="Times New Roman" pitchFamily="18" charset="0"/>
                </a:rPr>
                <a:t>4</a:t>
              </a:r>
              <a:endParaRPr lang="en-US" altLang="zh-CN" sz="2000" i="1" dirty="0">
                <a:solidFill>
                  <a:srgbClr val="080808"/>
                </a:solidFill>
                <a:latin typeface="Times New Roman" pitchFamily="18" charset="0"/>
                <a:cs typeface="Times New Roman" pitchFamily="18" charset="0"/>
              </a:endParaRPr>
            </a:p>
          </p:txBody>
        </p:sp>
        <p:sp>
          <p:nvSpPr>
            <p:cNvPr id="29" name="Freeform 32"/>
            <p:cNvSpPr>
              <a:spLocks noEditPoints="1"/>
            </p:cNvSpPr>
            <p:nvPr/>
          </p:nvSpPr>
          <p:spPr bwMode="auto">
            <a:xfrm>
              <a:off x="7157844" y="2779523"/>
              <a:ext cx="392759" cy="460873"/>
            </a:xfrm>
            <a:custGeom>
              <a:avLst/>
              <a:gdLst>
                <a:gd name="T0" fmla="*/ 0 w 280"/>
                <a:gd name="T1" fmla="*/ 175 h 350"/>
                <a:gd name="T2" fmla="*/ 140 w 280"/>
                <a:gd name="T3" fmla="*/ 175 h 350"/>
                <a:gd name="T4" fmla="*/ 140 w 280"/>
                <a:gd name="T5" fmla="*/ 262 h 350"/>
                <a:gd name="T6" fmla="*/ 140 w 280"/>
                <a:gd name="T7" fmla="*/ 87 h 350"/>
                <a:gd name="T8" fmla="*/ 140 w 280"/>
                <a:gd name="T9" fmla="*/ 132 h 350"/>
                <a:gd name="T10" fmla="*/ 280 w 280"/>
                <a:gd name="T11" fmla="*/ 78 h 350"/>
                <a:gd name="T12" fmla="*/ 280 w 280"/>
                <a:gd name="T13" fmla="*/ 0 h 350"/>
                <a:gd name="T14" fmla="*/ 140 w 280"/>
                <a:gd name="T15" fmla="*/ 219 h 350"/>
                <a:gd name="T16" fmla="*/ 280 w 280"/>
                <a:gd name="T17" fmla="*/ 273 h 350"/>
                <a:gd name="T18" fmla="*/ 280 w 280"/>
                <a:gd name="T19" fmla="*/ 350 h 3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0"/>
                <a:gd name="T31" fmla="*/ 0 h 350"/>
                <a:gd name="T32" fmla="*/ 280 w 280"/>
                <a:gd name="T33" fmla="*/ 350 h 35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0" h="350">
                  <a:moveTo>
                    <a:pt x="0" y="175"/>
                  </a:moveTo>
                  <a:lnTo>
                    <a:pt x="140" y="175"/>
                  </a:lnTo>
                  <a:moveTo>
                    <a:pt x="140" y="262"/>
                  </a:moveTo>
                  <a:lnTo>
                    <a:pt x="140" y="87"/>
                  </a:lnTo>
                  <a:moveTo>
                    <a:pt x="140" y="132"/>
                  </a:moveTo>
                  <a:lnTo>
                    <a:pt x="280" y="78"/>
                  </a:lnTo>
                  <a:lnTo>
                    <a:pt x="280" y="0"/>
                  </a:lnTo>
                  <a:moveTo>
                    <a:pt x="140" y="219"/>
                  </a:moveTo>
                  <a:lnTo>
                    <a:pt x="280" y="273"/>
                  </a:lnTo>
                  <a:lnTo>
                    <a:pt x="280" y="350"/>
                  </a:lnTo>
                </a:path>
              </a:pathLst>
            </a:cu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30" name="Freeform 33"/>
            <p:cNvSpPr>
              <a:spLocks/>
            </p:cNvSpPr>
            <p:nvPr/>
          </p:nvSpPr>
          <p:spPr bwMode="auto">
            <a:xfrm>
              <a:off x="7494494" y="3100817"/>
              <a:ext cx="53303" cy="39503"/>
            </a:xfrm>
            <a:custGeom>
              <a:avLst/>
              <a:gdLst>
                <a:gd name="T0" fmla="*/ 38 w 38"/>
                <a:gd name="T1" fmla="*/ 27 h 30"/>
                <a:gd name="T2" fmla="*/ 0 w 38"/>
                <a:gd name="T3" fmla="*/ 30 h 30"/>
                <a:gd name="T4" fmla="*/ 13 w 38"/>
                <a:gd name="T5" fmla="*/ 0 h 30"/>
                <a:gd name="T6" fmla="*/ 38 w 38"/>
                <a:gd name="T7" fmla="*/ 27 h 30"/>
                <a:gd name="T8" fmla="*/ 0 60000 65536"/>
                <a:gd name="T9" fmla="*/ 0 60000 65536"/>
                <a:gd name="T10" fmla="*/ 0 60000 65536"/>
                <a:gd name="T11" fmla="*/ 0 60000 65536"/>
                <a:gd name="T12" fmla="*/ 0 w 38"/>
                <a:gd name="T13" fmla="*/ 0 h 30"/>
                <a:gd name="T14" fmla="*/ 38 w 38"/>
                <a:gd name="T15" fmla="*/ 30 h 30"/>
              </a:gdLst>
              <a:ahLst/>
              <a:cxnLst>
                <a:cxn ang="T8">
                  <a:pos x="T0" y="T1"/>
                </a:cxn>
                <a:cxn ang="T9">
                  <a:pos x="T2" y="T3"/>
                </a:cxn>
                <a:cxn ang="T10">
                  <a:pos x="T4" y="T5"/>
                </a:cxn>
                <a:cxn ang="T11">
                  <a:pos x="T6" y="T7"/>
                </a:cxn>
              </a:cxnLst>
              <a:rect l="T12" t="T13" r="T14" b="T15"/>
              <a:pathLst>
                <a:path w="38" h="30">
                  <a:moveTo>
                    <a:pt x="38" y="27"/>
                  </a:moveTo>
                  <a:lnTo>
                    <a:pt x="0" y="30"/>
                  </a:lnTo>
                  <a:lnTo>
                    <a:pt x="13" y="0"/>
                  </a:lnTo>
                  <a:lnTo>
                    <a:pt x="38" y="27"/>
                  </a:lnTo>
                  <a:close/>
                </a:path>
              </a:pathLst>
            </a:custGeom>
            <a:grpFill/>
            <a:ln w="9525">
              <a:noFill/>
              <a:round/>
              <a:headEnd/>
              <a:tailEnd/>
            </a:ln>
          </p:spPr>
          <p:txBody>
            <a:bodyPr/>
            <a:lstStyle/>
            <a:p>
              <a:endParaRPr lang="zh-CN" altLang="en-US">
                <a:latin typeface="Times New Roman" pitchFamily="18" charset="0"/>
                <a:cs typeface="Times New Roman" pitchFamily="18" charset="0"/>
              </a:endParaRPr>
            </a:p>
          </p:txBody>
        </p:sp>
        <p:sp>
          <p:nvSpPr>
            <p:cNvPr id="31" name="Freeform 34"/>
            <p:cNvSpPr>
              <a:spLocks/>
            </p:cNvSpPr>
            <p:nvPr/>
          </p:nvSpPr>
          <p:spPr bwMode="auto">
            <a:xfrm>
              <a:off x="7494494" y="3100817"/>
              <a:ext cx="53303" cy="39503"/>
            </a:xfrm>
            <a:custGeom>
              <a:avLst/>
              <a:gdLst>
                <a:gd name="T0" fmla="*/ 38 w 38"/>
                <a:gd name="T1" fmla="*/ 27 h 30"/>
                <a:gd name="T2" fmla="*/ 0 w 38"/>
                <a:gd name="T3" fmla="*/ 30 h 30"/>
                <a:gd name="T4" fmla="*/ 13 w 38"/>
                <a:gd name="T5" fmla="*/ 0 h 30"/>
                <a:gd name="T6" fmla="*/ 38 w 38"/>
                <a:gd name="T7" fmla="*/ 27 h 30"/>
                <a:gd name="T8" fmla="*/ 0 60000 65536"/>
                <a:gd name="T9" fmla="*/ 0 60000 65536"/>
                <a:gd name="T10" fmla="*/ 0 60000 65536"/>
                <a:gd name="T11" fmla="*/ 0 60000 65536"/>
                <a:gd name="T12" fmla="*/ 0 w 38"/>
                <a:gd name="T13" fmla="*/ 0 h 30"/>
                <a:gd name="T14" fmla="*/ 38 w 38"/>
                <a:gd name="T15" fmla="*/ 30 h 30"/>
              </a:gdLst>
              <a:ahLst/>
              <a:cxnLst>
                <a:cxn ang="T8">
                  <a:pos x="T0" y="T1"/>
                </a:cxn>
                <a:cxn ang="T9">
                  <a:pos x="T2" y="T3"/>
                </a:cxn>
                <a:cxn ang="T10">
                  <a:pos x="T4" y="T5"/>
                </a:cxn>
                <a:cxn ang="T11">
                  <a:pos x="T6" y="T7"/>
                </a:cxn>
              </a:cxnLst>
              <a:rect l="T12" t="T13" r="T14" b="T15"/>
              <a:pathLst>
                <a:path w="38" h="30">
                  <a:moveTo>
                    <a:pt x="38" y="27"/>
                  </a:moveTo>
                  <a:lnTo>
                    <a:pt x="0" y="30"/>
                  </a:lnTo>
                  <a:lnTo>
                    <a:pt x="13" y="0"/>
                  </a:lnTo>
                  <a:lnTo>
                    <a:pt x="38" y="27"/>
                  </a:lnTo>
                  <a:close/>
                </a:path>
              </a:pathLst>
            </a:cu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32" name="Rectangle 35"/>
            <p:cNvSpPr>
              <a:spLocks noChangeArrowheads="1"/>
            </p:cNvSpPr>
            <p:nvPr/>
          </p:nvSpPr>
          <p:spPr bwMode="auto">
            <a:xfrm>
              <a:off x="7561824" y="2883549"/>
              <a:ext cx="200587" cy="252822"/>
            </a:xfrm>
            <a:prstGeom prst="rect">
              <a:avLst/>
            </a:prstGeom>
            <a:grpFill/>
            <a:ln w="9525">
              <a:noFill/>
              <a:miter lim="800000"/>
              <a:headEnd/>
              <a:tailEnd/>
            </a:ln>
          </p:spPr>
          <p:txBody>
            <a:bodyPr wrap="none" lIns="0" tIns="0" rIns="0" bIns="0">
              <a:spAutoFit/>
            </a:bodyPr>
            <a:lstStyle/>
            <a:p>
              <a:r>
                <a:rPr lang="en-US" altLang="zh-CN" b="1" i="1" dirty="0">
                  <a:solidFill>
                    <a:srgbClr val="080808"/>
                  </a:solidFill>
                  <a:latin typeface="Times New Roman" pitchFamily="18" charset="0"/>
                  <a:cs typeface="Times New Roman" pitchFamily="18" charset="0"/>
                </a:rPr>
                <a:t>T</a:t>
              </a:r>
              <a:r>
                <a:rPr lang="en-US" altLang="zh-CN" baseline="-25000" dirty="0">
                  <a:solidFill>
                    <a:srgbClr val="080808"/>
                  </a:solidFill>
                  <a:latin typeface="Times New Roman" pitchFamily="18" charset="0"/>
                  <a:cs typeface="Times New Roman" pitchFamily="18" charset="0"/>
                </a:rPr>
                <a:t>3</a:t>
              </a:r>
              <a:endParaRPr lang="en-US" altLang="zh-CN" sz="2000" dirty="0">
                <a:solidFill>
                  <a:srgbClr val="080808"/>
                </a:solidFill>
                <a:latin typeface="Times New Roman" pitchFamily="18" charset="0"/>
                <a:cs typeface="Times New Roman" pitchFamily="18" charset="0"/>
              </a:endParaRPr>
            </a:p>
          </p:txBody>
        </p:sp>
        <p:sp>
          <p:nvSpPr>
            <p:cNvPr id="34" name="Rectangle 38"/>
            <p:cNvSpPr>
              <a:spLocks noChangeArrowheads="1"/>
            </p:cNvSpPr>
            <p:nvPr/>
          </p:nvSpPr>
          <p:spPr bwMode="auto">
            <a:xfrm>
              <a:off x="5826673" y="1365302"/>
              <a:ext cx="113619" cy="251505"/>
            </a:xfrm>
            <a:prstGeom prst="rect">
              <a:avLst/>
            </a:prstGeom>
            <a:grpFill/>
            <a:ln w="22225" cap="rnd">
              <a:solidFill>
                <a:srgbClr val="000000"/>
              </a:solidFill>
              <a:round/>
              <a:headEnd/>
              <a:tailEnd/>
            </a:ln>
          </p:spPr>
          <p:txBody>
            <a:bodyPr/>
            <a:lstStyle/>
            <a:p>
              <a:endParaRPr lang="zh-CN" altLang="en-US">
                <a:solidFill>
                  <a:srgbClr val="080808"/>
                </a:solidFill>
                <a:latin typeface="Times New Roman" pitchFamily="18" charset="0"/>
                <a:cs typeface="Times New Roman" pitchFamily="18" charset="0"/>
              </a:endParaRPr>
            </a:p>
          </p:txBody>
        </p:sp>
        <p:sp>
          <p:nvSpPr>
            <p:cNvPr id="35" name="Rectangle 39"/>
            <p:cNvSpPr>
              <a:spLocks noChangeArrowheads="1"/>
            </p:cNvSpPr>
            <p:nvPr/>
          </p:nvSpPr>
          <p:spPr bwMode="auto">
            <a:xfrm>
              <a:off x="5509661" y="1224406"/>
              <a:ext cx="283347" cy="252822"/>
            </a:xfrm>
            <a:prstGeom prst="rect">
              <a:avLst/>
            </a:prstGeom>
            <a:grpFill/>
            <a:ln w="9525">
              <a:noFill/>
              <a:miter lim="800000"/>
              <a:headEnd/>
              <a:tailEnd/>
            </a:ln>
          </p:spPr>
          <p:txBody>
            <a:bodyPr wrap="none" lIns="0" tIns="0" rIns="0" bIns="0">
              <a:spAutoFit/>
            </a:bodyPr>
            <a:lstStyle/>
            <a:p>
              <a:r>
                <a:rPr lang="en-US" altLang="zh-CN" sz="1800" b="1" i="1" dirty="0">
                  <a:solidFill>
                    <a:srgbClr val="080808"/>
                  </a:solidFill>
                  <a:latin typeface="Times New Roman" pitchFamily="18" charset="0"/>
                  <a:cs typeface="Times New Roman" pitchFamily="18" charset="0"/>
                </a:rPr>
                <a:t>R</a:t>
              </a:r>
              <a:r>
                <a:rPr lang="en-US" altLang="zh-CN" baseline="-25000" dirty="0">
                  <a:solidFill>
                    <a:srgbClr val="080808"/>
                  </a:solidFill>
                  <a:latin typeface="Times New Roman" pitchFamily="18" charset="0"/>
                  <a:cs typeface="Times New Roman" pitchFamily="18" charset="0"/>
                </a:rPr>
                <a:t>b1</a:t>
              </a:r>
              <a:endParaRPr lang="en-US" altLang="zh-CN" sz="2000" baseline="-25000" dirty="0">
                <a:solidFill>
                  <a:srgbClr val="080808"/>
                </a:solidFill>
                <a:latin typeface="Times New Roman" pitchFamily="18" charset="0"/>
                <a:cs typeface="Times New Roman" pitchFamily="18" charset="0"/>
              </a:endParaRPr>
            </a:p>
          </p:txBody>
        </p:sp>
        <p:sp>
          <p:nvSpPr>
            <p:cNvPr id="39" name="Rectangle 44"/>
            <p:cNvSpPr>
              <a:spLocks noChangeArrowheads="1"/>
            </p:cNvSpPr>
            <p:nvPr/>
          </p:nvSpPr>
          <p:spPr bwMode="auto">
            <a:xfrm>
              <a:off x="7141011" y="1320531"/>
              <a:ext cx="333845" cy="276524"/>
            </a:xfrm>
            <a:prstGeom prst="rect">
              <a:avLst/>
            </a:prstGeom>
            <a:grpFill/>
            <a:ln w="9525">
              <a:noFill/>
              <a:miter lim="800000"/>
              <a:headEnd/>
              <a:tailEnd/>
            </a:ln>
          </p:spPr>
          <p:txBody>
            <a:bodyPr wrap="none" lIns="0" tIns="0" rIns="0" bIns="0">
              <a:spAutoFit/>
            </a:bodyPr>
            <a:lstStyle/>
            <a:p>
              <a:r>
                <a:rPr lang="en-US" altLang="zh-CN" b="1" i="1" dirty="0">
                  <a:solidFill>
                    <a:srgbClr val="080808"/>
                  </a:solidFill>
                  <a:latin typeface="Times New Roman" pitchFamily="18" charset="0"/>
                  <a:cs typeface="Times New Roman" pitchFamily="18" charset="0"/>
                </a:rPr>
                <a:t>R</a:t>
              </a:r>
              <a:r>
                <a:rPr lang="en-US" altLang="zh-CN" baseline="-25000" dirty="0">
                  <a:solidFill>
                    <a:srgbClr val="080808"/>
                  </a:solidFill>
                  <a:latin typeface="Times New Roman" pitchFamily="18" charset="0"/>
                  <a:cs typeface="Times New Roman" pitchFamily="18" charset="0"/>
                </a:rPr>
                <a:t>C4</a:t>
              </a:r>
              <a:endParaRPr lang="en-US" altLang="zh-CN" sz="2000" baseline="-25000" dirty="0">
                <a:solidFill>
                  <a:srgbClr val="080808"/>
                </a:solidFill>
                <a:latin typeface="Times New Roman" pitchFamily="18" charset="0"/>
                <a:cs typeface="Times New Roman" pitchFamily="18" charset="0"/>
              </a:endParaRPr>
            </a:p>
          </p:txBody>
        </p:sp>
        <p:sp>
          <p:nvSpPr>
            <p:cNvPr id="41" name="Rectangle 47"/>
            <p:cNvSpPr>
              <a:spLocks noChangeArrowheads="1"/>
            </p:cNvSpPr>
            <p:nvPr/>
          </p:nvSpPr>
          <p:spPr bwMode="auto">
            <a:xfrm>
              <a:off x="6523819" y="1365302"/>
              <a:ext cx="112217" cy="251505"/>
            </a:xfrm>
            <a:prstGeom prst="rect">
              <a:avLst/>
            </a:prstGeom>
            <a:grpFill/>
            <a:ln w="22225" cap="rnd">
              <a:solidFill>
                <a:srgbClr val="000000"/>
              </a:solidFill>
              <a:round/>
              <a:headEnd/>
              <a:tailEnd/>
            </a:ln>
          </p:spPr>
          <p:txBody>
            <a:bodyPr/>
            <a:lstStyle/>
            <a:p>
              <a:endParaRPr lang="zh-CN" altLang="en-US">
                <a:solidFill>
                  <a:srgbClr val="080808"/>
                </a:solidFill>
                <a:latin typeface="Times New Roman" pitchFamily="18" charset="0"/>
                <a:cs typeface="Times New Roman" pitchFamily="18" charset="0"/>
              </a:endParaRPr>
            </a:p>
          </p:txBody>
        </p:sp>
        <p:sp>
          <p:nvSpPr>
            <p:cNvPr id="42" name="Rectangle 48"/>
            <p:cNvSpPr>
              <a:spLocks noChangeArrowheads="1"/>
            </p:cNvSpPr>
            <p:nvPr/>
          </p:nvSpPr>
          <p:spPr bwMode="auto">
            <a:xfrm>
              <a:off x="6173142" y="1317898"/>
              <a:ext cx="333845" cy="276524"/>
            </a:xfrm>
            <a:prstGeom prst="rect">
              <a:avLst/>
            </a:prstGeom>
            <a:grpFill/>
            <a:ln w="9525">
              <a:noFill/>
              <a:miter lim="800000"/>
              <a:headEnd/>
              <a:tailEnd/>
            </a:ln>
          </p:spPr>
          <p:txBody>
            <a:bodyPr wrap="none" lIns="0" tIns="0" rIns="0" bIns="0">
              <a:spAutoFit/>
            </a:bodyPr>
            <a:lstStyle/>
            <a:p>
              <a:r>
                <a:rPr lang="en-US" altLang="zh-CN" b="1" i="1" dirty="0">
                  <a:solidFill>
                    <a:srgbClr val="080808"/>
                  </a:solidFill>
                  <a:latin typeface="Times New Roman" pitchFamily="18" charset="0"/>
                  <a:cs typeface="Times New Roman" pitchFamily="18" charset="0"/>
                </a:rPr>
                <a:t>R</a:t>
              </a:r>
              <a:r>
                <a:rPr lang="en-US" altLang="zh-CN" baseline="-25000" dirty="0">
                  <a:solidFill>
                    <a:srgbClr val="080808"/>
                  </a:solidFill>
                  <a:latin typeface="Times New Roman" pitchFamily="18" charset="0"/>
                  <a:cs typeface="Times New Roman" pitchFamily="18" charset="0"/>
                </a:rPr>
                <a:t>C2</a:t>
              </a:r>
              <a:endParaRPr lang="en-US" altLang="zh-CN" sz="2000" baseline="-25000" dirty="0">
                <a:solidFill>
                  <a:srgbClr val="080808"/>
                </a:solidFill>
                <a:latin typeface="Times New Roman" pitchFamily="18" charset="0"/>
                <a:cs typeface="Times New Roman" pitchFamily="18" charset="0"/>
              </a:endParaRPr>
            </a:p>
          </p:txBody>
        </p:sp>
        <p:sp>
          <p:nvSpPr>
            <p:cNvPr id="44" name="Rectangle 51"/>
            <p:cNvSpPr>
              <a:spLocks noChangeArrowheads="1"/>
            </p:cNvSpPr>
            <p:nvPr/>
          </p:nvSpPr>
          <p:spPr bwMode="auto">
            <a:xfrm>
              <a:off x="6523819" y="3237762"/>
              <a:ext cx="112217" cy="250188"/>
            </a:xfrm>
            <a:prstGeom prst="rect">
              <a:avLst/>
            </a:prstGeom>
            <a:grpFill/>
            <a:ln w="22225" cap="rnd">
              <a:solidFill>
                <a:srgbClr val="000000"/>
              </a:solidFill>
              <a:round/>
              <a:headEnd/>
              <a:tailEnd/>
            </a:ln>
          </p:spPr>
          <p:txBody>
            <a:bodyPr/>
            <a:lstStyle/>
            <a:p>
              <a:endParaRPr lang="zh-CN" altLang="en-US">
                <a:solidFill>
                  <a:srgbClr val="080808"/>
                </a:solidFill>
                <a:latin typeface="Times New Roman" pitchFamily="18" charset="0"/>
                <a:cs typeface="Times New Roman" pitchFamily="18" charset="0"/>
              </a:endParaRPr>
            </a:p>
          </p:txBody>
        </p:sp>
        <p:sp>
          <p:nvSpPr>
            <p:cNvPr id="45" name="Rectangle 52"/>
            <p:cNvSpPr>
              <a:spLocks noChangeArrowheads="1"/>
            </p:cNvSpPr>
            <p:nvPr/>
          </p:nvSpPr>
          <p:spPr bwMode="auto">
            <a:xfrm>
              <a:off x="6212418" y="3261464"/>
              <a:ext cx="276334" cy="533296"/>
            </a:xfrm>
            <a:prstGeom prst="rect">
              <a:avLst/>
            </a:prstGeom>
            <a:noFill/>
            <a:ln w="9525">
              <a:noFill/>
              <a:miter lim="800000"/>
              <a:headEnd/>
              <a:tailEnd/>
            </a:ln>
          </p:spPr>
          <p:txBody>
            <a:bodyPr wrap="none" lIns="0" tIns="0" rIns="0" bIns="0">
              <a:spAutoFit/>
            </a:bodyPr>
            <a:lstStyle/>
            <a:p>
              <a:r>
                <a:rPr lang="en-US" altLang="zh-CN" b="1" i="1" dirty="0">
                  <a:solidFill>
                    <a:srgbClr val="080808"/>
                  </a:solidFill>
                  <a:latin typeface="Times New Roman" pitchFamily="18" charset="0"/>
                  <a:cs typeface="Times New Roman" pitchFamily="18" charset="0"/>
                </a:rPr>
                <a:t>R</a:t>
              </a:r>
              <a:r>
                <a:rPr lang="en-US" altLang="zh-CN" baseline="-25000" dirty="0">
                  <a:solidFill>
                    <a:srgbClr val="080808"/>
                  </a:solidFill>
                  <a:latin typeface="Times New Roman" pitchFamily="18" charset="0"/>
                  <a:cs typeface="Times New Roman" pitchFamily="18" charset="0"/>
                </a:rPr>
                <a:t>e2</a:t>
              </a:r>
              <a:endParaRPr lang="en-US" altLang="zh-CN" sz="2000" baseline="-25000" dirty="0">
                <a:solidFill>
                  <a:srgbClr val="080808"/>
                </a:solidFill>
                <a:latin typeface="Times New Roman" pitchFamily="18" charset="0"/>
                <a:cs typeface="Times New Roman" pitchFamily="18" charset="0"/>
              </a:endParaRPr>
            </a:p>
            <a:p>
              <a:endParaRPr lang="en-US" altLang="zh-CN" sz="2000" i="1" dirty="0">
                <a:solidFill>
                  <a:srgbClr val="080808"/>
                </a:solidFill>
                <a:latin typeface="Times New Roman" pitchFamily="18" charset="0"/>
                <a:cs typeface="Times New Roman" pitchFamily="18" charset="0"/>
              </a:endParaRPr>
            </a:p>
          </p:txBody>
        </p:sp>
        <p:sp>
          <p:nvSpPr>
            <p:cNvPr id="46" name="Line 54"/>
            <p:cNvSpPr>
              <a:spLocks noChangeShapeType="1"/>
            </p:cNvSpPr>
            <p:nvPr/>
          </p:nvSpPr>
          <p:spPr bwMode="auto">
            <a:xfrm>
              <a:off x="6580962" y="2609658"/>
              <a:ext cx="1403" cy="628104"/>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47" name="Line 55"/>
            <p:cNvSpPr>
              <a:spLocks noChangeShapeType="1"/>
            </p:cNvSpPr>
            <p:nvPr/>
          </p:nvSpPr>
          <p:spPr bwMode="auto">
            <a:xfrm flipV="1">
              <a:off x="6578525" y="1616807"/>
              <a:ext cx="1403" cy="531979"/>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48" name="Line 56"/>
            <p:cNvSpPr>
              <a:spLocks noChangeShapeType="1"/>
            </p:cNvSpPr>
            <p:nvPr/>
          </p:nvSpPr>
          <p:spPr bwMode="auto">
            <a:xfrm flipH="1">
              <a:off x="6578525" y="1928883"/>
              <a:ext cx="576513" cy="1317"/>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49" name="Freeform 57"/>
            <p:cNvSpPr>
              <a:spLocks/>
            </p:cNvSpPr>
            <p:nvPr/>
          </p:nvSpPr>
          <p:spPr bwMode="auto">
            <a:xfrm>
              <a:off x="6533638" y="1892013"/>
              <a:ext cx="88371" cy="77690"/>
            </a:xfrm>
            <a:custGeom>
              <a:avLst/>
              <a:gdLst>
                <a:gd name="T0" fmla="*/ 82 w 59"/>
                <a:gd name="T1" fmla="*/ 29 h 59"/>
                <a:gd name="T2" fmla="*/ 41 w 59"/>
                <a:gd name="T3" fmla="*/ 0 h 59"/>
                <a:gd name="T4" fmla="*/ 0 w 59"/>
                <a:gd name="T5" fmla="*/ 29 h 59"/>
                <a:gd name="T6" fmla="*/ 0 w 59"/>
                <a:gd name="T7" fmla="*/ 29 h 59"/>
                <a:gd name="T8" fmla="*/ 41 w 59"/>
                <a:gd name="T9" fmla="*/ 59 h 59"/>
                <a:gd name="T10" fmla="*/ 82 w 59"/>
                <a:gd name="T11" fmla="*/ 29 h 59"/>
                <a:gd name="T12" fmla="*/ 0 60000 65536"/>
                <a:gd name="T13" fmla="*/ 0 60000 65536"/>
                <a:gd name="T14" fmla="*/ 0 60000 65536"/>
                <a:gd name="T15" fmla="*/ 0 60000 65536"/>
                <a:gd name="T16" fmla="*/ 0 60000 65536"/>
                <a:gd name="T17" fmla="*/ 0 60000 65536"/>
                <a:gd name="T18" fmla="*/ 0 w 59"/>
                <a:gd name="T19" fmla="*/ 0 h 59"/>
                <a:gd name="T20" fmla="*/ 59 w 59"/>
                <a:gd name="T21" fmla="*/ 59 h 59"/>
              </a:gdLst>
              <a:ahLst/>
              <a:cxnLst>
                <a:cxn ang="T12">
                  <a:pos x="T0" y="T1"/>
                </a:cxn>
                <a:cxn ang="T13">
                  <a:pos x="T2" y="T3"/>
                </a:cxn>
                <a:cxn ang="T14">
                  <a:pos x="T4" y="T5"/>
                </a:cxn>
                <a:cxn ang="T15">
                  <a:pos x="T6" y="T7"/>
                </a:cxn>
                <a:cxn ang="T16">
                  <a:pos x="T8" y="T9"/>
                </a:cxn>
                <a:cxn ang="T17">
                  <a:pos x="T10" y="T11"/>
                </a:cxn>
              </a:cxnLst>
              <a:rect l="T18" t="T19" r="T20" b="T21"/>
              <a:pathLst>
                <a:path w="59" h="59">
                  <a:moveTo>
                    <a:pt x="59" y="29"/>
                  </a:moveTo>
                  <a:cubicBezTo>
                    <a:pt x="59" y="13"/>
                    <a:pt x="46" y="0"/>
                    <a:pt x="30" y="0"/>
                  </a:cubicBezTo>
                  <a:cubicBezTo>
                    <a:pt x="14" y="0"/>
                    <a:pt x="0" y="13"/>
                    <a:pt x="0" y="29"/>
                  </a:cubicBezTo>
                  <a:cubicBezTo>
                    <a:pt x="0" y="29"/>
                    <a:pt x="0" y="29"/>
                    <a:pt x="0" y="29"/>
                  </a:cubicBezTo>
                  <a:cubicBezTo>
                    <a:pt x="0" y="46"/>
                    <a:pt x="14" y="59"/>
                    <a:pt x="30" y="59"/>
                  </a:cubicBezTo>
                  <a:cubicBezTo>
                    <a:pt x="46" y="59"/>
                    <a:pt x="59" y="46"/>
                    <a:pt x="59" y="29"/>
                  </a:cubicBezTo>
                </a:path>
              </a:pathLst>
            </a:custGeom>
            <a:solidFill>
              <a:schemeClr val="tx1"/>
            </a:solidFill>
            <a:ln w="0">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50" name="Line 58"/>
            <p:cNvSpPr>
              <a:spLocks noChangeShapeType="1"/>
            </p:cNvSpPr>
            <p:nvPr/>
          </p:nvSpPr>
          <p:spPr bwMode="auto">
            <a:xfrm flipH="1">
              <a:off x="6585725" y="3009959"/>
              <a:ext cx="576513" cy="1317"/>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51" name="Freeform 59"/>
            <p:cNvSpPr>
              <a:spLocks/>
            </p:cNvSpPr>
            <p:nvPr/>
          </p:nvSpPr>
          <p:spPr bwMode="auto">
            <a:xfrm>
              <a:off x="6544469" y="2967822"/>
              <a:ext cx="77540" cy="77690"/>
            </a:xfrm>
            <a:custGeom>
              <a:avLst/>
              <a:gdLst>
                <a:gd name="T0" fmla="*/ 82 w 59"/>
                <a:gd name="T1" fmla="*/ 30 h 59"/>
                <a:gd name="T2" fmla="*/ 41 w 59"/>
                <a:gd name="T3" fmla="*/ 0 h 59"/>
                <a:gd name="T4" fmla="*/ 0 w 59"/>
                <a:gd name="T5" fmla="*/ 30 h 59"/>
                <a:gd name="T6" fmla="*/ 0 w 59"/>
                <a:gd name="T7" fmla="*/ 30 h 59"/>
                <a:gd name="T8" fmla="*/ 41 w 59"/>
                <a:gd name="T9" fmla="*/ 59 h 59"/>
                <a:gd name="T10" fmla="*/ 82 w 59"/>
                <a:gd name="T11" fmla="*/ 30 h 59"/>
                <a:gd name="T12" fmla="*/ 0 60000 65536"/>
                <a:gd name="T13" fmla="*/ 0 60000 65536"/>
                <a:gd name="T14" fmla="*/ 0 60000 65536"/>
                <a:gd name="T15" fmla="*/ 0 60000 65536"/>
                <a:gd name="T16" fmla="*/ 0 60000 65536"/>
                <a:gd name="T17" fmla="*/ 0 60000 65536"/>
                <a:gd name="T18" fmla="*/ 0 w 59"/>
                <a:gd name="T19" fmla="*/ 0 h 59"/>
                <a:gd name="T20" fmla="*/ 59 w 59"/>
                <a:gd name="T21" fmla="*/ 59 h 59"/>
              </a:gdLst>
              <a:ahLst/>
              <a:cxnLst>
                <a:cxn ang="T12">
                  <a:pos x="T0" y="T1"/>
                </a:cxn>
                <a:cxn ang="T13">
                  <a:pos x="T2" y="T3"/>
                </a:cxn>
                <a:cxn ang="T14">
                  <a:pos x="T4" y="T5"/>
                </a:cxn>
                <a:cxn ang="T15">
                  <a:pos x="T6" y="T7"/>
                </a:cxn>
                <a:cxn ang="T16">
                  <a:pos x="T8" y="T9"/>
                </a:cxn>
                <a:cxn ang="T17">
                  <a:pos x="T10" y="T11"/>
                </a:cxn>
              </a:cxnLst>
              <a:rect l="T18" t="T19" r="T20" b="T21"/>
              <a:pathLst>
                <a:path w="59" h="59">
                  <a:moveTo>
                    <a:pt x="59" y="30"/>
                  </a:moveTo>
                  <a:cubicBezTo>
                    <a:pt x="59" y="14"/>
                    <a:pt x="46" y="0"/>
                    <a:pt x="30" y="0"/>
                  </a:cubicBezTo>
                  <a:cubicBezTo>
                    <a:pt x="14" y="0"/>
                    <a:pt x="0" y="14"/>
                    <a:pt x="0" y="30"/>
                  </a:cubicBezTo>
                  <a:cubicBezTo>
                    <a:pt x="0" y="30"/>
                    <a:pt x="0" y="30"/>
                    <a:pt x="0" y="30"/>
                  </a:cubicBezTo>
                  <a:cubicBezTo>
                    <a:pt x="0" y="46"/>
                    <a:pt x="14" y="59"/>
                    <a:pt x="30" y="59"/>
                  </a:cubicBezTo>
                  <a:cubicBezTo>
                    <a:pt x="46" y="59"/>
                    <a:pt x="59" y="46"/>
                    <a:pt x="59" y="30"/>
                  </a:cubicBezTo>
                </a:path>
              </a:pathLst>
            </a:custGeom>
            <a:solidFill>
              <a:schemeClr val="tx1"/>
            </a:solidFill>
            <a:ln w="0">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52" name="Freeform 60"/>
            <p:cNvSpPr>
              <a:spLocks/>
            </p:cNvSpPr>
            <p:nvPr/>
          </p:nvSpPr>
          <p:spPr bwMode="auto">
            <a:xfrm>
              <a:off x="7476259" y="2306799"/>
              <a:ext cx="143076" cy="125094"/>
            </a:xfrm>
            <a:custGeom>
              <a:avLst/>
              <a:gdLst>
                <a:gd name="T0" fmla="*/ 0 w 102"/>
                <a:gd name="T1" fmla="*/ 0 h 95"/>
                <a:gd name="T2" fmla="*/ 51 w 102"/>
                <a:gd name="T3" fmla="*/ 95 h 95"/>
                <a:gd name="T4" fmla="*/ 102 w 102"/>
                <a:gd name="T5" fmla="*/ 0 h 95"/>
                <a:gd name="T6" fmla="*/ 0 w 102"/>
                <a:gd name="T7" fmla="*/ 0 h 95"/>
                <a:gd name="T8" fmla="*/ 0 60000 65536"/>
                <a:gd name="T9" fmla="*/ 0 60000 65536"/>
                <a:gd name="T10" fmla="*/ 0 60000 65536"/>
                <a:gd name="T11" fmla="*/ 0 60000 65536"/>
                <a:gd name="T12" fmla="*/ 0 w 102"/>
                <a:gd name="T13" fmla="*/ 0 h 95"/>
                <a:gd name="T14" fmla="*/ 102 w 102"/>
                <a:gd name="T15" fmla="*/ 95 h 95"/>
              </a:gdLst>
              <a:ahLst/>
              <a:cxnLst>
                <a:cxn ang="T8">
                  <a:pos x="T0" y="T1"/>
                </a:cxn>
                <a:cxn ang="T9">
                  <a:pos x="T2" y="T3"/>
                </a:cxn>
                <a:cxn ang="T10">
                  <a:pos x="T4" y="T5"/>
                </a:cxn>
                <a:cxn ang="T11">
                  <a:pos x="T6" y="T7"/>
                </a:cxn>
              </a:cxnLst>
              <a:rect l="T12" t="T13" r="T14" b="T15"/>
              <a:pathLst>
                <a:path w="102" h="95">
                  <a:moveTo>
                    <a:pt x="0" y="0"/>
                  </a:moveTo>
                  <a:lnTo>
                    <a:pt x="51" y="95"/>
                  </a:lnTo>
                  <a:lnTo>
                    <a:pt x="102" y="0"/>
                  </a:lnTo>
                  <a:lnTo>
                    <a:pt x="0" y="0"/>
                  </a:lnTo>
                  <a:close/>
                </a:path>
              </a:pathLst>
            </a:custGeom>
            <a:grpFill/>
            <a:ln w="9525">
              <a:noFill/>
              <a:round/>
              <a:headEnd/>
              <a:tailEnd/>
            </a:ln>
          </p:spPr>
          <p:txBody>
            <a:bodyPr/>
            <a:lstStyle/>
            <a:p>
              <a:endParaRPr lang="zh-CN" altLang="en-US">
                <a:latin typeface="Times New Roman" pitchFamily="18" charset="0"/>
                <a:cs typeface="Times New Roman" pitchFamily="18" charset="0"/>
              </a:endParaRPr>
            </a:p>
          </p:txBody>
        </p:sp>
        <p:sp>
          <p:nvSpPr>
            <p:cNvPr id="53" name="Freeform 61"/>
            <p:cNvSpPr>
              <a:spLocks noEditPoints="1"/>
            </p:cNvSpPr>
            <p:nvPr/>
          </p:nvSpPr>
          <p:spPr bwMode="auto">
            <a:xfrm>
              <a:off x="7476259" y="2306799"/>
              <a:ext cx="143076" cy="125094"/>
            </a:xfrm>
            <a:custGeom>
              <a:avLst/>
              <a:gdLst>
                <a:gd name="T0" fmla="*/ 102 w 102"/>
                <a:gd name="T1" fmla="*/ 95 h 95"/>
                <a:gd name="T2" fmla="*/ 0 w 102"/>
                <a:gd name="T3" fmla="*/ 95 h 95"/>
                <a:gd name="T4" fmla="*/ 0 w 102"/>
                <a:gd name="T5" fmla="*/ 0 h 95"/>
                <a:gd name="T6" fmla="*/ 51 w 102"/>
                <a:gd name="T7" fmla="*/ 95 h 95"/>
                <a:gd name="T8" fmla="*/ 102 w 102"/>
                <a:gd name="T9" fmla="*/ 0 h 95"/>
                <a:gd name="T10" fmla="*/ 0 w 102"/>
                <a:gd name="T11" fmla="*/ 0 h 95"/>
                <a:gd name="T12" fmla="*/ 0 60000 65536"/>
                <a:gd name="T13" fmla="*/ 0 60000 65536"/>
                <a:gd name="T14" fmla="*/ 0 60000 65536"/>
                <a:gd name="T15" fmla="*/ 0 60000 65536"/>
                <a:gd name="T16" fmla="*/ 0 60000 65536"/>
                <a:gd name="T17" fmla="*/ 0 60000 65536"/>
                <a:gd name="T18" fmla="*/ 0 w 102"/>
                <a:gd name="T19" fmla="*/ 0 h 95"/>
                <a:gd name="T20" fmla="*/ 102 w 102"/>
                <a:gd name="T21" fmla="*/ 95 h 95"/>
              </a:gdLst>
              <a:ahLst/>
              <a:cxnLst>
                <a:cxn ang="T12">
                  <a:pos x="T0" y="T1"/>
                </a:cxn>
                <a:cxn ang="T13">
                  <a:pos x="T2" y="T3"/>
                </a:cxn>
                <a:cxn ang="T14">
                  <a:pos x="T4" y="T5"/>
                </a:cxn>
                <a:cxn ang="T15">
                  <a:pos x="T6" y="T7"/>
                </a:cxn>
                <a:cxn ang="T16">
                  <a:pos x="T8" y="T9"/>
                </a:cxn>
                <a:cxn ang="T17">
                  <a:pos x="T10" y="T11"/>
                </a:cxn>
              </a:cxnLst>
              <a:rect l="T18" t="T19" r="T20" b="T21"/>
              <a:pathLst>
                <a:path w="102" h="95">
                  <a:moveTo>
                    <a:pt x="102" y="95"/>
                  </a:moveTo>
                  <a:lnTo>
                    <a:pt x="0" y="95"/>
                  </a:lnTo>
                  <a:moveTo>
                    <a:pt x="0" y="0"/>
                  </a:moveTo>
                  <a:lnTo>
                    <a:pt x="51" y="95"/>
                  </a:lnTo>
                  <a:lnTo>
                    <a:pt x="102" y="0"/>
                  </a:lnTo>
                  <a:lnTo>
                    <a:pt x="0" y="0"/>
                  </a:lnTo>
                </a:path>
              </a:pathLst>
            </a:cu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54" name="Line 62"/>
            <p:cNvSpPr>
              <a:spLocks noChangeShapeType="1"/>
            </p:cNvSpPr>
            <p:nvPr/>
          </p:nvSpPr>
          <p:spPr bwMode="auto">
            <a:xfrm>
              <a:off x="7546394" y="2118500"/>
              <a:ext cx="1403" cy="501693"/>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55" name="Rectangle 63"/>
            <p:cNvSpPr>
              <a:spLocks noChangeArrowheads="1"/>
            </p:cNvSpPr>
            <p:nvPr/>
          </p:nvSpPr>
          <p:spPr bwMode="auto">
            <a:xfrm>
              <a:off x="7330377" y="2280463"/>
              <a:ext cx="119230" cy="196200"/>
            </a:xfrm>
            <a:prstGeom prst="rect">
              <a:avLst/>
            </a:prstGeom>
            <a:grpFill/>
            <a:ln w="9525">
              <a:noFill/>
              <a:miter lim="800000"/>
              <a:headEnd/>
              <a:tailEnd/>
            </a:ln>
          </p:spPr>
          <p:txBody>
            <a:bodyPr wrap="none" lIns="0" tIns="0" rIns="0" bIns="0">
              <a:spAutoFit/>
            </a:bodyPr>
            <a:lstStyle/>
            <a:p>
              <a:r>
                <a:rPr lang="en-US" altLang="zh-CN" sz="1400" b="0" dirty="0">
                  <a:solidFill>
                    <a:srgbClr val="080808"/>
                  </a:solidFill>
                  <a:latin typeface="Times New Roman" pitchFamily="18" charset="0"/>
                  <a:cs typeface="Times New Roman" pitchFamily="18" charset="0"/>
                </a:rPr>
                <a:t>D</a:t>
              </a:r>
              <a:endParaRPr lang="en-US" altLang="zh-CN" sz="2000" dirty="0">
                <a:solidFill>
                  <a:srgbClr val="080808"/>
                </a:solidFill>
                <a:latin typeface="Times New Roman" pitchFamily="18" charset="0"/>
                <a:cs typeface="Times New Roman" pitchFamily="18" charset="0"/>
              </a:endParaRPr>
            </a:p>
          </p:txBody>
        </p:sp>
        <p:sp>
          <p:nvSpPr>
            <p:cNvPr id="57" name="Line 65"/>
            <p:cNvSpPr>
              <a:spLocks noChangeShapeType="1"/>
            </p:cNvSpPr>
            <p:nvPr/>
          </p:nvSpPr>
          <p:spPr bwMode="auto">
            <a:xfrm>
              <a:off x="6579928" y="3487950"/>
              <a:ext cx="1403" cy="184349"/>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58" name="Line 66"/>
            <p:cNvSpPr>
              <a:spLocks noChangeShapeType="1"/>
            </p:cNvSpPr>
            <p:nvPr/>
          </p:nvSpPr>
          <p:spPr bwMode="auto">
            <a:xfrm flipV="1">
              <a:off x="6484544" y="3678883"/>
              <a:ext cx="176741" cy="0"/>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59" name="Line 67"/>
            <p:cNvSpPr>
              <a:spLocks noChangeShapeType="1"/>
            </p:cNvSpPr>
            <p:nvPr/>
          </p:nvSpPr>
          <p:spPr bwMode="auto">
            <a:xfrm>
              <a:off x="7550602" y="3237762"/>
              <a:ext cx="1403" cy="301543"/>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60" name="Line 68"/>
            <p:cNvSpPr>
              <a:spLocks noChangeShapeType="1"/>
            </p:cNvSpPr>
            <p:nvPr/>
          </p:nvSpPr>
          <p:spPr bwMode="auto">
            <a:xfrm>
              <a:off x="7455218" y="3539305"/>
              <a:ext cx="190768" cy="0"/>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61" name="Line 69"/>
            <p:cNvSpPr>
              <a:spLocks noChangeShapeType="1"/>
            </p:cNvSpPr>
            <p:nvPr/>
          </p:nvSpPr>
          <p:spPr bwMode="auto">
            <a:xfrm flipH="1" flipV="1">
              <a:off x="5884184" y="1616807"/>
              <a:ext cx="0" cy="413469"/>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62" name="Line 70"/>
            <p:cNvSpPr>
              <a:spLocks noChangeShapeType="1"/>
            </p:cNvSpPr>
            <p:nvPr/>
          </p:nvSpPr>
          <p:spPr bwMode="auto">
            <a:xfrm flipV="1">
              <a:off x="7546394" y="1619440"/>
              <a:ext cx="0" cy="104026"/>
            </a:xfrm>
            <a:prstGeom prst="line">
              <a:avLst/>
            </a:prstGeom>
            <a:grpFill/>
            <a:ln w="22225" cap="rnd">
              <a:solidFill>
                <a:srgbClr val="000000"/>
              </a:solidFill>
              <a:round/>
              <a:headEnd/>
              <a:tailEnd/>
            </a:ln>
          </p:spPr>
          <p:txBody>
            <a:bodyPr/>
            <a:lstStyle/>
            <a:p>
              <a:endParaRPr lang="zh-CN" altLang="en-US" b="1" dirty="0">
                <a:latin typeface="Times New Roman" pitchFamily="18" charset="0"/>
                <a:cs typeface="Times New Roman" pitchFamily="18" charset="0"/>
              </a:endParaRPr>
            </a:p>
          </p:txBody>
        </p:sp>
        <p:sp>
          <p:nvSpPr>
            <p:cNvPr id="63" name="Freeform 71"/>
            <p:cNvSpPr>
              <a:spLocks/>
            </p:cNvSpPr>
            <p:nvPr/>
          </p:nvSpPr>
          <p:spPr bwMode="auto">
            <a:xfrm>
              <a:off x="5888392" y="1032156"/>
              <a:ext cx="2099855" cy="333145"/>
            </a:xfrm>
            <a:custGeom>
              <a:avLst/>
              <a:gdLst>
                <a:gd name="T0" fmla="*/ 0 w 1615"/>
                <a:gd name="T1" fmla="*/ 253 h 253"/>
                <a:gd name="T2" fmla="*/ 0 w 1615"/>
                <a:gd name="T3" fmla="*/ 0 h 253"/>
                <a:gd name="T4" fmla="*/ 1615 w 1615"/>
                <a:gd name="T5" fmla="*/ 0 h 253"/>
                <a:gd name="T6" fmla="*/ 0 60000 65536"/>
                <a:gd name="T7" fmla="*/ 0 60000 65536"/>
                <a:gd name="T8" fmla="*/ 0 60000 65536"/>
                <a:gd name="T9" fmla="*/ 0 w 1615"/>
                <a:gd name="T10" fmla="*/ 0 h 253"/>
                <a:gd name="T11" fmla="*/ 1615 w 1615"/>
                <a:gd name="T12" fmla="*/ 253 h 253"/>
              </a:gdLst>
              <a:ahLst/>
              <a:cxnLst>
                <a:cxn ang="T6">
                  <a:pos x="T0" y="T1"/>
                </a:cxn>
                <a:cxn ang="T7">
                  <a:pos x="T2" y="T3"/>
                </a:cxn>
                <a:cxn ang="T8">
                  <a:pos x="T4" y="T5"/>
                </a:cxn>
              </a:cxnLst>
              <a:rect l="T9" t="T10" r="T11" b="T12"/>
              <a:pathLst>
                <a:path w="1615" h="253">
                  <a:moveTo>
                    <a:pt x="0" y="253"/>
                  </a:moveTo>
                  <a:lnTo>
                    <a:pt x="0" y="0"/>
                  </a:lnTo>
                  <a:lnTo>
                    <a:pt x="1615" y="0"/>
                  </a:lnTo>
                </a:path>
              </a:pathLst>
            </a:cu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64" name="Line 72"/>
            <p:cNvSpPr>
              <a:spLocks noChangeShapeType="1"/>
            </p:cNvSpPr>
            <p:nvPr/>
          </p:nvSpPr>
          <p:spPr bwMode="auto">
            <a:xfrm flipV="1">
              <a:off x="6579928" y="1032156"/>
              <a:ext cx="1403" cy="333145"/>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65" name="Freeform 73"/>
            <p:cNvSpPr>
              <a:spLocks/>
            </p:cNvSpPr>
            <p:nvPr/>
          </p:nvSpPr>
          <p:spPr bwMode="auto">
            <a:xfrm>
              <a:off x="6536444" y="992653"/>
              <a:ext cx="86968" cy="76373"/>
            </a:xfrm>
            <a:custGeom>
              <a:avLst/>
              <a:gdLst>
                <a:gd name="T0" fmla="*/ 40 w 58"/>
                <a:gd name="T1" fmla="*/ 54 h 59"/>
                <a:gd name="T2" fmla="*/ 81 w 58"/>
                <a:gd name="T3" fmla="*/ 29 h 59"/>
                <a:gd name="T4" fmla="*/ 40 w 58"/>
                <a:gd name="T5" fmla="*/ 0 h 59"/>
                <a:gd name="T6" fmla="*/ 40 w 58"/>
                <a:gd name="T7" fmla="*/ 0 h 59"/>
                <a:gd name="T8" fmla="*/ 0 w 58"/>
                <a:gd name="T9" fmla="*/ 29 h 59"/>
                <a:gd name="T10" fmla="*/ 40 w 58"/>
                <a:gd name="T11" fmla="*/ 54 h 59"/>
                <a:gd name="T12" fmla="*/ 0 60000 65536"/>
                <a:gd name="T13" fmla="*/ 0 60000 65536"/>
                <a:gd name="T14" fmla="*/ 0 60000 65536"/>
                <a:gd name="T15" fmla="*/ 0 60000 65536"/>
                <a:gd name="T16" fmla="*/ 0 60000 65536"/>
                <a:gd name="T17" fmla="*/ 0 60000 65536"/>
                <a:gd name="T18" fmla="*/ 0 w 58"/>
                <a:gd name="T19" fmla="*/ 0 h 59"/>
                <a:gd name="T20" fmla="*/ 58 w 58"/>
                <a:gd name="T21" fmla="*/ 59 h 59"/>
              </a:gdLst>
              <a:ahLst/>
              <a:cxnLst>
                <a:cxn ang="T12">
                  <a:pos x="T0" y="T1"/>
                </a:cxn>
                <a:cxn ang="T13">
                  <a:pos x="T2" y="T3"/>
                </a:cxn>
                <a:cxn ang="T14">
                  <a:pos x="T4" y="T5"/>
                </a:cxn>
                <a:cxn ang="T15">
                  <a:pos x="T6" y="T7"/>
                </a:cxn>
                <a:cxn ang="T16">
                  <a:pos x="T8" y="T9"/>
                </a:cxn>
                <a:cxn ang="T17">
                  <a:pos x="T10" y="T11"/>
                </a:cxn>
              </a:cxnLst>
              <a:rect l="T18" t="T19" r="T20" b="T21"/>
              <a:pathLst>
                <a:path w="58" h="59">
                  <a:moveTo>
                    <a:pt x="29" y="59"/>
                  </a:moveTo>
                  <a:cubicBezTo>
                    <a:pt x="45" y="59"/>
                    <a:pt x="58" y="46"/>
                    <a:pt x="58" y="30"/>
                  </a:cubicBezTo>
                  <a:cubicBezTo>
                    <a:pt x="58" y="14"/>
                    <a:pt x="45" y="0"/>
                    <a:pt x="29" y="0"/>
                  </a:cubicBezTo>
                  <a:cubicBezTo>
                    <a:pt x="29" y="0"/>
                    <a:pt x="29" y="0"/>
                    <a:pt x="29" y="0"/>
                  </a:cubicBezTo>
                  <a:cubicBezTo>
                    <a:pt x="13" y="0"/>
                    <a:pt x="0" y="14"/>
                    <a:pt x="0" y="30"/>
                  </a:cubicBezTo>
                  <a:cubicBezTo>
                    <a:pt x="0" y="46"/>
                    <a:pt x="13" y="59"/>
                    <a:pt x="29" y="59"/>
                  </a:cubicBezTo>
                </a:path>
              </a:pathLst>
            </a:custGeom>
            <a:solidFill>
              <a:schemeClr val="tx1"/>
            </a:solidFill>
            <a:ln w="0">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66" name="Line 74"/>
            <p:cNvSpPr>
              <a:spLocks noChangeShapeType="1"/>
            </p:cNvSpPr>
            <p:nvPr/>
          </p:nvSpPr>
          <p:spPr bwMode="auto">
            <a:xfrm flipV="1">
              <a:off x="7546394" y="1032156"/>
              <a:ext cx="1403" cy="333145"/>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67" name="Freeform 75"/>
            <p:cNvSpPr>
              <a:spLocks/>
            </p:cNvSpPr>
            <p:nvPr/>
          </p:nvSpPr>
          <p:spPr bwMode="auto">
            <a:xfrm>
              <a:off x="7505716" y="992653"/>
              <a:ext cx="88371" cy="76373"/>
            </a:xfrm>
            <a:custGeom>
              <a:avLst/>
              <a:gdLst>
                <a:gd name="T0" fmla="*/ 41 w 59"/>
                <a:gd name="T1" fmla="*/ 54 h 59"/>
                <a:gd name="T2" fmla="*/ 82 w 59"/>
                <a:gd name="T3" fmla="*/ 29 h 59"/>
                <a:gd name="T4" fmla="*/ 41 w 59"/>
                <a:gd name="T5" fmla="*/ 0 h 59"/>
                <a:gd name="T6" fmla="*/ 41 w 59"/>
                <a:gd name="T7" fmla="*/ 0 h 59"/>
                <a:gd name="T8" fmla="*/ 0 w 59"/>
                <a:gd name="T9" fmla="*/ 29 h 59"/>
                <a:gd name="T10" fmla="*/ 41 w 59"/>
                <a:gd name="T11" fmla="*/ 54 h 59"/>
                <a:gd name="T12" fmla="*/ 0 60000 65536"/>
                <a:gd name="T13" fmla="*/ 0 60000 65536"/>
                <a:gd name="T14" fmla="*/ 0 60000 65536"/>
                <a:gd name="T15" fmla="*/ 0 60000 65536"/>
                <a:gd name="T16" fmla="*/ 0 60000 65536"/>
                <a:gd name="T17" fmla="*/ 0 60000 65536"/>
                <a:gd name="T18" fmla="*/ 0 w 59"/>
                <a:gd name="T19" fmla="*/ 0 h 59"/>
                <a:gd name="T20" fmla="*/ 59 w 59"/>
                <a:gd name="T21" fmla="*/ 59 h 59"/>
              </a:gdLst>
              <a:ahLst/>
              <a:cxnLst>
                <a:cxn ang="T12">
                  <a:pos x="T0" y="T1"/>
                </a:cxn>
                <a:cxn ang="T13">
                  <a:pos x="T2" y="T3"/>
                </a:cxn>
                <a:cxn ang="T14">
                  <a:pos x="T4" y="T5"/>
                </a:cxn>
                <a:cxn ang="T15">
                  <a:pos x="T6" y="T7"/>
                </a:cxn>
                <a:cxn ang="T16">
                  <a:pos x="T8" y="T9"/>
                </a:cxn>
                <a:cxn ang="T17">
                  <a:pos x="T10" y="T11"/>
                </a:cxn>
              </a:cxnLst>
              <a:rect l="T18" t="T19" r="T20" b="T21"/>
              <a:pathLst>
                <a:path w="59" h="59">
                  <a:moveTo>
                    <a:pt x="30" y="59"/>
                  </a:moveTo>
                  <a:cubicBezTo>
                    <a:pt x="46" y="59"/>
                    <a:pt x="59" y="46"/>
                    <a:pt x="59" y="30"/>
                  </a:cubicBezTo>
                  <a:cubicBezTo>
                    <a:pt x="59" y="14"/>
                    <a:pt x="46" y="0"/>
                    <a:pt x="30" y="0"/>
                  </a:cubicBezTo>
                  <a:cubicBezTo>
                    <a:pt x="30" y="0"/>
                    <a:pt x="30" y="0"/>
                    <a:pt x="30" y="0"/>
                  </a:cubicBezTo>
                  <a:cubicBezTo>
                    <a:pt x="14" y="0"/>
                    <a:pt x="0" y="14"/>
                    <a:pt x="0" y="30"/>
                  </a:cubicBezTo>
                  <a:cubicBezTo>
                    <a:pt x="0" y="46"/>
                    <a:pt x="14" y="59"/>
                    <a:pt x="30" y="59"/>
                  </a:cubicBezTo>
                </a:path>
              </a:pathLst>
            </a:custGeom>
            <a:solidFill>
              <a:schemeClr val="tx1"/>
            </a:solidFill>
            <a:ln w="0">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68" name="Line 76"/>
            <p:cNvSpPr>
              <a:spLocks noChangeShapeType="1"/>
            </p:cNvSpPr>
            <p:nvPr/>
          </p:nvSpPr>
          <p:spPr bwMode="auto">
            <a:xfrm flipH="1">
              <a:off x="5432512" y="2373955"/>
              <a:ext cx="287555" cy="1317"/>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70" name="Rectangle 78"/>
            <p:cNvSpPr>
              <a:spLocks noChangeArrowheads="1"/>
            </p:cNvSpPr>
            <p:nvPr/>
          </p:nvSpPr>
          <p:spPr bwMode="auto">
            <a:xfrm>
              <a:off x="8107478" y="2870381"/>
              <a:ext cx="113619" cy="250188"/>
            </a:xfrm>
            <a:prstGeom prst="rect">
              <a:avLst/>
            </a:prstGeom>
            <a:grpFill/>
            <a:ln w="22225" cap="rnd">
              <a:solidFill>
                <a:srgbClr val="000000"/>
              </a:solidFill>
              <a:round/>
              <a:headEnd/>
              <a:tailEnd/>
            </a:ln>
          </p:spPr>
          <p:txBody>
            <a:bodyPr/>
            <a:lstStyle/>
            <a:p>
              <a:endParaRPr lang="zh-CN" altLang="en-US">
                <a:solidFill>
                  <a:srgbClr val="080808"/>
                </a:solidFill>
                <a:latin typeface="Times New Roman" pitchFamily="18" charset="0"/>
                <a:cs typeface="Times New Roman" pitchFamily="18" charset="0"/>
              </a:endParaRPr>
            </a:p>
          </p:txBody>
        </p:sp>
        <p:sp>
          <p:nvSpPr>
            <p:cNvPr id="71" name="Rectangle 79"/>
            <p:cNvSpPr>
              <a:spLocks noChangeArrowheads="1"/>
            </p:cNvSpPr>
            <p:nvPr/>
          </p:nvSpPr>
          <p:spPr bwMode="auto">
            <a:xfrm>
              <a:off x="7852185" y="2937536"/>
              <a:ext cx="228642" cy="252822"/>
            </a:xfrm>
            <a:prstGeom prst="rect">
              <a:avLst/>
            </a:prstGeom>
            <a:grpFill/>
            <a:ln w="9525">
              <a:noFill/>
              <a:miter lim="800000"/>
              <a:headEnd/>
              <a:tailEnd/>
            </a:ln>
          </p:spPr>
          <p:txBody>
            <a:bodyPr wrap="none" lIns="0" tIns="0" rIns="0" bIns="0">
              <a:spAutoFit/>
            </a:bodyPr>
            <a:lstStyle/>
            <a:p>
              <a:r>
                <a:rPr lang="en-US" altLang="zh-CN" b="1" i="1" dirty="0">
                  <a:solidFill>
                    <a:srgbClr val="080808"/>
                  </a:solidFill>
                  <a:latin typeface="Times New Roman" pitchFamily="18" charset="0"/>
                  <a:cs typeface="Times New Roman" pitchFamily="18" charset="0"/>
                </a:rPr>
                <a:t>R</a:t>
              </a:r>
              <a:r>
                <a:rPr lang="en-US" altLang="zh-CN" baseline="-25000" dirty="0">
                  <a:solidFill>
                    <a:srgbClr val="080808"/>
                  </a:solidFill>
                  <a:latin typeface="Times New Roman" pitchFamily="18" charset="0"/>
                  <a:cs typeface="Times New Roman" pitchFamily="18" charset="0"/>
                </a:rPr>
                <a:t>L</a:t>
              </a:r>
              <a:endParaRPr lang="en-US" altLang="zh-CN" sz="2000" baseline="-25000" dirty="0">
                <a:solidFill>
                  <a:srgbClr val="080808"/>
                </a:solidFill>
                <a:latin typeface="Times New Roman" pitchFamily="18" charset="0"/>
                <a:cs typeface="Times New Roman" pitchFamily="18" charset="0"/>
              </a:endParaRPr>
            </a:p>
          </p:txBody>
        </p:sp>
        <p:sp>
          <p:nvSpPr>
            <p:cNvPr id="74" name="Freeform 83"/>
            <p:cNvSpPr>
              <a:spLocks/>
            </p:cNvSpPr>
            <p:nvPr/>
          </p:nvSpPr>
          <p:spPr bwMode="auto">
            <a:xfrm>
              <a:off x="7505716" y="2599124"/>
              <a:ext cx="88371" cy="77690"/>
            </a:xfrm>
            <a:custGeom>
              <a:avLst/>
              <a:gdLst>
                <a:gd name="T0" fmla="*/ 82 w 59"/>
                <a:gd name="T1" fmla="*/ 30 h 59"/>
                <a:gd name="T2" fmla="*/ 41 w 59"/>
                <a:gd name="T3" fmla="*/ 0 h 59"/>
                <a:gd name="T4" fmla="*/ 0 w 59"/>
                <a:gd name="T5" fmla="*/ 30 h 59"/>
                <a:gd name="T6" fmla="*/ 0 w 59"/>
                <a:gd name="T7" fmla="*/ 30 h 59"/>
                <a:gd name="T8" fmla="*/ 41 w 59"/>
                <a:gd name="T9" fmla="*/ 59 h 59"/>
                <a:gd name="T10" fmla="*/ 82 w 59"/>
                <a:gd name="T11" fmla="*/ 30 h 59"/>
                <a:gd name="T12" fmla="*/ 0 60000 65536"/>
                <a:gd name="T13" fmla="*/ 0 60000 65536"/>
                <a:gd name="T14" fmla="*/ 0 60000 65536"/>
                <a:gd name="T15" fmla="*/ 0 60000 65536"/>
                <a:gd name="T16" fmla="*/ 0 60000 65536"/>
                <a:gd name="T17" fmla="*/ 0 60000 65536"/>
                <a:gd name="T18" fmla="*/ 0 w 59"/>
                <a:gd name="T19" fmla="*/ 0 h 59"/>
                <a:gd name="T20" fmla="*/ 59 w 59"/>
                <a:gd name="T21" fmla="*/ 59 h 59"/>
              </a:gdLst>
              <a:ahLst/>
              <a:cxnLst>
                <a:cxn ang="T12">
                  <a:pos x="T0" y="T1"/>
                </a:cxn>
                <a:cxn ang="T13">
                  <a:pos x="T2" y="T3"/>
                </a:cxn>
                <a:cxn ang="T14">
                  <a:pos x="T4" y="T5"/>
                </a:cxn>
                <a:cxn ang="T15">
                  <a:pos x="T6" y="T7"/>
                </a:cxn>
                <a:cxn ang="T16">
                  <a:pos x="T8" y="T9"/>
                </a:cxn>
                <a:cxn ang="T17">
                  <a:pos x="T10" y="T11"/>
                </a:cxn>
              </a:cxnLst>
              <a:rect l="T18" t="T19" r="T20" b="T21"/>
              <a:pathLst>
                <a:path w="59" h="59">
                  <a:moveTo>
                    <a:pt x="59" y="30"/>
                  </a:moveTo>
                  <a:cubicBezTo>
                    <a:pt x="59" y="14"/>
                    <a:pt x="46" y="0"/>
                    <a:pt x="30" y="0"/>
                  </a:cubicBezTo>
                  <a:cubicBezTo>
                    <a:pt x="14" y="0"/>
                    <a:pt x="0" y="14"/>
                    <a:pt x="0" y="30"/>
                  </a:cubicBezTo>
                  <a:cubicBezTo>
                    <a:pt x="0" y="30"/>
                    <a:pt x="0" y="30"/>
                    <a:pt x="0" y="30"/>
                  </a:cubicBezTo>
                  <a:cubicBezTo>
                    <a:pt x="0" y="46"/>
                    <a:pt x="14" y="59"/>
                    <a:pt x="30" y="59"/>
                  </a:cubicBezTo>
                  <a:cubicBezTo>
                    <a:pt x="46" y="59"/>
                    <a:pt x="59" y="46"/>
                    <a:pt x="59" y="30"/>
                  </a:cubicBezTo>
                </a:path>
              </a:pathLst>
            </a:custGeom>
            <a:solidFill>
              <a:schemeClr val="tx1"/>
            </a:solidFill>
            <a:ln w="0">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75" name="Line 84"/>
            <p:cNvSpPr>
              <a:spLocks noChangeShapeType="1"/>
            </p:cNvSpPr>
            <p:nvPr/>
          </p:nvSpPr>
          <p:spPr bwMode="auto">
            <a:xfrm flipH="1">
              <a:off x="8164989" y="3120569"/>
              <a:ext cx="0" cy="351580"/>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76" name="Line 85"/>
            <p:cNvSpPr>
              <a:spLocks noChangeShapeType="1"/>
            </p:cNvSpPr>
            <p:nvPr/>
          </p:nvSpPr>
          <p:spPr bwMode="auto">
            <a:xfrm>
              <a:off x="8071007" y="3472149"/>
              <a:ext cx="190768" cy="0"/>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77" name="Rectangle 86"/>
            <p:cNvSpPr>
              <a:spLocks noChangeArrowheads="1"/>
            </p:cNvSpPr>
            <p:nvPr/>
          </p:nvSpPr>
          <p:spPr bwMode="auto">
            <a:xfrm>
              <a:off x="5231924" y="2217258"/>
              <a:ext cx="176741" cy="252822"/>
            </a:xfrm>
            <a:prstGeom prst="rect">
              <a:avLst/>
            </a:prstGeom>
            <a:grpFill/>
            <a:ln w="9525">
              <a:noFill/>
              <a:miter lim="800000"/>
              <a:headEnd/>
              <a:tailEnd/>
            </a:ln>
          </p:spPr>
          <p:txBody>
            <a:bodyPr wrap="none" lIns="0" tIns="0" rIns="0" bIns="0">
              <a:spAutoFit/>
            </a:bodyPr>
            <a:lstStyle/>
            <a:p>
              <a:r>
                <a:rPr lang="en-US" altLang="zh-CN" b="1" i="1" dirty="0">
                  <a:solidFill>
                    <a:srgbClr val="6600FF"/>
                  </a:solidFill>
                  <a:latin typeface="Times New Roman" pitchFamily="18" charset="0"/>
                  <a:ea typeface="微软雅黑" pitchFamily="34" charset="-122"/>
                  <a:cs typeface="Times New Roman" pitchFamily="18" charset="0"/>
                  <a:sym typeface="Symbol" pitchFamily="18" charset="2"/>
                </a:rPr>
                <a:t></a:t>
              </a:r>
              <a:r>
                <a:rPr lang="en-US" altLang="zh-CN" b="1" baseline="-25000" dirty="0">
                  <a:solidFill>
                    <a:srgbClr val="6600FF"/>
                  </a:solidFill>
                  <a:latin typeface="Times New Roman" pitchFamily="18" charset="0"/>
                  <a:ea typeface="微软雅黑" pitchFamily="34" charset="-122"/>
                  <a:cs typeface="Times New Roman" pitchFamily="18" charset="0"/>
                </a:rPr>
                <a:t>I</a:t>
              </a:r>
              <a:endParaRPr lang="en-US" altLang="zh-CN" sz="2000" dirty="0">
                <a:latin typeface="Times New Roman" pitchFamily="18" charset="0"/>
                <a:cs typeface="Times New Roman" pitchFamily="18" charset="0"/>
              </a:endParaRPr>
            </a:p>
          </p:txBody>
        </p:sp>
        <p:sp>
          <p:nvSpPr>
            <p:cNvPr id="78" name="Rectangle 88"/>
            <p:cNvSpPr>
              <a:spLocks noChangeArrowheads="1"/>
            </p:cNvSpPr>
            <p:nvPr/>
          </p:nvSpPr>
          <p:spPr bwMode="auto">
            <a:xfrm>
              <a:off x="5588213" y="1539117"/>
              <a:ext cx="165520" cy="196200"/>
            </a:xfrm>
            <a:prstGeom prst="rect">
              <a:avLst/>
            </a:prstGeom>
            <a:grpFill/>
            <a:ln w="9525">
              <a:noFill/>
              <a:miter lim="800000"/>
              <a:headEnd/>
              <a:tailEnd/>
            </a:ln>
          </p:spPr>
          <p:txBody>
            <a:bodyPr wrap="none" lIns="0" tIns="0" rIns="0" bIns="0">
              <a:spAutoFit/>
            </a:bodyPr>
            <a:lstStyle/>
            <a:p>
              <a:r>
                <a:rPr lang="en-US" altLang="zh-CN" sz="1400" b="0" dirty="0">
                  <a:solidFill>
                    <a:srgbClr val="080808"/>
                  </a:solidFill>
                  <a:latin typeface="Times New Roman" pitchFamily="18" charset="0"/>
                  <a:cs typeface="Times New Roman" pitchFamily="18" charset="0"/>
                </a:rPr>
                <a:t>4k</a:t>
              </a:r>
              <a:endParaRPr lang="en-US" altLang="zh-CN" sz="2000" dirty="0">
                <a:solidFill>
                  <a:srgbClr val="080808"/>
                </a:solidFill>
                <a:latin typeface="Times New Roman" pitchFamily="18" charset="0"/>
                <a:cs typeface="Times New Roman" pitchFamily="18" charset="0"/>
              </a:endParaRPr>
            </a:p>
          </p:txBody>
        </p:sp>
        <p:sp>
          <p:nvSpPr>
            <p:cNvPr id="79" name="Rectangle 89"/>
            <p:cNvSpPr>
              <a:spLocks noChangeArrowheads="1"/>
            </p:cNvSpPr>
            <p:nvPr/>
          </p:nvSpPr>
          <p:spPr bwMode="auto">
            <a:xfrm>
              <a:off x="6666896" y="1398221"/>
              <a:ext cx="287555" cy="194883"/>
            </a:xfrm>
            <a:prstGeom prst="rect">
              <a:avLst/>
            </a:prstGeom>
            <a:grpFill/>
            <a:ln w="9525">
              <a:noFill/>
              <a:miter lim="800000"/>
              <a:headEnd/>
              <a:tailEnd/>
            </a:ln>
          </p:spPr>
          <p:txBody>
            <a:bodyPr wrap="none" lIns="0" tIns="0" rIns="0" bIns="0">
              <a:spAutoFit/>
            </a:bodyPr>
            <a:lstStyle/>
            <a:p>
              <a:r>
                <a:rPr lang="en-US" altLang="zh-CN" sz="1400" b="0" dirty="0">
                  <a:solidFill>
                    <a:srgbClr val="080808"/>
                  </a:solidFill>
                  <a:latin typeface="Times New Roman" pitchFamily="18" charset="0"/>
                  <a:cs typeface="Times New Roman" pitchFamily="18" charset="0"/>
                </a:rPr>
                <a:t>1.6k</a:t>
              </a:r>
              <a:endParaRPr lang="en-US" altLang="zh-CN" sz="2000" dirty="0">
                <a:solidFill>
                  <a:srgbClr val="080808"/>
                </a:solidFill>
                <a:latin typeface="Times New Roman" pitchFamily="18" charset="0"/>
                <a:cs typeface="Times New Roman" pitchFamily="18" charset="0"/>
              </a:endParaRPr>
            </a:p>
          </p:txBody>
        </p:sp>
        <p:sp>
          <p:nvSpPr>
            <p:cNvPr id="80" name="Rectangle 90"/>
            <p:cNvSpPr>
              <a:spLocks noChangeArrowheads="1"/>
            </p:cNvSpPr>
            <p:nvPr/>
          </p:nvSpPr>
          <p:spPr bwMode="auto">
            <a:xfrm>
              <a:off x="7667027" y="1395588"/>
              <a:ext cx="248279" cy="196200"/>
            </a:xfrm>
            <a:prstGeom prst="rect">
              <a:avLst/>
            </a:prstGeom>
            <a:grpFill/>
            <a:ln w="9525">
              <a:noFill/>
              <a:miter lim="800000"/>
              <a:headEnd/>
              <a:tailEnd/>
            </a:ln>
          </p:spPr>
          <p:txBody>
            <a:bodyPr wrap="none" lIns="0" tIns="0" rIns="0" bIns="0">
              <a:spAutoFit/>
            </a:bodyPr>
            <a:lstStyle/>
            <a:p>
              <a:r>
                <a:rPr lang="en-US" altLang="zh-CN" sz="1400" b="0" dirty="0">
                  <a:solidFill>
                    <a:srgbClr val="080808"/>
                  </a:solidFill>
                  <a:latin typeface="Times New Roman" pitchFamily="18" charset="0"/>
                  <a:cs typeface="Times New Roman" pitchFamily="18" charset="0"/>
                </a:rPr>
                <a:t>130</a:t>
              </a:r>
              <a:endParaRPr lang="en-US" altLang="zh-CN" sz="2000" dirty="0">
                <a:solidFill>
                  <a:srgbClr val="080808"/>
                </a:solidFill>
                <a:latin typeface="Times New Roman" pitchFamily="18" charset="0"/>
                <a:cs typeface="Times New Roman" pitchFamily="18" charset="0"/>
              </a:endParaRPr>
            </a:p>
          </p:txBody>
        </p:sp>
        <p:sp>
          <p:nvSpPr>
            <p:cNvPr id="81" name="Rectangle 91"/>
            <p:cNvSpPr>
              <a:spLocks noChangeArrowheads="1"/>
            </p:cNvSpPr>
            <p:nvPr/>
          </p:nvSpPr>
          <p:spPr bwMode="auto">
            <a:xfrm>
              <a:off x="7829741" y="1046641"/>
              <a:ext cx="141674" cy="252822"/>
            </a:xfrm>
            <a:prstGeom prst="rect">
              <a:avLst/>
            </a:prstGeom>
            <a:grpFill/>
            <a:ln w="9525">
              <a:noFill/>
              <a:miter lim="800000"/>
              <a:headEnd/>
              <a:tailEnd/>
            </a:ln>
          </p:spPr>
          <p:txBody>
            <a:bodyPr wrap="none" lIns="0" tIns="0" rIns="0" bIns="0">
              <a:spAutoFit/>
            </a:bodyPr>
            <a:lstStyle/>
            <a:p>
              <a:r>
                <a:rPr lang="en-US" altLang="zh-CN" sz="1800" b="1" i="1" dirty="0">
                  <a:solidFill>
                    <a:srgbClr val="080808"/>
                  </a:solidFill>
                  <a:latin typeface="Times New Roman" pitchFamily="18" charset="0"/>
                  <a:cs typeface="Times New Roman" pitchFamily="18" charset="0"/>
                </a:rPr>
                <a:t>V</a:t>
              </a:r>
              <a:endParaRPr lang="en-US" altLang="zh-CN" sz="2000" b="1" dirty="0">
                <a:solidFill>
                  <a:srgbClr val="080808"/>
                </a:solidFill>
                <a:latin typeface="Times New Roman" pitchFamily="18" charset="0"/>
                <a:cs typeface="Times New Roman" pitchFamily="18" charset="0"/>
              </a:endParaRPr>
            </a:p>
          </p:txBody>
        </p:sp>
        <p:sp>
          <p:nvSpPr>
            <p:cNvPr id="82" name="Rectangle 92"/>
            <p:cNvSpPr>
              <a:spLocks noChangeArrowheads="1"/>
            </p:cNvSpPr>
            <p:nvPr/>
          </p:nvSpPr>
          <p:spPr bwMode="auto">
            <a:xfrm>
              <a:off x="7972818" y="1173052"/>
              <a:ext cx="187963" cy="167231"/>
            </a:xfrm>
            <a:prstGeom prst="rect">
              <a:avLst/>
            </a:prstGeom>
            <a:grpFill/>
            <a:ln w="9525">
              <a:noFill/>
              <a:miter lim="800000"/>
              <a:headEnd/>
              <a:tailEnd/>
            </a:ln>
          </p:spPr>
          <p:txBody>
            <a:bodyPr wrap="none" lIns="0" tIns="0" rIns="0" bIns="0">
              <a:spAutoFit/>
            </a:bodyPr>
            <a:lstStyle/>
            <a:p>
              <a:r>
                <a:rPr lang="en-US" altLang="zh-CN" sz="1200" b="0" dirty="0">
                  <a:solidFill>
                    <a:srgbClr val="080808"/>
                  </a:solidFill>
                  <a:latin typeface="Times New Roman" pitchFamily="18" charset="0"/>
                  <a:cs typeface="Times New Roman" pitchFamily="18" charset="0"/>
                </a:rPr>
                <a:t>CC</a:t>
              </a:r>
              <a:endParaRPr lang="en-US" altLang="zh-CN" sz="2000" dirty="0">
                <a:solidFill>
                  <a:srgbClr val="080808"/>
                </a:solidFill>
                <a:latin typeface="Times New Roman" pitchFamily="18" charset="0"/>
                <a:cs typeface="Times New Roman" pitchFamily="18" charset="0"/>
              </a:endParaRPr>
            </a:p>
          </p:txBody>
        </p:sp>
        <p:sp>
          <p:nvSpPr>
            <p:cNvPr id="83" name="Rectangle 93"/>
            <p:cNvSpPr>
              <a:spLocks noChangeArrowheads="1"/>
            </p:cNvSpPr>
            <p:nvPr/>
          </p:nvSpPr>
          <p:spPr bwMode="auto">
            <a:xfrm>
              <a:off x="8163586" y="1046641"/>
              <a:ext cx="401175" cy="252822"/>
            </a:xfrm>
            <a:prstGeom prst="rect">
              <a:avLst/>
            </a:prstGeom>
            <a:grpFill/>
            <a:ln w="9525">
              <a:noFill/>
              <a:miter lim="800000"/>
              <a:headEnd/>
              <a:tailEnd/>
            </a:ln>
          </p:spPr>
          <p:txBody>
            <a:bodyPr wrap="none" lIns="0" tIns="0" rIns="0" bIns="0">
              <a:spAutoFit/>
            </a:bodyPr>
            <a:lstStyle/>
            <a:p>
              <a:r>
                <a:rPr lang="en-US" altLang="zh-CN" sz="1800" b="0">
                  <a:solidFill>
                    <a:srgbClr val="080808"/>
                  </a:solidFill>
                  <a:latin typeface="Times New Roman" pitchFamily="18" charset="0"/>
                  <a:cs typeface="Times New Roman" pitchFamily="18" charset="0"/>
                </a:rPr>
                <a:t>(5V)</a:t>
              </a:r>
              <a:endParaRPr lang="en-US" altLang="zh-CN" sz="2000">
                <a:solidFill>
                  <a:srgbClr val="080808"/>
                </a:solidFill>
                <a:latin typeface="Times New Roman" pitchFamily="18" charset="0"/>
                <a:cs typeface="Times New Roman" pitchFamily="18" charset="0"/>
              </a:endParaRPr>
            </a:p>
          </p:txBody>
        </p:sp>
        <p:sp>
          <p:nvSpPr>
            <p:cNvPr id="84" name="Rectangle 94"/>
            <p:cNvSpPr>
              <a:spLocks noChangeArrowheads="1"/>
            </p:cNvSpPr>
            <p:nvPr/>
          </p:nvSpPr>
          <p:spPr bwMode="auto">
            <a:xfrm>
              <a:off x="6692145" y="3277266"/>
              <a:ext cx="164117" cy="194883"/>
            </a:xfrm>
            <a:prstGeom prst="rect">
              <a:avLst/>
            </a:prstGeom>
            <a:grpFill/>
            <a:ln w="9525">
              <a:noFill/>
              <a:miter lim="800000"/>
              <a:headEnd/>
              <a:tailEnd/>
            </a:ln>
          </p:spPr>
          <p:txBody>
            <a:bodyPr wrap="none" lIns="0" tIns="0" rIns="0" bIns="0">
              <a:spAutoFit/>
            </a:bodyPr>
            <a:lstStyle/>
            <a:p>
              <a:r>
                <a:rPr lang="en-US" altLang="zh-CN" sz="1400" b="0" dirty="0">
                  <a:solidFill>
                    <a:srgbClr val="080808"/>
                  </a:solidFill>
                  <a:latin typeface="Times New Roman" pitchFamily="18" charset="0"/>
                  <a:cs typeface="Times New Roman" pitchFamily="18" charset="0"/>
                </a:rPr>
                <a:t>1k</a:t>
              </a:r>
              <a:endParaRPr lang="en-US" altLang="zh-CN" sz="2000" dirty="0">
                <a:solidFill>
                  <a:srgbClr val="080808"/>
                </a:solidFill>
                <a:latin typeface="Times New Roman" pitchFamily="18" charset="0"/>
                <a:cs typeface="Times New Roman" pitchFamily="18" charset="0"/>
              </a:endParaRPr>
            </a:p>
          </p:txBody>
        </p:sp>
        <p:sp>
          <p:nvSpPr>
            <p:cNvPr id="90" name="Rectangle 105"/>
            <p:cNvSpPr>
              <a:spLocks noChangeArrowheads="1"/>
            </p:cNvSpPr>
            <p:nvPr/>
          </p:nvSpPr>
          <p:spPr bwMode="auto">
            <a:xfrm>
              <a:off x="8121505" y="2252811"/>
              <a:ext cx="0" cy="246238"/>
            </a:xfrm>
            <a:prstGeom prst="rect">
              <a:avLst/>
            </a:prstGeom>
            <a:grpFill/>
            <a:ln w="9525">
              <a:noFill/>
              <a:miter lim="800000"/>
              <a:headEnd/>
              <a:tailEnd/>
            </a:ln>
          </p:spPr>
          <p:txBody>
            <a:bodyPr wrap="none" lIns="0" tIns="0" rIns="0" bIns="0">
              <a:spAutoFit/>
            </a:bodyPr>
            <a:lstStyle/>
            <a:p>
              <a:endParaRPr lang="zh-CN" altLang="en-US" sz="1600" dirty="0">
                <a:solidFill>
                  <a:srgbClr val="080808"/>
                </a:solidFill>
                <a:latin typeface="方正粗黑宋简体" pitchFamily="2" charset="-122"/>
                <a:ea typeface="方正粗黑宋简体" pitchFamily="2" charset="-122"/>
                <a:cs typeface="Times New Roman" pitchFamily="18" charset="0"/>
              </a:endParaRPr>
            </a:p>
          </p:txBody>
        </p:sp>
        <p:sp>
          <p:nvSpPr>
            <p:cNvPr id="38" name="Rectangle 43"/>
            <p:cNvSpPr>
              <a:spLocks noChangeArrowheads="1"/>
            </p:cNvSpPr>
            <p:nvPr/>
          </p:nvSpPr>
          <p:spPr bwMode="auto">
            <a:xfrm>
              <a:off x="7488883" y="1365302"/>
              <a:ext cx="113619" cy="251505"/>
            </a:xfrm>
            <a:prstGeom prst="rect">
              <a:avLst/>
            </a:prstGeom>
            <a:grpFill/>
            <a:ln w="22225" cap="rnd">
              <a:solidFill>
                <a:srgbClr val="000000"/>
              </a:solidFill>
              <a:round/>
              <a:headEnd/>
              <a:tailEnd/>
            </a:ln>
          </p:spPr>
          <p:txBody>
            <a:bodyPr/>
            <a:lstStyle/>
            <a:p>
              <a:endParaRPr lang="zh-CN" altLang="en-US">
                <a:solidFill>
                  <a:srgbClr val="080808"/>
                </a:solidFill>
                <a:latin typeface="Times New Roman" pitchFamily="18" charset="0"/>
                <a:cs typeface="Times New Roman" pitchFamily="18" charset="0"/>
              </a:endParaRPr>
            </a:p>
          </p:txBody>
        </p:sp>
        <p:sp>
          <p:nvSpPr>
            <p:cNvPr id="91" name="Line 54"/>
            <p:cNvSpPr>
              <a:spLocks noChangeShapeType="1"/>
            </p:cNvSpPr>
            <p:nvPr/>
          </p:nvSpPr>
          <p:spPr bwMode="auto">
            <a:xfrm>
              <a:off x="7547693" y="2447733"/>
              <a:ext cx="1403" cy="360000"/>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92" name="Line 54"/>
            <p:cNvSpPr>
              <a:spLocks noChangeShapeType="1"/>
            </p:cNvSpPr>
            <p:nvPr/>
          </p:nvSpPr>
          <p:spPr bwMode="auto">
            <a:xfrm flipH="1">
              <a:off x="7546714" y="2643188"/>
              <a:ext cx="612000" cy="0"/>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93" name="Line 84"/>
            <p:cNvSpPr>
              <a:spLocks noChangeShapeType="1"/>
            </p:cNvSpPr>
            <p:nvPr/>
          </p:nvSpPr>
          <p:spPr bwMode="auto">
            <a:xfrm flipH="1">
              <a:off x="8159831" y="2644304"/>
              <a:ext cx="0" cy="216000"/>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sp>
          <p:nvSpPr>
            <p:cNvPr id="95" name="Line 69"/>
            <p:cNvSpPr>
              <a:spLocks noChangeShapeType="1"/>
            </p:cNvSpPr>
            <p:nvPr/>
          </p:nvSpPr>
          <p:spPr bwMode="auto">
            <a:xfrm>
              <a:off x="6041964" y="2373175"/>
              <a:ext cx="285018" cy="0"/>
            </a:xfrm>
            <a:prstGeom prst="line">
              <a:avLst/>
            </a:prstGeom>
            <a:grpFill/>
            <a:ln w="22225" cap="rnd">
              <a:solidFill>
                <a:srgbClr val="000000"/>
              </a:solidFill>
              <a:round/>
              <a:headEnd/>
              <a:tailEnd/>
            </a:ln>
          </p:spPr>
          <p:txBody>
            <a:bodyPr/>
            <a:lstStyle/>
            <a:p>
              <a:endParaRPr lang="zh-CN" altLang="en-US">
                <a:latin typeface="Times New Roman" pitchFamily="18" charset="0"/>
                <a:cs typeface="Times New Roman" pitchFamily="18" charset="0"/>
              </a:endParaRPr>
            </a:p>
          </p:txBody>
        </p:sp>
      </p:grpSp>
      <p:sp>
        <p:nvSpPr>
          <p:cNvPr id="101" name="Rectangle 104">
            <a:extLst>
              <a:ext uri="{FF2B5EF4-FFF2-40B4-BE49-F238E27FC236}">
                <a16:creationId xmlns:a16="http://schemas.microsoft.com/office/drawing/2014/main" id="{BFF4812A-C69A-427E-8768-240D77C995D4}"/>
              </a:ext>
            </a:extLst>
          </p:cNvPr>
          <p:cNvSpPr>
            <a:spLocks noChangeArrowheads="1"/>
          </p:cNvSpPr>
          <p:nvPr/>
        </p:nvSpPr>
        <p:spPr bwMode="auto">
          <a:xfrm>
            <a:off x="300286" y="1775201"/>
            <a:ext cx="5055233" cy="700448"/>
          </a:xfrm>
          <a:prstGeom prst="rect">
            <a:avLst/>
          </a:prstGeom>
          <a:noFill/>
          <a:ln>
            <a:noFill/>
          </a:ln>
          <a:effectLst/>
        </p:spPr>
        <p:txBody>
          <a:bodyPr wrap="square" anchor="t">
            <a:spAutoFit/>
          </a:bodyPr>
          <a:lstStyle>
            <a:lvl1pPr eaLnBrk="0" hangingPunct="0">
              <a:defRPr sz="2000" b="1">
                <a:solidFill>
                  <a:schemeClr val="accent2"/>
                </a:solidFill>
                <a:latin typeface="Times New Roman" pitchFamily="18" charset="0"/>
                <a:ea typeface="宋体" charset="-122"/>
              </a:defRPr>
            </a:lvl1pPr>
            <a:lvl2pPr marL="742950" indent="-285750" eaLnBrk="0" hangingPunct="0">
              <a:defRPr sz="2000" b="1">
                <a:solidFill>
                  <a:schemeClr val="accent2"/>
                </a:solidFill>
                <a:latin typeface="Times New Roman" pitchFamily="18" charset="0"/>
                <a:ea typeface="宋体" charset="-122"/>
              </a:defRPr>
            </a:lvl2pPr>
            <a:lvl3pPr marL="1143000" indent="-228600" eaLnBrk="0" hangingPunct="0">
              <a:defRPr sz="2000" b="1">
                <a:solidFill>
                  <a:schemeClr val="accent2"/>
                </a:solidFill>
                <a:latin typeface="Times New Roman" pitchFamily="18" charset="0"/>
                <a:ea typeface="宋体" charset="-122"/>
              </a:defRPr>
            </a:lvl3pPr>
            <a:lvl4pPr marL="1600200" indent="-228600" eaLnBrk="0" hangingPunct="0">
              <a:defRPr sz="2000" b="1">
                <a:solidFill>
                  <a:schemeClr val="accent2"/>
                </a:solidFill>
                <a:latin typeface="Times New Roman" pitchFamily="18" charset="0"/>
                <a:ea typeface="宋体" charset="-122"/>
              </a:defRPr>
            </a:lvl4pPr>
            <a:lvl5pPr marL="2057400" indent="-228600" eaLnBrk="0" hangingPunct="0">
              <a:defRPr sz="2000" b="1">
                <a:solidFill>
                  <a:schemeClr val="accent2"/>
                </a:solidFill>
                <a:latin typeface="Times New Roman" pitchFamily="18" charset="0"/>
                <a:ea typeface="宋体" charset="-122"/>
              </a:defRPr>
            </a:lvl5pPr>
            <a:lvl6pPr marL="25146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6pPr>
            <a:lvl7pPr marL="29718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7pPr>
            <a:lvl8pPr marL="34290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8pPr>
            <a:lvl9pPr marL="38862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9pPr>
          </a:lstStyle>
          <a:p>
            <a:pPr marL="269875" indent="-269875">
              <a:lnSpc>
                <a:spcPct val="150000"/>
              </a:lnSpc>
              <a:spcBef>
                <a:spcPct val="0"/>
              </a:spcBef>
              <a:buFont typeface="Wingdings" pitchFamily="2" charset="2"/>
              <a:buChar char="Ø"/>
            </a:pPr>
            <a:r>
              <a:rPr lang="zh-CN" altLang="en-US" sz="1400" b="0" dirty="0">
                <a:solidFill>
                  <a:schemeClr val="tx1"/>
                </a:solidFill>
                <a:ea typeface="微软雅黑" panose="020B0503020204020204" pitchFamily="34" charset="-122"/>
                <a:cs typeface="Times New Roman" panose="02020603050405020304" pitchFamily="18" charset="0"/>
              </a:rPr>
              <a:t>输入为</a:t>
            </a:r>
            <a:r>
              <a:rPr lang="zh-CN" altLang="en-US" sz="1400" b="0" dirty="0">
                <a:solidFill>
                  <a:srgbClr val="6600FF"/>
                </a:solidFill>
                <a:ea typeface="微软雅黑" panose="020B0503020204020204" pitchFamily="34" charset="-122"/>
                <a:cs typeface="Times New Roman" panose="02020603050405020304" pitchFamily="18" charset="0"/>
              </a:rPr>
              <a:t>高电平</a:t>
            </a:r>
            <a:r>
              <a:rPr lang="zh-CN" altLang="en-US" sz="1400" b="0" dirty="0">
                <a:solidFill>
                  <a:schemeClr val="tx1"/>
                </a:solidFill>
                <a:ea typeface="微软雅黑" panose="020B0503020204020204" pitchFamily="34" charset="-122"/>
                <a:cs typeface="Times New Roman" panose="02020603050405020304" pitchFamily="18" charset="0"/>
              </a:rPr>
              <a:t>时：</a:t>
            </a:r>
            <a:r>
              <a:rPr lang="en-US" altLang="zh-CN" sz="1400" b="0" dirty="0">
                <a:solidFill>
                  <a:schemeClr val="tx1"/>
                </a:solidFill>
                <a:ea typeface="微软雅黑" panose="020B0503020204020204" pitchFamily="34" charset="-122"/>
                <a:cs typeface="Times New Roman" panose="02020603050405020304" pitchFamily="18" charset="0"/>
              </a:rPr>
              <a:t>T</a:t>
            </a:r>
            <a:r>
              <a:rPr lang="en-US" altLang="zh-CN" sz="1400" b="0" baseline="-25000" dirty="0">
                <a:solidFill>
                  <a:schemeClr val="tx1"/>
                </a:solidFill>
                <a:ea typeface="微软雅黑" panose="020B0503020204020204" pitchFamily="34" charset="-122"/>
                <a:cs typeface="Times New Roman" panose="02020603050405020304" pitchFamily="18" charset="0"/>
              </a:rPr>
              <a:t>4</a:t>
            </a:r>
            <a:r>
              <a:rPr lang="zh-CN" altLang="en-US" sz="1400" b="0" dirty="0">
                <a:solidFill>
                  <a:schemeClr val="tx1"/>
                </a:solidFill>
                <a:ea typeface="微软雅黑" panose="020B0503020204020204" pitchFamily="34" charset="-122"/>
                <a:cs typeface="Times New Roman" panose="02020603050405020304" pitchFamily="18" charset="0"/>
              </a:rPr>
              <a:t>和</a:t>
            </a:r>
            <a:r>
              <a:rPr lang="en-US" altLang="zh-CN" sz="1400" b="0" dirty="0">
                <a:solidFill>
                  <a:schemeClr val="tx1"/>
                </a:solidFill>
                <a:ea typeface="微软雅黑" panose="020B0503020204020204" pitchFamily="34" charset="-122"/>
                <a:cs typeface="Times New Roman" panose="02020603050405020304" pitchFamily="18" charset="0"/>
              </a:rPr>
              <a:t>D</a:t>
            </a:r>
            <a:r>
              <a:rPr lang="zh-CN" altLang="en-US" sz="1400" b="0" dirty="0">
                <a:solidFill>
                  <a:schemeClr val="tx1"/>
                </a:solidFill>
                <a:ea typeface="微软雅黑" panose="020B0503020204020204" pitchFamily="34" charset="-122"/>
                <a:cs typeface="Times New Roman" panose="02020603050405020304" pitchFamily="18" charset="0"/>
              </a:rPr>
              <a:t>截止，输出与电源</a:t>
            </a:r>
            <a:r>
              <a:rPr lang="en-US" altLang="zh-CN" sz="1400" b="0" i="1" dirty="0">
                <a:solidFill>
                  <a:schemeClr val="tx1"/>
                </a:solidFill>
                <a:ea typeface="微软雅黑" panose="020B0503020204020204" pitchFamily="34" charset="-122"/>
                <a:cs typeface="Times New Roman" panose="02020603050405020304" pitchFamily="18" charset="0"/>
              </a:rPr>
              <a:t>V</a:t>
            </a:r>
            <a:r>
              <a:rPr lang="en-US" altLang="zh-CN" sz="1400" b="0" baseline="-25000" dirty="0">
                <a:solidFill>
                  <a:schemeClr val="tx1"/>
                </a:solidFill>
                <a:ea typeface="微软雅黑" panose="020B0503020204020204" pitchFamily="34" charset="-122"/>
                <a:cs typeface="Times New Roman" panose="02020603050405020304" pitchFamily="18" charset="0"/>
              </a:rPr>
              <a:t>CC</a:t>
            </a:r>
            <a:r>
              <a:rPr lang="zh-CN" altLang="en-US" sz="1400" b="0" dirty="0">
                <a:solidFill>
                  <a:schemeClr val="tx1"/>
                </a:solidFill>
                <a:ea typeface="微软雅黑" panose="020B0503020204020204" pitchFamily="34" charset="-122"/>
                <a:cs typeface="Times New Roman" panose="02020603050405020304" pitchFamily="18" charset="0"/>
              </a:rPr>
              <a:t>之间的通路断开；</a:t>
            </a:r>
            <a:r>
              <a:rPr lang="en-US" altLang="zh-CN" sz="1400" b="0" dirty="0">
                <a:solidFill>
                  <a:schemeClr val="tx1"/>
                </a:solidFill>
                <a:ea typeface="微软雅黑" panose="020B0503020204020204" pitchFamily="34" charset="-122"/>
                <a:cs typeface="Times New Roman" panose="02020603050405020304" pitchFamily="18" charset="0"/>
              </a:rPr>
              <a:t>T</a:t>
            </a:r>
            <a:r>
              <a:rPr lang="en-US" altLang="zh-CN" sz="1400" b="0" baseline="-25000" dirty="0">
                <a:solidFill>
                  <a:schemeClr val="tx1"/>
                </a:solidFill>
                <a:ea typeface="微软雅黑" panose="020B0503020204020204" pitchFamily="34" charset="-122"/>
                <a:cs typeface="Times New Roman" panose="02020603050405020304" pitchFamily="18" charset="0"/>
              </a:rPr>
              <a:t>3</a:t>
            </a:r>
            <a:r>
              <a:rPr lang="zh-CN" altLang="en-US" sz="1400" b="0" dirty="0">
                <a:solidFill>
                  <a:schemeClr val="tx1"/>
                </a:solidFill>
                <a:ea typeface="微软雅黑" panose="020B0503020204020204" pitchFamily="34" charset="-122"/>
                <a:cs typeface="Times New Roman" panose="02020603050405020304" pitchFamily="18" charset="0"/>
              </a:rPr>
              <a:t>饱和，输出与地之间通过</a:t>
            </a:r>
            <a:r>
              <a:rPr lang="en-US" altLang="zh-CN" sz="1400" b="0" dirty="0">
                <a:solidFill>
                  <a:schemeClr val="tx1"/>
                </a:solidFill>
                <a:ea typeface="微软雅黑" panose="020B0503020204020204" pitchFamily="34" charset="-122"/>
                <a:cs typeface="Times New Roman" panose="02020603050405020304" pitchFamily="18" charset="0"/>
              </a:rPr>
              <a:t>T</a:t>
            </a:r>
            <a:r>
              <a:rPr lang="en-US" altLang="zh-CN" sz="1400" b="0" baseline="-25000" dirty="0">
                <a:solidFill>
                  <a:schemeClr val="tx1"/>
                </a:solidFill>
                <a:ea typeface="微软雅黑" panose="020B0503020204020204" pitchFamily="34" charset="-122"/>
                <a:cs typeface="Times New Roman" panose="02020603050405020304" pitchFamily="18" charset="0"/>
              </a:rPr>
              <a:t>3</a:t>
            </a:r>
            <a:r>
              <a:rPr lang="zh-CN" altLang="en-US" sz="1400" b="0" dirty="0">
                <a:solidFill>
                  <a:schemeClr val="tx1"/>
                </a:solidFill>
                <a:ea typeface="微软雅黑" panose="020B0503020204020204" pitchFamily="34" charset="-122"/>
                <a:cs typeface="Times New Roman" panose="02020603050405020304" pitchFamily="18" charset="0"/>
              </a:rPr>
              <a:t>连通。输出为</a:t>
            </a:r>
            <a:r>
              <a:rPr lang="zh-CN" altLang="en-US" sz="1400" b="0" dirty="0">
                <a:solidFill>
                  <a:srgbClr val="6600FF"/>
                </a:solidFill>
                <a:ea typeface="微软雅黑" panose="020B0503020204020204" pitchFamily="34" charset="-122"/>
                <a:cs typeface="Times New Roman" panose="02020603050405020304" pitchFamily="18" charset="0"/>
              </a:rPr>
              <a:t>低电平</a:t>
            </a:r>
            <a:r>
              <a:rPr lang="zh-CN" altLang="en-US" sz="1400" b="0" dirty="0">
                <a:solidFill>
                  <a:schemeClr val="tx1"/>
                </a:solidFill>
                <a:ea typeface="微软雅黑" panose="020B0503020204020204" pitchFamily="34" charset="-122"/>
                <a:cs typeface="Times New Roman" panose="02020603050405020304" pitchFamily="18" charset="0"/>
              </a:rPr>
              <a:t>。</a:t>
            </a:r>
            <a:endParaRPr lang="en-US" altLang="zh-CN" sz="1400" b="0" dirty="0">
              <a:solidFill>
                <a:schemeClr val="tx1"/>
              </a:solidFill>
              <a:ea typeface="微软雅黑" panose="020B0503020204020204" pitchFamily="34" charset="-122"/>
              <a:cs typeface="Times New Roman" panose="02020603050405020304" pitchFamily="18" charset="0"/>
            </a:endParaRPr>
          </a:p>
        </p:txBody>
      </p:sp>
      <p:grpSp>
        <p:nvGrpSpPr>
          <p:cNvPr id="12" name="组合 11">
            <a:extLst>
              <a:ext uri="{FF2B5EF4-FFF2-40B4-BE49-F238E27FC236}">
                <a16:creationId xmlns:a16="http://schemas.microsoft.com/office/drawing/2014/main" id="{BFC35E92-8CB4-448B-A514-837381422879}"/>
              </a:ext>
            </a:extLst>
          </p:cNvPr>
          <p:cNvGrpSpPr/>
          <p:nvPr/>
        </p:nvGrpSpPr>
        <p:grpSpPr>
          <a:xfrm>
            <a:off x="886843" y="4184362"/>
            <a:ext cx="7584028" cy="1021055"/>
            <a:chOff x="779986" y="4178521"/>
            <a:chExt cx="7584028" cy="1021055"/>
          </a:xfrm>
        </p:grpSpPr>
        <p:sp>
          <p:nvSpPr>
            <p:cNvPr id="11" name="矩形: 圆角 10">
              <a:extLst>
                <a:ext uri="{FF2B5EF4-FFF2-40B4-BE49-F238E27FC236}">
                  <a16:creationId xmlns:a16="http://schemas.microsoft.com/office/drawing/2014/main" id="{266B41FE-5A35-48E2-A39D-753843EAEFFF}"/>
                </a:ext>
              </a:extLst>
            </p:cNvPr>
            <p:cNvSpPr/>
            <p:nvPr/>
          </p:nvSpPr>
          <p:spPr>
            <a:xfrm>
              <a:off x="1913503" y="4178521"/>
              <a:ext cx="6362392" cy="10210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Rectangle 104">
              <a:extLst>
                <a:ext uri="{FF2B5EF4-FFF2-40B4-BE49-F238E27FC236}">
                  <a16:creationId xmlns:a16="http://schemas.microsoft.com/office/drawing/2014/main" id="{315365F1-6F47-4D48-9F66-895CF99A20E3}"/>
                </a:ext>
              </a:extLst>
            </p:cNvPr>
            <p:cNvSpPr>
              <a:spLocks noChangeArrowheads="1"/>
            </p:cNvSpPr>
            <p:nvPr/>
          </p:nvSpPr>
          <p:spPr bwMode="auto">
            <a:xfrm>
              <a:off x="2347025" y="4338825"/>
              <a:ext cx="6016989" cy="700448"/>
            </a:xfrm>
            <a:prstGeom prst="rect">
              <a:avLst/>
            </a:prstGeom>
            <a:noFill/>
            <a:ln>
              <a:noFill/>
            </a:ln>
            <a:effectLst/>
          </p:spPr>
          <p:txBody>
            <a:bodyPr wrap="square" anchor="t">
              <a:spAutoFit/>
            </a:bodyPr>
            <a:lstStyle>
              <a:lvl1pPr eaLnBrk="0" hangingPunct="0">
                <a:defRPr sz="2000" b="1">
                  <a:solidFill>
                    <a:schemeClr val="accent2"/>
                  </a:solidFill>
                  <a:latin typeface="Times New Roman" pitchFamily="18" charset="0"/>
                  <a:ea typeface="宋体" charset="-122"/>
                </a:defRPr>
              </a:lvl1pPr>
              <a:lvl2pPr marL="742950" indent="-285750" eaLnBrk="0" hangingPunct="0">
                <a:defRPr sz="2000" b="1">
                  <a:solidFill>
                    <a:schemeClr val="accent2"/>
                  </a:solidFill>
                  <a:latin typeface="Times New Roman" pitchFamily="18" charset="0"/>
                  <a:ea typeface="宋体" charset="-122"/>
                </a:defRPr>
              </a:lvl2pPr>
              <a:lvl3pPr marL="1143000" indent="-228600" eaLnBrk="0" hangingPunct="0">
                <a:defRPr sz="2000" b="1">
                  <a:solidFill>
                    <a:schemeClr val="accent2"/>
                  </a:solidFill>
                  <a:latin typeface="Times New Roman" pitchFamily="18" charset="0"/>
                  <a:ea typeface="宋体" charset="-122"/>
                </a:defRPr>
              </a:lvl3pPr>
              <a:lvl4pPr marL="1600200" indent="-228600" eaLnBrk="0" hangingPunct="0">
                <a:defRPr sz="2000" b="1">
                  <a:solidFill>
                    <a:schemeClr val="accent2"/>
                  </a:solidFill>
                  <a:latin typeface="Times New Roman" pitchFamily="18" charset="0"/>
                  <a:ea typeface="宋体" charset="-122"/>
                </a:defRPr>
              </a:lvl4pPr>
              <a:lvl5pPr marL="2057400" indent="-228600" eaLnBrk="0" hangingPunct="0">
                <a:defRPr sz="2000" b="1">
                  <a:solidFill>
                    <a:schemeClr val="accent2"/>
                  </a:solidFill>
                  <a:latin typeface="Times New Roman" pitchFamily="18" charset="0"/>
                  <a:ea typeface="宋体" charset="-122"/>
                </a:defRPr>
              </a:lvl5pPr>
              <a:lvl6pPr marL="25146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6pPr>
              <a:lvl7pPr marL="29718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7pPr>
              <a:lvl8pPr marL="34290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8pPr>
              <a:lvl9pPr marL="38862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9pPr>
            </a:lstStyle>
            <a:p>
              <a:pPr marL="269875" indent="-269875">
                <a:lnSpc>
                  <a:spcPct val="150000"/>
                </a:lnSpc>
                <a:spcBef>
                  <a:spcPct val="0"/>
                </a:spcBef>
                <a:buFont typeface="Wingdings" pitchFamily="2" charset="2"/>
                <a:buChar char="Ø"/>
              </a:pPr>
              <a:r>
                <a:rPr lang="zh-CN" altLang="en-US" sz="1400" b="0" dirty="0">
                  <a:solidFill>
                    <a:schemeClr val="tx1"/>
                  </a:solidFill>
                  <a:ea typeface="微软雅黑" panose="020B0503020204020204" pitchFamily="34" charset="-122"/>
                  <a:cs typeface="Times New Roman" panose="02020603050405020304" pitchFamily="18" charset="0"/>
                </a:rPr>
                <a:t>当输出与电源之间建立通路，而与地之间的通路断开，则输出高电平；</a:t>
              </a:r>
              <a:endParaRPr lang="en-US" altLang="zh-CN" sz="1400" b="0" dirty="0">
                <a:solidFill>
                  <a:schemeClr val="tx1"/>
                </a:solidFill>
                <a:ea typeface="微软雅黑" panose="020B0503020204020204" pitchFamily="34" charset="-122"/>
                <a:cs typeface="Times New Roman" panose="02020603050405020304" pitchFamily="18" charset="0"/>
              </a:endParaRPr>
            </a:p>
            <a:p>
              <a:pPr marL="269875" indent="-269875">
                <a:lnSpc>
                  <a:spcPct val="150000"/>
                </a:lnSpc>
                <a:spcBef>
                  <a:spcPct val="0"/>
                </a:spcBef>
                <a:buFont typeface="Wingdings" pitchFamily="2" charset="2"/>
                <a:buChar char="Ø"/>
              </a:pPr>
              <a:r>
                <a:rPr lang="zh-CN" altLang="en-US" sz="1400" b="0" dirty="0">
                  <a:solidFill>
                    <a:schemeClr val="tx1"/>
                  </a:solidFill>
                  <a:ea typeface="微软雅黑" panose="020B0503020204020204" pitchFamily="34" charset="-122"/>
                  <a:cs typeface="Times New Roman" panose="02020603050405020304" pitchFamily="18" charset="0"/>
                </a:rPr>
                <a:t>当输出与地之间建立通路，而与电源之间的通路断开，则输出低电平。</a:t>
              </a:r>
            </a:p>
          </p:txBody>
        </p:sp>
        <p:sp>
          <p:nvSpPr>
            <p:cNvPr id="9" name="矩形: 圆角 8">
              <a:extLst>
                <a:ext uri="{FF2B5EF4-FFF2-40B4-BE49-F238E27FC236}">
                  <a16:creationId xmlns:a16="http://schemas.microsoft.com/office/drawing/2014/main" id="{4C5509F5-F64C-47A1-AC75-55E3CEF6DF95}"/>
                </a:ext>
              </a:extLst>
            </p:cNvPr>
            <p:cNvSpPr/>
            <p:nvPr/>
          </p:nvSpPr>
          <p:spPr>
            <a:xfrm>
              <a:off x="779986" y="4178521"/>
              <a:ext cx="1304846" cy="1021055"/>
            </a:xfrm>
            <a:prstGeom prst="roundRect">
              <a:avLst>
                <a:gd name="adj" fmla="val 62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ea typeface="微软雅黑" panose="020B0503020204020204" pitchFamily="34" charset="-122"/>
                </a:rPr>
                <a:t>门电路输出</a:t>
              </a:r>
              <a:endParaRPr lang="en-US" altLang="zh-CN" sz="1600" dirty="0">
                <a:latin typeface="微软雅黑" panose="020B0503020204020204" pitchFamily="34" charset="-122"/>
                <a:ea typeface="微软雅黑" panose="020B0503020204020204" pitchFamily="34" charset="-122"/>
              </a:endParaRPr>
            </a:p>
            <a:p>
              <a:pPr algn="ctr"/>
              <a:r>
                <a:rPr lang="zh-CN" altLang="en-US" sz="1600" dirty="0">
                  <a:latin typeface="微软雅黑" panose="020B0503020204020204" pitchFamily="34" charset="-122"/>
                  <a:ea typeface="微软雅黑" panose="020B0503020204020204" pitchFamily="34" charset="-122"/>
                </a:rPr>
                <a:t>高、低电平</a:t>
              </a:r>
              <a:endParaRPr lang="en-US" altLang="zh-CN" sz="1600" dirty="0">
                <a:latin typeface="微软雅黑" panose="020B0503020204020204" pitchFamily="34" charset="-122"/>
                <a:ea typeface="微软雅黑" panose="020B0503020204020204" pitchFamily="34" charset="-122"/>
              </a:endParaRPr>
            </a:p>
            <a:p>
              <a:pPr algn="ctr"/>
              <a:r>
                <a:rPr lang="zh-CN" altLang="en-US" sz="1600" dirty="0">
                  <a:latin typeface="微软雅黑" panose="020B0503020204020204" pitchFamily="34" charset="-122"/>
                  <a:ea typeface="微软雅黑" panose="020B0503020204020204" pitchFamily="34" charset="-122"/>
                </a:rPr>
                <a:t>的实质</a:t>
              </a:r>
            </a:p>
          </p:txBody>
        </p:sp>
      </p:grpSp>
      <p:grpSp>
        <p:nvGrpSpPr>
          <p:cNvPr id="94" name="组合 93"/>
          <p:cNvGrpSpPr/>
          <p:nvPr/>
        </p:nvGrpSpPr>
        <p:grpSpPr>
          <a:xfrm>
            <a:off x="7714367" y="1208119"/>
            <a:ext cx="486821" cy="2224800"/>
            <a:chOff x="7753009" y="1224000"/>
            <a:chExt cx="486821" cy="2224800"/>
          </a:xfrm>
        </p:grpSpPr>
        <p:sp>
          <p:nvSpPr>
            <p:cNvPr id="88" name="任意多边形 87"/>
            <p:cNvSpPr/>
            <p:nvPr/>
          </p:nvSpPr>
          <p:spPr>
            <a:xfrm>
              <a:off x="7984800" y="1224000"/>
              <a:ext cx="187200" cy="1346400"/>
            </a:xfrm>
            <a:custGeom>
              <a:avLst/>
              <a:gdLst>
                <a:gd name="connsiteX0" fmla="*/ 187200 w 187200"/>
                <a:gd name="connsiteY0" fmla="*/ 0 h 1238400"/>
                <a:gd name="connsiteX1" fmla="*/ 36000 w 187200"/>
                <a:gd name="connsiteY1" fmla="*/ 122400 h 1238400"/>
                <a:gd name="connsiteX2" fmla="*/ 7200 w 187200"/>
                <a:gd name="connsiteY2" fmla="*/ 597600 h 1238400"/>
                <a:gd name="connsiteX3" fmla="*/ 0 w 187200"/>
                <a:gd name="connsiteY3" fmla="*/ 1238400 h 1238400"/>
              </a:gdLst>
              <a:ahLst/>
              <a:cxnLst>
                <a:cxn ang="0">
                  <a:pos x="connsiteX0" y="connsiteY0"/>
                </a:cxn>
                <a:cxn ang="0">
                  <a:pos x="connsiteX1" y="connsiteY1"/>
                </a:cxn>
                <a:cxn ang="0">
                  <a:pos x="connsiteX2" y="connsiteY2"/>
                </a:cxn>
                <a:cxn ang="0">
                  <a:pos x="connsiteX3" y="connsiteY3"/>
                </a:cxn>
              </a:cxnLst>
              <a:rect l="l" t="t" r="r" b="b"/>
              <a:pathLst>
                <a:path w="187200" h="1238400">
                  <a:moveTo>
                    <a:pt x="187200" y="0"/>
                  </a:moveTo>
                  <a:cubicBezTo>
                    <a:pt x="126600" y="11400"/>
                    <a:pt x="66000" y="22800"/>
                    <a:pt x="36000" y="122400"/>
                  </a:cubicBezTo>
                  <a:cubicBezTo>
                    <a:pt x="6000" y="222000"/>
                    <a:pt x="13200" y="411600"/>
                    <a:pt x="7200" y="597600"/>
                  </a:cubicBezTo>
                  <a:cubicBezTo>
                    <a:pt x="1200" y="783600"/>
                    <a:pt x="600" y="1011000"/>
                    <a:pt x="0" y="1238400"/>
                  </a:cubicBezTo>
                </a:path>
              </a:pathLst>
            </a:cu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5" name="乘号 84">
              <a:extLst>
                <a:ext uri="{FF2B5EF4-FFF2-40B4-BE49-F238E27FC236}">
                  <a16:creationId xmlns:a16="http://schemas.microsoft.com/office/drawing/2014/main" id="{A05C01C2-7D26-4935-B43A-9F55A033F4A8}"/>
                </a:ext>
              </a:extLst>
            </p:cNvPr>
            <p:cNvSpPr/>
            <p:nvPr/>
          </p:nvSpPr>
          <p:spPr>
            <a:xfrm rot="10800000">
              <a:off x="7753009" y="1601368"/>
              <a:ext cx="486821" cy="490993"/>
            </a:xfrm>
            <a:prstGeom prst="mathMultiply">
              <a:avLst>
                <a:gd name="adj1" fmla="val 13414"/>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任意多边形 88"/>
            <p:cNvSpPr/>
            <p:nvPr/>
          </p:nvSpPr>
          <p:spPr>
            <a:xfrm>
              <a:off x="7964400" y="2829600"/>
              <a:ext cx="142800" cy="619200"/>
            </a:xfrm>
            <a:custGeom>
              <a:avLst/>
              <a:gdLst>
                <a:gd name="connsiteX0" fmla="*/ 187200 w 187200"/>
                <a:gd name="connsiteY0" fmla="*/ 0 h 1238400"/>
                <a:gd name="connsiteX1" fmla="*/ 36000 w 187200"/>
                <a:gd name="connsiteY1" fmla="*/ 122400 h 1238400"/>
                <a:gd name="connsiteX2" fmla="*/ 7200 w 187200"/>
                <a:gd name="connsiteY2" fmla="*/ 597600 h 1238400"/>
                <a:gd name="connsiteX3" fmla="*/ 0 w 187200"/>
                <a:gd name="connsiteY3" fmla="*/ 1238400 h 1238400"/>
              </a:gdLst>
              <a:ahLst/>
              <a:cxnLst>
                <a:cxn ang="0">
                  <a:pos x="connsiteX0" y="connsiteY0"/>
                </a:cxn>
                <a:cxn ang="0">
                  <a:pos x="connsiteX1" y="connsiteY1"/>
                </a:cxn>
                <a:cxn ang="0">
                  <a:pos x="connsiteX2" y="connsiteY2"/>
                </a:cxn>
                <a:cxn ang="0">
                  <a:pos x="connsiteX3" y="connsiteY3"/>
                </a:cxn>
              </a:cxnLst>
              <a:rect l="l" t="t" r="r" b="b"/>
              <a:pathLst>
                <a:path w="187200" h="1238400">
                  <a:moveTo>
                    <a:pt x="187200" y="0"/>
                  </a:moveTo>
                  <a:cubicBezTo>
                    <a:pt x="126600" y="11400"/>
                    <a:pt x="66000" y="22800"/>
                    <a:pt x="36000" y="122400"/>
                  </a:cubicBezTo>
                  <a:cubicBezTo>
                    <a:pt x="6000" y="222000"/>
                    <a:pt x="13200" y="411600"/>
                    <a:pt x="7200" y="597600"/>
                  </a:cubicBezTo>
                  <a:cubicBezTo>
                    <a:pt x="1200" y="783600"/>
                    <a:pt x="600" y="1011000"/>
                    <a:pt x="0" y="1238400"/>
                  </a:cubicBezTo>
                </a:path>
              </a:pathLst>
            </a:custGeom>
            <a:ln w="28575">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97" name="组合 96"/>
          <p:cNvGrpSpPr/>
          <p:nvPr/>
        </p:nvGrpSpPr>
        <p:grpSpPr>
          <a:xfrm>
            <a:off x="7683581" y="1217221"/>
            <a:ext cx="486821" cy="2224800"/>
            <a:chOff x="7717009" y="1224000"/>
            <a:chExt cx="486821" cy="2224800"/>
          </a:xfrm>
        </p:grpSpPr>
        <p:sp>
          <p:nvSpPr>
            <p:cNvPr id="98" name="任意多边形 97"/>
            <p:cNvSpPr/>
            <p:nvPr/>
          </p:nvSpPr>
          <p:spPr>
            <a:xfrm>
              <a:off x="7984800" y="1224000"/>
              <a:ext cx="187200" cy="1346400"/>
            </a:xfrm>
            <a:custGeom>
              <a:avLst/>
              <a:gdLst>
                <a:gd name="connsiteX0" fmla="*/ 187200 w 187200"/>
                <a:gd name="connsiteY0" fmla="*/ 0 h 1238400"/>
                <a:gd name="connsiteX1" fmla="*/ 36000 w 187200"/>
                <a:gd name="connsiteY1" fmla="*/ 122400 h 1238400"/>
                <a:gd name="connsiteX2" fmla="*/ 7200 w 187200"/>
                <a:gd name="connsiteY2" fmla="*/ 597600 h 1238400"/>
                <a:gd name="connsiteX3" fmla="*/ 0 w 187200"/>
                <a:gd name="connsiteY3" fmla="*/ 1238400 h 1238400"/>
              </a:gdLst>
              <a:ahLst/>
              <a:cxnLst>
                <a:cxn ang="0">
                  <a:pos x="connsiteX0" y="connsiteY0"/>
                </a:cxn>
                <a:cxn ang="0">
                  <a:pos x="connsiteX1" y="connsiteY1"/>
                </a:cxn>
                <a:cxn ang="0">
                  <a:pos x="connsiteX2" y="connsiteY2"/>
                </a:cxn>
                <a:cxn ang="0">
                  <a:pos x="connsiteX3" y="connsiteY3"/>
                </a:cxn>
              </a:cxnLst>
              <a:rect l="l" t="t" r="r" b="b"/>
              <a:pathLst>
                <a:path w="187200" h="1238400">
                  <a:moveTo>
                    <a:pt x="187200" y="0"/>
                  </a:moveTo>
                  <a:cubicBezTo>
                    <a:pt x="126600" y="11400"/>
                    <a:pt x="66000" y="22800"/>
                    <a:pt x="36000" y="122400"/>
                  </a:cubicBezTo>
                  <a:cubicBezTo>
                    <a:pt x="6000" y="222000"/>
                    <a:pt x="13200" y="411600"/>
                    <a:pt x="7200" y="597600"/>
                  </a:cubicBezTo>
                  <a:cubicBezTo>
                    <a:pt x="1200" y="783600"/>
                    <a:pt x="600" y="1011000"/>
                    <a:pt x="0" y="1238400"/>
                  </a:cubicBezTo>
                </a:path>
              </a:pathLst>
            </a:custGeom>
            <a:ln w="28575">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99" name="乘号 98">
              <a:extLst>
                <a:ext uri="{FF2B5EF4-FFF2-40B4-BE49-F238E27FC236}">
                  <a16:creationId xmlns:a16="http://schemas.microsoft.com/office/drawing/2014/main" id="{A05C01C2-7D26-4935-B43A-9F55A033F4A8}"/>
                </a:ext>
              </a:extLst>
            </p:cNvPr>
            <p:cNvSpPr/>
            <p:nvPr/>
          </p:nvSpPr>
          <p:spPr>
            <a:xfrm rot="10800000">
              <a:off x="7717009" y="2861368"/>
              <a:ext cx="486821" cy="490993"/>
            </a:xfrm>
            <a:prstGeom prst="mathMultiply">
              <a:avLst>
                <a:gd name="adj1" fmla="val 13414"/>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任意多边形 99"/>
            <p:cNvSpPr/>
            <p:nvPr/>
          </p:nvSpPr>
          <p:spPr>
            <a:xfrm>
              <a:off x="7964400" y="2829600"/>
              <a:ext cx="142800" cy="619200"/>
            </a:xfrm>
            <a:custGeom>
              <a:avLst/>
              <a:gdLst>
                <a:gd name="connsiteX0" fmla="*/ 187200 w 187200"/>
                <a:gd name="connsiteY0" fmla="*/ 0 h 1238400"/>
                <a:gd name="connsiteX1" fmla="*/ 36000 w 187200"/>
                <a:gd name="connsiteY1" fmla="*/ 122400 h 1238400"/>
                <a:gd name="connsiteX2" fmla="*/ 7200 w 187200"/>
                <a:gd name="connsiteY2" fmla="*/ 597600 h 1238400"/>
                <a:gd name="connsiteX3" fmla="*/ 0 w 187200"/>
                <a:gd name="connsiteY3" fmla="*/ 1238400 h 1238400"/>
              </a:gdLst>
              <a:ahLst/>
              <a:cxnLst>
                <a:cxn ang="0">
                  <a:pos x="connsiteX0" y="connsiteY0"/>
                </a:cxn>
                <a:cxn ang="0">
                  <a:pos x="connsiteX1" y="connsiteY1"/>
                </a:cxn>
                <a:cxn ang="0">
                  <a:pos x="connsiteX2" y="connsiteY2"/>
                </a:cxn>
                <a:cxn ang="0">
                  <a:pos x="connsiteX3" y="connsiteY3"/>
                </a:cxn>
              </a:cxnLst>
              <a:rect l="l" t="t" r="r" b="b"/>
              <a:pathLst>
                <a:path w="187200" h="1238400">
                  <a:moveTo>
                    <a:pt x="187200" y="0"/>
                  </a:moveTo>
                  <a:cubicBezTo>
                    <a:pt x="126600" y="11400"/>
                    <a:pt x="66000" y="22800"/>
                    <a:pt x="36000" y="122400"/>
                  </a:cubicBezTo>
                  <a:cubicBezTo>
                    <a:pt x="6000" y="222000"/>
                    <a:pt x="13200" y="411600"/>
                    <a:pt x="7200" y="597600"/>
                  </a:cubicBezTo>
                  <a:cubicBezTo>
                    <a:pt x="1200" y="783600"/>
                    <a:pt x="600" y="1011000"/>
                    <a:pt x="0" y="1238400"/>
                  </a:cubicBezTo>
                </a:path>
              </a:pathLst>
            </a:custGeom>
            <a:ln w="28575">
              <a:solidFill>
                <a:srgbClr val="0070C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103" name="Rectangle 104">
            <a:extLst>
              <a:ext uri="{FF2B5EF4-FFF2-40B4-BE49-F238E27FC236}">
                <a16:creationId xmlns:a16="http://schemas.microsoft.com/office/drawing/2014/main" id="{3C0D1757-4F75-4742-ABF3-4569D949E475}"/>
              </a:ext>
            </a:extLst>
          </p:cNvPr>
          <p:cNvSpPr>
            <a:spLocks noChangeArrowheads="1"/>
          </p:cNvSpPr>
          <p:nvPr/>
        </p:nvSpPr>
        <p:spPr bwMode="auto">
          <a:xfrm>
            <a:off x="270763" y="2622776"/>
            <a:ext cx="5055233" cy="700448"/>
          </a:xfrm>
          <a:prstGeom prst="rect">
            <a:avLst/>
          </a:prstGeom>
          <a:noFill/>
          <a:ln>
            <a:noFill/>
          </a:ln>
          <a:effectLst/>
        </p:spPr>
        <p:txBody>
          <a:bodyPr wrap="square" anchor="t">
            <a:spAutoFit/>
          </a:bodyPr>
          <a:lstStyle>
            <a:lvl1pPr eaLnBrk="0" hangingPunct="0">
              <a:defRPr sz="2000" b="1">
                <a:solidFill>
                  <a:schemeClr val="accent2"/>
                </a:solidFill>
                <a:latin typeface="Times New Roman" pitchFamily="18" charset="0"/>
                <a:ea typeface="宋体" charset="-122"/>
              </a:defRPr>
            </a:lvl1pPr>
            <a:lvl2pPr marL="742950" indent="-285750" eaLnBrk="0" hangingPunct="0">
              <a:defRPr sz="2000" b="1">
                <a:solidFill>
                  <a:schemeClr val="accent2"/>
                </a:solidFill>
                <a:latin typeface="Times New Roman" pitchFamily="18" charset="0"/>
                <a:ea typeface="宋体" charset="-122"/>
              </a:defRPr>
            </a:lvl2pPr>
            <a:lvl3pPr marL="1143000" indent="-228600" eaLnBrk="0" hangingPunct="0">
              <a:defRPr sz="2000" b="1">
                <a:solidFill>
                  <a:schemeClr val="accent2"/>
                </a:solidFill>
                <a:latin typeface="Times New Roman" pitchFamily="18" charset="0"/>
                <a:ea typeface="宋体" charset="-122"/>
              </a:defRPr>
            </a:lvl3pPr>
            <a:lvl4pPr marL="1600200" indent="-228600" eaLnBrk="0" hangingPunct="0">
              <a:defRPr sz="2000" b="1">
                <a:solidFill>
                  <a:schemeClr val="accent2"/>
                </a:solidFill>
                <a:latin typeface="Times New Roman" pitchFamily="18" charset="0"/>
                <a:ea typeface="宋体" charset="-122"/>
              </a:defRPr>
            </a:lvl4pPr>
            <a:lvl5pPr marL="2057400" indent="-228600" eaLnBrk="0" hangingPunct="0">
              <a:defRPr sz="2000" b="1">
                <a:solidFill>
                  <a:schemeClr val="accent2"/>
                </a:solidFill>
                <a:latin typeface="Times New Roman" pitchFamily="18" charset="0"/>
                <a:ea typeface="宋体" charset="-122"/>
              </a:defRPr>
            </a:lvl5pPr>
            <a:lvl6pPr marL="25146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6pPr>
            <a:lvl7pPr marL="29718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7pPr>
            <a:lvl8pPr marL="34290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8pPr>
            <a:lvl9pPr marL="38862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9pPr>
          </a:lstStyle>
          <a:p>
            <a:pPr marL="269875" indent="-269875">
              <a:lnSpc>
                <a:spcPct val="150000"/>
              </a:lnSpc>
              <a:spcBef>
                <a:spcPts val="1200"/>
              </a:spcBef>
              <a:buFont typeface="Wingdings" pitchFamily="2" charset="2"/>
              <a:buChar char="Ø"/>
            </a:pPr>
            <a:r>
              <a:rPr lang="zh-CN" altLang="en-US" sz="1400" b="0" dirty="0">
                <a:solidFill>
                  <a:schemeClr val="tx1"/>
                </a:solidFill>
                <a:ea typeface="微软雅黑" panose="020B0503020204020204" pitchFamily="34" charset="-122"/>
                <a:cs typeface="Times New Roman" panose="02020603050405020304" pitchFamily="18" charset="0"/>
              </a:rPr>
              <a:t>输入为</a:t>
            </a:r>
            <a:r>
              <a:rPr lang="zh-CN" altLang="en-US" sz="1400" b="0" dirty="0">
                <a:solidFill>
                  <a:srgbClr val="6600FF"/>
                </a:solidFill>
                <a:ea typeface="微软雅黑" panose="020B0503020204020204" pitchFamily="34" charset="-122"/>
                <a:cs typeface="Times New Roman" panose="02020603050405020304" pitchFamily="18" charset="0"/>
              </a:rPr>
              <a:t>低电平</a:t>
            </a:r>
            <a:r>
              <a:rPr lang="zh-CN" altLang="en-US" sz="1400" b="0" dirty="0">
                <a:solidFill>
                  <a:schemeClr val="tx1"/>
                </a:solidFill>
                <a:ea typeface="微软雅黑" panose="020B0503020204020204" pitchFamily="34" charset="-122"/>
                <a:cs typeface="Times New Roman" panose="02020603050405020304" pitchFamily="18" charset="0"/>
              </a:rPr>
              <a:t>时：</a:t>
            </a:r>
            <a:r>
              <a:rPr lang="en-US" altLang="zh-CN" sz="1400" b="0" dirty="0">
                <a:solidFill>
                  <a:schemeClr val="tx1"/>
                </a:solidFill>
                <a:ea typeface="微软雅黑" panose="020B0503020204020204" pitchFamily="34" charset="-122"/>
                <a:cs typeface="Times New Roman" panose="02020603050405020304" pitchFamily="18" charset="0"/>
              </a:rPr>
              <a:t>T</a:t>
            </a:r>
            <a:r>
              <a:rPr lang="en-US" altLang="zh-CN" sz="1400" b="0" baseline="-25000" dirty="0">
                <a:solidFill>
                  <a:schemeClr val="tx1"/>
                </a:solidFill>
                <a:ea typeface="微软雅黑" panose="020B0503020204020204" pitchFamily="34" charset="-122"/>
                <a:cs typeface="Times New Roman" panose="02020603050405020304" pitchFamily="18" charset="0"/>
              </a:rPr>
              <a:t>4</a:t>
            </a:r>
            <a:r>
              <a:rPr lang="zh-CN" altLang="en-US" sz="1400" b="0" dirty="0">
                <a:solidFill>
                  <a:schemeClr val="tx1"/>
                </a:solidFill>
                <a:ea typeface="微软雅黑" panose="020B0503020204020204" pitchFamily="34" charset="-122"/>
                <a:cs typeface="Times New Roman" panose="02020603050405020304" pitchFamily="18" charset="0"/>
              </a:rPr>
              <a:t>和</a:t>
            </a:r>
            <a:r>
              <a:rPr lang="en-US" altLang="zh-CN" sz="1400" b="0" dirty="0">
                <a:solidFill>
                  <a:schemeClr val="tx1"/>
                </a:solidFill>
                <a:ea typeface="微软雅黑" panose="020B0503020204020204" pitchFamily="34" charset="-122"/>
                <a:cs typeface="Times New Roman" panose="02020603050405020304" pitchFamily="18" charset="0"/>
              </a:rPr>
              <a:t>D</a:t>
            </a:r>
            <a:r>
              <a:rPr lang="zh-CN" altLang="en-US" sz="1400" b="0" dirty="0">
                <a:solidFill>
                  <a:schemeClr val="tx1"/>
                </a:solidFill>
                <a:ea typeface="微软雅黑" panose="020B0503020204020204" pitchFamily="34" charset="-122"/>
                <a:cs typeface="Times New Roman" panose="02020603050405020304" pitchFamily="18" charset="0"/>
              </a:rPr>
              <a:t>导通，输出与电源</a:t>
            </a:r>
            <a:r>
              <a:rPr lang="en-US" altLang="zh-CN" sz="1400" b="0" i="1" dirty="0">
                <a:solidFill>
                  <a:schemeClr val="tx1"/>
                </a:solidFill>
                <a:ea typeface="微软雅黑" panose="020B0503020204020204" pitchFamily="34" charset="-122"/>
                <a:cs typeface="Times New Roman" panose="02020603050405020304" pitchFamily="18" charset="0"/>
              </a:rPr>
              <a:t>V</a:t>
            </a:r>
            <a:r>
              <a:rPr lang="en-US" altLang="zh-CN" sz="1400" b="0" baseline="-25000" dirty="0">
                <a:solidFill>
                  <a:schemeClr val="tx1"/>
                </a:solidFill>
                <a:ea typeface="微软雅黑" panose="020B0503020204020204" pitchFamily="34" charset="-122"/>
                <a:cs typeface="Times New Roman" panose="02020603050405020304" pitchFamily="18" charset="0"/>
              </a:rPr>
              <a:t>CC</a:t>
            </a:r>
            <a:r>
              <a:rPr lang="zh-CN" altLang="en-US" sz="1400" b="0" dirty="0">
                <a:solidFill>
                  <a:schemeClr val="tx1"/>
                </a:solidFill>
                <a:ea typeface="微软雅黑" panose="020B0503020204020204" pitchFamily="34" charset="-122"/>
                <a:cs typeface="Times New Roman" panose="02020603050405020304" pitchFamily="18" charset="0"/>
              </a:rPr>
              <a:t>之间的建立通路；</a:t>
            </a:r>
            <a:r>
              <a:rPr lang="en-US" altLang="zh-CN" sz="1400" b="0" dirty="0">
                <a:solidFill>
                  <a:schemeClr val="tx1"/>
                </a:solidFill>
                <a:ea typeface="微软雅黑" panose="020B0503020204020204" pitchFamily="34" charset="-122"/>
                <a:cs typeface="Times New Roman" panose="02020603050405020304" pitchFamily="18" charset="0"/>
              </a:rPr>
              <a:t>T</a:t>
            </a:r>
            <a:r>
              <a:rPr lang="en-US" altLang="zh-CN" sz="1400" b="0" baseline="-25000" dirty="0">
                <a:solidFill>
                  <a:schemeClr val="tx1"/>
                </a:solidFill>
                <a:ea typeface="微软雅黑" panose="020B0503020204020204" pitchFamily="34" charset="-122"/>
                <a:cs typeface="Times New Roman" panose="02020603050405020304" pitchFamily="18" charset="0"/>
              </a:rPr>
              <a:t>3</a:t>
            </a:r>
            <a:r>
              <a:rPr lang="zh-CN" altLang="en-US" sz="1400" b="0" dirty="0">
                <a:solidFill>
                  <a:schemeClr val="tx1"/>
                </a:solidFill>
                <a:ea typeface="微软雅黑" panose="020B0503020204020204" pitchFamily="34" charset="-122"/>
                <a:cs typeface="Times New Roman" panose="02020603050405020304" pitchFamily="18" charset="0"/>
              </a:rPr>
              <a:t>截止，输出与地之间断开。输出为高</a:t>
            </a:r>
            <a:r>
              <a:rPr lang="zh-CN" altLang="en-US" sz="1400" b="0" dirty="0">
                <a:solidFill>
                  <a:srgbClr val="6600FF"/>
                </a:solidFill>
                <a:ea typeface="微软雅黑" panose="020B0503020204020204" pitchFamily="34" charset="-122"/>
                <a:cs typeface="Times New Roman" panose="02020603050405020304" pitchFamily="18" charset="0"/>
              </a:rPr>
              <a:t>电平</a:t>
            </a:r>
            <a:r>
              <a:rPr lang="zh-CN" altLang="en-US" sz="1400" b="0" dirty="0">
                <a:solidFill>
                  <a:schemeClr val="tx1"/>
                </a:solidFill>
                <a:ea typeface="微软雅黑" panose="020B0503020204020204" pitchFamily="34" charset="-122"/>
                <a:cs typeface="Times New Roman" panose="02020603050405020304" pitchFamily="18" charset="0"/>
              </a:rPr>
              <a:t>。</a:t>
            </a:r>
          </a:p>
        </p:txBody>
      </p:sp>
    </p:spTree>
    <p:extLst>
      <p:ext uri="{BB962C8B-B14F-4D97-AF65-F5344CB8AC3E}">
        <p14:creationId xmlns:p14="http://schemas.microsoft.com/office/powerpoint/2010/main" val="699303705"/>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lide(fromBottom)">
                                      <p:cBhvr>
                                        <p:cTn id="7" dur="1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01"/>
                                        </p:tgtEl>
                                        <p:attrNameLst>
                                          <p:attrName>style.visibility</p:attrName>
                                        </p:attrNameLst>
                                      </p:cBhvr>
                                      <p:to>
                                        <p:strVal val="visible"/>
                                      </p:to>
                                    </p:set>
                                    <p:animEffect transition="in" filter="slide(fromBottom)">
                                      <p:cBhvr>
                                        <p:cTn id="12" dur="1000"/>
                                        <p:tgtEl>
                                          <p:spTgt spid="101"/>
                                        </p:tgtEl>
                                      </p:cBhvr>
                                    </p:animEffect>
                                  </p:childTnLst>
                                </p:cTn>
                              </p:par>
                            </p:childTnLst>
                          </p:cTn>
                        </p:par>
                        <p:par>
                          <p:cTn id="13" fill="hold">
                            <p:stCondLst>
                              <p:cond delay="1000"/>
                            </p:stCondLst>
                            <p:childTnLst>
                              <p:par>
                                <p:cTn id="14" presetID="22" presetClass="entr" presetSubtype="1" fill="hold" nodeType="afterEffect">
                                  <p:stCondLst>
                                    <p:cond delay="0"/>
                                  </p:stCondLst>
                                  <p:childTnLst>
                                    <p:set>
                                      <p:cBhvr>
                                        <p:cTn id="15" dur="1" fill="hold">
                                          <p:stCondLst>
                                            <p:cond delay="0"/>
                                          </p:stCondLst>
                                        </p:cTn>
                                        <p:tgtEl>
                                          <p:spTgt spid="94"/>
                                        </p:tgtEl>
                                        <p:attrNameLst>
                                          <p:attrName>style.visibility</p:attrName>
                                        </p:attrNameLst>
                                      </p:cBhvr>
                                      <p:to>
                                        <p:strVal val="visible"/>
                                      </p:to>
                                    </p:set>
                                    <p:animEffect transition="in" filter="wipe(up)">
                                      <p:cBhvr>
                                        <p:cTn id="16" dur="2000"/>
                                        <p:tgtEl>
                                          <p:spTgt spid="94"/>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4" fill="hold" grpId="0" nodeType="clickEffect">
                                  <p:stCondLst>
                                    <p:cond delay="0"/>
                                  </p:stCondLst>
                                  <p:childTnLst>
                                    <p:set>
                                      <p:cBhvr>
                                        <p:cTn id="20" dur="1" fill="hold">
                                          <p:stCondLst>
                                            <p:cond delay="0"/>
                                          </p:stCondLst>
                                        </p:cTn>
                                        <p:tgtEl>
                                          <p:spTgt spid="103"/>
                                        </p:tgtEl>
                                        <p:attrNameLst>
                                          <p:attrName>style.visibility</p:attrName>
                                        </p:attrNameLst>
                                      </p:cBhvr>
                                      <p:to>
                                        <p:strVal val="visible"/>
                                      </p:to>
                                    </p:set>
                                    <p:animEffect transition="in" filter="slide(fromBottom)">
                                      <p:cBhvr>
                                        <p:cTn id="21" dur="1000"/>
                                        <p:tgtEl>
                                          <p:spTgt spid="103"/>
                                        </p:tgtEl>
                                      </p:cBhvr>
                                    </p:animEffect>
                                  </p:childTnLst>
                                </p:cTn>
                              </p:par>
                            </p:childTnLst>
                          </p:cTn>
                        </p:par>
                        <p:par>
                          <p:cTn id="22" fill="hold">
                            <p:stCondLst>
                              <p:cond delay="1000"/>
                            </p:stCondLst>
                            <p:childTnLst>
                              <p:par>
                                <p:cTn id="23" presetID="22" presetClass="exit" presetSubtype="4" fill="hold" nodeType="afterEffect">
                                  <p:stCondLst>
                                    <p:cond delay="0"/>
                                  </p:stCondLst>
                                  <p:childTnLst>
                                    <p:animEffect transition="out" filter="wipe(down)">
                                      <p:cBhvr>
                                        <p:cTn id="24" dur="1000"/>
                                        <p:tgtEl>
                                          <p:spTgt spid="94"/>
                                        </p:tgtEl>
                                      </p:cBhvr>
                                    </p:animEffect>
                                    <p:set>
                                      <p:cBhvr>
                                        <p:cTn id="25" dur="1" fill="hold">
                                          <p:stCondLst>
                                            <p:cond delay="999"/>
                                          </p:stCondLst>
                                        </p:cTn>
                                        <p:tgtEl>
                                          <p:spTgt spid="94"/>
                                        </p:tgtEl>
                                        <p:attrNameLst>
                                          <p:attrName>style.visibility</p:attrName>
                                        </p:attrNameLst>
                                      </p:cBhvr>
                                      <p:to>
                                        <p:strVal val="hidden"/>
                                      </p:to>
                                    </p:set>
                                  </p:childTnLst>
                                </p:cTn>
                              </p:par>
                            </p:childTnLst>
                          </p:cTn>
                        </p:par>
                        <p:par>
                          <p:cTn id="26" fill="hold">
                            <p:stCondLst>
                              <p:cond delay="2000"/>
                            </p:stCondLst>
                            <p:childTnLst>
                              <p:par>
                                <p:cTn id="27" presetID="22" presetClass="entr" presetSubtype="1" fill="hold" nodeType="afterEffect">
                                  <p:stCondLst>
                                    <p:cond delay="0"/>
                                  </p:stCondLst>
                                  <p:childTnLst>
                                    <p:set>
                                      <p:cBhvr>
                                        <p:cTn id="28" dur="1" fill="hold">
                                          <p:stCondLst>
                                            <p:cond delay="0"/>
                                          </p:stCondLst>
                                        </p:cTn>
                                        <p:tgtEl>
                                          <p:spTgt spid="97"/>
                                        </p:tgtEl>
                                        <p:attrNameLst>
                                          <p:attrName>style.visibility</p:attrName>
                                        </p:attrNameLst>
                                      </p:cBhvr>
                                      <p:to>
                                        <p:strVal val="visible"/>
                                      </p:to>
                                    </p:set>
                                    <p:animEffect transition="in" filter="wipe(up)">
                                      <p:cBhvr>
                                        <p:cTn id="29" dur="1500"/>
                                        <p:tgtEl>
                                          <p:spTgt spid="9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wipe(left)">
                                      <p:cBhvr>
                                        <p:cTn id="34"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1" grpId="0"/>
      <p:bldP spid="10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244322FD-8897-4F7A-88EB-ABCC2F96D794}"/>
              </a:ext>
            </a:extLst>
          </p:cNvPr>
          <p:cNvGrpSpPr/>
          <p:nvPr/>
        </p:nvGrpSpPr>
        <p:grpSpPr>
          <a:xfrm>
            <a:off x="282575" y="734179"/>
            <a:ext cx="2718472" cy="373579"/>
            <a:chOff x="307975" y="1517134"/>
            <a:chExt cx="2718472" cy="373579"/>
          </a:xfrm>
        </p:grpSpPr>
        <p:grpSp>
          <p:nvGrpSpPr>
            <p:cNvPr id="5" name="组合 32">
              <a:extLst>
                <a:ext uri="{FF2B5EF4-FFF2-40B4-BE49-F238E27FC236}">
                  <a16:creationId xmlns:a16="http://schemas.microsoft.com/office/drawing/2014/main" id="{1D83CF3E-6033-4268-84D7-018B3DCF723B}"/>
                </a:ext>
              </a:extLst>
            </p:cNvPr>
            <p:cNvGrpSpPr/>
            <p:nvPr/>
          </p:nvGrpSpPr>
          <p:grpSpPr>
            <a:xfrm>
              <a:off x="307975" y="1519116"/>
              <a:ext cx="568325" cy="371597"/>
              <a:chOff x="307975" y="1519116"/>
              <a:chExt cx="568325" cy="371597"/>
            </a:xfrm>
          </p:grpSpPr>
          <p:pic>
            <p:nvPicPr>
              <p:cNvPr id="7" name="Picture 4">
                <a:extLst>
                  <a:ext uri="{FF2B5EF4-FFF2-40B4-BE49-F238E27FC236}">
                    <a16:creationId xmlns:a16="http://schemas.microsoft.com/office/drawing/2014/main" id="{43D4F85E-F7CD-4BDB-902A-67C7108B902E}"/>
                  </a:ext>
                </a:extLst>
              </p:cNvPr>
              <p:cNvPicPr>
                <a:picLocks noChangeAspect="1" noChangeArrowheads="1"/>
              </p:cNvPicPr>
              <p:nvPr/>
            </p:nvPicPr>
            <p:blipFill>
              <a:blip r:embed="rId3" cstate="print"/>
              <a:srcRect/>
              <a:stretch>
                <a:fillRect/>
              </a:stretch>
            </p:blipFill>
            <p:spPr bwMode="auto">
              <a:xfrm flipH="1">
                <a:off x="307975" y="1519116"/>
                <a:ext cx="568325" cy="371597"/>
              </a:xfrm>
              <a:prstGeom prst="rect">
                <a:avLst/>
              </a:prstGeom>
              <a:noFill/>
              <a:ln w="9525">
                <a:noFill/>
                <a:miter lim="800000"/>
                <a:headEnd/>
                <a:tailEnd/>
              </a:ln>
              <a:effectLst/>
            </p:spPr>
          </p:pic>
          <p:sp>
            <p:nvSpPr>
              <p:cNvPr id="8" name="TextBox 5">
                <a:extLst>
                  <a:ext uri="{FF2B5EF4-FFF2-40B4-BE49-F238E27FC236}">
                    <a16:creationId xmlns:a16="http://schemas.microsoft.com/office/drawing/2014/main" id="{6B7FE4E3-E818-4524-94EF-8D14FCF76171}"/>
                  </a:ext>
                </a:extLst>
              </p:cNvPr>
              <p:cNvSpPr txBox="1"/>
              <p:nvPr/>
            </p:nvSpPr>
            <p:spPr>
              <a:xfrm flipH="1">
                <a:off x="443415" y="1555750"/>
                <a:ext cx="137858" cy="276999"/>
              </a:xfrm>
              <a:prstGeom prst="rect">
                <a:avLst/>
              </a:prstGeom>
              <a:noFill/>
            </p:spPr>
            <p:txBody>
              <a:bodyPr wrap="none" lIns="0" tIns="0" rIns="0" bIns="0" rtlCol="0">
                <a:spAutoFit/>
              </a:bodyPr>
              <a:lstStyle/>
              <a:p>
                <a:r>
                  <a:rPr lang="en-US" altLang="zh-CN" b="1" dirty="0">
                    <a:solidFill>
                      <a:srgbClr val="262626"/>
                    </a:solidFill>
                    <a:latin typeface="Segoe UI Black" pitchFamily="34" charset="0"/>
                    <a:ea typeface="Segoe UI Black" pitchFamily="34" charset="0"/>
                    <a:cs typeface="Times New Roman" pitchFamily="18" charset="0"/>
                  </a:rPr>
                  <a:t>2</a:t>
                </a:r>
                <a:endParaRPr lang="zh-CN" altLang="en-US" b="1" dirty="0">
                  <a:solidFill>
                    <a:srgbClr val="262626"/>
                  </a:solidFill>
                  <a:latin typeface="Segoe UI Black" pitchFamily="34" charset="0"/>
                  <a:cs typeface="Times New Roman" pitchFamily="18" charset="0"/>
                </a:endParaRPr>
              </a:p>
            </p:txBody>
          </p:sp>
        </p:grpSp>
        <p:sp>
          <p:nvSpPr>
            <p:cNvPr id="6" name="矩形 5">
              <a:extLst>
                <a:ext uri="{FF2B5EF4-FFF2-40B4-BE49-F238E27FC236}">
                  <a16:creationId xmlns:a16="http://schemas.microsoft.com/office/drawing/2014/main" id="{C9B16548-1864-4014-B028-F3B5D202611D}"/>
                </a:ext>
              </a:extLst>
            </p:cNvPr>
            <p:cNvSpPr/>
            <p:nvPr/>
          </p:nvSpPr>
          <p:spPr>
            <a:xfrm>
              <a:off x="863675" y="1517134"/>
              <a:ext cx="2162772" cy="369332"/>
            </a:xfrm>
            <a:prstGeom prst="rect">
              <a:avLst/>
            </a:prstGeom>
          </p:spPr>
          <p:txBody>
            <a:bodyPr wrap="none">
              <a:spAutoFit/>
            </a:bodyPr>
            <a:lstStyle/>
            <a:p>
              <a:r>
                <a:rPr lang="en-US" altLang="zh-CN" b="1" dirty="0">
                  <a:solidFill>
                    <a:schemeClr val="accent1">
                      <a:lumMod val="50000"/>
                    </a:schemeClr>
                  </a:solidFill>
                  <a:latin typeface="黑体" pitchFamily="49" charset="-122"/>
                  <a:ea typeface="黑体" pitchFamily="49" charset="-122"/>
                  <a:cs typeface="Times New Roman" pitchFamily="18" charset="0"/>
                </a:rPr>
                <a:t>TTL</a:t>
              </a:r>
              <a:r>
                <a:rPr lang="zh-CN" altLang="en-US" b="1" dirty="0">
                  <a:solidFill>
                    <a:schemeClr val="accent1">
                      <a:lumMod val="50000"/>
                    </a:schemeClr>
                  </a:solidFill>
                  <a:latin typeface="黑体" pitchFamily="49" charset="-122"/>
                  <a:ea typeface="黑体" pitchFamily="49" charset="-122"/>
                  <a:cs typeface="Times New Roman" pitchFamily="18" charset="0"/>
                </a:rPr>
                <a:t>非门的基本电路</a:t>
              </a:r>
            </a:p>
          </p:txBody>
        </p:sp>
      </p:grpSp>
      <p:sp>
        <p:nvSpPr>
          <p:cNvPr id="9" name="Rectangle 6">
            <a:extLst>
              <a:ext uri="{FF2B5EF4-FFF2-40B4-BE49-F238E27FC236}">
                <a16:creationId xmlns:a16="http://schemas.microsoft.com/office/drawing/2014/main" id="{32C40A03-13CB-4DE8-B48A-EF535AD49043}"/>
              </a:ext>
            </a:extLst>
          </p:cNvPr>
          <p:cNvSpPr>
            <a:spLocks noChangeArrowheads="1"/>
          </p:cNvSpPr>
          <p:nvPr/>
        </p:nvSpPr>
        <p:spPr bwMode="auto">
          <a:xfrm>
            <a:off x="171769" y="1258108"/>
            <a:ext cx="2907929" cy="338554"/>
          </a:xfrm>
          <a:prstGeom prst="rect">
            <a:avLst/>
          </a:prstGeom>
          <a:noFill/>
          <a:ln w="9525" algn="ctr">
            <a:noFill/>
            <a:miter lim="800000"/>
            <a:headEnd/>
            <a:tailEnd/>
          </a:ln>
        </p:spPr>
        <p:txBody>
          <a:bodyPr wrap="square">
            <a:spAutoFit/>
          </a:bodyPr>
          <a:lstStyle/>
          <a:p>
            <a:r>
              <a:rPr lang="zh-CN" altLang="en-US" sz="1600" b="1" dirty="0">
                <a:solidFill>
                  <a:srgbClr val="6600FF"/>
                </a:solidFill>
                <a:latin typeface="方正粗黑宋简体" pitchFamily="2" charset="-122"/>
                <a:ea typeface="方正粗黑宋简体" pitchFamily="2" charset="-122"/>
              </a:rPr>
              <a:t>（</a:t>
            </a:r>
            <a:r>
              <a:rPr lang="en-US" altLang="zh-CN" sz="1600" b="1" dirty="0">
                <a:solidFill>
                  <a:srgbClr val="6600FF"/>
                </a:solidFill>
                <a:latin typeface="方正粗黑宋简体" pitchFamily="2" charset="-122"/>
                <a:ea typeface="方正粗黑宋简体" pitchFamily="2" charset="-122"/>
              </a:rPr>
              <a:t>4</a:t>
            </a:r>
            <a:r>
              <a:rPr lang="zh-CN" altLang="en-US" sz="1600" b="1" dirty="0">
                <a:solidFill>
                  <a:srgbClr val="6600FF"/>
                </a:solidFill>
                <a:latin typeface="方正粗黑宋简体" pitchFamily="2" charset="-122"/>
                <a:ea typeface="方正粗黑宋简体" pitchFamily="2" charset="-122"/>
              </a:rPr>
              <a:t>）</a:t>
            </a:r>
            <a:r>
              <a:rPr lang="en-US" altLang="zh-CN" sz="1600" b="1" dirty="0">
                <a:solidFill>
                  <a:srgbClr val="6600FF"/>
                </a:solidFill>
                <a:latin typeface="方正粗黑宋简体" pitchFamily="2" charset="-122"/>
                <a:ea typeface="方正粗黑宋简体" pitchFamily="2" charset="-122"/>
              </a:rPr>
              <a:t> </a:t>
            </a:r>
            <a:r>
              <a:rPr lang="zh-CN" altLang="en-US" sz="1600" b="1" dirty="0">
                <a:solidFill>
                  <a:srgbClr val="6600FF"/>
                </a:solidFill>
                <a:latin typeface="方正粗黑宋简体" pitchFamily="2" charset="-122"/>
                <a:ea typeface="方正粗黑宋简体" pitchFamily="2" charset="-122"/>
              </a:rPr>
              <a:t>电压传输特性</a:t>
            </a:r>
          </a:p>
        </p:txBody>
      </p:sp>
      <p:grpSp>
        <p:nvGrpSpPr>
          <p:cNvPr id="94" name="组合 93">
            <a:extLst>
              <a:ext uri="{FF2B5EF4-FFF2-40B4-BE49-F238E27FC236}">
                <a16:creationId xmlns:a16="http://schemas.microsoft.com/office/drawing/2014/main" id="{4FFA5080-06FD-43F1-9C92-C1F75EFA23A7}"/>
              </a:ext>
            </a:extLst>
          </p:cNvPr>
          <p:cNvGrpSpPr/>
          <p:nvPr/>
        </p:nvGrpSpPr>
        <p:grpSpPr>
          <a:xfrm>
            <a:off x="5978138" y="3226004"/>
            <a:ext cx="2755162" cy="2074179"/>
            <a:chOff x="5978138" y="3313786"/>
            <a:chExt cx="2755162" cy="2074179"/>
          </a:xfrm>
        </p:grpSpPr>
        <p:sp>
          <p:nvSpPr>
            <p:cNvPr id="93" name="AutoShape 9">
              <a:extLst>
                <a:ext uri="{FF2B5EF4-FFF2-40B4-BE49-F238E27FC236}">
                  <a16:creationId xmlns:a16="http://schemas.microsoft.com/office/drawing/2014/main" id="{5D598E71-B363-4747-A6BE-96C8E3030F2E}"/>
                </a:ext>
              </a:extLst>
            </p:cNvPr>
            <p:cNvSpPr>
              <a:spLocks noChangeArrowheads="1"/>
            </p:cNvSpPr>
            <p:nvPr/>
          </p:nvSpPr>
          <p:spPr bwMode="auto">
            <a:xfrm>
              <a:off x="5978138" y="3313786"/>
              <a:ext cx="2755162" cy="2074179"/>
            </a:xfrm>
            <a:prstGeom prst="roundRect">
              <a:avLst>
                <a:gd name="adj" fmla="val 6551"/>
              </a:avLst>
            </a:prstGeom>
            <a:solidFill>
              <a:schemeClr val="bg1"/>
            </a:solidFill>
            <a:ln w="19050">
              <a:solidFill>
                <a:srgbClr val="0070C0"/>
              </a:solidFill>
              <a:miter lim="800000"/>
              <a:headEnd/>
              <a:tailEnd/>
            </a:ln>
          </p:spPr>
          <p:txBody>
            <a:bodyPr wrap="none" anchor="ctr"/>
            <a:lstStyle/>
            <a:p>
              <a:endParaRPr lang="zh-CN" altLang="en-US">
                <a:solidFill>
                  <a:srgbClr val="080808"/>
                </a:solidFill>
                <a:latin typeface="Times New Roman" pitchFamily="18" charset="0"/>
                <a:cs typeface="Times New Roman" pitchFamily="18" charset="0"/>
              </a:endParaRPr>
            </a:p>
          </p:txBody>
        </p:sp>
        <p:graphicFrame>
          <p:nvGraphicFramePr>
            <p:cNvPr id="11" name="对象 10">
              <a:extLst>
                <a:ext uri="{FF2B5EF4-FFF2-40B4-BE49-F238E27FC236}">
                  <a16:creationId xmlns:a16="http://schemas.microsoft.com/office/drawing/2014/main" id="{62D3E124-0867-4403-99BC-7E2BF67A3FAC}"/>
                </a:ext>
              </a:extLst>
            </p:cNvPr>
            <p:cNvGraphicFramePr>
              <a:graphicFrameLocks noChangeAspect="1"/>
            </p:cNvGraphicFramePr>
            <p:nvPr/>
          </p:nvGraphicFramePr>
          <p:xfrm>
            <a:off x="6171441" y="3417701"/>
            <a:ext cx="2335620" cy="1970264"/>
          </p:xfrm>
          <a:graphic>
            <a:graphicData uri="http://schemas.openxmlformats.org/presentationml/2006/ole">
              <mc:AlternateContent xmlns:mc="http://schemas.openxmlformats.org/markup-compatibility/2006">
                <mc:Choice xmlns:v="urn:schemas-microsoft-com:vml" Requires="v">
                  <p:oleObj spid="_x0000_s71682" name="Visio" r:id="rId4" imgW="1350085" imgH="1220461" progId="">
                    <p:embed/>
                  </p:oleObj>
                </mc:Choice>
                <mc:Fallback>
                  <p:oleObj name="Visio" r:id="rId4" imgW="1350085" imgH="1220461" progId="">
                    <p:embed/>
                    <p:pic>
                      <p:nvPicPr>
                        <p:cNvPr id="11" name="对象 10">
                          <a:extLst>
                            <a:ext uri="{FF2B5EF4-FFF2-40B4-BE49-F238E27FC236}">
                              <a16:creationId xmlns:a16="http://schemas.microsoft.com/office/drawing/2014/main" id="{62D3E124-0867-4403-99BC-7E2BF67A3FA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71441" y="3417701"/>
                          <a:ext cx="2335620" cy="19702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4" name="文本框 13">
            <a:extLst>
              <a:ext uri="{FF2B5EF4-FFF2-40B4-BE49-F238E27FC236}">
                <a16:creationId xmlns:a16="http://schemas.microsoft.com/office/drawing/2014/main" id="{363C9231-320F-4F1A-A1A9-68A09751452F}"/>
              </a:ext>
            </a:extLst>
          </p:cNvPr>
          <p:cNvSpPr txBox="1"/>
          <p:nvPr/>
        </p:nvSpPr>
        <p:spPr>
          <a:xfrm>
            <a:off x="56790" y="1695382"/>
            <a:ext cx="5358333" cy="700576"/>
          </a:xfrm>
          <a:prstGeom prst="rect">
            <a:avLst/>
          </a:prstGeom>
          <a:noFill/>
        </p:spPr>
        <p:txBody>
          <a:bodyPr wrap="square">
            <a:spAutoFit/>
          </a:bodyPr>
          <a:lstStyle/>
          <a:p>
            <a:pPr indent="266700" algn="just">
              <a:lnSpc>
                <a:spcPct val="150000"/>
              </a:lnSpc>
            </a:pPr>
            <a:r>
              <a:rPr lang="zh-CN" altLang="zh-CN" sz="1400" dirty="0">
                <a:solidFill>
                  <a:srgbClr val="FF00FF"/>
                </a:solidFill>
                <a:effectLst/>
                <a:latin typeface="微软雅黑" panose="020B0503020204020204" pitchFamily="34" charset="-122"/>
                <a:ea typeface="微软雅黑" panose="020B0503020204020204" pitchFamily="34" charset="-122"/>
                <a:cs typeface="Times New Roman" panose="02020603050405020304" pitchFamily="18" charset="0"/>
              </a:rPr>
              <a:t>门电路的电压传输特性</a:t>
            </a:r>
            <a:r>
              <a:rPr lang="zh-CN" altLang="en-US" sz="14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effectLst/>
                <a:latin typeface="微软雅黑" panose="020B0503020204020204" pitchFamily="34" charset="-122"/>
                <a:ea typeface="微软雅黑" panose="020B0503020204020204" pitchFamily="34" charset="-122"/>
                <a:cs typeface="Times New Roman" panose="02020603050405020304" pitchFamily="18" charset="0"/>
              </a:rPr>
              <a:t>指门电路的输出电压随输入电压变化的规律，一般用曲线来表示。</a:t>
            </a:r>
          </a:p>
        </p:txBody>
      </p:sp>
      <p:sp>
        <p:nvSpPr>
          <p:cNvPr id="19" name="文本框 18">
            <a:extLst>
              <a:ext uri="{FF2B5EF4-FFF2-40B4-BE49-F238E27FC236}">
                <a16:creationId xmlns:a16="http://schemas.microsoft.com/office/drawing/2014/main" id="{580F2FF8-980F-4720-84BB-C05F21253F78}"/>
              </a:ext>
            </a:extLst>
          </p:cNvPr>
          <p:cNvSpPr txBox="1"/>
          <p:nvPr/>
        </p:nvSpPr>
        <p:spPr>
          <a:xfrm>
            <a:off x="268174" y="2559473"/>
            <a:ext cx="5707826" cy="2477601"/>
          </a:xfrm>
          <a:prstGeom prst="rect">
            <a:avLst/>
          </a:prstGeom>
          <a:noFill/>
        </p:spPr>
        <p:txBody>
          <a:bodyPr wrap="square">
            <a:spAutoFit/>
          </a:bodyPr>
          <a:lstStyle/>
          <a:p>
            <a:pPr marL="285750" indent="-285750" eaLnBrk="0" fontAlgn="base" hangingPunct="0">
              <a:lnSpc>
                <a:spcPct val="125000"/>
              </a:lnSpc>
              <a:spcBef>
                <a:spcPts val="600"/>
              </a:spcBef>
              <a:spcAft>
                <a:spcPct val="0"/>
              </a:spcAft>
              <a:buFont typeface="Wingdings" panose="05000000000000000000" pitchFamily="2" charset="2"/>
              <a:buChar char="u"/>
            </a:pPr>
            <a:r>
              <a:rPr kumimoji="0" lang="zh-CN" altLang="en-US" sz="14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在</a:t>
            </a:r>
            <a:r>
              <a:rPr kumimoji="0" lang="en-US" altLang="zh-CN" sz="14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AB</a:t>
            </a:r>
            <a:r>
              <a:rPr kumimoji="0" lang="zh-CN" altLang="en-US" sz="14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段，输入电压</a:t>
            </a:r>
            <a:r>
              <a:rPr lang="en-US" altLang="zh-CN" sz="1400" b="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Symbol" pitchFamily="18" charset="2"/>
              </a:rPr>
              <a:t></a:t>
            </a:r>
            <a:r>
              <a:rPr lang="en-US" altLang="zh-CN" sz="1400" b="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I</a:t>
            </a:r>
            <a:r>
              <a:rPr kumimoji="0" lang="zh-CN" altLang="en-US" sz="14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较低，</a:t>
            </a:r>
            <a:r>
              <a:rPr lang="en-US" altLang="zh-CN" sz="1400" i="1" dirty="0">
                <a:effectLst/>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1400" baseline="-25000" dirty="0">
                <a:effectLst/>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的发射结导通，</a:t>
            </a:r>
            <a:r>
              <a:rPr lang="en-US" altLang="zh-CN" sz="1400" i="1" dirty="0">
                <a:effectLst/>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1400" baseline="-25000" dirty="0">
                <a:effectLst/>
                <a:latin typeface="Times New Roman" panose="02020603050405020304" pitchFamily="18" charset="0"/>
                <a:ea typeface="微软雅黑" panose="020B0503020204020204" pitchFamily="34" charset="-122"/>
                <a:cs typeface="Times New Roman" panose="02020603050405020304" pitchFamily="18" charset="0"/>
              </a:rPr>
              <a:t>2</a:t>
            </a:r>
            <a:r>
              <a:rPr lang="zh-CN"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i="1" dirty="0">
                <a:effectLst/>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1400" baseline="-25000" dirty="0">
                <a:effectLst/>
                <a:latin typeface="Times New Roman" panose="02020603050405020304" pitchFamily="18" charset="0"/>
                <a:ea typeface="微软雅黑" panose="020B0503020204020204" pitchFamily="34" charset="-122"/>
                <a:cs typeface="Times New Roman" panose="02020603050405020304" pitchFamily="18" charset="0"/>
              </a:rPr>
              <a:t>3</a:t>
            </a:r>
            <a:r>
              <a:rPr lang="zh-CN"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截止，</a:t>
            </a:r>
            <a:r>
              <a:rPr lang="en-US" altLang="zh-CN" sz="1400" i="1" dirty="0">
                <a:effectLst/>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1400" baseline="-25000" dirty="0">
                <a:effectLst/>
                <a:latin typeface="Times New Roman" panose="02020603050405020304" pitchFamily="18" charset="0"/>
                <a:ea typeface="微软雅黑" panose="020B0503020204020204" pitchFamily="34" charset="-122"/>
                <a:cs typeface="Times New Roman" panose="02020603050405020304" pitchFamily="18" charset="0"/>
              </a:rPr>
              <a:t>4</a:t>
            </a:r>
            <a:r>
              <a:rPr lang="zh-CN"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D</a:t>
            </a:r>
            <a:r>
              <a:rPr lang="zh-CN"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导通，输出</a:t>
            </a:r>
            <a:r>
              <a:rPr lang="en-US" altLang="zh-CN" sz="1400" b="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Symbol" pitchFamily="18" charset="2"/>
              </a:rPr>
              <a:t></a:t>
            </a:r>
            <a:r>
              <a:rPr lang="en-US" altLang="zh-CN" sz="1400" b="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O</a:t>
            </a:r>
            <a:r>
              <a:rPr lang="zh-CN" altLang="en-US" sz="14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3.6V</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为高电平</a:t>
            </a:r>
            <a:r>
              <a:rPr lang="zh-CN" altLang="en-US" sz="14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en-US" sz="1400" b="0" i="0" u="none" strike="noStrike" cap="none" normalizeH="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285750" marR="0" lvl="0" indent="-285750" algn="l" defTabSz="914400" rtl="0" eaLnBrk="0" fontAlgn="base" latinLnBrk="0" hangingPunct="0">
              <a:lnSpc>
                <a:spcPct val="125000"/>
              </a:lnSpc>
              <a:spcBef>
                <a:spcPts val="600"/>
              </a:spcBef>
              <a:spcAft>
                <a:spcPct val="0"/>
              </a:spcAft>
              <a:buClrTx/>
              <a:buSzTx/>
              <a:buFont typeface="Wingdings" panose="05000000000000000000" pitchFamily="2" charset="2"/>
              <a:buChar char="u"/>
              <a:tabLst/>
            </a:pPr>
            <a:r>
              <a:rPr lang="zh-CN"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当输入电压</a:t>
            </a:r>
            <a:r>
              <a:rPr lang="en-US" altLang="zh-CN" sz="1400" b="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Symbol" pitchFamily="18" charset="2"/>
              </a:rPr>
              <a:t></a:t>
            </a:r>
            <a:r>
              <a:rPr lang="en-US" altLang="zh-CN" sz="1400" b="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I</a:t>
            </a:r>
            <a:r>
              <a:rPr lang="zh-CN"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增加到</a:t>
            </a:r>
            <a:r>
              <a:rPr lang="en-US"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BC</a:t>
            </a:r>
            <a:r>
              <a:rPr lang="zh-CN"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段，</a:t>
            </a:r>
            <a:r>
              <a:rPr lang="en-US"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1400" baseline="-25000" dirty="0">
                <a:effectLst/>
                <a:latin typeface="Times New Roman" panose="02020603050405020304" pitchFamily="18" charset="0"/>
                <a:ea typeface="微软雅黑" panose="020B0503020204020204" pitchFamily="34" charset="-122"/>
                <a:cs typeface="Times New Roman" panose="02020603050405020304" pitchFamily="18" charset="0"/>
              </a:rPr>
              <a:t>2</a:t>
            </a:r>
            <a:r>
              <a:rPr lang="zh-CN"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开始导通并进入放大区，此时</a:t>
            </a:r>
            <a:r>
              <a:rPr lang="en-US"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1400" baseline="-25000" dirty="0">
                <a:effectLst/>
                <a:latin typeface="Times New Roman" panose="02020603050405020304" pitchFamily="18" charset="0"/>
                <a:ea typeface="微软雅黑" panose="020B0503020204020204" pitchFamily="34" charset="-122"/>
                <a:cs typeface="Times New Roman" panose="02020603050405020304" pitchFamily="18" charset="0"/>
              </a:rPr>
              <a:t>3</a:t>
            </a:r>
            <a:r>
              <a:rPr lang="zh-CN"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仍然截止，</a:t>
            </a:r>
            <a:r>
              <a:rPr lang="en-US"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1400" baseline="-25000" dirty="0">
                <a:effectLst/>
                <a:latin typeface="Times New Roman" panose="02020603050405020304" pitchFamily="18" charset="0"/>
                <a:ea typeface="微软雅黑" panose="020B0503020204020204" pitchFamily="34" charset="-122"/>
                <a:cs typeface="Times New Roman" panose="02020603050405020304" pitchFamily="18" charset="0"/>
              </a:rPr>
              <a:t>2</a:t>
            </a:r>
            <a:r>
              <a:rPr lang="zh-CN"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的集电极电位</a:t>
            </a:r>
            <a:r>
              <a:rPr lang="en-US" altLang="zh-CN" sz="1400" b="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Symbol" pitchFamily="18" charset="2"/>
              </a:rPr>
              <a:t></a:t>
            </a:r>
            <a:r>
              <a:rPr lang="en-US" altLang="zh-CN" sz="1400" b="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C2</a:t>
            </a:r>
            <a:r>
              <a:rPr lang="zh-CN"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随</a:t>
            </a:r>
            <a:r>
              <a:rPr lang="en-US" altLang="zh-CN" sz="1400" b="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Symbol" pitchFamily="18" charset="2"/>
              </a:rPr>
              <a:t></a:t>
            </a:r>
            <a:r>
              <a:rPr lang="en-US" altLang="zh-CN" sz="1400" b="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I</a:t>
            </a:r>
            <a:r>
              <a:rPr lang="zh-CN"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的增加降低</a:t>
            </a:r>
            <a:r>
              <a:rPr lang="zh-CN" altLang="en-US" sz="14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输出</a:t>
            </a:r>
            <a:r>
              <a:rPr lang="en-US" altLang="zh-CN" sz="1400" b="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Symbol" pitchFamily="18" charset="2"/>
              </a:rPr>
              <a:t></a:t>
            </a:r>
            <a:r>
              <a:rPr lang="en-US" altLang="zh-CN" sz="1400" b="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O</a:t>
            </a:r>
            <a:r>
              <a:rPr lang="zh-CN" altLang="en-US" sz="14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也</a:t>
            </a:r>
            <a:r>
              <a:rPr lang="zh-CN"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随</a:t>
            </a:r>
            <a:r>
              <a:rPr lang="en-US" altLang="zh-CN" sz="1400" b="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Symbol" pitchFamily="18" charset="2"/>
              </a:rPr>
              <a:t></a:t>
            </a:r>
            <a:r>
              <a:rPr lang="en-US" altLang="zh-CN" sz="1400" b="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I</a:t>
            </a:r>
            <a:r>
              <a:rPr lang="zh-CN"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的增加降低</a:t>
            </a:r>
            <a:r>
              <a:rPr lang="zh-CN" altLang="en-US" sz="1400" dirty="0">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dirty="0">
              <a:effectLst/>
              <a:latin typeface="Times New Roman" panose="02020603050405020304" pitchFamily="18" charset="0"/>
              <a:ea typeface="微软雅黑" panose="020B0503020204020204" pitchFamily="34" charset="-122"/>
              <a:cs typeface="Times New Roman" panose="02020603050405020304" pitchFamily="18" charset="0"/>
            </a:endParaRPr>
          </a:p>
          <a:p>
            <a:pPr marL="285750" marR="0" lvl="0" indent="-285750" algn="l" defTabSz="914400" rtl="0" eaLnBrk="0" fontAlgn="base" latinLnBrk="0" hangingPunct="0">
              <a:lnSpc>
                <a:spcPct val="125000"/>
              </a:lnSpc>
              <a:spcBef>
                <a:spcPts val="600"/>
              </a:spcBef>
              <a:spcAft>
                <a:spcPct val="0"/>
              </a:spcAft>
              <a:buClrTx/>
              <a:buSzTx/>
              <a:buFont typeface="Wingdings" panose="05000000000000000000" pitchFamily="2" charset="2"/>
              <a:buChar char="u"/>
              <a:tabLst/>
            </a:pPr>
            <a:r>
              <a:rPr lang="zh-CN"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当输入电压</a:t>
            </a:r>
            <a:r>
              <a:rPr lang="en-US" altLang="zh-CN" sz="1400" b="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Symbol" pitchFamily="18" charset="2"/>
              </a:rPr>
              <a:t></a:t>
            </a:r>
            <a:r>
              <a:rPr lang="en-US" altLang="zh-CN" sz="1400" b="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I</a:t>
            </a:r>
            <a:r>
              <a:rPr lang="zh-CN"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继续增加到</a:t>
            </a:r>
            <a:r>
              <a:rPr lang="en-US"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CD</a:t>
            </a:r>
            <a:r>
              <a:rPr lang="zh-CN"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段时，</a:t>
            </a:r>
            <a:r>
              <a:rPr lang="en-US"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1400" baseline="-25000" dirty="0">
                <a:effectLst/>
                <a:latin typeface="Times New Roman" panose="02020603050405020304" pitchFamily="18" charset="0"/>
                <a:ea typeface="微软雅黑" panose="020B0503020204020204" pitchFamily="34" charset="-122"/>
                <a:cs typeface="Times New Roman" panose="02020603050405020304" pitchFamily="18" charset="0"/>
              </a:rPr>
              <a:t>3</a:t>
            </a:r>
            <a:r>
              <a:rPr lang="zh-CN"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开始导通，此时</a:t>
            </a:r>
            <a:r>
              <a:rPr lang="en-US"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1400" baseline="-25000" dirty="0">
                <a:effectLst/>
                <a:latin typeface="Times New Roman" panose="02020603050405020304" pitchFamily="18" charset="0"/>
                <a:ea typeface="微软雅黑" panose="020B0503020204020204" pitchFamily="34" charset="-122"/>
                <a:cs typeface="Times New Roman" panose="02020603050405020304" pitchFamily="18" charset="0"/>
              </a:rPr>
              <a:t>2</a:t>
            </a:r>
            <a:r>
              <a:rPr lang="zh-CN"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1400" baseline="-25000" dirty="0">
                <a:effectLst/>
                <a:latin typeface="Times New Roman" panose="02020603050405020304" pitchFamily="18" charset="0"/>
                <a:ea typeface="微软雅黑" panose="020B0503020204020204" pitchFamily="34" charset="-122"/>
                <a:cs typeface="Times New Roman" panose="02020603050405020304" pitchFamily="18" charset="0"/>
              </a:rPr>
              <a:t>3</a:t>
            </a:r>
            <a:r>
              <a:rPr lang="zh-CN"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都工作在放大区</a:t>
            </a:r>
            <a:r>
              <a:rPr lang="zh-CN" altLang="en-US" sz="14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Symbol" pitchFamily="18" charset="2"/>
              </a:rPr>
              <a:t> </a:t>
            </a:r>
            <a:r>
              <a:rPr lang="en-US" altLang="zh-CN" sz="1400" b="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I</a:t>
            </a:r>
            <a:r>
              <a:rPr lang="zh-CN"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的微小增加</a:t>
            </a:r>
            <a:r>
              <a:rPr lang="zh-CN" altLang="en-US" sz="1400" dirty="0">
                <a:effectLst/>
                <a:latin typeface="Times New Roman" panose="02020603050405020304" pitchFamily="18" charset="0"/>
                <a:ea typeface="微软雅黑" panose="020B0503020204020204" pitchFamily="34" charset="-122"/>
                <a:cs typeface="Times New Roman" panose="02020603050405020304" pitchFamily="18" charset="0"/>
              </a:rPr>
              <a:t>就</a:t>
            </a:r>
            <a:r>
              <a:rPr lang="zh-CN"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会引起</a:t>
            </a:r>
            <a:r>
              <a:rPr lang="en-US" altLang="zh-CN" sz="1400" b="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Symbol" pitchFamily="18" charset="2"/>
              </a:rPr>
              <a:t></a:t>
            </a:r>
            <a:r>
              <a:rPr lang="en-US" altLang="zh-CN" sz="1400" b="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O</a:t>
            </a:r>
            <a:r>
              <a:rPr lang="zh-CN"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的急剧下降</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dirty="0">
              <a:latin typeface="Times New Roman" panose="02020603050405020304" pitchFamily="18" charset="0"/>
              <a:ea typeface="微软雅黑" panose="020B0503020204020204" pitchFamily="34" charset="-122"/>
              <a:cs typeface="Times New Roman" panose="02020603050405020304" pitchFamily="18" charset="0"/>
            </a:endParaRPr>
          </a:p>
          <a:p>
            <a:pPr marL="285750" marR="0" lvl="0" indent="-285750" algn="l" defTabSz="914400" rtl="0" eaLnBrk="0" fontAlgn="base" latinLnBrk="0" hangingPunct="0">
              <a:lnSpc>
                <a:spcPct val="125000"/>
              </a:lnSpc>
              <a:spcBef>
                <a:spcPts val="600"/>
              </a:spcBef>
              <a:spcAft>
                <a:spcPct val="0"/>
              </a:spcAft>
              <a:buClrTx/>
              <a:buSzTx/>
              <a:buFont typeface="Wingdings" panose="05000000000000000000" pitchFamily="2" charset="2"/>
              <a:buChar char="u"/>
              <a:tabLst/>
            </a:pPr>
            <a:r>
              <a:rPr lang="zh-CN"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当</a:t>
            </a:r>
            <a:r>
              <a:rPr lang="en-US" altLang="zh-CN" sz="1400" b="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Symbol" pitchFamily="18" charset="2"/>
              </a:rPr>
              <a:t></a:t>
            </a:r>
            <a:r>
              <a:rPr lang="en-US" altLang="zh-CN" sz="1400" b="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I</a:t>
            </a:r>
            <a:r>
              <a:rPr lang="zh-CN"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增加到</a:t>
            </a:r>
            <a:r>
              <a:rPr lang="en-US"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D</a:t>
            </a:r>
            <a:r>
              <a:rPr lang="zh-CN"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点时，</a:t>
            </a:r>
            <a:r>
              <a:rPr lang="en-US"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1400" baseline="-25000" dirty="0">
                <a:effectLst/>
                <a:latin typeface="Times New Roman" panose="02020603050405020304" pitchFamily="18" charset="0"/>
                <a:ea typeface="微软雅黑" panose="020B0503020204020204" pitchFamily="34" charset="-122"/>
                <a:cs typeface="Times New Roman" panose="02020603050405020304" pitchFamily="18" charset="0"/>
              </a:rPr>
              <a:t>2</a:t>
            </a:r>
            <a:r>
              <a:rPr lang="zh-CN"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1400" baseline="-25000" dirty="0">
                <a:effectLst/>
                <a:latin typeface="Times New Roman" panose="02020603050405020304" pitchFamily="18" charset="0"/>
                <a:ea typeface="微软雅黑" panose="020B0503020204020204" pitchFamily="34" charset="-122"/>
                <a:cs typeface="Times New Roman" panose="02020603050405020304" pitchFamily="18" charset="0"/>
              </a:rPr>
              <a:t>3</a:t>
            </a:r>
            <a:r>
              <a:rPr lang="zh-CN"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饱和，</a:t>
            </a:r>
            <a:r>
              <a:rPr lang="en-US"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1400" baseline="-25000" dirty="0">
                <a:effectLst/>
                <a:latin typeface="Times New Roman" panose="02020603050405020304" pitchFamily="18" charset="0"/>
                <a:ea typeface="微软雅黑" panose="020B0503020204020204" pitchFamily="34" charset="-122"/>
                <a:cs typeface="Times New Roman" panose="02020603050405020304" pitchFamily="18" charset="0"/>
              </a:rPr>
              <a:t>4</a:t>
            </a:r>
            <a:r>
              <a:rPr lang="zh-CN"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截止，输出</a:t>
            </a:r>
            <a:r>
              <a:rPr lang="en-US" altLang="zh-CN" sz="1400" b="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Symbol" pitchFamily="18" charset="2"/>
              </a:rPr>
              <a:t></a:t>
            </a:r>
            <a:r>
              <a:rPr lang="en-US" altLang="zh-CN" sz="1400" b="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O</a:t>
            </a:r>
            <a:r>
              <a:rPr lang="zh-CN" altLang="en-US" sz="14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4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0.2V</a:t>
            </a:r>
            <a:r>
              <a:rPr lang="zh-CN" altLang="zh-CN" sz="1400" dirty="0">
                <a:effectLst/>
                <a:latin typeface="Times New Roman" panose="02020603050405020304" pitchFamily="18" charset="0"/>
                <a:ea typeface="微软雅黑" panose="020B0503020204020204" pitchFamily="34" charset="-122"/>
                <a:cs typeface="Times New Roman" panose="02020603050405020304" pitchFamily="18" charset="0"/>
              </a:rPr>
              <a:t>为低电平</a:t>
            </a:r>
            <a:r>
              <a:rPr lang="zh-CN" altLang="en-US" sz="1400" dirty="0">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en-US" sz="1400" b="0" i="0" u="none" strike="noStrike" cap="none" normalizeH="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95" name="组合 94">
            <a:extLst>
              <a:ext uri="{FF2B5EF4-FFF2-40B4-BE49-F238E27FC236}">
                <a16:creationId xmlns:a16="http://schemas.microsoft.com/office/drawing/2014/main" id="{7A38886F-A887-4FA9-82D2-737E9BD5CE1E}"/>
              </a:ext>
            </a:extLst>
          </p:cNvPr>
          <p:cNvGrpSpPr/>
          <p:nvPr/>
        </p:nvGrpSpPr>
        <p:grpSpPr>
          <a:xfrm>
            <a:off x="5978138" y="712238"/>
            <a:ext cx="2755162" cy="2375267"/>
            <a:chOff x="5978138" y="712238"/>
            <a:chExt cx="2755162" cy="2375267"/>
          </a:xfrm>
        </p:grpSpPr>
        <p:sp>
          <p:nvSpPr>
            <p:cNvPr id="92" name="AutoShape 9">
              <a:extLst>
                <a:ext uri="{FF2B5EF4-FFF2-40B4-BE49-F238E27FC236}">
                  <a16:creationId xmlns:a16="http://schemas.microsoft.com/office/drawing/2014/main" id="{78D21F8D-1343-48A7-B2D8-BE980E7A1253}"/>
                </a:ext>
              </a:extLst>
            </p:cNvPr>
            <p:cNvSpPr>
              <a:spLocks noChangeArrowheads="1"/>
            </p:cNvSpPr>
            <p:nvPr/>
          </p:nvSpPr>
          <p:spPr bwMode="auto">
            <a:xfrm>
              <a:off x="5978138" y="712238"/>
              <a:ext cx="2755162" cy="2375267"/>
            </a:xfrm>
            <a:prstGeom prst="roundRect">
              <a:avLst>
                <a:gd name="adj" fmla="val 6551"/>
              </a:avLst>
            </a:prstGeom>
            <a:solidFill>
              <a:schemeClr val="bg1"/>
            </a:solidFill>
            <a:ln w="19050">
              <a:solidFill>
                <a:srgbClr val="0070C0"/>
              </a:solidFill>
              <a:miter lim="800000"/>
              <a:headEnd/>
              <a:tailEnd/>
            </a:ln>
          </p:spPr>
          <p:txBody>
            <a:bodyPr wrap="none" anchor="ctr"/>
            <a:lstStyle/>
            <a:p>
              <a:endParaRPr lang="zh-CN" altLang="en-US">
                <a:solidFill>
                  <a:srgbClr val="080808"/>
                </a:solidFill>
                <a:latin typeface="Times New Roman" pitchFamily="18" charset="0"/>
                <a:cs typeface="Times New Roman" pitchFamily="18" charset="0"/>
              </a:endParaRPr>
            </a:p>
          </p:txBody>
        </p:sp>
        <p:pic>
          <p:nvPicPr>
            <p:cNvPr id="91" name="图片 90">
              <a:extLst>
                <a:ext uri="{FF2B5EF4-FFF2-40B4-BE49-F238E27FC236}">
                  <a16:creationId xmlns:a16="http://schemas.microsoft.com/office/drawing/2014/main" id="{EB833E4B-3E78-48F1-9D12-882A668E9ED5}"/>
                </a:ext>
              </a:extLst>
            </p:cNvPr>
            <p:cNvPicPr>
              <a:picLocks noChangeAspect="1"/>
            </p:cNvPicPr>
            <p:nvPr/>
          </p:nvPicPr>
          <p:blipFill>
            <a:blip r:embed="rId6" cstate="print"/>
            <a:stretch>
              <a:fillRect/>
            </a:stretch>
          </p:blipFill>
          <p:spPr>
            <a:xfrm>
              <a:off x="6171441" y="764994"/>
              <a:ext cx="2412467" cy="2237651"/>
            </a:xfrm>
            <a:prstGeom prst="rect">
              <a:avLst/>
            </a:prstGeom>
          </p:spPr>
        </p:pic>
      </p:grpSp>
    </p:spTree>
    <p:extLst>
      <p:ext uri="{BB962C8B-B14F-4D97-AF65-F5344CB8AC3E}">
        <p14:creationId xmlns:p14="http://schemas.microsoft.com/office/powerpoint/2010/main" val="1124750171"/>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lide(fromBottom)">
                                      <p:cBhvr>
                                        <p:cTn id="7" dur="1000"/>
                                        <p:tgtEl>
                                          <p:spTgt spid="9"/>
                                        </p:tgtEl>
                                      </p:cBhvr>
                                    </p:animEffect>
                                  </p:childTnLst>
                                </p:cTn>
                              </p:par>
                            </p:childTnLst>
                          </p:cTn>
                        </p:par>
                        <p:par>
                          <p:cTn id="8" fill="hold">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1000"/>
                                        <p:tgtEl>
                                          <p:spTgt spid="14"/>
                                        </p:tgtEl>
                                        <p:attrNameLst>
                                          <p:attrName>ppt_y</p:attrName>
                                        </p:attrNameLst>
                                      </p:cBhvr>
                                      <p:tavLst>
                                        <p:tav tm="0">
                                          <p:val>
                                            <p:strVal val="#ppt_y+#ppt_h*1.125000"/>
                                          </p:val>
                                        </p:tav>
                                        <p:tav tm="100000">
                                          <p:val>
                                            <p:strVal val="#ppt_y"/>
                                          </p:val>
                                        </p:tav>
                                      </p:tavLst>
                                    </p:anim>
                                    <p:animEffect transition="in" filter="wipe(up)">
                                      <p:cBhvr>
                                        <p:cTn id="12" dur="1000"/>
                                        <p:tgtEl>
                                          <p:spTgt spid="14"/>
                                        </p:tgtEl>
                                      </p:cBhvr>
                                    </p:animEffect>
                                  </p:childTnLst>
                                </p:cTn>
                              </p:par>
                            </p:childTnLst>
                          </p:cTn>
                        </p:par>
                        <p:par>
                          <p:cTn id="13" fill="hold">
                            <p:stCondLst>
                              <p:cond delay="2000"/>
                            </p:stCondLst>
                            <p:childTnLst>
                              <p:par>
                                <p:cTn id="14" presetID="12" presetClass="entr" presetSubtype="4" fill="hold" nodeType="afterEffect">
                                  <p:stCondLst>
                                    <p:cond delay="0"/>
                                  </p:stCondLst>
                                  <p:childTnLst>
                                    <p:set>
                                      <p:cBhvr>
                                        <p:cTn id="15" dur="1" fill="hold">
                                          <p:stCondLst>
                                            <p:cond delay="0"/>
                                          </p:stCondLst>
                                        </p:cTn>
                                        <p:tgtEl>
                                          <p:spTgt spid="94"/>
                                        </p:tgtEl>
                                        <p:attrNameLst>
                                          <p:attrName>style.visibility</p:attrName>
                                        </p:attrNameLst>
                                      </p:cBhvr>
                                      <p:to>
                                        <p:strVal val="visible"/>
                                      </p:to>
                                    </p:set>
                                    <p:anim calcmode="lin" valueType="num">
                                      <p:cBhvr additive="base">
                                        <p:cTn id="16" dur="1000"/>
                                        <p:tgtEl>
                                          <p:spTgt spid="94"/>
                                        </p:tgtEl>
                                        <p:attrNameLst>
                                          <p:attrName>ppt_y</p:attrName>
                                        </p:attrNameLst>
                                      </p:cBhvr>
                                      <p:tavLst>
                                        <p:tav tm="0">
                                          <p:val>
                                            <p:strVal val="#ppt_y+#ppt_h*1.125000"/>
                                          </p:val>
                                        </p:tav>
                                        <p:tav tm="100000">
                                          <p:val>
                                            <p:strVal val="#ppt_y"/>
                                          </p:val>
                                        </p:tav>
                                      </p:tavLst>
                                    </p:anim>
                                    <p:animEffect transition="in" filter="wipe(up)">
                                      <p:cBhvr>
                                        <p:cTn id="17" dur="1000"/>
                                        <p:tgtEl>
                                          <p:spTgt spid="94"/>
                                        </p:tgtEl>
                                      </p:cBhvr>
                                    </p:animEffect>
                                  </p:childTnLst>
                                </p:cTn>
                              </p:par>
                            </p:childTnLst>
                          </p:cTn>
                        </p:par>
                        <p:par>
                          <p:cTn id="18" fill="hold">
                            <p:stCondLst>
                              <p:cond delay="3000"/>
                            </p:stCondLst>
                            <p:childTnLst>
                              <p:par>
                                <p:cTn id="19" presetID="12" presetClass="entr" presetSubtype="4" fill="hold" grpId="0" nodeType="afterEffect">
                                  <p:stCondLst>
                                    <p:cond delay="0"/>
                                  </p:stCondLst>
                                  <p:childTnLst>
                                    <p:set>
                                      <p:cBhvr>
                                        <p:cTn id="20" dur="1" fill="hold">
                                          <p:stCondLst>
                                            <p:cond delay="0"/>
                                          </p:stCondLst>
                                        </p:cTn>
                                        <p:tgtEl>
                                          <p:spTgt spid="19"/>
                                        </p:tgtEl>
                                        <p:attrNameLst>
                                          <p:attrName>style.visibility</p:attrName>
                                        </p:attrNameLst>
                                      </p:cBhvr>
                                      <p:to>
                                        <p:strVal val="visible"/>
                                      </p:to>
                                    </p:set>
                                    <p:anim calcmode="lin" valueType="num">
                                      <p:cBhvr additive="base">
                                        <p:cTn id="21" dur="1000"/>
                                        <p:tgtEl>
                                          <p:spTgt spid="19"/>
                                        </p:tgtEl>
                                        <p:attrNameLst>
                                          <p:attrName>ppt_y</p:attrName>
                                        </p:attrNameLst>
                                      </p:cBhvr>
                                      <p:tavLst>
                                        <p:tav tm="0">
                                          <p:val>
                                            <p:strVal val="#ppt_y+#ppt_h*1.125000"/>
                                          </p:val>
                                        </p:tav>
                                        <p:tav tm="100000">
                                          <p:val>
                                            <p:strVal val="#ppt_y"/>
                                          </p:val>
                                        </p:tav>
                                      </p:tavLst>
                                    </p:anim>
                                    <p:animEffect transition="in" filter="wipe(up)">
                                      <p:cBhvr>
                                        <p:cTn id="22"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p:bldP spid="1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nvGrpSpPr>
        <p:grpSpPr>
          <a:xfrm>
            <a:off x="276438" y="785614"/>
            <a:ext cx="3415778" cy="373579"/>
            <a:chOff x="307975" y="1517134"/>
            <a:chExt cx="3415778" cy="373579"/>
          </a:xfrm>
        </p:grpSpPr>
        <p:grpSp>
          <p:nvGrpSpPr>
            <p:cNvPr id="17" name="组合 32"/>
            <p:cNvGrpSpPr/>
            <p:nvPr/>
          </p:nvGrpSpPr>
          <p:grpSpPr>
            <a:xfrm>
              <a:off x="307975" y="1519116"/>
              <a:ext cx="568325" cy="371597"/>
              <a:chOff x="307975" y="1519116"/>
              <a:chExt cx="568325" cy="371597"/>
            </a:xfrm>
          </p:grpSpPr>
          <p:pic>
            <p:nvPicPr>
              <p:cNvPr id="19" name="Picture 4"/>
              <p:cNvPicPr>
                <a:picLocks noChangeAspect="1" noChangeArrowheads="1"/>
              </p:cNvPicPr>
              <p:nvPr/>
            </p:nvPicPr>
            <p:blipFill>
              <a:blip r:embed="rId3" cstate="print"/>
              <a:srcRect/>
              <a:stretch>
                <a:fillRect/>
              </a:stretch>
            </p:blipFill>
            <p:spPr bwMode="auto">
              <a:xfrm flipH="1">
                <a:off x="307975" y="1519116"/>
                <a:ext cx="568325" cy="371597"/>
              </a:xfrm>
              <a:prstGeom prst="rect">
                <a:avLst/>
              </a:prstGeom>
              <a:noFill/>
              <a:ln w="9525">
                <a:noFill/>
                <a:miter lim="800000"/>
                <a:headEnd/>
                <a:tailEnd/>
              </a:ln>
              <a:effectLst/>
            </p:spPr>
          </p:pic>
          <p:sp>
            <p:nvSpPr>
              <p:cNvPr id="20" name="TextBox 19"/>
              <p:cNvSpPr txBox="1"/>
              <p:nvPr/>
            </p:nvSpPr>
            <p:spPr>
              <a:xfrm flipH="1">
                <a:off x="443415" y="1555750"/>
                <a:ext cx="137858" cy="276999"/>
              </a:xfrm>
              <a:prstGeom prst="rect">
                <a:avLst/>
              </a:prstGeom>
              <a:noFill/>
            </p:spPr>
            <p:txBody>
              <a:bodyPr wrap="none" lIns="0" tIns="0" rIns="0" bIns="0" rtlCol="0">
                <a:spAutoFit/>
              </a:bodyPr>
              <a:lstStyle/>
              <a:p>
                <a:r>
                  <a:rPr lang="en-US" altLang="zh-CN" b="1" dirty="0">
                    <a:solidFill>
                      <a:srgbClr val="262626"/>
                    </a:solidFill>
                    <a:latin typeface="Segoe UI Black" pitchFamily="34" charset="0"/>
                    <a:ea typeface="Segoe UI Black" pitchFamily="34" charset="0"/>
                    <a:cs typeface="Times New Roman" pitchFamily="18" charset="0"/>
                  </a:rPr>
                  <a:t>3</a:t>
                </a:r>
                <a:endParaRPr lang="zh-CN" altLang="en-US" b="1" dirty="0">
                  <a:solidFill>
                    <a:srgbClr val="262626"/>
                  </a:solidFill>
                  <a:latin typeface="Segoe UI Black" pitchFamily="34" charset="0"/>
                  <a:cs typeface="Times New Roman" pitchFamily="18" charset="0"/>
                </a:endParaRPr>
              </a:p>
            </p:txBody>
          </p:sp>
        </p:grpSp>
        <p:sp>
          <p:nvSpPr>
            <p:cNvPr id="18" name="矩形 17"/>
            <p:cNvSpPr/>
            <p:nvPr/>
          </p:nvSpPr>
          <p:spPr>
            <a:xfrm>
              <a:off x="863675" y="1517134"/>
              <a:ext cx="2860078" cy="369332"/>
            </a:xfrm>
            <a:prstGeom prst="rect">
              <a:avLst/>
            </a:prstGeom>
          </p:spPr>
          <p:txBody>
            <a:bodyPr wrap="none">
              <a:spAutoFit/>
            </a:bodyPr>
            <a:lstStyle/>
            <a:p>
              <a:r>
                <a:rPr lang="zh-CN" altLang="en-US" b="1" dirty="0">
                  <a:solidFill>
                    <a:schemeClr val="accent1">
                      <a:lumMod val="50000"/>
                    </a:schemeClr>
                  </a:solidFill>
                  <a:latin typeface="黑体" pitchFamily="49" charset="-122"/>
                  <a:ea typeface="黑体" pitchFamily="49" charset="-122"/>
                  <a:cs typeface="Times New Roman" pitchFamily="18" charset="0"/>
                </a:rPr>
                <a:t>其他逻辑功能的</a:t>
              </a:r>
              <a:r>
                <a:rPr lang="en-US" altLang="zh-CN" b="1" dirty="0">
                  <a:solidFill>
                    <a:schemeClr val="accent1">
                      <a:lumMod val="50000"/>
                    </a:schemeClr>
                  </a:solidFill>
                  <a:latin typeface="黑体" pitchFamily="49" charset="-122"/>
                  <a:ea typeface="黑体" pitchFamily="49" charset="-122"/>
                  <a:cs typeface="Times New Roman" pitchFamily="18" charset="0"/>
                </a:rPr>
                <a:t>TTL</a:t>
              </a:r>
              <a:r>
                <a:rPr lang="zh-CN" altLang="en-US" b="1" dirty="0">
                  <a:solidFill>
                    <a:schemeClr val="accent1">
                      <a:lumMod val="50000"/>
                    </a:schemeClr>
                  </a:solidFill>
                  <a:latin typeface="黑体" pitchFamily="49" charset="-122"/>
                  <a:ea typeface="黑体" pitchFamily="49" charset="-122"/>
                  <a:cs typeface="Times New Roman" pitchFamily="18" charset="0"/>
                </a:rPr>
                <a:t>门电路</a:t>
              </a:r>
            </a:p>
          </p:txBody>
        </p:sp>
      </p:grpSp>
      <p:sp>
        <p:nvSpPr>
          <p:cNvPr id="56" name="Rectangle 6"/>
          <p:cNvSpPr>
            <a:spLocks noChangeArrowheads="1"/>
          </p:cNvSpPr>
          <p:nvPr/>
        </p:nvSpPr>
        <p:spPr bwMode="auto">
          <a:xfrm>
            <a:off x="351963" y="1261185"/>
            <a:ext cx="2572300" cy="338554"/>
          </a:xfrm>
          <a:prstGeom prst="rect">
            <a:avLst/>
          </a:prstGeom>
          <a:noFill/>
          <a:ln w="9525" algn="ctr">
            <a:noFill/>
            <a:miter lim="800000"/>
            <a:headEnd/>
            <a:tailEnd/>
          </a:ln>
        </p:spPr>
        <p:txBody>
          <a:bodyPr wrap="square">
            <a:spAutoFit/>
          </a:bodyPr>
          <a:lstStyle/>
          <a:p>
            <a:r>
              <a:rPr lang="zh-CN" altLang="en-US" sz="1600" b="1" dirty="0">
                <a:solidFill>
                  <a:srgbClr val="6600FF"/>
                </a:solidFill>
                <a:latin typeface="方正粗黑宋简体" pitchFamily="2" charset="-122"/>
                <a:ea typeface="方正粗黑宋简体" pitchFamily="2" charset="-122"/>
              </a:rPr>
              <a:t>（</a:t>
            </a:r>
            <a:r>
              <a:rPr lang="en-US" altLang="zh-CN" sz="1600" b="1" dirty="0">
                <a:solidFill>
                  <a:srgbClr val="6600FF"/>
                </a:solidFill>
                <a:latin typeface="方正粗黑宋简体" pitchFamily="2" charset="-122"/>
                <a:ea typeface="方正粗黑宋简体" pitchFamily="2" charset="-122"/>
              </a:rPr>
              <a:t>1</a:t>
            </a:r>
            <a:r>
              <a:rPr lang="zh-CN" altLang="en-US" sz="1600" b="1" dirty="0">
                <a:solidFill>
                  <a:srgbClr val="6600FF"/>
                </a:solidFill>
                <a:latin typeface="方正粗黑宋简体" pitchFamily="2" charset="-122"/>
                <a:ea typeface="方正粗黑宋简体" pitchFamily="2" charset="-122"/>
              </a:rPr>
              <a:t>）</a:t>
            </a:r>
            <a:r>
              <a:rPr lang="en-US" altLang="zh-CN" sz="1600" b="1" dirty="0">
                <a:solidFill>
                  <a:srgbClr val="6600FF"/>
                </a:solidFill>
                <a:latin typeface="方正粗黑宋简体" pitchFamily="2" charset="-122"/>
                <a:ea typeface="方正粗黑宋简体" pitchFamily="2" charset="-122"/>
              </a:rPr>
              <a:t>TTL</a:t>
            </a:r>
            <a:r>
              <a:rPr lang="zh-CN" altLang="en-US" sz="1600" b="1" dirty="0">
                <a:solidFill>
                  <a:srgbClr val="6600FF"/>
                </a:solidFill>
                <a:latin typeface="方正粗黑宋简体" pitchFamily="2" charset="-122"/>
                <a:ea typeface="方正粗黑宋简体" pitchFamily="2" charset="-122"/>
              </a:rPr>
              <a:t>与非门电路 </a:t>
            </a:r>
          </a:p>
        </p:txBody>
      </p:sp>
      <p:grpSp>
        <p:nvGrpSpPr>
          <p:cNvPr id="60" name="组合 59"/>
          <p:cNvGrpSpPr/>
          <p:nvPr/>
        </p:nvGrpSpPr>
        <p:grpSpPr>
          <a:xfrm>
            <a:off x="1990865" y="1867104"/>
            <a:ext cx="3802380" cy="3040381"/>
            <a:chOff x="2186940" y="1729741"/>
            <a:chExt cx="4114800" cy="3322320"/>
          </a:xfrm>
        </p:grpSpPr>
        <p:pic>
          <p:nvPicPr>
            <p:cNvPr id="53290" name="Picture 42"/>
            <p:cNvPicPr>
              <a:picLocks noChangeAspect="1" noChangeArrowheads="1"/>
            </p:cNvPicPr>
            <p:nvPr/>
          </p:nvPicPr>
          <p:blipFill>
            <a:blip r:embed="rId4" cstate="print"/>
            <a:srcRect/>
            <a:stretch>
              <a:fillRect/>
            </a:stretch>
          </p:blipFill>
          <p:spPr bwMode="auto">
            <a:xfrm>
              <a:off x="2220277" y="1838522"/>
              <a:ext cx="3883343" cy="3122098"/>
            </a:xfrm>
            <a:prstGeom prst="rect">
              <a:avLst/>
            </a:prstGeom>
            <a:noFill/>
            <a:ln w="9525">
              <a:noFill/>
              <a:miter lim="800000"/>
              <a:headEnd/>
              <a:tailEnd/>
            </a:ln>
            <a:effectLst/>
          </p:spPr>
        </p:pic>
        <p:sp>
          <p:nvSpPr>
            <p:cNvPr id="58" name="圆角矩形 57"/>
            <p:cNvSpPr/>
            <p:nvPr/>
          </p:nvSpPr>
          <p:spPr>
            <a:xfrm>
              <a:off x="2186940" y="1729741"/>
              <a:ext cx="4114800" cy="3322320"/>
            </a:xfrm>
            <a:prstGeom prst="roundRect">
              <a:avLst>
                <a:gd name="adj" fmla="val 7926"/>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4" name="组合 63"/>
          <p:cNvGrpSpPr/>
          <p:nvPr/>
        </p:nvGrpSpPr>
        <p:grpSpPr>
          <a:xfrm>
            <a:off x="2484353" y="617325"/>
            <a:ext cx="5039179" cy="2917731"/>
            <a:chOff x="3099212" y="1422297"/>
            <a:chExt cx="5868014" cy="3448345"/>
          </a:xfrm>
        </p:grpSpPr>
        <p:grpSp>
          <p:nvGrpSpPr>
            <p:cNvPr id="63" name="组合 62"/>
            <p:cNvGrpSpPr/>
            <p:nvPr/>
          </p:nvGrpSpPr>
          <p:grpSpPr>
            <a:xfrm>
              <a:off x="6422146" y="1422297"/>
              <a:ext cx="2545080" cy="1539240"/>
              <a:chOff x="6422146" y="1422297"/>
              <a:chExt cx="2545080" cy="1539240"/>
            </a:xfrm>
          </p:grpSpPr>
          <p:pic>
            <p:nvPicPr>
              <p:cNvPr id="53288" name="Picture 40"/>
              <p:cNvPicPr>
                <a:picLocks noChangeAspect="1" noChangeArrowheads="1"/>
              </p:cNvPicPr>
              <p:nvPr/>
            </p:nvPicPr>
            <p:blipFill>
              <a:blip r:embed="rId5" cstate="print"/>
              <a:srcRect/>
              <a:stretch>
                <a:fillRect/>
              </a:stretch>
            </p:blipFill>
            <p:spPr bwMode="auto">
              <a:xfrm>
                <a:off x="6526530" y="1522094"/>
                <a:ext cx="2214773" cy="1209675"/>
              </a:xfrm>
              <a:prstGeom prst="rect">
                <a:avLst/>
              </a:prstGeom>
              <a:noFill/>
              <a:ln w="9525">
                <a:noFill/>
                <a:miter lim="800000"/>
                <a:headEnd/>
                <a:tailEnd/>
              </a:ln>
              <a:effectLst/>
            </p:spPr>
          </p:pic>
          <p:sp>
            <p:nvSpPr>
              <p:cNvPr id="61" name="椭圆形标注 60"/>
              <p:cNvSpPr/>
              <p:nvPr/>
            </p:nvSpPr>
            <p:spPr>
              <a:xfrm>
                <a:off x="6422146" y="1422297"/>
                <a:ext cx="2545080" cy="1539240"/>
              </a:xfrm>
              <a:prstGeom prst="wedgeEllipseCallout">
                <a:avLst>
                  <a:gd name="adj1" fmla="val -147196"/>
                  <a:gd name="adj2" fmla="val 141313"/>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2" name="椭圆 61"/>
            <p:cNvSpPr/>
            <p:nvPr/>
          </p:nvSpPr>
          <p:spPr>
            <a:xfrm>
              <a:off x="3099212" y="4314381"/>
              <a:ext cx="914399" cy="556261"/>
            </a:xfrm>
            <a:prstGeom prst="ellipse">
              <a:avLst/>
            </a:prstGeom>
            <a:solidFill>
              <a:srgbClr val="FFFF00">
                <a:alpha val="21000"/>
              </a:srgb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6" name="AutoShape 16"/>
          <p:cNvSpPr>
            <a:spLocks noChangeArrowheads="1"/>
          </p:cNvSpPr>
          <p:nvPr/>
        </p:nvSpPr>
        <p:spPr bwMode="auto">
          <a:xfrm>
            <a:off x="276438" y="2580017"/>
            <a:ext cx="1663401" cy="641176"/>
          </a:xfrm>
          <a:prstGeom prst="wedgeRoundRectCallout">
            <a:avLst>
              <a:gd name="adj1" fmla="val 85012"/>
              <a:gd name="adj2" fmla="val 49485"/>
              <a:gd name="adj3" fmla="val 16667"/>
            </a:avLst>
          </a:prstGeom>
          <a:solidFill>
            <a:srgbClr val="FFFF00"/>
          </a:solidFill>
          <a:ln w="19050">
            <a:solidFill>
              <a:srgbClr val="0000FF"/>
            </a:solidFill>
            <a:miter lim="800000"/>
            <a:headEnd/>
            <a:tailEnd/>
          </a:ln>
        </p:spPr>
        <p:txBody>
          <a:bodyPr lIns="36000" tIns="0" rIns="36000" bIns="0"/>
          <a:lstStyle/>
          <a:p>
            <a:pPr algn="ctr" fontAlgn="auto">
              <a:lnSpc>
                <a:spcPct val="125000"/>
              </a:lnSpc>
              <a:spcBef>
                <a:spcPct val="0"/>
              </a:spcBef>
              <a:spcAft>
                <a:spcPts val="0"/>
              </a:spcAft>
              <a:defRPr/>
            </a:pPr>
            <a:r>
              <a:rPr kumimoji="1" lang="zh-CN" altLang="en-US" sz="1400" b="1" kern="0" dirty="0">
                <a:solidFill>
                  <a:srgbClr val="7030A0"/>
                </a:solidFill>
                <a:latin typeface="Times New Roman" pitchFamily="18" charset="0"/>
                <a:ea typeface="黑体" pitchFamily="49" charset="-122"/>
                <a:cs typeface="Times New Roman" pitchFamily="18" charset="0"/>
              </a:rPr>
              <a:t>实现输入变量</a:t>
            </a:r>
            <a:r>
              <a:rPr kumimoji="1" lang="en-US" altLang="zh-CN" sz="1400" b="1" i="1" kern="0" dirty="0">
                <a:solidFill>
                  <a:srgbClr val="7030A0"/>
                </a:solidFill>
                <a:latin typeface="Times New Roman" pitchFamily="18" charset="0"/>
                <a:ea typeface="黑体" pitchFamily="49" charset="-122"/>
                <a:cs typeface="Times New Roman" pitchFamily="18" charset="0"/>
              </a:rPr>
              <a:t>A</a:t>
            </a:r>
            <a:r>
              <a:rPr kumimoji="1" lang="zh-CN" altLang="en-US" sz="1400" b="1" kern="0" dirty="0">
                <a:solidFill>
                  <a:srgbClr val="7030A0"/>
                </a:solidFill>
                <a:latin typeface="Times New Roman" pitchFamily="18" charset="0"/>
                <a:ea typeface="黑体" pitchFamily="49" charset="-122"/>
                <a:cs typeface="Times New Roman" pitchFamily="18" charset="0"/>
              </a:rPr>
              <a:t>、</a:t>
            </a:r>
            <a:r>
              <a:rPr kumimoji="1" lang="en-US" altLang="zh-CN" sz="1400" b="1" i="1" kern="0" dirty="0">
                <a:solidFill>
                  <a:srgbClr val="7030A0"/>
                </a:solidFill>
                <a:latin typeface="Times New Roman" pitchFamily="18" charset="0"/>
                <a:ea typeface="黑体" pitchFamily="49" charset="-122"/>
                <a:cs typeface="Times New Roman" pitchFamily="18" charset="0"/>
              </a:rPr>
              <a:t>B</a:t>
            </a:r>
            <a:r>
              <a:rPr kumimoji="1" lang="zh-CN" altLang="en-US" sz="1400" b="1" kern="0" dirty="0">
                <a:solidFill>
                  <a:srgbClr val="7030A0"/>
                </a:solidFill>
                <a:latin typeface="Times New Roman" pitchFamily="18" charset="0"/>
                <a:ea typeface="黑体" pitchFamily="49" charset="-122"/>
                <a:cs typeface="Times New Roman" pitchFamily="18" charset="0"/>
              </a:rPr>
              <a:t>的与运算。</a:t>
            </a:r>
          </a:p>
        </p:txBody>
      </p:sp>
      <p:grpSp>
        <p:nvGrpSpPr>
          <p:cNvPr id="3" name="组合 2"/>
          <p:cNvGrpSpPr/>
          <p:nvPr/>
        </p:nvGrpSpPr>
        <p:grpSpPr>
          <a:xfrm>
            <a:off x="6547297" y="2632122"/>
            <a:ext cx="1981889" cy="1395374"/>
            <a:chOff x="7284515" y="1836419"/>
            <a:chExt cx="1558776" cy="1115436"/>
          </a:xfrm>
        </p:grpSpPr>
        <p:sp>
          <p:nvSpPr>
            <p:cNvPr id="2" name="圆角矩形 1"/>
            <p:cNvSpPr/>
            <p:nvPr/>
          </p:nvSpPr>
          <p:spPr>
            <a:xfrm>
              <a:off x="7284515" y="1836419"/>
              <a:ext cx="1558776" cy="1115436"/>
            </a:xfrm>
            <a:prstGeom prst="roundRect">
              <a:avLst>
                <a:gd name="adj" fmla="val 11165"/>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66" name="Object 21"/>
            <p:cNvGraphicFramePr>
              <a:graphicFrameLocks noChangeAspect="1"/>
            </p:cNvGraphicFramePr>
            <p:nvPr/>
          </p:nvGraphicFramePr>
          <p:xfrm>
            <a:off x="7599045" y="1934285"/>
            <a:ext cx="948791" cy="487277"/>
          </p:xfrm>
          <a:graphic>
            <a:graphicData uri="http://schemas.openxmlformats.org/presentationml/2006/ole">
              <mc:AlternateContent xmlns:mc="http://schemas.openxmlformats.org/markup-compatibility/2006">
                <mc:Choice xmlns:v="urn:schemas-microsoft-com:vml" Requires="v">
                  <p:oleObj spid="_x0000_s72706" name="Visio" r:id="rId6" imgW="1174735" imgH="600374" progId="">
                    <p:embed/>
                  </p:oleObj>
                </mc:Choice>
                <mc:Fallback>
                  <p:oleObj name="Visio" r:id="rId6" imgW="1174735" imgH="600374" progId="">
                    <p:embed/>
                    <p:pic>
                      <p:nvPicPr>
                        <p:cNvPr id="66" name="Object 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99045" y="1934285"/>
                          <a:ext cx="948791" cy="48727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293" name="Object 45"/>
            <p:cNvGraphicFramePr>
              <a:graphicFrameLocks noChangeAspect="1"/>
            </p:cNvGraphicFramePr>
            <p:nvPr/>
          </p:nvGraphicFramePr>
          <p:xfrm>
            <a:off x="7677775" y="2519428"/>
            <a:ext cx="870061" cy="309355"/>
          </p:xfrm>
          <a:graphic>
            <a:graphicData uri="http://schemas.openxmlformats.org/presentationml/2006/ole">
              <mc:AlternateContent xmlns:mc="http://schemas.openxmlformats.org/markup-compatibility/2006">
                <mc:Choice xmlns:v="urn:schemas-microsoft-com:vml" Requires="v">
                  <p:oleObj spid="_x0000_s72707" name="公式" r:id="rId8" imgW="13716000" imgH="4876800" progId="">
                    <p:embed/>
                  </p:oleObj>
                </mc:Choice>
                <mc:Fallback>
                  <p:oleObj name="公式" r:id="rId8" imgW="13716000" imgH="4876800" progId="">
                    <p:embed/>
                    <p:pic>
                      <p:nvPicPr>
                        <p:cNvPr id="53293" name="Object 4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677775" y="2519428"/>
                          <a:ext cx="870061" cy="30935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6" name="组合 5">
            <a:extLst>
              <a:ext uri="{FF2B5EF4-FFF2-40B4-BE49-F238E27FC236}">
                <a16:creationId xmlns:a16="http://schemas.microsoft.com/office/drawing/2014/main" id="{C5493C3A-664A-4DF5-AB35-51F4A4970A20}"/>
              </a:ext>
            </a:extLst>
          </p:cNvPr>
          <p:cNvGrpSpPr/>
          <p:nvPr/>
        </p:nvGrpSpPr>
        <p:grpSpPr>
          <a:xfrm>
            <a:off x="2028882" y="2360840"/>
            <a:ext cx="3991917" cy="1836876"/>
            <a:chOff x="2028882" y="2360840"/>
            <a:chExt cx="3991917" cy="1836876"/>
          </a:xfrm>
        </p:grpSpPr>
        <p:sp>
          <p:nvSpPr>
            <p:cNvPr id="28" name="AutoShape 134">
              <a:extLst>
                <a:ext uri="{FF2B5EF4-FFF2-40B4-BE49-F238E27FC236}">
                  <a16:creationId xmlns:a16="http://schemas.microsoft.com/office/drawing/2014/main" id="{1B533925-49F6-46CD-BCE7-E8CB595DACD0}"/>
                </a:ext>
              </a:extLst>
            </p:cNvPr>
            <p:cNvSpPr>
              <a:spLocks noChangeArrowheads="1"/>
            </p:cNvSpPr>
            <p:nvPr/>
          </p:nvSpPr>
          <p:spPr bwMode="auto">
            <a:xfrm>
              <a:off x="5201813" y="3004492"/>
              <a:ext cx="818986" cy="482052"/>
            </a:xfrm>
            <a:prstGeom prst="wedgeRoundRectCallout">
              <a:avLst>
                <a:gd name="adj1" fmla="val -56500"/>
                <a:gd name="adj2" fmla="val 76277"/>
                <a:gd name="adj3" fmla="val 16667"/>
              </a:avLst>
            </a:prstGeom>
            <a:solidFill>
              <a:srgbClr val="FFFF99"/>
            </a:solidFill>
            <a:ln w="19050">
              <a:solidFill>
                <a:srgbClr val="FF00FF"/>
              </a:solidFill>
              <a:miter lim="800000"/>
              <a:headEnd/>
              <a:tailEnd/>
            </a:ln>
            <a:effectLst>
              <a:outerShdw blurRad="50800" dist="38100" dir="5400000" algn="t"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r>
                <a:rPr lang="zh-CN" altLang="en-US" sz="1600" dirty="0">
                  <a:solidFill>
                    <a:schemeClr val="tx1"/>
                  </a:solidFill>
                  <a:latin typeface="方正粗黑宋简体" pitchFamily="2" charset="-122"/>
                  <a:ea typeface="方正粗黑宋简体" pitchFamily="2" charset="-122"/>
                </a:rPr>
                <a:t>高电平</a:t>
              </a:r>
              <a:endParaRPr lang="en-US" altLang="zh-CN" sz="1600" dirty="0">
                <a:solidFill>
                  <a:schemeClr val="tx1"/>
                </a:solidFill>
                <a:latin typeface="方正粗黑宋简体" pitchFamily="2" charset="-122"/>
                <a:ea typeface="方正粗黑宋简体" pitchFamily="2" charset="-122"/>
              </a:endParaRPr>
            </a:p>
          </p:txBody>
        </p:sp>
        <p:grpSp>
          <p:nvGrpSpPr>
            <p:cNvPr id="5" name="组合 4">
              <a:extLst>
                <a:ext uri="{FF2B5EF4-FFF2-40B4-BE49-F238E27FC236}">
                  <a16:creationId xmlns:a16="http://schemas.microsoft.com/office/drawing/2014/main" id="{2571DBDA-06A8-4D1F-8FE7-B99945CDC41F}"/>
                </a:ext>
              </a:extLst>
            </p:cNvPr>
            <p:cNvGrpSpPr/>
            <p:nvPr/>
          </p:nvGrpSpPr>
          <p:grpSpPr>
            <a:xfrm>
              <a:off x="2028882" y="2360840"/>
              <a:ext cx="3048639" cy="1836876"/>
              <a:chOff x="2028882" y="2360840"/>
              <a:chExt cx="3048639" cy="1836876"/>
            </a:xfrm>
          </p:grpSpPr>
          <p:sp>
            <p:nvSpPr>
              <p:cNvPr id="21" name="AutoShape 134">
                <a:extLst>
                  <a:ext uri="{FF2B5EF4-FFF2-40B4-BE49-F238E27FC236}">
                    <a16:creationId xmlns:a16="http://schemas.microsoft.com/office/drawing/2014/main" id="{1B533925-49F6-46CD-BCE7-E8CB595DACD0}"/>
                  </a:ext>
                </a:extLst>
              </p:cNvPr>
              <p:cNvSpPr>
                <a:spLocks noChangeArrowheads="1"/>
              </p:cNvSpPr>
              <p:nvPr/>
            </p:nvSpPr>
            <p:spPr bwMode="auto">
              <a:xfrm>
                <a:off x="2028882" y="3924956"/>
                <a:ext cx="615449" cy="272760"/>
              </a:xfrm>
              <a:prstGeom prst="wedgeRoundRectCallout">
                <a:avLst>
                  <a:gd name="adj1" fmla="val 26014"/>
                  <a:gd name="adj2" fmla="val -116024"/>
                  <a:gd name="adj3" fmla="val 16667"/>
                </a:avLst>
              </a:prstGeom>
              <a:solidFill>
                <a:srgbClr val="FFFF99"/>
              </a:solidFill>
              <a:ln w="19050">
                <a:solidFill>
                  <a:srgbClr val="FF00FF"/>
                </a:solidFill>
                <a:miter lim="800000"/>
                <a:headEnd/>
                <a:tailEnd/>
              </a:ln>
              <a:effectLst>
                <a:outerShdw blurRad="50800" dist="38100" dir="5400000" algn="t"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r>
                  <a:rPr lang="en-US" altLang="zh-CN" sz="1600" dirty="0">
                    <a:solidFill>
                      <a:schemeClr val="tx1"/>
                    </a:solidFill>
                    <a:latin typeface="方正粗黑宋简体" pitchFamily="2" charset="-122"/>
                    <a:ea typeface="方正粗黑宋简体" pitchFamily="2" charset="-122"/>
                  </a:rPr>
                  <a:t>0.2V</a:t>
                </a:r>
              </a:p>
            </p:txBody>
          </p:sp>
          <p:grpSp>
            <p:nvGrpSpPr>
              <p:cNvPr id="22" name="组合 21">
                <a:extLst>
                  <a:ext uri="{FF2B5EF4-FFF2-40B4-BE49-F238E27FC236}">
                    <a16:creationId xmlns:a16="http://schemas.microsoft.com/office/drawing/2014/main" id="{A1FDB4A9-9704-43E5-8730-6F1D9077B7F0}"/>
                  </a:ext>
                </a:extLst>
              </p:cNvPr>
              <p:cNvGrpSpPr/>
              <p:nvPr/>
            </p:nvGrpSpPr>
            <p:grpSpPr>
              <a:xfrm>
                <a:off x="3376481" y="3214969"/>
                <a:ext cx="1330427" cy="981987"/>
                <a:chOff x="6457009" y="2083768"/>
                <a:chExt cx="1330427" cy="981987"/>
              </a:xfrm>
            </p:grpSpPr>
            <p:sp>
              <p:nvSpPr>
                <p:cNvPr id="23" name="乘号 22">
                  <a:extLst>
                    <a:ext uri="{FF2B5EF4-FFF2-40B4-BE49-F238E27FC236}">
                      <a16:creationId xmlns:a16="http://schemas.microsoft.com/office/drawing/2014/main" id="{A05C01C2-7D26-4935-B43A-9F55A033F4A8}"/>
                    </a:ext>
                  </a:extLst>
                </p:cNvPr>
                <p:cNvSpPr/>
                <p:nvPr/>
              </p:nvSpPr>
              <p:spPr>
                <a:xfrm rot="10800000">
                  <a:off x="6457009" y="2083768"/>
                  <a:ext cx="486821" cy="490993"/>
                </a:xfrm>
                <a:prstGeom prst="mathMultiply">
                  <a:avLst>
                    <a:gd name="adj1" fmla="val 13414"/>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乘号 23">
                  <a:extLst>
                    <a:ext uri="{FF2B5EF4-FFF2-40B4-BE49-F238E27FC236}">
                      <a16:creationId xmlns:a16="http://schemas.microsoft.com/office/drawing/2014/main" id="{73745D45-DE4C-498A-AC66-37B8AA4B863C}"/>
                    </a:ext>
                  </a:extLst>
                </p:cNvPr>
                <p:cNvSpPr/>
                <p:nvPr/>
              </p:nvSpPr>
              <p:spPr>
                <a:xfrm rot="10800000">
                  <a:off x="7300615" y="2574762"/>
                  <a:ext cx="486821" cy="490993"/>
                </a:xfrm>
                <a:prstGeom prst="mathMultiply">
                  <a:avLst>
                    <a:gd name="adj1" fmla="val 13414"/>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6" name="AutoShape 134">
                <a:extLst>
                  <a:ext uri="{FF2B5EF4-FFF2-40B4-BE49-F238E27FC236}">
                    <a16:creationId xmlns:a16="http://schemas.microsoft.com/office/drawing/2014/main" id="{1B533925-49F6-46CD-BCE7-E8CB595DACD0}"/>
                  </a:ext>
                </a:extLst>
              </p:cNvPr>
              <p:cNvSpPr>
                <a:spLocks noChangeArrowheads="1"/>
              </p:cNvSpPr>
              <p:nvPr/>
            </p:nvSpPr>
            <p:spPr bwMode="auto">
              <a:xfrm>
                <a:off x="2178948" y="2730955"/>
                <a:ext cx="615449" cy="272760"/>
              </a:xfrm>
              <a:prstGeom prst="wedgeRoundRectCallout">
                <a:avLst>
                  <a:gd name="adj1" fmla="val 76869"/>
                  <a:gd name="adj2" fmla="val 59470"/>
                  <a:gd name="adj3" fmla="val 16667"/>
                </a:avLst>
              </a:prstGeom>
              <a:solidFill>
                <a:srgbClr val="FFFF99"/>
              </a:solidFill>
              <a:ln w="19050">
                <a:solidFill>
                  <a:srgbClr val="FF00FF"/>
                </a:solidFill>
                <a:miter lim="800000"/>
                <a:headEnd/>
                <a:tailEnd/>
              </a:ln>
              <a:effectLst>
                <a:outerShdw blurRad="50800" dist="38100" dir="5400000" algn="t"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r>
                  <a:rPr lang="en-US" altLang="zh-CN" sz="1600" dirty="0">
                    <a:solidFill>
                      <a:schemeClr val="tx1"/>
                    </a:solidFill>
                    <a:latin typeface="方正粗黑宋简体" pitchFamily="2" charset="-122"/>
                    <a:ea typeface="方正粗黑宋简体" pitchFamily="2" charset="-122"/>
                  </a:rPr>
                  <a:t>0.9V</a:t>
                </a:r>
              </a:p>
            </p:txBody>
          </p:sp>
          <p:sp>
            <p:nvSpPr>
              <p:cNvPr id="37" name="任意多边形 97">
                <a:extLst>
                  <a:ext uri="{FF2B5EF4-FFF2-40B4-BE49-F238E27FC236}">
                    <a16:creationId xmlns:a16="http://schemas.microsoft.com/office/drawing/2014/main" id="{9293CCAB-B2F8-4444-9E05-4E5BA65A3C21}"/>
                  </a:ext>
                </a:extLst>
              </p:cNvPr>
              <p:cNvSpPr/>
              <p:nvPr/>
            </p:nvSpPr>
            <p:spPr>
              <a:xfrm>
                <a:off x="4859958" y="2360840"/>
                <a:ext cx="217563" cy="1183742"/>
              </a:xfrm>
              <a:custGeom>
                <a:avLst/>
                <a:gdLst>
                  <a:gd name="connsiteX0" fmla="*/ 187200 w 187200"/>
                  <a:gd name="connsiteY0" fmla="*/ 0 h 1238400"/>
                  <a:gd name="connsiteX1" fmla="*/ 36000 w 187200"/>
                  <a:gd name="connsiteY1" fmla="*/ 122400 h 1238400"/>
                  <a:gd name="connsiteX2" fmla="*/ 7200 w 187200"/>
                  <a:gd name="connsiteY2" fmla="*/ 597600 h 1238400"/>
                  <a:gd name="connsiteX3" fmla="*/ 0 w 187200"/>
                  <a:gd name="connsiteY3" fmla="*/ 1238400 h 1238400"/>
                </a:gdLst>
                <a:ahLst/>
                <a:cxnLst>
                  <a:cxn ang="0">
                    <a:pos x="connsiteX0" y="connsiteY0"/>
                  </a:cxn>
                  <a:cxn ang="0">
                    <a:pos x="connsiteX1" y="connsiteY1"/>
                  </a:cxn>
                  <a:cxn ang="0">
                    <a:pos x="connsiteX2" y="connsiteY2"/>
                  </a:cxn>
                  <a:cxn ang="0">
                    <a:pos x="connsiteX3" y="connsiteY3"/>
                  </a:cxn>
                </a:cxnLst>
                <a:rect l="l" t="t" r="r" b="b"/>
                <a:pathLst>
                  <a:path w="187200" h="1238400">
                    <a:moveTo>
                      <a:pt x="187200" y="0"/>
                    </a:moveTo>
                    <a:cubicBezTo>
                      <a:pt x="126600" y="11400"/>
                      <a:pt x="66000" y="22800"/>
                      <a:pt x="36000" y="122400"/>
                    </a:cubicBezTo>
                    <a:cubicBezTo>
                      <a:pt x="6000" y="222000"/>
                      <a:pt x="13200" y="411600"/>
                      <a:pt x="7200" y="597600"/>
                    </a:cubicBezTo>
                    <a:cubicBezTo>
                      <a:pt x="1200" y="783600"/>
                      <a:pt x="600" y="1011000"/>
                      <a:pt x="0" y="1238400"/>
                    </a:cubicBezTo>
                  </a:path>
                </a:pathLst>
              </a:custGeom>
              <a:ln w="571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grpSp>
      </p:grpSp>
      <p:grpSp>
        <p:nvGrpSpPr>
          <p:cNvPr id="8" name="组合 7">
            <a:extLst>
              <a:ext uri="{FF2B5EF4-FFF2-40B4-BE49-F238E27FC236}">
                <a16:creationId xmlns:a16="http://schemas.microsoft.com/office/drawing/2014/main" id="{6EB63A46-F824-4BBC-8542-5D753EB1141B}"/>
              </a:ext>
            </a:extLst>
          </p:cNvPr>
          <p:cNvGrpSpPr/>
          <p:nvPr/>
        </p:nvGrpSpPr>
        <p:grpSpPr>
          <a:xfrm>
            <a:off x="1218217" y="2713138"/>
            <a:ext cx="4811390" cy="1792464"/>
            <a:chOff x="1218217" y="2713138"/>
            <a:chExt cx="4811390" cy="1792464"/>
          </a:xfrm>
        </p:grpSpPr>
        <p:grpSp>
          <p:nvGrpSpPr>
            <p:cNvPr id="7" name="组合 6">
              <a:extLst>
                <a:ext uri="{FF2B5EF4-FFF2-40B4-BE49-F238E27FC236}">
                  <a16:creationId xmlns:a16="http://schemas.microsoft.com/office/drawing/2014/main" id="{0CB557B9-CBCD-4DAB-9765-071CA11116C8}"/>
                </a:ext>
              </a:extLst>
            </p:cNvPr>
            <p:cNvGrpSpPr/>
            <p:nvPr/>
          </p:nvGrpSpPr>
          <p:grpSpPr>
            <a:xfrm>
              <a:off x="1218217" y="2713138"/>
              <a:ext cx="3719831" cy="1792464"/>
              <a:chOff x="1218217" y="2713138"/>
              <a:chExt cx="3719831" cy="1792464"/>
            </a:xfrm>
          </p:grpSpPr>
          <p:sp>
            <p:nvSpPr>
              <p:cNvPr id="27" name="任意多边形 115">
                <a:extLst>
                  <a:ext uri="{FF2B5EF4-FFF2-40B4-BE49-F238E27FC236}">
                    <a16:creationId xmlns:a16="http://schemas.microsoft.com/office/drawing/2014/main" id="{1D2595B6-5C64-411F-A0C7-E792B8E43043}"/>
                  </a:ext>
                </a:extLst>
              </p:cNvPr>
              <p:cNvSpPr/>
              <p:nvPr/>
            </p:nvSpPr>
            <p:spPr>
              <a:xfrm>
                <a:off x="3086997" y="3099239"/>
                <a:ext cx="1509712" cy="1406363"/>
              </a:xfrm>
              <a:custGeom>
                <a:avLst/>
                <a:gdLst>
                  <a:gd name="connsiteX0" fmla="*/ 0 w 1509712"/>
                  <a:gd name="connsiteY0" fmla="*/ 0 h 1300163"/>
                  <a:gd name="connsiteX1" fmla="*/ 104775 w 1509712"/>
                  <a:gd name="connsiteY1" fmla="*/ 228600 h 1300163"/>
                  <a:gd name="connsiteX2" fmla="*/ 261937 w 1509712"/>
                  <a:gd name="connsiteY2" fmla="*/ 328613 h 1300163"/>
                  <a:gd name="connsiteX3" fmla="*/ 452437 w 1509712"/>
                  <a:gd name="connsiteY3" fmla="*/ 433388 h 1300163"/>
                  <a:gd name="connsiteX4" fmla="*/ 633412 w 1509712"/>
                  <a:gd name="connsiteY4" fmla="*/ 552450 h 1300163"/>
                  <a:gd name="connsiteX5" fmla="*/ 685800 w 1509712"/>
                  <a:gd name="connsiteY5" fmla="*/ 823913 h 1300163"/>
                  <a:gd name="connsiteX6" fmla="*/ 890587 w 1509712"/>
                  <a:gd name="connsiteY6" fmla="*/ 971550 h 1300163"/>
                  <a:gd name="connsiteX7" fmla="*/ 1223962 w 1509712"/>
                  <a:gd name="connsiteY7" fmla="*/ 1004888 h 1300163"/>
                  <a:gd name="connsiteX8" fmla="*/ 1447800 w 1509712"/>
                  <a:gd name="connsiteY8" fmla="*/ 1119188 h 1300163"/>
                  <a:gd name="connsiteX9" fmla="*/ 1509712 w 1509712"/>
                  <a:gd name="connsiteY9" fmla="*/ 1300163 h 1300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09712" h="1300163">
                    <a:moveTo>
                      <a:pt x="0" y="0"/>
                    </a:moveTo>
                    <a:cubicBezTo>
                      <a:pt x="30559" y="86915"/>
                      <a:pt x="61119" y="173831"/>
                      <a:pt x="104775" y="228600"/>
                    </a:cubicBezTo>
                    <a:cubicBezTo>
                      <a:pt x="148431" y="283369"/>
                      <a:pt x="203993" y="294482"/>
                      <a:pt x="261937" y="328613"/>
                    </a:cubicBezTo>
                    <a:cubicBezTo>
                      <a:pt x="319881" y="362744"/>
                      <a:pt x="390525" y="396082"/>
                      <a:pt x="452437" y="433388"/>
                    </a:cubicBezTo>
                    <a:cubicBezTo>
                      <a:pt x="514349" y="470694"/>
                      <a:pt x="594518" y="487362"/>
                      <a:pt x="633412" y="552450"/>
                    </a:cubicBezTo>
                    <a:cubicBezTo>
                      <a:pt x="672306" y="617538"/>
                      <a:pt x="642937" y="754063"/>
                      <a:pt x="685800" y="823913"/>
                    </a:cubicBezTo>
                    <a:cubicBezTo>
                      <a:pt x="728663" y="893763"/>
                      <a:pt x="800893" y="941388"/>
                      <a:pt x="890587" y="971550"/>
                    </a:cubicBezTo>
                    <a:cubicBezTo>
                      <a:pt x="980281" y="1001712"/>
                      <a:pt x="1131093" y="980282"/>
                      <a:pt x="1223962" y="1004888"/>
                    </a:cubicBezTo>
                    <a:cubicBezTo>
                      <a:pt x="1316831" y="1029494"/>
                      <a:pt x="1400175" y="1069976"/>
                      <a:pt x="1447800" y="1119188"/>
                    </a:cubicBezTo>
                    <a:cubicBezTo>
                      <a:pt x="1495425" y="1168401"/>
                      <a:pt x="1502568" y="1234282"/>
                      <a:pt x="1509712" y="1300163"/>
                    </a:cubicBezTo>
                  </a:path>
                </a:pathLst>
              </a:cu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4" name="组合 3"/>
              <p:cNvGrpSpPr/>
              <p:nvPr/>
            </p:nvGrpSpPr>
            <p:grpSpPr>
              <a:xfrm>
                <a:off x="1218217" y="3387294"/>
                <a:ext cx="626350" cy="272760"/>
                <a:chOff x="1454950" y="3484163"/>
                <a:chExt cx="626350" cy="272760"/>
              </a:xfrm>
            </p:grpSpPr>
            <p:sp>
              <p:nvSpPr>
                <p:cNvPr id="29" name="AutoShape 134">
                  <a:extLst>
                    <a:ext uri="{FF2B5EF4-FFF2-40B4-BE49-F238E27FC236}">
                      <a16:creationId xmlns:a16="http://schemas.microsoft.com/office/drawing/2014/main" id="{1B533925-49F6-46CD-BCE7-E8CB595DACD0}"/>
                    </a:ext>
                  </a:extLst>
                </p:cNvPr>
                <p:cNvSpPr>
                  <a:spLocks noChangeArrowheads="1"/>
                </p:cNvSpPr>
                <p:nvPr/>
              </p:nvSpPr>
              <p:spPr bwMode="auto">
                <a:xfrm>
                  <a:off x="1454950" y="3484163"/>
                  <a:ext cx="615449" cy="272760"/>
                </a:xfrm>
                <a:prstGeom prst="wedgeRoundRectCallout">
                  <a:avLst>
                    <a:gd name="adj1" fmla="val 90829"/>
                    <a:gd name="adj2" fmla="val -23777"/>
                    <a:gd name="adj3" fmla="val 16667"/>
                  </a:avLst>
                </a:prstGeom>
                <a:solidFill>
                  <a:srgbClr val="FFFF99"/>
                </a:solidFill>
                <a:ln w="19050">
                  <a:solidFill>
                    <a:srgbClr val="FF00FF"/>
                  </a:solidFill>
                  <a:miter lim="800000"/>
                  <a:headEnd/>
                  <a:tailEnd/>
                </a:ln>
                <a:effectLst>
                  <a:outerShdw blurRad="50800" dist="38100" dir="5400000" algn="t"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r>
                    <a:rPr lang="en-US" altLang="zh-CN" sz="1600" dirty="0">
                      <a:solidFill>
                        <a:schemeClr val="tx1"/>
                      </a:solidFill>
                      <a:latin typeface="方正粗黑宋简体" pitchFamily="2" charset="-122"/>
                      <a:ea typeface="方正粗黑宋简体" pitchFamily="2" charset="-122"/>
                    </a:rPr>
                    <a:t>0.2V</a:t>
                  </a:r>
                </a:p>
              </p:txBody>
            </p:sp>
            <p:sp>
              <p:nvSpPr>
                <p:cNvPr id="30" name="AutoShape 134">
                  <a:extLst>
                    <a:ext uri="{FF2B5EF4-FFF2-40B4-BE49-F238E27FC236}">
                      <a16:creationId xmlns:a16="http://schemas.microsoft.com/office/drawing/2014/main" id="{1B533925-49F6-46CD-BCE7-E8CB595DACD0}"/>
                    </a:ext>
                  </a:extLst>
                </p:cNvPr>
                <p:cNvSpPr>
                  <a:spLocks noChangeArrowheads="1"/>
                </p:cNvSpPr>
                <p:nvPr/>
              </p:nvSpPr>
              <p:spPr bwMode="auto">
                <a:xfrm>
                  <a:off x="1465851" y="3484163"/>
                  <a:ext cx="615449" cy="272760"/>
                </a:xfrm>
                <a:prstGeom prst="wedgeRoundRectCallout">
                  <a:avLst>
                    <a:gd name="adj1" fmla="val 86839"/>
                    <a:gd name="adj2" fmla="val 72970"/>
                    <a:gd name="adj3" fmla="val 16667"/>
                  </a:avLst>
                </a:prstGeom>
                <a:solidFill>
                  <a:srgbClr val="FFFF99"/>
                </a:solidFill>
                <a:ln w="19050">
                  <a:solidFill>
                    <a:srgbClr val="FF00FF"/>
                  </a:solidFill>
                  <a:miter lim="800000"/>
                  <a:headEnd/>
                  <a:tailEnd/>
                </a:ln>
                <a:effectLst>
                  <a:outerShdw blurRad="50800" dist="38100" dir="5400000" algn="t"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r>
                    <a:rPr lang="en-US" altLang="zh-CN" sz="1600" dirty="0">
                      <a:solidFill>
                        <a:schemeClr val="tx1"/>
                      </a:solidFill>
                      <a:latin typeface="方正粗黑宋简体" pitchFamily="2" charset="-122"/>
                      <a:ea typeface="方正粗黑宋简体" pitchFamily="2" charset="-122"/>
                    </a:rPr>
                    <a:t>3.6V</a:t>
                  </a:r>
                </a:p>
              </p:txBody>
            </p:sp>
          </p:grpSp>
          <p:grpSp>
            <p:nvGrpSpPr>
              <p:cNvPr id="33" name="组合 32">
                <a:extLst>
                  <a:ext uri="{FF2B5EF4-FFF2-40B4-BE49-F238E27FC236}">
                    <a16:creationId xmlns:a16="http://schemas.microsoft.com/office/drawing/2014/main" id="{A1FDB4A9-9704-43E5-8730-6F1D9077B7F0}"/>
                  </a:ext>
                </a:extLst>
              </p:cNvPr>
              <p:cNvGrpSpPr/>
              <p:nvPr/>
            </p:nvGrpSpPr>
            <p:grpSpPr>
              <a:xfrm>
                <a:off x="4214865" y="2743512"/>
                <a:ext cx="723183" cy="932213"/>
                <a:chOff x="6457009" y="2083768"/>
                <a:chExt cx="723183" cy="932213"/>
              </a:xfrm>
            </p:grpSpPr>
            <p:sp>
              <p:nvSpPr>
                <p:cNvPr id="34" name="乘号 33">
                  <a:extLst>
                    <a:ext uri="{FF2B5EF4-FFF2-40B4-BE49-F238E27FC236}">
                      <a16:creationId xmlns:a16="http://schemas.microsoft.com/office/drawing/2014/main" id="{A05C01C2-7D26-4935-B43A-9F55A033F4A8}"/>
                    </a:ext>
                  </a:extLst>
                </p:cNvPr>
                <p:cNvSpPr/>
                <p:nvPr/>
              </p:nvSpPr>
              <p:spPr>
                <a:xfrm rot="10800000">
                  <a:off x="6457009" y="2083768"/>
                  <a:ext cx="486821" cy="490993"/>
                </a:xfrm>
                <a:prstGeom prst="mathMultiply">
                  <a:avLst>
                    <a:gd name="adj1" fmla="val 13414"/>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乘号 34">
                  <a:extLst>
                    <a:ext uri="{FF2B5EF4-FFF2-40B4-BE49-F238E27FC236}">
                      <a16:creationId xmlns:a16="http://schemas.microsoft.com/office/drawing/2014/main" id="{73745D45-DE4C-498A-AC66-37B8AA4B863C}"/>
                    </a:ext>
                  </a:extLst>
                </p:cNvPr>
                <p:cNvSpPr/>
                <p:nvPr/>
              </p:nvSpPr>
              <p:spPr>
                <a:xfrm rot="10800000">
                  <a:off x="6693371" y="2524988"/>
                  <a:ext cx="486821" cy="490993"/>
                </a:xfrm>
                <a:prstGeom prst="mathMultiply">
                  <a:avLst>
                    <a:gd name="adj1" fmla="val 13414"/>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AutoShape 134">
                <a:extLst>
                  <a:ext uri="{FF2B5EF4-FFF2-40B4-BE49-F238E27FC236}">
                    <a16:creationId xmlns:a16="http://schemas.microsoft.com/office/drawing/2014/main" id="{1B533925-49F6-46CD-BCE7-E8CB595DACD0}"/>
                  </a:ext>
                </a:extLst>
              </p:cNvPr>
              <p:cNvSpPr>
                <a:spLocks noChangeArrowheads="1"/>
              </p:cNvSpPr>
              <p:nvPr/>
            </p:nvSpPr>
            <p:spPr bwMode="auto">
              <a:xfrm>
                <a:off x="2178948" y="2713138"/>
                <a:ext cx="615449" cy="272760"/>
              </a:xfrm>
              <a:prstGeom prst="wedgeRoundRectCallout">
                <a:avLst>
                  <a:gd name="adj1" fmla="val 76869"/>
                  <a:gd name="adj2" fmla="val 59470"/>
                  <a:gd name="adj3" fmla="val 16667"/>
                </a:avLst>
              </a:prstGeom>
              <a:solidFill>
                <a:srgbClr val="FFFF99"/>
              </a:solidFill>
              <a:ln w="19050">
                <a:solidFill>
                  <a:srgbClr val="FF00FF"/>
                </a:solidFill>
                <a:miter lim="800000"/>
                <a:headEnd/>
                <a:tailEnd/>
              </a:ln>
              <a:effectLst>
                <a:outerShdw blurRad="50800" dist="38100" dir="5400000" algn="t"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r>
                  <a:rPr lang="en-US" altLang="zh-CN" sz="1600" dirty="0">
                    <a:solidFill>
                      <a:schemeClr val="tx1"/>
                    </a:solidFill>
                    <a:latin typeface="方正粗黑宋简体" pitchFamily="2" charset="-122"/>
                    <a:ea typeface="方正粗黑宋简体" pitchFamily="2" charset="-122"/>
                  </a:rPr>
                  <a:t>2.1V</a:t>
                </a:r>
              </a:p>
            </p:txBody>
          </p:sp>
        </p:grpSp>
        <p:sp>
          <p:nvSpPr>
            <p:cNvPr id="36" name="AutoShape 134">
              <a:extLst>
                <a:ext uri="{FF2B5EF4-FFF2-40B4-BE49-F238E27FC236}">
                  <a16:creationId xmlns:a16="http://schemas.microsoft.com/office/drawing/2014/main" id="{1B533925-49F6-46CD-BCE7-E8CB595DACD0}"/>
                </a:ext>
              </a:extLst>
            </p:cNvPr>
            <p:cNvSpPr>
              <a:spLocks noChangeArrowheads="1"/>
            </p:cNvSpPr>
            <p:nvPr/>
          </p:nvSpPr>
          <p:spPr bwMode="auto">
            <a:xfrm>
              <a:off x="5210621" y="3002204"/>
              <a:ext cx="818986" cy="482052"/>
            </a:xfrm>
            <a:prstGeom prst="wedgeRoundRectCallout">
              <a:avLst>
                <a:gd name="adj1" fmla="val -56500"/>
                <a:gd name="adj2" fmla="val 76277"/>
                <a:gd name="adj3" fmla="val 16667"/>
              </a:avLst>
            </a:prstGeom>
            <a:solidFill>
              <a:srgbClr val="FFFF99"/>
            </a:solidFill>
            <a:ln w="19050">
              <a:solidFill>
                <a:srgbClr val="FF00FF"/>
              </a:solidFill>
              <a:miter lim="800000"/>
              <a:headEnd/>
              <a:tailEnd/>
            </a:ln>
            <a:effectLst>
              <a:outerShdw blurRad="50800" dist="38100" dir="5400000" algn="t"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r>
                <a:rPr lang="zh-CN" altLang="en-US" sz="1600" dirty="0">
                  <a:solidFill>
                    <a:schemeClr val="tx1"/>
                  </a:solidFill>
                  <a:latin typeface="方正粗黑宋简体" pitchFamily="2" charset="-122"/>
                  <a:ea typeface="方正粗黑宋简体" pitchFamily="2" charset="-122"/>
                </a:rPr>
                <a:t>低电平</a:t>
              </a:r>
              <a:endParaRPr lang="en-US" altLang="zh-CN" sz="1600" dirty="0">
                <a:solidFill>
                  <a:schemeClr val="tx1"/>
                </a:solidFill>
                <a:latin typeface="方正粗黑宋简体" pitchFamily="2" charset="-122"/>
                <a:ea typeface="方正粗黑宋简体" pitchFamily="2"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slide(fromBottom)">
                                      <p:cBhvr>
                                        <p:cTn id="7" dur="1000"/>
                                        <p:tgtEl>
                                          <p:spTgt spid="56"/>
                                        </p:tgtEl>
                                      </p:cBhvr>
                                    </p:animEffect>
                                  </p:childTnLst>
                                </p:cTn>
                              </p:par>
                            </p:childTnLst>
                          </p:cTn>
                        </p:par>
                        <p:par>
                          <p:cTn id="8" fill="hold">
                            <p:stCondLst>
                              <p:cond delay="1000"/>
                            </p:stCondLst>
                            <p:childTnLst>
                              <p:par>
                                <p:cTn id="9" presetID="12" presetClass="entr" presetSubtype="4" fill="hold" nodeType="afterEffect">
                                  <p:stCondLst>
                                    <p:cond delay="0"/>
                                  </p:stCondLst>
                                  <p:childTnLst>
                                    <p:set>
                                      <p:cBhvr>
                                        <p:cTn id="10" dur="1" fill="hold">
                                          <p:stCondLst>
                                            <p:cond delay="0"/>
                                          </p:stCondLst>
                                        </p:cTn>
                                        <p:tgtEl>
                                          <p:spTgt spid="60"/>
                                        </p:tgtEl>
                                        <p:attrNameLst>
                                          <p:attrName>style.visibility</p:attrName>
                                        </p:attrNameLst>
                                      </p:cBhvr>
                                      <p:to>
                                        <p:strVal val="visible"/>
                                      </p:to>
                                    </p:set>
                                    <p:animEffect transition="in" filter="slide(fromBottom)">
                                      <p:cBhvr>
                                        <p:cTn id="11" dur="1000"/>
                                        <p:tgtEl>
                                          <p:spTgt spid="6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64"/>
                                        </p:tgtEl>
                                        <p:attrNameLst>
                                          <p:attrName>style.visibility</p:attrName>
                                        </p:attrNameLst>
                                      </p:cBhvr>
                                      <p:to>
                                        <p:strVal val="visible"/>
                                      </p:to>
                                    </p:set>
                                    <p:animEffect transition="in" filter="wipe(left)">
                                      <p:cBhvr>
                                        <p:cTn id="16" dur="1000"/>
                                        <p:tgtEl>
                                          <p:spTgt spid="64"/>
                                        </p:tgtEl>
                                      </p:cBhvr>
                                    </p:animEffect>
                                  </p:childTnLst>
                                </p:cTn>
                              </p:par>
                            </p:childTnLst>
                          </p:cTn>
                        </p:par>
                        <p:par>
                          <p:cTn id="17" fill="hold">
                            <p:stCondLst>
                              <p:cond delay="1000"/>
                            </p:stCondLst>
                            <p:childTnLst>
                              <p:par>
                                <p:cTn id="18" presetID="22" presetClass="entr" presetSubtype="2" fill="hold" grpId="0" nodeType="afterEffect">
                                  <p:stCondLst>
                                    <p:cond delay="0"/>
                                  </p:stCondLst>
                                  <p:childTnLst>
                                    <p:set>
                                      <p:cBhvr>
                                        <p:cTn id="19" dur="1" fill="hold">
                                          <p:stCondLst>
                                            <p:cond delay="0"/>
                                          </p:stCondLst>
                                        </p:cTn>
                                        <p:tgtEl>
                                          <p:spTgt spid="46"/>
                                        </p:tgtEl>
                                        <p:attrNameLst>
                                          <p:attrName>style.visibility</p:attrName>
                                        </p:attrNameLst>
                                      </p:cBhvr>
                                      <p:to>
                                        <p:strVal val="visible"/>
                                      </p:to>
                                    </p:set>
                                    <p:animEffect transition="in" filter="wipe(right)">
                                      <p:cBhvr>
                                        <p:cTn id="20" dur="1000"/>
                                        <p:tgtEl>
                                          <p:spTgt spid="4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xit" presetSubtype="4" fill="hold" nodeType="clickEffect">
                                  <p:stCondLst>
                                    <p:cond delay="0"/>
                                  </p:stCondLst>
                                  <p:childTnLst>
                                    <p:animEffect transition="out" filter="wipe(down)">
                                      <p:cBhvr>
                                        <p:cTn id="24" dur="500"/>
                                        <p:tgtEl>
                                          <p:spTgt spid="64"/>
                                        </p:tgtEl>
                                      </p:cBhvr>
                                    </p:animEffect>
                                    <p:set>
                                      <p:cBhvr>
                                        <p:cTn id="25" dur="1" fill="hold">
                                          <p:stCondLst>
                                            <p:cond delay="499"/>
                                          </p:stCondLst>
                                        </p:cTn>
                                        <p:tgtEl>
                                          <p:spTgt spid="64"/>
                                        </p:tgtEl>
                                        <p:attrNameLst>
                                          <p:attrName>style.visibility</p:attrName>
                                        </p:attrNameLst>
                                      </p:cBhvr>
                                      <p:to>
                                        <p:strVal val="hidden"/>
                                      </p:to>
                                    </p:set>
                                  </p:childTnLst>
                                </p:cTn>
                              </p:par>
                              <p:par>
                                <p:cTn id="26" presetID="22" presetClass="exit" presetSubtype="4" fill="hold" grpId="1" nodeType="withEffect">
                                  <p:stCondLst>
                                    <p:cond delay="0"/>
                                  </p:stCondLst>
                                  <p:childTnLst>
                                    <p:animEffect transition="out" filter="wipe(down)">
                                      <p:cBhvr>
                                        <p:cTn id="27" dur="500"/>
                                        <p:tgtEl>
                                          <p:spTgt spid="46"/>
                                        </p:tgtEl>
                                      </p:cBhvr>
                                    </p:animEffect>
                                    <p:set>
                                      <p:cBhvr>
                                        <p:cTn id="28" dur="1" fill="hold">
                                          <p:stCondLst>
                                            <p:cond delay="499"/>
                                          </p:stCondLst>
                                        </p:cTn>
                                        <p:tgtEl>
                                          <p:spTgt spid="46"/>
                                        </p:tgtEl>
                                        <p:attrNameLst>
                                          <p:attrName>style.visibility</p:attrName>
                                        </p:attrNameLst>
                                      </p:cBhvr>
                                      <p:to>
                                        <p:strVal val="hidden"/>
                                      </p:to>
                                    </p:set>
                                  </p:childTnLst>
                                </p:cTn>
                              </p:par>
                            </p:childTnLst>
                          </p:cTn>
                        </p:par>
                        <p:par>
                          <p:cTn id="29" fill="hold">
                            <p:stCondLst>
                              <p:cond delay="500"/>
                            </p:stCondLst>
                            <p:childTnLst>
                              <p:par>
                                <p:cTn id="30" presetID="22" presetClass="entr" presetSubtype="8" fill="hold" nodeType="after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3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xit" presetSubtype="8" fill="hold" nodeType="clickEffect">
                                  <p:stCondLst>
                                    <p:cond delay="0"/>
                                  </p:stCondLst>
                                  <p:childTnLst>
                                    <p:animEffect transition="out" filter="wipe(left)">
                                      <p:cBhvr>
                                        <p:cTn id="36" dur="500"/>
                                        <p:tgtEl>
                                          <p:spTgt spid="6"/>
                                        </p:tgtEl>
                                      </p:cBhvr>
                                    </p:animEffect>
                                    <p:set>
                                      <p:cBhvr>
                                        <p:cTn id="37" dur="1" fill="hold">
                                          <p:stCondLst>
                                            <p:cond delay="499"/>
                                          </p:stCondLst>
                                        </p:cTn>
                                        <p:tgtEl>
                                          <p:spTgt spid="6"/>
                                        </p:tgtEl>
                                        <p:attrNameLst>
                                          <p:attrName>style.visibility</p:attrName>
                                        </p:attrNameLst>
                                      </p:cBhvr>
                                      <p:to>
                                        <p:strVal val="hidden"/>
                                      </p:to>
                                    </p:set>
                                  </p:childTnLst>
                                </p:cTn>
                              </p:par>
                            </p:childTnLst>
                          </p:cTn>
                        </p:par>
                        <p:par>
                          <p:cTn id="38" fill="hold">
                            <p:stCondLst>
                              <p:cond delay="500"/>
                            </p:stCondLst>
                            <p:childTnLst>
                              <p:par>
                                <p:cTn id="39" presetID="22" presetClass="entr" presetSubtype="8" fill="hold" nodeType="after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wipe(left)">
                                      <p:cBhvr>
                                        <p:cTn id="41" dur="3000"/>
                                        <p:tgtEl>
                                          <p:spTgt spid="8"/>
                                        </p:tgtEl>
                                      </p:cBhvr>
                                    </p:animEffect>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1000"/>
                                        <p:tgtEl>
                                          <p:spTgt spid="3"/>
                                        </p:tgtEl>
                                      </p:cBhvr>
                                    </p:animEffect>
                                    <p:anim calcmode="lin" valueType="num">
                                      <p:cBhvr>
                                        <p:cTn id="47" dur="1000" fill="hold"/>
                                        <p:tgtEl>
                                          <p:spTgt spid="3"/>
                                        </p:tgtEl>
                                        <p:attrNameLst>
                                          <p:attrName>ppt_x</p:attrName>
                                        </p:attrNameLst>
                                      </p:cBhvr>
                                      <p:tavLst>
                                        <p:tav tm="0">
                                          <p:val>
                                            <p:strVal val="#ppt_x"/>
                                          </p:val>
                                        </p:tav>
                                        <p:tav tm="100000">
                                          <p:val>
                                            <p:strVal val="#ppt_x"/>
                                          </p:val>
                                        </p:tav>
                                      </p:tavLst>
                                    </p:anim>
                                    <p:anim calcmode="lin" valueType="num">
                                      <p:cBhvr>
                                        <p:cTn id="48"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46" grpId="0" animBg="1"/>
      <p:bldP spid="46"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p:cNvGrpSpPr/>
          <p:nvPr/>
        </p:nvGrpSpPr>
        <p:grpSpPr>
          <a:xfrm>
            <a:off x="282575" y="785614"/>
            <a:ext cx="3415778" cy="373579"/>
            <a:chOff x="307975" y="1517134"/>
            <a:chExt cx="3415778" cy="373579"/>
          </a:xfrm>
        </p:grpSpPr>
        <p:grpSp>
          <p:nvGrpSpPr>
            <p:cNvPr id="23" name="组合 32"/>
            <p:cNvGrpSpPr/>
            <p:nvPr/>
          </p:nvGrpSpPr>
          <p:grpSpPr>
            <a:xfrm>
              <a:off x="307975" y="1519116"/>
              <a:ext cx="568325" cy="371597"/>
              <a:chOff x="307975" y="1519116"/>
              <a:chExt cx="568325" cy="371597"/>
            </a:xfrm>
          </p:grpSpPr>
          <p:pic>
            <p:nvPicPr>
              <p:cNvPr id="25" name="Picture 4"/>
              <p:cNvPicPr>
                <a:picLocks noChangeAspect="1" noChangeArrowheads="1"/>
              </p:cNvPicPr>
              <p:nvPr/>
            </p:nvPicPr>
            <p:blipFill>
              <a:blip r:embed="rId3" cstate="print"/>
              <a:srcRect/>
              <a:stretch>
                <a:fillRect/>
              </a:stretch>
            </p:blipFill>
            <p:spPr bwMode="auto">
              <a:xfrm flipH="1">
                <a:off x="307975" y="1519116"/>
                <a:ext cx="568325" cy="371597"/>
              </a:xfrm>
              <a:prstGeom prst="rect">
                <a:avLst/>
              </a:prstGeom>
              <a:noFill/>
              <a:ln w="9525">
                <a:noFill/>
                <a:miter lim="800000"/>
                <a:headEnd/>
                <a:tailEnd/>
              </a:ln>
              <a:effectLst/>
            </p:spPr>
          </p:pic>
          <p:sp>
            <p:nvSpPr>
              <p:cNvPr id="26" name="TextBox 25"/>
              <p:cNvSpPr txBox="1"/>
              <p:nvPr/>
            </p:nvSpPr>
            <p:spPr>
              <a:xfrm flipH="1">
                <a:off x="443415" y="1555750"/>
                <a:ext cx="137858" cy="276999"/>
              </a:xfrm>
              <a:prstGeom prst="rect">
                <a:avLst/>
              </a:prstGeom>
              <a:noFill/>
            </p:spPr>
            <p:txBody>
              <a:bodyPr wrap="none" lIns="0" tIns="0" rIns="0" bIns="0" rtlCol="0">
                <a:spAutoFit/>
              </a:bodyPr>
              <a:lstStyle/>
              <a:p>
                <a:r>
                  <a:rPr lang="en-US" altLang="zh-CN" b="1" dirty="0">
                    <a:solidFill>
                      <a:srgbClr val="262626"/>
                    </a:solidFill>
                    <a:latin typeface="Segoe UI Black" pitchFamily="34" charset="0"/>
                    <a:ea typeface="Segoe UI Black" pitchFamily="34" charset="0"/>
                    <a:cs typeface="Times New Roman" pitchFamily="18" charset="0"/>
                  </a:rPr>
                  <a:t>3</a:t>
                </a:r>
                <a:endParaRPr lang="zh-CN" altLang="en-US" b="1" dirty="0">
                  <a:solidFill>
                    <a:srgbClr val="262626"/>
                  </a:solidFill>
                  <a:latin typeface="Segoe UI Black" pitchFamily="34" charset="0"/>
                  <a:cs typeface="Times New Roman" pitchFamily="18" charset="0"/>
                </a:endParaRPr>
              </a:p>
            </p:txBody>
          </p:sp>
        </p:grpSp>
        <p:sp>
          <p:nvSpPr>
            <p:cNvPr id="24" name="矩形 23"/>
            <p:cNvSpPr/>
            <p:nvPr/>
          </p:nvSpPr>
          <p:spPr>
            <a:xfrm>
              <a:off x="863675" y="1517134"/>
              <a:ext cx="2860078" cy="369332"/>
            </a:xfrm>
            <a:prstGeom prst="rect">
              <a:avLst/>
            </a:prstGeom>
          </p:spPr>
          <p:txBody>
            <a:bodyPr wrap="none">
              <a:spAutoFit/>
            </a:bodyPr>
            <a:lstStyle/>
            <a:p>
              <a:r>
                <a:rPr lang="zh-CN" altLang="en-US" b="1" dirty="0">
                  <a:solidFill>
                    <a:schemeClr val="accent1">
                      <a:lumMod val="50000"/>
                    </a:schemeClr>
                  </a:solidFill>
                  <a:latin typeface="黑体" pitchFamily="49" charset="-122"/>
                  <a:ea typeface="黑体" pitchFamily="49" charset="-122"/>
                  <a:cs typeface="Times New Roman" pitchFamily="18" charset="0"/>
                </a:rPr>
                <a:t>其他逻辑功能的</a:t>
              </a:r>
              <a:r>
                <a:rPr lang="en-US" altLang="zh-CN" b="1" dirty="0">
                  <a:solidFill>
                    <a:schemeClr val="accent1">
                      <a:lumMod val="50000"/>
                    </a:schemeClr>
                  </a:solidFill>
                  <a:latin typeface="黑体" pitchFamily="49" charset="-122"/>
                  <a:ea typeface="黑体" pitchFamily="49" charset="-122"/>
                  <a:cs typeface="Times New Roman" pitchFamily="18" charset="0"/>
                </a:rPr>
                <a:t>TTL</a:t>
              </a:r>
              <a:r>
                <a:rPr lang="zh-CN" altLang="en-US" b="1" dirty="0">
                  <a:solidFill>
                    <a:schemeClr val="accent1">
                      <a:lumMod val="50000"/>
                    </a:schemeClr>
                  </a:solidFill>
                  <a:latin typeface="黑体" pitchFamily="49" charset="-122"/>
                  <a:ea typeface="黑体" pitchFamily="49" charset="-122"/>
                  <a:cs typeface="Times New Roman" pitchFamily="18" charset="0"/>
                </a:rPr>
                <a:t>门电路</a:t>
              </a:r>
            </a:p>
          </p:txBody>
        </p:sp>
      </p:grpSp>
      <p:sp>
        <p:nvSpPr>
          <p:cNvPr id="27" name="Rectangle 6"/>
          <p:cNvSpPr>
            <a:spLocks noChangeArrowheads="1"/>
          </p:cNvSpPr>
          <p:nvPr/>
        </p:nvSpPr>
        <p:spPr bwMode="auto">
          <a:xfrm>
            <a:off x="358100" y="1291665"/>
            <a:ext cx="2572300" cy="338554"/>
          </a:xfrm>
          <a:prstGeom prst="rect">
            <a:avLst/>
          </a:prstGeom>
          <a:noFill/>
          <a:ln w="9525" algn="ctr">
            <a:noFill/>
            <a:miter lim="800000"/>
            <a:headEnd/>
            <a:tailEnd/>
          </a:ln>
        </p:spPr>
        <p:txBody>
          <a:bodyPr wrap="square">
            <a:spAutoFit/>
          </a:bodyPr>
          <a:lstStyle/>
          <a:p>
            <a:r>
              <a:rPr lang="zh-CN" altLang="en-US" sz="1600" b="1" dirty="0">
                <a:solidFill>
                  <a:srgbClr val="6600FF"/>
                </a:solidFill>
                <a:latin typeface="方正粗黑宋简体" pitchFamily="2" charset="-122"/>
                <a:ea typeface="方正粗黑宋简体" pitchFamily="2" charset="-122"/>
              </a:rPr>
              <a:t>（</a:t>
            </a:r>
            <a:r>
              <a:rPr lang="en-US" altLang="zh-CN" sz="1600" b="1" dirty="0">
                <a:solidFill>
                  <a:srgbClr val="6600FF"/>
                </a:solidFill>
                <a:latin typeface="方正粗黑宋简体" pitchFamily="2" charset="-122"/>
                <a:ea typeface="方正粗黑宋简体" pitchFamily="2" charset="-122"/>
              </a:rPr>
              <a:t>2</a:t>
            </a:r>
            <a:r>
              <a:rPr lang="zh-CN" altLang="en-US" sz="1600" b="1" dirty="0">
                <a:solidFill>
                  <a:srgbClr val="6600FF"/>
                </a:solidFill>
                <a:latin typeface="方正粗黑宋简体" pitchFamily="2" charset="-122"/>
                <a:ea typeface="方正粗黑宋简体" pitchFamily="2" charset="-122"/>
              </a:rPr>
              <a:t>）</a:t>
            </a:r>
            <a:r>
              <a:rPr lang="en-US" altLang="zh-CN" sz="1600" b="1" dirty="0">
                <a:solidFill>
                  <a:srgbClr val="6600FF"/>
                </a:solidFill>
                <a:latin typeface="方正粗黑宋简体" pitchFamily="2" charset="-122"/>
                <a:ea typeface="方正粗黑宋简体" pitchFamily="2" charset="-122"/>
              </a:rPr>
              <a:t>TTL</a:t>
            </a:r>
            <a:r>
              <a:rPr lang="zh-CN" altLang="en-US" sz="1600" b="1" dirty="0">
                <a:solidFill>
                  <a:srgbClr val="6600FF"/>
                </a:solidFill>
                <a:latin typeface="方正粗黑宋简体" pitchFamily="2" charset="-122"/>
                <a:ea typeface="方正粗黑宋简体" pitchFamily="2" charset="-122"/>
              </a:rPr>
              <a:t>或非门电路 </a:t>
            </a:r>
          </a:p>
        </p:txBody>
      </p:sp>
      <p:grpSp>
        <p:nvGrpSpPr>
          <p:cNvPr id="29" name="组合 28"/>
          <p:cNvGrpSpPr/>
          <p:nvPr/>
        </p:nvGrpSpPr>
        <p:grpSpPr>
          <a:xfrm>
            <a:off x="4656773" y="746759"/>
            <a:ext cx="4190047" cy="3048954"/>
            <a:chOff x="4755833" y="723899"/>
            <a:chExt cx="4190047" cy="3048954"/>
          </a:xfrm>
        </p:grpSpPr>
        <p:pic>
          <p:nvPicPr>
            <p:cNvPr id="65545" name="Picture 9"/>
            <p:cNvPicPr>
              <a:picLocks noChangeAspect="1" noChangeArrowheads="1"/>
            </p:cNvPicPr>
            <p:nvPr/>
          </p:nvPicPr>
          <p:blipFill>
            <a:blip r:embed="rId4" cstate="print"/>
            <a:srcRect/>
            <a:stretch>
              <a:fillRect/>
            </a:stretch>
          </p:blipFill>
          <p:spPr bwMode="auto">
            <a:xfrm>
              <a:off x="4755833" y="768791"/>
              <a:ext cx="4190047" cy="3004062"/>
            </a:xfrm>
            <a:prstGeom prst="rect">
              <a:avLst/>
            </a:prstGeom>
            <a:noFill/>
            <a:ln w="9525">
              <a:noFill/>
              <a:miter lim="800000"/>
              <a:headEnd/>
              <a:tailEnd/>
            </a:ln>
            <a:effectLst/>
          </p:spPr>
        </p:pic>
        <p:sp>
          <p:nvSpPr>
            <p:cNvPr id="28" name="圆角矩形 27"/>
            <p:cNvSpPr/>
            <p:nvPr/>
          </p:nvSpPr>
          <p:spPr>
            <a:xfrm>
              <a:off x="4777740" y="723899"/>
              <a:ext cx="4046220" cy="3040381"/>
            </a:xfrm>
            <a:prstGeom prst="roundRect">
              <a:avLst>
                <a:gd name="adj" fmla="val 7926"/>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0" name="Rectangle 6"/>
          <p:cNvSpPr>
            <a:spLocks noChangeArrowheads="1"/>
          </p:cNvSpPr>
          <p:nvPr/>
        </p:nvSpPr>
        <p:spPr bwMode="auto">
          <a:xfrm>
            <a:off x="483870" y="1693928"/>
            <a:ext cx="2832827" cy="424732"/>
          </a:xfrm>
          <a:prstGeom prst="rect">
            <a:avLst/>
          </a:prstGeom>
          <a:solidFill>
            <a:schemeClr val="bg1"/>
          </a:solidFill>
          <a:ln w="9525">
            <a:noFill/>
            <a:miter lim="800000"/>
            <a:headEnd/>
            <a:tailEnd/>
          </a:ln>
        </p:spPr>
        <p:txBody>
          <a:bodyPr wrap="none" anchor="ctr">
            <a:spAutoFit/>
          </a:bodyPr>
          <a:lstStyle/>
          <a:p>
            <a:pPr>
              <a:lnSpc>
                <a:spcPct val="135000"/>
              </a:lnSpc>
              <a:buFont typeface="Wingdings" pitchFamily="2" charset="2"/>
              <a:buChar char="Ø"/>
            </a:pPr>
            <a:r>
              <a:rPr lang="zh-CN" altLang="en-US" sz="1600" b="1" dirty="0">
                <a:solidFill>
                  <a:srgbClr val="6600FF"/>
                </a:solidFill>
                <a:latin typeface="方正粗黑宋简体" pitchFamily="2" charset="-122"/>
                <a:ea typeface="方正粗黑宋简体" pitchFamily="2" charset="-122"/>
              </a:rPr>
              <a:t> 若</a:t>
            </a:r>
            <a:r>
              <a:rPr lang="en-US" altLang="zh-CN" sz="1600" b="1" dirty="0">
                <a:solidFill>
                  <a:srgbClr val="6600FF"/>
                </a:solidFill>
                <a:latin typeface="方正粗黑宋简体" pitchFamily="2" charset="-122"/>
                <a:ea typeface="方正粗黑宋简体" pitchFamily="2" charset="-122"/>
              </a:rPr>
              <a:t>A</a:t>
            </a:r>
            <a:r>
              <a:rPr lang="zh-CN" altLang="en-US" sz="1600" b="1" dirty="0">
                <a:solidFill>
                  <a:srgbClr val="6600FF"/>
                </a:solidFill>
                <a:latin typeface="方正粗黑宋简体" pitchFamily="2" charset="-122"/>
                <a:ea typeface="方正粗黑宋简体" pitchFamily="2" charset="-122"/>
              </a:rPr>
              <a:t>、</a:t>
            </a:r>
            <a:r>
              <a:rPr lang="en-US" altLang="zh-CN" sz="1600" b="1" dirty="0">
                <a:solidFill>
                  <a:srgbClr val="6600FF"/>
                </a:solidFill>
                <a:latin typeface="方正粗黑宋简体" pitchFamily="2" charset="-122"/>
                <a:ea typeface="方正粗黑宋简体" pitchFamily="2" charset="-122"/>
              </a:rPr>
              <a:t>B</a:t>
            </a:r>
            <a:r>
              <a:rPr lang="zh-CN" altLang="en-US" sz="1600" b="1" dirty="0">
                <a:solidFill>
                  <a:srgbClr val="6600FF"/>
                </a:solidFill>
                <a:latin typeface="方正粗黑宋简体" pitchFamily="2" charset="-122"/>
                <a:ea typeface="方正粗黑宋简体" pitchFamily="2" charset="-122"/>
              </a:rPr>
              <a:t>中有一个为高电平</a:t>
            </a:r>
            <a:endParaRPr lang="en-US" altLang="zh-CN" sz="1600" b="1" dirty="0">
              <a:solidFill>
                <a:srgbClr val="6600FF"/>
              </a:solidFill>
              <a:latin typeface="方正粗黑宋简体" pitchFamily="2" charset="-122"/>
              <a:ea typeface="方正粗黑宋简体" pitchFamily="2" charset="-122"/>
            </a:endParaRPr>
          </a:p>
        </p:txBody>
      </p:sp>
      <p:sp>
        <p:nvSpPr>
          <p:cNvPr id="31" name="Rectangle 7"/>
          <p:cNvSpPr>
            <a:spLocks noChangeArrowheads="1"/>
          </p:cNvSpPr>
          <p:nvPr/>
        </p:nvSpPr>
        <p:spPr bwMode="auto">
          <a:xfrm>
            <a:off x="521294" y="2833994"/>
            <a:ext cx="2252980" cy="338554"/>
          </a:xfrm>
          <a:prstGeom prst="rect">
            <a:avLst/>
          </a:prstGeom>
          <a:solidFill>
            <a:schemeClr val="bg1"/>
          </a:solidFill>
          <a:ln w="9525">
            <a:noFill/>
            <a:miter lim="800000"/>
            <a:headEnd/>
            <a:tailEnd/>
          </a:ln>
        </p:spPr>
        <p:txBody>
          <a:bodyPr wrap="square" anchor="ctr">
            <a:spAutoFit/>
          </a:bodyPr>
          <a:lstStyle/>
          <a:p>
            <a:pPr>
              <a:buFont typeface="Wingdings" pitchFamily="2" charset="2"/>
              <a:buChar char="Ø"/>
            </a:pPr>
            <a:r>
              <a:rPr lang="zh-CN" altLang="en-US" sz="1600" b="1" dirty="0">
                <a:solidFill>
                  <a:srgbClr val="6600FF"/>
                </a:solidFill>
                <a:latin typeface="方正粗黑宋简体" pitchFamily="2" charset="-122"/>
                <a:ea typeface="方正粗黑宋简体" pitchFamily="2" charset="-122"/>
              </a:rPr>
              <a:t> 若</a:t>
            </a:r>
            <a:r>
              <a:rPr lang="en-US" altLang="zh-CN" sz="1600" b="1" dirty="0">
                <a:solidFill>
                  <a:srgbClr val="6600FF"/>
                </a:solidFill>
                <a:latin typeface="方正粗黑宋简体" pitchFamily="2" charset="-122"/>
                <a:ea typeface="方正粗黑宋简体" pitchFamily="2" charset="-122"/>
              </a:rPr>
              <a:t>A</a:t>
            </a:r>
            <a:r>
              <a:rPr lang="zh-CN" altLang="en-US" sz="1600" b="1" dirty="0">
                <a:solidFill>
                  <a:srgbClr val="6600FF"/>
                </a:solidFill>
                <a:latin typeface="方正粗黑宋简体" pitchFamily="2" charset="-122"/>
                <a:ea typeface="方正粗黑宋简体" pitchFamily="2" charset="-122"/>
              </a:rPr>
              <a:t>、</a:t>
            </a:r>
            <a:r>
              <a:rPr lang="en-US" altLang="zh-CN" sz="1600" b="1" dirty="0">
                <a:solidFill>
                  <a:srgbClr val="6600FF"/>
                </a:solidFill>
                <a:latin typeface="方正粗黑宋简体" pitchFamily="2" charset="-122"/>
                <a:ea typeface="方正粗黑宋简体" pitchFamily="2" charset="-122"/>
              </a:rPr>
              <a:t>B</a:t>
            </a:r>
            <a:r>
              <a:rPr lang="zh-CN" altLang="en-US" sz="1600" b="1" dirty="0">
                <a:solidFill>
                  <a:srgbClr val="6600FF"/>
                </a:solidFill>
                <a:latin typeface="方正粗黑宋简体" pitchFamily="2" charset="-122"/>
                <a:ea typeface="方正粗黑宋简体" pitchFamily="2" charset="-122"/>
              </a:rPr>
              <a:t>均为低电平</a:t>
            </a:r>
            <a:endParaRPr lang="en-US" altLang="zh-CN" sz="1600" b="1" dirty="0">
              <a:solidFill>
                <a:srgbClr val="6600FF"/>
              </a:solidFill>
              <a:latin typeface="方正粗黑宋简体" pitchFamily="2" charset="-122"/>
              <a:ea typeface="方正粗黑宋简体" pitchFamily="2" charset="-122"/>
            </a:endParaRPr>
          </a:p>
        </p:txBody>
      </p:sp>
      <p:sp>
        <p:nvSpPr>
          <p:cNvPr id="32" name="Rectangle 8"/>
          <p:cNvSpPr>
            <a:spLocks noChangeArrowheads="1"/>
          </p:cNvSpPr>
          <p:nvPr/>
        </p:nvSpPr>
        <p:spPr bwMode="auto">
          <a:xfrm>
            <a:off x="325714" y="3169909"/>
            <a:ext cx="3812444" cy="757130"/>
          </a:xfrm>
          <a:prstGeom prst="rect">
            <a:avLst/>
          </a:prstGeom>
          <a:noFill/>
          <a:ln w="9525">
            <a:noFill/>
            <a:miter lim="800000"/>
            <a:headEnd/>
            <a:tailEnd/>
          </a:ln>
        </p:spPr>
        <p:txBody>
          <a:bodyPr wrap="square" anchor="ctr">
            <a:spAutoFit/>
          </a:bodyPr>
          <a:lstStyle/>
          <a:p>
            <a:pPr indent="449263">
              <a:lnSpc>
                <a:spcPct val="135000"/>
              </a:lnSpc>
            </a:pPr>
            <a:r>
              <a:rPr kumimoji="1" lang="en-US" altLang="zh-CN" sz="1600" b="1" i="1" dirty="0">
                <a:solidFill>
                  <a:srgbClr val="080808"/>
                </a:solidFill>
                <a:latin typeface="Times New Roman" pitchFamily="18" charset="0"/>
                <a:ea typeface="黑体" pitchFamily="49" charset="-122"/>
                <a:cs typeface="Times New Roman" pitchFamily="18" charset="0"/>
              </a:rPr>
              <a:t>T</a:t>
            </a:r>
            <a:r>
              <a:rPr kumimoji="1" lang="en-US" altLang="zh-CN" sz="1600" b="1" baseline="-30000" dirty="0">
                <a:solidFill>
                  <a:srgbClr val="080808"/>
                </a:solidFill>
                <a:latin typeface="Times New Roman" pitchFamily="18" charset="0"/>
                <a:ea typeface="黑体" pitchFamily="49" charset="-122"/>
                <a:cs typeface="Times New Roman" pitchFamily="18" charset="0"/>
              </a:rPr>
              <a:t>2A</a:t>
            </a:r>
            <a:r>
              <a:rPr kumimoji="1" lang="zh-CN" altLang="en-US" sz="1600" b="1" dirty="0">
                <a:solidFill>
                  <a:srgbClr val="080808"/>
                </a:solidFill>
                <a:latin typeface="Times New Roman" pitchFamily="18" charset="0"/>
                <a:ea typeface="黑体" pitchFamily="49" charset="-122"/>
                <a:cs typeface="Times New Roman" pitchFamily="18" charset="0"/>
              </a:rPr>
              <a:t>和</a:t>
            </a:r>
            <a:r>
              <a:rPr kumimoji="1" lang="en-US" altLang="zh-CN" sz="1600" b="1" i="1" dirty="0">
                <a:solidFill>
                  <a:srgbClr val="080808"/>
                </a:solidFill>
                <a:latin typeface="Times New Roman" pitchFamily="18" charset="0"/>
                <a:ea typeface="黑体" pitchFamily="49" charset="-122"/>
                <a:cs typeface="Times New Roman" pitchFamily="18" charset="0"/>
              </a:rPr>
              <a:t>T</a:t>
            </a:r>
            <a:r>
              <a:rPr kumimoji="1" lang="en-US" altLang="zh-CN" sz="1600" b="1" baseline="-30000" dirty="0">
                <a:solidFill>
                  <a:srgbClr val="080808"/>
                </a:solidFill>
                <a:latin typeface="Times New Roman" pitchFamily="18" charset="0"/>
                <a:ea typeface="黑体" pitchFamily="49" charset="-122"/>
                <a:cs typeface="Times New Roman" pitchFamily="18" charset="0"/>
              </a:rPr>
              <a:t>2B</a:t>
            </a:r>
            <a:r>
              <a:rPr kumimoji="1" lang="zh-CN" altLang="en-US" sz="1600" b="1" dirty="0">
                <a:solidFill>
                  <a:srgbClr val="080808"/>
                </a:solidFill>
                <a:latin typeface="Times New Roman" pitchFamily="18" charset="0"/>
                <a:ea typeface="黑体" pitchFamily="49" charset="-122"/>
                <a:cs typeface="Times New Roman" pitchFamily="18" charset="0"/>
              </a:rPr>
              <a:t>均将截止，</a:t>
            </a:r>
            <a:r>
              <a:rPr kumimoji="1" lang="en-US" altLang="zh-CN" sz="1600" b="1" i="1" dirty="0">
                <a:solidFill>
                  <a:srgbClr val="080808"/>
                </a:solidFill>
                <a:latin typeface="Times New Roman" pitchFamily="18" charset="0"/>
                <a:ea typeface="黑体" pitchFamily="49" charset="-122"/>
                <a:cs typeface="Times New Roman" pitchFamily="18" charset="0"/>
              </a:rPr>
              <a:t>T</a:t>
            </a:r>
            <a:r>
              <a:rPr kumimoji="1" lang="en-US" altLang="zh-CN" sz="1600" b="1" baseline="-30000" dirty="0">
                <a:solidFill>
                  <a:srgbClr val="080808"/>
                </a:solidFill>
                <a:latin typeface="Times New Roman" pitchFamily="18" charset="0"/>
                <a:ea typeface="黑体" pitchFamily="49" charset="-122"/>
                <a:cs typeface="Times New Roman" pitchFamily="18" charset="0"/>
              </a:rPr>
              <a:t>3</a:t>
            </a:r>
            <a:r>
              <a:rPr kumimoji="1" lang="zh-CN" altLang="en-US" sz="1600" b="1" dirty="0">
                <a:solidFill>
                  <a:srgbClr val="080808"/>
                </a:solidFill>
                <a:latin typeface="Times New Roman" pitchFamily="18" charset="0"/>
                <a:ea typeface="黑体" pitchFamily="49" charset="-122"/>
                <a:cs typeface="Times New Roman" pitchFamily="18" charset="0"/>
              </a:rPr>
              <a:t>截止。 </a:t>
            </a:r>
            <a:r>
              <a:rPr kumimoji="1" lang="en-US" altLang="zh-CN" sz="1600" b="1" i="1" dirty="0">
                <a:solidFill>
                  <a:srgbClr val="080808"/>
                </a:solidFill>
                <a:latin typeface="Times New Roman" pitchFamily="18" charset="0"/>
                <a:ea typeface="黑体" pitchFamily="49" charset="-122"/>
                <a:cs typeface="Times New Roman" pitchFamily="18" charset="0"/>
              </a:rPr>
              <a:t>T</a:t>
            </a:r>
            <a:r>
              <a:rPr kumimoji="1" lang="en-US" altLang="zh-CN" sz="1600" b="1" baseline="-30000" dirty="0">
                <a:solidFill>
                  <a:srgbClr val="080808"/>
                </a:solidFill>
                <a:latin typeface="Times New Roman" pitchFamily="18" charset="0"/>
                <a:ea typeface="黑体" pitchFamily="49" charset="-122"/>
                <a:cs typeface="Times New Roman" pitchFamily="18" charset="0"/>
              </a:rPr>
              <a:t>4</a:t>
            </a:r>
            <a:r>
              <a:rPr kumimoji="1" lang="zh-CN" altLang="en-US" sz="1600" b="1" dirty="0">
                <a:solidFill>
                  <a:srgbClr val="080808"/>
                </a:solidFill>
                <a:latin typeface="Times New Roman" pitchFamily="18" charset="0"/>
                <a:ea typeface="黑体" pitchFamily="49" charset="-122"/>
                <a:cs typeface="Times New Roman" pitchFamily="18" charset="0"/>
              </a:rPr>
              <a:t>和</a:t>
            </a:r>
            <a:r>
              <a:rPr kumimoji="1" lang="en-US" altLang="zh-CN" sz="1600" b="1" i="1" dirty="0">
                <a:solidFill>
                  <a:srgbClr val="080808"/>
                </a:solidFill>
                <a:latin typeface="Times New Roman" pitchFamily="18" charset="0"/>
                <a:ea typeface="黑体" pitchFamily="49" charset="-122"/>
                <a:cs typeface="Times New Roman" pitchFamily="18" charset="0"/>
              </a:rPr>
              <a:t>D</a:t>
            </a:r>
            <a:r>
              <a:rPr kumimoji="1" lang="zh-CN" altLang="en-US" sz="1600" b="1" dirty="0">
                <a:solidFill>
                  <a:srgbClr val="080808"/>
                </a:solidFill>
                <a:latin typeface="Times New Roman" pitchFamily="18" charset="0"/>
                <a:ea typeface="黑体" pitchFamily="49" charset="-122"/>
                <a:cs typeface="Times New Roman" pitchFamily="18" charset="0"/>
              </a:rPr>
              <a:t>饱和，</a:t>
            </a:r>
            <a:r>
              <a:rPr lang="zh-CN" altLang="en-US" sz="1600" b="1" dirty="0">
                <a:latin typeface="Times New Roman" pitchFamily="18" charset="0"/>
                <a:ea typeface="黑体" pitchFamily="49" charset="-122"/>
                <a:cs typeface="Times New Roman" pitchFamily="18" charset="0"/>
              </a:rPr>
              <a:t>输出</a:t>
            </a:r>
            <a:r>
              <a:rPr kumimoji="1" lang="zh-CN" altLang="en-US" sz="1600" b="1" dirty="0">
                <a:solidFill>
                  <a:srgbClr val="080808"/>
                </a:solidFill>
                <a:latin typeface="Times New Roman" pitchFamily="18" charset="0"/>
                <a:ea typeface="黑体" pitchFamily="49" charset="-122"/>
                <a:cs typeface="Times New Roman" pitchFamily="18" charset="0"/>
              </a:rPr>
              <a:t>为高电平。</a:t>
            </a:r>
          </a:p>
        </p:txBody>
      </p:sp>
      <p:sp>
        <p:nvSpPr>
          <p:cNvPr id="33" name="Rectangle 9"/>
          <p:cNvSpPr>
            <a:spLocks noChangeArrowheads="1"/>
          </p:cNvSpPr>
          <p:nvPr/>
        </p:nvSpPr>
        <p:spPr bwMode="auto">
          <a:xfrm>
            <a:off x="349250" y="2056196"/>
            <a:ext cx="3540577" cy="757130"/>
          </a:xfrm>
          <a:prstGeom prst="rect">
            <a:avLst/>
          </a:prstGeom>
          <a:noFill/>
          <a:ln w="9525">
            <a:noFill/>
            <a:miter lim="800000"/>
            <a:headEnd/>
            <a:tailEnd/>
          </a:ln>
        </p:spPr>
        <p:txBody>
          <a:bodyPr wrap="square" anchor="ctr">
            <a:spAutoFit/>
          </a:bodyPr>
          <a:lstStyle/>
          <a:p>
            <a:pPr indent="358775">
              <a:lnSpc>
                <a:spcPct val="135000"/>
              </a:lnSpc>
            </a:pPr>
            <a:r>
              <a:rPr kumimoji="1" lang="en-US" altLang="zh-CN" sz="1600" b="1" i="1" dirty="0">
                <a:solidFill>
                  <a:srgbClr val="080808"/>
                </a:solidFill>
                <a:latin typeface="Times New Roman" pitchFamily="18" charset="0"/>
                <a:ea typeface="黑体" pitchFamily="49" charset="-122"/>
                <a:cs typeface="Times New Roman" pitchFamily="18" charset="0"/>
              </a:rPr>
              <a:t>T</a:t>
            </a:r>
            <a:r>
              <a:rPr kumimoji="1" lang="en-US" altLang="zh-CN" sz="1600" b="1" baseline="-30000" dirty="0">
                <a:solidFill>
                  <a:srgbClr val="080808"/>
                </a:solidFill>
                <a:latin typeface="Times New Roman" pitchFamily="18" charset="0"/>
                <a:ea typeface="黑体" pitchFamily="49" charset="-122"/>
                <a:cs typeface="Times New Roman" pitchFamily="18" charset="0"/>
              </a:rPr>
              <a:t>2A</a:t>
            </a:r>
            <a:r>
              <a:rPr kumimoji="1" lang="zh-CN" altLang="en-US" sz="1600" b="1" dirty="0">
                <a:solidFill>
                  <a:srgbClr val="080808"/>
                </a:solidFill>
                <a:latin typeface="Times New Roman" pitchFamily="18" charset="0"/>
                <a:ea typeface="黑体" pitchFamily="49" charset="-122"/>
                <a:cs typeface="Times New Roman" pitchFamily="18" charset="0"/>
              </a:rPr>
              <a:t>或</a:t>
            </a:r>
            <a:r>
              <a:rPr kumimoji="1" lang="en-US" altLang="zh-CN" sz="1600" b="1" i="1" dirty="0">
                <a:solidFill>
                  <a:srgbClr val="080808"/>
                </a:solidFill>
                <a:latin typeface="Times New Roman" pitchFamily="18" charset="0"/>
                <a:ea typeface="黑体" pitchFamily="49" charset="-122"/>
                <a:cs typeface="Times New Roman" pitchFamily="18" charset="0"/>
              </a:rPr>
              <a:t>T</a:t>
            </a:r>
            <a:r>
              <a:rPr kumimoji="1" lang="en-US" altLang="zh-CN" sz="1600" b="1" baseline="-30000" dirty="0">
                <a:solidFill>
                  <a:srgbClr val="080808"/>
                </a:solidFill>
                <a:latin typeface="Times New Roman" pitchFamily="18" charset="0"/>
                <a:ea typeface="黑体" pitchFamily="49" charset="-122"/>
                <a:cs typeface="Times New Roman" pitchFamily="18" charset="0"/>
              </a:rPr>
              <a:t>2B</a:t>
            </a:r>
            <a:r>
              <a:rPr kumimoji="1" lang="zh-CN" altLang="en-US" sz="1600" b="1" dirty="0">
                <a:solidFill>
                  <a:srgbClr val="080808"/>
                </a:solidFill>
                <a:latin typeface="Times New Roman" pitchFamily="18" charset="0"/>
                <a:ea typeface="黑体" pitchFamily="49" charset="-122"/>
                <a:cs typeface="Times New Roman" pitchFamily="18" charset="0"/>
              </a:rPr>
              <a:t>将饱和，</a:t>
            </a:r>
            <a:r>
              <a:rPr kumimoji="1" lang="en-US" altLang="zh-CN" sz="1600" b="1" i="1" dirty="0">
                <a:solidFill>
                  <a:srgbClr val="080808"/>
                </a:solidFill>
                <a:latin typeface="Times New Roman" pitchFamily="18" charset="0"/>
                <a:ea typeface="黑体" pitchFamily="49" charset="-122"/>
                <a:cs typeface="Times New Roman" pitchFamily="18" charset="0"/>
              </a:rPr>
              <a:t>T</a:t>
            </a:r>
            <a:r>
              <a:rPr kumimoji="1" lang="en-US" altLang="zh-CN" sz="1600" b="1" baseline="-30000" dirty="0">
                <a:solidFill>
                  <a:srgbClr val="080808"/>
                </a:solidFill>
                <a:latin typeface="Times New Roman" pitchFamily="18" charset="0"/>
                <a:ea typeface="黑体" pitchFamily="49" charset="-122"/>
                <a:cs typeface="Times New Roman" pitchFamily="18" charset="0"/>
              </a:rPr>
              <a:t>3</a:t>
            </a:r>
            <a:r>
              <a:rPr kumimoji="1" lang="zh-CN" altLang="en-US" sz="1600" b="1" dirty="0">
                <a:solidFill>
                  <a:srgbClr val="080808"/>
                </a:solidFill>
                <a:latin typeface="Times New Roman" pitchFamily="18" charset="0"/>
                <a:ea typeface="黑体" pitchFamily="49" charset="-122"/>
                <a:cs typeface="Times New Roman" pitchFamily="18" charset="0"/>
              </a:rPr>
              <a:t>饱和，</a:t>
            </a:r>
            <a:r>
              <a:rPr kumimoji="1" lang="en-US" altLang="zh-CN" sz="1600" b="1" i="1" dirty="0">
                <a:solidFill>
                  <a:srgbClr val="080808"/>
                </a:solidFill>
                <a:latin typeface="Times New Roman" pitchFamily="18" charset="0"/>
                <a:ea typeface="黑体" pitchFamily="49" charset="-122"/>
                <a:cs typeface="Times New Roman" pitchFamily="18" charset="0"/>
              </a:rPr>
              <a:t>T</a:t>
            </a:r>
            <a:r>
              <a:rPr kumimoji="1" lang="en-US" altLang="zh-CN" sz="1600" b="1" baseline="-30000" dirty="0">
                <a:solidFill>
                  <a:srgbClr val="080808"/>
                </a:solidFill>
                <a:latin typeface="Times New Roman" pitchFamily="18" charset="0"/>
                <a:ea typeface="黑体" pitchFamily="49" charset="-122"/>
                <a:cs typeface="Times New Roman" pitchFamily="18" charset="0"/>
              </a:rPr>
              <a:t>4</a:t>
            </a:r>
            <a:r>
              <a:rPr kumimoji="1" lang="zh-CN" altLang="en-US" sz="1600" b="1" dirty="0">
                <a:solidFill>
                  <a:srgbClr val="080808"/>
                </a:solidFill>
                <a:latin typeface="Times New Roman" pitchFamily="18" charset="0"/>
                <a:ea typeface="黑体" pitchFamily="49" charset="-122"/>
                <a:cs typeface="Times New Roman" pitchFamily="18" charset="0"/>
              </a:rPr>
              <a:t>和</a:t>
            </a:r>
            <a:r>
              <a:rPr kumimoji="1" lang="en-US" altLang="zh-CN" sz="1600" b="1" i="1" dirty="0">
                <a:solidFill>
                  <a:srgbClr val="080808"/>
                </a:solidFill>
                <a:latin typeface="Times New Roman" pitchFamily="18" charset="0"/>
                <a:ea typeface="黑体" pitchFamily="49" charset="-122"/>
                <a:cs typeface="Times New Roman" pitchFamily="18" charset="0"/>
              </a:rPr>
              <a:t>D</a:t>
            </a:r>
            <a:r>
              <a:rPr kumimoji="1" lang="zh-CN" altLang="en-US" sz="1600" b="1" dirty="0">
                <a:solidFill>
                  <a:srgbClr val="080808"/>
                </a:solidFill>
                <a:latin typeface="Times New Roman" pitchFamily="18" charset="0"/>
                <a:ea typeface="黑体" pitchFamily="49" charset="-122"/>
                <a:cs typeface="Times New Roman" pitchFamily="18" charset="0"/>
              </a:rPr>
              <a:t>截止，输出为低电平。</a:t>
            </a:r>
          </a:p>
        </p:txBody>
      </p:sp>
      <p:grpSp>
        <p:nvGrpSpPr>
          <p:cNvPr id="5" name="组合 4"/>
          <p:cNvGrpSpPr/>
          <p:nvPr/>
        </p:nvGrpSpPr>
        <p:grpSpPr>
          <a:xfrm>
            <a:off x="1827966" y="4156539"/>
            <a:ext cx="2958230" cy="1103398"/>
            <a:chOff x="1599366" y="3966039"/>
            <a:chExt cx="2958230" cy="1103398"/>
          </a:xfrm>
        </p:grpSpPr>
        <p:sp>
          <p:nvSpPr>
            <p:cNvPr id="49" name="圆角矩形 48"/>
            <p:cNvSpPr/>
            <p:nvPr/>
          </p:nvSpPr>
          <p:spPr>
            <a:xfrm>
              <a:off x="1599366" y="3966039"/>
              <a:ext cx="2958230" cy="1103398"/>
            </a:xfrm>
            <a:prstGeom prst="roundRect">
              <a:avLst>
                <a:gd name="adj" fmla="val 11165"/>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8"/>
            <p:cNvGrpSpPr/>
            <p:nvPr/>
          </p:nvGrpSpPr>
          <p:grpSpPr>
            <a:xfrm>
              <a:off x="1802131" y="4167936"/>
              <a:ext cx="2556509" cy="656339"/>
              <a:chOff x="1725931" y="4096203"/>
              <a:chExt cx="2556509" cy="656339"/>
            </a:xfrm>
          </p:grpSpPr>
          <p:graphicFrame>
            <p:nvGraphicFramePr>
              <p:cNvPr id="65547" name="Object 21"/>
              <p:cNvGraphicFramePr>
                <a:graphicFrameLocks noChangeAspect="1"/>
              </p:cNvGraphicFramePr>
              <p:nvPr/>
            </p:nvGraphicFramePr>
            <p:xfrm>
              <a:off x="1725931" y="4096203"/>
              <a:ext cx="1276350" cy="656339"/>
            </p:xfrm>
            <a:graphic>
              <a:graphicData uri="http://schemas.openxmlformats.org/presentationml/2006/ole">
                <mc:AlternateContent xmlns:mc="http://schemas.openxmlformats.org/markup-compatibility/2006">
                  <mc:Choice xmlns:v="urn:schemas-microsoft-com:vml" Requires="v">
                    <p:oleObj spid="_x0000_s73730" name="Visio" r:id="rId5" imgW="1174735" imgH="600374" progId="">
                      <p:embed/>
                    </p:oleObj>
                  </mc:Choice>
                  <mc:Fallback>
                    <p:oleObj name="Visio" r:id="rId5" imgW="1174735" imgH="600374" progId="">
                      <p:embed/>
                      <p:pic>
                        <p:nvPicPr>
                          <p:cNvPr id="65547" name="Object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25931" y="4096203"/>
                            <a:ext cx="1276350" cy="6563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5548" name="Object 12"/>
              <p:cNvGraphicFramePr>
                <a:graphicFrameLocks noChangeAspect="1"/>
              </p:cNvGraphicFramePr>
              <p:nvPr/>
            </p:nvGraphicFramePr>
            <p:xfrm>
              <a:off x="3240497" y="4279294"/>
              <a:ext cx="1041943" cy="333422"/>
            </p:xfrm>
            <a:graphic>
              <a:graphicData uri="http://schemas.openxmlformats.org/presentationml/2006/ole">
                <mc:AlternateContent xmlns:mc="http://schemas.openxmlformats.org/markup-compatibility/2006">
                  <mc:Choice xmlns:v="urn:schemas-microsoft-com:vml" Requires="v">
                    <p:oleObj spid="_x0000_s73731" name="公式" r:id="rId7" imgW="15240000" imgH="4876800" progId="">
                      <p:embed/>
                    </p:oleObj>
                  </mc:Choice>
                  <mc:Fallback>
                    <p:oleObj name="公式" r:id="rId7" imgW="15240000" imgH="4876800" progId="">
                      <p:embed/>
                      <p:pic>
                        <p:nvPicPr>
                          <p:cNvPr id="65548"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40497" y="4279294"/>
                            <a:ext cx="1041943" cy="33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grpSp>
        <p:nvGrpSpPr>
          <p:cNvPr id="6" name="组合 5">
            <a:extLst>
              <a:ext uri="{FF2B5EF4-FFF2-40B4-BE49-F238E27FC236}">
                <a16:creationId xmlns:a16="http://schemas.microsoft.com/office/drawing/2014/main" id="{7CFA904B-75DB-4BBF-9D67-692026077DCD}"/>
              </a:ext>
            </a:extLst>
          </p:cNvPr>
          <p:cNvGrpSpPr/>
          <p:nvPr/>
        </p:nvGrpSpPr>
        <p:grpSpPr>
          <a:xfrm>
            <a:off x="4076926" y="1687132"/>
            <a:ext cx="4946107" cy="1368534"/>
            <a:chOff x="4076926" y="1687132"/>
            <a:chExt cx="4946107" cy="1368534"/>
          </a:xfrm>
        </p:grpSpPr>
        <p:sp>
          <p:nvSpPr>
            <p:cNvPr id="21" name="AutoShape 134">
              <a:extLst>
                <a:ext uri="{FF2B5EF4-FFF2-40B4-BE49-F238E27FC236}">
                  <a16:creationId xmlns:a16="http://schemas.microsoft.com/office/drawing/2014/main" id="{1B533925-49F6-46CD-BCE7-E8CB595DACD0}"/>
                </a:ext>
              </a:extLst>
            </p:cNvPr>
            <p:cNvSpPr>
              <a:spLocks noChangeArrowheads="1"/>
            </p:cNvSpPr>
            <p:nvPr/>
          </p:nvSpPr>
          <p:spPr bwMode="auto">
            <a:xfrm>
              <a:off x="4076926" y="1903654"/>
              <a:ext cx="706969" cy="390028"/>
            </a:xfrm>
            <a:prstGeom prst="wedgeRoundRectCallout">
              <a:avLst>
                <a:gd name="adj1" fmla="val 86839"/>
                <a:gd name="adj2" fmla="val 72970"/>
                <a:gd name="adj3" fmla="val 16667"/>
              </a:avLst>
            </a:prstGeom>
            <a:solidFill>
              <a:srgbClr val="FFFF99"/>
            </a:solidFill>
            <a:ln w="19050">
              <a:solidFill>
                <a:srgbClr val="FF00FF"/>
              </a:solidFill>
              <a:miter lim="800000"/>
              <a:headEnd/>
              <a:tailEnd/>
            </a:ln>
            <a:effectLst>
              <a:outerShdw blurRad="50800" dist="38100" dir="5400000" algn="t"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r>
                <a:rPr lang="zh-CN" altLang="en-US" sz="1600" dirty="0">
                  <a:solidFill>
                    <a:schemeClr val="tx1"/>
                  </a:solidFill>
                  <a:latin typeface="方正粗黑宋简体" pitchFamily="2" charset="-122"/>
                  <a:ea typeface="方正粗黑宋简体" pitchFamily="2" charset="-122"/>
                </a:rPr>
                <a:t>高电平</a:t>
              </a:r>
              <a:endParaRPr lang="en-US" altLang="zh-CN" sz="1600" dirty="0">
                <a:solidFill>
                  <a:schemeClr val="tx1"/>
                </a:solidFill>
                <a:latin typeface="方正粗黑宋简体" pitchFamily="2" charset="-122"/>
                <a:ea typeface="方正粗黑宋简体" pitchFamily="2" charset="-122"/>
              </a:endParaRPr>
            </a:p>
          </p:txBody>
        </p:sp>
        <p:grpSp>
          <p:nvGrpSpPr>
            <p:cNvPr id="3" name="组合 2"/>
            <p:cNvGrpSpPr/>
            <p:nvPr/>
          </p:nvGrpSpPr>
          <p:grpSpPr>
            <a:xfrm>
              <a:off x="5653005" y="2426258"/>
              <a:ext cx="2332377" cy="629408"/>
              <a:chOff x="5653005" y="2426258"/>
              <a:chExt cx="2332377" cy="629408"/>
            </a:xfrm>
          </p:grpSpPr>
          <p:sp>
            <p:nvSpPr>
              <p:cNvPr id="2" name="右箭头 1"/>
              <p:cNvSpPr/>
              <p:nvPr/>
            </p:nvSpPr>
            <p:spPr>
              <a:xfrm rot="2075337">
                <a:off x="5653005" y="2426258"/>
                <a:ext cx="404517" cy="148318"/>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右箭头 21"/>
              <p:cNvSpPr/>
              <p:nvPr/>
            </p:nvSpPr>
            <p:spPr>
              <a:xfrm rot="1871285">
                <a:off x="7580865" y="2907348"/>
                <a:ext cx="404517" cy="148318"/>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4" name="AutoShape 134">
              <a:extLst>
                <a:ext uri="{FF2B5EF4-FFF2-40B4-BE49-F238E27FC236}">
                  <a16:creationId xmlns:a16="http://schemas.microsoft.com/office/drawing/2014/main" id="{1B533925-49F6-46CD-BCE7-E8CB595DACD0}"/>
                </a:ext>
              </a:extLst>
            </p:cNvPr>
            <p:cNvSpPr>
              <a:spLocks noChangeArrowheads="1"/>
            </p:cNvSpPr>
            <p:nvPr/>
          </p:nvSpPr>
          <p:spPr bwMode="auto">
            <a:xfrm>
              <a:off x="8294876" y="1874520"/>
              <a:ext cx="728157" cy="419162"/>
            </a:xfrm>
            <a:prstGeom prst="wedgeRoundRectCallout">
              <a:avLst>
                <a:gd name="adj1" fmla="val -56500"/>
                <a:gd name="adj2" fmla="val 76277"/>
                <a:gd name="adj3" fmla="val 16667"/>
              </a:avLst>
            </a:prstGeom>
            <a:solidFill>
              <a:srgbClr val="FFFF99"/>
            </a:solidFill>
            <a:ln w="19050">
              <a:solidFill>
                <a:srgbClr val="FF00FF"/>
              </a:solidFill>
              <a:miter lim="800000"/>
              <a:headEnd/>
              <a:tailEnd/>
            </a:ln>
            <a:effectLst>
              <a:outerShdw blurRad="50800" dist="38100" dir="5400000" algn="t"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r>
                <a:rPr lang="zh-CN" altLang="en-US" sz="1600" dirty="0">
                  <a:solidFill>
                    <a:schemeClr val="tx1"/>
                  </a:solidFill>
                  <a:latin typeface="方正粗黑宋简体" pitchFamily="2" charset="-122"/>
                  <a:ea typeface="方正粗黑宋简体" pitchFamily="2" charset="-122"/>
                </a:rPr>
                <a:t>低电平</a:t>
              </a:r>
              <a:endParaRPr lang="en-US" altLang="zh-CN" sz="1600" dirty="0">
                <a:solidFill>
                  <a:schemeClr val="tx1"/>
                </a:solidFill>
                <a:latin typeface="方正粗黑宋简体" pitchFamily="2" charset="-122"/>
                <a:ea typeface="方正粗黑宋简体" pitchFamily="2" charset="-122"/>
              </a:endParaRPr>
            </a:p>
          </p:txBody>
        </p:sp>
        <p:grpSp>
          <p:nvGrpSpPr>
            <p:cNvPr id="35" name="组合 34">
              <a:extLst>
                <a:ext uri="{FF2B5EF4-FFF2-40B4-BE49-F238E27FC236}">
                  <a16:creationId xmlns:a16="http://schemas.microsoft.com/office/drawing/2014/main" id="{A1FDB4A9-9704-43E5-8730-6F1D9077B7F0}"/>
                </a:ext>
              </a:extLst>
            </p:cNvPr>
            <p:cNvGrpSpPr/>
            <p:nvPr/>
          </p:nvGrpSpPr>
          <p:grpSpPr>
            <a:xfrm>
              <a:off x="7515652" y="1687132"/>
              <a:ext cx="717945" cy="902854"/>
              <a:chOff x="6400968" y="2152906"/>
              <a:chExt cx="717945" cy="902854"/>
            </a:xfrm>
          </p:grpSpPr>
          <p:sp>
            <p:nvSpPr>
              <p:cNvPr id="36" name="乘号 35">
                <a:extLst>
                  <a:ext uri="{FF2B5EF4-FFF2-40B4-BE49-F238E27FC236}">
                    <a16:creationId xmlns:a16="http://schemas.microsoft.com/office/drawing/2014/main" id="{A05C01C2-7D26-4935-B43A-9F55A033F4A8}"/>
                  </a:ext>
                </a:extLst>
              </p:cNvPr>
              <p:cNvSpPr/>
              <p:nvPr/>
            </p:nvSpPr>
            <p:spPr>
              <a:xfrm rot="10800000">
                <a:off x="6400968" y="2152906"/>
                <a:ext cx="486821" cy="490993"/>
              </a:xfrm>
              <a:prstGeom prst="mathMultiply">
                <a:avLst>
                  <a:gd name="adj1" fmla="val 13414"/>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乘号 36">
                <a:extLst>
                  <a:ext uri="{FF2B5EF4-FFF2-40B4-BE49-F238E27FC236}">
                    <a16:creationId xmlns:a16="http://schemas.microsoft.com/office/drawing/2014/main" id="{73745D45-DE4C-498A-AC66-37B8AA4B863C}"/>
                  </a:ext>
                </a:extLst>
              </p:cNvPr>
              <p:cNvSpPr/>
              <p:nvPr/>
            </p:nvSpPr>
            <p:spPr>
              <a:xfrm rot="10800000">
                <a:off x="6632092" y="2564767"/>
                <a:ext cx="486821" cy="490993"/>
              </a:xfrm>
              <a:prstGeom prst="mathMultiply">
                <a:avLst>
                  <a:gd name="adj1" fmla="val 13414"/>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8" name="组合 7">
            <a:extLst>
              <a:ext uri="{FF2B5EF4-FFF2-40B4-BE49-F238E27FC236}">
                <a16:creationId xmlns:a16="http://schemas.microsoft.com/office/drawing/2014/main" id="{C9B8BC6F-A192-4B9E-A748-3B53D63A940F}"/>
              </a:ext>
            </a:extLst>
          </p:cNvPr>
          <p:cNvGrpSpPr/>
          <p:nvPr/>
        </p:nvGrpSpPr>
        <p:grpSpPr>
          <a:xfrm>
            <a:off x="4066268" y="1630219"/>
            <a:ext cx="4947594" cy="1802577"/>
            <a:chOff x="4066268" y="1630219"/>
            <a:chExt cx="4947594" cy="1802577"/>
          </a:xfrm>
        </p:grpSpPr>
        <p:sp>
          <p:nvSpPr>
            <p:cNvPr id="40" name="AutoShape 134">
              <a:extLst>
                <a:ext uri="{FF2B5EF4-FFF2-40B4-BE49-F238E27FC236}">
                  <a16:creationId xmlns:a16="http://schemas.microsoft.com/office/drawing/2014/main" id="{1B533925-49F6-46CD-BCE7-E8CB595DACD0}"/>
                </a:ext>
              </a:extLst>
            </p:cNvPr>
            <p:cNvSpPr>
              <a:spLocks noChangeArrowheads="1"/>
            </p:cNvSpPr>
            <p:nvPr/>
          </p:nvSpPr>
          <p:spPr bwMode="auto">
            <a:xfrm>
              <a:off x="6714730" y="3042768"/>
              <a:ext cx="706969" cy="390028"/>
            </a:xfrm>
            <a:prstGeom prst="wedgeRoundRectCallout">
              <a:avLst>
                <a:gd name="adj1" fmla="val 53426"/>
                <a:gd name="adj2" fmla="val -182966"/>
                <a:gd name="adj3" fmla="val 16667"/>
              </a:avLst>
            </a:prstGeom>
            <a:solidFill>
              <a:srgbClr val="FFFF99"/>
            </a:solidFill>
            <a:ln w="19050">
              <a:solidFill>
                <a:srgbClr val="FF00FF"/>
              </a:solidFill>
              <a:miter lim="800000"/>
              <a:headEnd/>
              <a:tailEnd/>
            </a:ln>
            <a:effectLst>
              <a:outerShdw blurRad="50800" dist="38100" dir="5400000" algn="t"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r>
                <a:rPr lang="zh-CN" altLang="en-US" sz="1600" dirty="0">
                  <a:solidFill>
                    <a:schemeClr val="tx1"/>
                  </a:solidFill>
                  <a:latin typeface="方正粗黑宋简体" pitchFamily="2" charset="-122"/>
                  <a:ea typeface="方正粗黑宋简体" pitchFamily="2" charset="-122"/>
                </a:rPr>
                <a:t>低电平</a:t>
              </a:r>
              <a:endParaRPr lang="en-US" altLang="zh-CN" sz="1600" dirty="0">
                <a:solidFill>
                  <a:schemeClr val="tx1"/>
                </a:solidFill>
                <a:latin typeface="方正粗黑宋简体" pitchFamily="2" charset="-122"/>
                <a:ea typeface="方正粗黑宋简体" pitchFamily="2" charset="-122"/>
              </a:endParaRPr>
            </a:p>
          </p:txBody>
        </p:sp>
        <p:grpSp>
          <p:nvGrpSpPr>
            <p:cNvPr id="7" name="组合 6">
              <a:extLst>
                <a:ext uri="{FF2B5EF4-FFF2-40B4-BE49-F238E27FC236}">
                  <a16:creationId xmlns:a16="http://schemas.microsoft.com/office/drawing/2014/main" id="{224FEB63-EA10-43F7-AFFD-CCE2546614E7}"/>
                </a:ext>
              </a:extLst>
            </p:cNvPr>
            <p:cNvGrpSpPr/>
            <p:nvPr/>
          </p:nvGrpSpPr>
          <p:grpSpPr>
            <a:xfrm>
              <a:off x="4066268" y="1630219"/>
              <a:ext cx="4947594" cy="1503640"/>
              <a:chOff x="4075439" y="1638560"/>
              <a:chExt cx="4947594" cy="1503640"/>
            </a:xfrm>
          </p:grpSpPr>
          <p:sp>
            <p:nvSpPr>
              <p:cNvPr id="39" name="AutoShape 134">
                <a:extLst>
                  <a:ext uri="{FF2B5EF4-FFF2-40B4-BE49-F238E27FC236}">
                    <a16:creationId xmlns:a16="http://schemas.microsoft.com/office/drawing/2014/main" id="{1B533925-49F6-46CD-BCE7-E8CB595DACD0}"/>
                  </a:ext>
                </a:extLst>
              </p:cNvPr>
              <p:cNvSpPr>
                <a:spLocks noChangeArrowheads="1"/>
              </p:cNvSpPr>
              <p:nvPr/>
            </p:nvSpPr>
            <p:spPr bwMode="auto">
              <a:xfrm>
                <a:off x="4075439" y="1903654"/>
                <a:ext cx="706969" cy="390028"/>
              </a:xfrm>
              <a:prstGeom prst="wedgeRoundRectCallout">
                <a:avLst>
                  <a:gd name="adj1" fmla="val 86839"/>
                  <a:gd name="adj2" fmla="val 72970"/>
                  <a:gd name="adj3" fmla="val 16667"/>
                </a:avLst>
              </a:prstGeom>
              <a:solidFill>
                <a:srgbClr val="FFFF99"/>
              </a:solidFill>
              <a:ln w="19050">
                <a:solidFill>
                  <a:srgbClr val="FF00FF"/>
                </a:solidFill>
                <a:miter lim="800000"/>
                <a:headEnd/>
                <a:tailEnd/>
              </a:ln>
              <a:effectLst>
                <a:outerShdw blurRad="50800" dist="38100" dir="5400000" algn="t"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r>
                  <a:rPr lang="zh-CN" altLang="en-US" sz="1600" dirty="0">
                    <a:solidFill>
                      <a:schemeClr val="tx1"/>
                    </a:solidFill>
                    <a:latin typeface="方正粗黑宋简体" pitchFamily="2" charset="-122"/>
                    <a:ea typeface="方正粗黑宋简体" pitchFamily="2" charset="-122"/>
                  </a:rPr>
                  <a:t>低电平</a:t>
                </a:r>
                <a:endParaRPr lang="en-US" altLang="zh-CN" sz="1600" dirty="0">
                  <a:solidFill>
                    <a:schemeClr val="tx1"/>
                  </a:solidFill>
                  <a:latin typeface="方正粗黑宋简体" pitchFamily="2" charset="-122"/>
                  <a:ea typeface="方正粗黑宋简体" pitchFamily="2" charset="-122"/>
                </a:endParaRPr>
              </a:p>
            </p:txBody>
          </p:sp>
          <p:sp>
            <p:nvSpPr>
              <p:cNvPr id="45" name="右箭头 44"/>
              <p:cNvSpPr/>
              <p:nvPr/>
            </p:nvSpPr>
            <p:spPr>
              <a:xfrm rot="5400000">
                <a:off x="7725362" y="1937578"/>
                <a:ext cx="770487" cy="172451"/>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AutoShape 134">
                <a:extLst>
                  <a:ext uri="{FF2B5EF4-FFF2-40B4-BE49-F238E27FC236}">
                    <a16:creationId xmlns:a16="http://schemas.microsoft.com/office/drawing/2014/main" id="{1B533925-49F6-46CD-BCE7-E8CB595DACD0}"/>
                  </a:ext>
                </a:extLst>
              </p:cNvPr>
              <p:cNvSpPr>
                <a:spLocks noChangeArrowheads="1"/>
              </p:cNvSpPr>
              <p:nvPr/>
            </p:nvSpPr>
            <p:spPr bwMode="auto">
              <a:xfrm>
                <a:off x="8294876" y="1865947"/>
                <a:ext cx="728157" cy="419162"/>
              </a:xfrm>
              <a:prstGeom prst="wedgeRoundRectCallout">
                <a:avLst>
                  <a:gd name="adj1" fmla="val -56500"/>
                  <a:gd name="adj2" fmla="val 76277"/>
                  <a:gd name="adj3" fmla="val 16667"/>
                </a:avLst>
              </a:prstGeom>
              <a:solidFill>
                <a:srgbClr val="FFFF99"/>
              </a:solidFill>
              <a:ln w="19050">
                <a:solidFill>
                  <a:srgbClr val="FF00FF"/>
                </a:solidFill>
                <a:miter lim="800000"/>
                <a:headEnd/>
                <a:tailEnd/>
              </a:ln>
              <a:effectLst>
                <a:outerShdw blurRad="50800" dist="38100" dir="5400000" algn="t"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r>
                  <a:rPr lang="zh-CN" altLang="en-US" sz="1600" dirty="0">
                    <a:solidFill>
                      <a:schemeClr val="tx1"/>
                    </a:solidFill>
                    <a:latin typeface="方正粗黑宋简体" pitchFamily="2" charset="-122"/>
                    <a:ea typeface="方正粗黑宋简体" pitchFamily="2" charset="-122"/>
                  </a:rPr>
                  <a:t>高电平</a:t>
                </a:r>
                <a:endParaRPr lang="en-US" altLang="zh-CN" sz="1600" dirty="0">
                  <a:solidFill>
                    <a:schemeClr val="tx1"/>
                  </a:solidFill>
                  <a:latin typeface="方正粗黑宋简体" pitchFamily="2" charset="-122"/>
                  <a:ea typeface="方正粗黑宋简体" pitchFamily="2" charset="-122"/>
                </a:endParaRPr>
              </a:p>
            </p:txBody>
          </p:sp>
          <p:grpSp>
            <p:nvGrpSpPr>
              <p:cNvPr id="4" name="组合 3"/>
              <p:cNvGrpSpPr/>
              <p:nvPr/>
            </p:nvGrpSpPr>
            <p:grpSpPr>
              <a:xfrm>
                <a:off x="5559289" y="2175711"/>
                <a:ext cx="2412316" cy="966489"/>
                <a:chOff x="5541972" y="2185295"/>
                <a:chExt cx="2412316" cy="966489"/>
              </a:xfrm>
            </p:grpSpPr>
            <p:grpSp>
              <p:nvGrpSpPr>
                <p:cNvPr id="41" name="组合 40">
                  <a:extLst>
                    <a:ext uri="{FF2B5EF4-FFF2-40B4-BE49-F238E27FC236}">
                      <a16:creationId xmlns:a16="http://schemas.microsoft.com/office/drawing/2014/main" id="{A1FDB4A9-9704-43E5-8730-6F1D9077B7F0}"/>
                    </a:ext>
                  </a:extLst>
                </p:cNvPr>
                <p:cNvGrpSpPr/>
                <p:nvPr/>
              </p:nvGrpSpPr>
              <p:grpSpPr>
                <a:xfrm>
                  <a:off x="5541972" y="2209364"/>
                  <a:ext cx="2412316" cy="942420"/>
                  <a:chOff x="6400968" y="2152906"/>
                  <a:chExt cx="2412316" cy="942420"/>
                </a:xfrm>
              </p:grpSpPr>
              <p:sp>
                <p:nvSpPr>
                  <p:cNvPr id="42" name="乘号 41">
                    <a:extLst>
                      <a:ext uri="{FF2B5EF4-FFF2-40B4-BE49-F238E27FC236}">
                        <a16:creationId xmlns:a16="http://schemas.microsoft.com/office/drawing/2014/main" id="{A05C01C2-7D26-4935-B43A-9F55A033F4A8}"/>
                      </a:ext>
                    </a:extLst>
                  </p:cNvPr>
                  <p:cNvSpPr/>
                  <p:nvPr/>
                </p:nvSpPr>
                <p:spPr>
                  <a:xfrm rot="10800000">
                    <a:off x="6400968" y="2152906"/>
                    <a:ext cx="486821" cy="490993"/>
                  </a:xfrm>
                  <a:prstGeom prst="mathMultiply">
                    <a:avLst>
                      <a:gd name="adj1" fmla="val 13414"/>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乘号 42">
                    <a:extLst>
                      <a:ext uri="{FF2B5EF4-FFF2-40B4-BE49-F238E27FC236}">
                        <a16:creationId xmlns:a16="http://schemas.microsoft.com/office/drawing/2014/main" id="{73745D45-DE4C-498A-AC66-37B8AA4B863C}"/>
                      </a:ext>
                    </a:extLst>
                  </p:cNvPr>
                  <p:cNvSpPr/>
                  <p:nvPr/>
                </p:nvSpPr>
                <p:spPr>
                  <a:xfrm rot="10800000">
                    <a:off x="8326463" y="2604333"/>
                    <a:ext cx="486821" cy="490993"/>
                  </a:xfrm>
                  <a:prstGeom prst="mathMultiply">
                    <a:avLst>
                      <a:gd name="adj1" fmla="val 13414"/>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8" name="乘号 47">
                  <a:extLst>
                    <a:ext uri="{FF2B5EF4-FFF2-40B4-BE49-F238E27FC236}">
                      <a16:creationId xmlns:a16="http://schemas.microsoft.com/office/drawing/2014/main" id="{A05C01C2-7D26-4935-B43A-9F55A033F4A8}"/>
                    </a:ext>
                  </a:extLst>
                </p:cNvPr>
                <p:cNvSpPr/>
                <p:nvPr/>
              </p:nvSpPr>
              <p:spPr>
                <a:xfrm rot="10800000">
                  <a:off x="6430789" y="2185295"/>
                  <a:ext cx="486821" cy="490993"/>
                </a:xfrm>
                <a:prstGeom prst="mathMultiply">
                  <a:avLst>
                    <a:gd name="adj1" fmla="val 13414"/>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spTree>
  </p:cSld>
  <p:clrMapOvr>
    <a:masterClrMapping/>
  </p:clrMapOvr>
  <mc:AlternateContent xmlns:mc="http://schemas.openxmlformats.org/markup-compatibility/2006" xmlns:p14="http://schemas.microsoft.com/office/powerpoint/2010/main">
    <mc:Choice Requires="p14">
      <p:transition spd="slow" p14:dur="1600">
        <p14:prism dir="r"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1000"/>
                                        <p:tgtEl>
                                          <p:spTgt spid="27"/>
                                        </p:tgtEl>
                                      </p:cBhvr>
                                    </p:animEffect>
                                    <p:anim calcmode="lin" valueType="num">
                                      <p:cBhvr>
                                        <p:cTn id="8" dur="1000" fill="hold"/>
                                        <p:tgtEl>
                                          <p:spTgt spid="27"/>
                                        </p:tgtEl>
                                        <p:attrNameLst>
                                          <p:attrName>ppt_x</p:attrName>
                                        </p:attrNameLst>
                                      </p:cBhvr>
                                      <p:tavLst>
                                        <p:tav tm="0">
                                          <p:val>
                                            <p:strVal val="#ppt_x"/>
                                          </p:val>
                                        </p:tav>
                                        <p:tav tm="100000">
                                          <p:val>
                                            <p:strVal val="#ppt_x"/>
                                          </p:val>
                                        </p:tav>
                                      </p:tavLst>
                                    </p:anim>
                                    <p:anim calcmode="lin" valueType="num">
                                      <p:cBhvr>
                                        <p:cTn id="9" dur="1000" fill="hold"/>
                                        <p:tgtEl>
                                          <p:spTgt spid="2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1000"/>
                                        <p:tgtEl>
                                          <p:spTgt spid="29"/>
                                        </p:tgtEl>
                                      </p:cBhvr>
                                    </p:animEffect>
                                    <p:anim calcmode="lin" valueType="num">
                                      <p:cBhvr>
                                        <p:cTn id="14" dur="1000" fill="hold"/>
                                        <p:tgtEl>
                                          <p:spTgt spid="29"/>
                                        </p:tgtEl>
                                        <p:attrNameLst>
                                          <p:attrName>ppt_x</p:attrName>
                                        </p:attrNameLst>
                                      </p:cBhvr>
                                      <p:tavLst>
                                        <p:tav tm="0">
                                          <p:val>
                                            <p:strVal val="#ppt_x"/>
                                          </p:val>
                                        </p:tav>
                                        <p:tav tm="100000">
                                          <p:val>
                                            <p:strVal val="#ppt_x"/>
                                          </p:val>
                                        </p:tav>
                                      </p:tavLst>
                                    </p:anim>
                                    <p:anim calcmode="lin" valueType="num">
                                      <p:cBhvr>
                                        <p:cTn id="15"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fade">
                                      <p:cBhvr>
                                        <p:cTn id="20" dur="1000"/>
                                        <p:tgtEl>
                                          <p:spTgt spid="30"/>
                                        </p:tgtEl>
                                      </p:cBhvr>
                                    </p:animEffect>
                                    <p:anim calcmode="lin" valueType="num">
                                      <p:cBhvr>
                                        <p:cTn id="21" dur="1000" fill="hold"/>
                                        <p:tgtEl>
                                          <p:spTgt spid="30"/>
                                        </p:tgtEl>
                                        <p:attrNameLst>
                                          <p:attrName>ppt_x</p:attrName>
                                        </p:attrNameLst>
                                      </p:cBhvr>
                                      <p:tavLst>
                                        <p:tav tm="0">
                                          <p:val>
                                            <p:strVal val="#ppt_x"/>
                                          </p:val>
                                        </p:tav>
                                        <p:tav tm="100000">
                                          <p:val>
                                            <p:strVal val="#ppt_x"/>
                                          </p:val>
                                        </p:tav>
                                      </p:tavLst>
                                    </p:anim>
                                    <p:anim calcmode="lin" valueType="num">
                                      <p:cBhvr>
                                        <p:cTn id="22" dur="1000" fill="hold"/>
                                        <p:tgtEl>
                                          <p:spTgt spid="30"/>
                                        </p:tgtEl>
                                        <p:attrNameLst>
                                          <p:attrName>ppt_y</p:attrName>
                                        </p:attrNameLst>
                                      </p:cBhvr>
                                      <p:tavLst>
                                        <p:tav tm="0">
                                          <p:val>
                                            <p:strVal val="#ppt_y+.1"/>
                                          </p:val>
                                        </p:tav>
                                        <p:tav tm="100000">
                                          <p:val>
                                            <p:strVal val="#ppt_y"/>
                                          </p:val>
                                        </p:tav>
                                      </p:tavLst>
                                    </p:anim>
                                  </p:childTnLst>
                                </p:cTn>
                              </p:par>
                            </p:childTnLst>
                          </p:cTn>
                        </p:par>
                        <p:par>
                          <p:cTn id="23" fill="hold">
                            <p:stCondLst>
                              <p:cond delay="1000"/>
                            </p:stCondLst>
                            <p:childTnLst>
                              <p:par>
                                <p:cTn id="24" presetID="42" presetClass="entr" presetSubtype="0" fill="hold" grpId="0" nodeType="after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fade">
                                      <p:cBhvr>
                                        <p:cTn id="26" dur="1000"/>
                                        <p:tgtEl>
                                          <p:spTgt spid="33"/>
                                        </p:tgtEl>
                                      </p:cBhvr>
                                    </p:animEffect>
                                    <p:anim calcmode="lin" valueType="num">
                                      <p:cBhvr>
                                        <p:cTn id="27" dur="1000" fill="hold"/>
                                        <p:tgtEl>
                                          <p:spTgt spid="33"/>
                                        </p:tgtEl>
                                        <p:attrNameLst>
                                          <p:attrName>ppt_x</p:attrName>
                                        </p:attrNameLst>
                                      </p:cBhvr>
                                      <p:tavLst>
                                        <p:tav tm="0">
                                          <p:val>
                                            <p:strVal val="#ppt_x"/>
                                          </p:val>
                                        </p:tav>
                                        <p:tav tm="100000">
                                          <p:val>
                                            <p:strVal val="#ppt_x"/>
                                          </p:val>
                                        </p:tav>
                                      </p:tavLst>
                                    </p:anim>
                                    <p:anim calcmode="lin" valueType="num">
                                      <p:cBhvr>
                                        <p:cTn id="28" dur="1000" fill="hold"/>
                                        <p:tgtEl>
                                          <p:spTgt spid="33"/>
                                        </p:tgtEl>
                                        <p:attrNameLst>
                                          <p:attrName>ppt_y</p:attrName>
                                        </p:attrNameLst>
                                      </p:cBhvr>
                                      <p:tavLst>
                                        <p:tav tm="0">
                                          <p:val>
                                            <p:strVal val="#ppt_y+.1"/>
                                          </p:val>
                                        </p:tav>
                                        <p:tav tm="100000">
                                          <p:val>
                                            <p:strVal val="#ppt_y"/>
                                          </p:val>
                                        </p:tav>
                                      </p:tavLst>
                                    </p:anim>
                                  </p:childTnLst>
                                </p:cTn>
                              </p:par>
                              <p:par>
                                <p:cTn id="29" presetID="22" presetClass="entr" presetSubtype="8" fill="hold"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wipe(left)">
                                      <p:cBhvr>
                                        <p:cTn id="31" dur="30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31"/>
                                        </p:tgtEl>
                                        <p:attrNameLst>
                                          <p:attrName>style.visibility</p:attrName>
                                        </p:attrNameLst>
                                      </p:cBhvr>
                                      <p:to>
                                        <p:strVal val="visible"/>
                                      </p:to>
                                    </p:set>
                                    <p:animEffect transition="in" filter="fade">
                                      <p:cBhvr>
                                        <p:cTn id="36" dur="1000"/>
                                        <p:tgtEl>
                                          <p:spTgt spid="31"/>
                                        </p:tgtEl>
                                      </p:cBhvr>
                                    </p:animEffect>
                                    <p:anim calcmode="lin" valueType="num">
                                      <p:cBhvr>
                                        <p:cTn id="37" dur="1000" fill="hold"/>
                                        <p:tgtEl>
                                          <p:spTgt spid="31"/>
                                        </p:tgtEl>
                                        <p:attrNameLst>
                                          <p:attrName>ppt_x</p:attrName>
                                        </p:attrNameLst>
                                      </p:cBhvr>
                                      <p:tavLst>
                                        <p:tav tm="0">
                                          <p:val>
                                            <p:strVal val="#ppt_x"/>
                                          </p:val>
                                        </p:tav>
                                        <p:tav tm="100000">
                                          <p:val>
                                            <p:strVal val="#ppt_x"/>
                                          </p:val>
                                        </p:tav>
                                      </p:tavLst>
                                    </p:anim>
                                    <p:anim calcmode="lin" valueType="num">
                                      <p:cBhvr>
                                        <p:cTn id="38" dur="1000" fill="hold"/>
                                        <p:tgtEl>
                                          <p:spTgt spid="31"/>
                                        </p:tgtEl>
                                        <p:attrNameLst>
                                          <p:attrName>ppt_y</p:attrName>
                                        </p:attrNameLst>
                                      </p:cBhvr>
                                      <p:tavLst>
                                        <p:tav tm="0">
                                          <p:val>
                                            <p:strVal val="#ppt_y+.1"/>
                                          </p:val>
                                        </p:tav>
                                        <p:tav tm="100000">
                                          <p:val>
                                            <p:strVal val="#ppt_y"/>
                                          </p:val>
                                        </p:tav>
                                      </p:tavLst>
                                    </p:anim>
                                  </p:childTnLst>
                                </p:cTn>
                              </p:par>
                            </p:childTnLst>
                          </p:cTn>
                        </p:par>
                        <p:par>
                          <p:cTn id="39" fill="hold">
                            <p:stCondLst>
                              <p:cond delay="1000"/>
                            </p:stCondLst>
                            <p:childTnLst>
                              <p:par>
                                <p:cTn id="40" presetID="22" presetClass="entr" presetSubtype="8" fill="hold" nodeType="after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wipe(left)">
                                      <p:cBhvr>
                                        <p:cTn id="42" dur="3000"/>
                                        <p:tgtEl>
                                          <p:spTgt spid="8"/>
                                        </p:tgtEl>
                                      </p:cBhvr>
                                    </p:animEffect>
                                  </p:childTnLst>
                                </p:cTn>
                              </p:par>
                              <p:par>
                                <p:cTn id="43" presetID="42"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animEffect transition="in" filter="fade">
                                      <p:cBhvr>
                                        <p:cTn id="45" dur="1000"/>
                                        <p:tgtEl>
                                          <p:spTgt spid="32"/>
                                        </p:tgtEl>
                                      </p:cBhvr>
                                    </p:animEffect>
                                    <p:anim calcmode="lin" valueType="num">
                                      <p:cBhvr>
                                        <p:cTn id="46" dur="1000" fill="hold"/>
                                        <p:tgtEl>
                                          <p:spTgt spid="32"/>
                                        </p:tgtEl>
                                        <p:attrNameLst>
                                          <p:attrName>ppt_x</p:attrName>
                                        </p:attrNameLst>
                                      </p:cBhvr>
                                      <p:tavLst>
                                        <p:tav tm="0">
                                          <p:val>
                                            <p:strVal val="#ppt_x"/>
                                          </p:val>
                                        </p:tav>
                                        <p:tav tm="100000">
                                          <p:val>
                                            <p:strVal val="#ppt_x"/>
                                          </p:val>
                                        </p:tav>
                                      </p:tavLst>
                                    </p:anim>
                                    <p:anim calcmode="lin" valueType="num">
                                      <p:cBhvr>
                                        <p:cTn id="47"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fade">
                                      <p:cBhvr>
                                        <p:cTn id="52" dur="1000"/>
                                        <p:tgtEl>
                                          <p:spTgt spid="5"/>
                                        </p:tgtEl>
                                      </p:cBhvr>
                                    </p:animEffect>
                                    <p:anim calcmode="lin" valueType="num">
                                      <p:cBhvr>
                                        <p:cTn id="53" dur="1000" fill="hold"/>
                                        <p:tgtEl>
                                          <p:spTgt spid="5"/>
                                        </p:tgtEl>
                                        <p:attrNameLst>
                                          <p:attrName>ppt_x</p:attrName>
                                        </p:attrNameLst>
                                      </p:cBhvr>
                                      <p:tavLst>
                                        <p:tav tm="0">
                                          <p:val>
                                            <p:strVal val="#ppt_x"/>
                                          </p:val>
                                        </p:tav>
                                        <p:tav tm="100000">
                                          <p:val>
                                            <p:strVal val="#ppt_x"/>
                                          </p:val>
                                        </p:tav>
                                      </p:tavLst>
                                    </p:anim>
                                    <p:anim calcmode="lin" valueType="num">
                                      <p:cBhvr>
                                        <p:cTn id="5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0" grpId="0" animBg="1"/>
      <p:bldP spid="31" grpId="0" animBg="1"/>
      <p:bldP spid="32" grpId="0"/>
      <p:bldP spid="3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a:extLst>
              <a:ext uri="{FF2B5EF4-FFF2-40B4-BE49-F238E27FC236}">
                <a16:creationId xmlns:a16="http://schemas.microsoft.com/office/drawing/2014/main" id="{1F47A81A-D871-4216-88E0-9E7911304E1D}"/>
              </a:ext>
            </a:extLst>
          </p:cNvPr>
          <p:cNvPicPr>
            <a:picLocks noChangeAspect="1"/>
          </p:cNvPicPr>
          <p:nvPr/>
        </p:nvPicPr>
        <p:blipFill>
          <a:blip r:embed="rId2" cstate="print"/>
          <a:stretch>
            <a:fillRect/>
          </a:stretch>
        </p:blipFill>
        <p:spPr>
          <a:xfrm>
            <a:off x="3088250" y="2098746"/>
            <a:ext cx="2348511" cy="2598763"/>
          </a:xfrm>
          <a:prstGeom prst="rect">
            <a:avLst/>
          </a:prstGeom>
        </p:spPr>
      </p:pic>
      <p:grpSp>
        <p:nvGrpSpPr>
          <p:cNvPr id="29" name="组合 28"/>
          <p:cNvGrpSpPr/>
          <p:nvPr/>
        </p:nvGrpSpPr>
        <p:grpSpPr>
          <a:xfrm>
            <a:off x="282575" y="785614"/>
            <a:ext cx="5275262" cy="373579"/>
            <a:chOff x="307975" y="1517134"/>
            <a:chExt cx="5275262" cy="373579"/>
          </a:xfrm>
        </p:grpSpPr>
        <p:grpSp>
          <p:nvGrpSpPr>
            <p:cNvPr id="31" name="组合 32"/>
            <p:cNvGrpSpPr/>
            <p:nvPr/>
          </p:nvGrpSpPr>
          <p:grpSpPr>
            <a:xfrm>
              <a:off x="307975" y="1519116"/>
              <a:ext cx="568325" cy="371597"/>
              <a:chOff x="307975" y="1519116"/>
              <a:chExt cx="568325" cy="371597"/>
            </a:xfrm>
          </p:grpSpPr>
          <p:pic>
            <p:nvPicPr>
              <p:cNvPr id="33" name="Picture 4"/>
              <p:cNvPicPr>
                <a:picLocks noChangeAspect="1" noChangeArrowheads="1"/>
              </p:cNvPicPr>
              <p:nvPr/>
            </p:nvPicPr>
            <p:blipFill>
              <a:blip r:embed="rId3" cstate="print"/>
              <a:srcRect/>
              <a:stretch>
                <a:fillRect/>
              </a:stretch>
            </p:blipFill>
            <p:spPr bwMode="auto">
              <a:xfrm flipH="1">
                <a:off x="307975" y="1519116"/>
                <a:ext cx="568325" cy="371597"/>
              </a:xfrm>
              <a:prstGeom prst="rect">
                <a:avLst/>
              </a:prstGeom>
              <a:noFill/>
              <a:ln w="9525">
                <a:noFill/>
                <a:miter lim="800000"/>
                <a:headEnd/>
                <a:tailEnd/>
              </a:ln>
              <a:effectLst/>
            </p:spPr>
          </p:pic>
          <p:sp>
            <p:nvSpPr>
              <p:cNvPr id="34" name="TextBox 33"/>
              <p:cNvSpPr txBox="1"/>
              <p:nvPr/>
            </p:nvSpPr>
            <p:spPr>
              <a:xfrm flipH="1">
                <a:off x="443415" y="1555750"/>
                <a:ext cx="142668" cy="276999"/>
              </a:xfrm>
              <a:prstGeom prst="rect">
                <a:avLst/>
              </a:prstGeom>
              <a:noFill/>
            </p:spPr>
            <p:txBody>
              <a:bodyPr wrap="none" lIns="0" tIns="0" rIns="0" bIns="0" rtlCol="0">
                <a:spAutoFit/>
              </a:bodyPr>
              <a:lstStyle/>
              <a:p>
                <a:r>
                  <a:rPr lang="en-US" altLang="zh-CN" b="1" dirty="0">
                    <a:solidFill>
                      <a:srgbClr val="262626"/>
                    </a:solidFill>
                    <a:latin typeface="Segoe UI Black" pitchFamily="34" charset="0"/>
                    <a:ea typeface="Segoe UI Black" pitchFamily="34" charset="0"/>
                    <a:cs typeface="Times New Roman" pitchFamily="18" charset="0"/>
                  </a:rPr>
                  <a:t>4</a:t>
                </a:r>
                <a:endParaRPr lang="zh-CN" altLang="en-US" b="1" dirty="0">
                  <a:solidFill>
                    <a:srgbClr val="262626"/>
                  </a:solidFill>
                  <a:latin typeface="Segoe UI Black" pitchFamily="34" charset="0"/>
                  <a:cs typeface="Times New Roman" pitchFamily="18" charset="0"/>
                </a:endParaRPr>
              </a:p>
            </p:txBody>
          </p:sp>
        </p:grpSp>
        <p:sp>
          <p:nvSpPr>
            <p:cNvPr id="32" name="矩形 31"/>
            <p:cNvSpPr/>
            <p:nvPr/>
          </p:nvSpPr>
          <p:spPr>
            <a:xfrm>
              <a:off x="863675" y="1517134"/>
              <a:ext cx="4719562" cy="369332"/>
            </a:xfrm>
            <a:prstGeom prst="rect">
              <a:avLst/>
            </a:prstGeom>
          </p:spPr>
          <p:txBody>
            <a:bodyPr wrap="none">
              <a:spAutoFit/>
            </a:bodyPr>
            <a:lstStyle/>
            <a:p>
              <a:r>
                <a:rPr lang="en-US" altLang="zh-CN" b="1" dirty="0">
                  <a:solidFill>
                    <a:schemeClr val="accent1">
                      <a:lumMod val="50000"/>
                    </a:schemeClr>
                  </a:solidFill>
                  <a:latin typeface="Times New Roman" pitchFamily="18" charset="0"/>
                  <a:ea typeface="黑体" pitchFamily="49" charset="-122"/>
                  <a:cs typeface="Times New Roman" pitchFamily="18" charset="0"/>
                </a:rPr>
                <a:t>TTL</a:t>
              </a:r>
              <a:r>
                <a:rPr lang="zh-CN" altLang="en-US" b="1" dirty="0">
                  <a:solidFill>
                    <a:schemeClr val="accent1">
                      <a:lumMod val="50000"/>
                    </a:schemeClr>
                  </a:solidFill>
                  <a:latin typeface="Times New Roman" pitchFamily="18" charset="0"/>
                  <a:ea typeface="黑体" pitchFamily="49" charset="-122"/>
                  <a:cs typeface="Times New Roman" pitchFamily="18" charset="0"/>
                </a:rPr>
                <a:t>集电极开路门（</a:t>
              </a:r>
              <a:r>
                <a:rPr lang="en-US" altLang="zh-CN" b="1" dirty="0">
                  <a:solidFill>
                    <a:schemeClr val="accent1">
                      <a:lumMod val="50000"/>
                    </a:schemeClr>
                  </a:solidFill>
                  <a:latin typeface="Times New Roman" pitchFamily="18" charset="0"/>
                  <a:ea typeface="黑体" pitchFamily="49" charset="-122"/>
                  <a:cs typeface="Times New Roman" pitchFamily="18" charset="0"/>
                </a:rPr>
                <a:t>OC</a:t>
              </a:r>
              <a:r>
                <a:rPr lang="zh-CN" altLang="en-US" b="1" dirty="0">
                  <a:solidFill>
                    <a:schemeClr val="accent1">
                      <a:lumMod val="50000"/>
                    </a:schemeClr>
                  </a:solidFill>
                  <a:latin typeface="Times New Roman" pitchFamily="18" charset="0"/>
                  <a:ea typeface="黑体" pitchFamily="49" charset="-122"/>
                  <a:cs typeface="Times New Roman" pitchFamily="18" charset="0"/>
                </a:rPr>
                <a:t>：</a:t>
              </a:r>
              <a:r>
                <a:rPr lang="en-US" altLang="zh-CN" b="1" dirty="0">
                  <a:solidFill>
                    <a:schemeClr val="accent1">
                      <a:lumMod val="50000"/>
                    </a:schemeClr>
                  </a:solidFill>
                  <a:latin typeface="Times New Roman" pitchFamily="18" charset="0"/>
                  <a:ea typeface="黑体" pitchFamily="49" charset="-122"/>
                  <a:cs typeface="Times New Roman" pitchFamily="18" charset="0"/>
                </a:rPr>
                <a:t>Open Connector</a:t>
              </a:r>
              <a:r>
                <a:rPr lang="zh-CN" altLang="en-US" b="1" dirty="0">
                  <a:solidFill>
                    <a:schemeClr val="accent1">
                      <a:lumMod val="50000"/>
                    </a:schemeClr>
                  </a:solidFill>
                  <a:latin typeface="Times New Roman" pitchFamily="18" charset="0"/>
                  <a:ea typeface="黑体" pitchFamily="49" charset="-122"/>
                  <a:cs typeface="Times New Roman" pitchFamily="18" charset="0"/>
                </a:rPr>
                <a:t>）</a:t>
              </a:r>
            </a:p>
          </p:txBody>
        </p:sp>
      </p:grpSp>
      <p:sp>
        <p:nvSpPr>
          <p:cNvPr id="8" name="矩形: 圆角 7">
            <a:extLst>
              <a:ext uri="{FF2B5EF4-FFF2-40B4-BE49-F238E27FC236}">
                <a16:creationId xmlns:a16="http://schemas.microsoft.com/office/drawing/2014/main" id="{44F33F5D-C0A5-4A24-86A2-3A86197DB2E3}"/>
              </a:ext>
            </a:extLst>
          </p:cNvPr>
          <p:cNvSpPr/>
          <p:nvPr/>
        </p:nvSpPr>
        <p:spPr>
          <a:xfrm>
            <a:off x="5897923" y="2629562"/>
            <a:ext cx="2633981" cy="1559509"/>
          </a:xfrm>
          <a:prstGeom prst="roundRect">
            <a:avLst>
              <a:gd name="adj" fmla="val 8291"/>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b="1" dirty="0">
                <a:solidFill>
                  <a:srgbClr val="C00000"/>
                </a:solidFill>
                <a:latin typeface="方正粗黑宋简体" pitchFamily="2" charset="-122"/>
                <a:ea typeface="方正粗黑宋简体" pitchFamily="2" charset="-122"/>
              </a:rPr>
              <a:t>形成低阻通路，门电路容易损坏，且输出状态不确定！</a:t>
            </a:r>
            <a:endParaRPr lang="zh-CN" altLang="en-US" dirty="0"/>
          </a:p>
        </p:txBody>
      </p:sp>
      <p:sp>
        <p:nvSpPr>
          <p:cNvPr id="21" name="文本框 20">
            <a:extLst>
              <a:ext uri="{FF2B5EF4-FFF2-40B4-BE49-F238E27FC236}">
                <a16:creationId xmlns:a16="http://schemas.microsoft.com/office/drawing/2014/main" id="{F8E73B8E-5E67-462C-B717-50246BE979ED}"/>
              </a:ext>
            </a:extLst>
          </p:cNvPr>
          <p:cNvSpPr txBox="1"/>
          <p:nvPr/>
        </p:nvSpPr>
        <p:spPr>
          <a:xfrm>
            <a:off x="199063" y="1352835"/>
            <a:ext cx="8340222" cy="756617"/>
          </a:xfrm>
          <a:prstGeom prst="rect">
            <a:avLst/>
          </a:prstGeom>
          <a:noFill/>
        </p:spPr>
        <p:txBody>
          <a:bodyPr wrap="square">
            <a:spAutoFit/>
          </a:bodyPr>
          <a:lstStyle/>
          <a:p>
            <a:pPr algn="just">
              <a:lnSpc>
                <a:spcPts val="1500"/>
              </a:lnSpc>
              <a:spcBef>
                <a:spcPts val="300"/>
              </a:spcBef>
              <a:spcAft>
                <a:spcPts val="800"/>
              </a:spcAft>
            </a:pPr>
            <a:r>
              <a:rPr lang="zh-CN" altLang="zh-CN" sz="1600" b="1" dirty="0">
                <a:solidFill>
                  <a:srgbClr val="6600FF"/>
                </a:solidFill>
                <a:latin typeface="方正粗黑宋简体" pitchFamily="2" charset="-122"/>
                <a:ea typeface="方正粗黑宋简体" pitchFamily="2" charset="-122"/>
              </a:rPr>
              <a:t>（</a:t>
            </a:r>
            <a:r>
              <a:rPr lang="en-US" altLang="zh-CN" sz="1600" b="1" dirty="0">
                <a:solidFill>
                  <a:srgbClr val="6600FF"/>
                </a:solidFill>
                <a:latin typeface="方正粗黑宋简体" pitchFamily="2" charset="-122"/>
                <a:ea typeface="方正粗黑宋简体" pitchFamily="2" charset="-122"/>
              </a:rPr>
              <a:t>1</a:t>
            </a:r>
            <a:r>
              <a:rPr lang="zh-CN" altLang="zh-CN" sz="1600" b="1" dirty="0">
                <a:solidFill>
                  <a:srgbClr val="6600FF"/>
                </a:solidFill>
                <a:latin typeface="方正粗黑宋简体" pitchFamily="2" charset="-122"/>
                <a:ea typeface="方正粗黑宋简体" pitchFamily="2" charset="-122"/>
              </a:rPr>
              <a:t>）集电极开路门的引入</a:t>
            </a:r>
            <a:endParaRPr lang="en-US" altLang="zh-CN" sz="1600" b="1" dirty="0">
              <a:solidFill>
                <a:srgbClr val="6600FF"/>
              </a:solidFill>
              <a:latin typeface="方正粗黑宋简体" pitchFamily="2" charset="-122"/>
              <a:ea typeface="方正粗黑宋简体" pitchFamily="2" charset="-122"/>
            </a:endParaRPr>
          </a:p>
          <a:p>
            <a:pPr indent="536575" algn="just">
              <a:spcBef>
                <a:spcPts val="1200"/>
              </a:spcBef>
            </a:pPr>
            <a:r>
              <a:rPr kumimoji="1" lang="zh-CN" altLang="zh-CN" sz="1400" b="1" dirty="0">
                <a:solidFill>
                  <a:srgbClr val="080808"/>
                </a:solidFill>
                <a:latin typeface="Times New Roman" pitchFamily="18" charset="0"/>
                <a:ea typeface="黑体" pitchFamily="49" charset="-122"/>
                <a:cs typeface="Times New Roman" pitchFamily="18" charset="0"/>
              </a:rPr>
              <a:t>两个门的输出端直接并联实现与逻辑的功能，称为</a:t>
            </a:r>
            <a:r>
              <a:rPr kumimoji="1" lang="zh-CN" altLang="zh-CN" sz="1400" b="1" dirty="0">
                <a:solidFill>
                  <a:srgbClr val="6600FF"/>
                </a:solidFill>
                <a:latin typeface="Times New Roman" pitchFamily="18" charset="0"/>
                <a:ea typeface="黑体" pitchFamily="49" charset="-122"/>
                <a:cs typeface="Times New Roman" pitchFamily="18" charset="0"/>
              </a:rPr>
              <a:t>线与</a:t>
            </a:r>
            <a:r>
              <a:rPr kumimoji="1" lang="zh-CN" altLang="zh-CN" sz="1400" b="1" dirty="0">
                <a:solidFill>
                  <a:srgbClr val="080808"/>
                </a:solidFill>
                <a:latin typeface="Times New Roman" pitchFamily="18" charset="0"/>
                <a:ea typeface="黑体" pitchFamily="49" charset="-122"/>
                <a:cs typeface="Times New Roman" pitchFamily="18" charset="0"/>
              </a:rPr>
              <a:t>。</a:t>
            </a:r>
          </a:p>
        </p:txBody>
      </p:sp>
      <p:sp>
        <p:nvSpPr>
          <p:cNvPr id="26" name="TextBox 39">
            <a:extLst>
              <a:ext uri="{FF2B5EF4-FFF2-40B4-BE49-F238E27FC236}">
                <a16:creationId xmlns:a16="http://schemas.microsoft.com/office/drawing/2014/main" id="{2DA0A2A6-4907-4294-9649-8FCA44F014E5}"/>
              </a:ext>
            </a:extLst>
          </p:cNvPr>
          <p:cNvSpPr txBox="1"/>
          <p:nvPr/>
        </p:nvSpPr>
        <p:spPr>
          <a:xfrm>
            <a:off x="3810901" y="3359075"/>
            <a:ext cx="316112" cy="369332"/>
          </a:xfrm>
          <a:prstGeom prst="rect">
            <a:avLst/>
          </a:prstGeom>
          <a:noFill/>
        </p:spPr>
        <p:txBody>
          <a:bodyPr wrap="none" rtlCol="0">
            <a:spAutoFit/>
          </a:bodyPr>
          <a:lstStyle/>
          <a:p>
            <a:r>
              <a:rPr lang="en-US" altLang="zh-CN" b="1" dirty="0">
                <a:solidFill>
                  <a:srgbClr val="6600FF"/>
                </a:solidFill>
                <a:latin typeface="方正粗黑宋简体" pitchFamily="2" charset="-122"/>
                <a:ea typeface="方正粗黑宋简体" pitchFamily="2" charset="-122"/>
              </a:rPr>
              <a:t>1</a:t>
            </a:r>
            <a:endParaRPr lang="zh-CN" altLang="en-US" b="1" dirty="0">
              <a:solidFill>
                <a:srgbClr val="6600FF"/>
              </a:solidFill>
              <a:latin typeface="方正粗黑宋简体" pitchFamily="2" charset="-122"/>
              <a:ea typeface="方正粗黑宋简体" pitchFamily="2" charset="-122"/>
            </a:endParaRPr>
          </a:p>
        </p:txBody>
      </p:sp>
      <p:sp>
        <p:nvSpPr>
          <p:cNvPr id="27" name="TextBox 40">
            <a:extLst>
              <a:ext uri="{FF2B5EF4-FFF2-40B4-BE49-F238E27FC236}">
                <a16:creationId xmlns:a16="http://schemas.microsoft.com/office/drawing/2014/main" id="{6A74E431-B254-46DD-B31E-76D1E5099245}"/>
              </a:ext>
            </a:extLst>
          </p:cNvPr>
          <p:cNvSpPr txBox="1"/>
          <p:nvPr/>
        </p:nvSpPr>
        <p:spPr>
          <a:xfrm>
            <a:off x="4367161" y="3359075"/>
            <a:ext cx="316112" cy="369332"/>
          </a:xfrm>
          <a:prstGeom prst="rect">
            <a:avLst/>
          </a:prstGeom>
          <a:noFill/>
        </p:spPr>
        <p:txBody>
          <a:bodyPr wrap="none" rtlCol="0">
            <a:spAutoFit/>
          </a:bodyPr>
          <a:lstStyle/>
          <a:p>
            <a:r>
              <a:rPr lang="en-US" altLang="zh-CN" b="1" dirty="0">
                <a:solidFill>
                  <a:srgbClr val="6600FF"/>
                </a:solidFill>
                <a:latin typeface="方正粗黑宋简体" pitchFamily="2" charset="-122"/>
                <a:ea typeface="方正粗黑宋简体" pitchFamily="2" charset="-122"/>
              </a:rPr>
              <a:t>0</a:t>
            </a:r>
            <a:endParaRPr lang="zh-CN" altLang="en-US" b="1" dirty="0">
              <a:solidFill>
                <a:srgbClr val="6600FF"/>
              </a:solidFill>
              <a:latin typeface="方正粗黑宋简体" pitchFamily="2" charset="-122"/>
              <a:ea typeface="方正粗黑宋简体" pitchFamily="2" charset="-122"/>
            </a:endParaRPr>
          </a:p>
        </p:txBody>
      </p:sp>
      <p:grpSp>
        <p:nvGrpSpPr>
          <p:cNvPr id="10" name="组合 9">
            <a:extLst>
              <a:ext uri="{FF2B5EF4-FFF2-40B4-BE49-F238E27FC236}">
                <a16:creationId xmlns:a16="http://schemas.microsoft.com/office/drawing/2014/main" id="{BF4D8E57-FF77-42B3-9C5F-DE98668E618A}"/>
              </a:ext>
            </a:extLst>
          </p:cNvPr>
          <p:cNvGrpSpPr/>
          <p:nvPr/>
        </p:nvGrpSpPr>
        <p:grpSpPr>
          <a:xfrm>
            <a:off x="3445808" y="3060755"/>
            <a:ext cx="486821" cy="1192273"/>
            <a:chOff x="1607555" y="3371693"/>
            <a:chExt cx="486821" cy="1192273"/>
          </a:xfrm>
        </p:grpSpPr>
        <p:sp>
          <p:nvSpPr>
            <p:cNvPr id="28" name="乘号 27">
              <a:extLst>
                <a:ext uri="{FF2B5EF4-FFF2-40B4-BE49-F238E27FC236}">
                  <a16:creationId xmlns:a16="http://schemas.microsoft.com/office/drawing/2014/main" id="{DB7085FF-6080-42B5-9B7B-44566351FB5C}"/>
                </a:ext>
              </a:extLst>
            </p:cNvPr>
            <p:cNvSpPr/>
            <p:nvPr/>
          </p:nvSpPr>
          <p:spPr>
            <a:xfrm rot="10800000">
              <a:off x="1607555" y="4072973"/>
              <a:ext cx="486821" cy="490993"/>
            </a:xfrm>
            <a:prstGeom prst="mathMultiply">
              <a:avLst>
                <a:gd name="adj1" fmla="val 13414"/>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箭头: 下 6">
              <a:extLst>
                <a:ext uri="{FF2B5EF4-FFF2-40B4-BE49-F238E27FC236}">
                  <a16:creationId xmlns:a16="http://schemas.microsoft.com/office/drawing/2014/main" id="{53051864-E4A6-43DB-BF30-DF356BDC5A82}"/>
                </a:ext>
              </a:extLst>
            </p:cNvPr>
            <p:cNvSpPr/>
            <p:nvPr/>
          </p:nvSpPr>
          <p:spPr>
            <a:xfrm>
              <a:off x="1845666" y="3371693"/>
              <a:ext cx="157907" cy="503985"/>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a:extLst>
              <a:ext uri="{FF2B5EF4-FFF2-40B4-BE49-F238E27FC236}">
                <a16:creationId xmlns:a16="http://schemas.microsoft.com/office/drawing/2014/main" id="{0D8175E4-EDF7-4C37-96FD-92F8E78FD69C}"/>
              </a:ext>
            </a:extLst>
          </p:cNvPr>
          <p:cNvGrpSpPr/>
          <p:nvPr/>
        </p:nvGrpSpPr>
        <p:grpSpPr>
          <a:xfrm>
            <a:off x="4575113" y="2992388"/>
            <a:ext cx="486821" cy="1280889"/>
            <a:chOff x="2736860" y="3296069"/>
            <a:chExt cx="486821" cy="1280889"/>
          </a:xfrm>
        </p:grpSpPr>
        <p:sp>
          <p:nvSpPr>
            <p:cNvPr id="30" name="箭头: 下 29">
              <a:extLst>
                <a:ext uri="{FF2B5EF4-FFF2-40B4-BE49-F238E27FC236}">
                  <a16:creationId xmlns:a16="http://schemas.microsoft.com/office/drawing/2014/main" id="{3416BEC7-B134-460C-9D33-73007169654B}"/>
                </a:ext>
              </a:extLst>
            </p:cNvPr>
            <p:cNvSpPr/>
            <p:nvPr/>
          </p:nvSpPr>
          <p:spPr>
            <a:xfrm>
              <a:off x="2866329" y="4072973"/>
              <a:ext cx="157907" cy="503985"/>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乘号 35">
              <a:extLst>
                <a:ext uri="{FF2B5EF4-FFF2-40B4-BE49-F238E27FC236}">
                  <a16:creationId xmlns:a16="http://schemas.microsoft.com/office/drawing/2014/main" id="{D489409E-A129-48C1-810C-402335AD8E21}"/>
                </a:ext>
              </a:extLst>
            </p:cNvPr>
            <p:cNvSpPr/>
            <p:nvPr/>
          </p:nvSpPr>
          <p:spPr>
            <a:xfrm rot="10800000">
              <a:off x="2736860" y="3296069"/>
              <a:ext cx="486821" cy="490993"/>
            </a:xfrm>
            <a:prstGeom prst="mathMultiply">
              <a:avLst>
                <a:gd name="adj1" fmla="val 13414"/>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2" name="任意多边形 41"/>
          <p:cNvSpPr/>
          <p:nvPr/>
        </p:nvSpPr>
        <p:spPr>
          <a:xfrm>
            <a:off x="3913412" y="2510941"/>
            <a:ext cx="646524" cy="2040407"/>
          </a:xfrm>
          <a:custGeom>
            <a:avLst/>
            <a:gdLst>
              <a:gd name="connsiteX0" fmla="*/ 0 w 1104900"/>
              <a:gd name="connsiteY0" fmla="*/ 0 h 1813560"/>
              <a:gd name="connsiteX1" fmla="*/ 0 w 1104900"/>
              <a:gd name="connsiteY1" fmla="*/ 1021080 h 1813560"/>
              <a:gd name="connsiteX2" fmla="*/ 1104900 w 1104900"/>
              <a:gd name="connsiteY2" fmla="*/ 1021080 h 1813560"/>
              <a:gd name="connsiteX3" fmla="*/ 1104900 w 1104900"/>
              <a:gd name="connsiteY3" fmla="*/ 1813560 h 1813560"/>
            </a:gdLst>
            <a:ahLst/>
            <a:cxnLst>
              <a:cxn ang="0">
                <a:pos x="connsiteX0" y="connsiteY0"/>
              </a:cxn>
              <a:cxn ang="0">
                <a:pos x="connsiteX1" y="connsiteY1"/>
              </a:cxn>
              <a:cxn ang="0">
                <a:pos x="connsiteX2" y="connsiteY2"/>
              </a:cxn>
              <a:cxn ang="0">
                <a:pos x="connsiteX3" y="connsiteY3"/>
              </a:cxn>
            </a:cxnLst>
            <a:rect l="l" t="t" r="r" b="b"/>
            <a:pathLst>
              <a:path w="1104900" h="1813560">
                <a:moveTo>
                  <a:pt x="0" y="0"/>
                </a:moveTo>
                <a:lnTo>
                  <a:pt x="0" y="1021080"/>
                </a:lnTo>
                <a:lnTo>
                  <a:pt x="1104900" y="1021080"/>
                </a:lnTo>
                <a:lnTo>
                  <a:pt x="1104900" y="1813560"/>
                </a:lnTo>
              </a:path>
            </a:pathLst>
          </a:custGeom>
          <a:ln w="28575">
            <a:solidFill>
              <a:srgbClr val="0000FF"/>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3" name="组合 12">
            <a:extLst>
              <a:ext uri="{FF2B5EF4-FFF2-40B4-BE49-F238E27FC236}">
                <a16:creationId xmlns:a16="http://schemas.microsoft.com/office/drawing/2014/main" id="{1F0C5508-4A1C-4B83-BCB0-F6A240F66A5D}"/>
              </a:ext>
            </a:extLst>
          </p:cNvPr>
          <p:cNvGrpSpPr/>
          <p:nvPr/>
        </p:nvGrpSpPr>
        <p:grpSpPr>
          <a:xfrm>
            <a:off x="827407" y="2376807"/>
            <a:ext cx="1780405" cy="1895673"/>
            <a:chOff x="354688" y="2706880"/>
            <a:chExt cx="1780405" cy="1895673"/>
          </a:xfrm>
        </p:grpSpPr>
        <p:grpSp>
          <p:nvGrpSpPr>
            <p:cNvPr id="37" name="组合 36">
              <a:extLst>
                <a:ext uri="{FF2B5EF4-FFF2-40B4-BE49-F238E27FC236}">
                  <a16:creationId xmlns:a16="http://schemas.microsoft.com/office/drawing/2014/main" id="{1303BCA7-BF67-4074-BB90-4722BA625F40}"/>
                </a:ext>
              </a:extLst>
            </p:cNvPr>
            <p:cNvGrpSpPr/>
            <p:nvPr/>
          </p:nvGrpSpPr>
          <p:grpSpPr>
            <a:xfrm>
              <a:off x="354688" y="2706880"/>
              <a:ext cx="1582969" cy="1895673"/>
              <a:chOff x="1231900" y="2571750"/>
              <a:chExt cx="1582969" cy="1895673"/>
            </a:xfrm>
          </p:grpSpPr>
          <p:grpSp>
            <p:nvGrpSpPr>
              <p:cNvPr id="47" name="组合 46">
                <a:extLst>
                  <a:ext uri="{FF2B5EF4-FFF2-40B4-BE49-F238E27FC236}">
                    <a16:creationId xmlns:a16="http://schemas.microsoft.com/office/drawing/2014/main" id="{12FDA63C-675A-4216-9710-3640CC057193}"/>
                  </a:ext>
                </a:extLst>
              </p:cNvPr>
              <p:cNvGrpSpPr/>
              <p:nvPr/>
            </p:nvGrpSpPr>
            <p:grpSpPr>
              <a:xfrm>
                <a:off x="1231900" y="2857500"/>
                <a:ext cx="1582969" cy="1249680"/>
                <a:chOff x="1231900" y="2857500"/>
                <a:chExt cx="1582969" cy="1249680"/>
              </a:xfrm>
            </p:grpSpPr>
            <p:sp>
              <p:nvSpPr>
                <p:cNvPr id="51" name="矩形 50">
                  <a:extLst>
                    <a:ext uri="{FF2B5EF4-FFF2-40B4-BE49-F238E27FC236}">
                      <a16:creationId xmlns:a16="http://schemas.microsoft.com/office/drawing/2014/main" id="{9D284808-E84C-4E32-A115-70FF361CE665}"/>
                    </a:ext>
                  </a:extLst>
                </p:cNvPr>
                <p:cNvSpPr/>
                <p:nvPr/>
              </p:nvSpPr>
              <p:spPr>
                <a:xfrm>
                  <a:off x="1397000" y="3154680"/>
                  <a:ext cx="1132840" cy="699770"/>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a:extLst>
                    <a:ext uri="{FF2B5EF4-FFF2-40B4-BE49-F238E27FC236}">
                      <a16:creationId xmlns:a16="http://schemas.microsoft.com/office/drawing/2014/main" id="{AC7B6E93-1DA1-4FDF-9CD9-332D49CE5682}"/>
                    </a:ext>
                  </a:extLst>
                </p:cNvPr>
                <p:cNvSpPr/>
                <p:nvPr/>
              </p:nvSpPr>
              <p:spPr>
                <a:xfrm>
                  <a:off x="1798320" y="2918460"/>
                  <a:ext cx="342900" cy="502920"/>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Times New Roman" pitchFamily="18" charset="0"/>
                      <a:cs typeface="Times New Roman" pitchFamily="18" charset="0"/>
                    </a:rPr>
                    <a:t>1</a:t>
                  </a:r>
                  <a:endParaRPr lang="zh-CN" altLang="en-US" sz="2000" b="1" dirty="0">
                    <a:solidFill>
                      <a:schemeClr val="tx1"/>
                    </a:solidFill>
                    <a:latin typeface="Times New Roman" pitchFamily="18" charset="0"/>
                    <a:cs typeface="Times New Roman" pitchFamily="18" charset="0"/>
                  </a:endParaRPr>
                </a:p>
              </p:txBody>
            </p:sp>
            <p:sp>
              <p:nvSpPr>
                <p:cNvPr id="53" name="矩形 52">
                  <a:extLst>
                    <a:ext uri="{FF2B5EF4-FFF2-40B4-BE49-F238E27FC236}">
                      <a16:creationId xmlns:a16="http://schemas.microsoft.com/office/drawing/2014/main" id="{44B3A4F6-2B9C-402E-A9AC-8D21981BD0F3}"/>
                    </a:ext>
                  </a:extLst>
                </p:cNvPr>
                <p:cNvSpPr/>
                <p:nvPr/>
              </p:nvSpPr>
              <p:spPr>
                <a:xfrm>
                  <a:off x="1798320" y="3604260"/>
                  <a:ext cx="342900" cy="502920"/>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Times New Roman" pitchFamily="18" charset="0"/>
                      <a:cs typeface="Times New Roman" pitchFamily="18" charset="0"/>
                    </a:rPr>
                    <a:t>1</a:t>
                  </a:r>
                  <a:endParaRPr lang="zh-CN" altLang="en-US" sz="2000" b="1" dirty="0">
                    <a:solidFill>
                      <a:schemeClr val="tx1"/>
                    </a:solidFill>
                    <a:latin typeface="Times New Roman" pitchFamily="18" charset="0"/>
                    <a:cs typeface="Times New Roman" pitchFamily="18" charset="0"/>
                  </a:endParaRPr>
                </a:p>
              </p:txBody>
            </p:sp>
            <p:cxnSp>
              <p:nvCxnSpPr>
                <p:cNvPr id="54" name="直接连接符 53">
                  <a:extLst>
                    <a:ext uri="{FF2B5EF4-FFF2-40B4-BE49-F238E27FC236}">
                      <a16:creationId xmlns:a16="http://schemas.microsoft.com/office/drawing/2014/main" id="{0A1C4792-BA75-4C5E-A10E-88670F425F77}"/>
                    </a:ext>
                  </a:extLst>
                </p:cNvPr>
                <p:cNvCxnSpPr>
                  <a:cxnSpLocks/>
                </p:cNvCxnSpPr>
                <p:nvPr/>
              </p:nvCxnSpPr>
              <p:spPr>
                <a:xfrm>
                  <a:off x="2526030" y="3509010"/>
                  <a:ext cx="288839" cy="0"/>
                </a:xfrm>
                <a:prstGeom prst="line">
                  <a:avLst/>
                </a:prstGeom>
                <a:ln w="28575">
                  <a:solidFill>
                    <a:schemeClr val="tx1"/>
                  </a:solidFill>
                  <a:headEnd type="oval"/>
                </a:ln>
              </p:spPr>
              <p:style>
                <a:lnRef idx="1">
                  <a:schemeClr val="accent1"/>
                </a:lnRef>
                <a:fillRef idx="0">
                  <a:schemeClr val="accent1"/>
                </a:fillRef>
                <a:effectRef idx="0">
                  <a:schemeClr val="accent1"/>
                </a:effectRef>
                <a:fontRef idx="minor">
                  <a:schemeClr val="tx1"/>
                </a:fontRef>
              </p:style>
            </p:cxnSp>
            <p:sp>
              <p:nvSpPr>
                <p:cNvPr id="55" name="椭圆 54">
                  <a:extLst>
                    <a:ext uri="{FF2B5EF4-FFF2-40B4-BE49-F238E27FC236}">
                      <a16:creationId xmlns:a16="http://schemas.microsoft.com/office/drawing/2014/main" id="{A2B2DB31-9304-43AB-AB23-47E40BDB222D}"/>
                    </a:ext>
                  </a:extLst>
                </p:cNvPr>
                <p:cNvSpPr/>
                <p:nvPr/>
              </p:nvSpPr>
              <p:spPr>
                <a:xfrm>
                  <a:off x="2152650" y="3111500"/>
                  <a:ext cx="90000" cy="9000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a:extLst>
                    <a:ext uri="{FF2B5EF4-FFF2-40B4-BE49-F238E27FC236}">
                      <a16:creationId xmlns:a16="http://schemas.microsoft.com/office/drawing/2014/main" id="{C991DF2D-7661-4B8D-ABB9-882D597736F5}"/>
                    </a:ext>
                  </a:extLst>
                </p:cNvPr>
                <p:cNvSpPr/>
                <p:nvPr/>
              </p:nvSpPr>
              <p:spPr>
                <a:xfrm>
                  <a:off x="2146300" y="3803650"/>
                  <a:ext cx="90000" cy="9000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TextBox 19">
                  <a:extLst>
                    <a:ext uri="{FF2B5EF4-FFF2-40B4-BE49-F238E27FC236}">
                      <a16:creationId xmlns:a16="http://schemas.microsoft.com/office/drawing/2014/main" id="{24877F3D-7736-418E-B9F8-89D39EA115E8}"/>
                    </a:ext>
                  </a:extLst>
                </p:cNvPr>
                <p:cNvSpPr txBox="1"/>
                <p:nvPr/>
              </p:nvSpPr>
              <p:spPr>
                <a:xfrm>
                  <a:off x="1231900" y="2857500"/>
                  <a:ext cx="301686" cy="1181349"/>
                </a:xfrm>
                <a:prstGeom prst="rect">
                  <a:avLst/>
                </a:prstGeom>
                <a:solidFill>
                  <a:schemeClr val="bg1"/>
                </a:solidFill>
              </p:spPr>
              <p:txBody>
                <a:bodyPr wrap="square" lIns="0" rIns="36000" rtlCol="0">
                  <a:spAutoFit/>
                </a:bodyPr>
                <a:lstStyle/>
                <a:p>
                  <a:pPr algn="r">
                    <a:lnSpc>
                      <a:spcPct val="150000"/>
                    </a:lnSpc>
                    <a:spcBef>
                      <a:spcPts val="2400"/>
                    </a:spcBef>
                  </a:pPr>
                  <a:r>
                    <a:rPr lang="en-US" altLang="zh-CN" b="1" dirty="0">
                      <a:latin typeface="Times New Roman" pitchFamily="18" charset="0"/>
                      <a:cs typeface="Times New Roman" pitchFamily="18" charset="0"/>
                    </a:rPr>
                    <a:t>A</a:t>
                  </a:r>
                </a:p>
                <a:p>
                  <a:pPr algn="r">
                    <a:lnSpc>
                      <a:spcPct val="150000"/>
                    </a:lnSpc>
                    <a:spcBef>
                      <a:spcPts val="2400"/>
                    </a:spcBef>
                  </a:pPr>
                  <a:r>
                    <a:rPr lang="en-US" altLang="zh-CN" b="1" dirty="0">
                      <a:latin typeface="Times New Roman" pitchFamily="18" charset="0"/>
                      <a:cs typeface="Times New Roman" pitchFamily="18" charset="0"/>
                    </a:rPr>
                    <a:t>B</a:t>
                  </a:r>
                  <a:endParaRPr lang="zh-CN" altLang="en-US" b="1" dirty="0">
                    <a:latin typeface="Times New Roman" pitchFamily="18" charset="0"/>
                    <a:cs typeface="Times New Roman" pitchFamily="18" charset="0"/>
                  </a:endParaRPr>
                </a:p>
              </p:txBody>
            </p:sp>
          </p:grpSp>
          <p:sp>
            <p:nvSpPr>
              <p:cNvPr id="49" name="TextBox 22">
                <a:extLst>
                  <a:ext uri="{FF2B5EF4-FFF2-40B4-BE49-F238E27FC236}">
                    <a16:creationId xmlns:a16="http://schemas.microsoft.com/office/drawing/2014/main" id="{843F520C-EF28-4A29-8E7B-960101CDA83C}"/>
                  </a:ext>
                </a:extLst>
              </p:cNvPr>
              <p:cNvSpPr txBox="1"/>
              <p:nvPr/>
            </p:nvSpPr>
            <p:spPr>
              <a:xfrm>
                <a:off x="1752600" y="2571750"/>
                <a:ext cx="449580" cy="348813"/>
              </a:xfrm>
              <a:prstGeom prst="rect">
                <a:avLst/>
              </a:prstGeom>
              <a:noFill/>
            </p:spPr>
            <p:txBody>
              <a:bodyPr wrap="square" lIns="0" rIns="36000" rtlCol="0">
                <a:spAutoFit/>
              </a:bodyPr>
              <a:lstStyle/>
              <a:p>
                <a:pPr algn="ctr">
                  <a:lnSpc>
                    <a:spcPts val="2000"/>
                  </a:lnSpc>
                </a:pPr>
                <a:r>
                  <a:rPr lang="en-US" altLang="zh-CN" b="1" i="1" dirty="0">
                    <a:solidFill>
                      <a:schemeClr val="accent1">
                        <a:lumMod val="50000"/>
                      </a:schemeClr>
                    </a:solidFill>
                    <a:latin typeface="Times New Roman" pitchFamily="18" charset="0"/>
                    <a:cs typeface="Times New Roman" pitchFamily="18" charset="0"/>
                  </a:rPr>
                  <a:t>G</a:t>
                </a:r>
                <a:r>
                  <a:rPr lang="en-US" altLang="zh-CN" b="1" baseline="-25000" dirty="0">
                    <a:solidFill>
                      <a:schemeClr val="accent1">
                        <a:lumMod val="50000"/>
                      </a:schemeClr>
                    </a:solidFill>
                    <a:latin typeface="Times New Roman" pitchFamily="18" charset="0"/>
                    <a:cs typeface="Times New Roman" pitchFamily="18" charset="0"/>
                  </a:rPr>
                  <a:t>1</a:t>
                </a:r>
                <a:endParaRPr lang="zh-CN" altLang="en-US" b="1" baseline="-25000" dirty="0">
                  <a:solidFill>
                    <a:schemeClr val="accent1">
                      <a:lumMod val="50000"/>
                    </a:schemeClr>
                  </a:solidFill>
                  <a:latin typeface="Times New Roman" pitchFamily="18" charset="0"/>
                  <a:cs typeface="Times New Roman" pitchFamily="18" charset="0"/>
                </a:endParaRPr>
              </a:p>
            </p:txBody>
          </p:sp>
          <p:sp>
            <p:nvSpPr>
              <p:cNvPr id="50" name="TextBox 23">
                <a:extLst>
                  <a:ext uri="{FF2B5EF4-FFF2-40B4-BE49-F238E27FC236}">
                    <a16:creationId xmlns:a16="http://schemas.microsoft.com/office/drawing/2014/main" id="{CF76FC71-5E22-419D-AD55-14F7D0633A3D}"/>
                  </a:ext>
                </a:extLst>
              </p:cNvPr>
              <p:cNvSpPr txBox="1"/>
              <p:nvPr/>
            </p:nvSpPr>
            <p:spPr>
              <a:xfrm>
                <a:off x="1760220" y="4118610"/>
                <a:ext cx="449580" cy="348813"/>
              </a:xfrm>
              <a:prstGeom prst="rect">
                <a:avLst/>
              </a:prstGeom>
              <a:noFill/>
            </p:spPr>
            <p:txBody>
              <a:bodyPr wrap="square" lIns="0" rIns="36000" rtlCol="0">
                <a:spAutoFit/>
              </a:bodyPr>
              <a:lstStyle/>
              <a:p>
                <a:pPr algn="ctr">
                  <a:lnSpc>
                    <a:spcPts val="2000"/>
                  </a:lnSpc>
                </a:pPr>
                <a:r>
                  <a:rPr lang="en-US" altLang="zh-CN" b="1" i="1" dirty="0">
                    <a:solidFill>
                      <a:schemeClr val="accent1">
                        <a:lumMod val="50000"/>
                      </a:schemeClr>
                    </a:solidFill>
                    <a:latin typeface="Times New Roman" pitchFamily="18" charset="0"/>
                    <a:cs typeface="Times New Roman" pitchFamily="18" charset="0"/>
                  </a:rPr>
                  <a:t>G</a:t>
                </a:r>
                <a:r>
                  <a:rPr lang="en-US" altLang="zh-CN" b="1" baseline="-25000" dirty="0">
                    <a:solidFill>
                      <a:schemeClr val="accent1">
                        <a:lumMod val="50000"/>
                      </a:schemeClr>
                    </a:solidFill>
                    <a:latin typeface="Times New Roman" pitchFamily="18" charset="0"/>
                    <a:cs typeface="Times New Roman" pitchFamily="18" charset="0"/>
                  </a:rPr>
                  <a:t>2</a:t>
                </a:r>
                <a:endParaRPr lang="zh-CN" altLang="en-US" b="1" baseline="-25000" dirty="0">
                  <a:solidFill>
                    <a:schemeClr val="accent1">
                      <a:lumMod val="50000"/>
                    </a:schemeClr>
                  </a:solidFill>
                  <a:latin typeface="Times New Roman" pitchFamily="18" charset="0"/>
                  <a:cs typeface="Times New Roman" pitchFamily="18" charset="0"/>
                </a:endParaRPr>
              </a:p>
            </p:txBody>
          </p:sp>
        </p:grpSp>
        <p:sp>
          <p:nvSpPr>
            <p:cNvPr id="59" name="TextBox 19">
              <a:extLst>
                <a:ext uri="{FF2B5EF4-FFF2-40B4-BE49-F238E27FC236}">
                  <a16:creationId xmlns:a16="http://schemas.microsoft.com/office/drawing/2014/main" id="{9760D6D2-B17C-4523-BF87-04DF01E34789}"/>
                </a:ext>
              </a:extLst>
            </p:cNvPr>
            <p:cNvSpPr txBox="1"/>
            <p:nvPr/>
          </p:nvSpPr>
          <p:spPr>
            <a:xfrm>
              <a:off x="1833407" y="3354033"/>
              <a:ext cx="301686" cy="458074"/>
            </a:xfrm>
            <a:prstGeom prst="rect">
              <a:avLst/>
            </a:prstGeom>
            <a:solidFill>
              <a:schemeClr val="bg1"/>
            </a:solidFill>
          </p:spPr>
          <p:txBody>
            <a:bodyPr wrap="square" lIns="0" rIns="36000" rtlCol="0">
              <a:spAutoFit/>
            </a:bodyPr>
            <a:lstStyle/>
            <a:p>
              <a:pPr algn="r">
                <a:lnSpc>
                  <a:spcPct val="150000"/>
                </a:lnSpc>
                <a:spcBef>
                  <a:spcPts val="2400"/>
                </a:spcBef>
              </a:pPr>
              <a:r>
                <a:rPr lang="en-US" altLang="zh-CN" b="1" i="1" dirty="0">
                  <a:latin typeface="Times New Roman" pitchFamily="18" charset="0"/>
                  <a:cs typeface="Times New Roman" pitchFamily="18" charset="0"/>
                </a:rPr>
                <a:t>L</a:t>
              </a:r>
              <a:endParaRPr lang="zh-CN" altLang="en-US" b="1" i="1" dirty="0">
                <a:latin typeface="Times New Roman" pitchFamily="18" charset="0"/>
                <a:cs typeface="Times New Roman" pitchFamily="18" charset="0"/>
              </a:endParaRPr>
            </a:p>
          </p:txBody>
        </p:sp>
      </p:grpSp>
      <p:sp>
        <p:nvSpPr>
          <p:cNvPr id="62" name="矩形: 圆角 61">
            <a:extLst>
              <a:ext uri="{FF2B5EF4-FFF2-40B4-BE49-F238E27FC236}">
                <a16:creationId xmlns:a16="http://schemas.microsoft.com/office/drawing/2014/main" id="{B7B7C051-6837-4ED0-94C5-C9FF3E2AEA50}"/>
              </a:ext>
            </a:extLst>
          </p:cNvPr>
          <p:cNvSpPr/>
          <p:nvPr/>
        </p:nvSpPr>
        <p:spPr>
          <a:xfrm>
            <a:off x="785950" y="4845081"/>
            <a:ext cx="7572099" cy="673957"/>
          </a:xfrm>
          <a:prstGeom prst="roundRect">
            <a:avLst>
              <a:gd name="adj" fmla="val 5253"/>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355600">
              <a:lnSpc>
                <a:spcPct val="150000"/>
              </a:lnSpc>
            </a:pPr>
            <a:r>
              <a:rPr kumimoji="1" lang="zh-CN" altLang="zh-CN" sz="1400" b="1" dirty="0">
                <a:solidFill>
                  <a:srgbClr val="080808"/>
                </a:solidFill>
                <a:latin typeface="Times New Roman" pitchFamily="18" charset="0"/>
                <a:ea typeface="黑体" pitchFamily="49" charset="-122"/>
                <a:cs typeface="Times New Roman" pitchFamily="18" charset="0"/>
              </a:rPr>
              <a:t>普通的门电路，无法实现线与的功能。为了解决这一问题，在</a:t>
            </a:r>
            <a:r>
              <a:rPr kumimoji="1" lang="en-US" altLang="zh-CN" sz="1400" b="1" dirty="0">
                <a:solidFill>
                  <a:srgbClr val="080808"/>
                </a:solidFill>
                <a:latin typeface="Times New Roman" pitchFamily="18" charset="0"/>
                <a:ea typeface="黑体" pitchFamily="49" charset="-122"/>
                <a:cs typeface="Times New Roman" pitchFamily="18" charset="0"/>
              </a:rPr>
              <a:t>TTL</a:t>
            </a:r>
            <a:r>
              <a:rPr kumimoji="1" lang="zh-CN" altLang="zh-CN" sz="1400" b="1" dirty="0">
                <a:solidFill>
                  <a:srgbClr val="080808"/>
                </a:solidFill>
                <a:latin typeface="Times New Roman" pitchFamily="18" charset="0"/>
                <a:ea typeface="黑体" pitchFamily="49" charset="-122"/>
                <a:cs typeface="Times New Roman" pitchFamily="18" charset="0"/>
              </a:rPr>
              <a:t>门电路中引入了集电极开路门，简称</a:t>
            </a:r>
            <a:r>
              <a:rPr kumimoji="1" lang="en-US" altLang="zh-CN" sz="1400" b="1" dirty="0">
                <a:solidFill>
                  <a:srgbClr val="080808"/>
                </a:solidFill>
                <a:latin typeface="Times New Roman" pitchFamily="18" charset="0"/>
                <a:ea typeface="黑体" pitchFamily="49" charset="-122"/>
                <a:cs typeface="Times New Roman" pitchFamily="18" charset="0"/>
              </a:rPr>
              <a:t>OC</a:t>
            </a:r>
            <a:r>
              <a:rPr kumimoji="1" lang="zh-CN" altLang="zh-CN" sz="1400" b="1" dirty="0">
                <a:solidFill>
                  <a:srgbClr val="080808"/>
                </a:solidFill>
                <a:latin typeface="Times New Roman" pitchFamily="18" charset="0"/>
                <a:ea typeface="黑体" pitchFamily="49" charset="-122"/>
                <a:cs typeface="Times New Roman" pitchFamily="18" charset="0"/>
              </a:rPr>
              <a:t>门（</a:t>
            </a:r>
            <a:r>
              <a:rPr kumimoji="1" lang="en-US" altLang="zh-CN" sz="1400" b="1" dirty="0">
                <a:solidFill>
                  <a:srgbClr val="080808"/>
                </a:solidFill>
                <a:latin typeface="Times New Roman" pitchFamily="18" charset="0"/>
                <a:ea typeface="黑体" pitchFamily="49" charset="-122"/>
                <a:cs typeface="Times New Roman" pitchFamily="18" charset="0"/>
              </a:rPr>
              <a:t>OC</a:t>
            </a:r>
            <a:r>
              <a:rPr kumimoji="1" lang="zh-CN" altLang="zh-CN" sz="1400" b="1" dirty="0">
                <a:solidFill>
                  <a:srgbClr val="080808"/>
                </a:solidFill>
                <a:latin typeface="Times New Roman" pitchFamily="18" charset="0"/>
                <a:ea typeface="黑体" pitchFamily="49" charset="-122"/>
                <a:cs typeface="Times New Roman" pitchFamily="18" charset="0"/>
              </a:rPr>
              <a:t>为</a:t>
            </a:r>
            <a:r>
              <a:rPr kumimoji="1" lang="en-US" altLang="zh-CN" sz="1400" b="1" dirty="0">
                <a:solidFill>
                  <a:srgbClr val="080808"/>
                </a:solidFill>
                <a:latin typeface="Times New Roman" pitchFamily="18" charset="0"/>
                <a:ea typeface="黑体" pitchFamily="49" charset="-122"/>
                <a:cs typeface="Times New Roman" pitchFamily="18" charset="0"/>
              </a:rPr>
              <a:t>Open Collector</a:t>
            </a:r>
            <a:r>
              <a:rPr kumimoji="1" lang="zh-CN" altLang="zh-CN" sz="1400" b="1" dirty="0">
                <a:solidFill>
                  <a:srgbClr val="080808"/>
                </a:solidFill>
                <a:latin typeface="Times New Roman" pitchFamily="18" charset="0"/>
                <a:ea typeface="黑体" pitchFamily="49" charset="-122"/>
                <a:cs typeface="Times New Roman" pitchFamily="18" charset="0"/>
              </a:rPr>
              <a:t>的缩写）。</a:t>
            </a:r>
            <a:endParaRPr lang="zh-CN" altLang="en-US" sz="1400" dirty="0"/>
          </a:p>
        </p:txBody>
      </p:sp>
      <p:sp>
        <p:nvSpPr>
          <p:cNvPr id="35" name="TextBox 39">
            <a:extLst>
              <a:ext uri="{FF2B5EF4-FFF2-40B4-BE49-F238E27FC236}">
                <a16:creationId xmlns:a16="http://schemas.microsoft.com/office/drawing/2014/main" id="{2DA0A2A6-4907-4294-9649-8FCA44F014E5}"/>
              </a:ext>
            </a:extLst>
          </p:cNvPr>
          <p:cNvSpPr txBox="1"/>
          <p:nvPr/>
        </p:nvSpPr>
        <p:spPr>
          <a:xfrm>
            <a:off x="1853701" y="2604275"/>
            <a:ext cx="316112" cy="369332"/>
          </a:xfrm>
          <a:prstGeom prst="rect">
            <a:avLst/>
          </a:prstGeom>
          <a:noFill/>
        </p:spPr>
        <p:txBody>
          <a:bodyPr wrap="none" rtlCol="0">
            <a:spAutoFit/>
          </a:bodyPr>
          <a:lstStyle/>
          <a:p>
            <a:r>
              <a:rPr lang="en-US" altLang="zh-CN" b="1" dirty="0">
                <a:solidFill>
                  <a:srgbClr val="6600FF"/>
                </a:solidFill>
                <a:latin typeface="方正粗黑宋简体" pitchFamily="2" charset="-122"/>
                <a:ea typeface="方正粗黑宋简体" pitchFamily="2" charset="-122"/>
              </a:rPr>
              <a:t>1</a:t>
            </a:r>
            <a:endParaRPr lang="zh-CN" altLang="en-US" b="1" dirty="0">
              <a:solidFill>
                <a:srgbClr val="6600FF"/>
              </a:solidFill>
              <a:latin typeface="方正粗黑宋简体" pitchFamily="2" charset="-122"/>
              <a:ea typeface="方正粗黑宋简体" pitchFamily="2" charset="-122"/>
            </a:endParaRPr>
          </a:p>
        </p:txBody>
      </p:sp>
      <p:sp>
        <p:nvSpPr>
          <p:cNvPr id="38" name="TextBox 40">
            <a:extLst>
              <a:ext uri="{FF2B5EF4-FFF2-40B4-BE49-F238E27FC236}">
                <a16:creationId xmlns:a16="http://schemas.microsoft.com/office/drawing/2014/main" id="{6A74E431-B254-46DD-B31E-76D1E5099245}"/>
              </a:ext>
            </a:extLst>
          </p:cNvPr>
          <p:cNvSpPr txBox="1"/>
          <p:nvPr/>
        </p:nvSpPr>
        <p:spPr>
          <a:xfrm>
            <a:off x="1819561" y="3677075"/>
            <a:ext cx="316112" cy="369332"/>
          </a:xfrm>
          <a:prstGeom prst="rect">
            <a:avLst/>
          </a:prstGeom>
          <a:noFill/>
        </p:spPr>
        <p:txBody>
          <a:bodyPr wrap="none" rtlCol="0">
            <a:spAutoFit/>
          </a:bodyPr>
          <a:lstStyle/>
          <a:p>
            <a:r>
              <a:rPr lang="en-US" altLang="zh-CN" b="1" dirty="0">
                <a:solidFill>
                  <a:srgbClr val="6600FF"/>
                </a:solidFill>
                <a:latin typeface="方正粗黑宋简体" pitchFamily="2" charset="-122"/>
                <a:ea typeface="方正粗黑宋简体" pitchFamily="2" charset="-122"/>
              </a:rPr>
              <a:t>0</a:t>
            </a:r>
            <a:endParaRPr lang="zh-CN" altLang="en-US" b="1" dirty="0">
              <a:solidFill>
                <a:srgbClr val="6600FF"/>
              </a:solidFill>
              <a:latin typeface="方正粗黑宋简体" pitchFamily="2" charset="-122"/>
              <a:ea typeface="方正粗黑宋简体" pitchFamily="2" charset="-122"/>
            </a:endParaRPr>
          </a:p>
        </p:txBody>
      </p:sp>
    </p:spTree>
  </p:cSld>
  <p:clrMapOvr>
    <a:masterClrMapping/>
  </p:clrMapOvr>
  <p:transition spd="slow">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slide(fromBottom)">
                                      <p:cBhvr>
                                        <p:cTn id="7" dur="1000"/>
                                        <p:tgtEl>
                                          <p:spTgt spid="29"/>
                                        </p:tgtEl>
                                      </p:cBhvr>
                                    </p:animEffect>
                                  </p:childTnLst>
                                </p:cTn>
                              </p:par>
                            </p:childTnLst>
                          </p:cTn>
                        </p:par>
                        <p:par>
                          <p:cTn id="8" fill="hold">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slide(fromBottom)">
                                      <p:cBhvr>
                                        <p:cTn id="11" dur="1000"/>
                                        <p:tgtEl>
                                          <p:spTgt spid="21"/>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8" fill="hold" nodeType="click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slide(fromLeft)">
                                      <p:cBhvr>
                                        <p:cTn id="16" dur="1000"/>
                                        <p:tgtEl>
                                          <p:spTgt spid="13"/>
                                        </p:tgtEl>
                                      </p:cBhvr>
                                    </p:animEffect>
                                  </p:childTnLst>
                                </p:cTn>
                              </p:par>
                            </p:childTnLst>
                          </p:cTn>
                        </p:par>
                        <p:par>
                          <p:cTn id="17" fill="hold">
                            <p:stCondLst>
                              <p:cond delay="1000"/>
                            </p:stCondLst>
                            <p:childTnLst>
                              <p:par>
                                <p:cTn id="18" presetID="12" presetClass="entr" presetSubtype="2" fill="hold" nodeType="after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slide(fromRight)">
                                      <p:cBhvr>
                                        <p:cTn id="20" dur="1000"/>
                                        <p:tgtEl>
                                          <p:spTgt spid="15"/>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8"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slide(fromLeft)">
                                      <p:cBhvr>
                                        <p:cTn id="25" dur="1000"/>
                                        <p:tgtEl>
                                          <p:spTgt spid="26"/>
                                        </p:tgtEl>
                                      </p:cBhvr>
                                    </p:animEffect>
                                  </p:childTnLst>
                                </p:cTn>
                              </p:par>
                              <p:par>
                                <p:cTn id="26" presetID="12" presetClass="entr" presetSubtype="8" fill="hold" grpId="0" nodeType="withEffect">
                                  <p:stCondLst>
                                    <p:cond delay="0"/>
                                  </p:stCondLst>
                                  <p:childTnLst>
                                    <p:set>
                                      <p:cBhvr>
                                        <p:cTn id="27" dur="1" fill="hold">
                                          <p:stCondLst>
                                            <p:cond delay="0"/>
                                          </p:stCondLst>
                                        </p:cTn>
                                        <p:tgtEl>
                                          <p:spTgt spid="35"/>
                                        </p:tgtEl>
                                        <p:attrNameLst>
                                          <p:attrName>style.visibility</p:attrName>
                                        </p:attrNameLst>
                                      </p:cBhvr>
                                      <p:to>
                                        <p:strVal val="visible"/>
                                      </p:to>
                                    </p:set>
                                    <p:animEffect transition="in" filter="slide(fromLeft)">
                                      <p:cBhvr>
                                        <p:cTn id="28" dur="1000"/>
                                        <p:tgtEl>
                                          <p:spTgt spid="35"/>
                                        </p:tgtEl>
                                      </p:cBhvr>
                                    </p:animEffect>
                                  </p:childTnLst>
                                </p:cTn>
                              </p:par>
                            </p:childTnLst>
                          </p:cTn>
                        </p:par>
                        <p:par>
                          <p:cTn id="29" fill="hold">
                            <p:stCondLst>
                              <p:cond delay="1000"/>
                            </p:stCondLst>
                            <p:childTnLst>
                              <p:par>
                                <p:cTn id="30" presetID="22" presetClass="entr" presetSubtype="1" fill="hold" nodeType="after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up)">
                                      <p:cBhvr>
                                        <p:cTn id="32" dur="10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2" fill="hold" grpId="0"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slide(fromRight)">
                                      <p:cBhvr>
                                        <p:cTn id="37" dur="1000"/>
                                        <p:tgtEl>
                                          <p:spTgt spid="27"/>
                                        </p:tgtEl>
                                      </p:cBhvr>
                                    </p:animEffect>
                                  </p:childTnLst>
                                </p:cTn>
                              </p:par>
                              <p:par>
                                <p:cTn id="38" presetID="12" presetClass="entr" presetSubtype="8" fill="hold" grpId="0" nodeType="withEffect">
                                  <p:stCondLst>
                                    <p:cond delay="0"/>
                                  </p:stCondLst>
                                  <p:childTnLst>
                                    <p:set>
                                      <p:cBhvr>
                                        <p:cTn id="39" dur="1" fill="hold">
                                          <p:stCondLst>
                                            <p:cond delay="0"/>
                                          </p:stCondLst>
                                        </p:cTn>
                                        <p:tgtEl>
                                          <p:spTgt spid="38"/>
                                        </p:tgtEl>
                                        <p:attrNameLst>
                                          <p:attrName>style.visibility</p:attrName>
                                        </p:attrNameLst>
                                      </p:cBhvr>
                                      <p:to>
                                        <p:strVal val="visible"/>
                                      </p:to>
                                    </p:set>
                                    <p:animEffect transition="in" filter="slide(fromLeft)">
                                      <p:cBhvr>
                                        <p:cTn id="40" dur="1000"/>
                                        <p:tgtEl>
                                          <p:spTgt spid="38"/>
                                        </p:tgtEl>
                                      </p:cBhvr>
                                    </p:animEffect>
                                  </p:childTnLst>
                                </p:cTn>
                              </p:par>
                            </p:childTnLst>
                          </p:cTn>
                        </p:par>
                        <p:par>
                          <p:cTn id="41" fill="hold">
                            <p:stCondLst>
                              <p:cond delay="1000"/>
                            </p:stCondLst>
                            <p:childTnLst>
                              <p:par>
                                <p:cTn id="42" presetID="22" presetClass="entr" presetSubtype="1" fill="hold" nodeType="after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wipe(up)">
                                      <p:cBhvr>
                                        <p:cTn id="44" dur="1000"/>
                                        <p:tgtEl>
                                          <p:spTgt spid="11"/>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grpId="0" nodeType="clickEffect">
                                  <p:stCondLst>
                                    <p:cond delay="0"/>
                                  </p:stCondLst>
                                  <p:childTnLst>
                                    <p:set>
                                      <p:cBhvr>
                                        <p:cTn id="48" dur="1" fill="hold">
                                          <p:stCondLst>
                                            <p:cond delay="0"/>
                                          </p:stCondLst>
                                        </p:cTn>
                                        <p:tgtEl>
                                          <p:spTgt spid="42"/>
                                        </p:tgtEl>
                                        <p:attrNameLst>
                                          <p:attrName>style.visibility</p:attrName>
                                        </p:attrNameLst>
                                      </p:cBhvr>
                                      <p:to>
                                        <p:strVal val="visible"/>
                                      </p:to>
                                    </p:set>
                                    <p:animEffect transition="in" filter="wipe(up)">
                                      <p:cBhvr>
                                        <p:cTn id="49" dur="1000"/>
                                        <p:tgtEl>
                                          <p:spTgt spid="42"/>
                                        </p:tgtEl>
                                      </p:cBhvr>
                                    </p:animEffect>
                                  </p:childTnLst>
                                </p:cTn>
                              </p:par>
                            </p:childTnLst>
                          </p:cTn>
                        </p:par>
                        <p:par>
                          <p:cTn id="50" fill="hold">
                            <p:stCondLst>
                              <p:cond delay="1000"/>
                            </p:stCondLst>
                            <p:childTnLst>
                              <p:par>
                                <p:cTn id="51" presetID="22" presetClass="entr" presetSubtype="8" fill="hold" grpId="0" nodeType="afterEffect">
                                  <p:stCondLst>
                                    <p:cond delay="0"/>
                                  </p:stCondLst>
                                  <p:childTnLst>
                                    <p:set>
                                      <p:cBhvr>
                                        <p:cTn id="52" dur="1" fill="hold">
                                          <p:stCondLst>
                                            <p:cond delay="0"/>
                                          </p:stCondLst>
                                        </p:cTn>
                                        <p:tgtEl>
                                          <p:spTgt spid="8"/>
                                        </p:tgtEl>
                                        <p:attrNameLst>
                                          <p:attrName>style.visibility</p:attrName>
                                        </p:attrNameLst>
                                      </p:cBhvr>
                                      <p:to>
                                        <p:strVal val="visible"/>
                                      </p:to>
                                    </p:set>
                                    <p:animEffect transition="in" filter="wipe(left)">
                                      <p:cBhvr>
                                        <p:cTn id="53" dur="1000"/>
                                        <p:tgtEl>
                                          <p:spTgt spid="8"/>
                                        </p:tgtEl>
                                      </p:cBhvr>
                                    </p:animEffect>
                                  </p:childTnLst>
                                </p:cTn>
                              </p:par>
                            </p:childTnLst>
                          </p:cTn>
                        </p:par>
                      </p:childTnLst>
                    </p:cTn>
                  </p:par>
                  <p:par>
                    <p:cTn id="54" fill="hold">
                      <p:stCondLst>
                        <p:cond delay="indefinite"/>
                      </p:stCondLst>
                      <p:childTnLst>
                        <p:par>
                          <p:cTn id="55" fill="hold">
                            <p:stCondLst>
                              <p:cond delay="0"/>
                            </p:stCondLst>
                            <p:childTnLst>
                              <p:par>
                                <p:cTn id="56" presetID="12" presetClass="entr" presetSubtype="4" fill="hold" grpId="0" nodeType="clickEffect">
                                  <p:stCondLst>
                                    <p:cond delay="0"/>
                                  </p:stCondLst>
                                  <p:childTnLst>
                                    <p:set>
                                      <p:cBhvr>
                                        <p:cTn id="57" dur="1" fill="hold">
                                          <p:stCondLst>
                                            <p:cond delay="0"/>
                                          </p:stCondLst>
                                        </p:cTn>
                                        <p:tgtEl>
                                          <p:spTgt spid="62"/>
                                        </p:tgtEl>
                                        <p:attrNameLst>
                                          <p:attrName>style.visibility</p:attrName>
                                        </p:attrNameLst>
                                      </p:cBhvr>
                                      <p:to>
                                        <p:strVal val="visible"/>
                                      </p:to>
                                    </p:set>
                                    <p:animEffect transition="in" filter="slide(fromBottom)">
                                      <p:cBhvr>
                                        <p:cTn id="58" dur="10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1" grpId="0"/>
      <p:bldP spid="26" grpId="0"/>
      <p:bldP spid="27" grpId="0"/>
      <p:bldP spid="42" grpId="0" animBg="1"/>
      <p:bldP spid="62" grpId="0" animBg="1"/>
      <p:bldP spid="35" grpId="0"/>
      <p:bldP spid="3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E6AA5E4B-61D7-498A-A6B9-55BD73DB47C3}"/>
              </a:ext>
            </a:extLst>
          </p:cNvPr>
          <p:cNvGrpSpPr/>
          <p:nvPr/>
        </p:nvGrpSpPr>
        <p:grpSpPr>
          <a:xfrm>
            <a:off x="514932" y="1938352"/>
            <a:ext cx="4634918" cy="2836162"/>
            <a:chOff x="514932" y="1938352"/>
            <a:chExt cx="4634918" cy="2836162"/>
          </a:xfrm>
        </p:grpSpPr>
        <p:sp>
          <p:nvSpPr>
            <p:cNvPr id="49" name="圆角矩形 56">
              <a:extLst>
                <a:ext uri="{FF2B5EF4-FFF2-40B4-BE49-F238E27FC236}">
                  <a16:creationId xmlns:a16="http://schemas.microsoft.com/office/drawing/2014/main" id="{E494810A-58E5-4C4F-9A8E-EB1EA9F1056B}"/>
                </a:ext>
              </a:extLst>
            </p:cNvPr>
            <p:cNvSpPr/>
            <p:nvPr/>
          </p:nvSpPr>
          <p:spPr>
            <a:xfrm>
              <a:off x="514932" y="1938352"/>
              <a:ext cx="4634918" cy="2836162"/>
            </a:xfrm>
            <a:prstGeom prst="roundRect">
              <a:avLst>
                <a:gd name="adj" fmla="val 6694"/>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9" name="Picture 42"/>
            <p:cNvPicPr>
              <a:picLocks noChangeAspect="1" noChangeArrowheads="1"/>
            </p:cNvPicPr>
            <p:nvPr/>
          </p:nvPicPr>
          <p:blipFill>
            <a:blip r:embed="rId3" cstate="print"/>
            <a:srcRect/>
            <a:stretch>
              <a:fillRect/>
            </a:stretch>
          </p:blipFill>
          <p:spPr bwMode="auto">
            <a:xfrm>
              <a:off x="634784" y="1990727"/>
              <a:ext cx="2573236" cy="2161928"/>
            </a:xfrm>
            <a:prstGeom prst="rect">
              <a:avLst/>
            </a:prstGeom>
            <a:noFill/>
            <a:ln w="9525">
              <a:noFill/>
              <a:miter lim="800000"/>
              <a:headEnd/>
              <a:tailEnd/>
            </a:ln>
            <a:effectLst/>
          </p:spPr>
        </p:pic>
      </p:grpSp>
      <p:grpSp>
        <p:nvGrpSpPr>
          <p:cNvPr id="28" name="组合 27"/>
          <p:cNvGrpSpPr/>
          <p:nvPr/>
        </p:nvGrpSpPr>
        <p:grpSpPr>
          <a:xfrm>
            <a:off x="282575" y="785614"/>
            <a:ext cx="5275262" cy="373579"/>
            <a:chOff x="307975" y="1517134"/>
            <a:chExt cx="5275262" cy="373579"/>
          </a:xfrm>
        </p:grpSpPr>
        <p:grpSp>
          <p:nvGrpSpPr>
            <p:cNvPr id="29" name="组合 32"/>
            <p:cNvGrpSpPr/>
            <p:nvPr/>
          </p:nvGrpSpPr>
          <p:grpSpPr>
            <a:xfrm>
              <a:off x="307975" y="1519116"/>
              <a:ext cx="568325" cy="371597"/>
              <a:chOff x="307975" y="1519116"/>
              <a:chExt cx="568325" cy="371597"/>
            </a:xfrm>
          </p:grpSpPr>
          <p:pic>
            <p:nvPicPr>
              <p:cNvPr id="31" name="Picture 4"/>
              <p:cNvPicPr>
                <a:picLocks noChangeAspect="1" noChangeArrowheads="1"/>
              </p:cNvPicPr>
              <p:nvPr/>
            </p:nvPicPr>
            <p:blipFill>
              <a:blip r:embed="rId4" cstate="print"/>
              <a:srcRect/>
              <a:stretch>
                <a:fillRect/>
              </a:stretch>
            </p:blipFill>
            <p:spPr bwMode="auto">
              <a:xfrm flipH="1">
                <a:off x="307975" y="1519116"/>
                <a:ext cx="568325" cy="371597"/>
              </a:xfrm>
              <a:prstGeom prst="rect">
                <a:avLst/>
              </a:prstGeom>
              <a:noFill/>
              <a:ln w="9525">
                <a:noFill/>
                <a:miter lim="800000"/>
                <a:headEnd/>
                <a:tailEnd/>
              </a:ln>
              <a:effectLst/>
            </p:spPr>
          </p:pic>
          <p:sp>
            <p:nvSpPr>
              <p:cNvPr id="32" name="TextBox 31"/>
              <p:cNvSpPr txBox="1"/>
              <p:nvPr/>
            </p:nvSpPr>
            <p:spPr>
              <a:xfrm flipH="1">
                <a:off x="443415" y="1555750"/>
                <a:ext cx="142668" cy="276999"/>
              </a:xfrm>
              <a:prstGeom prst="rect">
                <a:avLst/>
              </a:prstGeom>
              <a:noFill/>
            </p:spPr>
            <p:txBody>
              <a:bodyPr wrap="none" lIns="0" tIns="0" rIns="0" bIns="0" rtlCol="0">
                <a:spAutoFit/>
              </a:bodyPr>
              <a:lstStyle/>
              <a:p>
                <a:r>
                  <a:rPr lang="en-US" altLang="zh-CN" b="1" dirty="0">
                    <a:solidFill>
                      <a:srgbClr val="262626"/>
                    </a:solidFill>
                    <a:latin typeface="Segoe UI Black" pitchFamily="34" charset="0"/>
                    <a:ea typeface="Segoe UI Black" pitchFamily="34" charset="0"/>
                    <a:cs typeface="Times New Roman" pitchFamily="18" charset="0"/>
                  </a:rPr>
                  <a:t>4</a:t>
                </a:r>
                <a:endParaRPr lang="zh-CN" altLang="en-US" b="1" dirty="0">
                  <a:solidFill>
                    <a:srgbClr val="262626"/>
                  </a:solidFill>
                  <a:latin typeface="Segoe UI Black" pitchFamily="34" charset="0"/>
                  <a:cs typeface="Times New Roman" pitchFamily="18" charset="0"/>
                </a:endParaRPr>
              </a:p>
            </p:txBody>
          </p:sp>
        </p:grpSp>
        <p:sp>
          <p:nvSpPr>
            <p:cNvPr id="30" name="矩形 29"/>
            <p:cNvSpPr/>
            <p:nvPr/>
          </p:nvSpPr>
          <p:spPr>
            <a:xfrm>
              <a:off x="863675" y="1517134"/>
              <a:ext cx="4719562" cy="369332"/>
            </a:xfrm>
            <a:prstGeom prst="rect">
              <a:avLst/>
            </a:prstGeom>
          </p:spPr>
          <p:txBody>
            <a:bodyPr wrap="none">
              <a:spAutoFit/>
            </a:bodyPr>
            <a:lstStyle/>
            <a:p>
              <a:r>
                <a:rPr lang="en-US" altLang="zh-CN" b="1" dirty="0">
                  <a:solidFill>
                    <a:schemeClr val="accent1">
                      <a:lumMod val="50000"/>
                    </a:schemeClr>
                  </a:solidFill>
                  <a:latin typeface="Times New Roman" pitchFamily="18" charset="0"/>
                  <a:ea typeface="黑体" pitchFamily="49" charset="-122"/>
                  <a:cs typeface="Times New Roman" pitchFamily="18" charset="0"/>
                </a:rPr>
                <a:t>TTL</a:t>
              </a:r>
              <a:r>
                <a:rPr lang="zh-CN" altLang="en-US" b="1" dirty="0">
                  <a:solidFill>
                    <a:schemeClr val="accent1">
                      <a:lumMod val="50000"/>
                    </a:schemeClr>
                  </a:solidFill>
                  <a:latin typeface="Times New Roman" pitchFamily="18" charset="0"/>
                  <a:ea typeface="黑体" pitchFamily="49" charset="-122"/>
                  <a:cs typeface="Times New Roman" pitchFamily="18" charset="0"/>
                </a:rPr>
                <a:t>集电极开路门（</a:t>
              </a:r>
              <a:r>
                <a:rPr lang="en-US" altLang="zh-CN" b="1" dirty="0">
                  <a:solidFill>
                    <a:schemeClr val="accent1">
                      <a:lumMod val="50000"/>
                    </a:schemeClr>
                  </a:solidFill>
                  <a:latin typeface="Times New Roman" pitchFamily="18" charset="0"/>
                  <a:ea typeface="黑体" pitchFamily="49" charset="-122"/>
                  <a:cs typeface="Times New Roman" pitchFamily="18" charset="0"/>
                </a:rPr>
                <a:t>OC</a:t>
              </a:r>
              <a:r>
                <a:rPr lang="zh-CN" altLang="en-US" b="1" dirty="0">
                  <a:solidFill>
                    <a:schemeClr val="accent1">
                      <a:lumMod val="50000"/>
                    </a:schemeClr>
                  </a:solidFill>
                  <a:latin typeface="Times New Roman" pitchFamily="18" charset="0"/>
                  <a:ea typeface="黑体" pitchFamily="49" charset="-122"/>
                  <a:cs typeface="Times New Roman" pitchFamily="18" charset="0"/>
                </a:rPr>
                <a:t>：</a:t>
              </a:r>
              <a:r>
                <a:rPr lang="en-US" altLang="zh-CN" b="1" dirty="0">
                  <a:solidFill>
                    <a:schemeClr val="accent1">
                      <a:lumMod val="50000"/>
                    </a:schemeClr>
                  </a:solidFill>
                  <a:latin typeface="Times New Roman" pitchFamily="18" charset="0"/>
                  <a:ea typeface="黑体" pitchFamily="49" charset="-122"/>
                  <a:cs typeface="Times New Roman" pitchFamily="18" charset="0"/>
                </a:rPr>
                <a:t>Open Connector</a:t>
              </a:r>
              <a:r>
                <a:rPr lang="zh-CN" altLang="en-US" b="1" dirty="0">
                  <a:solidFill>
                    <a:schemeClr val="accent1">
                      <a:lumMod val="50000"/>
                    </a:schemeClr>
                  </a:solidFill>
                  <a:latin typeface="Times New Roman" pitchFamily="18" charset="0"/>
                  <a:ea typeface="黑体" pitchFamily="49" charset="-122"/>
                  <a:cs typeface="Times New Roman" pitchFamily="18" charset="0"/>
                </a:rPr>
                <a:t>）</a:t>
              </a:r>
            </a:p>
          </p:txBody>
        </p:sp>
      </p:grpSp>
      <p:sp>
        <p:nvSpPr>
          <p:cNvPr id="33" name="Rectangle 6"/>
          <p:cNvSpPr>
            <a:spLocks noChangeArrowheads="1"/>
          </p:cNvSpPr>
          <p:nvPr/>
        </p:nvSpPr>
        <p:spPr bwMode="auto">
          <a:xfrm>
            <a:off x="358099" y="1291665"/>
            <a:ext cx="2972921" cy="338554"/>
          </a:xfrm>
          <a:prstGeom prst="rect">
            <a:avLst/>
          </a:prstGeom>
          <a:noFill/>
          <a:ln w="9525" algn="ctr">
            <a:noFill/>
            <a:miter lim="800000"/>
            <a:headEnd/>
            <a:tailEnd/>
          </a:ln>
        </p:spPr>
        <p:txBody>
          <a:bodyPr wrap="square">
            <a:spAutoFit/>
          </a:bodyPr>
          <a:lstStyle/>
          <a:p>
            <a:r>
              <a:rPr lang="zh-CN" altLang="en-US" sz="1600" b="1" dirty="0">
                <a:solidFill>
                  <a:srgbClr val="6600FF"/>
                </a:solidFill>
                <a:latin typeface="方正粗黑宋简体" pitchFamily="2" charset="-122"/>
                <a:ea typeface="方正粗黑宋简体" pitchFamily="2" charset="-122"/>
              </a:rPr>
              <a:t>（</a:t>
            </a:r>
            <a:r>
              <a:rPr lang="en-US" altLang="zh-CN" sz="1600" b="1" dirty="0">
                <a:solidFill>
                  <a:srgbClr val="6600FF"/>
                </a:solidFill>
                <a:latin typeface="方正粗黑宋简体" pitchFamily="2" charset="-122"/>
                <a:ea typeface="方正粗黑宋简体" pitchFamily="2" charset="-122"/>
              </a:rPr>
              <a:t>2</a:t>
            </a:r>
            <a:r>
              <a:rPr lang="zh-CN" altLang="en-US" sz="1600" b="1" dirty="0">
                <a:solidFill>
                  <a:srgbClr val="6600FF"/>
                </a:solidFill>
                <a:latin typeface="方正粗黑宋简体" pitchFamily="2" charset="-122"/>
                <a:ea typeface="方正粗黑宋简体" pitchFamily="2" charset="-122"/>
              </a:rPr>
              <a:t>）</a:t>
            </a:r>
            <a:r>
              <a:rPr lang="en-US" altLang="zh-CN" sz="1600" b="1" dirty="0">
                <a:solidFill>
                  <a:srgbClr val="6600FF"/>
                </a:solidFill>
                <a:latin typeface="方正粗黑宋简体" pitchFamily="2" charset="-122"/>
                <a:ea typeface="方正粗黑宋简体" pitchFamily="2" charset="-122"/>
              </a:rPr>
              <a:t>OC</a:t>
            </a:r>
            <a:r>
              <a:rPr lang="zh-CN" altLang="en-US" sz="1600" b="1" dirty="0">
                <a:solidFill>
                  <a:srgbClr val="6600FF"/>
                </a:solidFill>
                <a:latin typeface="方正粗黑宋简体" pitchFamily="2" charset="-122"/>
                <a:ea typeface="方正粗黑宋简体" pitchFamily="2" charset="-122"/>
              </a:rPr>
              <a:t>的结构和功能</a:t>
            </a:r>
          </a:p>
        </p:txBody>
      </p:sp>
      <p:grpSp>
        <p:nvGrpSpPr>
          <p:cNvPr id="58" name="组合 57"/>
          <p:cNvGrpSpPr/>
          <p:nvPr/>
        </p:nvGrpSpPr>
        <p:grpSpPr>
          <a:xfrm>
            <a:off x="705916" y="4262232"/>
            <a:ext cx="4247288" cy="410025"/>
            <a:chOff x="3450740" y="1782975"/>
            <a:chExt cx="4247288" cy="410025"/>
          </a:xfrm>
        </p:grpSpPr>
        <p:sp>
          <p:nvSpPr>
            <p:cNvPr id="45" name="Rectangle 5"/>
            <p:cNvSpPr>
              <a:spLocks noChangeArrowheads="1"/>
            </p:cNvSpPr>
            <p:nvPr/>
          </p:nvSpPr>
          <p:spPr bwMode="auto">
            <a:xfrm>
              <a:off x="3450740" y="1782975"/>
              <a:ext cx="3445600" cy="410025"/>
            </a:xfrm>
            <a:prstGeom prst="rect">
              <a:avLst/>
            </a:prstGeom>
            <a:noFill/>
            <a:ln w="22225" algn="ctr">
              <a:noFill/>
              <a:miter lim="800000"/>
              <a:headEnd/>
              <a:tailEnd/>
            </a:ln>
          </p:spPr>
          <p:txBody>
            <a:bodyPr anchor="ctr"/>
            <a:lstStyle/>
            <a:p>
              <a:r>
                <a:rPr lang="zh-CN" altLang="en-US" sz="1600" b="1" dirty="0">
                  <a:solidFill>
                    <a:srgbClr val="6600FF"/>
                  </a:solidFill>
                  <a:latin typeface="方正粗黑宋简体" pitchFamily="2" charset="-122"/>
                  <a:ea typeface="方正粗黑宋简体" pitchFamily="2" charset="-122"/>
                </a:rPr>
                <a:t>注：</a:t>
              </a:r>
              <a:r>
                <a:rPr kumimoji="1" lang="en-US" altLang="zh-CN" sz="1600" dirty="0">
                  <a:solidFill>
                    <a:srgbClr val="080808"/>
                  </a:solidFill>
                  <a:latin typeface="Times New Roman" pitchFamily="18" charset="0"/>
                  <a:ea typeface="黑体" pitchFamily="49" charset="-122"/>
                  <a:cs typeface="Times New Roman" pitchFamily="18" charset="0"/>
                </a:rPr>
                <a:t>OC</a:t>
              </a:r>
              <a:r>
                <a:rPr kumimoji="1" lang="zh-CN" altLang="en-US" sz="1600" dirty="0">
                  <a:solidFill>
                    <a:srgbClr val="080808"/>
                  </a:solidFill>
                  <a:latin typeface="Times New Roman" pitchFamily="18" charset="0"/>
                  <a:ea typeface="黑体" pitchFamily="49" charset="-122"/>
                  <a:cs typeface="Times New Roman" pitchFamily="18" charset="0"/>
                </a:rPr>
                <a:t>门使用时需外接上拉电阻</a:t>
              </a:r>
              <a:r>
                <a:rPr kumimoji="1" lang="en-US" altLang="zh-CN" sz="1600" i="1" dirty="0">
                  <a:solidFill>
                    <a:srgbClr val="080808"/>
                  </a:solidFill>
                  <a:latin typeface="Times New Roman" pitchFamily="18" charset="0"/>
                  <a:ea typeface="黑体" pitchFamily="49" charset="-122"/>
                  <a:cs typeface="Times New Roman" pitchFamily="18" charset="0"/>
                </a:rPr>
                <a:t>R</a:t>
              </a:r>
              <a:r>
                <a:rPr kumimoji="1" lang="en-US" altLang="zh-CN" sz="1600" baseline="-25000" dirty="0">
                  <a:solidFill>
                    <a:srgbClr val="080808"/>
                  </a:solidFill>
                  <a:latin typeface="Times New Roman" pitchFamily="18" charset="0"/>
                  <a:ea typeface="黑体" pitchFamily="49" charset="-122"/>
                  <a:cs typeface="Times New Roman" pitchFamily="18" charset="0"/>
                </a:rPr>
                <a:t>P</a:t>
              </a:r>
              <a:r>
                <a:rPr kumimoji="1" lang="zh-CN" altLang="en-US" sz="1600" dirty="0">
                  <a:solidFill>
                    <a:srgbClr val="080808"/>
                  </a:solidFill>
                  <a:latin typeface="Times New Roman" pitchFamily="18" charset="0"/>
                  <a:ea typeface="黑体" pitchFamily="49" charset="-122"/>
                  <a:cs typeface="Times New Roman" pitchFamily="18" charset="0"/>
                </a:rPr>
                <a:t>，</a:t>
              </a:r>
            </a:p>
          </p:txBody>
        </p:sp>
        <p:graphicFrame>
          <p:nvGraphicFramePr>
            <p:cNvPr id="54" name="Object 21"/>
            <p:cNvGraphicFramePr>
              <a:graphicFrameLocks noChangeAspect="1"/>
            </p:cNvGraphicFramePr>
            <p:nvPr/>
          </p:nvGraphicFramePr>
          <p:xfrm>
            <a:off x="6896340" y="1810161"/>
            <a:ext cx="801688" cy="284162"/>
          </p:xfrm>
          <a:graphic>
            <a:graphicData uri="http://schemas.openxmlformats.org/presentationml/2006/ole">
              <mc:AlternateContent xmlns:mc="http://schemas.openxmlformats.org/markup-compatibility/2006">
                <mc:Choice xmlns:v="urn:schemas-microsoft-com:vml" Requires="v">
                  <p:oleObj spid="_x0000_s74754" name="公式" r:id="rId5" imgW="13716000" imgH="4876800" progId="">
                    <p:embed/>
                  </p:oleObj>
                </mc:Choice>
                <mc:Fallback>
                  <p:oleObj name="公式" r:id="rId5" imgW="13716000" imgH="4876800" progId="">
                    <p:embed/>
                    <p:pic>
                      <p:nvPicPr>
                        <p:cNvPr id="54" name="Object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96340" y="1810161"/>
                          <a:ext cx="801688" cy="284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60" name="组合 59"/>
          <p:cNvGrpSpPr/>
          <p:nvPr/>
        </p:nvGrpSpPr>
        <p:grpSpPr>
          <a:xfrm>
            <a:off x="1974625" y="2206625"/>
            <a:ext cx="890495" cy="1031875"/>
            <a:chOff x="1677445" y="1896340"/>
            <a:chExt cx="890495" cy="1108961"/>
          </a:xfrm>
        </p:grpSpPr>
        <p:sp>
          <p:nvSpPr>
            <p:cNvPr id="35" name="矩形 34"/>
            <p:cNvSpPr/>
            <p:nvPr/>
          </p:nvSpPr>
          <p:spPr>
            <a:xfrm>
              <a:off x="1946275" y="1896340"/>
              <a:ext cx="621665" cy="110896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1677445" y="2400749"/>
              <a:ext cx="844775" cy="2190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4" name="组合 43"/>
          <p:cNvGrpSpPr/>
          <p:nvPr/>
        </p:nvGrpSpPr>
        <p:grpSpPr>
          <a:xfrm>
            <a:off x="2474104" y="2193622"/>
            <a:ext cx="557595" cy="1078585"/>
            <a:chOff x="3040483" y="2197481"/>
            <a:chExt cx="557595" cy="1078585"/>
          </a:xfrm>
        </p:grpSpPr>
        <p:grpSp>
          <p:nvGrpSpPr>
            <p:cNvPr id="39" name="Group 14"/>
            <p:cNvGrpSpPr>
              <a:grpSpLocks/>
            </p:cNvGrpSpPr>
            <p:nvPr/>
          </p:nvGrpSpPr>
          <p:grpSpPr bwMode="auto">
            <a:xfrm>
              <a:off x="3040483" y="2197481"/>
              <a:ext cx="160368" cy="1078585"/>
              <a:chOff x="3601" y="2011"/>
              <a:chExt cx="113" cy="1164"/>
            </a:xfrm>
          </p:grpSpPr>
          <p:sp>
            <p:nvSpPr>
              <p:cNvPr id="41" name="Line 15"/>
              <p:cNvSpPr>
                <a:spLocks noChangeShapeType="1"/>
              </p:cNvSpPr>
              <p:nvPr/>
            </p:nvSpPr>
            <p:spPr bwMode="auto">
              <a:xfrm flipV="1">
                <a:off x="3658" y="2011"/>
                <a:ext cx="0" cy="1164"/>
              </a:xfrm>
              <a:prstGeom prst="line">
                <a:avLst/>
              </a:prstGeom>
              <a:noFill/>
              <a:ln w="28575">
                <a:solidFill>
                  <a:srgbClr val="D60093"/>
                </a:solidFill>
                <a:round/>
                <a:headEnd/>
                <a:tailEnd/>
              </a:ln>
            </p:spPr>
            <p:txBody>
              <a:bodyPr/>
              <a:lstStyle/>
              <a:p>
                <a:endParaRPr lang="zh-CN" altLang="en-US"/>
              </a:p>
            </p:txBody>
          </p:sp>
          <p:sp>
            <p:nvSpPr>
              <p:cNvPr id="42" name="Rectangle 16"/>
              <p:cNvSpPr>
                <a:spLocks noChangeArrowheads="1"/>
              </p:cNvSpPr>
              <p:nvPr/>
            </p:nvSpPr>
            <p:spPr bwMode="auto">
              <a:xfrm>
                <a:off x="3601" y="2362"/>
                <a:ext cx="113" cy="404"/>
              </a:xfrm>
              <a:prstGeom prst="rect">
                <a:avLst/>
              </a:prstGeom>
              <a:solidFill>
                <a:schemeClr val="bg1"/>
              </a:solidFill>
              <a:ln w="38100">
                <a:solidFill>
                  <a:srgbClr val="6600FF"/>
                </a:solidFill>
                <a:miter lim="800000"/>
                <a:headEnd/>
                <a:tailEnd/>
              </a:ln>
            </p:spPr>
            <p:txBody>
              <a:bodyPr wrap="none" anchor="ctr"/>
              <a:lstStyle/>
              <a:p>
                <a:endParaRPr lang="zh-CN" altLang="en-US">
                  <a:solidFill>
                    <a:srgbClr val="080808"/>
                  </a:solidFill>
                </a:endParaRPr>
              </a:p>
            </p:txBody>
          </p:sp>
        </p:grpSp>
        <p:sp>
          <p:nvSpPr>
            <p:cNvPr id="43" name="TextBox 42"/>
            <p:cNvSpPr txBox="1"/>
            <p:nvPr/>
          </p:nvSpPr>
          <p:spPr>
            <a:xfrm>
              <a:off x="3193800" y="2441250"/>
              <a:ext cx="404278" cy="338554"/>
            </a:xfrm>
            <a:prstGeom prst="rect">
              <a:avLst/>
            </a:prstGeom>
            <a:noFill/>
          </p:spPr>
          <p:txBody>
            <a:bodyPr wrap="none" rtlCol="0">
              <a:spAutoFit/>
            </a:bodyPr>
            <a:lstStyle/>
            <a:p>
              <a:r>
                <a:rPr lang="en-US" altLang="zh-CN" sz="1600" b="1" i="1" dirty="0">
                  <a:latin typeface="Times New Roman" pitchFamily="18" charset="0"/>
                  <a:cs typeface="Times New Roman" pitchFamily="18" charset="0"/>
                </a:rPr>
                <a:t>R</a:t>
              </a:r>
              <a:r>
                <a:rPr lang="en-US" altLang="zh-CN" sz="1600" b="1" baseline="-25000" dirty="0">
                  <a:latin typeface="Times New Roman" pitchFamily="18" charset="0"/>
                  <a:cs typeface="Times New Roman" pitchFamily="18" charset="0"/>
                </a:rPr>
                <a:t>P</a:t>
              </a:r>
              <a:endParaRPr lang="zh-CN" altLang="en-US" sz="1600" b="1" baseline="-25000" dirty="0">
                <a:latin typeface="Times New Roman" pitchFamily="18" charset="0"/>
                <a:cs typeface="Times New Roman" pitchFamily="18" charset="0"/>
              </a:endParaRPr>
            </a:p>
          </p:txBody>
        </p:sp>
      </p:grpSp>
      <p:grpSp>
        <p:nvGrpSpPr>
          <p:cNvPr id="3" name="组合 2">
            <a:extLst>
              <a:ext uri="{FF2B5EF4-FFF2-40B4-BE49-F238E27FC236}">
                <a16:creationId xmlns:a16="http://schemas.microsoft.com/office/drawing/2014/main" id="{AB1D6BD6-2F3A-4DB4-8A0C-AB68BFAFC7BB}"/>
              </a:ext>
            </a:extLst>
          </p:cNvPr>
          <p:cNvGrpSpPr/>
          <p:nvPr/>
        </p:nvGrpSpPr>
        <p:grpSpPr>
          <a:xfrm>
            <a:off x="3663529" y="2672874"/>
            <a:ext cx="1153162" cy="989869"/>
            <a:chOff x="3663529" y="2672874"/>
            <a:chExt cx="1153162" cy="989869"/>
          </a:xfrm>
        </p:grpSpPr>
        <p:pic>
          <p:nvPicPr>
            <p:cNvPr id="47" name="Picture 7">
              <a:extLst>
                <a:ext uri="{FF2B5EF4-FFF2-40B4-BE49-F238E27FC236}">
                  <a16:creationId xmlns:a16="http://schemas.microsoft.com/office/drawing/2014/main" id="{868D017A-73F0-4DCB-8A0C-8FF8093F1462}"/>
                </a:ext>
              </a:extLst>
            </p:cNvPr>
            <p:cNvPicPr>
              <a:picLocks noChangeAspect="1" noChangeArrowheads="1"/>
            </p:cNvPicPr>
            <p:nvPr/>
          </p:nvPicPr>
          <p:blipFill>
            <a:blip r:embed="rId7" cstate="print"/>
            <a:srcRect/>
            <a:stretch>
              <a:fillRect/>
            </a:stretch>
          </p:blipFill>
          <p:spPr bwMode="auto">
            <a:xfrm>
              <a:off x="3663529" y="2672874"/>
              <a:ext cx="1153162" cy="629204"/>
            </a:xfrm>
            <a:prstGeom prst="rect">
              <a:avLst/>
            </a:prstGeom>
            <a:noFill/>
            <a:ln w="9525">
              <a:noFill/>
              <a:miter lim="800000"/>
              <a:headEnd/>
              <a:tailEnd/>
            </a:ln>
            <a:effectLst/>
          </p:spPr>
        </p:pic>
        <p:sp>
          <p:nvSpPr>
            <p:cNvPr id="48" name="Rectangle 52">
              <a:extLst>
                <a:ext uri="{FF2B5EF4-FFF2-40B4-BE49-F238E27FC236}">
                  <a16:creationId xmlns:a16="http://schemas.microsoft.com/office/drawing/2014/main" id="{45677CD4-06DE-4252-A133-74B71F365567}"/>
                </a:ext>
              </a:extLst>
            </p:cNvPr>
            <p:cNvSpPr>
              <a:spLocks noChangeArrowheads="1"/>
            </p:cNvSpPr>
            <p:nvPr/>
          </p:nvSpPr>
          <p:spPr bwMode="auto">
            <a:xfrm>
              <a:off x="3902603" y="3350393"/>
              <a:ext cx="675015" cy="312350"/>
            </a:xfrm>
            <a:prstGeom prst="rect">
              <a:avLst/>
            </a:prstGeom>
            <a:noFill/>
            <a:ln w="9525" algn="ctr">
              <a:noFill/>
              <a:miter lim="800000"/>
              <a:headEnd/>
              <a:tailEnd/>
            </a:ln>
          </p:spPr>
          <p:txBody>
            <a:bodyPr lIns="0" rIns="0">
              <a:spAutoFit/>
            </a:bodyPr>
            <a:lstStyle/>
            <a:p>
              <a:pPr algn="ctr"/>
              <a:r>
                <a:rPr kumimoji="1" lang="zh-CN" altLang="en-US" sz="1600" dirty="0">
                  <a:solidFill>
                    <a:srgbClr val="080808"/>
                  </a:solidFill>
                  <a:latin typeface="黑体" pitchFamily="49" charset="-122"/>
                  <a:ea typeface="黑体" pitchFamily="49" charset="-122"/>
                </a:rPr>
                <a:t>符号</a:t>
              </a:r>
            </a:p>
          </p:txBody>
        </p:sp>
      </p:grpSp>
      <p:sp>
        <p:nvSpPr>
          <p:cNvPr id="50" name="AutoShape 21">
            <a:extLst>
              <a:ext uri="{FF2B5EF4-FFF2-40B4-BE49-F238E27FC236}">
                <a16:creationId xmlns:a16="http://schemas.microsoft.com/office/drawing/2014/main" id="{5C22B636-31DD-488C-A43A-24242F6F6C33}"/>
              </a:ext>
            </a:extLst>
          </p:cNvPr>
          <p:cNvSpPr>
            <a:spLocks noChangeArrowheads="1"/>
          </p:cNvSpPr>
          <p:nvPr/>
        </p:nvSpPr>
        <p:spPr bwMode="auto">
          <a:xfrm>
            <a:off x="4139212" y="2118436"/>
            <a:ext cx="865575" cy="374354"/>
          </a:xfrm>
          <a:prstGeom prst="wedgeRoundRectCallout">
            <a:avLst>
              <a:gd name="adj1" fmla="val -28206"/>
              <a:gd name="adj2" fmla="val 159451"/>
              <a:gd name="adj3" fmla="val 16667"/>
            </a:avLst>
          </a:prstGeom>
          <a:solidFill>
            <a:srgbClr val="FFFF66"/>
          </a:solidFill>
          <a:ln w="12700" algn="ctr">
            <a:solidFill>
              <a:srgbClr val="0000FF"/>
            </a:solidFill>
            <a:miter lim="800000"/>
            <a:headEnd/>
            <a:tailEnd/>
          </a:ln>
        </p:spPr>
        <p:txBody>
          <a:bodyPr lIns="0" rIns="0" anchor="ctr"/>
          <a:lstStyle/>
          <a:p>
            <a:pPr algn="ctr"/>
            <a:r>
              <a:rPr lang="en-US" altLang="zh-CN" sz="1200" dirty="0">
                <a:solidFill>
                  <a:srgbClr val="6600FF"/>
                </a:solidFill>
                <a:latin typeface="方正粗黑宋简体" pitchFamily="2" charset="-122"/>
                <a:ea typeface="方正粗黑宋简体" pitchFamily="2" charset="-122"/>
              </a:rPr>
              <a:t>OC</a:t>
            </a:r>
            <a:r>
              <a:rPr lang="zh-CN" altLang="en-US" sz="1200" dirty="0">
                <a:solidFill>
                  <a:srgbClr val="6600FF"/>
                </a:solidFill>
                <a:latin typeface="方正粗黑宋简体" pitchFamily="2" charset="-122"/>
                <a:ea typeface="方正粗黑宋简体" pitchFamily="2" charset="-122"/>
              </a:rPr>
              <a:t>门符号特征</a:t>
            </a:r>
          </a:p>
        </p:txBody>
      </p:sp>
      <p:grpSp>
        <p:nvGrpSpPr>
          <p:cNvPr id="8" name="组合 7">
            <a:extLst>
              <a:ext uri="{FF2B5EF4-FFF2-40B4-BE49-F238E27FC236}">
                <a16:creationId xmlns:a16="http://schemas.microsoft.com/office/drawing/2014/main" id="{AB894913-3E6D-4C05-A63D-C567CAE838D3}"/>
              </a:ext>
            </a:extLst>
          </p:cNvPr>
          <p:cNvGrpSpPr/>
          <p:nvPr/>
        </p:nvGrpSpPr>
        <p:grpSpPr>
          <a:xfrm>
            <a:off x="5380499" y="1932312"/>
            <a:ext cx="2855451" cy="2836162"/>
            <a:chOff x="5380499" y="1948664"/>
            <a:chExt cx="2855451" cy="2836162"/>
          </a:xfrm>
        </p:grpSpPr>
        <p:pic>
          <p:nvPicPr>
            <p:cNvPr id="5" name="图片 4">
              <a:extLst>
                <a:ext uri="{FF2B5EF4-FFF2-40B4-BE49-F238E27FC236}">
                  <a16:creationId xmlns:a16="http://schemas.microsoft.com/office/drawing/2014/main" id="{7A9D8AEE-DA81-4BDD-AC67-9B8548EC8F42}"/>
                </a:ext>
              </a:extLst>
            </p:cNvPr>
            <p:cNvPicPr>
              <a:picLocks noChangeAspect="1"/>
            </p:cNvPicPr>
            <p:nvPr/>
          </p:nvPicPr>
          <p:blipFill>
            <a:blip r:embed="rId8" cstate="print"/>
            <a:stretch>
              <a:fillRect/>
            </a:stretch>
          </p:blipFill>
          <p:spPr>
            <a:xfrm>
              <a:off x="5605359" y="2209974"/>
              <a:ext cx="1633410" cy="2088283"/>
            </a:xfrm>
            <a:prstGeom prst="rect">
              <a:avLst/>
            </a:prstGeom>
          </p:spPr>
        </p:pic>
        <p:sp>
          <p:nvSpPr>
            <p:cNvPr id="53" name="圆角矩形 56">
              <a:extLst>
                <a:ext uri="{FF2B5EF4-FFF2-40B4-BE49-F238E27FC236}">
                  <a16:creationId xmlns:a16="http://schemas.microsoft.com/office/drawing/2014/main" id="{C458DD55-977D-46BA-807E-F940621BE2C6}"/>
                </a:ext>
              </a:extLst>
            </p:cNvPr>
            <p:cNvSpPr/>
            <p:nvPr/>
          </p:nvSpPr>
          <p:spPr>
            <a:xfrm>
              <a:off x="5380499" y="1948664"/>
              <a:ext cx="2855451" cy="2836162"/>
            </a:xfrm>
            <a:prstGeom prst="roundRect">
              <a:avLst>
                <a:gd name="adj" fmla="val 6694"/>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AutoShape 21">
              <a:extLst>
                <a:ext uri="{FF2B5EF4-FFF2-40B4-BE49-F238E27FC236}">
                  <a16:creationId xmlns:a16="http://schemas.microsoft.com/office/drawing/2014/main" id="{670D05E6-0D8D-40AA-8BD1-91AFC9F09A81}"/>
                </a:ext>
              </a:extLst>
            </p:cNvPr>
            <p:cNvSpPr>
              <a:spLocks noChangeArrowheads="1"/>
            </p:cNvSpPr>
            <p:nvPr/>
          </p:nvSpPr>
          <p:spPr bwMode="auto">
            <a:xfrm>
              <a:off x="7238769" y="2554897"/>
              <a:ext cx="619649" cy="318955"/>
            </a:xfrm>
            <a:prstGeom prst="wedgeRoundRectCallout">
              <a:avLst>
                <a:gd name="adj1" fmla="val -107545"/>
                <a:gd name="adj2" fmla="val 132883"/>
                <a:gd name="adj3" fmla="val 16667"/>
              </a:avLst>
            </a:prstGeom>
            <a:solidFill>
              <a:srgbClr val="FFFF66"/>
            </a:solidFill>
            <a:ln w="12700" algn="ctr">
              <a:solidFill>
                <a:srgbClr val="0000FF"/>
              </a:solidFill>
              <a:miter lim="800000"/>
              <a:headEnd/>
              <a:tailEnd/>
            </a:ln>
          </p:spPr>
          <p:txBody>
            <a:bodyPr lIns="0" rIns="0" anchor="ctr"/>
            <a:lstStyle/>
            <a:p>
              <a:pPr algn="ctr"/>
              <a:r>
                <a:rPr lang="zh-CN" altLang="en-US" sz="1200" dirty="0">
                  <a:solidFill>
                    <a:srgbClr val="6600FF"/>
                  </a:solidFill>
                  <a:latin typeface="方正粗黑宋简体" pitchFamily="2" charset="-122"/>
                  <a:ea typeface="方正粗黑宋简体" pitchFamily="2" charset="-122"/>
                </a:rPr>
                <a:t>线与</a:t>
              </a:r>
            </a:p>
          </p:txBody>
        </p:sp>
        <p:graphicFrame>
          <p:nvGraphicFramePr>
            <p:cNvPr id="7" name="对象 6">
              <a:extLst>
                <a:ext uri="{FF2B5EF4-FFF2-40B4-BE49-F238E27FC236}">
                  <a16:creationId xmlns:a16="http://schemas.microsoft.com/office/drawing/2014/main" id="{9C53A95B-2077-4E1E-97EE-3F48106AF168}"/>
                </a:ext>
              </a:extLst>
            </p:cNvPr>
            <p:cNvGraphicFramePr>
              <a:graphicFrameLocks noChangeAspect="1"/>
            </p:cNvGraphicFramePr>
            <p:nvPr/>
          </p:nvGraphicFramePr>
          <p:xfrm>
            <a:off x="6876131" y="3584136"/>
            <a:ext cx="1047995" cy="318955"/>
          </p:xfrm>
          <a:graphic>
            <a:graphicData uri="http://schemas.openxmlformats.org/presentationml/2006/ole">
              <mc:AlternateContent xmlns:mc="http://schemas.openxmlformats.org/markup-compatibility/2006">
                <mc:Choice xmlns:v="urn:schemas-microsoft-com:vml" Requires="v">
                  <p:oleObj spid="_x0000_s74755" name="公式" r:id="rId9" imgW="659827" imgH="203024" progId="">
                    <p:embed/>
                  </p:oleObj>
                </mc:Choice>
                <mc:Fallback>
                  <p:oleObj name="公式" r:id="rId9" imgW="659827" imgH="203024" progId="">
                    <p:embed/>
                    <p:pic>
                      <p:nvPicPr>
                        <p:cNvPr id="7" name="对象 6">
                          <a:extLst>
                            <a:ext uri="{FF2B5EF4-FFF2-40B4-BE49-F238E27FC236}">
                              <a16:creationId xmlns:a16="http://schemas.microsoft.com/office/drawing/2014/main" id="{9C53A95B-2077-4E1E-97EE-3F48106AF16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76131" y="3584136"/>
                          <a:ext cx="1047995" cy="31895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slide(fromRight)">
                                      <p:cBhvr>
                                        <p:cTn id="7" dur="1000"/>
                                        <p:tgtEl>
                                          <p:spTgt spid="6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0"/>
                                        </p:tgtEl>
                                        <p:attrNameLst>
                                          <p:attrName>style.visibility</p:attrName>
                                        </p:attrNameLst>
                                      </p:cBhvr>
                                      <p:to>
                                        <p:strVal val="visible"/>
                                      </p:to>
                                    </p:set>
                                    <p:animEffect transition="in" filter="wipe(down)">
                                      <p:cBhvr>
                                        <p:cTn id="12" dur="1000"/>
                                        <p:tgtEl>
                                          <p:spTgt spid="50"/>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58"/>
                                        </p:tgtEl>
                                        <p:attrNameLst>
                                          <p:attrName>style.visibility</p:attrName>
                                        </p:attrNameLst>
                                      </p:cBhvr>
                                      <p:to>
                                        <p:strVal val="visible"/>
                                      </p:to>
                                    </p:set>
                                    <p:animEffect transition="in" filter="slide(fromBottom)">
                                      <p:cBhvr>
                                        <p:cTn id="17" dur="1000"/>
                                        <p:tgtEl>
                                          <p:spTgt spid="58"/>
                                        </p:tgtEl>
                                      </p:cBhvr>
                                    </p:animEffect>
                                  </p:childTnLst>
                                </p:cTn>
                              </p:par>
                            </p:childTnLst>
                          </p:cTn>
                        </p:par>
                        <p:par>
                          <p:cTn id="18" fill="hold">
                            <p:stCondLst>
                              <p:cond delay="1000"/>
                            </p:stCondLst>
                            <p:childTnLst>
                              <p:par>
                                <p:cTn id="19" presetID="23" presetClass="entr" presetSubtype="16" fill="hold" nodeType="afterEffect">
                                  <p:stCondLst>
                                    <p:cond delay="0"/>
                                  </p:stCondLst>
                                  <p:childTnLst>
                                    <p:set>
                                      <p:cBhvr>
                                        <p:cTn id="20" dur="1" fill="hold">
                                          <p:stCondLst>
                                            <p:cond delay="0"/>
                                          </p:stCondLst>
                                        </p:cTn>
                                        <p:tgtEl>
                                          <p:spTgt spid="44"/>
                                        </p:tgtEl>
                                        <p:attrNameLst>
                                          <p:attrName>style.visibility</p:attrName>
                                        </p:attrNameLst>
                                      </p:cBhvr>
                                      <p:to>
                                        <p:strVal val="visible"/>
                                      </p:to>
                                    </p:set>
                                    <p:anim calcmode="lin" valueType="num">
                                      <p:cBhvr>
                                        <p:cTn id="21" dur="1000" fill="hold"/>
                                        <p:tgtEl>
                                          <p:spTgt spid="44"/>
                                        </p:tgtEl>
                                        <p:attrNameLst>
                                          <p:attrName>ppt_w</p:attrName>
                                        </p:attrNameLst>
                                      </p:cBhvr>
                                      <p:tavLst>
                                        <p:tav tm="0">
                                          <p:val>
                                            <p:fltVal val="0"/>
                                          </p:val>
                                        </p:tav>
                                        <p:tav tm="100000">
                                          <p:val>
                                            <p:strVal val="#ppt_w"/>
                                          </p:val>
                                        </p:tav>
                                      </p:tavLst>
                                    </p:anim>
                                    <p:anim calcmode="lin" valueType="num">
                                      <p:cBhvr>
                                        <p:cTn id="22" dur="1000" fill="hold"/>
                                        <p:tgtEl>
                                          <p:spTgt spid="44"/>
                                        </p:tgtEl>
                                        <p:attrNameLst>
                                          <p:attrName>ppt_h</p:attrName>
                                        </p:attrNameLst>
                                      </p:cBhvr>
                                      <p:tavLst>
                                        <p:tav tm="0">
                                          <p:val>
                                            <p:fltVal val="0"/>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slide(fromBottom)">
                                      <p:cBhvr>
                                        <p:cTn id="2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组合 45"/>
          <p:cNvGrpSpPr/>
          <p:nvPr/>
        </p:nvGrpSpPr>
        <p:grpSpPr>
          <a:xfrm>
            <a:off x="282575" y="785614"/>
            <a:ext cx="2604659" cy="373579"/>
            <a:chOff x="307975" y="1517134"/>
            <a:chExt cx="2604659" cy="373579"/>
          </a:xfrm>
        </p:grpSpPr>
        <p:grpSp>
          <p:nvGrpSpPr>
            <p:cNvPr id="47" name="组合 32"/>
            <p:cNvGrpSpPr/>
            <p:nvPr/>
          </p:nvGrpSpPr>
          <p:grpSpPr>
            <a:xfrm>
              <a:off x="307975" y="1519116"/>
              <a:ext cx="568325" cy="371597"/>
              <a:chOff x="307975" y="1519116"/>
              <a:chExt cx="568325" cy="371597"/>
            </a:xfrm>
          </p:grpSpPr>
          <p:pic>
            <p:nvPicPr>
              <p:cNvPr id="71" name="Picture 4"/>
              <p:cNvPicPr>
                <a:picLocks noChangeAspect="1" noChangeArrowheads="1"/>
              </p:cNvPicPr>
              <p:nvPr/>
            </p:nvPicPr>
            <p:blipFill>
              <a:blip r:embed="rId3" cstate="print"/>
              <a:srcRect/>
              <a:stretch>
                <a:fillRect/>
              </a:stretch>
            </p:blipFill>
            <p:spPr bwMode="auto">
              <a:xfrm flipH="1">
                <a:off x="307975" y="1519116"/>
                <a:ext cx="568325" cy="371597"/>
              </a:xfrm>
              <a:prstGeom prst="rect">
                <a:avLst/>
              </a:prstGeom>
              <a:noFill/>
              <a:ln w="9525">
                <a:noFill/>
                <a:miter lim="800000"/>
                <a:headEnd/>
                <a:tailEnd/>
              </a:ln>
              <a:effectLst/>
            </p:spPr>
          </p:pic>
          <p:sp>
            <p:nvSpPr>
              <p:cNvPr id="72" name="TextBox 71"/>
              <p:cNvSpPr txBox="1"/>
              <p:nvPr/>
            </p:nvSpPr>
            <p:spPr>
              <a:xfrm flipH="1">
                <a:off x="443415" y="1555750"/>
                <a:ext cx="137858" cy="276999"/>
              </a:xfrm>
              <a:prstGeom prst="rect">
                <a:avLst/>
              </a:prstGeom>
              <a:noFill/>
            </p:spPr>
            <p:txBody>
              <a:bodyPr wrap="none" lIns="0" tIns="0" rIns="0" bIns="0" rtlCol="0">
                <a:spAutoFit/>
              </a:bodyPr>
              <a:lstStyle/>
              <a:p>
                <a:r>
                  <a:rPr lang="en-US" altLang="zh-CN" b="1" dirty="0">
                    <a:solidFill>
                      <a:srgbClr val="262626"/>
                    </a:solidFill>
                    <a:latin typeface="Segoe UI Black" pitchFamily="34" charset="0"/>
                    <a:cs typeface="Times New Roman" pitchFamily="18" charset="0"/>
                  </a:rPr>
                  <a:t>5</a:t>
                </a:r>
                <a:endParaRPr lang="zh-CN" altLang="en-US" b="1" dirty="0">
                  <a:solidFill>
                    <a:srgbClr val="262626"/>
                  </a:solidFill>
                  <a:latin typeface="Segoe UI Black" pitchFamily="34" charset="0"/>
                  <a:cs typeface="Times New Roman" pitchFamily="18" charset="0"/>
                </a:endParaRPr>
              </a:p>
            </p:txBody>
          </p:sp>
        </p:grpSp>
        <p:sp>
          <p:nvSpPr>
            <p:cNvPr id="70" name="矩形 69"/>
            <p:cNvSpPr/>
            <p:nvPr/>
          </p:nvSpPr>
          <p:spPr>
            <a:xfrm>
              <a:off x="863675" y="1517134"/>
              <a:ext cx="2048959" cy="369332"/>
            </a:xfrm>
            <a:prstGeom prst="rect">
              <a:avLst/>
            </a:prstGeom>
          </p:spPr>
          <p:txBody>
            <a:bodyPr wrap="none">
              <a:spAutoFit/>
            </a:bodyPr>
            <a:lstStyle/>
            <a:p>
              <a:pPr marL="358775" indent="-358775"/>
              <a:r>
                <a:rPr lang="en-US" altLang="zh-CN" b="1" dirty="0">
                  <a:solidFill>
                    <a:schemeClr val="accent1">
                      <a:lumMod val="50000"/>
                    </a:schemeClr>
                  </a:solidFill>
                  <a:latin typeface="黑体" pitchFamily="49" charset="-122"/>
                  <a:ea typeface="黑体" pitchFamily="49" charset="-122"/>
                  <a:cs typeface="Times New Roman" pitchFamily="18" charset="0"/>
                </a:rPr>
                <a:t>TTL</a:t>
              </a:r>
              <a:r>
                <a:rPr lang="zh-CN" altLang="en-US" b="1" dirty="0">
                  <a:solidFill>
                    <a:schemeClr val="accent1">
                      <a:lumMod val="50000"/>
                    </a:schemeClr>
                  </a:solidFill>
                  <a:latin typeface="黑体" pitchFamily="49" charset="-122"/>
                  <a:ea typeface="黑体" pitchFamily="49" charset="-122"/>
                  <a:cs typeface="Times New Roman" pitchFamily="18" charset="0"/>
                </a:rPr>
                <a:t>三态门（</a:t>
              </a:r>
              <a:r>
                <a:rPr lang="en-US" altLang="zh-CN" b="1" dirty="0">
                  <a:solidFill>
                    <a:schemeClr val="accent1">
                      <a:lumMod val="50000"/>
                    </a:schemeClr>
                  </a:solidFill>
                  <a:latin typeface="黑体" pitchFamily="49" charset="-122"/>
                  <a:ea typeface="黑体" pitchFamily="49" charset="-122"/>
                  <a:cs typeface="Times New Roman" pitchFamily="18" charset="0"/>
                </a:rPr>
                <a:t>TSL</a:t>
              </a:r>
              <a:r>
                <a:rPr lang="zh-CN" altLang="en-US" b="1" dirty="0">
                  <a:solidFill>
                    <a:schemeClr val="accent1">
                      <a:lumMod val="50000"/>
                    </a:schemeClr>
                  </a:solidFill>
                  <a:latin typeface="黑体" pitchFamily="49" charset="-122"/>
                  <a:ea typeface="黑体" pitchFamily="49" charset="-122"/>
                  <a:cs typeface="Times New Roman" pitchFamily="18" charset="0"/>
                </a:rPr>
                <a:t>）</a:t>
              </a:r>
            </a:p>
          </p:txBody>
        </p:sp>
      </p:grpSp>
      <p:sp>
        <p:nvSpPr>
          <p:cNvPr id="76" name="Rectangle 8"/>
          <p:cNvSpPr>
            <a:spLocks noChangeArrowheads="1"/>
          </p:cNvSpPr>
          <p:nvPr/>
        </p:nvSpPr>
        <p:spPr bwMode="auto">
          <a:xfrm>
            <a:off x="285854" y="2025034"/>
            <a:ext cx="5668055" cy="1061829"/>
          </a:xfrm>
          <a:prstGeom prst="rect">
            <a:avLst/>
          </a:prstGeom>
          <a:noFill/>
          <a:ln w="9525">
            <a:noFill/>
            <a:miter lim="800000"/>
            <a:headEnd/>
            <a:tailEnd/>
          </a:ln>
        </p:spPr>
        <p:txBody>
          <a:bodyPr wrap="square">
            <a:spAutoFit/>
          </a:bodyPr>
          <a:lstStyle/>
          <a:p>
            <a:pPr marL="715963" indent="-715963" eaLnBrk="0" hangingPunct="0">
              <a:lnSpc>
                <a:spcPct val="150000"/>
              </a:lnSpc>
            </a:pPr>
            <a:r>
              <a:rPr lang="en-US" altLang="zh-CN" sz="1400" b="1" dirty="0">
                <a:solidFill>
                  <a:srgbClr val="6600FF"/>
                </a:solidFill>
                <a:latin typeface="方正粗黑宋简体" pitchFamily="2" charset="-122"/>
                <a:ea typeface="方正粗黑宋简体" pitchFamily="2" charset="-122"/>
              </a:rPr>
              <a:t>EN=1</a:t>
            </a:r>
            <a:r>
              <a:rPr lang="zh-CN" altLang="en-US" sz="1400" b="1" dirty="0">
                <a:solidFill>
                  <a:srgbClr val="6600FF"/>
                </a:solidFill>
                <a:latin typeface="方正粗黑宋简体" pitchFamily="2" charset="-122"/>
                <a:ea typeface="方正粗黑宋简体" pitchFamily="2" charset="-122"/>
              </a:rPr>
              <a:t>：</a:t>
            </a:r>
            <a:r>
              <a:rPr lang="en-US" altLang="zh-CN" sz="1400" i="1" dirty="0">
                <a:solidFill>
                  <a:srgbClr val="080808"/>
                </a:solidFill>
                <a:latin typeface="Times New Roman" pitchFamily="18" charset="0"/>
                <a:ea typeface="黑体" pitchFamily="49" charset="-122"/>
                <a:cs typeface="Times New Roman" pitchFamily="18" charset="0"/>
              </a:rPr>
              <a:t>T</a:t>
            </a:r>
            <a:r>
              <a:rPr lang="en-US" altLang="zh-CN" sz="1400" baseline="-25000" dirty="0">
                <a:solidFill>
                  <a:srgbClr val="080808"/>
                </a:solidFill>
                <a:latin typeface="Times New Roman" pitchFamily="18" charset="0"/>
                <a:ea typeface="黑体" pitchFamily="49" charset="-122"/>
                <a:cs typeface="Times New Roman" pitchFamily="18" charset="0"/>
              </a:rPr>
              <a:t>5</a:t>
            </a:r>
            <a:r>
              <a:rPr lang="zh-CN" altLang="en-US" sz="1400" dirty="0">
                <a:solidFill>
                  <a:srgbClr val="080808"/>
                </a:solidFill>
                <a:latin typeface="Times New Roman" pitchFamily="18" charset="0"/>
                <a:ea typeface="黑体" pitchFamily="49" charset="-122"/>
                <a:cs typeface="Times New Roman" pitchFamily="18" charset="0"/>
              </a:rPr>
              <a:t>倒置放大，</a:t>
            </a:r>
            <a:r>
              <a:rPr lang="en-US" altLang="zh-CN" sz="1400" i="1" dirty="0">
                <a:solidFill>
                  <a:srgbClr val="080808"/>
                </a:solidFill>
                <a:latin typeface="Times New Roman" pitchFamily="18" charset="0"/>
                <a:ea typeface="黑体" pitchFamily="49" charset="-122"/>
                <a:cs typeface="Times New Roman" pitchFamily="18" charset="0"/>
              </a:rPr>
              <a:t>T</a:t>
            </a:r>
            <a:r>
              <a:rPr lang="en-US" altLang="zh-CN" sz="1400" baseline="-25000" dirty="0">
                <a:solidFill>
                  <a:srgbClr val="080808"/>
                </a:solidFill>
                <a:latin typeface="Times New Roman" pitchFamily="18" charset="0"/>
                <a:ea typeface="黑体" pitchFamily="49" charset="-122"/>
                <a:cs typeface="Times New Roman" pitchFamily="18" charset="0"/>
              </a:rPr>
              <a:t>6</a:t>
            </a:r>
            <a:r>
              <a:rPr lang="zh-CN" altLang="en-US" sz="1400" dirty="0">
                <a:solidFill>
                  <a:srgbClr val="080808"/>
                </a:solidFill>
                <a:latin typeface="Times New Roman" pitchFamily="18" charset="0"/>
                <a:ea typeface="黑体" pitchFamily="49" charset="-122"/>
                <a:cs typeface="Times New Roman" pitchFamily="18" charset="0"/>
              </a:rPr>
              <a:t>饱和，</a:t>
            </a:r>
            <a:r>
              <a:rPr lang="en-US" altLang="zh-CN" sz="1400" i="1" dirty="0">
                <a:solidFill>
                  <a:srgbClr val="080808"/>
                </a:solidFill>
                <a:latin typeface="Times New Roman" pitchFamily="18" charset="0"/>
                <a:ea typeface="黑体" pitchFamily="49" charset="-122"/>
                <a:cs typeface="Times New Roman" pitchFamily="18" charset="0"/>
              </a:rPr>
              <a:t>T</a:t>
            </a:r>
            <a:r>
              <a:rPr lang="en-US" altLang="zh-CN" sz="1400" baseline="-25000" dirty="0">
                <a:solidFill>
                  <a:srgbClr val="080808"/>
                </a:solidFill>
                <a:latin typeface="Times New Roman" pitchFamily="18" charset="0"/>
                <a:ea typeface="黑体" pitchFamily="49" charset="-122"/>
                <a:cs typeface="Times New Roman" pitchFamily="18" charset="0"/>
              </a:rPr>
              <a:t>7</a:t>
            </a:r>
            <a:r>
              <a:rPr lang="zh-CN" altLang="en-US" sz="1400" dirty="0">
                <a:solidFill>
                  <a:srgbClr val="080808"/>
                </a:solidFill>
                <a:latin typeface="Times New Roman" pitchFamily="18" charset="0"/>
                <a:ea typeface="黑体" pitchFamily="49" charset="-122"/>
                <a:cs typeface="Times New Roman" pitchFamily="18" charset="0"/>
              </a:rPr>
              <a:t>截止，</a:t>
            </a:r>
            <a:r>
              <a:rPr lang="en-US" altLang="zh-CN" sz="1400" i="1" dirty="0">
                <a:solidFill>
                  <a:srgbClr val="080808"/>
                </a:solidFill>
                <a:latin typeface="Times New Roman" pitchFamily="18" charset="0"/>
                <a:ea typeface="黑体" pitchFamily="49" charset="-122"/>
                <a:cs typeface="Times New Roman" pitchFamily="18" charset="0"/>
              </a:rPr>
              <a:t>T</a:t>
            </a:r>
            <a:r>
              <a:rPr lang="en-US" altLang="zh-CN" sz="1400" baseline="-25000" dirty="0">
                <a:solidFill>
                  <a:srgbClr val="080808"/>
                </a:solidFill>
                <a:latin typeface="Times New Roman" pitchFamily="18" charset="0"/>
                <a:ea typeface="黑体" pitchFamily="49" charset="-122"/>
                <a:cs typeface="Times New Roman" pitchFamily="18" charset="0"/>
              </a:rPr>
              <a:t>7</a:t>
            </a:r>
            <a:r>
              <a:rPr lang="zh-CN" altLang="en-US" sz="1400" dirty="0">
                <a:solidFill>
                  <a:srgbClr val="080808"/>
                </a:solidFill>
                <a:latin typeface="Times New Roman" pitchFamily="18" charset="0"/>
                <a:ea typeface="黑体" pitchFamily="49" charset="-122"/>
                <a:cs typeface="Times New Roman" pitchFamily="18" charset="0"/>
              </a:rPr>
              <a:t>管集电极与基本逻辑电路之间断开，此时与</a:t>
            </a:r>
            <a:r>
              <a:rPr lang="en-US" altLang="zh-CN" sz="1400" i="1" dirty="0">
                <a:solidFill>
                  <a:srgbClr val="080808"/>
                </a:solidFill>
                <a:latin typeface="Times New Roman" pitchFamily="18" charset="0"/>
                <a:ea typeface="黑体" pitchFamily="49" charset="-122"/>
                <a:cs typeface="Times New Roman" pitchFamily="18" charset="0"/>
              </a:rPr>
              <a:t>T</a:t>
            </a:r>
            <a:r>
              <a:rPr lang="en-US" altLang="zh-CN" sz="1400" baseline="-25000" dirty="0">
                <a:solidFill>
                  <a:srgbClr val="080808"/>
                </a:solidFill>
                <a:latin typeface="Times New Roman" pitchFamily="18" charset="0"/>
                <a:ea typeface="黑体" pitchFamily="49" charset="-122"/>
                <a:cs typeface="Times New Roman" pitchFamily="18" charset="0"/>
              </a:rPr>
              <a:t>1</a:t>
            </a:r>
            <a:r>
              <a:rPr lang="zh-CN" altLang="en-US" sz="1400" dirty="0">
                <a:solidFill>
                  <a:srgbClr val="080808"/>
                </a:solidFill>
                <a:latin typeface="Times New Roman" pitchFamily="18" charset="0"/>
                <a:ea typeface="黑体" pitchFamily="49" charset="-122"/>
                <a:cs typeface="Times New Roman" pitchFamily="18" charset="0"/>
              </a:rPr>
              <a:t>与使能</a:t>
            </a:r>
            <a:r>
              <a:rPr lang="en-US" altLang="zh-CN" sz="1400" i="1" dirty="0">
                <a:solidFill>
                  <a:srgbClr val="080808"/>
                </a:solidFill>
                <a:latin typeface="Times New Roman" pitchFamily="18" charset="0"/>
                <a:ea typeface="黑体" pitchFamily="49" charset="-122"/>
                <a:cs typeface="Times New Roman" pitchFamily="18" charset="0"/>
              </a:rPr>
              <a:t>EN</a:t>
            </a:r>
            <a:r>
              <a:rPr lang="zh-CN" altLang="en-US" sz="1400" dirty="0">
                <a:solidFill>
                  <a:srgbClr val="080808"/>
                </a:solidFill>
                <a:latin typeface="Times New Roman" pitchFamily="18" charset="0"/>
                <a:ea typeface="黑体" pitchFamily="49" charset="-122"/>
                <a:cs typeface="Times New Roman" pitchFamily="18" charset="0"/>
              </a:rPr>
              <a:t>相连的输入为逻辑</a:t>
            </a:r>
            <a:r>
              <a:rPr lang="en-US" altLang="zh-CN" sz="1400" dirty="0">
                <a:solidFill>
                  <a:srgbClr val="080808"/>
                </a:solidFill>
                <a:latin typeface="Times New Roman" pitchFamily="18" charset="0"/>
                <a:ea typeface="黑体" pitchFamily="49" charset="-122"/>
                <a:cs typeface="Times New Roman" pitchFamily="18" charset="0"/>
              </a:rPr>
              <a:t>1</a:t>
            </a:r>
            <a:r>
              <a:rPr lang="zh-CN" altLang="en-US" sz="1400" dirty="0">
                <a:solidFill>
                  <a:srgbClr val="080808"/>
                </a:solidFill>
                <a:latin typeface="Times New Roman" pitchFamily="18" charset="0"/>
                <a:ea typeface="黑体" pitchFamily="49" charset="-122"/>
                <a:cs typeface="Times New Roman" pitchFamily="18" charset="0"/>
              </a:rPr>
              <a:t>，输出状态完全取决于</a:t>
            </a:r>
            <a:r>
              <a:rPr lang="en-US" altLang="zh-CN" sz="1400" i="1" dirty="0">
                <a:solidFill>
                  <a:srgbClr val="080808"/>
                </a:solidFill>
                <a:latin typeface="Times New Roman" pitchFamily="18" charset="0"/>
                <a:ea typeface="黑体" pitchFamily="49" charset="-122"/>
                <a:cs typeface="Times New Roman" pitchFamily="18" charset="0"/>
              </a:rPr>
              <a:t>A</a:t>
            </a:r>
            <a:r>
              <a:rPr lang="zh-CN" altLang="en-US" sz="1400" dirty="0">
                <a:solidFill>
                  <a:srgbClr val="080808"/>
                </a:solidFill>
                <a:latin typeface="Times New Roman" pitchFamily="18" charset="0"/>
                <a:ea typeface="黑体" pitchFamily="49" charset="-122"/>
                <a:cs typeface="Times New Roman" pitchFamily="18" charset="0"/>
              </a:rPr>
              <a:t>、</a:t>
            </a:r>
            <a:r>
              <a:rPr lang="en-US" altLang="zh-CN" sz="1400" i="1" dirty="0">
                <a:solidFill>
                  <a:srgbClr val="080808"/>
                </a:solidFill>
                <a:latin typeface="Times New Roman" pitchFamily="18" charset="0"/>
                <a:ea typeface="黑体" pitchFamily="49" charset="-122"/>
                <a:cs typeface="Times New Roman" pitchFamily="18" charset="0"/>
              </a:rPr>
              <a:t>B</a:t>
            </a:r>
            <a:r>
              <a:rPr lang="zh-CN" altLang="en-US" sz="1400" dirty="0">
                <a:solidFill>
                  <a:srgbClr val="080808"/>
                </a:solidFill>
                <a:latin typeface="Times New Roman" pitchFamily="18" charset="0"/>
                <a:ea typeface="黑体" pitchFamily="49" charset="-122"/>
                <a:cs typeface="Times New Roman" pitchFamily="18" charset="0"/>
              </a:rPr>
              <a:t>，功能同一般与非门，为</a:t>
            </a:r>
            <a:r>
              <a:rPr lang="zh-CN" altLang="en-US" sz="1400" b="1" dirty="0">
                <a:solidFill>
                  <a:srgbClr val="6600FF"/>
                </a:solidFill>
                <a:latin typeface="方正粗黑宋简体" pitchFamily="2" charset="-122"/>
                <a:ea typeface="方正粗黑宋简体" pitchFamily="2" charset="-122"/>
              </a:rPr>
              <a:t>正常工作状态</a:t>
            </a:r>
            <a:r>
              <a:rPr lang="zh-CN" altLang="en-US" sz="1400" dirty="0">
                <a:solidFill>
                  <a:srgbClr val="080808"/>
                </a:solidFill>
                <a:latin typeface="Times New Roman" pitchFamily="18" charset="0"/>
                <a:ea typeface="黑体" pitchFamily="49" charset="-122"/>
                <a:cs typeface="Times New Roman" pitchFamily="18" charset="0"/>
              </a:rPr>
              <a:t>。</a:t>
            </a:r>
            <a:endParaRPr lang="en-US" altLang="zh-CN" sz="1400" dirty="0">
              <a:solidFill>
                <a:srgbClr val="080808"/>
              </a:solidFill>
              <a:latin typeface="Times New Roman" pitchFamily="18" charset="0"/>
              <a:ea typeface="黑体" pitchFamily="49" charset="-122"/>
              <a:cs typeface="Times New Roman" pitchFamily="18" charset="0"/>
            </a:endParaRPr>
          </a:p>
        </p:txBody>
      </p:sp>
      <p:graphicFrame>
        <p:nvGraphicFramePr>
          <p:cNvPr id="77" name="Object 9"/>
          <p:cNvGraphicFramePr>
            <a:graphicFrameLocks noChangeAspect="1"/>
          </p:cNvGraphicFramePr>
          <p:nvPr/>
        </p:nvGraphicFramePr>
        <p:xfrm>
          <a:off x="2313194" y="3069791"/>
          <a:ext cx="942949" cy="321409"/>
        </p:xfrm>
        <a:graphic>
          <a:graphicData uri="http://schemas.openxmlformats.org/presentationml/2006/ole">
            <mc:AlternateContent xmlns:mc="http://schemas.openxmlformats.org/markup-compatibility/2006">
              <mc:Choice xmlns:v="urn:schemas-microsoft-com:vml" Requires="v">
                <p:oleObj spid="_x0000_s75778" name="公式" r:id="rId4" imgW="10668000" imgH="4572000" progId="">
                  <p:embed/>
                </p:oleObj>
              </mc:Choice>
              <mc:Fallback>
                <p:oleObj name="公式" r:id="rId4" imgW="10668000" imgH="4572000" progId="">
                  <p:embed/>
                  <p:pic>
                    <p:nvPicPr>
                      <p:cNvPr id="77"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13194" y="3069791"/>
                        <a:ext cx="942949" cy="3214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8637" name="Picture 29"/>
          <p:cNvPicPr>
            <a:picLocks noChangeAspect="1" noChangeArrowheads="1"/>
          </p:cNvPicPr>
          <p:nvPr/>
        </p:nvPicPr>
        <p:blipFill>
          <a:blip r:embed="rId6" cstate="print"/>
          <a:srcRect r="8276"/>
          <a:stretch>
            <a:fillRect/>
          </a:stretch>
        </p:blipFill>
        <p:spPr bwMode="auto">
          <a:xfrm>
            <a:off x="6051062" y="760095"/>
            <a:ext cx="2955778" cy="3469005"/>
          </a:xfrm>
          <a:prstGeom prst="rect">
            <a:avLst/>
          </a:prstGeom>
          <a:noFill/>
          <a:ln w="9525">
            <a:noFill/>
            <a:miter lim="800000"/>
            <a:headEnd/>
            <a:tailEnd/>
          </a:ln>
          <a:effectLst/>
        </p:spPr>
      </p:pic>
      <p:grpSp>
        <p:nvGrpSpPr>
          <p:cNvPr id="103" name="组合 102"/>
          <p:cNvGrpSpPr/>
          <p:nvPr/>
        </p:nvGrpSpPr>
        <p:grpSpPr>
          <a:xfrm>
            <a:off x="5518650" y="2804160"/>
            <a:ext cx="3495810" cy="1470660"/>
            <a:chOff x="5518650" y="2804160"/>
            <a:chExt cx="3495810" cy="1470660"/>
          </a:xfrm>
        </p:grpSpPr>
        <p:sp>
          <p:nvSpPr>
            <p:cNvPr id="80" name="AutoShape 9"/>
            <p:cNvSpPr>
              <a:spLocks noChangeArrowheads="1"/>
            </p:cNvSpPr>
            <p:nvPr/>
          </p:nvSpPr>
          <p:spPr bwMode="auto">
            <a:xfrm>
              <a:off x="6065520" y="2804160"/>
              <a:ext cx="2948940" cy="1470660"/>
            </a:xfrm>
            <a:prstGeom prst="roundRect">
              <a:avLst>
                <a:gd name="adj" fmla="val 6551"/>
              </a:avLst>
            </a:prstGeom>
            <a:solidFill>
              <a:srgbClr val="FFFF00">
                <a:alpha val="19000"/>
              </a:srgbClr>
            </a:solidFill>
            <a:ln w="9525">
              <a:solidFill>
                <a:schemeClr val="tx1"/>
              </a:solidFill>
              <a:miter lim="800000"/>
              <a:headEnd/>
              <a:tailEnd/>
            </a:ln>
          </p:spPr>
          <p:txBody>
            <a:bodyPr wrap="none" anchor="ctr"/>
            <a:lstStyle/>
            <a:p>
              <a:endParaRPr lang="zh-CN" altLang="en-US" sz="1400">
                <a:solidFill>
                  <a:srgbClr val="080808"/>
                </a:solidFill>
                <a:latin typeface="Times New Roman" pitchFamily="18" charset="0"/>
                <a:cs typeface="Times New Roman" pitchFamily="18" charset="0"/>
              </a:endParaRPr>
            </a:p>
          </p:txBody>
        </p:sp>
        <p:sp>
          <p:nvSpPr>
            <p:cNvPr id="100" name="AutoShape 134"/>
            <p:cNvSpPr>
              <a:spLocks noChangeArrowheads="1"/>
            </p:cNvSpPr>
            <p:nvPr/>
          </p:nvSpPr>
          <p:spPr bwMode="auto">
            <a:xfrm>
              <a:off x="5518650" y="3082275"/>
              <a:ext cx="485881" cy="523740"/>
            </a:xfrm>
            <a:prstGeom prst="wedgeRoundRectCallout">
              <a:avLst>
                <a:gd name="adj1" fmla="val 65822"/>
                <a:gd name="adj2" fmla="val 21896"/>
                <a:gd name="adj3" fmla="val 16667"/>
              </a:avLst>
            </a:prstGeom>
            <a:solidFill>
              <a:srgbClr val="FFFF99"/>
            </a:solidFill>
            <a:ln w="19050">
              <a:solidFill>
                <a:srgbClr val="FF00FF"/>
              </a:solidFill>
              <a:miter lim="800000"/>
              <a:headEnd/>
              <a:tailEnd/>
            </a:ln>
            <a:effectLst>
              <a:outerShdw blurRad="50800" dist="38100" dir="5400000" algn="t"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r>
                <a:rPr lang="zh-CN" altLang="en-US" sz="1400" dirty="0">
                  <a:solidFill>
                    <a:schemeClr val="tx1"/>
                  </a:solidFill>
                  <a:latin typeface="方正粗黑宋简体" pitchFamily="2" charset="-122"/>
                  <a:ea typeface="方正粗黑宋简体" pitchFamily="2" charset="-122"/>
                </a:rPr>
                <a:t>使能控制</a:t>
              </a:r>
              <a:endParaRPr lang="en-US" altLang="zh-CN" sz="1400" dirty="0">
                <a:solidFill>
                  <a:schemeClr val="tx1"/>
                </a:solidFill>
                <a:latin typeface="方正粗黑宋简体" pitchFamily="2" charset="-122"/>
                <a:ea typeface="方正粗黑宋简体" pitchFamily="2" charset="-122"/>
              </a:endParaRPr>
            </a:p>
          </p:txBody>
        </p:sp>
      </p:grpSp>
      <p:grpSp>
        <p:nvGrpSpPr>
          <p:cNvPr id="102" name="组合 101"/>
          <p:cNvGrpSpPr/>
          <p:nvPr/>
        </p:nvGrpSpPr>
        <p:grpSpPr>
          <a:xfrm>
            <a:off x="5477022" y="674120"/>
            <a:ext cx="3537438" cy="2130040"/>
            <a:chOff x="5477022" y="666500"/>
            <a:chExt cx="3537438" cy="2130040"/>
          </a:xfrm>
        </p:grpSpPr>
        <p:sp>
          <p:nvSpPr>
            <p:cNvPr id="79" name="AutoShape 9"/>
            <p:cNvSpPr>
              <a:spLocks noChangeArrowheads="1"/>
            </p:cNvSpPr>
            <p:nvPr/>
          </p:nvSpPr>
          <p:spPr bwMode="auto">
            <a:xfrm>
              <a:off x="6065520" y="738601"/>
              <a:ext cx="2948940" cy="2057939"/>
            </a:xfrm>
            <a:prstGeom prst="roundRect">
              <a:avLst>
                <a:gd name="adj" fmla="val 4753"/>
              </a:avLst>
            </a:prstGeom>
            <a:solidFill>
              <a:srgbClr val="00FFFF">
                <a:alpha val="19000"/>
              </a:srgbClr>
            </a:solidFill>
            <a:ln w="9525">
              <a:solidFill>
                <a:schemeClr val="tx1"/>
              </a:solidFill>
              <a:miter lim="800000"/>
              <a:headEnd/>
              <a:tailEnd/>
            </a:ln>
          </p:spPr>
          <p:txBody>
            <a:bodyPr wrap="none" anchor="ctr"/>
            <a:lstStyle/>
            <a:p>
              <a:endParaRPr lang="zh-CN" altLang="en-US" sz="1400">
                <a:solidFill>
                  <a:srgbClr val="080808"/>
                </a:solidFill>
                <a:latin typeface="Times New Roman" pitchFamily="18" charset="0"/>
                <a:cs typeface="Times New Roman" pitchFamily="18" charset="0"/>
              </a:endParaRPr>
            </a:p>
          </p:txBody>
        </p:sp>
        <p:sp>
          <p:nvSpPr>
            <p:cNvPr id="101" name="AutoShape 134"/>
            <p:cNvSpPr>
              <a:spLocks noChangeArrowheads="1"/>
            </p:cNvSpPr>
            <p:nvPr/>
          </p:nvSpPr>
          <p:spPr bwMode="auto">
            <a:xfrm>
              <a:off x="5477022" y="666500"/>
              <a:ext cx="501121" cy="592320"/>
            </a:xfrm>
            <a:prstGeom prst="wedgeRoundRectCallout">
              <a:avLst>
                <a:gd name="adj1" fmla="val 67490"/>
                <a:gd name="adj2" fmla="val 24340"/>
                <a:gd name="adj3" fmla="val 16667"/>
              </a:avLst>
            </a:prstGeom>
            <a:solidFill>
              <a:srgbClr val="FFFF99"/>
            </a:solidFill>
            <a:ln w="19050">
              <a:solidFill>
                <a:srgbClr val="FF00FF"/>
              </a:solidFill>
              <a:miter lim="800000"/>
              <a:headEnd/>
              <a:tailEnd/>
            </a:ln>
            <a:effectLst>
              <a:outerShdw blurRad="50800" dist="38100" dir="5400000" algn="t"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r>
                <a:rPr lang="zh-CN" altLang="en-US" sz="1400" dirty="0">
                  <a:solidFill>
                    <a:schemeClr val="tx1"/>
                  </a:solidFill>
                  <a:latin typeface="方正粗黑宋简体" pitchFamily="2" charset="-122"/>
                  <a:ea typeface="方正粗黑宋简体" pitchFamily="2" charset="-122"/>
                </a:rPr>
                <a:t>基本逻辑</a:t>
              </a:r>
              <a:endParaRPr lang="en-US" altLang="zh-CN" sz="1400" dirty="0">
                <a:solidFill>
                  <a:schemeClr val="tx1"/>
                </a:solidFill>
                <a:latin typeface="方正粗黑宋简体" pitchFamily="2" charset="-122"/>
                <a:ea typeface="方正粗黑宋简体" pitchFamily="2" charset="-122"/>
              </a:endParaRPr>
            </a:p>
          </p:txBody>
        </p:sp>
      </p:grpSp>
      <p:sp>
        <p:nvSpPr>
          <p:cNvPr id="90" name="AutoShape 134"/>
          <p:cNvSpPr>
            <a:spLocks noChangeArrowheads="1"/>
          </p:cNvSpPr>
          <p:nvPr/>
        </p:nvSpPr>
        <p:spPr bwMode="auto">
          <a:xfrm>
            <a:off x="6004531" y="4055880"/>
            <a:ext cx="615449" cy="272760"/>
          </a:xfrm>
          <a:prstGeom prst="wedgeRoundRectCallout">
            <a:avLst>
              <a:gd name="adj1" fmla="val 26014"/>
              <a:gd name="adj2" fmla="val -116024"/>
              <a:gd name="adj3" fmla="val 16667"/>
            </a:avLst>
          </a:prstGeom>
          <a:solidFill>
            <a:srgbClr val="FFFF99"/>
          </a:solidFill>
          <a:ln w="19050">
            <a:solidFill>
              <a:srgbClr val="FF00FF"/>
            </a:solidFill>
            <a:miter lim="800000"/>
            <a:headEnd/>
            <a:tailEnd/>
          </a:ln>
          <a:effectLst>
            <a:outerShdw blurRad="50800" dist="38100" dir="5400000" algn="t"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r>
              <a:rPr lang="zh-CN" altLang="en-US" sz="1400" dirty="0">
                <a:latin typeface="方正粗黑宋简体" pitchFamily="2" charset="-122"/>
                <a:ea typeface="方正粗黑宋简体" pitchFamily="2" charset="-122"/>
              </a:rPr>
              <a:t>高电平</a:t>
            </a:r>
            <a:endParaRPr lang="en-US" altLang="zh-CN" sz="1400" dirty="0">
              <a:solidFill>
                <a:schemeClr val="tx1"/>
              </a:solidFill>
              <a:latin typeface="方正粗黑宋简体" pitchFamily="2" charset="-122"/>
              <a:ea typeface="方正粗黑宋简体" pitchFamily="2" charset="-122"/>
            </a:endParaRPr>
          </a:p>
        </p:txBody>
      </p:sp>
      <p:sp>
        <p:nvSpPr>
          <p:cNvPr id="93" name="AutoShape 134"/>
          <p:cNvSpPr>
            <a:spLocks noChangeArrowheads="1"/>
          </p:cNvSpPr>
          <p:nvPr/>
        </p:nvSpPr>
        <p:spPr bwMode="auto">
          <a:xfrm>
            <a:off x="6766531" y="4322580"/>
            <a:ext cx="792509" cy="272760"/>
          </a:xfrm>
          <a:prstGeom prst="wedgeRoundRectCallout">
            <a:avLst>
              <a:gd name="adj1" fmla="val -6033"/>
              <a:gd name="adj2" fmla="val -191453"/>
              <a:gd name="adj3" fmla="val 16667"/>
            </a:avLst>
          </a:prstGeom>
          <a:solidFill>
            <a:srgbClr val="FFFF99"/>
          </a:solidFill>
          <a:ln w="19050">
            <a:solidFill>
              <a:srgbClr val="FF00FF"/>
            </a:solidFill>
            <a:miter lim="800000"/>
            <a:headEnd/>
            <a:tailEnd/>
          </a:ln>
          <a:effectLst>
            <a:outerShdw blurRad="50800" dist="38100" dir="5400000" algn="t"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r>
              <a:rPr lang="zh-CN" altLang="en-US" sz="1400" dirty="0">
                <a:solidFill>
                  <a:schemeClr val="tx1"/>
                </a:solidFill>
                <a:latin typeface="方正粗黑宋简体" pitchFamily="2" charset="-122"/>
                <a:ea typeface="方正粗黑宋简体" pitchFamily="2" charset="-122"/>
              </a:rPr>
              <a:t>倒置放大</a:t>
            </a:r>
            <a:endParaRPr lang="en-US" altLang="zh-CN" sz="1400" dirty="0">
              <a:solidFill>
                <a:schemeClr val="tx1"/>
              </a:solidFill>
              <a:latin typeface="方正粗黑宋简体" pitchFamily="2" charset="-122"/>
              <a:ea typeface="方正粗黑宋简体" pitchFamily="2" charset="-122"/>
            </a:endParaRPr>
          </a:p>
        </p:txBody>
      </p:sp>
      <p:sp>
        <p:nvSpPr>
          <p:cNvPr id="95" name="AutoShape 134"/>
          <p:cNvSpPr>
            <a:spLocks noChangeArrowheads="1"/>
          </p:cNvSpPr>
          <p:nvPr/>
        </p:nvSpPr>
        <p:spPr bwMode="auto">
          <a:xfrm>
            <a:off x="7734301" y="4307340"/>
            <a:ext cx="792480" cy="272760"/>
          </a:xfrm>
          <a:prstGeom prst="wedgeRoundRectCallout">
            <a:avLst>
              <a:gd name="adj1" fmla="val -53251"/>
              <a:gd name="adj2" fmla="val -197040"/>
              <a:gd name="adj3" fmla="val 16667"/>
            </a:avLst>
          </a:prstGeom>
          <a:solidFill>
            <a:srgbClr val="FFFF99"/>
          </a:solidFill>
          <a:ln w="19050">
            <a:solidFill>
              <a:srgbClr val="FF00FF"/>
            </a:solidFill>
            <a:miter lim="800000"/>
            <a:headEnd/>
            <a:tailEnd/>
          </a:ln>
          <a:effectLst>
            <a:outerShdw blurRad="50800" dist="38100" dir="5400000" algn="t"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r>
              <a:rPr lang="zh-CN" altLang="en-US" sz="1400" dirty="0">
                <a:solidFill>
                  <a:schemeClr val="tx1"/>
                </a:solidFill>
                <a:latin typeface="方正粗黑宋简体" pitchFamily="2" charset="-122"/>
                <a:ea typeface="方正粗黑宋简体" pitchFamily="2" charset="-122"/>
              </a:rPr>
              <a:t>饱和导通</a:t>
            </a:r>
            <a:endParaRPr lang="en-US" altLang="zh-CN" sz="1400" dirty="0">
              <a:solidFill>
                <a:schemeClr val="tx1"/>
              </a:solidFill>
              <a:latin typeface="方正粗黑宋简体" pitchFamily="2" charset="-122"/>
              <a:ea typeface="方正粗黑宋简体" pitchFamily="2" charset="-122"/>
            </a:endParaRPr>
          </a:p>
        </p:txBody>
      </p:sp>
      <p:grpSp>
        <p:nvGrpSpPr>
          <p:cNvPr id="99" name="组合 98"/>
          <p:cNvGrpSpPr/>
          <p:nvPr/>
        </p:nvGrpSpPr>
        <p:grpSpPr>
          <a:xfrm>
            <a:off x="7852149" y="3265456"/>
            <a:ext cx="1116591" cy="766004"/>
            <a:chOff x="7852149" y="3265456"/>
            <a:chExt cx="1116591" cy="766004"/>
          </a:xfrm>
        </p:grpSpPr>
        <p:sp>
          <p:nvSpPr>
            <p:cNvPr id="96" name="乘号 95"/>
            <p:cNvSpPr/>
            <p:nvPr/>
          </p:nvSpPr>
          <p:spPr>
            <a:xfrm rot="10800000">
              <a:off x="7852149" y="3265456"/>
              <a:ext cx="486821" cy="490993"/>
            </a:xfrm>
            <a:prstGeom prst="mathMultiply">
              <a:avLst>
                <a:gd name="adj1" fmla="val 13414"/>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98" name="AutoShape 134"/>
            <p:cNvSpPr>
              <a:spLocks noChangeArrowheads="1"/>
            </p:cNvSpPr>
            <p:nvPr/>
          </p:nvSpPr>
          <p:spPr bwMode="auto">
            <a:xfrm>
              <a:off x="8397241" y="3758700"/>
              <a:ext cx="571499" cy="272760"/>
            </a:xfrm>
            <a:prstGeom prst="wedgeRoundRectCallout">
              <a:avLst>
                <a:gd name="adj1" fmla="val -58866"/>
                <a:gd name="adj2" fmla="val -99262"/>
                <a:gd name="adj3" fmla="val 16667"/>
              </a:avLst>
            </a:prstGeom>
            <a:solidFill>
              <a:srgbClr val="FFFF99"/>
            </a:solidFill>
            <a:ln w="19050">
              <a:solidFill>
                <a:srgbClr val="FF00FF"/>
              </a:solidFill>
              <a:miter lim="800000"/>
              <a:headEnd/>
              <a:tailEnd/>
            </a:ln>
            <a:effectLst>
              <a:outerShdw blurRad="50800" dist="38100" dir="5400000" algn="t"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r>
                <a:rPr lang="zh-CN" altLang="en-US" sz="1400" dirty="0">
                  <a:latin typeface="方正粗黑宋简体" pitchFamily="2" charset="-122"/>
                  <a:ea typeface="方正粗黑宋简体" pitchFamily="2" charset="-122"/>
                </a:rPr>
                <a:t>截止</a:t>
              </a:r>
              <a:endParaRPr lang="en-US" altLang="zh-CN" sz="1400" dirty="0">
                <a:solidFill>
                  <a:schemeClr val="tx1"/>
                </a:solidFill>
                <a:latin typeface="方正粗黑宋简体" pitchFamily="2" charset="-122"/>
                <a:ea typeface="方正粗黑宋简体" pitchFamily="2" charset="-122"/>
              </a:endParaRPr>
            </a:p>
          </p:txBody>
        </p:sp>
      </p:grpSp>
      <p:sp>
        <p:nvSpPr>
          <p:cNvPr id="91" name="椭圆 90"/>
          <p:cNvSpPr/>
          <p:nvPr/>
        </p:nvSpPr>
        <p:spPr>
          <a:xfrm>
            <a:off x="6621780" y="3691320"/>
            <a:ext cx="252000" cy="2520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solidFill>
                  <a:srgbClr val="6600FF"/>
                </a:solidFill>
                <a:latin typeface="Times New Roman" pitchFamily="18" charset="0"/>
                <a:cs typeface="Times New Roman" pitchFamily="18" charset="0"/>
              </a:rPr>
              <a:t>1</a:t>
            </a:r>
            <a:endParaRPr lang="zh-CN" altLang="en-US" sz="1600" b="1" dirty="0">
              <a:solidFill>
                <a:srgbClr val="6600FF"/>
              </a:solidFill>
              <a:latin typeface="Times New Roman" pitchFamily="18" charset="0"/>
              <a:cs typeface="Times New Roman" pitchFamily="18" charset="0"/>
            </a:endParaRPr>
          </a:p>
        </p:txBody>
      </p:sp>
      <p:sp>
        <p:nvSpPr>
          <p:cNvPr id="2" name="矩形 1"/>
          <p:cNvSpPr/>
          <p:nvPr/>
        </p:nvSpPr>
        <p:spPr>
          <a:xfrm>
            <a:off x="273196" y="1227187"/>
            <a:ext cx="5704947" cy="738664"/>
          </a:xfrm>
          <a:prstGeom prst="rect">
            <a:avLst/>
          </a:prstGeom>
        </p:spPr>
        <p:txBody>
          <a:bodyPr wrap="square">
            <a:spAutoFit/>
          </a:bodyPr>
          <a:lstStyle/>
          <a:p>
            <a:pPr marL="719138" indent="-719138">
              <a:lnSpc>
                <a:spcPct val="150000"/>
              </a:lnSpc>
            </a:pPr>
            <a:r>
              <a:rPr lang="zh-CN" altLang="zh-CN" sz="1400" b="1" dirty="0">
                <a:solidFill>
                  <a:srgbClr val="6600FF"/>
                </a:solidFill>
                <a:latin typeface="方正粗黑宋简体" pitchFamily="2" charset="-122"/>
                <a:ea typeface="方正粗黑宋简体" pitchFamily="2" charset="-122"/>
              </a:rPr>
              <a:t>三态门</a:t>
            </a:r>
            <a:r>
              <a:rPr lang="zh-CN" altLang="en-US" sz="1400"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rPr>
              <a:t>门电路除了输出高、低两种电平外，还有高输出阻抗的第三种状态，高输出阻抗状态称为</a:t>
            </a:r>
            <a:r>
              <a:rPr lang="zh-CN" altLang="zh-CN" sz="1400" b="1" dirty="0">
                <a:solidFill>
                  <a:srgbClr val="6600FF"/>
                </a:solidFill>
                <a:latin typeface="方正粗黑宋简体" pitchFamily="2" charset="-122"/>
                <a:ea typeface="方正粗黑宋简体" pitchFamily="2" charset="-122"/>
              </a:rPr>
              <a:t>高阻态</a:t>
            </a:r>
            <a:r>
              <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rPr>
              <a:t>，又称为</a:t>
            </a:r>
            <a:r>
              <a:rPr lang="zh-CN" altLang="zh-CN" sz="1400" b="1" dirty="0">
                <a:solidFill>
                  <a:srgbClr val="6600FF"/>
                </a:solidFill>
                <a:latin typeface="方正粗黑宋简体" pitchFamily="2" charset="-122"/>
                <a:ea typeface="方正粗黑宋简体" pitchFamily="2" charset="-122"/>
              </a:rPr>
              <a:t>禁止态</a:t>
            </a:r>
            <a:r>
              <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1400" dirty="0">
              <a:latin typeface="微软雅黑" panose="020B0503020204020204" pitchFamily="34" charset="-122"/>
              <a:ea typeface="微软雅黑" panose="020B0503020204020204" pitchFamily="34" charset="-122"/>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slide(fromBottom)">
                                      <p:cBhvr>
                                        <p:cTn id="7" dur="500"/>
                                        <p:tgtEl>
                                          <p:spTgt spid="46"/>
                                        </p:tgtEl>
                                      </p:cBhvr>
                                    </p:animEffect>
                                  </p:childTnLst>
                                </p:cTn>
                              </p:par>
                            </p:childTnLst>
                          </p:cTn>
                        </p:par>
                        <p:par>
                          <p:cTn id="8" fill="hold">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slide(fromBottom)">
                                      <p:cBhvr>
                                        <p:cTn id="11" dur="10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2" fill="hold" nodeType="clickEffect">
                                  <p:stCondLst>
                                    <p:cond delay="0"/>
                                  </p:stCondLst>
                                  <p:childTnLst>
                                    <p:set>
                                      <p:cBhvr>
                                        <p:cTn id="15" dur="1" fill="hold">
                                          <p:stCondLst>
                                            <p:cond delay="0"/>
                                          </p:stCondLst>
                                        </p:cTn>
                                        <p:tgtEl>
                                          <p:spTgt spid="68637"/>
                                        </p:tgtEl>
                                        <p:attrNameLst>
                                          <p:attrName>style.visibility</p:attrName>
                                        </p:attrNameLst>
                                      </p:cBhvr>
                                      <p:to>
                                        <p:strVal val="visible"/>
                                      </p:to>
                                    </p:set>
                                    <p:animEffect transition="in" filter="slide(fromRight)">
                                      <p:cBhvr>
                                        <p:cTn id="16" dur="1000"/>
                                        <p:tgtEl>
                                          <p:spTgt spid="68637"/>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102"/>
                                        </p:tgtEl>
                                        <p:attrNameLst>
                                          <p:attrName>style.visibility</p:attrName>
                                        </p:attrNameLst>
                                      </p:cBhvr>
                                      <p:to>
                                        <p:strVal val="visible"/>
                                      </p:to>
                                    </p:set>
                                    <p:animEffect transition="in" filter="wipe(left)">
                                      <p:cBhvr>
                                        <p:cTn id="20" dur="1000"/>
                                        <p:tgtEl>
                                          <p:spTgt spid="102"/>
                                        </p:tgtEl>
                                      </p:cBhvr>
                                    </p:animEffect>
                                  </p:childTnLst>
                                </p:cTn>
                              </p:par>
                            </p:childTnLst>
                          </p:cTn>
                        </p:par>
                        <p:par>
                          <p:cTn id="21" fill="hold">
                            <p:stCondLst>
                              <p:cond delay="2000"/>
                            </p:stCondLst>
                            <p:childTnLst>
                              <p:par>
                                <p:cTn id="22" presetID="22" presetClass="entr" presetSubtype="8" fill="hold" nodeType="afterEffect">
                                  <p:stCondLst>
                                    <p:cond delay="0"/>
                                  </p:stCondLst>
                                  <p:childTnLst>
                                    <p:set>
                                      <p:cBhvr>
                                        <p:cTn id="23" dur="1" fill="hold">
                                          <p:stCondLst>
                                            <p:cond delay="0"/>
                                          </p:stCondLst>
                                        </p:cTn>
                                        <p:tgtEl>
                                          <p:spTgt spid="103"/>
                                        </p:tgtEl>
                                        <p:attrNameLst>
                                          <p:attrName>style.visibility</p:attrName>
                                        </p:attrNameLst>
                                      </p:cBhvr>
                                      <p:to>
                                        <p:strVal val="visible"/>
                                      </p:to>
                                    </p:set>
                                    <p:animEffect transition="in" filter="wipe(left)">
                                      <p:cBhvr>
                                        <p:cTn id="24" dur="1000"/>
                                        <p:tgtEl>
                                          <p:spTgt spid="103"/>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76"/>
                                        </p:tgtEl>
                                        <p:attrNameLst>
                                          <p:attrName>style.visibility</p:attrName>
                                        </p:attrNameLst>
                                      </p:cBhvr>
                                      <p:to>
                                        <p:strVal val="visible"/>
                                      </p:to>
                                    </p:set>
                                    <p:animEffect transition="in" filter="wipe(up)">
                                      <p:cBhvr>
                                        <p:cTn id="29" dur="500"/>
                                        <p:tgtEl>
                                          <p:spTgt spid="76"/>
                                        </p:tgtEl>
                                      </p:cBhvr>
                                    </p:animEffect>
                                  </p:childTnLst>
                                </p:cTn>
                              </p:par>
                              <p:par>
                                <p:cTn id="30" presetID="12" presetClass="entr" presetSubtype="4" fill="hold" grpId="0" nodeType="withEffect">
                                  <p:stCondLst>
                                    <p:cond delay="0"/>
                                  </p:stCondLst>
                                  <p:childTnLst>
                                    <p:set>
                                      <p:cBhvr>
                                        <p:cTn id="31" dur="1" fill="hold">
                                          <p:stCondLst>
                                            <p:cond delay="0"/>
                                          </p:stCondLst>
                                        </p:cTn>
                                        <p:tgtEl>
                                          <p:spTgt spid="90"/>
                                        </p:tgtEl>
                                        <p:attrNameLst>
                                          <p:attrName>style.visibility</p:attrName>
                                        </p:attrNameLst>
                                      </p:cBhvr>
                                      <p:to>
                                        <p:strVal val="visible"/>
                                      </p:to>
                                    </p:set>
                                    <p:animEffect transition="in" filter="slide(fromBottom)">
                                      <p:cBhvr>
                                        <p:cTn id="32" dur="500"/>
                                        <p:tgtEl>
                                          <p:spTgt spid="90"/>
                                        </p:tgtEl>
                                      </p:cBhvr>
                                    </p:animEffect>
                                  </p:childTnLst>
                                </p:cTn>
                              </p:par>
                            </p:childTnLst>
                          </p:cTn>
                        </p:par>
                        <p:par>
                          <p:cTn id="33" fill="hold">
                            <p:stCondLst>
                              <p:cond delay="500"/>
                            </p:stCondLst>
                            <p:childTnLst>
                              <p:par>
                                <p:cTn id="34" presetID="22" presetClass="entr" presetSubtype="1" fill="hold" grpId="0" nodeType="afterEffect">
                                  <p:stCondLst>
                                    <p:cond delay="0"/>
                                  </p:stCondLst>
                                  <p:childTnLst>
                                    <p:set>
                                      <p:cBhvr>
                                        <p:cTn id="35" dur="1" fill="hold">
                                          <p:stCondLst>
                                            <p:cond delay="0"/>
                                          </p:stCondLst>
                                        </p:cTn>
                                        <p:tgtEl>
                                          <p:spTgt spid="93"/>
                                        </p:tgtEl>
                                        <p:attrNameLst>
                                          <p:attrName>style.visibility</p:attrName>
                                        </p:attrNameLst>
                                      </p:cBhvr>
                                      <p:to>
                                        <p:strVal val="visible"/>
                                      </p:to>
                                    </p:set>
                                    <p:animEffect transition="in" filter="wipe(up)">
                                      <p:cBhvr>
                                        <p:cTn id="36" dur="1000"/>
                                        <p:tgtEl>
                                          <p:spTgt spid="93"/>
                                        </p:tgtEl>
                                      </p:cBhvr>
                                    </p:animEffect>
                                  </p:childTnLst>
                                </p:cTn>
                              </p:par>
                            </p:childTnLst>
                          </p:cTn>
                        </p:par>
                        <p:par>
                          <p:cTn id="37" fill="hold">
                            <p:stCondLst>
                              <p:cond delay="1500"/>
                            </p:stCondLst>
                            <p:childTnLst>
                              <p:par>
                                <p:cTn id="38" presetID="22" presetClass="entr" presetSubtype="1" fill="hold" grpId="0" nodeType="afterEffect">
                                  <p:stCondLst>
                                    <p:cond delay="0"/>
                                  </p:stCondLst>
                                  <p:childTnLst>
                                    <p:set>
                                      <p:cBhvr>
                                        <p:cTn id="39" dur="1" fill="hold">
                                          <p:stCondLst>
                                            <p:cond delay="0"/>
                                          </p:stCondLst>
                                        </p:cTn>
                                        <p:tgtEl>
                                          <p:spTgt spid="95"/>
                                        </p:tgtEl>
                                        <p:attrNameLst>
                                          <p:attrName>style.visibility</p:attrName>
                                        </p:attrNameLst>
                                      </p:cBhvr>
                                      <p:to>
                                        <p:strVal val="visible"/>
                                      </p:to>
                                    </p:set>
                                    <p:animEffect transition="in" filter="wipe(up)">
                                      <p:cBhvr>
                                        <p:cTn id="40" dur="1000"/>
                                        <p:tgtEl>
                                          <p:spTgt spid="95"/>
                                        </p:tgtEl>
                                      </p:cBhvr>
                                    </p:animEffect>
                                  </p:childTnLst>
                                </p:cTn>
                              </p:par>
                            </p:childTnLst>
                          </p:cTn>
                        </p:par>
                        <p:par>
                          <p:cTn id="41" fill="hold">
                            <p:stCondLst>
                              <p:cond delay="2500"/>
                            </p:stCondLst>
                            <p:childTnLst>
                              <p:par>
                                <p:cTn id="42" presetID="22" presetClass="entr" presetSubtype="1" fill="hold" nodeType="afterEffect">
                                  <p:stCondLst>
                                    <p:cond delay="0"/>
                                  </p:stCondLst>
                                  <p:childTnLst>
                                    <p:set>
                                      <p:cBhvr>
                                        <p:cTn id="43" dur="1" fill="hold">
                                          <p:stCondLst>
                                            <p:cond delay="0"/>
                                          </p:stCondLst>
                                        </p:cTn>
                                        <p:tgtEl>
                                          <p:spTgt spid="99"/>
                                        </p:tgtEl>
                                        <p:attrNameLst>
                                          <p:attrName>style.visibility</p:attrName>
                                        </p:attrNameLst>
                                      </p:cBhvr>
                                      <p:to>
                                        <p:strVal val="visible"/>
                                      </p:to>
                                    </p:set>
                                    <p:animEffect transition="in" filter="wipe(up)">
                                      <p:cBhvr>
                                        <p:cTn id="44" dur="1000"/>
                                        <p:tgtEl>
                                          <p:spTgt spid="99"/>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8" fill="hold" grpId="1" nodeType="clickEffect">
                                  <p:stCondLst>
                                    <p:cond delay="0"/>
                                  </p:stCondLst>
                                  <p:childTnLst>
                                    <p:set>
                                      <p:cBhvr>
                                        <p:cTn id="48" dur="1" fill="hold">
                                          <p:stCondLst>
                                            <p:cond delay="0"/>
                                          </p:stCondLst>
                                        </p:cTn>
                                        <p:tgtEl>
                                          <p:spTgt spid="91"/>
                                        </p:tgtEl>
                                        <p:attrNameLst>
                                          <p:attrName>style.visibility</p:attrName>
                                        </p:attrNameLst>
                                      </p:cBhvr>
                                      <p:to>
                                        <p:strVal val="visible"/>
                                      </p:to>
                                    </p:set>
                                    <p:animEffect transition="in" filter="slide(fromLeft)">
                                      <p:cBhvr>
                                        <p:cTn id="49" dur="1000"/>
                                        <p:tgtEl>
                                          <p:spTgt spid="91"/>
                                        </p:tgtEl>
                                      </p:cBhvr>
                                    </p:animEffect>
                                  </p:childTnLst>
                                </p:cTn>
                              </p:par>
                            </p:childTnLst>
                          </p:cTn>
                        </p:par>
                        <p:par>
                          <p:cTn id="50" fill="hold">
                            <p:stCondLst>
                              <p:cond delay="1000"/>
                            </p:stCondLst>
                            <p:childTnLst>
                              <p:par>
                                <p:cTn id="51" presetID="64" presetClass="path" presetSubtype="0" accel="50000" decel="50000" fill="hold" grpId="0" nodeType="afterEffect">
                                  <p:stCondLst>
                                    <p:cond delay="0"/>
                                  </p:stCondLst>
                                  <p:childTnLst>
                                    <p:animMotion origin="layout" path="M 2.77778E-6 -2.33546E-6 L -0.0007 -0.26048 " pathEditMode="relative" rAng="0" ptsTypes="AA">
                                      <p:cBhvr>
                                        <p:cTn id="52" dur="2000" fill="hold"/>
                                        <p:tgtEl>
                                          <p:spTgt spid="91"/>
                                        </p:tgtEl>
                                        <p:attrNameLst>
                                          <p:attrName>ppt_x</p:attrName>
                                          <p:attrName>ppt_y</p:attrName>
                                        </p:attrNameLst>
                                      </p:cBhvr>
                                      <p:rCtr x="0" y="-130"/>
                                    </p:animMotion>
                                  </p:childTnLst>
                                </p:cTn>
                              </p:par>
                            </p:childTnLst>
                          </p:cTn>
                        </p:par>
                        <p:par>
                          <p:cTn id="53" fill="hold">
                            <p:stCondLst>
                              <p:cond delay="3000"/>
                            </p:stCondLst>
                            <p:childTnLst>
                              <p:par>
                                <p:cTn id="54" presetID="22" presetClass="entr" presetSubtype="1" fill="hold" nodeType="afterEffect">
                                  <p:stCondLst>
                                    <p:cond delay="0"/>
                                  </p:stCondLst>
                                  <p:childTnLst>
                                    <p:set>
                                      <p:cBhvr>
                                        <p:cTn id="55" dur="1" fill="hold">
                                          <p:stCondLst>
                                            <p:cond delay="0"/>
                                          </p:stCondLst>
                                        </p:cTn>
                                        <p:tgtEl>
                                          <p:spTgt spid="77"/>
                                        </p:tgtEl>
                                        <p:attrNameLst>
                                          <p:attrName>style.visibility</p:attrName>
                                        </p:attrNameLst>
                                      </p:cBhvr>
                                      <p:to>
                                        <p:strVal val="visible"/>
                                      </p:to>
                                    </p:set>
                                    <p:animEffect transition="in" filter="wipe(up)">
                                      <p:cBhvr>
                                        <p:cTn id="56"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p:bldP spid="90" grpId="0" animBg="1"/>
      <p:bldP spid="93" grpId="0" animBg="1"/>
      <p:bldP spid="95" grpId="0" animBg="1"/>
      <p:bldP spid="91" grpId="0" animBg="1"/>
      <p:bldP spid="91" grpId="1" animBg="1"/>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组合 45"/>
          <p:cNvGrpSpPr/>
          <p:nvPr/>
        </p:nvGrpSpPr>
        <p:grpSpPr>
          <a:xfrm>
            <a:off x="282575" y="785614"/>
            <a:ext cx="2604659" cy="373579"/>
            <a:chOff x="307975" y="1517134"/>
            <a:chExt cx="2604659" cy="373579"/>
          </a:xfrm>
        </p:grpSpPr>
        <p:grpSp>
          <p:nvGrpSpPr>
            <p:cNvPr id="47" name="组合 32"/>
            <p:cNvGrpSpPr/>
            <p:nvPr/>
          </p:nvGrpSpPr>
          <p:grpSpPr>
            <a:xfrm>
              <a:off x="307975" y="1519116"/>
              <a:ext cx="568325" cy="371597"/>
              <a:chOff x="307975" y="1519116"/>
              <a:chExt cx="568325" cy="371597"/>
            </a:xfrm>
          </p:grpSpPr>
          <p:pic>
            <p:nvPicPr>
              <p:cNvPr id="71" name="Picture 4"/>
              <p:cNvPicPr>
                <a:picLocks noChangeAspect="1" noChangeArrowheads="1"/>
              </p:cNvPicPr>
              <p:nvPr/>
            </p:nvPicPr>
            <p:blipFill>
              <a:blip r:embed="rId3" cstate="print"/>
              <a:srcRect/>
              <a:stretch>
                <a:fillRect/>
              </a:stretch>
            </p:blipFill>
            <p:spPr bwMode="auto">
              <a:xfrm flipH="1">
                <a:off x="307975" y="1519116"/>
                <a:ext cx="568325" cy="371597"/>
              </a:xfrm>
              <a:prstGeom prst="rect">
                <a:avLst/>
              </a:prstGeom>
              <a:noFill/>
              <a:ln w="9525">
                <a:noFill/>
                <a:miter lim="800000"/>
                <a:headEnd/>
                <a:tailEnd/>
              </a:ln>
              <a:effectLst/>
            </p:spPr>
          </p:pic>
          <p:sp>
            <p:nvSpPr>
              <p:cNvPr id="72" name="TextBox 71"/>
              <p:cNvSpPr txBox="1"/>
              <p:nvPr/>
            </p:nvSpPr>
            <p:spPr>
              <a:xfrm flipH="1">
                <a:off x="443415" y="1555750"/>
                <a:ext cx="137858" cy="276999"/>
              </a:xfrm>
              <a:prstGeom prst="rect">
                <a:avLst/>
              </a:prstGeom>
              <a:noFill/>
            </p:spPr>
            <p:txBody>
              <a:bodyPr wrap="none" lIns="0" tIns="0" rIns="0" bIns="0" rtlCol="0">
                <a:spAutoFit/>
              </a:bodyPr>
              <a:lstStyle/>
              <a:p>
                <a:r>
                  <a:rPr lang="en-US" altLang="zh-CN" b="1" dirty="0">
                    <a:solidFill>
                      <a:srgbClr val="262626"/>
                    </a:solidFill>
                    <a:latin typeface="Segoe UI Black" pitchFamily="34" charset="0"/>
                    <a:cs typeface="Times New Roman" pitchFamily="18" charset="0"/>
                  </a:rPr>
                  <a:t>5</a:t>
                </a:r>
                <a:endParaRPr lang="zh-CN" altLang="en-US" b="1" dirty="0">
                  <a:solidFill>
                    <a:srgbClr val="262626"/>
                  </a:solidFill>
                  <a:latin typeface="Segoe UI Black" pitchFamily="34" charset="0"/>
                  <a:cs typeface="Times New Roman" pitchFamily="18" charset="0"/>
                </a:endParaRPr>
              </a:p>
            </p:txBody>
          </p:sp>
        </p:grpSp>
        <p:sp>
          <p:nvSpPr>
            <p:cNvPr id="70" name="矩形 69"/>
            <p:cNvSpPr/>
            <p:nvPr/>
          </p:nvSpPr>
          <p:spPr>
            <a:xfrm>
              <a:off x="863675" y="1517134"/>
              <a:ext cx="2048959" cy="369332"/>
            </a:xfrm>
            <a:prstGeom prst="rect">
              <a:avLst/>
            </a:prstGeom>
          </p:spPr>
          <p:txBody>
            <a:bodyPr wrap="none">
              <a:spAutoFit/>
            </a:bodyPr>
            <a:lstStyle/>
            <a:p>
              <a:pPr marL="358775" indent="-358775"/>
              <a:r>
                <a:rPr lang="en-US" altLang="zh-CN" b="1" dirty="0">
                  <a:solidFill>
                    <a:schemeClr val="accent1">
                      <a:lumMod val="50000"/>
                    </a:schemeClr>
                  </a:solidFill>
                  <a:latin typeface="黑体" pitchFamily="49" charset="-122"/>
                  <a:ea typeface="黑体" pitchFamily="49" charset="-122"/>
                  <a:cs typeface="Times New Roman" pitchFamily="18" charset="0"/>
                </a:rPr>
                <a:t>TTL</a:t>
              </a:r>
              <a:r>
                <a:rPr lang="zh-CN" altLang="en-US" b="1" dirty="0">
                  <a:solidFill>
                    <a:schemeClr val="accent1">
                      <a:lumMod val="50000"/>
                    </a:schemeClr>
                  </a:solidFill>
                  <a:latin typeface="黑体" pitchFamily="49" charset="-122"/>
                  <a:ea typeface="黑体" pitchFamily="49" charset="-122"/>
                  <a:cs typeface="Times New Roman" pitchFamily="18" charset="0"/>
                </a:rPr>
                <a:t>三态门（</a:t>
              </a:r>
              <a:r>
                <a:rPr lang="en-US" altLang="zh-CN" b="1" dirty="0">
                  <a:solidFill>
                    <a:schemeClr val="accent1">
                      <a:lumMod val="50000"/>
                    </a:schemeClr>
                  </a:solidFill>
                  <a:latin typeface="黑体" pitchFamily="49" charset="-122"/>
                  <a:ea typeface="黑体" pitchFamily="49" charset="-122"/>
                  <a:cs typeface="Times New Roman" pitchFamily="18" charset="0"/>
                </a:rPr>
                <a:t>TSL</a:t>
              </a:r>
              <a:r>
                <a:rPr lang="zh-CN" altLang="en-US" b="1" dirty="0">
                  <a:solidFill>
                    <a:schemeClr val="accent1">
                      <a:lumMod val="50000"/>
                    </a:schemeClr>
                  </a:solidFill>
                  <a:latin typeface="黑体" pitchFamily="49" charset="-122"/>
                  <a:ea typeface="黑体" pitchFamily="49" charset="-122"/>
                  <a:cs typeface="Times New Roman" pitchFamily="18" charset="0"/>
                </a:rPr>
                <a:t>）</a:t>
              </a:r>
            </a:p>
          </p:txBody>
        </p:sp>
      </p:grpSp>
      <p:sp>
        <p:nvSpPr>
          <p:cNvPr id="76" name="Rectangle 8"/>
          <p:cNvSpPr>
            <a:spLocks noChangeArrowheads="1"/>
          </p:cNvSpPr>
          <p:nvPr/>
        </p:nvSpPr>
        <p:spPr bwMode="auto">
          <a:xfrm>
            <a:off x="285854" y="2025034"/>
            <a:ext cx="5668055" cy="1061829"/>
          </a:xfrm>
          <a:prstGeom prst="rect">
            <a:avLst/>
          </a:prstGeom>
          <a:noFill/>
          <a:ln w="9525">
            <a:noFill/>
            <a:miter lim="800000"/>
            <a:headEnd/>
            <a:tailEnd/>
          </a:ln>
        </p:spPr>
        <p:txBody>
          <a:bodyPr wrap="square">
            <a:spAutoFit/>
          </a:bodyPr>
          <a:lstStyle/>
          <a:p>
            <a:pPr marL="715963" indent="-715963" eaLnBrk="0" hangingPunct="0">
              <a:lnSpc>
                <a:spcPct val="150000"/>
              </a:lnSpc>
            </a:pPr>
            <a:r>
              <a:rPr lang="en-US" altLang="zh-CN" sz="1400" b="1" dirty="0">
                <a:solidFill>
                  <a:srgbClr val="6600FF"/>
                </a:solidFill>
                <a:latin typeface="方正粗黑宋简体" pitchFamily="2" charset="-122"/>
                <a:ea typeface="方正粗黑宋简体" pitchFamily="2" charset="-122"/>
              </a:rPr>
              <a:t>EN=1</a:t>
            </a:r>
            <a:r>
              <a:rPr lang="zh-CN" altLang="en-US" sz="1400" b="1" dirty="0">
                <a:solidFill>
                  <a:srgbClr val="6600FF"/>
                </a:solidFill>
                <a:latin typeface="方正粗黑宋简体" pitchFamily="2" charset="-122"/>
                <a:ea typeface="方正粗黑宋简体" pitchFamily="2" charset="-122"/>
              </a:rPr>
              <a:t>：</a:t>
            </a:r>
            <a:r>
              <a:rPr lang="en-US" altLang="zh-CN" sz="1400" i="1" dirty="0">
                <a:solidFill>
                  <a:srgbClr val="080808"/>
                </a:solidFill>
                <a:latin typeface="Times New Roman" pitchFamily="18" charset="0"/>
                <a:ea typeface="黑体" pitchFamily="49" charset="-122"/>
                <a:cs typeface="Times New Roman" pitchFamily="18" charset="0"/>
              </a:rPr>
              <a:t>T</a:t>
            </a:r>
            <a:r>
              <a:rPr lang="en-US" altLang="zh-CN" sz="1400" baseline="-25000" dirty="0">
                <a:solidFill>
                  <a:srgbClr val="080808"/>
                </a:solidFill>
                <a:latin typeface="Times New Roman" pitchFamily="18" charset="0"/>
                <a:ea typeface="黑体" pitchFamily="49" charset="-122"/>
                <a:cs typeface="Times New Roman" pitchFamily="18" charset="0"/>
              </a:rPr>
              <a:t>5</a:t>
            </a:r>
            <a:r>
              <a:rPr lang="zh-CN" altLang="en-US" sz="1400" dirty="0">
                <a:solidFill>
                  <a:srgbClr val="080808"/>
                </a:solidFill>
                <a:latin typeface="Times New Roman" pitchFamily="18" charset="0"/>
                <a:ea typeface="黑体" pitchFamily="49" charset="-122"/>
                <a:cs typeface="Times New Roman" pitchFamily="18" charset="0"/>
              </a:rPr>
              <a:t>倒置放大，</a:t>
            </a:r>
            <a:r>
              <a:rPr lang="en-US" altLang="zh-CN" sz="1400" i="1" dirty="0">
                <a:solidFill>
                  <a:srgbClr val="080808"/>
                </a:solidFill>
                <a:latin typeface="Times New Roman" pitchFamily="18" charset="0"/>
                <a:ea typeface="黑体" pitchFamily="49" charset="-122"/>
                <a:cs typeface="Times New Roman" pitchFamily="18" charset="0"/>
              </a:rPr>
              <a:t>T</a:t>
            </a:r>
            <a:r>
              <a:rPr lang="en-US" altLang="zh-CN" sz="1400" baseline="-25000" dirty="0">
                <a:solidFill>
                  <a:srgbClr val="080808"/>
                </a:solidFill>
                <a:latin typeface="Times New Roman" pitchFamily="18" charset="0"/>
                <a:ea typeface="黑体" pitchFamily="49" charset="-122"/>
                <a:cs typeface="Times New Roman" pitchFamily="18" charset="0"/>
              </a:rPr>
              <a:t>6</a:t>
            </a:r>
            <a:r>
              <a:rPr lang="zh-CN" altLang="en-US" sz="1400" dirty="0">
                <a:solidFill>
                  <a:srgbClr val="080808"/>
                </a:solidFill>
                <a:latin typeface="Times New Roman" pitchFamily="18" charset="0"/>
                <a:ea typeface="黑体" pitchFamily="49" charset="-122"/>
                <a:cs typeface="Times New Roman" pitchFamily="18" charset="0"/>
              </a:rPr>
              <a:t>饱和，</a:t>
            </a:r>
            <a:r>
              <a:rPr lang="en-US" altLang="zh-CN" sz="1400" i="1" dirty="0">
                <a:solidFill>
                  <a:srgbClr val="080808"/>
                </a:solidFill>
                <a:latin typeface="Times New Roman" pitchFamily="18" charset="0"/>
                <a:ea typeface="黑体" pitchFamily="49" charset="-122"/>
                <a:cs typeface="Times New Roman" pitchFamily="18" charset="0"/>
              </a:rPr>
              <a:t>T</a:t>
            </a:r>
            <a:r>
              <a:rPr lang="en-US" altLang="zh-CN" sz="1400" baseline="-25000" dirty="0">
                <a:solidFill>
                  <a:srgbClr val="080808"/>
                </a:solidFill>
                <a:latin typeface="Times New Roman" pitchFamily="18" charset="0"/>
                <a:ea typeface="黑体" pitchFamily="49" charset="-122"/>
                <a:cs typeface="Times New Roman" pitchFamily="18" charset="0"/>
              </a:rPr>
              <a:t>7</a:t>
            </a:r>
            <a:r>
              <a:rPr lang="zh-CN" altLang="en-US" sz="1400" dirty="0">
                <a:solidFill>
                  <a:srgbClr val="080808"/>
                </a:solidFill>
                <a:latin typeface="Times New Roman" pitchFamily="18" charset="0"/>
                <a:ea typeface="黑体" pitchFamily="49" charset="-122"/>
                <a:cs typeface="Times New Roman" pitchFamily="18" charset="0"/>
              </a:rPr>
              <a:t>截止，</a:t>
            </a:r>
            <a:r>
              <a:rPr lang="en-US" altLang="zh-CN" sz="1400" i="1" dirty="0">
                <a:solidFill>
                  <a:srgbClr val="080808"/>
                </a:solidFill>
                <a:latin typeface="Times New Roman" pitchFamily="18" charset="0"/>
                <a:ea typeface="黑体" pitchFamily="49" charset="-122"/>
                <a:cs typeface="Times New Roman" pitchFamily="18" charset="0"/>
              </a:rPr>
              <a:t>T</a:t>
            </a:r>
            <a:r>
              <a:rPr lang="en-US" altLang="zh-CN" sz="1400" baseline="-25000" dirty="0">
                <a:solidFill>
                  <a:srgbClr val="080808"/>
                </a:solidFill>
                <a:latin typeface="Times New Roman" pitchFamily="18" charset="0"/>
                <a:ea typeface="黑体" pitchFamily="49" charset="-122"/>
                <a:cs typeface="Times New Roman" pitchFamily="18" charset="0"/>
              </a:rPr>
              <a:t>7</a:t>
            </a:r>
            <a:r>
              <a:rPr lang="zh-CN" altLang="en-US" sz="1400" dirty="0">
                <a:solidFill>
                  <a:srgbClr val="080808"/>
                </a:solidFill>
                <a:latin typeface="Times New Roman" pitchFamily="18" charset="0"/>
                <a:ea typeface="黑体" pitchFamily="49" charset="-122"/>
                <a:cs typeface="Times New Roman" pitchFamily="18" charset="0"/>
              </a:rPr>
              <a:t>管集电极与基本逻辑电路之间断开，此时与</a:t>
            </a:r>
            <a:r>
              <a:rPr lang="en-US" altLang="zh-CN" sz="1400" i="1" dirty="0">
                <a:solidFill>
                  <a:srgbClr val="080808"/>
                </a:solidFill>
                <a:latin typeface="Times New Roman" pitchFamily="18" charset="0"/>
                <a:ea typeface="黑体" pitchFamily="49" charset="-122"/>
                <a:cs typeface="Times New Roman" pitchFamily="18" charset="0"/>
              </a:rPr>
              <a:t>T</a:t>
            </a:r>
            <a:r>
              <a:rPr lang="en-US" altLang="zh-CN" sz="1400" baseline="-25000" dirty="0">
                <a:solidFill>
                  <a:srgbClr val="080808"/>
                </a:solidFill>
                <a:latin typeface="Times New Roman" pitchFamily="18" charset="0"/>
                <a:ea typeface="黑体" pitchFamily="49" charset="-122"/>
                <a:cs typeface="Times New Roman" pitchFamily="18" charset="0"/>
              </a:rPr>
              <a:t>1</a:t>
            </a:r>
            <a:r>
              <a:rPr lang="zh-CN" altLang="en-US" sz="1400" dirty="0">
                <a:solidFill>
                  <a:srgbClr val="080808"/>
                </a:solidFill>
                <a:latin typeface="Times New Roman" pitchFamily="18" charset="0"/>
                <a:ea typeface="黑体" pitchFamily="49" charset="-122"/>
                <a:cs typeface="Times New Roman" pitchFamily="18" charset="0"/>
              </a:rPr>
              <a:t>与使能</a:t>
            </a:r>
            <a:r>
              <a:rPr lang="en-US" altLang="zh-CN" sz="1400" i="1" dirty="0">
                <a:solidFill>
                  <a:srgbClr val="080808"/>
                </a:solidFill>
                <a:latin typeface="Times New Roman" pitchFamily="18" charset="0"/>
                <a:ea typeface="黑体" pitchFamily="49" charset="-122"/>
                <a:cs typeface="Times New Roman" pitchFamily="18" charset="0"/>
              </a:rPr>
              <a:t>EN</a:t>
            </a:r>
            <a:r>
              <a:rPr lang="zh-CN" altLang="en-US" sz="1400" dirty="0">
                <a:solidFill>
                  <a:srgbClr val="080808"/>
                </a:solidFill>
                <a:latin typeface="Times New Roman" pitchFamily="18" charset="0"/>
                <a:ea typeface="黑体" pitchFamily="49" charset="-122"/>
                <a:cs typeface="Times New Roman" pitchFamily="18" charset="0"/>
              </a:rPr>
              <a:t>相连的输入为逻辑</a:t>
            </a:r>
            <a:r>
              <a:rPr lang="en-US" altLang="zh-CN" sz="1400" dirty="0">
                <a:solidFill>
                  <a:srgbClr val="080808"/>
                </a:solidFill>
                <a:latin typeface="Times New Roman" pitchFamily="18" charset="0"/>
                <a:ea typeface="黑体" pitchFamily="49" charset="-122"/>
                <a:cs typeface="Times New Roman" pitchFamily="18" charset="0"/>
              </a:rPr>
              <a:t>1</a:t>
            </a:r>
            <a:r>
              <a:rPr lang="zh-CN" altLang="en-US" sz="1400" dirty="0">
                <a:solidFill>
                  <a:srgbClr val="080808"/>
                </a:solidFill>
                <a:latin typeface="Times New Roman" pitchFamily="18" charset="0"/>
                <a:ea typeface="黑体" pitchFamily="49" charset="-122"/>
                <a:cs typeface="Times New Roman" pitchFamily="18" charset="0"/>
              </a:rPr>
              <a:t>，输出状态完全取决于</a:t>
            </a:r>
            <a:r>
              <a:rPr lang="en-US" altLang="zh-CN" sz="1400" i="1" dirty="0">
                <a:solidFill>
                  <a:srgbClr val="080808"/>
                </a:solidFill>
                <a:latin typeface="Times New Roman" pitchFamily="18" charset="0"/>
                <a:ea typeface="黑体" pitchFamily="49" charset="-122"/>
                <a:cs typeface="Times New Roman" pitchFamily="18" charset="0"/>
              </a:rPr>
              <a:t>A</a:t>
            </a:r>
            <a:r>
              <a:rPr lang="zh-CN" altLang="en-US" sz="1400" dirty="0">
                <a:solidFill>
                  <a:srgbClr val="080808"/>
                </a:solidFill>
                <a:latin typeface="Times New Roman" pitchFamily="18" charset="0"/>
                <a:ea typeface="黑体" pitchFamily="49" charset="-122"/>
                <a:cs typeface="Times New Roman" pitchFamily="18" charset="0"/>
              </a:rPr>
              <a:t>、</a:t>
            </a:r>
            <a:r>
              <a:rPr lang="en-US" altLang="zh-CN" sz="1400" i="1" dirty="0">
                <a:solidFill>
                  <a:srgbClr val="080808"/>
                </a:solidFill>
                <a:latin typeface="Times New Roman" pitchFamily="18" charset="0"/>
                <a:ea typeface="黑体" pitchFamily="49" charset="-122"/>
                <a:cs typeface="Times New Roman" pitchFamily="18" charset="0"/>
              </a:rPr>
              <a:t>B</a:t>
            </a:r>
            <a:r>
              <a:rPr lang="zh-CN" altLang="en-US" sz="1400" dirty="0">
                <a:solidFill>
                  <a:srgbClr val="080808"/>
                </a:solidFill>
                <a:latin typeface="Times New Roman" pitchFamily="18" charset="0"/>
                <a:ea typeface="黑体" pitchFamily="49" charset="-122"/>
                <a:cs typeface="Times New Roman" pitchFamily="18" charset="0"/>
              </a:rPr>
              <a:t>，功能同一般与非门，为</a:t>
            </a:r>
            <a:r>
              <a:rPr lang="zh-CN" altLang="en-US" sz="1400" b="1" dirty="0">
                <a:solidFill>
                  <a:srgbClr val="6600FF"/>
                </a:solidFill>
                <a:latin typeface="方正粗黑宋简体" pitchFamily="2" charset="-122"/>
                <a:ea typeface="方正粗黑宋简体" pitchFamily="2" charset="-122"/>
              </a:rPr>
              <a:t>正常工作状态</a:t>
            </a:r>
            <a:r>
              <a:rPr lang="zh-CN" altLang="en-US" sz="1400" dirty="0">
                <a:solidFill>
                  <a:srgbClr val="080808"/>
                </a:solidFill>
                <a:latin typeface="Times New Roman" pitchFamily="18" charset="0"/>
                <a:ea typeface="黑体" pitchFamily="49" charset="-122"/>
                <a:cs typeface="Times New Roman" pitchFamily="18" charset="0"/>
              </a:rPr>
              <a:t>。</a:t>
            </a:r>
            <a:endParaRPr lang="en-US" altLang="zh-CN" sz="1400" dirty="0">
              <a:solidFill>
                <a:srgbClr val="080808"/>
              </a:solidFill>
              <a:latin typeface="Times New Roman" pitchFamily="18" charset="0"/>
              <a:ea typeface="黑体" pitchFamily="49" charset="-122"/>
              <a:cs typeface="Times New Roman" pitchFamily="18" charset="0"/>
            </a:endParaRPr>
          </a:p>
        </p:txBody>
      </p:sp>
      <p:pic>
        <p:nvPicPr>
          <p:cNvPr id="68637" name="Picture 29"/>
          <p:cNvPicPr>
            <a:picLocks noChangeAspect="1" noChangeArrowheads="1"/>
          </p:cNvPicPr>
          <p:nvPr/>
        </p:nvPicPr>
        <p:blipFill>
          <a:blip r:embed="rId4" cstate="print"/>
          <a:srcRect r="8276"/>
          <a:stretch>
            <a:fillRect/>
          </a:stretch>
        </p:blipFill>
        <p:spPr bwMode="auto">
          <a:xfrm>
            <a:off x="6051062" y="760095"/>
            <a:ext cx="2955778" cy="3469005"/>
          </a:xfrm>
          <a:prstGeom prst="rect">
            <a:avLst/>
          </a:prstGeom>
          <a:noFill/>
          <a:ln w="9525">
            <a:noFill/>
            <a:miter lim="800000"/>
            <a:headEnd/>
            <a:tailEnd/>
          </a:ln>
          <a:effectLst/>
        </p:spPr>
      </p:pic>
      <p:grpSp>
        <p:nvGrpSpPr>
          <p:cNvPr id="103" name="组合 102"/>
          <p:cNvGrpSpPr/>
          <p:nvPr/>
        </p:nvGrpSpPr>
        <p:grpSpPr>
          <a:xfrm>
            <a:off x="5518650" y="2804160"/>
            <a:ext cx="3495810" cy="1470660"/>
            <a:chOff x="5518650" y="2804160"/>
            <a:chExt cx="3495810" cy="1470660"/>
          </a:xfrm>
        </p:grpSpPr>
        <p:sp>
          <p:nvSpPr>
            <p:cNvPr id="80" name="AutoShape 9"/>
            <p:cNvSpPr>
              <a:spLocks noChangeArrowheads="1"/>
            </p:cNvSpPr>
            <p:nvPr/>
          </p:nvSpPr>
          <p:spPr bwMode="auto">
            <a:xfrm>
              <a:off x="6065520" y="2804160"/>
              <a:ext cx="2948940" cy="1470660"/>
            </a:xfrm>
            <a:prstGeom prst="roundRect">
              <a:avLst>
                <a:gd name="adj" fmla="val 6551"/>
              </a:avLst>
            </a:prstGeom>
            <a:solidFill>
              <a:srgbClr val="FFFF00">
                <a:alpha val="19000"/>
              </a:srgbClr>
            </a:solidFill>
            <a:ln w="9525">
              <a:solidFill>
                <a:schemeClr val="tx1"/>
              </a:solidFill>
              <a:miter lim="800000"/>
              <a:headEnd/>
              <a:tailEnd/>
            </a:ln>
          </p:spPr>
          <p:txBody>
            <a:bodyPr wrap="none" anchor="ctr"/>
            <a:lstStyle/>
            <a:p>
              <a:endParaRPr lang="zh-CN" altLang="en-US" sz="1400">
                <a:solidFill>
                  <a:srgbClr val="080808"/>
                </a:solidFill>
                <a:latin typeface="Times New Roman" pitchFamily="18" charset="0"/>
                <a:cs typeface="Times New Roman" pitchFamily="18" charset="0"/>
              </a:endParaRPr>
            </a:p>
          </p:txBody>
        </p:sp>
        <p:sp>
          <p:nvSpPr>
            <p:cNvPr id="100" name="AutoShape 134"/>
            <p:cNvSpPr>
              <a:spLocks noChangeArrowheads="1"/>
            </p:cNvSpPr>
            <p:nvPr/>
          </p:nvSpPr>
          <p:spPr bwMode="auto">
            <a:xfrm>
              <a:off x="5518650" y="3082275"/>
              <a:ext cx="485881" cy="523740"/>
            </a:xfrm>
            <a:prstGeom prst="wedgeRoundRectCallout">
              <a:avLst>
                <a:gd name="adj1" fmla="val 65822"/>
                <a:gd name="adj2" fmla="val 21896"/>
                <a:gd name="adj3" fmla="val 16667"/>
              </a:avLst>
            </a:prstGeom>
            <a:solidFill>
              <a:srgbClr val="FFFF99"/>
            </a:solidFill>
            <a:ln w="19050">
              <a:solidFill>
                <a:srgbClr val="FF00FF"/>
              </a:solidFill>
              <a:miter lim="800000"/>
              <a:headEnd/>
              <a:tailEnd/>
            </a:ln>
            <a:effectLst>
              <a:outerShdw blurRad="50800" dist="38100" dir="5400000" algn="t"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r>
                <a:rPr lang="zh-CN" altLang="en-US" sz="1400" dirty="0">
                  <a:solidFill>
                    <a:schemeClr val="tx1"/>
                  </a:solidFill>
                  <a:latin typeface="方正粗黑宋简体" pitchFamily="2" charset="-122"/>
                  <a:ea typeface="方正粗黑宋简体" pitchFamily="2" charset="-122"/>
                </a:rPr>
                <a:t>使能控制</a:t>
              </a:r>
              <a:endParaRPr lang="en-US" altLang="zh-CN" sz="1400" dirty="0">
                <a:solidFill>
                  <a:schemeClr val="tx1"/>
                </a:solidFill>
                <a:latin typeface="方正粗黑宋简体" pitchFamily="2" charset="-122"/>
                <a:ea typeface="方正粗黑宋简体" pitchFamily="2" charset="-122"/>
              </a:endParaRPr>
            </a:p>
          </p:txBody>
        </p:sp>
      </p:grpSp>
      <p:grpSp>
        <p:nvGrpSpPr>
          <p:cNvPr id="102" name="组合 101"/>
          <p:cNvGrpSpPr/>
          <p:nvPr/>
        </p:nvGrpSpPr>
        <p:grpSpPr>
          <a:xfrm>
            <a:off x="5477022" y="674120"/>
            <a:ext cx="3537438" cy="2130040"/>
            <a:chOff x="5477022" y="666500"/>
            <a:chExt cx="3537438" cy="2130040"/>
          </a:xfrm>
        </p:grpSpPr>
        <p:sp>
          <p:nvSpPr>
            <p:cNvPr id="79" name="AutoShape 9"/>
            <p:cNvSpPr>
              <a:spLocks noChangeArrowheads="1"/>
            </p:cNvSpPr>
            <p:nvPr/>
          </p:nvSpPr>
          <p:spPr bwMode="auto">
            <a:xfrm>
              <a:off x="6065520" y="738601"/>
              <a:ext cx="2948940" cy="2057939"/>
            </a:xfrm>
            <a:prstGeom prst="roundRect">
              <a:avLst>
                <a:gd name="adj" fmla="val 4753"/>
              </a:avLst>
            </a:prstGeom>
            <a:solidFill>
              <a:srgbClr val="00FFFF">
                <a:alpha val="19000"/>
              </a:srgbClr>
            </a:solidFill>
            <a:ln w="9525">
              <a:solidFill>
                <a:schemeClr val="tx1"/>
              </a:solidFill>
              <a:miter lim="800000"/>
              <a:headEnd/>
              <a:tailEnd/>
            </a:ln>
          </p:spPr>
          <p:txBody>
            <a:bodyPr wrap="none" anchor="ctr"/>
            <a:lstStyle/>
            <a:p>
              <a:endParaRPr lang="zh-CN" altLang="en-US" sz="1400">
                <a:solidFill>
                  <a:srgbClr val="080808"/>
                </a:solidFill>
                <a:latin typeface="Times New Roman" pitchFamily="18" charset="0"/>
                <a:cs typeface="Times New Roman" pitchFamily="18" charset="0"/>
              </a:endParaRPr>
            </a:p>
          </p:txBody>
        </p:sp>
        <p:sp>
          <p:nvSpPr>
            <p:cNvPr id="101" name="AutoShape 134"/>
            <p:cNvSpPr>
              <a:spLocks noChangeArrowheads="1"/>
            </p:cNvSpPr>
            <p:nvPr/>
          </p:nvSpPr>
          <p:spPr bwMode="auto">
            <a:xfrm>
              <a:off x="5477022" y="666500"/>
              <a:ext cx="501121" cy="592320"/>
            </a:xfrm>
            <a:prstGeom prst="wedgeRoundRectCallout">
              <a:avLst>
                <a:gd name="adj1" fmla="val 67490"/>
                <a:gd name="adj2" fmla="val 24340"/>
                <a:gd name="adj3" fmla="val 16667"/>
              </a:avLst>
            </a:prstGeom>
            <a:solidFill>
              <a:srgbClr val="FFFF99"/>
            </a:solidFill>
            <a:ln w="19050">
              <a:solidFill>
                <a:srgbClr val="FF00FF"/>
              </a:solidFill>
              <a:miter lim="800000"/>
              <a:headEnd/>
              <a:tailEnd/>
            </a:ln>
            <a:effectLst>
              <a:outerShdw blurRad="50800" dist="38100" dir="5400000" algn="t"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r>
                <a:rPr lang="zh-CN" altLang="en-US" sz="1400" dirty="0">
                  <a:solidFill>
                    <a:schemeClr val="tx1"/>
                  </a:solidFill>
                  <a:latin typeface="方正粗黑宋简体" pitchFamily="2" charset="-122"/>
                  <a:ea typeface="方正粗黑宋简体" pitchFamily="2" charset="-122"/>
                </a:rPr>
                <a:t>基本逻辑</a:t>
              </a:r>
              <a:endParaRPr lang="en-US" altLang="zh-CN" sz="1400" dirty="0">
                <a:solidFill>
                  <a:schemeClr val="tx1"/>
                </a:solidFill>
                <a:latin typeface="方正粗黑宋简体" pitchFamily="2" charset="-122"/>
                <a:ea typeface="方正粗黑宋简体" pitchFamily="2" charset="-122"/>
              </a:endParaRPr>
            </a:p>
          </p:txBody>
        </p:sp>
      </p:grpSp>
      <p:sp>
        <p:nvSpPr>
          <p:cNvPr id="2" name="矩形 1"/>
          <p:cNvSpPr/>
          <p:nvPr/>
        </p:nvSpPr>
        <p:spPr>
          <a:xfrm>
            <a:off x="273196" y="1227187"/>
            <a:ext cx="5704947" cy="738664"/>
          </a:xfrm>
          <a:prstGeom prst="rect">
            <a:avLst/>
          </a:prstGeom>
        </p:spPr>
        <p:txBody>
          <a:bodyPr wrap="square">
            <a:spAutoFit/>
          </a:bodyPr>
          <a:lstStyle/>
          <a:p>
            <a:pPr marL="719138" indent="-719138">
              <a:lnSpc>
                <a:spcPct val="150000"/>
              </a:lnSpc>
            </a:pPr>
            <a:r>
              <a:rPr lang="zh-CN" altLang="zh-CN" sz="1400" b="1" dirty="0">
                <a:solidFill>
                  <a:srgbClr val="6600FF"/>
                </a:solidFill>
                <a:latin typeface="方正粗黑宋简体" pitchFamily="2" charset="-122"/>
                <a:ea typeface="方正粗黑宋简体" pitchFamily="2" charset="-122"/>
              </a:rPr>
              <a:t>三态门</a:t>
            </a:r>
            <a:r>
              <a:rPr lang="zh-CN" altLang="en-US" sz="1400"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rPr>
              <a:t>门电路除了输出高、低两种电平外，还有高输出阻抗的第三种状态，高输出阻抗状态称为</a:t>
            </a:r>
            <a:r>
              <a:rPr lang="zh-CN" altLang="zh-CN" sz="1400" b="1" dirty="0">
                <a:solidFill>
                  <a:srgbClr val="6600FF"/>
                </a:solidFill>
                <a:latin typeface="方正粗黑宋简体" pitchFamily="2" charset="-122"/>
                <a:ea typeface="方正粗黑宋简体" pitchFamily="2" charset="-122"/>
              </a:rPr>
              <a:t>高阻态</a:t>
            </a:r>
            <a:r>
              <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rPr>
              <a:t>，又称为</a:t>
            </a:r>
            <a:r>
              <a:rPr lang="zh-CN" altLang="zh-CN" sz="1400" b="1" dirty="0">
                <a:solidFill>
                  <a:srgbClr val="6600FF"/>
                </a:solidFill>
                <a:latin typeface="方正粗黑宋简体" pitchFamily="2" charset="-122"/>
                <a:ea typeface="方正粗黑宋简体" pitchFamily="2" charset="-122"/>
              </a:rPr>
              <a:t>禁止态</a:t>
            </a:r>
            <a:r>
              <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1400" dirty="0">
              <a:latin typeface="微软雅黑" panose="020B0503020204020204" pitchFamily="34" charset="-122"/>
              <a:ea typeface="微软雅黑" panose="020B0503020204020204" pitchFamily="34" charset="-122"/>
            </a:endParaRPr>
          </a:p>
        </p:txBody>
      </p:sp>
      <p:sp>
        <p:nvSpPr>
          <p:cNvPr id="25" name="Rectangle 6"/>
          <p:cNvSpPr>
            <a:spLocks noChangeArrowheads="1"/>
          </p:cNvSpPr>
          <p:nvPr/>
        </p:nvSpPr>
        <p:spPr bwMode="auto">
          <a:xfrm>
            <a:off x="309110" y="3553896"/>
            <a:ext cx="5548870" cy="1384995"/>
          </a:xfrm>
          <a:prstGeom prst="rect">
            <a:avLst/>
          </a:prstGeom>
          <a:noFill/>
          <a:ln w="9525">
            <a:noFill/>
            <a:miter lim="800000"/>
            <a:headEnd/>
            <a:tailEnd/>
          </a:ln>
        </p:spPr>
        <p:txBody>
          <a:bodyPr wrap="square">
            <a:spAutoFit/>
          </a:bodyPr>
          <a:lstStyle/>
          <a:p>
            <a:pPr marL="812800" indent="-812800">
              <a:lnSpc>
                <a:spcPct val="150000"/>
              </a:lnSpc>
            </a:pPr>
            <a:r>
              <a:rPr lang="en-US" altLang="zh-CN" sz="1400" b="1" dirty="0">
                <a:solidFill>
                  <a:srgbClr val="6600FF"/>
                </a:solidFill>
                <a:latin typeface="方正粗黑宋简体" pitchFamily="2" charset="-122"/>
                <a:ea typeface="方正粗黑宋简体" pitchFamily="2" charset="-122"/>
              </a:rPr>
              <a:t>EN=0</a:t>
            </a:r>
            <a:r>
              <a:rPr lang="zh-CN" altLang="en-US" sz="1400" b="1" dirty="0">
                <a:solidFill>
                  <a:srgbClr val="6600FF"/>
                </a:solidFill>
                <a:latin typeface="方正粗黑宋简体" pitchFamily="2" charset="-122"/>
                <a:ea typeface="方正粗黑宋简体" pitchFamily="2" charset="-122"/>
              </a:rPr>
              <a:t>：</a:t>
            </a:r>
            <a:r>
              <a:rPr lang="en-US" altLang="zh-CN" sz="1400" b="1" dirty="0">
                <a:solidFill>
                  <a:srgbClr val="6600FF"/>
                </a:solidFill>
                <a:latin typeface="方正粗黑宋简体" pitchFamily="2" charset="-122"/>
                <a:ea typeface="方正粗黑宋简体" pitchFamily="2" charset="-122"/>
              </a:rPr>
              <a:t> </a:t>
            </a:r>
            <a:r>
              <a:rPr lang="en-US" altLang="zh-CN" sz="1400" i="1" dirty="0">
                <a:solidFill>
                  <a:srgbClr val="080808"/>
                </a:solidFill>
                <a:latin typeface="Times New Roman" pitchFamily="18" charset="0"/>
                <a:ea typeface="黑体" pitchFamily="49" charset="-122"/>
                <a:cs typeface="Times New Roman" pitchFamily="18" charset="0"/>
              </a:rPr>
              <a:t>T</a:t>
            </a:r>
            <a:r>
              <a:rPr lang="en-US" altLang="zh-CN" sz="1400" baseline="-25000" dirty="0">
                <a:solidFill>
                  <a:srgbClr val="080808"/>
                </a:solidFill>
                <a:latin typeface="Times New Roman" pitchFamily="18" charset="0"/>
                <a:ea typeface="黑体" pitchFamily="49" charset="-122"/>
                <a:cs typeface="Times New Roman" pitchFamily="18" charset="0"/>
              </a:rPr>
              <a:t>5</a:t>
            </a:r>
            <a:r>
              <a:rPr lang="zh-CN" altLang="en-US" sz="1400" dirty="0">
                <a:solidFill>
                  <a:srgbClr val="080808"/>
                </a:solidFill>
                <a:latin typeface="Times New Roman" pitchFamily="18" charset="0"/>
                <a:ea typeface="黑体" pitchFamily="49" charset="-122"/>
                <a:cs typeface="Times New Roman" pitchFamily="18" charset="0"/>
              </a:rPr>
              <a:t>饱和，</a:t>
            </a:r>
            <a:r>
              <a:rPr lang="en-US" altLang="zh-CN" sz="1400" i="1" dirty="0">
                <a:solidFill>
                  <a:srgbClr val="080808"/>
                </a:solidFill>
                <a:latin typeface="Times New Roman" pitchFamily="18" charset="0"/>
                <a:ea typeface="黑体" pitchFamily="49" charset="-122"/>
                <a:cs typeface="Times New Roman" pitchFamily="18" charset="0"/>
              </a:rPr>
              <a:t>T</a:t>
            </a:r>
            <a:r>
              <a:rPr lang="en-US" altLang="zh-CN" sz="1400" baseline="-25000" dirty="0">
                <a:solidFill>
                  <a:srgbClr val="080808"/>
                </a:solidFill>
                <a:latin typeface="Times New Roman" pitchFamily="18" charset="0"/>
                <a:ea typeface="黑体" pitchFamily="49" charset="-122"/>
                <a:cs typeface="Times New Roman" pitchFamily="18" charset="0"/>
              </a:rPr>
              <a:t>6</a:t>
            </a:r>
            <a:r>
              <a:rPr lang="zh-CN" altLang="en-US" sz="1400" dirty="0">
                <a:solidFill>
                  <a:srgbClr val="080808"/>
                </a:solidFill>
                <a:latin typeface="Times New Roman" pitchFamily="18" charset="0"/>
                <a:ea typeface="黑体" pitchFamily="49" charset="-122"/>
                <a:cs typeface="Times New Roman" pitchFamily="18" charset="0"/>
              </a:rPr>
              <a:t>截止，</a:t>
            </a:r>
            <a:r>
              <a:rPr lang="en-US" altLang="zh-CN" sz="1400" i="1" dirty="0">
                <a:solidFill>
                  <a:srgbClr val="080808"/>
                </a:solidFill>
                <a:latin typeface="Times New Roman" pitchFamily="18" charset="0"/>
                <a:ea typeface="黑体" pitchFamily="49" charset="-122"/>
                <a:cs typeface="Times New Roman" pitchFamily="18" charset="0"/>
              </a:rPr>
              <a:t>T</a:t>
            </a:r>
            <a:r>
              <a:rPr lang="en-US" altLang="zh-CN" sz="1400" baseline="-25000" dirty="0">
                <a:solidFill>
                  <a:srgbClr val="080808"/>
                </a:solidFill>
                <a:latin typeface="Times New Roman" pitchFamily="18" charset="0"/>
                <a:ea typeface="黑体" pitchFamily="49" charset="-122"/>
                <a:cs typeface="Times New Roman" pitchFamily="18" charset="0"/>
              </a:rPr>
              <a:t>7</a:t>
            </a:r>
            <a:r>
              <a:rPr lang="zh-CN" altLang="en-US" sz="1400" dirty="0">
                <a:solidFill>
                  <a:srgbClr val="080808"/>
                </a:solidFill>
                <a:latin typeface="Times New Roman" pitchFamily="18" charset="0"/>
                <a:ea typeface="黑体" pitchFamily="49" charset="-122"/>
                <a:cs typeface="Times New Roman" pitchFamily="18" charset="0"/>
              </a:rPr>
              <a:t>饱和导通，把</a:t>
            </a:r>
            <a:r>
              <a:rPr lang="en-US" altLang="zh-CN" sz="1400" i="1" dirty="0">
                <a:solidFill>
                  <a:srgbClr val="080808"/>
                </a:solidFill>
                <a:latin typeface="Times New Roman" pitchFamily="18" charset="0"/>
                <a:ea typeface="黑体" pitchFamily="49" charset="-122"/>
                <a:cs typeface="Times New Roman" pitchFamily="18" charset="0"/>
              </a:rPr>
              <a:t>T</a:t>
            </a:r>
            <a:r>
              <a:rPr lang="en-US" altLang="zh-CN" sz="1400" baseline="-25000" dirty="0">
                <a:solidFill>
                  <a:srgbClr val="080808"/>
                </a:solidFill>
                <a:latin typeface="Times New Roman" pitchFamily="18" charset="0"/>
                <a:ea typeface="黑体" pitchFamily="49" charset="-122"/>
                <a:cs typeface="Times New Roman" pitchFamily="18" charset="0"/>
              </a:rPr>
              <a:t>4</a:t>
            </a:r>
            <a:r>
              <a:rPr lang="zh-CN" altLang="en-US" sz="1400" dirty="0">
                <a:solidFill>
                  <a:srgbClr val="080808"/>
                </a:solidFill>
                <a:latin typeface="Times New Roman" pitchFamily="18" charset="0"/>
                <a:ea typeface="黑体" pitchFamily="49" charset="-122"/>
                <a:cs typeface="Times New Roman" pitchFamily="18" charset="0"/>
              </a:rPr>
              <a:t>基极钳位为低电平，</a:t>
            </a:r>
            <a:r>
              <a:rPr lang="en-US" altLang="zh-CN" sz="1400" i="1" dirty="0">
                <a:solidFill>
                  <a:srgbClr val="080808"/>
                </a:solidFill>
                <a:latin typeface="Times New Roman" pitchFamily="18" charset="0"/>
                <a:ea typeface="黑体" pitchFamily="49" charset="-122"/>
                <a:cs typeface="Times New Roman" pitchFamily="18" charset="0"/>
              </a:rPr>
              <a:t>T</a:t>
            </a:r>
            <a:r>
              <a:rPr lang="en-US" altLang="zh-CN" sz="1400" baseline="-25000" dirty="0">
                <a:solidFill>
                  <a:srgbClr val="080808"/>
                </a:solidFill>
                <a:latin typeface="Times New Roman" pitchFamily="18" charset="0"/>
                <a:ea typeface="黑体" pitchFamily="49" charset="-122"/>
                <a:cs typeface="Times New Roman" pitchFamily="18" charset="0"/>
              </a:rPr>
              <a:t>4</a:t>
            </a:r>
            <a:r>
              <a:rPr lang="zh-CN" altLang="en-US" sz="1400" dirty="0">
                <a:solidFill>
                  <a:srgbClr val="080808"/>
                </a:solidFill>
                <a:latin typeface="Times New Roman" pitchFamily="18" charset="0"/>
                <a:ea typeface="黑体" pitchFamily="49" charset="-122"/>
                <a:cs typeface="Times New Roman" pitchFamily="18" charset="0"/>
              </a:rPr>
              <a:t>截止。同时</a:t>
            </a:r>
            <a:r>
              <a:rPr lang="en-US" altLang="zh-CN" sz="1400" i="1" dirty="0">
                <a:solidFill>
                  <a:srgbClr val="080808"/>
                </a:solidFill>
                <a:latin typeface="Times New Roman" pitchFamily="18" charset="0"/>
                <a:ea typeface="黑体" pitchFamily="49" charset="-122"/>
                <a:cs typeface="Times New Roman" pitchFamily="18" charset="0"/>
              </a:rPr>
              <a:t>EN</a:t>
            </a:r>
            <a:r>
              <a:rPr lang="zh-CN" altLang="en-US" sz="1400" dirty="0">
                <a:solidFill>
                  <a:srgbClr val="080808"/>
                </a:solidFill>
                <a:latin typeface="Times New Roman" pitchFamily="18" charset="0"/>
                <a:ea typeface="黑体" pitchFamily="49" charset="-122"/>
                <a:cs typeface="Times New Roman" pitchFamily="18" charset="0"/>
              </a:rPr>
              <a:t>低电平使</a:t>
            </a:r>
            <a:r>
              <a:rPr lang="en-US" altLang="zh-CN" sz="1400" i="1" dirty="0">
                <a:solidFill>
                  <a:srgbClr val="080808"/>
                </a:solidFill>
                <a:latin typeface="Times New Roman" pitchFamily="18" charset="0"/>
                <a:ea typeface="黑体" pitchFamily="49" charset="-122"/>
                <a:cs typeface="Times New Roman" pitchFamily="18" charset="0"/>
              </a:rPr>
              <a:t>T</a:t>
            </a:r>
            <a:r>
              <a:rPr lang="en-US" altLang="zh-CN" sz="1400" baseline="-25000" dirty="0">
                <a:solidFill>
                  <a:srgbClr val="080808"/>
                </a:solidFill>
                <a:latin typeface="Times New Roman" pitchFamily="18" charset="0"/>
                <a:ea typeface="黑体" pitchFamily="49" charset="-122"/>
                <a:cs typeface="Times New Roman" pitchFamily="18" charset="0"/>
              </a:rPr>
              <a:t>2</a:t>
            </a:r>
            <a:r>
              <a:rPr lang="zh-CN" altLang="en-US" sz="1400" dirty="0">
                <a:solidFill>
                  <a:srgbClr val="080808"/>
                </a:solidFill>
                <a:latin typeface="Times New Roman" pitchFamily="18" charset="0"/>
                <a:ea typeface="黑体" pitchFamily="49" charset="-122"/>
                <a:cs typeface="Times New Roman" pitchFamily="18" charset="0"/>
              </a:rPr>
              <a:t>、</a:t>
            </a:r>
            <a:r>
              <a:rPr lang="en-US" altLang="zh-CN" sz="1400" i="1" dirty="0">
                <a:solidFill>
                  <a:srgbClr val="080808"/>
                </a:solidFill>
                <a:latin typeface="Times New Roman" pitchFamily="18" charset="0"/>
                <a:ea typeface="黑体" pitchFamily="49" charset="-122"/>
                <a:cs typeface="Times New Roman" pitchFamily="18" charset="0"/>
              </a:rPr>
              <a:t>T</a:t>
            </a:r>
            <a:r>
              <a:rPr lang="en-US" altLang="zh-CN" sz="1400" baseline="-25000" dirty="0">
                <a:solidFill>
                  <a:srgbClr val="080808"/>
                </a:solidFill>
                <a:latin typeface="Times New Roman" pitchFamily="18" charset="0"/>
                <a:ea typeface="黑体" pitchFamily="49" charset="-122"/>
                <a:cs typeface="Times New Roman" pitchFamily="18" charset="0"/>
              </a:rPr>
              <a:t>3</a:t>
            </a:r>
            <a:r>
              <a:rPr lang="zh-CN" altLang="en-US" sz="1400" dirty="0">
                <a:solidFill>
                  <a:srgbClr val="080808"/>
                </a:solidFill>
                <a:latin typeface="Times New Roman" pitchFamily="18" charset="0"/>
                <a:ea typeface="黑体" pitchFamily="49" charset="-122"/>
                <a:cs typeface="Times New Roman" pitchFamily="18" charset="0"/>
              </a:rPr>
              <a:t>截止。由于</a:t>
            </a:r>
            <a:r>
              <a:rPr lang="en-US" altLang="zh-CN" sz="1400" i="1" dirty="0">
                <a:solidFill>
                  <a:srgbClr val="080808"/>
                </a:solidFill>
                <a:latin typeface="Times New Roman" pitchFamily="18" charset="0"/>
                <a:ea typeface="黑体" pitchFamily="49" charset="-122"/>
                <a:cs typeface="Times New Roman" pitchFamily="18" charset="0"/>
              </a:rPr>
              <a:t>T</a:t>
            </a:r>
            <a:r>
              <a:rPr lang="en-US" altLang="zh-CN" sz="1400" baseline="-25000" dirty="0">
                <a:solidFill>
                  <a:srgbClr val="080808"/>
                </a:solidFill>
                <a:latin typeface="Times New Roman" pitchFamily="18" charset="0"/>
                <a:ea typeface="黑体" pitchFamily="49" charset="-122"/>
                <a:cs typeface="Times New Roman" pitchFamily="18" charset="0"/>
              </a:rPr>
              <a:t>3</a:t>
            </a:r>
            <a:r>
              <a:rPr lang="zh-CN" altLang="en-US" sz="1400" dirty="0">
                <a:solidFill>
                  <a:srgbClr val="080808"/>
                </a:solidFill>
                <a:latin typeface="Times New Roman" pitchFamily="18" charset="0"/>
                <a:ea typeface="黑体" pitchFamily="49" charset="-122"/>
                <a:cs typeface="Times New Roman" pitchFamily="18" charset="0"/>
              </a:rPr>
              <a:t>、</a:t>
            </a:r>
            <a:r>
              <a:rPr lang="en-US" altLang="zh-CN" sz="1400" i="1" dirty="0">
                <a:solidFill>
                  <a:srgbClr val="080808"/>
                </a:solidFill>
                <a:latin typeface="Times New Roman" pitchFamily="18" charset="0"/>
                <a:ea typeface="黑体" pitchFamily="49" charset="-122"/>
                <a:cs typeface="Times New Roman" pitchFamily="18" charset="0"/>
              </a:rPr>
              <a:t>T</a:t>
            </a:r>
            <a:r>
              <a:rPr lang="en-US" altLang="zh-CN" sz="1400" baseline="-25000" dirty="0">
                <a:solidFill>
                  <a:srgbClr val="080808"/>
                </a:solidFill>
                <a:latin typeface="Times New Roman" pitchFamily="18" charset="0"/>
                <a:ea typeface="黑体" pitchFamily="49" charset="-122"/>
                <a:cs typeface="Times New Roman" pitchFamily="18" charset="0"/>
              </a:rPr>
              <a:t>4</a:t>
            </a:r>
            <a:r>
              <a:rPr lang="zh-CN" altLang="en-US" sz="1400" dirty="0">
                <a:solidFill>
                  <a:srgbClr val="080808"/>
                </a:solidFill>
                <a:latin typeface="Times New Roman" pitchFamily="18" charset="0"/>
                <a:ea typeface="黑体" pitchFamily="49" charset="-122"/>
                <a:cs typeface="Times New Roman" pitchFamily="18" charset="0"/>
              </a:rPr>
              <a:t>均截止，输出</a:t>
            </a:r>
            <a:r>
              <a:rPr lang="en-US" altLang="zh-CN" sz="1400" i="1" dirty="0">
                <a:solidFill>
                  <a:srgbClr val="080808"/>
                </a:solidFill>
                <a:latin typeface="Times New Roman" pitchFamily="18" charset="0"/>
                <a:ea typeface="黑体" pitchFamily="49" charset="-122"/>
                <a:cs typeface="Times New Roman" pitchFamily="18" charset="0"/>
              </a:rPr>
              <a:t>L</a:t>
            </a:r>
            <a:r>
              <a:rPr lang="zh-CN" altLang="en-US" sz="1400" dirty="0">
                <a:solidFill>
                  <a:srgbClr val="080808"/>
                </a:solidFill>
                <a:latin typeface="Times New Roman" pitchFamily="18" charset="0"/>
                <a:ea typeface="黑体" pitchFamily="49" charset="-122"/>
                <a:cs typeface="Times New Roman" pitchFamily="18" charset="0"/>
              </a:rPr>
              <a:t>对电源和对地都相当于开路，呈现</a:t>
            </a:r>
            <a:r>
              <a:rPr lang="zh-CN" altLang="en-US" sz="1400" b="1" dirty="0">
                <a:solidFill>
                  <a:srgbClr val="6600FF"/>
                </a:solidFill>
                <a:latin typeface="方正粗黑宋简体" pitchFamily="2" charset="-122"/>
                <a:ea typeface="方正粗黑宋简体" pitchFamily="2" charset="-122"/>
              </a:rPr>
              <a:t>高阻状态</a:t>
            </a:r>
            <a:r>
              <a:rPr lang="zh-CN" altLang="en-US" sz="1400" b="1" dirty="0">
                <a:solidFill>
                  <a:srgbClr val="080808"/>
                </a:solidFill>
                <a:latin typeface="Times New Roman" pitchFamily="18" charset="0"/>
                <a:ea typeface="黑体" pitchFamily="49" charset="-122"/>
                <a:cs typeface="Times New Roman" pitchFamily="18" charset="0"/>
              </a:rPr>
              <a:t>，</a:t>
            </a:r>
            <a:r>
              <a:rPr lang="zh-CN" altLang="en-US" sz="1400" dirty="0">
                <a:solidFill>
                  <a:srgbClr val="080808"/>
                </a:solidFill>
                <a:latin typeface="Times New Roman" pitchFamily="18" charset="0"/>
                <a:ea typeface="黑体" pitchFamily="49" charset="-122"/>
                <a:cs typeface="Times New Roman" pitchFamily="18" charset="0"/>
              </a:rPr>
              <a:t>也称为</a:t>
            </a:r>
            <a:r>
              <a:rPr lang="zh-CN" altLang="en-US" sz="1400" b="1" dirty="0">
                <a:solidFill>
                  <a:srgbClr val="6600FF"/>
                </a:solidFill>
                <a:latin typeface="方正粗黑宋简体" pitchFamily="2" charset="-122"/>
                <a:ea typeface="方正粗黑宋简体" pitchFamily="2" charset="-122"/>
              </a:rPr>
              <a:t>禁止态</a:t>
            </a:r>
            <a:r>
              <a:rPr lang="zh-CN" altLang="en-US" sz="1400" dirty="0">
                <a:solidFill>
                  <a:srgbClr val="080808"/>
                </a:solidFill>
                <a:latin typeface="Times New Roman" pitchFamily="18" charset="0"/>
                <a:ea typeface="黑体" pitchFamily="49" charset="-122"/>
                <a:cs typeface="Times New Roman" pitchFamily="18" charset="0"/>
              </a:rPr>
              <a:t>。通常记为</a:t>
            </a:r>
            <a:r>
              <a:rPr lang="en-US" altLang="zh-CN" sz="1400" b="1" i="1" dirty="0">
                <a:solidFill>
                  <a:srgbClr val="080808"/>
                </a:solidFill>
                <a:latin typeface="Times New Roman" pitchFamily="18" charset="0"/>
                <a:ea typeface="黑体" pitchFamily="49" charset="-122"/>
                <a:cs typeface="Times New Roman" pitchFamily="18" charset="0"/>
              </a:rPr>
              <a:t>L</a:t>
            </a:r>
            <a:r>
              <a:rPr lang="en-US" altLang="zh-CN" sz="1400" b="1" dirty="0">
                <a:solidFill>
                  <a:srgbClr val="080808"/>
                </a:solidFill>
                <a:latin typeface="Times New Roman" pitchFamily="18" charset="0"/>
                <a:ea typeface="黑体" pitchFamily="49" charset="-122"/>
                <a:cs typeface="Times New Roman" pitchFamily="18" charset="0"/>
              </a:rPr>
              <a:t>=</a:t>
            </a:r>
            <a:r>
              <a:rPr lang="en-US" altLang="zh-CN" sz="1400" b="1" i="1" dirty="0">
                <a:solidFill>
                  <a:srgbClr val="080808"/>
                </a:solidFill>
                <a:latin typeface="Times New Roman" pitchFamily="18" charset="0"/>
                <a:ea typeface="黑体" pitchFamily="49" charset="-122"/>
                <a:cs typeface="Times New Roman" pitchFamily="18" charset="0"/>
              </a:rPr>
              <a:t>Z</a:t>
            </a:r>
            <a:r>
              <a:rPr lang="zh-CN" altLang="en-US" sz="1400" dirty="0">
                <a:solidFill>
                  <a:srgbClr val="080808"/>
                </a:solidFill>
                <a:latin typeface="Times New Roman" pitchFamily="18" charset="0"/>
                <a:ea typeface="黑体" pitchFamily="49" charset="-122"/>
                <a:cs typeface="Times New Roman" pitchFamily="18" charset="0"/>
              </a:rPr>
              <a:t>。</a:t>
            </a:r>
            <a:endParaRPr lang="zh-CN" altLang="en-US" sz="1400" i="1" dirty="0">
              <a:solidFill>
                <a:srgbClr val="080808"/>
              </a:solidFill>
              <a:latin typeface="Times New Roman" pitchFamily="18" charset="0"/>
              <a:ea typeface="黑体" pitchFamily="49" charset="-122"/>
              <a:cs typeface="Times New Roman" pitchFamily="18" charset="0"/>
            </a:endParaRPr>
          </a:p>
        </p:txBody>
      </p:sp>
      <p:sp>
        <p:nvSpPr>
          <p:cNvPr id="26" name="AutoShape 134"/>
          <p:cNvSpPr>
            <a:spLocks noChangeArrowheads="1"/>
          </p:cNvSpPr>
          <p:nvPr/>
        </p:nvSpPr>
        <p:spPr bwMode="auto">
          <a:xfrm>
            <a:off x="6004531" y="4055880"/>
            <a:ext cx="615449" cy="272760"/>
          </a:xfrm>
          <a:prstGeom prst="wedgeRoundRectCallout">
            <a:avLst>
              <a:gd name="adj1" fmla="val 26014"/>
              <a:gd name="adj2" fmla="val -116024"/>
              <a:gd name="adj3" fmla="val 16667"/>
            </a:avLst>
          </a:prstGeom>
          <a:solidFill>
            <a:srgbClr val="FFFF99"/>
          </a:solidFill>
          <a:ln w="19050">
            <a:solidFill>
              <a:srgbClr val="FF00FF"/>
            </a:solidFill>
            <a:miter lim="800000"/>
            <a:headEnd/>
            <a:tailEnd/>
          </a:ln>
          <a:effectLst>
            <a:outerShdw blurRad="50800" dist="38100" dir="5400000" algn="t"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r>
              <a:rPr lang="en-US" altLang="zh-CN" sz="1600" dirty="0">
                <a:solidFill>
                  <a:schemeClr val="tx1"/>
                </a:solidFill>
                <a:latin typeface="方正粗黑宋简体" pitchFamily="2" charset="-122"/>
                <a:ea typeface="方正粗黑宋简体" pitchFamily="2" charset="-122"/>
              </a:rPr>
              <a:t>0.2V</a:t>
            </a:r>
          </a:p>
        </p:txBody>
      </p:sp>
      <p:sp>
        <p:nvSpPr>
          <p:cNvPr id="27" name="AutoShape 134"/>
          <p:cNvSpPr>
            <a:spLocks noChangeArrowheads="1"/>
          </p:cNvSpPr>
          <p:nvPr/>
        </p:nvSpPr>
        <p:spPr bwMode="auto">
          <a:xfrm>
            <a:off x="6728431" y="4055880"/>
            <a:ext cx="662969" cy="272760"/>
          </a:xfrm>
          <a:prstGeom prst="wedgeRoundRectCallout">
            <a:avLst>
              <a:gd name="adj1" fmla="val -3734"/>
              <a:gd name="adj2" fmla="val -99262"/>
              <a:gd name="adj3" fmla="val 16667"/>
            </a:avLst>
          </a:prstGeom>
          <a:solidFill>
            <a:srgbClr val="FFFF99"/>
          </a:solidFill>
          <a:ln w="19050">
            <a:solidFill>
              <a:srgbClr val="FF00FF"/>
            </a:solidFill>
            <a:miter lim="800000"/>
            <a:headEnd/>
            <a:tailEnd/>
          </a:ln>
          <a:effectLst>
            <a:outerShdw blurRad="50800" dist="38100" dir="5400000" algn="t"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r>
              <a:rPr lang="zh-CN" altLang="en-US" sz="1400" dirty="0">
                <a:latin typeface="方正粗黑宋简体" pitchFamily="2" charset="-122"/>
                <a:ea typeface="方正粗黑宋简体" pitchFamily="2" charset="-122"/>
              </a:rPr>
              <a:t>饱和</a:t>
            </a:r>
            <a:endParaRPr lang="en-US" altLang="zh-CN" sz="1400" dirty="0">
              <a:solidFill>
                <a:schemeClr val="tx1"/>
              </a:solidFill>
              <a:latin typeface="方正粗黑宋简体" pitchFamily="2" charset="-122"/>
              <a:ea typeface="方正粗黑宋简体" pitchFamily="2" charset="-122"/>
            </a:endParaRPr>
          </a:p>
        </p:txBody>
      </p:sp>
      <p:sp>
        <p:nvSpPr>
          <p:cNvPr id="28" name="AutoShape 134"/>
          <p:cNvSpPr>
            <a:spLocks noChangeArrowheads="1"/>
          </p:cNvSpPr>
          <p:nvPr/>
        </p:nvSpPr>
        <p:spPr bwMode="auto">
          <a:xfrm>
            <a:off x="7790760" y="4092186"/>
            <a:ext cx="563879" cy="272760"/>
          </a:xfrm>
          <a:prstGeom prst="wedgeRoundRectCallout">
            <a:avLst>
              <a:gd name="adj1" fmla="val -55954"/>
              <a:gd name="adj2" fmla="val -107643"/>
              <a:gd name="adj3" fmla="val 16667"/>
            </a:avLst>
          </a:prstGeom>
          <a:solidFill>
            <a:srgbClr val="FFFF99"/>
          </a:solidFill>
          <a:ln w="19050">
            <a:solidFill>
              <a:srgbClr val="FF00FF"/>
            </a:solidFill>
            <a:miter lim="800000"/>
            <a:headEnd/>
            <a:tailEnd/>
          </a:ln>
          <a:effectLst>
            <a:outerShdw blurRad="50800" dist="38100" dir="5400000" algn="t"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r>
              <a:rPr lang="zh-CN" altLang="en-US" sz="1400" dirty="0">
                <a:solidFill>
                  <a:schemeClr val="tx1"/>
                </a:solidFill>
                <a:latin typeface="方正粗黑宋简体" pitchFamily="2" charset="-122"/>
                <a:ea typeface="方正粗黑宋简体" pitchFamily="2" charset="-122"/>
              </a:rPr>
              <a:t>截止</a:t>
            </a:r>
            <a:endParaRPr lang="en-US" altLang="zh-CN" sz="1400" dirty="0">
              <a:solidFill>
                <a:schemeClr val="tx1"/>
              </a:solidFill>
              <a:latin typeface="方正粗黑宋简体" pitchFamily="2" charset="-122"/>
              <a:ea typeface="方正粗黑宋简体" pitchFamily="2" charset="-122"/>
            </a:endParaRPr>
          </a:p>
        </p:txBody>
      </p:sp>
      <p:sp>
        <p:nvSpPr>
          <p:cNvPr id="29" name="AutoShape 134"/>
          <p:cNvSpPr>
            <a:spLocks noChangeArrowheads="1"/>
          </p:cNvSpPr>
          <p:nvPr/>
        </p:nvSpPr>
        <p:spPr bwMode="auto">
          <a:xfrm>
            <a:off x="8252461" y="3749064"/>
            <a:ext cx="571499" cy="272760"/>
          </a:xfrm>
          <a:prstGeom prst="wedgeRoundRectCallout">
            <a:avLst>
              <a:gd name="adj1" fmla="val -58866"/>
              <a:gd name="adj2" fmla="val -99262"/>
              <a:gd name="adj3" fmla="val 16667"/>
            </a:avLst>
          </a:prstGeom>
          <a:solidFill>
            <a:srgbClr val="FFFF99"/>
          </a:solidFill>
          <a:ln w="19050">
            <a:solidFill>
              <a:srgbClr val="FF00FF"/>
            </a:solidFill>
            <a:miter lim="800000"/>
            <a:headEnd/>
            <a:tailEnd/>
          </a:ln>
          <a:effectLst>
            <a:outerShdw blurRad="50800" dist="38100" dir="5400000" algn="t"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r>
              <a:rPr lang="zh-CN" altLang="en-US" sz="1400" dirty="0">
                <a:solidFill>
                  <a:schemeClr val="tx1"/>
                </a:solidFill>
                <a:latin typeface="方正粗黑宋简体" pitchFamily="2" charset="-122"/>
                <a:ea typeface="方正粗黑宋简体" pitchFamily="2" charset="-122"/>
              </a:rPr>
              <a:t>饱和</a:t>
            </a:r>
            <a:endParaRPr lang="en-US" altLang="zh-CN" sz="1400" dirty="0">
              <a:solidFill>
                <a:schemeClr val="tx1"/>
              </a:solidFill>
              <a:latin typeface="方正粗黑宋简体" pitchFamily="2" charset="-122"/>
              <a:ea typeface="方正粗黑宋简体" pitchFamily="2" charset="-122"/>
            </a:endParaRPr>
          </a:p>
        </p:txBody>
      </p:sp>
      <p:sp>
        <p:nvSpPr>
          <p:cNvPr id="30" name="乘号 29"/>
          <p:cNvSpPr/>
          <p:nvPr/>
        </p:nvSpPr>
        <p:spPr>
          <a:xfrm rot="10800000">
            <a:off x="8167988" y="1214415"/>
            <a:ext cx="587211" cy="693584"/>
          </a:xfrm>
          <a:prstGeom prst="mathMultiply">
            <a:avLst>
              <a:gd name="adj1" fmla="val 13414"/>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AutoShape 134"/>
          <p:cNvSpPr>
            <a:spLocks noChangeArrowheads="1"/>
          </p:cNvSpPr>
          <p:nvPr/>
        </p:nvSpPr>
        <p:spPr bwMode="auto">
          <a:xfrm>
            <a:off x="6263611" y="2333760"/>
            <a:ext cx="615449" cy="272760"/>
          </a:xfrm>
          <a:prstGeom prst="wedgeRoundRectCallout">
            <a:avLst>
              <a:gd name="adj1" fmla="val 26014"/>
              <a:gd name="adj2" fmla="val -116024"/>
              <a:gd name="adj3" fmla="val 16667"/>
            </a:avLst>
          </a:prstGeom>
          <a:solidFill>
            <a:srgbClr val="FFFF99"/>
          </a:solidFill>
          <a:ln w="19050">
            <a:solidFill>
              <a:srgbClr val="FF00FF"/>
            </a:solidFill>
            <a:miter lim="800000"/>
            <a:headEnd/>
            <a:tailEnd/>
          </a:ln>
          <a:effectLst>
            <a:outerShdw blurRad="50800" dist="38100" dir="5400000" algn="t"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r>
              <a:rPr lang="en-US" altLang="zh-CN" sz="1600" dirty="0">
                <a:solidFill>
                  <a:schemeClr val="tx1"/>
                </a:solidFill>
                <a:latin typeface="方正粗黑宋简体" pitchFamily="2" charset="-122"/>
                <a:ea typeface="方正粗黑宋简体" pitchFamily="2" charset="-122"/>
              </a:rPr>
              <a:t>0.2V</a:t>
            </a:r>
          </a:p>
        </p:txBody>
      </p:sp>
      <p:sp>
        <p:nvSpPr>
          <p:cNvPr id="32" name="乘号 31"/>
          <p:cNvSpPr/>
          <p:nvPr/>
        </p:nvSpPr>
        <p:spPr>
          <a:xfrm rot="10800000">
            <a:off x="7326369" y="1627156"/>
            <a:ext cx="486821" cy="490993"/>
          </a:xfrm>
          <a:prstGeom prst="mathMultiply">
            <a:avLst>
              <a:gd name="adj1" fmla="val 13414"/>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乘号 32"/>
          <p:cNvSpPr/>
          <p:nvPr/>
        </p:nvSpPr>
        <p:spPr>
          <a:xfrm rot="10800000">
            <a:off x="8111229" y="2008156"/>
            <a:ext cx="486821" cy="490993"/>
          </a:xfrm>
          <a:prstGeom prst="mathMultiply">
            <a:avLst>
              <a:gd name="adj1" fmla="val 13414"/>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4" name="组合 33"/>
          <p:cNvGrpSpPr/>
          <p:nvPr/>
        </p:nvGrpSpPr>
        <p:grpSpPr>
          <a:xfrm>
            <a:off x="6065520" y="4567416"/>
            <a:ext cx="2872740" cy="853440"/>
            <a:chOff x="6103620" y="4419600"/>
            <a:chExt cx="2872740" cy="853440"/>
          </a:xfrm>
        </p:grpSpPr>
        <p:sp>
          <p:nvSpPr>
            <p:cNvPr id="35" name="圆角矩形 34"/>
            <p:cNvSpPr/>
            <p:nvPr/>
          </p:nvSpPr>
          <p:spPr>
            <a:xfrm>
              <a:off x="6103620" y="4419600"/>
              <a:ext cx="2872740" cy="853440"/>
            </a:xfrm>
            <a:prstGeom prst="roundRect">
              <a:avLst>
                <a:gd name="adj" fmla="val 8334"/>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lstStyle/>
            <a:p>
              <a:pPr algn="ctr"/>
              <a:endParaRPr lang="zh-CN" altLang="en-US" sz="1400" dirty="0">
                <a:solidFill>
                  <a:srgbClr val="6600FF"/>
                </a:solidFill>
                <a:latin typeface="方正粗黑宋简体" pitchFamily="2" charset="-122"/>
                <a:ea typeface="方正粗黑宋简体" pitchFamily="2" charset="-122"/>
              </a:endParaRPr>
            </a:p>
          </p:txBody>
        </p:sp>
        <p:graphicFrame>
          <p:nvGraphicFramePr>
            <p:cNvPr id="36" name="Object 14"/>
            <p:cNvGraphicFramePr>
              <a:graphicFrameLocks noChangeAspect="1"/>
            </p:cNvGraphicFramePr>
            <p:nvPr/>
          </p:nvGraphicFramePr>
          <p:xfrm>
            <a:off x="6205166" y="4426740"/>
            <a:ext cx="1347787" cy="800100"/>
          </p:xfrm>
          <a:graphic>
            <a:graphicData uri="http://schemas.openxmlformats.org/presentationml/2006/ole">
              <mc:AlternateContent xmlns:mc="http://schemas.openxmlformats.org/markup-compatibility/2006">
                <mc:Choice xmlns:v="urn:schemas-microsoft-com:vml" Requires="v">
                  <p:oleObj spid="_x0000_s76802" name="Visio" r:id="rId5" imgW="820808" imgH="458435" progId="">
                    <p:embed/>
                  </p:oleObj>
                </mc:Choice>
                <mc:Fallback>
                  <p:oleObj name="Visio" r:id="rId5" imgW="820808" imgH="458435" progId="">
                    <p:embed/>
                    <p:pic>
                      <p:nvPicPr>
                        <p:cNvPr id="36"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05166" y="4426740"/>
                          <a:ext cx="1347787" cy="8001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 name="Object 14"/>
            <p:cNvGraphicFramePr>
              <a:graphicFrameLocks noChangeAspect="1"/>
            </p:cNvGraphicFramePr>
            <p:nvPr/>
          </p:nvGraphicFramePr>
          <p:xfrm>
            <a:off x="7561898" y="4443730"/>
            <a:ext cx="1347787" cy="800100"/>
          </p:xfrm>
          <a:graphic>
            <a:graphicData uri="http://schemas.openxmlformats.org/presentationml/2006/ole">
              <mc:AlternateContent xmlns:mc="http://schemas.openxmlformats.org/markup-compatibility/2006">
                <mc:Choice xmlns:v="urn:schemas-microsoft-com:vml" Requires="v">
                  <p:oleObj spid="_x0000_s76803" name="Visio" r:id="rId7" imgW="820808" imgH="458435" progId="">
                    <p:embed/>
                  </p:oleObj>
                </mc:Choice>
                <mc:Fallback>
                  <p:oleObj name="Visio" r:id="rId7" imgW="820808" imgH="458435" progId="">
                    <p:embed/>
                    <p:pic>
                      <p:nvPicPr>
                        <p:cNvPr id="37"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61898" y="4443730"/>
                          <a:ext cx="1347787" cy="8001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38" name="AutoShape 134"/>
          <p:cNvSpPr>
            <a:spLocks noChangeArrowheads="1"/>
          </p:cNvSpPr>
          <p:nvPr/>
        </p:nvSpPr>
        <p:spPr bwMode="auto">
          <a:xfrm>
            <a:off x="8252460" y="3095098"/>
            <a:ext cx="571499" cy="272760"/>
          </a:xfrm>
          <a:prstGeom prst="wedgeRoundRectCallout">
            <a:avLst>
              <a:gd name="adj1" fmla="val -58866"/>
              <a:gd name="adj2" fmla="val -99262"/>
              <a:gd name="adj3" fmla="val 16667"/>
            </a:avLst>
          </a:prstGeom>
          <a:solidFill>
            <a:srgbClr val="FFFF99"/>
          </a:solidFill>
          <a:ln w="19050">
            <a:solidFill>
              <a:srgbClr val="FF00FF"/>
            </a:solidFill>
            <a:miter lim="800000"/>
            <a:headEnd/>
            <a:tailEnd/>
          </a:ln>
          <a:effectLst>
            <a:outerShdw blurRad="50800" dist="38100" dir="5400000" algn="t"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r>
              <a:rPr lang="en-US" altLang="zh-CN" sz="1400" dirty="0">
                <a:solidFill>
                  <a:schemeClr val="tx1"/>
                </a:solidFill>
                <a:latin typeface="方正粗黑宋简体" pitchFamily="2" charset="-122"/>
                <a:ea typeface="方正粗黑宋简体" pitchFamily="2" charset="-122"/>
              </a:rPr>
              <a:t>0.2V</a:t>
            </a:r>
          </a:p>
        </p:txBody>
      </p:sp>
      <p:sp>
        <p:nvSpPr>
          <p:cNvPr id="39" name="AutoShape 21">
            <a:extLst>
              <a:ext uri="{FF2B5EF4-FFF2-40B4-BE49-F238E27FC236}">
                <a16:creationId xmlns:a16="http://schemas.microsoft.com/office/drawing/2014/main" id="{5C22B636-31DD-488C-A43A-24242F6F6C33}"/>
              </a:ext>
            </a:extLst>
          </p:cNvPr>
          <p:cNvSpPr>
            <a:spLocks noChangeArrowheads="1"/>
          </p:cNvSpPr>
          <p:nvPr/>
        </p:nvSpPr>
        <p:spPr bwMode="auto">
          <a:xfrm>
            <a:off x="6276187" y="5307365"/>
            <a:ext cx="865575" cy="241262"/>
          </a:xfrm>
          <a:prstGeom prst="wedgeRoundRectCallout">
            <a:avLst>
              <a:gd name="adj1" fmla="val 24979"/>
              <a:gd name="adj2" fmla="val -160845"/>
              <a:gd name="adj3" fmla="val 16667"/>
            </a:avLst>
          </a:prstGeom>
          <a:solidFill>
            <a:srgbClr val="FFFF66"/>
          </a:solidFill>
          <a:ln w="12700" algn="ctr">
            <a:solidFill>
              <a:srgbClr val="0000FF"/>
            </a:solidFill>
            <a:miter lim="800000"/>
            <a:headEnd/>
            <a:tailEnd/>
          </a:ln>
        </p:spPr>
        <p:txBody>
          <a:bodyPr lIns="0" rIns="0" anchor="ctr"/>
          <a:lstStyle/>
          <a:p>
            <a:pPr algn="ctr"/>
            <a:r>
              <a:rPr lang="zh-CN" altLang="en-US" sz="1200" dirty="0">
                <a:solidFill>
                  <a:srgbClr val="6600FF"/>
                </a:solidFill>
                <a:latin typeface="方正粗黑宋简体" pitchFamily="2" charset="-122"/>
                <a:ea typeface="方正粗黑宋简体" pitchFamily="2" charset="-122"/>
              </a:rPr>
              <a:t>三态门标识</a:t>
            </a:r>
          </a:p>
        </p:txBody>
      </p:sp>
      <p:sp>
        <p:nvSpPr>
          <p:cNvPr id="40" name="AutoShape 21">
            <a:extLst>
              <a:ext uri="{FF2B5EF4-FFF2-40B4-BE49-F238E27FC236}">
                <a16:creationId xmlns:a16="http://schemas.microsoft.com/office/drawing/2014/main" id="{5C22B636-31DD-488C-A43A-24242F6F6C33}"/>
              </a:ext>
            </a:extLst>
          </p:cNvPr>
          <p:cNvSpPr>
            <a:spLocks noChangeArrowheads="1"/>
          </p:cNvSpPr>
          <p:nvPr/>
        </p:nvSpPr>
        <p:spPr bwMode="auto">
          <a:xfrm>
            <a:off x="7310413" y="5333326"/>
            <a:ext cx="865575" cy="241262"/>
          </a:xfrm>
          <a:prstGeom prst="wedgeRoundRectCallout">
            <a:avLst>
              <a:gd name="adj1" fmla="val 27893"/>
              <a:gd name="adj2" fmla="val -95499"/>
              <a:gd name="adj3" fmla="val 16667"/>
            </a:avLst>
          </a:prstGeom>
          <a:solidFill>
            <a:srgbClr val="FFFF66"/>
          </a:solidFill>
          <a:ln w="12700" algn="ctr">
            <a:solidFill>
              <a:srgbClr val="0000FF"/>
            </a:solidFill>
            <a:miter lim="800000"/>
            <a:headEnd/>
            <a:tailEnd/>
          </a:ln>
        </p:spPr>
        <p:txBody>
          <a:bodyPr lIns="0" rIns="0" anchor="ctr"/>
          <a:lstStyle/>
          <a:p>
            <a:pPr algn="ctr"/>
            <a:r>
              <a:rPr lang="zh-CN" altLang="en-US" sz="1200" dirty="0">
                <a:solidFill>
                  <a:srgbClr val="6600FF"/>
                </a:solidFill>
                <a:latin typeface="方正粗黑宋简体" pitchFamily="2" charset="-122"/>
                <a:ea typeface="方正粗黑宋简体" pitchFamily="2" charset="-122"/>
              </a:rPr>
              <a:t>低有效标识</a:t>
            </a:r>
          </a:p>
        </p:txBody>
      </p:sp>
      <p:graphicFrame>
        <p:nvGraphicFramePr>
          <p:cNvPr id="86034" name="Object 18"/>
          <p:cNvGraphicFramePr>
            <a:graphicFrameLocks noChangeAspect="1"/>
          </p:cNvGraphicFramePr>
          <p:nvPr/>
        </p:nvGraphicFramePr>
        <p:xfrm>
          <a:off x="2312988" y="3070225"/>
          <a:ext cx="942975" cy="320675"/>
        </p:xfrm>
        <a:graphic>
          <a:graphicData uri="http://schemas.openxmlformats.org/presentationml/2006/ole">
            <mc:AlternateContent xmlns:mc="http://schemas.openxmlformats.org/markup-compatibility/2006">
              <mc:Choice xmlns:v="urn:schemas-microsoft-com:vml" Requires="v">
                <p:oleObj spid="_x0000_s76804" name="公式" r:id="rId9" imgW="10668000" imgH="4572000" progId="">
                  <p:embed/>
                </p:oleObj>
              </mc:Choice>
              <mc:Fallback>
                <p:oleObj name="公式" r:id="rId9" imgW="10668000" imgH="4572000" progId="">
                  <p:embed/>
                  <p:pic>
                    <p:nvPicPr>
                      <p:cNvPr id="86034" name="Object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12988" y="3070225"/>
                        <a:ext cx="942975" cy="320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804105198"/>
      </p:ext>
    </p:extLst>
  </p:cSld>
  <p:clrMapOvr>
    <a:masterClrMapping/>
  </p:clrMapOvr>
  <p:transition spd="slow">
    <p:wipe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slide(fromBottom)">
                                      <p:cBhvr>
                                        <p:cTn id="7" dur="1000"/>
                                        <p:tgtEl>
                                          <p:spTgt spid="25"/>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wipe(up)">
                                      <p:cBhvr>
                                        <p:cTn id="11" dur="1000"/>
                                        <p:tgtEl>
                                          <p:spTgt spid="26"/>
                                        </p:tgtEl>
                                      </p:cBhvr>
                                    </p:animEffect>
                                  </p:childTnLst>
                                </p:cTn>
                              </p:par>
                            </p:childTnLst>
                          </p:cTn>
                        </p:par>
                        <p:par>
                          <p:cTn id="12" fill="hold">
                            <p:stCondLst>
                              <p:cond delay="2000"/>
                            </p:stCondLst>
                            <p:childTnLst>
                              <p:par>
                                <p:cTn id="13" presetID="22" presetClass="entr" presetSubtype="1" fill="hold" grpId="0"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up)">
                                      <p:cBhvr>
                                        <p:cTn id="15" dur="1000"/>
                                        <p:tgtEl>
                                          <p:spTgt spid="27"/>
                                        </p:tgtEl>
                                      </p:cBhvr>
                                    </p:animEffect>
                                  </p:childTnLst>
                                </p:cTn>
                              </p:par>
                            </p:childTnLst>
                          </p:cTn>
                        </p:par>
                        <p:par>
                          <p:cTn id="16" fill="hold">
                            <p:stCondLst>
                              <p:cond delay="3000"/>
                            </p:stCondLst>
                            <p:childTnLst>
                              <p:par>
                                <p:cTn id="17" presetID="22" presetClass="entr" presetSubtype="1" fill="hold" grpId="0" nodeType="after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wipe(up)">
                                      <p:cBhvr>
                                        <p:cTn id="19" dur="1000"/>
                                        <p:tgtEl>
                                          <p:spTgt spid="28"/>
                                        </p:tgtEl>
                                      </p:cBhvr>
                                    </p:animEffect>
                                  </p:childTnLst>
                                </p:cTn>
                              </p:par>
                            </p:childTnLst>
                          </p:cTn>
                        </p:par>
                        <p:par>
                          <p:cTn id="20" fill="hold">
                            <p:stCondLst>
                              <p:cond delay="4000"/>
                            </p:stCondLst>
                            <p:childTnLst>
                              <p:par>
                                <p:cTn id="21" presetID="22" presetClass="entr" presetSubtype="1" fill="hold" grpId="0" nodeType="after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wipe(up)">
                                      <p:cBhvr>
                                        <p:cTn id="23" dur="1000"/>
                                        <p:tgtEl>
                                          <p:spTgt spid="29"/>
                                        </p:tgtEl>
                                      </p:cBhvr>
                                    </p:animEffect>
                                  </p:childTnLst>
                                </p:cTn>
                              </p:par>
                            </p:childTnLst>
                          </p:cTn>
                        </p:par>
                        <p:par>
                          <p:cTn id="24" fill="hold">
                            <p:stCondLst>
                              <p:cond delay="5000"/>
                            </p:stCondLst>
                            <p:childTnLst>
                              <p:par>
                                <p:cTn id="25" presetID="22" presetClass="entr" presetSubtype="1" fill="hold" grpId="0" nodeType="after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wipe(up)">
                                      <p:cBhvr>
                                        <p:cTn id="27" dur="1000"/>
                                        <p:tgtEl>
                                          <p:spTgt spid="38"/>
                                        </p:tgtEl>
                                      </p:cBhvr>
                                    </p:animEffect>
                                  </p:childTnLst>
                                </p:cTn>
                              </p:par>
                            </p:childTnLst>
                          </p:cTn>
                        </p:par>
                        <p:par>
                          <p:cTn id="28" fill="hold">
                            <p:stCondLst>
                              <p:cond delay="6000"/>
                            </p:stCondLst>
                            <p:childTnLst>
                              <p:par>
                                <p:cTn id="29" presetID="12" presetClass="entr" presetSubtype="8" fill="hold" grpId="0" nodeType="after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slide(fromLeft)">
                                      <p:cBhvr>
                                        <p:cTn id="31" dur="1000"/>
                                        <p:tgtEl>
                                          <p:spTgt spid="30"/>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4" fill="hold" grpId="0" nodeType="clickEffect">
                                  <p:stCondLst>
                                    <p:cond delay="0"/>
                                  </p:stCondLst>
                                  <p:childTnLst>
                                    <p:set>
                                      <p:cBhvr>
                                        <p:cTn id="35" dur="1" fill="hold">
                                          <p:stCondLst>
                                            <p:cond delay="0"/>
                                          </p:stCondLst>
                                        </p:cTn>
                                        <p:tgtEl>
                                          <p:spTgt spid="31"/>
                                        </p:tgtEl>
                                        <p:attrNameLst>
                                          <p:attrName>style.visibility</p:attrName>
                                        </p:attrNameLst>
                                      </p:cBhvr>
                                      <p:to>
                                        <p:strVal val="visible"/>
                                      </p:to>
                                    </p:set>
                                    <p:animEffect transition="in" filter="slide(fromBottom)">
                                      <p:cBhvr>
                                        <p:cTn id="36" dur="1000"/>
                                        <p:tgtEl>
                                          <p:spTgt spid="31"/>
                                        </p:tgtEl>
                                      </p:cBhvr>
                                    </p:animEffect>
                                  </p:childTnLst>
                                </p:cTn>
                              </p:par>
                            </p:childTnLst>
                          </p:cTn>
                        </p:par>
                        <p:par>
                          <p:cTn id="37" fill="hold">
                            <p:stCondLst>
                              <p:cond delay="1000"/>
                            </p:stCondLst>
                            <p:childTnLst>
                              <p:par>
                                <p:cTn id="38" presetID="12" presetClass="entr" presetSubtype="8" fill="hold" grpId="0" nodeType="after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slide(fromLeft)">
                                      <p:cBhvr>
                                        <p:cTn id="40" dur="1000"/>
                                        <p:tgtEl>
                                          <p:spTgt spid="32"/>
                                        </p:tgtEl>
                                      </p:cBhvr>
                                    </p:animEffect>
                                  </p:childTnLst>
                                </p:cTn>
                              </p:par>
                            </p:childTnLst>
                          </p:cTn>
                        </p:par>
                        <p:par>
                          <p:cTn id="41" fill="hold">
                            <p:stCondLst>
                              <p:cond delay="2000"/>
                            </p:stCondLst>
                            <p:childTnLst>
                              <p:par>
                                <p:cTn id="42" presetID="12" presetClass="entr" presetSubtype="8" fill="hold" grpId="0" nodeType="afterEffect">
                                  <p:stCondLst>
                                    <p:cond delay="0"/>
                                  </p:stCondLst>
                                  <p:childTnLst>
                                    <p:set>
                                      <p:cBhvr>
                                        <p:cTn id="43" dur="1" fill="hold">
                                          <p:stCondLst>
                                            <p:cond delay="0"/>
                                          </p:stCondLst>
                                        </p:cTn>
                                        <p:tgtEl>
                                          <p:spTgt spid="33"/>
                                        </p:tgtEl>
                                        <p:attrNameLst>
                                          <p:attrName>style.visibility</p:attrName>
                                        </p:attrNameLst>
                                      </p:cBhvr>
                                      <p:to>
                                        <p:strVal val="visible"/>
                                      </p:to>
                                    </p:set>
                                    <p:animEffect transition="in" filter="slide(fromLeft)">
                                      <p:cBhvr>
                                        <p:cTn id="44" dur="1000"/>
                                        <p:tgtEl>
                                          <p:spTgt spid="33"/>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nodeType="clickEffect">
                                  <p:stCondLst>
                                    <p:cond delay="0"/>
                                  </p:stCondLst>
                                  <p:childTnLst>
                                    <p:set>
                                      <p:cBhvr>
                                        <p:cTn id="48" dur="1" fill="hold">
                                          <p:stCondLst>
                                            <p:cond delay="0"/>
                                          </p:stCondLst>
                                        </p:cTn>
                                        <p:tgtEl>
                                          <p:spTgt spid="34"/>
                                        </p:tgtEl>
                                        <p:attrNameLst>
                                          <p:attrName>style.visibility</p:attrName>
                                        </p:attrNameLst>
                                      </p:cBhvr>
                                      <p:to>
                                        <p:strVal val="visible"/>
                                      </p:to>
                                    </p:set>
                                    <p:animEffect transition="in" filter="slide(fromBottom)">
                                      <p:cBhvr>
                                        <p:cTn id="49" dur="1000"/>
                                        <p:tgtEl>
                                          <p:spTgt spid="34"/>
                                        </p:tgtEl>
                                      </p:cBhvr>
                                    </p:animEffect>
                                  </p:childTnLst>
                                </p:cTn>
                              </p:par>
                            </p:childTnLst>
                          </p:cTn>
                        </p:par>
                        <p:par>
                          <p:cTn id="50" fill="hold">
                            <p:stCondLst>
                              <p:cond delay="1000"/>
                            </p:stCondLst>
                            <p:childTnLst>
                              <p:par>
                                <p:cTn id="51" presetID="22" presetClass="entr" presetSubtype="4" fill="hold" grpId="0" nodeType="afterEffect">
                                  <p:stCondLst>
                                    <p:cond delay="0"/>
                                  </p:stCondLst>
                                  <p:childTnLst>
                                    <p:set>
                                      <p:cBhvr>
                                        <p:cTn id="52" dur="1" fill="hold">
                                          <p:stCondLst>
                                            <p:cond delay="0"/>
                                          </p:stCondLst>
                                        </p:cTn>
                                        <p:tgtEl>
                                          <p:spTgt spid="39"/>
                                        </p:tgtEl>
                                        <p:attrNameLst>
                                          <p:attrName>style.visibility</p:attrName>
                                        </p:attrNameLst>
                                      </p:cBhvr>
                                      <p:to>
                                        <p:strVal val="visible"/>
                                      </p:to>
                                    </p:set>
                                    <p:animEffect transition="in" filter="wipe(down)">
                                      <p:cBhvr>
                                        <p:cTn id="53" dur="1000"/>
                                        <p:tgtEl>
                                          <p:spTgt spid="39"/>
                                        </p:tgtEl>
                                      </p:cBhvr>
                                    </p:animEffect>
                                  </p:childTnLst>
                                </p:cTn>
                              </p:par>
                            </p:childTnLst>
                          </p:cTn>
                        </p:par>
                        <p:par>
                          <p:cTn id="54" fill="hold">
                            <p:stCondLst>
                              <p:cond delay="2000"/>
                            </p:stCondLst>
                            <p:childTnLst>
                              <p:par>
                                <p:cTn id="55" presetID="22" presetClass="entr" presetSubtype="4" fill="hold" grpId="0" nodeType="afterEffect">
                                  <p:stCondLst>
                                    <p:cond delay="0"/>
                                  </p:stCondLst>
                                  <p:childTnLst>
                                    <p:set>
                                      <p:cBhvr>
                                        <p:cTn id="56" dur="1" fill="hold">
                                          <p:stCondLst>
                                            <p:cond delay="0"/>
                                          </p:stCondLst>
                                        </p:cTn>
                                        <p:tgtEl>
                                          <p:spTgt spid="40"/>
                                        </p:tgtEl>
                                        <p:attrNameLst>
                                          <p:attrName>style.visibility</p:attrName>
                                        </p:attrNameLst>
                                      </p:cBhvr>
                                      <p:to>
                                        <p:strVal val="visible"/>
                                      </p:to>
                                    </p:set>
                                    <p:animEffect transition="in" filter="wipe(down)">
                                      <p:cBhvr>
                                        <p:cTn id="57" dur="10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animBg="1"/>
      <p:bldP spid="27" grpId="0" animBg="1"/>
      <p:bldP spid="28" grpId="0" animBg="1"/>
      <p:bldP spid="29" grpId="0" animBg="1"/>
      <p:bldP spid="30" grpId="0" animBg="1"/>
      <p:bldP spid="31" grpId="0" animBg="1"/>
      <p:bldP spid="32" grpId="0" animBg="1"/>
      <p:bldP spid="33" grpId="0" animBg="1"/>
      <p:bldP spid="38" grpId="0" animBg="1"/>
      <p:bldP spid="39" grpId="0" animBg="1"/>
      <p:bldP spid="4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组合 45"/>
          <p:cNvGrpSpPr/>
          <p:nvPr/>
        </p:nvGrpSpPr>
        <p:grpSpPr>
          <a:xfrm>
            <a:off x="282575" y="785614"/>
            <a:ext cx="2604659" cy="373579"/>
            <a:chOff x="307975" y="1517134"/>
            <a:chExt cx="2604659" cy="373579"/>
          </a:xfrm>
        </p:grpSpPr>
        <p:grpSp>
          <p:nvGrpSpPr>
            <p:cNvPr id="47" name="组合 32"/>
            <p:cNvGrpSpPr/>
            <p:nvPr/>
          </p:nvGrpSpPr>
          <p:grpSpPr>
            <a:xfrm>
              <a:off x="307975" y="1519116"/>
              <a:ext cx="568325" cy="371597"/>
              <a:chOff x="307975" y="1519116"/>
              <a:chExt cx="568325" cy="371597"/>
            </a:xfrm>
          </p:grpSpPr>
          <p:pic>
            <p:nvPicPr>
              <p:cNvPr id="71" name="Picture 4"/>
              <p:cNvPicPr>
                <a:picLocks noChangeAspect="1" noChangeArrowheads="1"/>
              </p:cNvPicPr>
              <p:nvPr/>
            </p:nvPicPr>
            <p:blipFill>
              <a:blip r:embed="rId2" cstate="print"/>
              <a:srcRect/>
              <a:stretch>
                <a:fillRect/>
              </a:stretch>
            </p:blipFill>
            <p:spPr bwMode="auto">
              <a:xfrm flipH="1">
                <a:off x="307975" y="1519116"/>
                <a:ext cx="568325" cy="371597"/>
              </a:xfrm>
              <a:prstGeom prst="rect">
                <a:avLst/>
              </a:prstGeom>
              <a:noFill/>
              <a:ln w="9525">
                <a:noFill/>
                <a:miter lim="800000"/>
                <a:headEnd/>
                <a:tailEnd/>
              </a:ln>
              <a:effectLst/>
            </p:spPr>
          </p:pic>
          <p:sp>
            <p:nvSpPr>
              <p:cNvPr id="72" name="TextBox 71"/>
              <p:cNvSpPr txBox="1"/>
              <p:nvPr/>
            </p:nvSpPr>
            <p:spPr>
              <a:xfrm flipH="1">
                <a:off x="443415" y="1555750"/>
                <a:ext cx="137858" cy="276999"/>
              </a:xfrm>
              <a:prstGeom prst="rect">
                <a:avLst/>
              </a:prstGeom>
              <a:noFill/>
            </p:spPr>
            <p:txBody>
              <a:bodyPr wrap="none" lIns="0" tIns="0" rIns="0" bIns="0" rtlCol="0">
                <a:spAutoFit/>
              </a:bodyPr>
              <a:lstStyle/>
              <a:p>
                <a:r>
                  <a:rPr lang="en-US" altLang="zh-CN" b="1" dirty="0">
                    <a:solidFill>
                      <a:srgbClr val="262626"/>
                    </a:solidFill>
                    <a:latin typeface="Segoe UI Black" pitchFamily="34" charset="0"/>
                    <a:cs typeface="Times New Roman" pitchFamily="18" charset="0"/>
                  </a:rPr>
                  <a:t>5</a:t>
                </a:r>
                <a:endParaRPr lang="zh-CN" altLang="en-US" b="1" dirty="0">
                  <a:solidFill>
                    <a:srgbClr val="262626"/>
                  </a:solidFill>
                  <a:latin typeface="Segoe UI Black" pitchFamily="34" charset="0"/>
                  <a:cs typeface="Times New Roman" pitchFamily="18" charset="0"/>
                </a:endParaRPr>
              </a:p>
            </p:txBody>
          </p:sp>
        </p:grpSp>
        <p:sp>
          <p:nvSpPr>
            <p:cNvPr id="70" name="矩形 69"/>
            <p:cNvSpPr/>
            <p:nvPr/>
          </p:nvSpPr>
          <p:spPr>
            <a:xfrm>
              <a:off x="863675" y="1517134"/>
              <a:ext cx="2048959" cy="369332"/>
            </a:xfrm>
            <a:prstGeom prst="rect">
              <a:avLst/>
            </a:prstGeom>
          </p:spPr>
          <p:txBody>
            <a:bodyPr wrap="none">
              <a:spAutoFit/>
            </a:bodyPr>
            <a:lstStyle/>
            <a:p>
              <a:pPr marL="358775" indent="-358775"/>
              <a:r>
                <a:rPr lang="en-US" altLang="zh-CN" b="1" dirty="0">
                  <a:solidFill>
                    <a:schemeClr val="accent1">
                      <a:lumMod val="50000"/>
                    </a:schemeClr>
                  </a:solidFill>
                  <a:latin typeface="黑体" pitchFamily="49" charset="-122"/>
                  <a:ea typeface="黑体" pitchFamily="49" charset="-122"/>
                  <a:cs typeface="Times New Roman" pitchFamily="18" charset="0"/>
                </a:rPr>
                <a:t>TTL</a:t>
              </a:r>
              <a:r>
                <a:rPr lang="zh-CN" altLang="en-US" b="1" dirty="0">
                  <a:solidFill>
                    <a:schemeClr val="accent1">
                      <a:lumMod val="50000"/>
                    </a:schemeClr>
                  </a:solidFill>
                  <a:latin typeface="黑体" pitchFamily="49" charset="-122"/>
                  <a:ea typeface="黑体" pitchFamily="49" charset="-122"/>
                  <a:cs typeface="Times New Roman" pitchFamily="18" charset="0"/>
                </a:rPr>
                <a:t>三态门（</a:t>
              </a:r>
              <a:r>
                <a:rPr lang="en-US" altLang="zh-CN" b="1" dirty="0">
                  <a:solidFill>
                    <a:schemeClr val="accent1">
                      <a:lumMod val="50000"/>
                    </a:schemeClr>
                  </a:solidFill>
                  <a:latin typeface="黑体" pitchFamily="49" charset="-122"/>
                  <a:ea typeface="黑体" pitchFamily="49" charset="-122"/>
                  <a:cs typeface="Times New Roman" pitchFamily="18" charset="0"/>
                </a:rPr>
                <a:t>TSL</a:t>
              </a:r>
              <a:r>
                <a:rPr lang="zh-CN" altLang="en-US" b="1" dirty="0">
                  <a:solidFill>
                    <a:schemeClr val="accent1">
                      <a:lumMod val="50000"/>
                    </a:schemeClr>
                  </a:solidFill>
                  <a:latin typeface="黑体" pitchFamily="49" charset="-122"/>
                  <a:ea typeface="黑体" pitchFamily="49" charset="-122"/>
                  <a:cs typeface="Times New Roman" pitchFamily="18" charset="0"/>
                </a:rPr>
                <a:t>）</a:t>
              </a:r>
            </a:p>
          </p:txBody>
        </p:sp>
      </p:grpSp>
      <p:sp>
        <p:nvSpPr>
          <p:cNvPr id="2" name="矩形 1"/>
          <p:cNvSpPr/>
          <p:nvPr/>
        </p:nvSpPr>
        <p:spPr>
          <a:xfrm>
            <a:off x="273196" y="1227187"/>
            <a:ext cx="2306718" cy="415498"/>
          </a:xfrm>
          <a:prstGeom prst="rect">
            <a:avLst/>
          </a:prstGeom>
        </p:spPr>
        <p:txBody>
          <a:bodyPr wrap="square">
            <a:spAutoFit/>
          </a:bodyPr>
          <a:lstStyle/>
          <a:p>
            <a:pPr>
              <a:lnSpc>
                <a:spcPct val="150000"/>
              </a:lnSpc>
              <a:buFont typeface="Wingdings" panose="05000000000000000000" pitchFamily="2" charset="2"/>
              <a:buChar char="n"/>
            </a:pPr>
            <a:r>
              <a:rPr lang="en-US" altLang="zh-CN" sz="1400" b="1" dirty="0">
                <a:solidFill>
                  <a:srgbClr val="6600FF"/>
                </a:solidFill>
                <a:latin typeface="方正粗黑宋简体" pitchFamily="2" charset="-122"/>
                <a:ea typeface="方正粗黑宋简体" pitchFamily="2" charset="-122"/>
              </a:rPr>
              <a:t>  </a:t>
            </a:r>
            <a:r>
              <a:rPr lang="zh-CN" altLang="zh-CN" sz="1400" b="1" dirty="0">
                <a:solidFill>
                  <a:srgbClr val="6600FF"/>
                </a:solidFill>
                <a:latin typeface="方正粗黑宋简体" pitchFamily="2" charset="-122"/>
                <a:ea typeface="方正粗黑宋简体" pitchFamily="2" charset="-122"/>
              </a:rPr>
              <a:t>三态门</a:t>
            </a:r>
            <a:r>
              <a:rPr lang="zh-CN" altLang="en-US" sz="1400" b="1" dirty="0">
                <a:solidFill>
                  <a:srgbClr val="6600FF"/>
                </a:solidFill>
                <a:latin typeface="方正粗黑宋简体" pitchFamily="2" charset="-122"/>
                <a:ea typeface="方正粗黑宋简体" pitchFamily="2" charset="-122"/>
              </a:rPr>
              <a:t>的应用</a:t>
            </a:r>
            <a:endParaRPr lang="zh-CN" altLang="en-US" sz="1400"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3" cstate="print"/>
          <a:stretch>
            <a:fillRect/>
          </a:stretch>
        </p:blipFill>
        <p:spPr>
          <a:xfrm>
            <a:off x="2783328" y="2633801"/>
            <a:ext cx="4280412" cy="2411177"/>
          </a:xfrm>
          <a:prstGeom prst="rect">
            <a:avLst/>
          </a:prstGeom>
        </p:spPr>
      </p:pic>
      <p:sp>
        <p:nvSpPr>
          <p:cNvPr id="4" name="矩形 3"/>
          <p:cNvSpPr/>
          <p:nvPr/>
        </p:nvSpPr>
        <p:spPr>
          <a:xfrm>
            <a:off x="228600" y="1642685"/>
            <a:ext cx="8801100" cy="738664"/>
          </a:xfrm>
          <a:prstGeom prst="rect">
            <a:avLst/>
          </a:prstGeom>
        </p:spPr>
        <p:txBody>
          <a:bodyPr wrap="square">
            <a:spAutoFit/>
          </a:bodyPr>
          <a:lstStyle/>
          <a:p>
            <a:pPr indent="358775">
              <a:lnSpc>
                <a:spcPct val="150000"/>
              </a:lnSpc>
            </a:pPr>
            <a:r>
              <a:rPr lang="zh-CN" altLang="zh-CN" sz="1400" dirty="0">
                <a:latin typeface="微软雅黑" panose="020B0503020204020204" pitchFamily="34" charset="-122"/>
                <a:ea typeface="微软雅黑" panose="020B0503020204020204" pitchFamily="34" charset="-122"/>
              </a:rPr>
              <a:t>在复杂的数字系统中，为了减少不同功能模块电路（如计算机中</a:t>
            </a:r>
            <a:r>
              <a:rPr lang="en-US" altLang="zh-CN" sz="1400" dirty="0">
                <a:latin typeface="微软雅黑" panose="020B0503020204020204" pitchFamily="34" charset="-122"/>
                <a:ea typeface="微软雅黑" panose="020B0503020204020204" pitchFamily="34" charset="-122"/>
              </a:rPr>
              <a:t>CPU</a:t>
            </a:r>
            <a:r>
              <a:rPr lang="zh-CN" altLang="zh-CN" sz="1400" dirty="0">
                <a:latin typeface="微软雅黑" panose="020B0503020204020204" pitchFamily="34" charset="-122"/>
                <a:ea typeface="微软雅黑" panose="020B0503020204020204" pitchFamily="34" charset="-122"/>
              </a:rPr>
              <a:t>和存储器）之间互联信号线的数目，通常在同一组信号线上分时传输信号，这样的信号线称为</a:t>
            </a:r>
            <a:r>
              <a:rPr lang="zh-CN" altLang="zh-CN" sz="1400" b="1" dirty="0">
                <a:solidFill>
                  <a:srgbClr val="6600FF"/>
                </a:solidFill>
                <a:latin typeface="方正粗黑宋简体" pitchFamily="2" charset="-122"/>
                <a:ea typeface="方正粗黑宋简体" pitchFamily="2" charset="-122"/>
              </a:rPr>
              <a:t>总线</a:t>
            </a:r>
            <a:r>
              <a:rPr lang="zh-CN" altLang="zh-CN" sz="1400" dirty="0">
                <a:latin typeface="微软雅黑" panose="020B0503020204020204" pitchFamily="34" charset="-122"/>
                <a:ea typeface="微软雅黑" panose="020B0503020204020204" pitchFamily="34" charset="-122"/>
              </a:rPr>
              <a:t>。</a:t>
            </a:r>
            <a:endParaRPr lang="zh-CN" altLang="en-US" sz="1400" dirty="0">
              <a:latin typeface="微软雅黑" panose="020B0503020204020204" pitchFamily="34" charset="-122"/>
              <a:ea typeface="微软雅黑" panose="020B0503020204020204" pitchFamily="34" charset="-122"/>
            </a:endParaRPr>
          </a:p>
        </p:txBody>
      </p:sp>
      <p:sp>
        <p:nvSpPr>
          <p:cNvPr id="41" name="剪去对角的矩形 40"/>
          <p:cNvSpPr/>
          <p:nvPr/>
        </p:nvSpPr>
        <p:spPr>
          <a:xfrm>
            <a:off x="353228" y="2682240"/>
            <a:ext cx="2226686" cy="2314303"/>
          </a:xfrm>
          <a:prstGeom prst="snip2DiagRect">
            <a:avLst>
              <a:gd name="adj1" fmla="val 0"/>
              <a:gd name="adj2" fmla="val 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gn="ctr">
              <a:lnSpc>
                <a:spcPct val="125000"/>
              </a:lnSpc>
            </a:pPr>
            <a:r>
              <a:rPr lang="zh-CN" altLang="en-US" sz="1400" b="1" dirty="0">
                <a:solidFill>
                  <a:srgbClr val="6600FF"/>
                </a:solidFill>
                <a:latin typeface="方正粗黑宋简体" pitchFamily="2" charset="-122"/>
                <a:ea typeface="方正粗黑宋简体" pitchFamily="2" charset="-122"/>
              </a:rPr>
              <a:t>数据分时传输</a:t>
            </a:r>
            <a:endParaRPr lang="en-US" altLang="zh-CN" sz="1400" b="1" dirty="0">
              <a:solidFill>
                <a:srgbClr val="6600FF"/>
              </a:solidFill>
              <a:latin typeface="方正粗黑宋简体" pitchFamily="2" charset="-122"/>
              <a:ea typeface="方正粗黑宋简体" pitchFamily="2" charset="-122"/>
            </a:endParaRPr>
          </a:p>
          <a:p>
            <a:pPr lvl="0" algn="ctr">
              <a:lnSpc>
                <a:spcPct val="125000"/>
              </a:lnSpc>
            </a:pPr>
            <a:endParaRPr lang="en-US" altLang="zh-CN" sz="1400" b="1" dirty="0">
              <a:solidFill>
                <a:schemeClr val="tx1"/>
              </a:solidFill>
              <a:latin typeface="Times New Roman" pitchFamily="18" charset="0"/>
              <a:ea typeface="黑体" pitchFamily="49" charset="-122"/>
              <a:cs typeface="Times New Roman" pitchFamily="18" charset="0"/>
            </a:endParaRPr>
          </a:p>
          <a:p>
            <a:pPr lvl="0">
              <a:lnSpc>
                <a:spcPct val="125000"/>
              </a:lnSpc>
            </a:pPr>
            <a:r>
              <a:rPr lang="zh-CN" altLang="zh-CN" sz="1400" b="1" dirty="0">
                <a:solidFill>
                  <a:schemeClr val="tx1"/>
                </a:solidFill>
                <a:latin typeface="Times New Roman" pitchFamily="18" charset="0"/>
                <a:ea typeface="黑体" pitchFamily="49" charset="-122"/>
                <a:cs typeface="Times New Roman" pitchFamily="18" charset="0"/>
              </a:rPr>
              <a:t>任何时刻只有一个使能信号有效</a:t>
            </a:r>
            <a:r>
              <a:rPr lang="zh-CN" altLang="en-US" sz="1400" b="1" dirty="0">
                <a:solidFill>
                  <a:schemeClr val="tx1"/>
                </a:solidFill>
                <a:latin typeface="Times New Roman" pitchFamily="18" charset="0"/>
                <a:ea typeface="黑体" pitchFamily="49" charset="-122"/>
                <a:cs typeface="Times New Roman" pitchFamily="18" charset="0"/>
              </a:rPr>
              <a:t>，使能有效的</a:t>
            </a:r>
            <a:r>
              <a:rPr lang="zh-CN" altLang="zh-CN" sz="1400" b="1" dirty="0">
                <a:solidFill>
                  <a:schemeClr val="tx1"/>
                </a:solidFill>
                <a:latin typeface="Times New Roman" pitchFamily="18" charset="0"/>
                <a:ea typeface="黑体" pitchFamily="49" charset="-122"/>
                <a:cs typeface="Times New Roman" pitchFamily="18" charset="0"/>
              </a:rPr>
              <a:t>功能电路占用并通过总线传输信号，而其他模块电路的输出为高阻态，对总线无影响</a:t>
            </a:r>
            <a:r>
              <a:rPr lang="zh-CN" altLang="en-US" sz="1400" b="1" dirty="0">
                <a:solidFill>
                  <a:schemeClr val="tx1"/>
                </a:solidFill>
                <a:latin typeface="Times New Roman" pitchFamily="18" charset="0"/>
                <a:ea typeface="黑体" pitchFamily="49" charset="-122"/>
                <a:cs typeface="Times New Roman" pitchFamily="18" charset="0"/>
              </a:rPr>
              <a:t>。</a:t>
            </a:r>
            <a:endParaRPr lang="en-US" altLang="zh-CN" sz="1400" dirty="0">
              <a:solidFill>
                <a:schemeClr val="tx1"/>
              </a:solidFill>
              <a:latin typeface="方正粗黑宋简体" pitchFamily="2" charset="-122"/>
              <a:ea typeface="方正粗黑宋简体" pitchFamily="2" charset="-122"/>
            </a:endParaRPr>
          </a:p>
        </p:txBody>
      </p:sp>
      <p:sp>
        <p:nvSpPr>
          <p:cNvPr id="42" name="剪去对角的矩形 41"/>
          <p:cNvSpPr/>
          <p:nvPr/>
        </p:nvSpPr>
        <p:spPr>
          <a:xfrm>
            <a:off x="7121050" y="2682239"/>
            <a:ext cx="1520734" cy="2314303"/>
          </a:xfrm>
          <a:prstGeom prst="snip2DiagRect">
            <a:avLst>
              <a:gd name="adj1" fmla="val 0"/>
              <a:gd name="adj2" fmla="val 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125000"/>
              </a:lnSpc>
            </a:pPr>
            <a:r>
              <a:rPr lang="zh-CN" altLang="en-US" sz="1400" b="1" dirty="0">
                <a:solidFill>
                  <a:srgbClr val="6600FF"/>
                </a:solidFill>
                <a:latin typeface="方正粗黑宋简体" pitchFamily="2" charset="-122"/>
                <a:ea typeface="方正粗黑宋简体" pitchFamily="2" charset="-122"/>
              </a:rPr>
              <a:t>数据双向传输</a:t>
            </a:r>
            <a:endParaRPr lang="en-US" altLang="zh-CN" sz="1400" b="1" dirty="0">
              <a:solidFill>
                <a:srgbClr val="6600FF"/>
              </a:solidFill>
              <a:latin typeface="方正粗黑宋简体" pitchFamily="2" charset="-122"/>
              <a:ea typeface="方正粗黑宋简体" pitchFamily="2" charset="-122"/>
            </a:endParaRPr>
          </a:p>
          <a:p>
            <a:pPr>
              <a:lnSpc>
                <a:spcPct val="125000"/>
              </a:lnSpc>
            </a:pPr>
            <a:endParaRPr lang="en-US" altLang="zh-CN" sz="1400" b="1" dirty="0">
              <a:solidFill>
                <a:schemeClr val="tx1"/>
              </a:solidFill>
              <a:latin typeface="Times New Roman" pitchFamily="18" charset="0"/>
              <a:ea typeface="黑体" pitchFamily="49" charset="-122"/>
              <a:cs typeface="Times New Roman" pitchFamily="18" charset="0"/>
            </a:endParaRPr>
          </a:p>
          <a:p>
            <a:pPr>
              <a:lnSpc>
                <a:spcPct val="125000"/>
              </a:lnSpc>
            </a:pPr>
            <a:r>
              <a:rPr lang="zh-CN" altLang="zh-CN" sz="1400" b="1" dirty="0">
                <a:solidFill>
                  <a:schemeClr val="tx1"/>
                </a:solidFill>
                <a:latin typeface="Times New Roman" pitchFamily="18" charset="0"/>
                <a:ea typeface="黑体" pitchFamily="49" charset="-122"/>
                <a:cs typeface="Times New Roman" pitchFamily="18" charset="0"/>
              </a:rPr>
              <a:t>当</a:t>
            </a:r>
            <a:r>
              <a:rPr lang="en-US" altLang="zh-CN" sz="1400" b="1" dirty="0">
                <a:solidFill>
                  <a:schemeClr val="tx1"/>
                </a:solidFill>
                <a:latin typeface="Times New Roman" pitchFamily="18" charset="0"/>
                <a:ea typeface="黑体" pitchFamily="49" charset="-122"/>
                <a:cs typeface="Times New Roman" pitchFamily="18" charset="0"/>
              </a:rPr>
              <a:t>EN=1</a:t>
            </a:r>
            <a:r>
              <a:rPr lang="zh-CN" altLang="zh-CN" sz="1400" b="1" dirty="0">
                <a:solidFill>
                  <a:schemeClr val="tx1"/>
                </a:solidFill>
                <a:latin typeface="Times New Roman" pitchFamily="18" charset="0"/>
                <a:ea typeface="黑体" pitchFamily="49" charset="-122"/>
                <a:cs typeface="Times New Roman" pitchFamily="18" charset="0"/>
              </a:rPr>
              <a:t>时，总线接收功能电路的信息，当</a:t>
            </a:r>
            <a:r>
              <a:rPr lang="en-US" altLang="zh-CN" sz="1400" b="1" dirty="0">
                <a:solidFill>
                  <a:schemeClr val="tx1"/>
                </a:solidFill>
                <a:latin typeface="Times New Roman" pitchFamily="18" charset="0"/>
                <a:ea typeface="黑体" pitchFamily="49" charset="-122"/>
                <a:cs typeface="Times New Roman" pitchFamily="18" charset="0"/>
              </a:rPr>
              <a:t>EN=0</a:t>
            </a:r>
            <a:r>
              <a:rPr lang="zh-CN" altLang="zh-CN" sz="1400" b="1" dirty="0">
                <a:solidFill>
                  <a:schemeClr val="tx1"/>
                </a:solidFill>
                <a:latin typeface="Times New Roman" pitchFamily="18" charset="0"/>
                <a:ea typeface="黑体" pitchFamily="49" charset="-122"/>
                <a:cs typeface="Times New Roman" pitchFamily="18" charset="0"/>
              </a:rPr>
              <a:t>时，功能电路接收总线上的信息。</a:t>
            </a:r>
            <a:endParaRPr lang="en-US" altLang="zh-CN" sz="1400" b="1" dirty="0">
              <a:solidFill>
                <a:schemeClr val="tx1"/>
              </a:solidFill>
              <a:latin typeface="Times New Roman" pitchFamily="18" charset="0"/>
              <a:ea typeface="黑体" pitchFamily="49" charset="-122"/>
              <a:cs typeface="Times New Roman" pitchFamily="18" charset="0"/>
            </a:endParaRPr>
          </a:p>
        </p:txBody>
      </p:sp>
    </p:spTree>
    <p:extLst>
      <p:ext uri="{BB962C8B-B14F-4D97-AF65-F5344CB8AC3E}">
        <p14:creationId xmlns:p14="http://schemas.microsoft.com/office/powerpoint/2010/main" val="2933209708"/>
      </p:ext>
    </p:extLst>
  </p:cSld>
  <p:clrMapOvr>
    <a:masterClrMapping/>
  </p:clrMapOvr>
  <p:transition spd="slow">
    <p:pull dir="l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1000"/>
                                        <p:tgtEl>
                                          <p:spTgt spid="2"/>
                                        </p:tgtEl>
                                      </p:cBhvr>
                                    </p:animEffect>
                                  </p:childTnLst>
                                </p:cTn>
                              </p:par>
                            </p:childTnLst>
                          </p:cTn>
                        </p:par>
                        <p:par>
                          <p:cTn id="8" fill="hold">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slide(fromBottom)">
                                      <p:cBhvr>
                                        <p:cTn id="11" dur="10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4"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slide(fromBottom)">
                                      <p:cBhvr>
                                        <p:cTn id="16" dur="10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8" fill="hold" grpId="0" nodeType="click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slide(fromLeft)">
                                      <p:cBhvr>
                                        <p:cTn id="21" dur="1000"/>
                                        <p:tgtEl>
                                          <p:spTgt spid="41"/>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2" fill="hold" grpId="0" nodeType="clickEffect">
                                  <p:stCondLst>
                                    <p:cond delay="0"/>
                                  </p:stCondLst>
                                  <p:childTnLst>
                                    <p:set>
                                      <p:cBhvr>
                                        <p:cTn id="25" dur="1" fill="hold">
                                          <p:stCondLst>
                                            <p:cond delay="0"/>
                                          </p:stCondLst>
                                        </p:cTn>
                                        <p:tgtEl>
                                          <p:spTgt spid="42"/>
                                        </p:tgtEl>
                                        <p:attrNameLst>
                                          <p:attrName>style.visibility</p:attrName>
                                        </p:attrNameLst>
                                      </p:cBhvr>
                                      <p:to>
                                        <p:strVal val="visible"/>
                                      </p:to>
                                    </p:set>
                                    <p:animEffect transition="in" filter="slide(fromRight)">
                                      <p:cBhvr>
                                        <p:cTn id="26" dur="10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41" grpId="0" animBg="1"/>
      <p:bldP spid="4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1041354" y="1824567"/>
            <a:ext cx="6772956" cy="2072333"/>
            <a:chOff x="1041354" y="1824567"/>
            <a:chExt cx="6772956" cy="2072333"/>
          </a:xfrm>
        </p:grpSpPr>
        <p:grpSp>
          <p:nvGrpSpPr>
            <p:cNvPr id="17" name="组合 16"/>
            <p:cNvGrpSpPr/>
            <p:nvPr/>
          </p:nvGrpSpPr>
          <p:grpSpPr>
            <a:xfrm>
              <a:off x="1101090" y="1824567"/>
              <a:ext cx="1371600" cy="760000"/>
              <a:chOff x="1101090" y="1824567"/>
              <a:chExt cx="1371600" cy="760000"/>
            </a:xfrm>
          </p:grpSpPr>
          <p:grpSp>
            <p:nvGrpSpPr>
              <p:cNvPr id="3" name="组合 35"/>
              <p:cNvGrpSpPr/>
              <p:nvPr/>
            </p:nvGrpSpPr>
            <p:grpSpPr>
              <a:xfrm>
                <a:off x="1101090" y="1972734"/>
                <a:ext cx="1371600" cy="110067"/>
                <a:chOff x="910590" y="1699260"/>
                <a:chExt cx="1371600" cy="99060"/>
              </a:xfrm>
            </p:grpSpPr>
            <p:cxnSp>
              <p:nvCxnSpPr>
                <p:cNvPr id="22" name="直接连接符 21"/>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3" name="直接连接符 22"/>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4" name="组合 36"/>
              <p:cNvGrpSpPr/>
              <p:nvPr/>
            </p:nvGrpSpPr>
            <p:grpSpPr>
              <a:xfrm rot="5400000">
                <a:off x="986715" y="2155037"/>
                <a:ext cx="760000" cy="99060"/>
                <a:chOff x="910590" y="1699260"/>
                <a:chExt cx="1371600" cy="99060"/>
              </a:xfrm>
            </p:grpSpPr>
            <p:cxnSp>
              <p:nvCxnSpPr>
                <p:cNvPr id="20" name="直接连接符 19"/>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1" name="直接连接符 20"/>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grpSp>
          <p:nvGrpSpPr>
            <p:cNvPr id="18" name="组合 17"/>
            <p:cNvGrpSpPr/>
            <p:nvPr/>
          </p:nvGrpSpPr>
          <p:grpSpPr>
            <a:xfrm>
              <a:off x="6442710" y="3136900"/>
              <a:ext cx="1371600" cy="760000"/>
              <a:chOff x="6442710" y="3136900"/>
              <a:chExt cx="1371600" cy="760000"/>
            </a:xfrm>
          </p:grpSpPr>
          <p:grpSp>
            <p:nvGrpSpPr>
              <p:cNvPr id="6" name="组合 35"/>
              <p:cNvGrpSpPr/>
              <p:nvPr/>
            </p:nvGrpSpPr>
            <p:grpSpPr>
              <a:xfrm rot="10800000">
                <a:off x="6442710" y="3638667"/>
                <a:ext cx="1371600" cy="110067"/>
                <a:chOff x="910590" y="1699260"/>
                <a:chExt cx="1371600" cy="99060"/>
              </a:xfrm>
            </p:grpSpPr>
            <p:cxnSp>
              <p:nvCxnSpPr>
                <p:cNvPr id="31" name="直接连接符 30"/>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2" name="直接连接符 31"/>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7" name="组合 36"/>
              <p:cNvGrpSpPr/>
              <p:nvPr/>
            </p:nvGrpSpPr>
            <p:grpSpPr>
              <a:xfrm rot="16200000">
                <a:off x="7092485" y="3467370"/>
                <a:ext cx="760000" cy="99060"/>
                <a:chOff x="910590" y="1699260"/>
                <a:chExt cx="1371600" cy="99060"/>
              </a:xfrm>
            </p:grpSpPr>
            <p:cxnSp>
              <p:nvCxnSpPr>
                <p:cNvPr id="28" name="直接连接符 27"/>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0" name="直接连接符 29"/>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sp>
          <p:nvSpPr>
            <p:cNvPr id="33" name="文本框 6"/>
            <p:cNvSpPr txBox="1"/>
            <p:nvPr/>
          </p:nvSpPr>
          <p:spPr>
            <a:xfrm>
              <a:off x="1041354" y="2166579"/>
              <a:ext cx="6498792" cy="1284967"/>
            </a:xfrm>
            <a:prstGeom prst="rect">
              <a:avLst/>
            </a:prstGeom>
            <a:noFill/>
          </p:spPr>
          <p:txBody>
            <a:bodyPr wrap="square" rtlCol="0">
              <a:spAutoFit/>
            </a:bodyPr>
            <a:lstStyle/>
            <a:p>
              <a:pPr algn="ctr">
                <a:lnSpc>
                  <a:spcPct val="125000"/>
                </a:lnSpc>
              </a:pPr>
              <a:r>
                <a:rPr lang="zh-CN" altLang="en-US"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第三章 逻辑门电路</a:t>
              </a:r>
              <a:endParaRPr lang="en-US" altLang="zh-CN"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a:p>
              <a:pPr algn="ctr">
                <a:lnSpc>
                  <a:spcPct val="125000"/>
                </a:lnSpc>
              </a:pPr>
              <a:r>
                <a:rPr lang="en-US" altLang="zh-CN"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itchFamily="2" charset="-122"/>
                  <a:ea typeface="方正粗黑宋简体" pitchFamily="2" charset="-122"/>
                </a:rPr>
                <a:t>3.3 CMOS</a:t>
              </a:r>
              <a:r>
                <a:rPr lang="zh-CN" altLang="en-US"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itchFamily="2" charset="-122"/>
                  <a:ea typeface="方正粗黑宋简体" pitchFamily="2" charset="-122"/>
                </a:rPr>
                <a:t>逻辑门电路</a:t>
              </a:r>
            </a:p>
          </p:txBody>
        </p:sp>
      </p:grpSp>
      <p:sp>
        <p:nvSpPr>
          <p:cNvPr id="37890" name="AutoShape 2" descr="http://img1.imgtn.bdimg.com/it/u=2942258362,1117296489&amp;fm=26&amp;gp=0.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14:prism dir="u"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1000" fill="hold"/>
                                        <p:tgtEl>
                                          <p:spTgt spid="19"/>
                                        </p:tgtEl>
                                        <p:attrNameLst>
                                          <p:attrName>ppt_w</p:attrName>
                                        </p:attrNameLst>
                                      </p:cBhvr>
                                      <p:tavLst>
                                        <p:tav tm="0">
                                          <p:val>
                                            <p:fltVal val="0"/>
                                          </p:val>
                                        </p:tav>
                                        <p:tav tm="100000">
                                          <p:val>
                                            <p:strVal val="#ppt_w"/>
                                          </p:val>
                                        </p:tav>
                                      </p:tavLst>
                                    </p:anim>
                                    <p:anim calcmode="lin" valueType="num">
                                      <p:cBhvr>
                                        <p:cTn id="8" dur="1000" fill="hold"/>
                                        <p:tgtEl>
                                          <p:spTgt spid="19"/>
                                        </p:tgtEl>
                                        <p:attrNameLst>
                                          <p:attrName>ppt_h</p:attrName>
                                        </p:attrNameLst>
                                      </p:cBhvr>
                                      <p:tavLst>
                                        <p:tav tm="0">
                                          <p:val>
                                            <p:fltVal val="0"/>
                                          </p:val>
                                        </p:tav>
                                        <p:tav tm="100000">
                                          <p:val>
                                            <p:strVal val="#ppt_h"/>
                                          </p:val>
                                        </p:tav>
                                      </p:tavLst>
                                    </p:anim>
                                    <p:animEffect transition="in" filter="fade">
                                      <p:cBhvr>
                                        <p:cTn id="9"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8" name="AutoShape 8" descr="http://img1.imgtn.bdimg.com/it/u=2942258362,1117296489&amp;fm=26&amp;gp=0.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35850" name="AutoShape 10" descr="http://img1.imgtn.bdimg.com/it/u=2942258362,1117296489&amp;fm=26&amp;gp=0.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35852" name="AutoShape 12" descr="http://img1.imgtn.bdimg.com/it/u=2942258362,1117296489&amp;fm=26&amp;gp=0.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61" name="矩形 60"/>
          <p:cNvSpPr/>
          <p:nvPr/>
        </p:nvSpPr>
        <p:spPr>
          <a:xfrm>
            <a:off x="633021" y="836477"/>
            <a:ext cx="6270699" cy="442878"/>
          </a:xfrm>
          <a:prstGeom prst="rect">
            <a:avLst/>
          </a:prstGeom>
        </p:spPr>
        <p:txBody>
          <a:bodyPr wrap="square">
            <a:spAutoFit/>
          </a:bodyPr>
          <a:lstStyle/>
          <a:p>
            <a:pPr>
              <a:lnSpc>
                <a:spcPct val="150000"/>
              </a:lnSpc>
            </a:pPr>
            <a:endParaRPr lang="zh-CN" altLang="en-US" dirty="0">
              <a:latin typeface="黑体" pitchFamily="49" charset="-122"/>
              <a:ea typeface="黑体" pitchFamily="49" charset="-122"/>
            </a:endParaRPr>
          </a:p>
        </p:txBody>
      </p:sp>
      <p:grpSp>
        <p:nvGrpSpPr>
          <p:cNvPr id="22" name="组合 21"/>
          <p:cNvGrpSpPr/>
          <p:nvPr/>
        </p:nvGrpSpPr>
        <p:grpSpPr>
          <a:xfrm>
            <a:off x="328383" y="903655"/>
            <a:ext cx="8305077" cy="584775"/>
            <a:chOff x="358863" y="911275"/>
            <a:chExt cx="8305077" cy="584775"/>
          </a:xfrm>
        </p:grpSpPr>
        <p:grpSp>
          <p:nvGrpSpPr>
            <p:cNvPr id="62" name="组合 13">
              <a:extLst>
                <a:ext uri="{FF2B5EF4-FFF2-40B4-BE49-F238E27FC236}">
                  <a16:creationId xmlns:a16="http://schemas.microsoft.com/office/drawing/2014/main" id="{FF3B2FB4-753E-483C-B856-C25711218C46}"/>
                </a:ext>
              </a:extLst>
            </p:cNvPr>
            <p:cNvGrpSpPr/>
            <p:nvPr/>
          </p:nvGrpSpPr>
          <p:grpSpPr>
            <a:xfrm>
              <a:off x="358863" y="944195"/>
              <a:ext cx="272583" cy="310719"/>
              <a:chOff x="5908675" y="1281113"/>
              <a:chExt cx="246063" cy="260350"/>
            </a:xfrm>
            <a:solidFill>
              <a:srgbClr val="CC6600"/>
            </a:solidFill>
            <a:effectLst/>
          </p:grpSpPr>
          <p:sp>
            <p:nvSpPr>
              <p:cNvPr id="74" name="Rectangle 5">
                <a:extLst>
                  <a:ext uri="{FF2B5EF4-FFF2-40B4-BE49-F238E27FC236}">
                    <a16:creationId xmlns:a16="http://schemas.microsoft.com/office/drawing/2014/main" id="{9B009D39-46A2-4259-9D42-738EE4066A67}"/>
                  </a:ext>
                </a:extLst>
              </p:cNvPr>
              <p:cNvSpPr>
                <a:spLocks noChangeArrowheads="1"/>
              </p:cNvSpPr>
              <p:nvPr/>
            </p:nvSpPr>
            <p:spPr bwMode="auto">
              <a:xfrm>
                <a:off x="6024563" y="1320800"/>
                <a:ext cx="15875" cy="163513"/>
              </a:xfrm>
              <a:prstGeom prst="rect">
                <a:avLst/>
              </a:prstGeom>
              <a:grpFill/>
              <a:ln w="6350" cmpd="sng">
                <a:solidFill>
                  <a:srgbClr val="CC6600"/>
                </a:solidFill>
                <a:miter lim="800000"/>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32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75" name="Freeform 6">
                <a:extLst>
                  <a:ext uri="{FF2B5EF4-FFF2-40B4-BE49-F238E27FC236}">
                    <a16:creationId xmlns:a16="http://schemas.microsoft.com/office/drawing/2014/main" id="{3FE9648E-F3AC-40CB-9DE3-883C834ACCFD}"/>
                  </a:ext>
                </a:extLst>
              </p:cNvPr>
              <p:cNvSpPr>
                <a:spLocks/>
              </p:cNvSpPr>
              <p:nvPr/>
            </p:nvSpPr>
            <p:spPr bwMode="auto">
              <a:xfrm>
                <a:off x="5908675" y="1501775"/>
                <a:ext cx="131762" cy="39688"/>
              </a:xfrm>
              <a:custGeom>
                <a:avLst/>
                <a:gdLst>
                  <a:gd name="T0" fmla="*/ 64 w 64"/>
                  <a:gd name="T1" fmla="*/ 20 h 20"/>
                  <a:gd name="T2" fmla="*/ 56 w 64"/>
                  <a:gd name="T3" fmla="*/ 20 h 20"/>
                  <a:gd name="T4" fmla="*/ 44 w 64"/>
                  <a:gd name="T5" fmla="*/ 8 h 20"/>
                  <a:gd name="T6" fmla="*/ 0 w 64"/>
                  <a:gd name="T7" fmla="*/ 8 h 20"/>
                  <a:gd name="T8" fmla="*/ 0 w 64"/>
                  <a:gd name="T9" fmla="*/ 0 h 20"/>
                  <a:gd name="T10" fmla="*/ 44 w 64"/>
                  <a:gd name="T11" fmla="*/ 0 h 20"/>
                  <a:gd name="T12" fmla="*/ 64 w 64"/>
                  <a:gd name="T13" fmla="*/ 20 h 20"/>
                </a:gdLst>
                <a:ahLst/>
                <a:cxnLst>
                  <a:cxn ang="0">
                    <a:pos x="T0" y="T1"/>
                  </a:cxn>
                  <a:cxn ang="0">
                    <a:pos x="T2" y="T3"/>
                  </a:cxn>
                  <a:cxn ang="0">
                    <a:pos x="T4" y="T5"/>
                  </a:cxn>
                  <a:cxn ang="0">
                    <a:pos x="T6" y="T7"/>
                  </a:cxn>
                  <a:cxn ang="0">
                    <a:pos x="T8" y="T9"/>
                  </a:cxn>
                  <a:cxn ang="0">
                    <a:pos x="T10" y="T11"/>
                  </a:cxn>
                  <a:cxn ang="0">
                    <a:pos x="T12" y="T13"/>
                  </a:cxn>
                </a:cxnLst>
                <a:rect l="0" t="0" r="r" b="b"/>
                <a:pathLst>
                  <a:path w="64" h="20">
                    <a:moveTo>
                      <a:pt x="64" y="20"/>
                    </a:moveTo>
                    <a:cubicBezTo>
                      <a:pt x="56" y="20"/>
                      <a:pt x="56" y="20"/>
                      <a:pt x="56" y="20"/>
                    </a:cubicBezTo>
                    <a:cubicBezTo>
                      <a:pt x="56" y="13"/>
                      <a:pt x="51" y="8"/>
                      <a:pt x="44" y="8"/>
                    </a:cubicBezTo>
                    <a:cubicBezTo>
                      <a:pt x="0" y="8"/>
                      <a:pt x="0" y="8"/>
                      <a:pt x="0" y="8"/>
                    </a:cubicBezTo>
                    <a:cubicBezTo>
                      <a:pt x="0" y="0"/>
                      <a:pt x="0" y="0"/>
                      <a:pt x="0" y="0"/>
                    </a:cubicBezTo>
                    <a:cubicBezTo>
                      <a:pt x="44" y="0"/>
                      <a:pt x="44" y="0"/>
                      <a:pt x="44" y="0"/>
                    </a:cubicBezTo>
                    <a:cubicBezTo>
                      <a:pt x="55" y="0"/>
                      <a:pt x="64" y="9"/>
                      <a:pt x="64" y="20"/>
                    </a:cubicBezTo>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32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76" name="Freeform 7">
                <a:extLst>
                  <a:ext uri="{FF2B5EF4-FFF2-40B4-BE49-F238E27FC236}">
                    <a16:creationId xmlns:a16="http://schemas.microsoft.com/office/drawing/2014/main" id="{BFF701F3-D87C-49D7-8803-795564BC1FD1}"/>
                  </a:ext>
                </a:extLst>
              </p:cNvPr>
              <p:cNvSpPr>
                <a:spLocks/>
              </p:cNvSpPr>
              <p:nvPr/>
            </p:nvSpPr>
            <p:spPr bwMode="auto">
              <a:xfrm>
                <a:off x="6024563" y="1501775"/>
                <a:ext cx="130175" cy="39688"/>
              </a:xfrm>
              <a:custGeom>
                <a:avLst/>
                <a:gdLst>
                  <a:gd name="T0" fmla="*/ 8 w 64"/>
                  <a:gd name="T1" fmla="*/ 20 h 20"/>
                  <a:gd name="T2" fmla="*/ 0 w 64"/>
                  <a:gd name="T3" fmla="*/ 20 h 20"/>
                  <a:gd name="T4" fmla="*/ 20 w 64"/>
                  <a:gd name="T5" fmla="*/ 0 h 20"/>
                  <a:gd name="T6" fmla="*/ 64 w 64"/>
                  <a:gd name="T7" fmla="*/ 0 h 20"/>
                  <a:gd name="T8" fmla="*/ 64 w 64"/>
                  <a:gd name="T9" fmla="*/ 8 h 20"/>
                  <a:gd name="T10" fmla="*/ 20 w 64"/>
                  <a:gd name="T11" fmla="*/ 8 h 20"/>
                  <a:gd name="T12" fmla="*/ 8 w 64"/>
                  <a:gd name="T13" fmla="*/ 20 h 20"/>
                </a:gdLst>
                <a:ahLst/>
                <a:cxnLst>
                  <a:cxn ang="0">
                    <a:pos x="T0" y="T1"/>
                  </a:cxn>
                  <a:cxn ang="0">
                    <a:pos x="T2" y="T3"/>
                  </a:cxn>
                  <a:cxn ang="0">
                    <a:pos x="T4" y="T5"/>
                  </a:cxn>
                  <a:cxn ang="0">
                    <a:pos x="T6" y="T7"/>
                  </a:cxn>
                  <a:cxn ang="0">
                    <a:pos x="T8" y="T9"/>
                  </a:cxn>
                  <a:cxn ang="0">
                    <a:pos x="T10" y="T11"/>
                  </a:cxn>
                  <a:cxn ang="0">
                    <a:pos x="T12" y="T13"/>
                  </a:cxn>
                </a:cxnLst>
                <a:rect l="0" t="0" r="r" b="b"/>
                <a:pathLst>
                  <a:path w="64" h="20">
                    <a:moveTo>
                      <a:pt x="8" y="20"/>
                    </a:moveTo>
                    <a:cubicBezTo>
                      <a:pt x="0" y="20"/>
                      <a:pt x="0" y="20"/>
                      <a:pt x="0" y="20"/>
                    </a:cubicBezTo>
                    <a:cubicBezTo>
                      <a:pt x="0" y="9"/>
                      <a:pt x="9" y="0"/>
                      <a:pt x="20" y="0"/>
                    </a:cubicBezTo>
                    <a:cubicBezTo>
                      <a:pt x="64" y="0"/>
                      <a:pt x="64" y="0"/>
                      <a:pt x="64" y="0"/>
                    </a:cubicBezTo>
                    <a:cubicBezTo>
                      <a:pt x="64" y="8"/>
                      <a:pt x="64" y="8"/>
                      <a:pt x="64" y="8"/>
                    </a:cubicBezTo>
                    <a:cubicBezTo>
                      <a:pt x="20" y="8"/>
                      <a:pt x="20" y="8"/>
                      <a:pt x="20" y="8"/>
                    </a:cubicBezTo>
                    <a:cubicBezTo>
                      <a:pt x="13" y="8"/>
                      <a:pt x="8" y="13"/>
                      <a:pt x="8" y="20"/>
                    </a:cubicBezTo>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32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77" name="Freeform 8">
                <a:extLst>
                  <a:ext uri="{FF2B5EF4-FFF2-40B4-BE49-F238E27FC236}">
                    <a16:creationId xmlns:a16="http://schemas.microsoft.com/office/drawing/2014/main" id="{7005F504-0956-437D-B5A5-12AE6D765977}"/>
                  </a:ext>
                </a:extLst>
              </p:cNvPr>
              <p:cNvSpPr>
                <a:spLocks/>
              </p:cNvSpPr>
              <p:nvPr/>
            </p:nvSpPr>
            <p:spPr bwMode="auto">
              <a:xfrm>
                <a:off x="5908675" y="1281113"/>
                <a:ext cx="131762" cy="203200"/>
              </a:xfrm>
              <a:custGeom>
                <a:avLst/>
                <a:gdLst>
                  <a:gd name="T0" fmla="*/ 48 w 64"/>
                  <a:gd name="T1" fmla="*/ 100 h 100"/>
                  <a:gd name="T2" fmla="*/ 0 w 64"/>
                  <a:gd name="T3" fmla="*/ 100 h 100"/>
                  <a:gd name="T4" fmla="*/ 0 w 64"/>
                  <a:gd name="T5" fmla="*/ 0 h 100"/>
                  <a:gd name="T6" fmla="*/ 44 w 64"/>
                  <a:gd name="T7" fmla="*/ 0 h 100"/>
                  <a:gd name="T8" fmla="*/ 64 w 64"/>
                  <a:gd name="T9" fmla="*/ 20 h 100"/>
                  <a:gd name="T10" fmla="*/ 56 w 64"/>
                  <a:gd name="T11" fmla="*/ 20 h 100"/>
                  <a:gd name="T12" fmla="*/ 44 w 64"/>
                  <a:gd name="T13" fmla="*/ 8 h 100"/>
                  <a:gd name="T14" fmla="*/ 8 w 64"/>
                  <a:gd name="T15" fmla="*/ 8 h 100"/>
                  <a:gd name="T16" fmla="*/ 8 w 64"/>
                  <a:gd name="T17" fmla="*/ 92 h 100"/>
                  <a:gd name="T18" fmla="*/ 48 w 64"/>
                  <a:gd name="T19" fmla="*/ 92 h 100"/>
                  <a:gd name="T20" fmla="*/ 48 w 64"/>
                  <a:gd name="T21"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4" h="100">
                    <a:moveTo>
                      <a:pt x="48" y="100"/>
                    </a:moveTo>
                    <a:cubicBezTo>
                      <a:pt x="0" y="100"/>
                      <a:pt x="0" y="100"/>
                      <a:pt x="0" y="100"/>
                    </a:cubicBezTo>
                    <a:cubicBezTo>
                      <a:pt x="0" y="0"/>
                      <a:pt x="0" y="0"/>
                      <a:pt x="0" y="0"/>
                    </a:cubicBezTo>
                    <a:cubicBezTo>
                      <a:pt x="44" y="0"/>
                      <a:pt x="44" y="0"/>
                      <a:pt x="44" y="0"/>
                    </a:cubicBezTo>
                    <a:cubicBezTo>
                      <a:pt x="55" y="0"/>
                      <a:pt x="64" y="9"/>
                      <a:pt x="64" y="20"/>
                    </a:cubicBezTo>
                    <a:cubicBezTo>
                      <a:pt x="56" y="20"/>
                      <a:pt x="56" y="20"/>
                      <a:pt x="56" y="20"/>
                    </a:cubicBezTo>
                    <a:cubicBezTo>
                      <a:pt x="56" y="13"/>
                      <a:pt x="51" y="8"/>
                      <a:pt x="44" y="8"/>
                    </a:cubicBezTo>
                    <a:cubicBezTo>
                      <a:pt x="8" y="8"/>
                      <a:pt x="8" y="8"/>
                      <a:pt x="8" y="8"/>
                    </a:cubicBezTo>
                    <a:cubicBezTo>
                      <a:pt x="8" y="92"/>
                      <a:pt x="8" y="92"/>
                      <a:pt x="8" y="92"/>
                    </a:cubicBezTo>
                    <a:cubicBezTo>
                      <a:pt x="48" y="92"/>
                      <a:pt x="48" y="92"/>
                      <a:pt x="48" y="92"/>
                    </a:cubicBezTo>
                    <a:lnTo>
                      <a:pt x="48" y="100"/>
                    </a:lnTo>
                    <a:close/>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32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78" name="Freeform 9">
                <a:extLst>
                  <a:ext uri="{FF2B5EF4-FFF2-40B4-BE49-F238E27FC236}">
                    <a16:creationId xmlns:a16="http://schemas.microsoft.com/office/drawing/2014/main" id="{FDB7BDF1-0BB3-4885-A22D-31F1B4625B48}"/>
                  </a:ext>
                </a:extLst>
              </p:cNvPr>
              <p:cNvSpPr>
                <a:spLocks/>
              </p:cNvSpPr>
              <p:nvPr/>
            </p:nvSpPr>
            <p:spPr bwMode="auto">
              <a:xfrm>
                <a:off x="6024563" y="1281113"/>
                <a:ext cx="130175" cy="203200"/>
              </a:xfrm>
              <a:custGeom>
                <a:avLst/>
                <a:gdLst>
                  <a:gd name="T0" fmla="*/ 64 w 64"/>
                  <a:gd name="T1" fmla="*/ 100 h 100"/>
                  <a:gd name="T2" fmla="*/ 16 w 64"/>
                  <a:gd name="T3" fmla="*/ 100 h 100"/>
                  <a:gd name="T4" fmla="*/ 16 w 64"/>
                  <a:gd name="T5" fmla="*/ 92 h 100"/>
                  <a:gd name="T6" fmla="*/ 56 w 64"/>
                  <a:gd name="T7" fmla="*/ 92 h 100"/>
                  <a:gd name="T8" fmla="*/ 56 w 64"/>
                  <a:gd name="T9" fmla="*/ 8 h 100"/>
                  <a:gd name="T10" fmla="*/ 20 w 64"/>
                  <a:gd name="T11" fmla="*/ 8 h 100"/>
                  <a:gd name="T12" fmla="*/ 8 w 64"/>
                  <a:gd name="T13" fmla="*/ 20 h 100"/>
                  <a:gd name="T14" fmla="*/ 0 w 64"/>
                  <a:gd name="T15" fmla="*/ 20 h 100"/>
                  <a:gd name="T16" fmla="*/ 20 w 64"/>
                  <a:gd name="T17" fmla="*/ 0 h 100"/>
                  <a:gd name="T18" fmla="*/ 64 w 64"/>
                  <a:gd name="T19" fmla="*/ 0 h 100"/>
                  <a:gd name="T20" fmla="*/ 64 w 64"/>
                  <a:gd name="T21"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4" h="100">
                    <a:moveTo>
                      <a:pt x="64" y="100"/>
                    </a:moveTo>
                    <a:cubicBezTo>
                      <a:pt x="16" y="100"/>
                      <a:pt x="16" y="100"/>
                      <a:pt x="16" y="100"/>
                    </a:cubicBezTo>
                    <a:cubicBezTo>
                      <a:pt x="16" y="92"/>
                      <a:pt x="16" y="92"/>
                      <a:pt x="16" y="92"/>
                    </a:cubicBezTo>
                    <a:cubicBezTo>
                      <a:pt x="56" y="92"/>
                      <a:pt x="56" y="92"/>
                      <a:pt x="56" y="92"/>
                    </a:cubicBezTo>
                    <a:cubicBezTo>
                      <a:pt x="56" y="8"/>
                      <a:pt x="56" y="8"/>
                      <a:pt x="56" y="8"/>
                    </a:cubicBezTo>
                    <a:cubicBezTo>
                      <a:pt x="20" y="8"/>
                      <a:pt x="20" y="8"/>
                      <a:pt x="20" y="8"/>
                    </a:cubicBezTo>
                    <a:cubicBezTo>
                      <a:pt x="13" y="8"/>
                      <a:pt x="8" y="13"/>
                      <a:pt x="8" y="20"/>
                    </a:cubicBezTo>
                    <a:cubicBezTo>
                      <a:pt x="0" y="20"/>
                      <a:pt x="0" y="20"/>
                      <a:pt x="0" y="20"/>
                    </a:cubicBezTo>
                    <a:cubicBezTo>
                      <a:pt x="0" y="9"/>
                      <a:pt x="9" y="0"/>
                      <a:pt x="20" y="0"/>
                    </a:cubicBezTo>
                    <a:cubicBezTo>
                      <a:pt x="64" y="0"/>
                      <a:pt x="64" y="0"/>
                      <a:pt x="64" y="0"/>
                    </a:cubicBezTo>
                    <a:lnTo>
                      <a:pt x="64" y="100"/>
                    </a:lnTo>
                    <a:close/>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32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grpSp>
        <p:sp>
          <p:nvSpPr>
            <p:cNvPr id="20" name="矩形 19"/>
            <p:cNvSpPr/>
            <p:nvPr/>
          </p:nvSpPr>
          <p:spPr>
            <a:xfrm>
              <a:off x="670560" y="911275"/>
              <a:ext cx="7993380" cy="584775"/>
            </a:xfrm>
            <a:prstGeom prst="rect">
              <a:avLst/>
            </a:prstGeom>
          </p:spPr>
          <p:txBody>
            <a:bodyPr wrap="square">
              <a:spAutoFit/>
            </a:bodyPr>
            <a:lstStyle/>
            <a:p>
              <a:pPr marL="1431925" indent="-1431925"/>
              <a:r>
                <a:rPr lang="en-US" altLang="zh-CN" sz="1600" dirty="0">
                  <a:solidFill>
                    <a:srgbClr val="6600FF"/>
                  </a:solidFill>
                  <a:latin typeface="方正粗黑宋简体" pitchFamily="2" charset="-122"/>
                  <a:ea typeface="方正粗黑宋简体" pitchFamily="2" charset="-122"/>
                </a:rPr>
                <a:t>CMOS</a:t>
              </a:r>
              <a:r>
                <a:rPr lang="zh-CN" altLang="en-US" sz="1600" dirty="0">
                  <a:solidFill>
                    <a:srgbClr val="6600FF"/>
                  </a:solidFill>
                  <a:latin typeface="方正粗黑宋简体" pitchFamily="2" charset="-122"/>
                  <a:ea typeface="方正粗黑宋简体" pitchFamily="2" charset="-122"/>
                </a:rPr>
                <a:t>门电路：</a:t>
              </a:r>
              <a:r>
                <a:rPr lang="zh-CN" altLang="en-US" sz="1600" dirty="0">
                  <a:latin typeface="Times New Roman" pitchFamily="18" charset="0"/>
                  <a:ea typeface="黑体" pitchFamily="49" charset="-122"/>
                  <a:cs typeface="Times New Roman" pitchFamily="18" charset="0"/>
                </a:rPr>
                <a:t>互补</a:t>
              </a:r>
              <a:r>
                <a:rPr lang="en-US" altLang="zh-CN" sz="1600" dirty="0">
                  <a:latin typeface="Times New Roman" pitchFamily="18" charset="0"/>
                  <a:ea typeface="黑体" pitchFamily="49" charset="-122"/>
                  <a:cs typeface="Times New Roman" pitchFamily="18" charset="0"/>
                </a:rPr>
                <a:t>MOS</a:t>
              </a:r>
              <a:r>
                <a:rPr lang="zh-CN" altLang="en-US" sz="1600" dirty="0">
                  <a:latin typeface="Times New Roman" pitchFamily="18" charset="0"/>
                  <a:ea typeface="黑体" pitchFamily="49" charset="-122"/>
                  <a:cs typeface="Times New Roman" pitchFamily="18" charset="0"/>
                </a:rPr>
                <a:t>门电路。由</a:t>
              </a:r>
              <a:r>
                <a:rPr lang="en-US" altLang="zh-CN" sz="1600" dirty="0">
                  <a:latin typeface="Times New Roman" pitchFamily="18" charset="0"/>
                  <a:ea typeface="黑体" pitchFamily="49" charset="-122"/>
                  <a:cs typeface="Times New Roman" pitchFamily="18" charset="0"/>
                </a:rPr>
                <a:t>N</a:t>
              </a:r>
              <a:r>
                <a:rPr lang="zh-CN" altLang="en-US" sz="1600" dirty="0">
                  <a:latin typeface="Times New Roman" pitchFamily="18" charset="0"/>
                  <a:ea typeface="黑体" pitchFamily="49" charset="-122"/>
                  <a:cs typeface="Times New Roman" pitchFamily="18" charset="0"/>
                </a:rPr>
                <a:t>沟道和</a:t>
              </a:r>
              <a:r>
                <a:rPr lang="en-US" altLang="zh-CN" sz="1600" dirty="0">
                  <a:latin typeface="Times New Roman" pitchFamily="18" charset="0"/>
                  <a:ea typeface="黑体" pitchFamily="49" charset="-122"/>
                  <a:cs typeface="Times New Roman" pitchFamily="18" charset="0"/>
                </a:rPr>
                <a:t>P</a:t>
              </a:r>
              <a:r>
                <a:rPr lang="zh-CN" altLang="en-US" sz="1600" dirty="0">
                  <a:latin typeface="Times New Roman" pitchFamily="18" charset="0"/>
                  <a:ea typeface="黑体" pitchFamily="49" charset="-122"/>
                  <a:cs typeface="Times New Roman" pitchFamily="18" charset="0"/>
                </a:rPr>
                <a:t>沟道增强型绝缘栅场效应管（</a:t>
              </a:r>
              <a:r>
                <a:rPr lang="en-US" altLang="zh-CN" sz="1600" dirty="0">
                  <a:latin typeface="Times New Roman" pitchFamily="18" charset="0"/>
                  <a:ea typeface="黑体" pitchFamily="49" charset="-122"/>
                  <a:cs typeface="Times New Roman" pitchFamily="18" charset="0"/>
                </a:rPr>
                <a:t>MOS</a:t>
              </a:r>
              <a:r>
                <a:rPr lang="zh-CN" altLang="en-US" sz="1600" dirty="0">
                  <a:latin typeface="Times New Roman" pitchFamily="18" charset="0"/>
                  <a:ea typeface="黑体" pitchFamily="49" charset="-122"/>
                  <a:cs typeface="Times New Roman" pitchFamily="18" charset="0"/>
                </a:rPr>
                <a:t>管）互补构成的门电路。</a:t>
              </a:r>
            </a:p>
          </p:txBody>
        </p:sp>
      </p:grpSp>
      <p:sp>
        <p:nvSpPr>
          <p:cNvPr id="34" name="Rectangle 22"/>
          <p:cNvSpPr>
            <a:spLocks noChangeArrowheads="1"/>
          </p:cNvSpPr>
          <p:nvPr/>
        </p:nvSpPr>
        <p:spPr bwMode="auto">
          <a:xfrm>
            <a:off x="584835" y="4496753"/>
            <a:ext cx="7941157" cy="338554"/>
          </a:xfrm>
          <a:prstGeom prst="rect">
            <a:avLst/>
          </a:prstGeom>
          <a:noFill/>
          <a:ln w="9525" algn="ctr">
            <a:noFill/>
            <a:miter lim="800000"/>
            <a:headEnd/>
            <a:tailEnd/>
          </a:ln>
        </p:spPr>
        <p:txBody>
          <a:bodyPr wrap="square" lIns="0" rIns="0">
            <a:spAutoFit/>
          </a:bodyPr>
          <a:lstStyle/>
          <a:p>
            <a:pPr marL="266700" indent="-266700">
              <a:spcBef>
                <a:spcPts val="600"/>
              </a:spcBef>
              <a:buSzPct val="80000"/>
              <a:buFont typeface="Wingdings" pitchFamily="2" charset="2"/>
              <a:buChar char="Ø"/>
              <a:defRPr/>
            </a:pPr>
            <a:r>
              <a:rPr lang="zh-CN" altLang="en-US" sz="1600" dirty="0">
                <a:solidFill>
                  <a:schemeClr val="tx1">
                    <a:lumMod val="10000"/>
                  </a:schemeClr>
                </a:solidFill>
                <a:latin typeface="Times New Roman" pitchFamily="18" charset="0"/>
                <a:ea typeface="黑体" pitchFamily="49" charset="-122"/>
                <a:cs typeface="Times New Roman" pitchFamily="18" charset="0"/>
              </a:rPr>
              <a:t>当</a:t>
            </a:r>
            <a:r>
              <a:rPr lang="el-GR" altLang="zh-CN" sz="1600" i="1" dirty="0">
                <a:solidFill>
                  <a:schemeClr val="tx1">
                    <a:lumMod val="10000"/>
                  </a:schemeClr>
                </a:solidFill>
                <a:latin typeface="Times New Roman" pitchFamily="18" charset="0"/>
                <a:ea typeface="黑体" pitchFamily="49" charset="-122"/>
                <a:cs typeface="Times New Roman" pitchFamily="18" charset="0"/>
              </a:rPr>
              <a:t>υ</a:t>
            </a:r>
            <a:r>
              <a:rPr lang="en-US" altLang="zh-CN" sz="1600" baseline="-25000" dirty="0">
                <a:solidFill>
                  <a:schemeClr val="tx1">
                    <a:lumMod val="10000"/>
                  </a:schemeClr>
                </a:solidFill>
                <a:latin typeface="Times New Roman" pitchFamily="18" charset="0"/>
                <a:ea typeface="黑体" pitchFamily="49" charset="-122"/>
                <a:cs typeface="Times New Roman" pitchFamily="18" charset="0"/>
              </a:rPr>
              <a:t>I</a:t>
            </a:r>
            <a:r>
              <a:rPr lang="zh-CN" altLang="en-US" sz="1600" dirty="0">
                <a:solidFill>
                  <a:schemeClr val="tx1">
                    <a:lumMod val="10000"/>
                  </a:schemeClr>
                </a:solidFill>
                <a:latin typeface="Times New Roman" pitchFamily="18" charset="0"/>
                <a:ea typeface="黑体" pitchFamily="49" charset="-122"/>
                <a:cs typeface="Times New Roman" pitchFamily="18" charset="0"/>
              </a:rPr>
              <a:t>为</a:t>
            </a:r>
            <a:r>
              <a:rPr lang="zh-CN" altLang="en-US" sz="1600" dirty="0">
                <a:solidFill>
                  <a:srgbClr val="6600FF"/>
                </a:solidFill>
                <a:latin typeface="方正粗黑宋简体" pitchFamily="2" charset="-122"/>
                <a:ea typeface="方正粗黑宋简体" pitchFamily="2" charset="-122"/>
              </a:rPr>
              <a:t>低电平</a:t>
            </a:r>
            <a:r>
              <a:rPr lang="zh-CN" altLang="en-US" sz="1600" dirty="0">
                <a:solidFill>
                  <a:schemeClr val="tx1">
                    <a:lumMod val="10000"/>
                  </a:schemeClr>
                </a:solidFill>
                <a:latin typeface="Times New Roman" pitchFamily="18" charset="0"/>
                <a:ea typeface="黑体" pitchFamily="49" charset="-122"/>
                <a:cs typeface="Times New Roman" pitchFamily="18" charset="0"/>
              </a:rPr>
              <a:t>，满足</a:t>
            </a:r>
            <a:r>
              <a:rPr lang="el-GR" altLang="zh-CN" sz="1600" i="1" dirty="0">
                <a:solidFill>
                  <a:schemeClr val="tx1">
                    <a:lumMod val="10000"/>
                  </a:schemeClr>
                </a:solidFill>
                <a:latin typeface="Times New Roman" pitchFamily="18" charset="0"/>
                <a:ea typeface="黑体" pitchFamily="49" charset="-122"/>
                <a:cs typeface="Times New Roman" pitchFamily="18" charset="0"/>
              </a:rPr>
              <a:t> υ</a:t>
            </a:r>
            <a:r>
              <a:rPr lang="en-US" altLang="zh-CN" sz="1600" baseline="-25000" dirty="0">
                <a:solidFill>
                  <a:schemeClr val="tx1">
                    <a:lumMod val="10000"/>
                  </a:schemeClr>
                </a:solidFill>
                <a:latin typeface="Times New Roman" pitchFamily="18" charset="0"/>
                <a:ea typeface="黑体" pitchFamily="49" charset="-122"/>
                <a:cs typeface="Times New Roman" pitchFamily="18" charset="0"/>
              </a:rPr>
              <a:t>GS</a:t>
            </a:r>
            <a:r>
              <a:rPr lang="en-US" altLang="zh-CN" sz="1600" dirty="0">
                <a:solidFill>
                  <a:schemeClr val="tx1">
                    <a:lumMod val="10000"/>
                  </a:schemeClr>
                </a:solidFill>
                <a:latin typeface="Times New Roman" pitchFamily="18" charset="0"/>
                <a:ea typeface="黑体" pitchFamily="49" charset="-122"/>
                <a:cs typeface="Times New Roman" pitchFamily="18" charset="0"/>
              </a:rPr>
              <a:t>=</a:t>
            </a:r>
            <a:r>
              <a:rPr lang="el-GR" altLang="zh-CN" sz="1600" i="1" dirty="0">
                <a:solidFill>
                  <a:schemeClr val="tx1">
                    <a:lumMod val="10000"/>
                  </a:schemeClr>
                </a:solidFill>
                <a:latin typeface="Times New Roman" pitchFamily="18" charset="0"/>
                <a:ea typeface="黑体" pitchFamily="49" charset="-122"/>
                <a:cs typeface="Times New Roman" pitchFamily="18" charset="0"/>
              </a:rPr>
              <a:t>υ</a:t>
            </a:r>
            <a:r>
              <a:rPr lang="en-US" altLang="zh-CN" sz="1600" baseline="-25000" dirty="0">
                <a:solidFill>
                  <a:schemeClr val="tx1">
                    <a:lumMod val="10000"/>
                  </a:schemeClr>
                </a:solidFill>
                <a:latin typeface="Times New Roman" pitchFamily="18" charset="0"/>
                <a:ea typeface="黑体" pitchFamily="49" charset="-122"/>
                <a:cs typeface="Times New Roman" pitchFamily="18" charset="0"/>
              </a:rPr>
              <a:t>I </a:t>
            </a:r>
            <a:r>
              <a:rPr lang="en-US" altLang="zh-CN" sz="1600" dirty="0">
                <a:solidFill>
                  <a:schemeClr val="tx1">
                    <a:lumMod val="10000"/>
                  </a:schemeClr>
                </a:solidFill>
                <a:latin typeface="Times New Roman" pitchFamily="18" charset="0"/>
                <a:ea typeface="黑体" pitchFamily="49" charset="-122"/>
                <a:cs typeface="Times New Roman" pitchFamily="18" charset="0"/>
              </a:rPr>
              <a:t>&lt; </a:t>
            </a:r>
            <a:r>
              <a:rPr lang="en-US" altLang="zh-CN" sz="1600" i="1" dirty="0">
                <a:solidFill>
                  <a:schemeClr val="tx1">
                    <a:lumMod val="10000"/>
                  </a:schemeClr>
                </a:solidFill>
                <a:latin typeface="Times New Roman" pitchFamily="18" charset="0"/>
                <a:ea typeface="黑体" pitchFamily="49" charset="-122"/>
                <a:cs typeface="Times New Roman" pitchFamily="18" charset="0"/>
              </a:rPr>
              <a:t>V</a:t>
            </a:r>
            <a:r>
              <a:rPr lang="en-US" altLang="zh-CN" sz="1600" baseline="-25000" dirty="0">
                <a:solidFill>
                  <a:schemeClr val="tx1">
                    <a:lumMod val="10000"/>
                  </a:schemeClr>
                </a:solidFill>
                <a:latin typeface="Times New Roman" pitchFamily="18" charset="0"/>
                <a:ea typeface="黑体" pitchFamily="49" charset="-122"/>
                <a:cs typeface="Times New Roman" pitchFamily="18" charset="0"/>
              </a:rPr>
              <a:t>TN</a:t>
            </a:r>
            <a:r>
              <a:rPr lang="zh-CN" altLang="en-US" sz="1600" dirty="0">
                <a:solidFill>
                  <a:schemeClr val="tx1">
                    <a:lumMod val="10000"/>
                  </a:schemeClr>
                </a:solidFill>
                <a:latin typeface="Times New Roman" pitchFamily="18" charset="0"/>
                <a:ea typeface="黑体" pitchFamily="49" charset="-122"/>
                <a:cs typeface="Times New Roman" pitchFamily="18" charset="0"/>
              </a:rPr>
              <a:t>时，管子截止，</a:t>
            </a:r>
            <a:r>
              <a:rPr lang="en-US" altLang="zh-CN" sz="1600" i="1" dirty="0" err="1">
                <a:solidFill>
                  <a:schemeClr val="tx1">
                    <a:lumMod val="10000"/>
                  </a:schemeClr>
                </a:solidFill>
                <a:latin typeface="Times New Roman" pitchFamily="18" charset="0"/>
                <a:ea typeface="黑体" pitchFamily="49" charset="-122"/>
                <a:cs typeface="Times New Roman" pitchFamily="18" charset="0"/>
              </a:rPr>
              <a:t>i</a:t>
            </a:r>
            <a:r>
              <a:rPr lang="en-US" altLang="zh-CN" sz="1600" baseline="-25000" dirty="0" err="1">
                <a:solidFill>
                  <a:schemeClr val="tx1">
                    <a:lumMod val="10000"/>
                  </a:schemeClr>
                </a:solidFill>
                <a:latin typeface="Times New Roman" pitchFamily="18" charset="0"/>
                <a:ea typeface="黑体" pitchFamily="49" charset="-122"/>
                <a:cs typeface="Times New Roman" pitchFamily="18" charset="0"/>
              </a:rPr>
              <a:t>D</a:t>
            </a:r>
            <a:r>
              <a:rPr lang="zh-CN" altLang="en-US" sz="1600" dirty="0">
                <a:solidFill>
                  <a:schemeClr val="tx1">
                    <a:lumMod val="10000"/>
                  </a:schemeClr>
                </a:solidFill>
                <a:latin typeface="Times New Roman" pitchFamily="18" charset="0"/>
                <a:ea typeface="黑体" pitchFamily="49" charset="-122"/>
                <a:cs typeface="Times New Roman" pitchFamily="18" charset="0"/>
              </a:rPr>
              <a:t>＝</a:t>
            </a:r>
            <a:r>
              <a:rPr lang="en-US" altLang="zh-CN" sz="1600" dirty="0">
                <a:solidFill>
                  <a:schemeClr val="tx1">
                    <a:lumMod val="10000"/>
                  </a:schemeClr>
                </a:solidFill>
                <a:latin typeface="Times New Roman" pitchFamily="18" charset="0"/>
                <a:ea typeface="黑体" pitchFamily="49" charset="-122"/>
                <a:cs typeface="Times New Roman" pitchFamily="18" charset="0"/>
              </a:rPr>
              <a:t>0</a:t>
            </a:r>
            <a:r>
              <a:rPr lang="zh-CN" altLang="en-US" sz="1600" dirty="0">
                <a:solidFill>
                  <a:schemeClr val="tx1">
                    <a:lumMod val="10000"/>
                  </a:schemeClr>
                </a:solidFill>
                <a:latin typeface="Times New Roman" pitchFamily="18" charset="0"/>
                <a:ea typeface="黑体" pitchFamily="49" charset="-122"/>
                <a:cs typeface="Times New Roman" pitchFamily="18" charset="0"/>
              </a:rPr>
              <a:t>，输出</a:t>
            </a:r>
            <a:r>
              <a:rPr lang="el-GR" altLang="zh-CN" sz="1600" i="1" dirty="0">
                <a:solidFill>
                  <a:schemeClr val="tx1">
                    <a:lumMod val="10000"/>
                  </a:schemeClr>
                </a:solidFill>
                <a:latin typeface="Times New Roman" pitchFamily="18" charset="0"/>
                <a:ea typeface="黑体" pitchFamily="49" charset="-122"/>
                <a:cs typeface="Times New Roman" pitchFamily="18" charset="0"/>
              </a:rPr>
              <a:t>υ</a:t>
            </a:r>
            <a:r>
              <a:rPr lang="en-US" altLang="zh-CN" sz="1600" baseline="-25000" dirty="0">
                <a:solidFill>
                  <a:schemeClr val="tx1">
                    <a:lumMod val="10000"/>
                  </a:schemeClr>
                </a:solidFill>
                <a:latin typeface="Times New Roman" pitchFamily="18" charset="0"/>
                <a:ea typeface="黑体" pitchFamily="49" charset="-122"/>
                <a:cs typeface="Times New Roman" pitchFamily="18" charset="0"/>
              </a:rPr>
              <a:t>O</a:t>
            </a:r>
            <a:r>
              <a:rPr lang="en-US" altLang="zh-CN" sz="1600" dirty="0">
                <a:solidFill>
                  <a:schemeClr val="tx1">
                    <a:lumMod val="10000"/>
                  </a:schemeClr>
                </a:solidFill>
                <a:latin typeface="Times New Roman" pitchFamily="18" charset="0"/>
                <a:ea typeface="黑体" pitchFamily="49" charset="-122"/>
                <a:cs typeface="Times New Roman" pitchFamily="18" charset="0"/>
              </a:rPr>
              <a:t> </a:t>
            </a:r>
            <a:r>
              <a:rPr lang="zh-CN" altLang="en-US" sz="1600" dirty="0">
                <a:solidFill>
                  <a:schemeClr val="tx1">
                    <a:lumMod val="10000"/>
                  </a:schemeClr>
                </a:solidFill>
                <a:latin typeface="Times New Roman" pitchFamily="18" charset="0"/>
                <a:ea typeface="黑体" pitchFamily="49" charset="-122"/>
                <a:cs typeface="Times New Roman" pitchFamily="18" charset="0"/>
              </a:rPr>
              <a:t>≈</a:t>
            </a:r>
            <a:r>
              <a:rPr lang="en-US" altLang="zh-CN" sz="1600" dirty="0">
                <a:solidFill>
                  <a:schemeClr val="tx1">
                    <a:lumMod val="10000"/>
                  </a:schemeClr>
                </a:solidFill>
                <a:latin typeface="Times New Roman" pitchFamily="18" charset="0"/>
                <a:ea typeface="黑体" pitchFamily="49" charset="-122"/>
                <a:cs typeface="Times New Roman" pitchFamily="18" charset="0"/>
              </a:rPr>
              <a:t> V</a:t>
            </a:r>
            <a:r>
              <a:rPr lang="en-US" altLang="zh-CN" sz="1600" baseline="-25000" dirty="0">
                <a:solidFill>
                  <a:schemeClr val="tx1">
                    <a:lumMod val="10000"/>
                  </a:schemeClr>
                </a:solidFill>
                <a:latin typeface="Times New Roman" pitchFamily="18" charset="0"/>
                <a:ea typeface="黑体" pitchFamily="49" charset="-122"/>
                <a:cs typeface="Times New Roman" pitchFamily="18" charset="0"/>
              </a:rPr>
              <a:t>DD</a:t>
            </a:r>
            <a:r>
              <a:rPr lang="en-US" altLang="zh-CN" sz="1600" dirty="0">
                <a:solidFill>
                  <a:schemeClr val="tx1">
                    <a:lumMod val="10000"/>
                  </a:schemeClr>
                </a:solidFill>
                <a:latin typeface="Times New Roman" pitchFamily="18" charset="0"/>
                <a:ea typeface="黑体" pitchFamily="49" charset="-122"/>
                <a:cs typeface="Times New Roman" pitchFamily="18" charset="0"/>
              </a:rPr>
              <a:t>(</a:t>
            </a:r>
            <a:r>
              <a:rPr lang="zh-CN" altLang="en-US" sz="1600" dirty="0">
                <a:solidFill>
                  <a:srgbClr val="6600FF"/>
                </a:solidFill>
                <a:latin typeface="方正粗黑宋简体" pitchFamily="2" charset="-122"/>
                <a:ea typeface="方正粗黑宋简体" pitchFamily="2" charset="-122"/>
              </a:rPr>
              <a:t>高电平</a:t>
            </a:r>
            <a:r>
              <a:rPr lang="en-US" altLang="zh-CN" sz="1600" dirty="0">
                <a:solidFill>
                  <a:schemeClr val="tx1">
                    <a:lumMod val="10000"/>
                  </a:schemeClr>
                </a:solidFill>
                <a:latin typeface="Times New Roman" pitchFamily="18" charset="0"/>
                <a:ea typeface="黑体" pitchFamily="49" charset="-122"/>
                <a:cs typeface="Times New Roman" pitchFamily="18" charset="0"/>
              </a:rPr>
              <a:t>)</a:t>
            </a:r>
            <a:r>
              <a:rPr lang="zh-CN" altLang="en-US" sz="1600" dirty="0">
                <a:solidFill>
                  <a:schemeClr val="tx1">
                    <a:lumMod val="10000"/>
                  </a:schemeClr>
                </a:solidFill>
                <a:latin typeface="Times New Roman" pitchFamily="18" charset="0"/>
                <a:ea typeface="黑体" pitchFamily="49" charset="-122"/>
                <a:cs typeface="Times New Roman" pitchFamily="18" charset="0"/>
              </a:rPr>
              <a:t>。</a:t>
            </a:r>
          </a:p>
        </p:txBody>
      </p:sp>
      <p:grpSp>
        <p:nvGrpSpPr>
          <p:cNvPr id="36" name="组合 35"/>
          <p:cNvGrpSpPr/>
          <p:nvPr/>
        </p:nvGrpSpPr>
        <p:grpSpPr>
          <a:xfrm>
            <a:off x="282575" y="1517134"/>
            <a:ext cx="2428329" cy="373579"/>
            <a:chOff x="307975" y="1517134"/>
            <a:chExt cx="2428329" cy="373579"/>
          </a:xfrm>
        </p:grpSpPr>
        <p:grpSp>
          <p:nvGrpSpPr>
            <p:cNvPr id="33" name="组合 32"/>
            <p:cNvGrpSpPr/>
            <p:nvPr/>
          </p:nvGrpSpPr>
          <p:grpSpPr>
            <a:xfrm>
              <a:off x="307975" y="1519116"/>
              <a:ext cx="568325" cy="371597"/>
              <a:chOff x="307975" y="1519116"/>
              <a:chExt cx="568325" cy="371597"/>
            </a:xfrm>
          </p:grpSpPr>
          <p:pic>
            <p:nvPicPr>
              <p:cNvPr id="32" name="Picture 4"/>
              <p:cNvPicPr>
                <a:picLocks noChangeAspect="1" noChangeArrowheads="1"/>
              </p:cNvPicPr>
              <p:nvPr/>
            </p:nvPicPr>
            <p:blipFill>
              <a:blip r:embed="rId2" cstate="print"/>
              <a:srcRect/>
              <a:stretch>
                <a:fillRect/>
              </a:stretch>
            </p:blipFill>
            <p:spPr bwMode="auto">
              <a:xfrm flipH="1">
                <a:off x="307975" y="1519116"/>
                <a:ext cx="568325" cy="371597"/>
              </a:xfrm>
              <a:prstGeom prst="rect">
                <a:avLst/>
              </a:prstGeom>
              <a:noFill/>
              <a:ln w="9525">
                <a:noFill/>
                <a:miter lim="800000"/>
                <a:headEnd/>
                <a:tailEnd/>
              </a:ln>
              <a:effectLst/>
            </p:spPr>
          </p:pic>
          <p:sp>
            <p:nvSpPr>
              <p:cNvPr id="26" name="TextBox 25"/>
              <p:cNvSpPr txBox="1"/>
              <p:nvPr/>
            </p:nvSpPr>
            <p:spPr>
              <a:xfrm flipH="1">
                <a:off x="443415" y="1555750"/>
                <a:ext cx="112210" cy="276999"/>
              </a:xfrm>
              <a:prstGeom prst="rect">
                <a:avLst/>
              </a:prstGeom>
              <a:noFill/>
            </p:spPr>
            <p:txBody>
              <a:bodyPr wrap="none" lIns="0" tIns="0" rIns="0" bIns="0" rtlCol="0">
                <a:spAutoFit/>
              </a:bodyPr>
              <a:lstStyle/>
              <a:p>
                <a:r>
                  <a:rPr lang="en-US" altLang="zh-CN" b="1" dirty="0">
                    <a:solidFill>
                      <a:srgbClr val="262626"/>
                    </a:solidFill>
                    <a:latin typeface="Segoe UI Black" pitchFamily="34" charset="0"/>
                    <a:ea typeface="Segoe UI Black" pitchFamily="34" charset="0"/>
                    <a:cs typeface="Times New Roman" pitchFamily="18" charset="0"/>
                  </a:rPr>
                  <a:t>1</a:t>
                </a:r>
                <a:endParaRPr lang="zh-CN" altLang="en-US" b="1" dirty="0">
                  <a:solidFill>
                    <a:srgbClr val="262626"/>
                  </a:solidFill>
                  <a:latin typeface="Segoe UI Black" pitchFamily="34" charset="0"/>
                  <a:cs typeface="Times New Roman" pitchFamily="18" charset="0"/>
                </a:endParaRPr>
              </a:p>
            </p:txBody>
          </p:sp>
        </p:grpSp>
        <p:sp>
          <p:nvSpPr>
            <p:cNvPr id="35" name="矩形 34"/>
            <p:cNvSpPr/>
            <p:nvPr/>
          </p:nvSpPr>
          <p:spPr>
            <a:xfrm>
              <a:off x="863675" y="1517134"/>
              <a:ext cx="1872629" cy="369332"/>
            </a:xfrm>
            <a:prstGeom prst="rect">
              <a:avLst/>
            </a:prstGeom>
          </p:spPr>
          <p:txBody>
            <a:bodyPr wrap="none">
              <a:spAutoFit/>
            </a:bodyPr>
            <a:lstStyle/>
            <a:p>
              <a:r>
                <a:rPr lang="en-US" altLang="zh-CN" b="1" dirty="0">
                  <a:solidFill>
                    <a:schemeClr val="accent1">
                      <a:lumMod val="50000"/>
                    </a:schemeClr>
                  </a:solidFill>
                  <a:latin typeface="Times New Roman" panose="02020603050405020304" pitchFamily="18" charset="0"/>
                  <a:ea typeface="黑体" pitchFamily="49" charset="-122"/>
                  <a:cs typeface="Times New Roman" panose="02020603050405020304" pitchFamily="18" charset="0"/>
                </a:rPr>
                <a:t>MOS</a:t>
              </a:r>
              <a:r>
                <a:rPr lang="zh-CN" altLang="en-US" b="1" dirty="0">
                  <a:solidFill>
                    <a:schemeClr val="accent1">
                      <a:lumMod val="50000"/>
                    </a:schemeClr>
                  </a:solidFill>
                  <a:latin typeface="Times New Roman" panose="02020603050405020304" pitchFamily="18" charset="0"/>
                  <a:ea typeface="黑体" pitchFamily="49" charset="-122"/>
                  <a:cs typeface="Times New Roman" panose="02020603050405020304" pitchFamily="18" charset="0"/>
                </a:rPr>
                <a:t>的开关特性</a:t>
              </a:r>
            </a:p>
          </p:txBody>
        </p:sp>
      </p:grpSp>
      <p:grpSp>
        <p:nvGrpSpPr>
          <p:cNvPr id="38" name="组合 37"/>
          <p:cNvGrpSpPr/>
          <p:nvPr/>
        </p:nvGrpSpPr>
        <p:grpSpPr>
          <a:xfrm>
            <a:off x="565150" y="2063750"/>
            <a:ext cx="4171950" cy="2305050"/>
            <a:chOff x="781050" y="2032000"/>
            <a:chExt cx="4330700" cy="2355850"/>
          </a:xfrm>
        </p:grpSpPr>
        <p:sp>
          <p:nvSpPr>
            <p:cNvPr id="37" name="圆角矩形 36"/>
            <p:cNvSpPr/>
            <p:nvPr/>
          </p:nvSpPr>
          <p:spPr>
            <a:xfrm>
              <a:off x="781050" y="2032000"/>
              <a:ext cx="4330700" cy="2355850"/>
            </a:xfrm>
            <a:prstGeom prst="roundRect">
              <a:avLst>
                <a:gd name="adj" fmla="val 6694"/>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4278" name="Picture 6"/>
            <p:cNvPicPr>
              <a:picLocks noChangeAspect="1" noChangeArrowheads="1"/>
            </p:cNvPicPr>
            <p:nvPr/>
          </p:nvPicPr>
          <p:blipFill>
            <a:blip r:embed="rId3" cstate="print"/>
            <a:srcRect/>
            <a:stretch>
              <a:fillRect/>
            </a:stretch>
          </p:blipFill>
          <p:spPr bwMode="auto">
            <a:xfrm>
              <a:off x="888365" y="2101850"/>
              <a:ext cx="4114006" cy="2235199"/>
            </a:xfrm>
            <a:prstGeom prst="rect">
              <a:avLst/>
            </a:prstGeom>
            <a:noFill/>
            <a:ln w="9525">
              <a:noFill/>
              <a:miter lim="800000"/>
              <a:headEnd/>
              <a:tailEnd/>
            </a:ln>
            <a:effectLst/>
          </p:spPr>
        </p:pic>
      </p:grpSp>
      <p:sp>
        <p:nvSpPr>
          <p:cNvPr id="39" name="椭圆 38"/>
          <p:cNvSpPr/>
          <p:nvPr/>
        </p:nvSpPr>
        <p:spPr bwMode="auto">
          <a:xfrm>
            <a:off x="2248694" y="2421880"/>
            <a:ext cx="432048" cy="1584000"/>
          </a:xfrm>
          <a:prstGeom prst="ellipse">
            <a:avLst/>
          </a:prstGeom>
          <a:solidFill>
            <a:srgbClr val="66FF66">
              <a:alpha val="20000"/>
            </a:srgbClr>
          </a:solid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000" b="1" i="0" u="none" strike="noStrike" cap="none" normalizeH="0" baseline="0">
              <a:ln>
                <a:noFill/>
              </a:ln>
              <a:solidFill>
                <a:schemeClr val="accent2"/>
              </a:solidFill>
              <a:effectLst/>
              <a:latin typeface="Times New Roman" pitchFamily="18" charset="0"/>
              <a:ea typeface="宋体" charset="-122"/>
            </a:endParaRPr>
          </a:p>
        </p:txBody>
      </p:sp>
      <p:sp>
        <p:nvSpPr>
          <p:cNvPr id="44" name="椭圆 43"/>
          <p:cNvSpPr/>
          <p:nvPr/>
        </p:nvSpPr>
        <p:spPr>
          <a:xfrm>
            <a:off x="2247900" y="3937000"/>
            <a:ext cx="1943100" cy="184150"/>
          </a:xfrm>
          <a:prstGeom prst="ellipse">
            <a:avLst/>
          </a:prstGeom>
          <a:solidFill>
            <a:schemeClr val="accent1">
              <a:alpha val="21000"/>
            </a:schemeClr>
          </a:solidFill>
          <a:ln w="1905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9" name="组合 48"/>
          <p:cNvGrpSpPr/>
          <p:nvPr/>
        </p:nvGrpSpPr>
        <p:grpSpPr>
          <a:xfrm>
            <a:off x="4693920" y="655320"/>
            <a:ext cx="4267199" cy="3713480"/>
            <a:chOff x="4693920" y="655320"/>
            <a:chExt cx="4267199" cy="3713480"/>
          </a:xfrm>
        </p:grpSpPr>
        <p:grpSp>
          <p:nvGrpSpPr>
            <p:cNvPr id="46" name="组合 45"/>
            <p:cNvGrpSpPr/>
            <p:nvPr/>
          </p:nvGrpSpPr>
          <p:grpSpPr>
            <a:xfrm>
              <a:off x="5172319" y="2063750"/>
              <a:ext cx="3244850" cy="2305050"/>
              <a:chOff x="5172319" y="2067657"/>
              <a:chExt cx="3244850" cy="2305050"/>
            </a:xfrm>
          </p:grpSpPr>
          <p:sp>
            <p:nvSpPr>
              <p:cNvPr id="45" name="圆角矩形 44"/>
              <p:cNvSpPr/>
              <p:nvPr/>
            </p:nvSpPr>
            <p:spPr>
              <a:xfrm>
                <a:off x="5172319" y="2067657"/>
                <a:ext cx="3244850" cy="2305050"/>
              </a:xfrm>
              <a:prstGeom prst="roundRect">
                <a:avLst>
                  <a:gd name="adj" fmla="val 6694"/>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4280" name="Picture 8"/>
              <p:cNvPicPr>
                <a:picLocks noChangeAspect="1" noChangeArrowheads="1"/>
              </p:cNvPicPr>
              <p:nvPr/>
            </p:nvPicPr>
            <p:blipFill>
              <a:blip r:embed="rId4" cstate="print"/>
              <a:srcRect/>
              <a:stretch>
                <a:fillRect/>
              </a:stretch>
            </p:blipFill>
            <p:spPr bwMode="auto">
              <a:xfrm>
                <a:off x="5331069" y="2145794"/>
                <a:ext cx="2971800" cy="2149248"/>
              </a:xfrm>
              <a:prstGeom prst="rect">
                <a:avLst/>
              </a:prstGeom>
              <a:noFill/>
              <a:ln w="9525">
                <a:noFill/>
                <a:miter lim="800000"/>
                <a:headEnd/>
                <a:tailEnd/>
              </a:ln>
              <a:effectLst/>
            </p:spPr>
          </p:pic>
        </p:grpSp>
        <p:sp>
          <p:nvSpPr>
            <p:cNvPr id="48" name="AutoShape 136"/>
            <p:cNvSpPr>
              <a:spLocks noChangeArrowheads="1"/>
            </p:cNvSpPr>
            <p:nvPr/>
          </p:nvSpPr>
          <p:spPr bwMode="auto">
            <a:xfrm>
              <a:off x="4693920" y="655320"/>
              <a:ext cx="4267199" cy="1238201"/>
            </a:xfrm>
            <a:prstGeom prst="wedgeRoundRectCallout">
              <a:avLst>
                <a:gd name="adj1" fmla="val 14092"/>
                <a:gd name="adj2" fmla="val 66279"/>
                <a:gd name="adj3" fmla="val 16667"/>
              </a:avLst>
            </a:prstGeom>
            <a:solidFill>
              <a:srgbClr val="CCFFCC"/>
            </a:solidFill>
            <a:ln w="9525">
              <a:solidFill>
                <a:srgbClr val="6600FF"/>
              </a:solid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108000" tIns="36000" rIns="108000" bIns="36000">
              <a:spAutoFit/>
            </a:bodyPr>
            <a:lstStyle/>
            <a:p>
              <a:pPr lvl="0" algn="ctr" fontAlgn="base">
                <a:spcBef>
                  <a:spcPct val="0"/>
                </a:spcBef>
                <a:spcAft>
                  <a:spcPct val="0"/>
                </a:spcAft>
              </a:pPr>
              <a:r>
                <a:rPr lang="en-US" altLang="zh-CN" sz="1600" dirty="0">
                  <a:latin typeface="Times New Roman" pitchFamily="18" charset="0"/>
                  <a:ea typeface="黑体" pitchFamily="49" charset="-122"/>
                  <a:cs typeface="Times New Roman" pitchFamily="18" charset="0"/>
                </a:rPr>
                <a:t>MOS</a:t>
              </a:r>
              <a:r>
                <a:rPr lang="zh-CN" altLang="en-US" sz="1600" dirty="0">
                  <a:latin typeface="Times New Roman" pitchFamily="18" charset="0"/>
                  <a:ea typeface="黑体" pitchFamily="49" charset="-122"/>
                  <a:cs typeface="Times New Roman" pitchFamily="18" charset="0"/>
                </a:rPr>
                <a:t>管相当于一个由</a:t>
              </a:r>
              <a:r>
                <a:rPr lang="el-GR" altLang="zh-CN" sz="1600" i="1" dirty="0">
                  <a:latin typeface="Times New Roman" pitchFamily="18" charset="0"/>
                  <a:ea typeface="黑体" pitchFamily="49" charset="-122"/>
                  <a:cs typeface="Times New Roman" pitchFamily="18" charset="0"/>
                </a:rPr>
                <a:t>υ</a:t>
              </a:r>
              <a:r>
                <a:rPr lang="en-US" altLang="zh-CN" sz="1600" baseline="-25000" dirty="0">
                  <a:latin typeface="Times New Roman" pitchFamily="18" charset="0"/>
                  <a:ea typeface="黑体" pitchFamily="49" charset="-122"/>
                  <a:cs typeface="Times New Roman" pitchFamily="18" charset="0"/>
                </a:rPr>
                <a:t>GS</a:t>
              </a:r>
              <a:r>
                <a:rPr lang="zh-CN" altLang="en-US" sz="1600" dirty="0">
                  <a:latin typeface="Times New Roman" pitchFamily="18" charset="0"/>
                  <a:ea typeface="黑体" pitchFamily="49" charset="-122"/>
                  <a:cs typeface="Times New Roman" pitchFamily="18" charset="0"/>
                </a:rPr>
                <a:t>控制的无触点开关</a:t>
              </a:r>
              <a:endParaRPr lang="en-US" altLang="zh-CN" sz="1600" dirty="0">
                <a:latin typeface="Times New Roman" pitchFamily="18" charset="0"/>
                <a:ea typeface="黑体" pitchFamily="49" charset="-122"/>
                <a:cs typeface="Times New Roman" pitchFamily="18" charset="0"/>
              </a:endParaRPr>
            </a:p>
            <a:p>
              <a:pPr lvl="0" fontAlgn="base">
                <a:spcBef>
                  <a:spcPts val="1200"/>
                </a:spcBef>
                <a:spcAft>
                  <a:spcPct val="0"/>
                </a:spcAft>
                <a:buFont typeface="Wingdings" pitchFamily="2" charset="2"/>
                <a:buChar char="Ø"/>
              </a:pPr>
              <a:r>
                <a:rPr lang="zh-CN" altLang="en-US" sz="1600" dirty="0">
                  <a:latin typeface="Times New Roman" pitchFamily="18" charset="0"/>
                  <a:ea typeface="黑体" pitchFamily="49" charset="-122"/>
                  <a:cs typeface="Times New Roman" pitchFamily="18" charset="0"/>
                </a:rPr>
                <a:t> 当输入为低时，输出为高（开关断开）；</a:t>
              </a:r>
              <a:endParaRPr lang="en-US" altLang="zh-CN" sz="1600" dirty="0">
                <a:latin typeface="Times New Roman" pitchFamily="18" charset="0"/>
                <a:ea typeface="黑体" pitchFamily="49" charset="-122"/>
                <a:cs typeface="Times New Roman" pitchFamily="18" charset="0"/>
              </a:endParaRPr>
            </a:p>
            <a:p>
              <a:pPr lvl="0" fontAlgn="base">
                <a:spcBef>
                  <a:spcPts val="1200"/>
                </a:spcBef>
                <a:spcAft>
                  <a:spcPct val="0"/>
                </a:spcAft>
                <a:buFont typeface="Wingdings" pitchFamily="2" charset="2"/>
                <a:buChar char="Ø"/>
              </a:pPr>
              <a:r>
                <a:rPr lang="zh-CN" altLang="en-US" sz="1600" dirty="0">
                  <a:latin typeface="Times New Roman" pitchFamily="18" charset="0"/>
                  <a:ea typeface="黑体" pitchFamily="49" charset="-122"/>
                  <a:cs typeface="Times New Roman" pitchFamily="18" charset="0"/>
                </a:rPr>
                <a:t> 当输入为高时，输出为低（开关闭合）。</a:t>
              </a:r>
              <a:endParaRPr lang="zh-CN" altLang="en-US" sz="1600" dirty="0">
                <a:latin typeface="Times New Roman" pitchFamily="18" charset="0"/>
                <a:ea typeface="方正粗黑宋简体" pitchFamily="2" charset="-122"/>
                <a:cs typeface="Times New Roman" pitchFamily="18" charset="0"/>
              </a:endParaRPr>
            </a:p>
          </p:txBody>
        </p:sp>
      </p:grpSp>
      <p:sp>
        <p:nvSpPr>
          <p:cNvPr id="31" name="Rectangle 22"/>
          <p:cNvSpPr>
            <a:spLocks noChangeArrowheads="1"/>
          </p:cNvSpPr>
          <p:nvPr/>
        </p:nvSpPr>
        <p:spPr bwMode="auto">
          <a:xfrm>
            <a:off x="561975" y="4870133"/>
            <a:ext cx="7503664" cy="338554"/>
          </a:xfrm>
          <a:prstGeom prst="rect">
            <a:avLst/>
          </a:prstGeom>
          <a:noFill/>
          <a:ln w="9525" algn="ctr">
            <a:noFill/>
            <a:miter lim="800000"/>
            <a:headEnd/>
            <a:tailEnd/>
          </a:ln>
        </p:spPr>
        <p:txBody>
          <a:bodyPr wrap="square" lIns="0" rIns="0">
            <a:spAutoFit/>
          </a:bodyPr>
          <a:lstStyle/>
          <a:p>
            <a:pPr marL="266700" indent="-266700">
              <a:spcBef>
                <a:spcPts val="600"/>
              </a:spcBef>
              <a:buSzPct val="80000"/>
              <a:buFont typeface="Wingdings" pitchFamily="2" charset="2"/>
              <a:buChar char="Ø"/>
              <a:defRPr/>
            </a:pPr>
            <a:r>
              <a:rPr lang="zh-CN" altLang="en-US" sz="1600" dirty="0">
                <a:solidFill>
                  <a:schemeClr val="tx1">
                    <a:lumMod val="10000"/>
                  </a:schemeClr>
                </a:solidFill>
                <a:latin typeface="Times New Roman" pitchFamily="18" charset="0"/>
                <a:ea typeface="黑体" pitchFamily="49" charset="-122"/>
                <a:cs typeface="Times New Roman" pitchFamily="18" charset="0"/>
              </a:rPr>
              <a:t>当</a:t>
            </a:r>
            <a:r>
              <a:rPr lang="el-GR" altLang="zh-CN" sz="1600" i="1" dirty="0">
                <a:solidFill>
                  <a:schemeClr val="tx1">
                    <a:lumMod val="10000"/>
                  </a:schemeClr>
                </a:solidFill>
                <a:latin typeface="Times New Roman" pitchFamily="18" charset="0"/>
                <a:ea typeface="黑体" pitchFamily="49" charset="-122"/>
                <a:cs typeface="Times New Roman" pitchFamily="18" charset="0"/>
              </a:rPr>
              <a:t>υ</a:t>
            </a:r>
            <a:r>
              <a:rPr lang="en-US" altLang="zh-CN" sz="1600" baseline="-25000" dirty="0">
                <a:solidFill>
                  <a:schemeClr val="tx1">
                    <a:lumMod val="10000"/>
                  </a:schemeClr>
                </a:solidFill>
                <a:latin typeface="Times New Roman" pitchFamily="18" charset="0"/>
                <a:ea typeface="黑体" pitchFamily="49" charset="-122"/>
                <a:cs typeface="Times New Roman" pitchFamily="18" charset="0"/>
              </a:rPr>
              <a:t>I</a:t>
            </a:r>
            <a:r>
              <a:rPr lang="zh-CN" altLang="en-US" sz="1600" dirty="0">
                <a:solidFill>
                  <a:schemeClr val="tx1">
                    <a:lumMod val="10000"/>
                  </a:schemeClr>
                </a:solidFill>
                <a:latin typeface="Times New Roman" pitchFamily="18" charset="0"/>
                <a:ea typeface="黑体" pitchFamily="49" charset="-122"/>
                <a:cs typeface="Times New Roman" pitchFamily="18" charset="0"/>
              </a:rPr>
              <a:t>为</a:t>
            </a:r>
            <a:r>
              <a:rPr lang="zh-CN" altLang="en-US" sz="1600" dirty="0">
                <a:solidFill>
                  <a:srgbClr val="6600FF"/>
                </a:solidFill>
                <a:latin typeface="方正粗黑宋简体" pitchFamily="2" charset="-122"/>
                <a:ea typeface="方正粗黑宋简体" pitchFamily="2" charset="-122"/>
              </a:rPr>
              <a:t>高电平</a:t>
            </a:r>
            <a:r>
              <a:rPr lang="zh-CN" altLang="en-US" sz="1600" dirty="0">
                <a:solidFill>
                  <a:schemeClr val="tx1">
                    <a:lumMod val="10000"/>
                  </a:schemeClr>
                </a:solidFill>
                <a:latin typeface="Times New Roman" pitchFamily="18" charset="0"/>
                <a:ea typeface="黑体" pitchFamily="49" charset="-122"/>
                <a:cs typeface="Times New Roman" pitchFamily="18" charset="0"/>
              </a:rPr>
              <a:t>，满足</a:t>
            </a:r>
            <a:r>
              <a:rPr lang="el-GR" altLang="zh-CN" sz="1600" i="1" dirty="0">
                <a:solidFill>
                  <a:schemeClr val="tx1">
                    <a:lumMod val="10000"/>
                  </a:schemeClr>
                </a:solidFill>
                <a:latin typeface="Times New Roman" pitchFamily="18" charset="0"/>
                <a:ea typeface="黑体" pitchFamily="49" charset="-122"/>
                <a:cs typeface="Times New Roman" pitchFamily="18" charset="0"/>
              </a:rPr>
              <a:t> υ</a:t>
            </a:r>
            <a:r>
              <a:rPr lang="en-US" altLang="zh-CN" sz="1600" baseline="-25000" dirty="0">
                <a:solidFill>
                  <a:schemeClr val="tx1">
                    <a:lumMod val="10000"/>
                  </a:schemeClr>
                </a:solidFill>
                <a:latin typeface="Times New Roman" pitchFamily="18" charset="0"/>
                <a:ea typeface="黑体" pitchFamily="49" charset="-122"/>
                <a:cs typeface="Times New Roman" pitchFamily="18" charset="0"/>
              </a:rPr>
              <a:t>GS</a:t>
            </a:r>
            <a:r>
              <a:rPr lang="en-US" altLang="zh-CN" sz="1600" dirty="0">
                <a:solidFill>
                  <a:schemeClr val="tx1">
                    <a:lumMod val="10000"/>
                  </a:schemeClr>
                </a:solidFill>
                <a:latin typeface="Times New Roman" pitchFamily="18" charset="0"/>
                <a:ea typeface="黑体" pitchFamily="49" charset="-122"/>
                <a:cs typeface="Times New Roman" pitchFamily="18" charset="0"/>
              </a:rPr>
              <a:t>= </a:t>
            </a:r>
            <a:r>
              <a:rPr lang="el-GR" altLang="zh-CN" sz="1600" i="1" dirty="0">
                <a:solidFill>
                  <a:schemeClr val="tx1">
                    <a:lumMod val="10000"/>
                  </a:schemeClr>
                </a:solidFill>
                <a:latin typeface="Times New Roman" pitchFamily="18" charset="0"/>
                <a:ea typeface="黑体" pitchFamily="49" charset="-122"/>
                <a:cs typeface="Times New Roman" pitchFamily="18" charset="0"/>
              </a:rPr>
              <a:t>υ</a:t>
            </a:r>
            <a:r>
              <a:rPr lang="en-US" altLang="zh-CN" sz="1600" baseline="-25000" dirty="0">
                <a:solidFill>
                  <a:schemeClr val="tx1">
                    <a:lumMod val="10000"/>
                  </a:schemeClr>
                </a:solidFill>
                <a:latin typeface="Times New Roman" pitchFamily="18" charset="0"/>
                <a:ea typeface="黑体" pitchFamily="49" charset="-122"/>
                <a:cs typeface="Times New Roman" pitchFamily="18" charset="0"/>
              </a:rPr>
              <a:t>I</a:t>
            </a:r>
            <a:r>
              <a:rPr lang="en-US" altLang="zh-CN" sz="1600" dirty="0">
                <a:solidFill>
                  <a:schemeClr val="tx1">
                    <a:lumMod val="10000"/>
                  </a:schemeClr>
                </a:solidFill>
                <a:latin typeface="Times New Roman" pitchFamily="18" charset="0"/>
                <a:ea typeface="黑体" pitchFamily="49" charset="-122"/>
                <a:cs typeface="Times New Roman" pitchFamily="18" charset="0"/>
              </a:rPr>
              <a:t> &gt;&gt; </a:t>
            </a:r>
            <a:r>
              <a:rPr lang="en-US" altLang="zh-CN" sz="1600" i="1" dirty="0">
                <a:solidFill>
                  <a:schemeClr val="tx1">
                    <a:lumMod val="10000"/>
                  </a:schemeClr>
                </a:solidFill>
                <a:latin typeface="Times New Roman" pitchFamily="18" charset="0"/>
                <a:ea typeface="黑体" pitchFamily="49" charset="-122"/>
                <a:cs typeface="Times New Roman" pitchFamily="18" charset="0"/>
              </a:rPr>
              <a:t>V</a:t>
            </a:r>
            <a:r>
              <a:rPr lang="en-US" altLang="zh-CN" sz="1600" baseline="-25000" dirty="0">
                <a:solidFill>
                  <a:schemeClr val="tx1">
                    <a:lumMod val="10000"/>
                  </a:schemeClr>
                </a:solidFill>
                <a:latin typeface="Times New Roman" pitchFamily="18" charset="0"/>
                <a:ea typeface="黑体" pitchFamily="49" charset="-122"/>
                <a:cs typeface="Times New Roman" pitchFamily="18" charset="0"/>
              </a:rPr>
              <a:t>TN</a:t>
            </a:r>
            <a:r>
              <a:rPr lang="zh-CN" altLang="en-US" sz="1600" dirty="0">
                <a:solidFill>
                  <a:schemeClr val="tx1">
                    <a:lumMod val="10000"/>
                  </a:schemeClr>
                </a:solidFill>
                <a:latin typeface="Times New Roman" pitchFamily="18" charset="0"/>
                <a:ea typeface="黑体" pitchFamily="49" charset="-122"/>
                <a:cs typeface="Times New Roman" pitchFamily="18" charset="0"/>
              </a:rPr>
              <a:t>时，工作于可变电阻区，</a:t>
            </a:r>
            <a:r>
              <a:rPr lang="el-GR" altLang="zh-CN" sz="1600" i="1" dirty="0">
                <a:solidFill>
                  <a:schemeClr val="tx1">
                    <a:lumMod val="10000"/>
                  </a:schemeClr>
                </a:solidFill>
                <a:latin typeface="Times New Roman" pitchFamily="18" charset="0"/>
                <a:ea typeface="黑体" pitchFamily="49" charset="-122"/>
                <a:cs typeface="Times New Roman" pitchFamily="18" charset="0"/>
              </a:rPr>
              <a:t>υ</a:t>
            </a:r>
            <a:r>
              <a:rPr lang="en-US" altLang="zh-CN" sz="1600" baseline="-25000" dirty="0">
                <a:solidFill>
                  <a:schemeClr val="tx1">
                    <a:lumMod val="10000"/>
                  </a:schemeClr>
                </a:solidFill>
                <a:latin typeface="Times New Roman" pitchFamily="18" charset="0"/>
                <a:ea typeface="黑体" pitchFamily="49" charset="-122"/>
                <a:cs typeface="Times New Roman" pitchFamily="18" charset="0"/>
              </a:rPr>
              <a:t>O</a:t>
            </a:r>
            <a:r>
              <a:rPr lang="en-US" altLang="zh-CN" sz="1600" dirty="0">
                <a:solidFill>
                  <a:schemeClr val="tx1">
                    <a:lumMod val="10000"/>
                  </a:schemeClr>
                </a:solidFill>
                <a:latin typeface="Times New Roman" pitchFamily="18" charset="0"/>
                <a:ea typeface="黑体" pitchFamily="49" charset="-122"/>
                <a:cs typeface="Times New Roman" pitchFamily="18" charset="0"/>
              </a:rPr>
              <a:t> = </a:t>
            </a:r>
            <a:r>
              <a:rPr lang="el-GR" altLang="zh-CN" sz="1600" i="1" dirty="0">
                <a:solidFill>
                  <a:schemeClr val="tx1">
                    <a:lumMod val="10000"/>
                  </a:schemeClr>
                </a:solidFill>
                <a:latin typeface="Times New Roman" pitchFamily="18" charset="0"/>
                <a:ea typeface="黑体" pitchFamily="49" charset="-122"/>
                <a:cs typeface="Times New Roman" pitchFamily="18" charset="0"/>
              </a:rPr>
              <a:t>υ</a:t>
            </a:r>
            <a:r>
              <a:rPr lang="en-US" altLang="zh-CN" sz="1600" baseline="-25000" dirty="0">
                <a:solidFill>
                  <a:schemeClr val="tx1">
                    <a:lumMod val="10000"/>
                  </a:schemeClr>
                </a:solidFill>
                <a:latin typeface="Times New Roman" pitchFamily="18" charset="0"/>
                <a:ea typeface="黑体" pitchFamily="49" charset="-122"/>
                <a:cs typeface="Times New Roman" pitchFamily="18" charset="0"/>
              </a:rPr>
              <a:t>DS</a:t>
            </a:r>
            <a:r>
              <a:rPr lang="en-US" altLang="zh-CN" sz="1600" dirty="0">
                <a:solidFill>
                  <a:schemeClr val="tx1">
                    <a:lumMod val="10000"/>
                  </a:schemeClr>
                </a:solidFill>
                <a:latin typeface="Times New Roman" pitchFamily="18" charset="0"/>
                <a:ea typeface="黑体" pitchFamily="49" charset="-122"/>
                <a:cs typeface="Times New Roman" pitchFamily="18" charset="0"/>
              </a:rPr>
              <a:t>≈0</a:t>
            </a:r>
            <a:r>
              <a:rPr lang="zh-CN" altLang="en-US" sz="1600" dirty="0">
                <a:solidFill>
                  <a:schemeClr val="tx1">
                    <a:lumMod val="10000"/>
                  </a:schemeClr>
                </a:solidFill>
                <a:latin typeface="Times New Roman" pitchFamily="18" charset="0"/>
                <a:ea typeface="黑体" pitchFamily="49" charset="-122"/>
                <a:cs typeface="Times New Roman" pitchFamily="18" charset="0"/>
              </a:rPr>
              <a:t>（</a:t>
            </a:r>
            <a:r>
              <a:rPr lang="zh-CN" altLang="en-US" sz="1600" dirty="0">
                <a:solidFill>
                  <a:srgbClr val="6600FF"/>
                </a:solidFill>
                <a:latin typeface="方正粗黑宋简体" pitchFamily="2" charset="-122"/>
                <a:ea typeface="方正粗黑宋简体" pitchFamily="2" charset="-122"/>
              </a:rPr>
              <a:t>低电平</a:t>
            </a:r>
            <a:r>
              <a:rPr lang="zh-CN" altLang="en-US" sz="1600" dirty="0">
                <a:solidFill>
                  <a:schemeClr val="tx1">
                    <a:lumMod val="10000"/>
                  </a:schemeClr>
                </a:solidFill>
                <a:latin typeface="Times New Roman" pitchFamily="18" charset="0"/>
                <a:ea typeface="黑体" pitchFamily="49" charset="-122"/>
                <a:cs typeface="Times New Roman" pitchFamily="18" charset="0"/>
              </a:rPr>
              <a:t>）。</a:t>
            </a:r>
            <a:endParaRPr lang="en-US" altLang="zh-CN" sz="1600" dirty="0">
              <a:solidFill>
                <a:schemeClr val="tx1">
                  <a:lumMod val="10000"/>
                </a:schemeClr>
              </a:solidFill>
              <a:latin typeface="Times New Roman" pitchFamily="18" charset="0"/>
              <a:ea typeface="黑体" pitchFamily="49" charset="-122"/>
              <a:cs typeface="Times New Roman"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slide(fromBottom)">
                                      <p:cBhvr>
                                        <p:cTn id="7" dur="10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slide(fromBottom)">
                                      <p:cBhvr>
                                        <p:cTn id="12" dur="1000"/>
                                        <p:tgtEl>
                                          <p:spTgt spid="36"/>
                                        </p:tgtEl>
                                      </p:cBhvr>
                                    </p:animEffect>
                                  </p:childTnLst>
                                </p:cTn>
                              </p:par>
                            </p:childTnLst>
                          </p:cTn>
                        </p:par>
                        <p:par>
                          <p:cTn id="13" fill="hold">
                            <p:stCondLst>
                              <p:cond delay="1000"/>
                            </p:stCondLst>
                            <p:childTnLst>
                              <p:par>
                                <p:cTn id="14" presetID="12" presetClass="entr" presetSubtype="4" fill="hold" nodeType="afterEffect">
                                  <p:stCondLst>
                                    <p:cond delay="0"/>
                                  </p:stCondLst>
                                  <p:childTnLst>
                                    <p:set>
                                      <p:cBhvr>
                                        <p:cTn id="15" dur="1" fill="hold">
                                          <p:stCondLst>
                                            <p:cond delay="0"/>
                                          </p:stCondLst>
                                        </p:cTn>
                                        <p:tgtEl>
                                          <p:spTgt spid="38"/>
                                        </p:tgtEl>
                                        <p:attrNameLst>
                                          <p:attrName>style.visibility</p:attrName>
                                        </p:attrNameLst>
                                      </p:cBhvr>
                                      <p:to>
                                        <p:strVal val="visible"/>
                                      </p:to>
                                    </p:set>
                                    <p:animEffect transition="in" filter="slide(fromBottom)">
                                      <p:cBhvr>
                                        <p:cTn id="16" dur="1000"/>
                                        <p:tgtEl>
                                          <p:spTgt spid="38"/>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4" fill="hold" grpId="0" nodeType="clickEffect">
                                  <p:stCondLst>
                                    <p:cond delay="0"/>
                                  </p:stCondLst>
                                  <p:childTnLst>
                                    <p:set>
                                      <p:cBhvr>
                                        <p:cTn id="20" dur="1" fill="hold">
                                          <p:stCondLst>
                                            <p:cond delay="0"/>
                                          </p:stCondLst>
                                        </p:cTn>
                                        <p:tgtEl>
                                          <p:spTgt spid="34"/>
                                        </p:tgtEl>
                                        <p:attrNameLst>
                                          <p:attrName>style.visibility</p:attrName>
                                        </p:attrNameLst>
                                      </p:cBhvr>
                                      <p:to>
                                        <p:strVal val="visible"/>
                                      </p:to>
                                    </p:set>
                                    <p:animEffect transition="in" filter="slide(fromBottom)">
                                      <p:cBhvr>
                                        <p:cTn id="21" dur="1000"/>
                                        <p:tgtEl>
                                          <p:spTgt spid="34"/>
                                        </p:tgtEl>
                                      </p:cBhvr>
                                    </p:animEffect>
                                  </p:childTnLst>
                                </p:cTn>
                              </p:par>
                            </p:childTnLst>
                          </p:cTn>
                        </p:par>
                        <p:par>
                          <p:cTn id="22" fill="hold">
                            <p:stCondLst>
                              <p:cond delay="1000"/>
                            </p:stCondLst>
                            <p:childTnLst>
                              <p:par>
                                <p:cTn id="23" presetID="23" presetClass="entr" presetSubtype="32" fill="hold" grpId="0" nodeType="afterEffect">
                                  <p:stCondLst>
                                    <p:cond delay="0"/>
                                  </p:stCondLst>
                                  <p:childTnLst>
                                    <p:set>
                                      <p:cBhvr>
                                        <p:cTn id="24" dur="1" fill="hold">
                                          <p:stCondLst>
                                            <p:cond delay="0"/>
                                          </p:stCondLst>
                                        </p:cTn>
                                        <p:tgtEl>
                                          <p:spTgt spid="44"/>
                                        </p:tgtEl>
                                        <p:attrNameLst>
                                          <p:attrName>style.visibility</p:attrName>
                                        </p:attrNameLst>
                                      </p:cBhvr>
                                      <p:to>
                                        <p:strVal val="visible"/>
                                      </p:to>
                                    </p:set>
                                    <p:anim calcmode="lin" valueType="num">
                                      <p:cBhvr>
                                        <p:cTn id="25" dur="1000" fill="hold"/>
                                        <p:tgtEl>
                                          <p:spTgt spid="44"/>
                                        </p:tgtEl>
                                        <p:attrNameLst>
                                          <p:attrName>ppt_w</p:attrName>
                                        </p:attrNameLst>
                                      </p:cBhvr>
                                      <p:tavLst>
                                        <p:tav tm="0">
                                          <p:val>
                                            <p:strVal val="4*#ppt_w"/>
                                          </p:val>
                                        </p:tav>
                                        <p:tav tm="100000">
                                          <p:val>
                                            <p:strVal val="#ppt_w"/>
                                          </p:val>
                                        </p:tav>
                                      </p:tavLst>
                                    </p:anim>
                                    <p:anim calcmode="lin" valueType="num">
                                      <p:cBhvr>
                                        <p:cTn id="26" dur="1000" fill="hold"/>
                                        <p:tgtEl>
                                          <p:spTgt spid="44"/>
                                        </p:tgtEl>
                                        <p:attrNameLst>
                                          <p:attrName>ppt_h</p:attrName>
                                        </p:attrNameLst>
                                      </p:cBhvr>
                                      <p:tavLst>
                                        <p:tav tm="0">
                                          <p:val>
                                            <p:strVal val="4*#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slide(fromBottom)">
                                      <p:cBhvr>
                                        <p:cTn id="31" dur="1000"/>
                                        <p:tgtEl>
                                          <p:spTgt spid="31"/>
                                        </p:tgtEl>
                                      </p:cBhvr>
                                    </p:animEffect>
                                  </p:childTnLst>
                                </p:cTn>
                              </p:par>
                            </p:childTnLst>
                          </p:cTn>
                        </p:par>
                        <p:par>
                          <p:cTn id="32" fill="hold">
                            <p:stCondLst>
                              <p:cond delay="1000"/>
                            </p:stCondLst>
                            <p:childTnLst>
                              <p:par>
                                <p:cTn id="33" presetID="23" presetClass="entr" presetSubtype="32" fill="hold" grpId="0" nodeType="afterEffect">
                                  <p:stCondLst>
                                    <p:cond delay="0"/>
                                  </p:stCondLst>
                                  <p:childTnLst>
                                    <p:set>
                                      <p:cBhvr>
                                        <p:cTn id="34" dur="1" fill="hold">
                                          <p:stCondLst>
                                            <p:cond delay="0"/>
                                          </p:stCondLst>
                                        </p:cTn>
                                        <p:tgtEl>
                                          <p:spTgt spid="39"/>
                                        </p:tgtEl>
                                        <p:attrNameLst>
                                          <p:attrName>style.visibility</p:attrName>
                                        </p:attrNameLst>
                                      </p:cBhvr>
                                      <p:to>
                                        <p:strVal val="visible"/>
                                      </p:to>
                                    </p:set>
                                    <p:anim calcmode="lin" valueType="num">
                                      <p:cBhvr>
                                        <p:cTn id="35" dur="1000" fill="hold"/>
                                        <p:tgtEl>
                                          <p:spTgt spid="39"/>
                                        </p:tgtEl>
                                        <p:attrNameLst>
                                          <p:attrName>ppt_w</p:attrName>
                                        </p:attrNameLst>
                                      </p:cBhvr>
                                      <p:tavLst>
                                        <p:tav tm="0">
                                          <p:val>
                                            <p:strVal val="4*#ppt_w"/>
                                          </p:val>
                                        </p:tav>
                                        <p:tav tm="100000">
                                          <p:val>
                                            <p:strVal val="#ppt_w"/>
                                          </p:val>
                                        </p:tav>
                                      </p:tavLst>
                                    </p:anim>
                                    <p:anim calcmode="lin" valueType="num">
                                      <p:cBhvr>
                                        <p:cTn id="36" dur="1000" fill="hold"/>
                                        <p:tgtEl>
                                          <p:spTgt spid="39"/>
                                        </p:tgtEl>
                                        <p:attrNameLst>
                                          <p:attrName>ppt_h</p:attrName>
                                        </p:attrNameLst>
                                      </p:cBhvr>
                                      <p:tavLst>
                                        <p:tav tm="0">
                                          <p:val>
                                            <p:strVal val="4*#ppt_h"/>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17" presetClass="entr" presetSubtype="4" fill="hold" nodeType="clickEffect">
                                  <p:stCondLst>
                                    <p:cond delay="0"/>
                                  </p:stCondLst>
                                  <p:childTnLst>
                                    <p:set>
                                      <p:cBhvr>
                                        <p:cTn id="40" dur="1" fill="hold">
                                          <p:stCondLst>
                                            <p:cond delay="0"/>
                                          </p:stCondLst>
                                        </p:cTn>
                                        <p:tgtEl>
                                          <p:spTgt spid="49"/>
                                        </p:tgtEl>
                                        <p:attrNameLst>
                                          <p:attrName>style.visibility</p:attrName>
                                        </p:attrNameLst>
                                      </p:cBhvr>
                                      <p:to>
                                        <p:strVal val="visible"/>
                                      </p:to>
                                    </p:set>
                                    <p:anim calcmode="lin" valueType="num">
                                      <p:cBhvr>
                                        <p:cTn id="41" dur="1000" fill="hold"/>
                                        <p:tgtEl>
                                          <p:spTgt spid="49"/>
                                        </p:tgtEl>
                                        <p:attrNameLst>
                                          <p:attrName>ppt_x</p:attrName>
                                        </p:attrNameLst>
                                      </p:cBhvr>
                                      <p:tavLst>
                                        <p:tav tm="0">
                                          <p:val>
                                            <p:strVal val="#ppt_x"/>
                                          </p:val>
                                        </p:tav>
                                        <p:tav tm="100000">
                                          <p:val>
                                            <p:strVal val="#ppt_x"/>
                                          </p:val>
                                        </p:tav>
                                      </p:tavLst>
                                    </p:anim>
                                    <p:anim calcmode="lin" valueType="num">
                                      <p:cBhvr>
                                        <p:cTn id="42" dur="1000" fill="hold"/>
                                        <p:tgtEl>
                                          <p:spTgt spid="49"/>
                                        </p:tgtEl>
                                        <p:attrNameLst>
                                          <p:attrName>ppt_y</p:attrName>
                                        </p:attrNameLst>
                                      </p:cBhvr>
                                      <p:tavLst>
                                        <p:tav tm="0">
                                          <p:val>
                                            <p:strVal val="#ppt_y+#ppt_h/2"/>
                                          </p:val>
                                        </p:tav>
                                        <p:tav tm="100000">
                                          <p:val>
                                            <p:strVal val="#ppt_y"/>
                                          </p:val>
                                        </p:tav>
                                      </p:tavLst>
                                    </p:anim>
                                    <p:anim calcmode="lin" valueType="num">
                                      <p:cBhvr>
                                        <p:cTn id="43" dur="1000" fill="hold"/>
                                        <p:tgtEl>
                                          <p:spTgt spid="49"/>
                                        </p:tgtEl>
                                        <p:attrNameLst>
                                          <p:attrName>ppt_w</p:attrName>
                                        </p:attrNameLst>
                                      </p:cBhvr>
                                      <p:tavLst>
                                        <p:tav tm="0">
                                          <p:val>
                                            <p:strVal val="#ppt_w"/>
                                          </p:val>
                                        </p:tav>
                                        <p:tav tm="100000">
                                          <p:val>
                                            <p:strVal val="#ppt_w"/>
                                          </p:val>
                                        </p:tav>
                                      </p:tavLst>
                                    </p:anim>
                                    <p:anim calcmode="lin" valueType="num">
                                      <p:cBhvr>
                                        <p:cTn id="44" dur="1000" fill="hold"/>
                                        <p:tgtEl>
                                          <p:spTgt spid="4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9" grpId="0" animBg="1"/>
      <p:bldP spid="44" grpId="0" animBg="1"/>
      <p:bldP spid="3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7"/>
          <p:cNvGrpSpPr>
            <a:grpSpLocks/>
          </p:cNvGrpSpPr>
          <p:nvPr/>
        </p:nvGrpSpPr>
        <p:grpSpPr bwMode="auto">
          <a:xfrm>
            <a:off x="6743817" y="771697"/>
            <a:ext cx="2108854" cy="2301056"/>
            <a:chOff x="4023" y="2307"/>
            <a:chExt cx="1573" cy="1644"/>
          </a:xfrm>
        </p:grpSpPr>
        <p:sp>
          <p:nvSpPr>
            <p:cNvPr id="30" name="AutoShape 8"/>
            <p:cNvSpPr>
              <a:spLocks noChangeArrowheads="1"/>
            </p:cNvSpPr>
            <p:nvPr/>
          </p:nvSpPr>
          <p:spPr bwMode="auto">
            <a:xfrm>
              <a:off x="4023" y="2307"/>
              <a:ext cx="1573" cy="1619"/>
            </a:xfrm>
            <a:prstGeom prst="roundRect">
              <a:avLst>
                <a:gd name="adj" fmla="val 3597"/>
              </a:avLst>
            </a:prstGeom>
            <a:solidFill>
              <a:srgbClr val="FFFFFF"/>
            </a:solidFill>
            <a:ln w="19050">
              <a:solidFill>
                <a:srgbClr val="0070C0"/>
              </a:solidFill>
              <a:miter lim="800000"/>
              <a:headEnd/>
              <a:tailEnd/>
            </a:ln>
          </p:spPr>
          <p:txBody>
            <a:bodyPr wrap="none" anchor="ctr"/>
            <a:lstStyle/>
            <a:p>
              <a:pPr>
                <a:defRPr/>
              </a:pPr>
              <a:endParaRPr lang="zh-CN" altLang="en-US">
                <a:solidFill>
                  <a:schemeClr val="tx1">
                    <a:lumMod val="10000"/>
                  </a:schemeClr>
                </a:solidFill>
              </a:endParaRPr>
            </a:p>
          </p:txBody>
        </p:sp>
        <p:graphicFrame>
          <p:nvGraphicFramePr>
            <p:cNvPr id="31" name="Object 9"/>
            <p:cNvGraphicFramePr>
              <a:graphicFrameLocks noChangeAspect="1"/>
            </p:cNvGraphicFramePr>
            <p:nvPr/>
          </p:nvGraphicFramePr>
          <p:xfrm>
            <a:off x="4056" y="2309"/>
            <a:ext cx="1492" cy="1642"/>
          </p:xfrm>
          <a:graphic>
            <a:graphicData uri="http://schemas.openxmlformats.org/presentationml/2006/ole">
              <mc:AlternateContent xmlns:mc="http://schemas.openxmlformats.org/markup-compatibility/2006">
                <mc:Choice xmlns:v="urn:schemas-microsoft-com:vml" Requires="v">
                  <p:oleObj spid="_x0000_s77826" name="Visio" r:id="rId3" imgW="1004764" imgH="1233006" progId="">
                    <p:embed/>
                  </p:oleObj>
                </mc:Choice>
                <mc:Fallback>
                  <p:oleObj name="Visio" r:id="rId3" imgW="1004764" imgH="1233006" progId="">
                    <p:embed/>
                    <p:pic>
                      <p:nvPicPr>
                        <p:cNvPr id="31"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56" y="2309"/>
                          <a:ext cx="1492" cy="164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pSp>
      <p:grpSp>
        <p:nvGrpSpPr>
          <p:cNvPr id="16" name="组合 15"/>
          <p:cNvGrpSpPr/>
          <p:nvPr/>
        </p:nvGrpSpPr>
        <p:grpSpPr>
          <a:xfrm>
            <a:off x="282575" y="785614"/>
            <a:ext cx="2362605" cy="373579"/>
            <a:chOff x="307975" y="1517134"/>
            <a:chExt cx="2362605" cy="373579"/>
          </a:xfrm>
        </p:grpSpPr>
        <p:grpSp>
          <p:nvGrpSpPr>
            <p:cNvPr id="17" name="组合 32"/>
            <p:cNvGrpSpPr/>
            <p:nvPr/>
          </p:nvGrpSpPr>
          <p:grpSpPr>
            <a:xfrm>
              <a:off x="307975" y="1519116"/>
              <a:ext cx="568325" cy="371597"/>
              <a:chOff x="307975" y="1519116"/>
              <a:chExt cx="568325" cy="371597"/>
            </a:xfrm>
          </p:grpSpPr>
          <p:pic>
            <p:nvPicPr>
              <p:cNvPr id="19" name="Picture 4"/>
              <p:cNvPicPr>
                <a:picLocks noChangeAspect="1" noChangeArrowheads="1"/>
              </p:cNvPicPr>
              <p:nvPr/>
            </p:nvPicPr>
            <p:blipFill>
              <a:blip r:embed="rId5" cstate="print"/>
              <a:srcRect/>
              <a:stretch>
                <a:fillRect/>
              </a:stretch>
            </p:blipFill>
            <p:spPr bwMode="auto">
              <a:xfrm flipH="1">
                <a:off x="307975" y="1519116"/>
                <a:ext cx="568325" cy="371597"/>
              </a:xfrm>
              <a:prstGeom prst="rect">
                <a:avLst/>
              </a:prstGeom>
              <a:noFill/>
              <a:ln w="9525">
                <a:noFill/>
                <a:miter lim="800000"/>
                <a:headEnd/>
                <a:tailEnd/>
              </a:ln>
              <a:effectLst/>
            </p:spPr>
          </p:pic>
          <p:sp>
            <p:nvSpPr>
              <p:cNvPr id="20" name="TextBox 19"/>
              <p:cNvSpPr txBox="1"/>
              <p:nvPr/>
            </p:nvSpPr>
            <p:spPr>
              <a:xfrm flipH="1">
                <a:off x="443415" y="1555750"/>
                <a:ext cx="137858" cy="276999"/>
              </a:xfrm>
              <a:prstGeom prst="rect">
                <a:avLst/>
              </a:prstGeom>
              <a:noFill/>
            </p:spPr>
            <p:txBody>
              <a:bodyPr wrap="none" lIns="0" tIns="0" rIns="0" bIns="0" rtlCol="0">
                <a:spAutoFit/>
              </a:bodyPr>
              <a:lstStyle/>
              <a:p>
                <a:r>
                  <a:rPr lang="en-US" altLang="zh-CN" b="1" dirty="0">
                    <a:solidFill>
                      <a:srgbClr val="262626"/>
                    </a:solidFill>
                    <a:latin typeface="Segoe UI Black" pitchFamily="34" charset="0"/>
                    <a:ea typeface="Segoe UI Black" pitchFamily="34" charset="0"/>
                    <a:cs typeface="Times New Roman" pitchFamily="18" charset="0"/>
                  </a:rPr>
                  <a:t>2</a:t>
                </a:r>
                <a:endParaRPr lang="zh-CN" altLang="en-US" b="1" dirty="0">
                  <a:solidFill>
                    <a:srgbClr val="262626"/>
                  </a:solidFill>
                  <a:latin typeface="Segoe UI Black" pitchFamily="34" charset="0"/>
                  <a:cs typeface="Times New Roman" pitchFamily="18" charset="0"/>
                </a:endParaRPr>
              </a:p>
            </p:txBody>
          </p:sp>
        </p:grpSp>
        <p:sp>
          <p:nvSpPr>
            <p:cNvPr id="18" name="矩形 17"/>
            <p:cNvSpPr/>
            <p:nvPr/>
          </p:nvSpPr>
          <p:spPr>
            <a:xfrm>
              <a:off x="863675" y="1517134"/>
              <a:ext cx="1806905" cy="369332"/>
            </a:xfrm>
            <a:prstGeom prst="rect">
              <a:avLst/>
            </a:prstGeom>
          </p:spPr>
          <p:txBody>
            <a:bodyPr wrap="none">
              <a:spAutoFit/>
            </a:bodyPr>
            <a:lstStyle/>
            <a:p>
              <a:r>
                <a:rPr lang="en-US" altLang="zh-CN" b="1" dirty="0">
                  <a:solidFill>
                    <a:schemeClr val="accent1">
                      <a:lumMod val="50000"/>
                    </a:schemeClr>
                  </a:solidFill>
                  <a:latin typeface="Times New Roman" panose="02020603050405020304" pitchFamily="18" charset="0"/>
                  <a:ea typeface="黑体" pitchFamily="49" charset="-122"/>
                  <a:cs typeface="Times New Roman" panose="02020603050405020304" pitchFamily="18" charset="0"/>
                </a:rPr>
                <a:t>CMOS</a:t>
              </a:r>
              <a:r>
                <a:rPr lang="zh-CN" altLang="en-US" b="1" dirty="0">
                  <a:solidFill>
                    <a:schemeClr val="accent1">
                      <a:lumMod val="50000"/>
                    </a:schemeClr>
                  </a:solidFill>
                  <a:latin typeface="Times New Roman" panose="02020603050405020304" pitchFamily="18" charset="0"/>
                  <a:ea typeface="黑体" pitchFamily="49" charset="-122"/>
                  <a:cs typeface="Times New Roman" panose="02020603050405020304" pitchFamily="18" charset="0"/>
                </a:rPr>
                <a:t>非门电路</a:t>
              </a:r>
            </a:p>
          </p:txBody>
        </p:sp>
      </p:grpSp>
      <p:sp>
        <p:nvSpPr>
          <p:cNvPr id="21" name="Rectangle 5"/>
          <p:cNvSpPr>
            <a:spLocks noChangeArrowheads="1"/>
          </p:cNvSpPr>
          <p:nvPr/>
        </p:nvSpPr>
        <p:spPr bwMode="auto">
          <a:xfrm>
            <a:off x="431483" y="1249363"/>
            <a:ext cx="2579687" cy="338554"/>
          </a:xfrm>
          <a:prstGeom prst="rect">
            <a:avLst/>
          </a:prstGeom>
          <a:noFill/>
          <a:ln w="9525" algn="ctr">
            <a:noFill/>
            <a:miter lim="800000"/>
            <a:headEnd/>
            <a:tailEnd/>
          </a:ln>
        </p:spPr>
        <p:txBody>
          <a:bodyPr>
            <a:spAutoFit/>
          </a:bodyPr>
          <a:lstStyle/>
          <a:p>
            <a:r>
              <a:rPr lang="zh-CN" altLang="en-US" sz="1600" dirty="0">
                <a:solidFill>
                  <a:srgbClr val="6600FF"/>
                </a:solidFill>
                <a:latin typeface="方正粗黑宋简体" pitchFamily="2" charset="-122"/>
                <a:ea typeface="方正粗黑宋简体" pitchFamily="2" charset="-122"/>
              </a:rPr>
              <a:t>（</a:t>
            </a:r>
            <a:r>
              <a:rPr lang="en-US" altLang="zh-CN" sz="1600" dirty="0">
                <a:solidFill>
                  <a:srgbClr val="6600FF"/>
                </a:solidFill>
                <a:latin typeface="方正粗黑宋简体" pitchFamily="2" charset="-122"/>
                <a:ea typeface="方正粗黑宋简体" pitchFamily="2" charset="-122"/>
              </a:rPr>
              <a:t>1</a:t>
            </a:r>
            <a:r>
              <a:rPr lang="zh-CN" altLang="en-US" sz="1600" dirty="0">
                <a:solidFill>
                  <a:srgbClr val="6600FF"/>
                </a:solidFill>
                <a:latin typeface="方正粗黑宋简体" pitchFamily="2" charset="-122"/>
                <a:ea typeface="方正粗黑宋简体" pitchFamily="2" charset="-122"/>
              </a:rPr>
              <a:t>）电路结构</a:t>
            </a:r>
          </a:p>
        </p:txBody>
      </p:sp>
      <p:sp>
        <p:nvSpPr>
          <p:cNvPr id="22" name="Rectangle 6"/>
          <p:cNvSpPr>
            <a:spLocks noChangeArrowheads="1"/>
          </p:cNvSpPr>
          <p:nvPr/>
        </p:nvSpPr>
        <p:spPr bwMode="auto">
          <a:xfrm>
            <a:off x="938213" y="1596056"/>
            <a:ext cx="5899467" cy="361637"/>
          </a:xfrm>
          <a:prstGeom prst="rect">
            <a:avLst/>
          </a:prstGeom>
          <a:noFill/>
          <a:ln w="9525">
            <a:noFill/>
            <a:miter lim="800000"/>
            <a:headEnd/>
            <a:tailEnd/>
          </a:ln>
        </p:spPr>
        <p:txBody>
          <a:bodyPr wrap="square">
            <a:spAutoFit/>
          </a:bodyPr>
          <a:lstStyle/>
          <a:p>
            <a:pPr>
              <a:lnSpc>
                <a:spcPct val="125000"/>
              </a:lnSpc>
              <a:defRPr/>
            </a:pPr>
            <a:r>
              <a:rPr lang="en-US" altLang="zh-CN" sz="1400" dirty="0">
                <a:latin typeface="Times New Roman" pitchFamily="18" charset="0"/>
                <a:ea typeface="黑体" pitchFamily="49" charset="-122"/>
                <a:cs typeface="Times New Roman" pitchFamily="18" charset="0"/>
              </a:rPr>
              <a:t>CMOS</a:t>
            </a:r>
            <a:r>
              <a:rPr lang="zh-CN" altLang="en-US" sz="1400" dirty="0">
                <a:latin typeface="Times New Roman" pitchFamily="18" charset="0"/>
                <a:ea typeface="黑体" pitchFamily="49" charset="-122"/>
                <a:cs typeface="Times New Roman" pitchFamily="18" charset="0"/>
              </a:rPr>
              <a:t>非门电路是由一个</a:t>
            </a:r>
            <a:r>
              <a:rPr lang="en-US" altLang="zh-CN" sz="1400" dirty="0">
                <a:solidFill>
                  <a:srgbClr val="6600FF"/>
                </a:solidFill>
                <a:latin typeface="方正粗黑宋简体" pitchFamily="2" charset="-122"/>
                <a:ea typeface="方正粗黑宋简体" pitchFamily="2" charset="-122"/>
              </a:rPr>
              <a:t>P</a:t>
            </a:r>
            <a:r>
              <a:rPr lang="zh-CN" altLang="en-US" sz="1400" dirty="0">
                <a:solidFill>
                  <a:srgbClr val="6600FF"/>
                </a:solidFill>
                <a:latin typeface="方正粗黑宋简体" pitchFamily="2" charset="-122"/>
                <a:ea typeface="方正粗黑宋简体" pitchFamily="2" charset="-122"/>
              </a:rPr>
              <a:t>沟道</a:t>
            </a:r>
            <a:r>
              <a:rPr lang="zh-CN" altLang="en-US" sz="1400" dirty="0">
                <a:latin typeface="Times New Roman" pitchFamily="18" charset="0"/>
                <a:ea typeface="黑体" pitchFamily="49" charset="-122"/>
                <a:cs typeface="Times New Roman" pitchFamily="18" charset="0"/>
              </a:rPr>
              <a:t>和一个</a:t>
            </a:r>
            <a:r>
              <a:rPr lang="en-US" altLang="zh-CN" sz="1400" dirty="0">
                <a:solidFill>
                  <a:srgbClr val="6600FF"/>
                </a:solidFill>
                <a:latin typeface="方正粗黑宋简体" pitchFamily="2" charset="-122"/>
                <a:ea typeface="方正粗黑宋简体" pitchFamily="2" charset="-122"/>
              </a:rPr>
              <a:t>N</a:t>
            </a:r>
            <a:r>
              <a:rPr lang="zh-CN" altLang="en-US" sz="1400" dirty="0">
                <a:solidFill>
                  <a:srgbClr val="6600FF"/>
                </a:solidFill>
                <a:latin typeface="方正粗黑宋简体" pitchFamily="2" charset="-122"/>
                <a:ea typeface="方正粗黑宋简体" pitchFamily="2" charset="-122"/>
              </a:rPr>
              <a:t>沟道</a:t>
            </a:r>
            <a:r>
              <a:rPr lang="en-US" altLang="zh-CN" sz="1400" dirty="0">
                <a:latin typeface="Times New Roman" pitchFamily="18" charset="0"/>
                <a:ea typeface="黑体" pitchFamily="49" charset="-122"/>
                <a:cs typeface="Times New Roman" pitchFamily="18" charset="0"/>
              </a:rPr>
              <a:t>MOSFET</a:t>
            </a:r>
            <a:r>
              <a:rPr lang="zh-CN" altLang="en-US" sz="1400" dirty="0">
                <a:latin typeface="Times New Roman" pitchFamily="18" charset="0"/>
                <a:ea typeface="黑体" pitchFamily="49" charset="-122"/>
                <a:cs typeface="Times New Roman" pitchFamily="18" charset="0"/>
              </a:rPr>
              <a:t>互补而成。</a:t>
            </a:r>
          </a:p>
        </p:txBody>
      </p:sp>
      <p:sp>
        <p:nvSpPr>
          <p:cNvPr id="34" name="Rectangle 10"/>
          <p:cNvSpPr>
            <a:spLocks noChangeArrowheads="1"/>
          </p:cNvSpPr>
          <p:nvPr/>
        </p:nvSpPr>
        <p:spPr bwMode="auto">
          <a:xfrm>
            <a:off x="413385" y="2041525"/>
            <a:ext cx="2770188" cy="338554"/>
          </a:xfrm>
          <a:prstGeom prst="rect">
            <a:avLst/>
          </a:prstGeom>
          <a:noFill/>
          <a:ln w="9525" algn="ctr">
            <a:noFill/>
            <a:miter lim="800000"/>
            <a:headEnd/>
            <a:tailEnd/>
          </a:ln>
        </p:spPr>
        <p:txBody>
          <a:bodyPr>
            <a:spAutoFit/>
          </a:bodyPr>
          <a:lstStyle/>
          <a:p>
            <a:r>
              <a:rPr lang="zh-CN" altLang="en-US" sz="1600" dirty="0">
                <a:solidFill>
                  <a:srgbClr val="6600FF"/>
                </a:solidFill>
                <a:latin typeface="方正粗黑宋简体" pitchFamily="2" charset="-122"/>
                <a:ea typeface="方正粗黑宋简体" pitchFamily="2" charset="-122"/>
              </a:rPr>
              <a:t>（</a:t>
            </a:r>
            <a:r>
              <a:rPr lang="en-US" altLang="zh-CN" sz="1600" dirty="0">
                <a:solidFill>
                  <a:srgbClr val="6600FF"/>
                </a:solidFill>
                <a:latin typeface="方正粗黑宋简体" pitchFamily="2" charset="-122"/>
                <a:ea typeface="方正粗黑宋简体" pitchFamily="2" charset="-122"/>
              </a:rPr>
              <a:t>2</a:t>
            </a:r>
            <a:r>
              <a:rPr lang="zh-CN" altLang="en-US" sz="1600" dirty="0">
                <a:solidFill>
                  <a:srgbClr val="6600FF"/>
                </a:solidFill>
                <a:latin typeface="方正粗黑宋简体" pitchFamily="2" charset="-122"/>
                <a:ea typeface="方正粗黑宋简体" pitchFamily="2" charset="-122"/>
              </a:rPr>
              <a:t>）工作原理</a:t>
            </a:r>
          </a:p>
        </p:txBody>
      </p:sp>
      <p:graphicFrame>
        <p:nvGraphicFramePr>
          <p:cNvPr id="40" name="Object 100"/>
          <p:cNvGraphicFramePr>
            <a:graphicFrameLocks noChangeAspect="1"/>
          </p:cNvGraphicFramePr>
          <p:nvPr/>
        </p:nvGraphicFramePr>
        <p:xfrm>
          <a:off x="7459663" y="4721225"/>
          <a:ext cx="257175" cy="482600"/>
        </p:xfrm>
        <a:graphic>
          <a:graphicData uri="http://schemas.openxmlformats.org/presentationml/2006/ole">
            <mc:AlternateContent xmlns:mc="http://schemas.openxmlformats.org/markup-compatibility/2006">
              <mc:Choice xmlns:v="urn:schemas-microsoft-com:vml" Requires="v">
                <p:oleObj spid="_x0000_s77827" name="公式" r:id="rId6" imgW="1215000" imgH="2294280" progId="">
                  <p:embed/>
                </p:oleObj>
              </mc:Choice>
              <mc:Fallback>
                <p:oleObj name="公式" r:id="rId6" imgW="1215000" imgH="2294280" progId="">
                  <p:embed/>
                  <p:pic>
                    <p:nvPicPr>
                      <p:cNvPr id="40" name="Object 10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59663" y="4721225"/>
                        <a:ext cx="257175" cy="482600"/>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FF33CC"/>
                            </a:solidFill>
                            <a:miter lim="800000"/>
                            <a:headEnd/>
                            <a:tailEnd/>
                          </a14:hiddenLine>
                        </a:ext>
                      </a:extLst>
                    </p:spPr>
                  </p:pic>
                </p:oleObj>
              </mc:Fallback>
            </mc:AlternateContent>
          </a:graphicData>
        </a:graphic>
      </p:graphicFrame>
      <p:sp>
        <p:nvSpPr>
          <p:cNvPr id="44" name="Rectangle 11"/>
          <p:cNvSpPr>
            <a:spLocks noChangeArrowheads="1"/>
          </p:cNvSpPr>
          <p:nvPr/>
        </p:nvSpPr>
        <p:spPr bwMode="auto">
          <a:xfrm>
            <a:off x="505995" y="3525045"/>
            <a:ext cx="5753835" cy="60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5000"/>
              </a:lnSpc>
              <a:buFont typeface="Wingdings" pitchFamily="2" charset="2"/>
              <a:buChar char="Ø"/>
              <a:defRPr/>
            </a:pPr>
            <a:r>
              <a:rPr lang="zh-CN" altLang="en-US" sz="1400" dirty="0">
                <a:solidFill>
                  <a:srgbClr val="6600FF"/>
                </a:solidFill>
                <a:latin typeface="方正粗黑宋简体" pitchFamily="2" charset="-122"/>
                <a:ea typeface="方正粗黑宋简体" pitchFamily="2" charset="-122"/>
              </a:rPr>
              <a:t> 当</a:t>
            </a:r>
            <a:r>
              <a:rPr lang="el-GR" altLang="zh-CN" sz="1400" i="1" dirty="0">
                <a:solidFill>
                  <a:srgbClr val="6600FF"/>
                </a:solidFill>
                <a:latin typeface="方正粗黑宋简体" pitchFamily="2" charset="-122"/>
                <a:ea typeface="方正粗黑宋简体" pitchFamily="2" charset="-122"/>
              </a:rPr>
              <a:t>υ</a:t>
            </a:r>
            <a:r>
              <a:rPr lang="en-US" altLang="zh-CN" sz="1400" baseline="-25000" dirty="0" err="1">
                <a:solidFill>
                  <a:srgbClr val="6600FF"/>
                </a:solidFill>
                <a:latin typeface="方正粗黑宋简体" pitchFamily="2" charset="-122"/>
                <a:ea typeface="方正粗黑宋简体" pitchFamily="2" charset="-122"/>
              </a:rPr>
              <a:t>i</a:t>
            </a:r>
            <a:r>
              <a:rPr lang="en-US" altLang="zh-CN" sz="1400" dirty="0">
                <a:solidFill>
                  <a:srgbClr val="6600FF"/>
                </a:solidFill>
                <a:latin typeface="方正粗黑宋简体" pitchFamily="2" charset="-122"/>
                <a:ea typeface="方正粗黑宋简体" pitchFamily="2" charset="-122"/>
              </a:rPr>
              <a:t> = 0V</a:t>
            </a:r>
            <a:r>
              <a:rPr lang="zh-CN" altLang="en-US" sz="1400" dirty="0">
                <a:solidFill>
                  <a:srgbClr val="6600FF"/>
                </a:solidFill>
                <a:latin typeface="方正粗黑宋简体" pitchFamily="2" charset="-122"/>
                <a:ea typeface="方正粗黑宋简体" pitchFamily="2" charset="-122"/>
              </a:rPr>
              <a:t>时</a:t>
            </a:r>
            <a:r>
              <a:rPr kumimoji="1" lang="zh-CN" altLang="en-US" sz="1400" kern="0" dirty="0">
                <a:latin typeface="Times New Roman" pitchFamily="18" charset="0"/>
                <a:ea typeface="黑体" pitchFamily="49" charset="-122"/>
                <a:cs typeface="Times New Roman" pitchFamily="18" charset="0"/>
              </a:rPr>
              <a:t>：</a:t>
            </a:r>
            <a:r>
              <a:rPr lang="el-GR" altLang="zh-CN" sz="1400" i="1" kern="0" dirty="0">
                <a:latin typeface="Times New Roman" pitchFamily="18" charset="0"/>
                <a:ea typeface="黑体" pitchFamily="49" charset="-122"/>
                <a:cs typeface="Times New Roman" pitchFamily="18" charset="0"/>
              </a:rPr>
              <a:t> υ</a:t>
            </a:r>
            <a:r>
              <a:rPr lang="en-US" altLang="zh-CN" sz="1400" kern="0" baseline="-25000" dirty="0">
                <a:latin typeface="Times New Roman" pitchFamily="18" charset="0"/>
                <a:ea typeface="黑体" pitchFamily="49" charset="-122"/>
                <a:cs typeface="Times New Roman" pitchFamily="18" charset="0"/>
              </a:rPr>
              <a:t>GSN</a:t>
            </a:r>
            <a:r>
              <a:rPr kumimoji="1" lang="en-US" altLang="zh-CN" sz="1400" kern="0" baseline="-25000" dirty="0">
                <a:latin typeface="Times New Roman" pitchFamily="18" charset="0"/>
                <a:ea typeface="黑体" pitchFamily="49" charset="-122"/>
                <a:cs typeface="Times New Roman" pitchFamily="18" charset="0"/>
              </a:rPr>
              <a:t> </a:t>
            </a:r>
            <a:r>
              <a:rPr kumimoji="1" lang="en-US" altLang="zh-CN" sz="1400" kern="0" dirty="0">
                <a:latin typeface="Times New Roman" pitchFamily="18" charset="0"/>
                <a:ea typeface="黑体" pitchFamily="49" charset="-122"/>
                <a:cs typeface="Times New Roman" pitchFamily="18" charset="0"/>
              </a:rPr>
              <a:t>= 0&lt;</a:t>
            </a:r>
            <a:r>
              <a:rPr kumimoji="1" lang="en-US" altLang="zh-CN" sz="1400" i="1" kern="0" dirty="0">
                <a:latin typeface="Times New Roman" pitchFamily="18" charset="0"/>
                <a:ea typeface="黑体" pitchFamily="49" charset="-122"/>
                <a:cs typeface="Times New Roman" pitchFamily="18" charset="0"/>
              </a:rPr>
              <a:t> V</a:t>
            </a:r>
            <a:r>
              <a:rPr kumimoji="1" lang="en-US" altLang="zh-CN" sz="1400" kern="0" baseline="-25000" dirty="0">
                <a:latin typeface="Times New Roman" pitchFamily="18" charset="0"/>
                <a:ea typeface="黑体" pitchFamily="49" charset="-122"/>
                <a:cs typeface="Times New Roman" pitchFamily="18" charset="0"/>
              </a:rPr>
              <a:t>TN</a:t>
            </a:r>
            <a:r>
              <a:rPr kumimoji="1" lang="zh-CN" altLang="en-US" sz="1400" kern="0" dirty="0">
                <a:latin typeface="Times New Roman" pitchFamily="18" charset="0"/>
                <a:ea typeface="黑体" pitchFamily="49" charset="-122"/>
                <a:cs typeface="Times New Roman" pitchFamily="18" charset="0"/>
              </a:rPr>
              <a:t>，</a:t>
            </a:r>
            <a:r>
              <a:rPr kumimoji="1" lang="en-US" altLang="zh-CN" sz="1400" kern="0" dirty="0">
                <a:latin typeface="Times New Roman" pitchFamily="18" charset="0"/>
                <a:ea typeface="黑体" pitchFamily="49" charset="-122"/>
                <a:cs typeface="Times New Roman" pitchFamily="18" charset="0"/>
              </a:rPr>
              <a:t>TN</a:t>
            </a:r>
            <a:r>
              <a:rPr kumimoji="1" lang="zh-CN" altLang="en-US" sz="1400" kern="0" dirty="0">
                <a:latin typeface="Times New Roman" pitchFamily="18" charset="0"/>
                <a:ea typeface="黑体" pitchFamily="49" charset="-122"/>
                <a:cs typeface="Times New Roman" pitchFamily="18" charset="0"/>
              </a:rPr>
              <a:t>截止；</a:t>
            </a:r>
            <a:r>
              <a:rPr kumimoji="1" lang="en-US" altLang="zh-CN" sz="1400" i="1" kern="0" dirty="0">
                <a:latin typeface="Times New Roman" pitchFamily="18" charset="0"/>
                <a:ea typeface="黑体" pitchFamily="49" charset="-122"/>
                <a:cs typeface="Times New Roman" pitchFamily="18" charset="0"/>
              </a:rPr>
              <a:t> </a:t>
            </a:r>
            <a:r>
              <a:rPr lang="el-GR" altLang="zh-CN" sz="1400" i="1" kern="0" dirty="0">
                <a:latin typeface="Times New Roman" pitchFamily="18" charset="0"/>
                <a:ea typeface="黑体" pitchFamily="49" charset="-122"/>
                <a:cs typeface="Times New Roman" pitchFamily="18" charset="0"/>
              </a:rPr>
              <a:t>υ</a:t>
            </a:r>
            <a:r>
              <a:rPr lang="en-US" altLang="zh-CN" sz="1400" kern="0" baseline="-25000" dirty="0">
                <a:latin typeface="Times New Roman" pitchFamily="18" charset="0"/>
                <a:ea typeface="黑体" pitchFamily="49" charset="-122"/>
                <a:cs typeface="Times New Roman" pitchFamily="18" charset="0"/>
              </a:rPr>
              <a:t>GSP</a:t>
            </a:r>
            <a:r>
              <a:rPr kumimoji="1" lang="en-US" altLang="zh-CN" sz="1400" kern="0" baseline="-25000" dirty="0">
                <a:latin typeface="Times New Roman" pitchFamily="18" charset="0"/>
                <a:ea typeface="黑体" pitchFamily="49" charset="-122"/>
                <a:cs typeface="Times New Roman" pitchFamily="18" charset="0"/>
              </a:rPr>
              <a:t> </a:t>
            </a:r>
            <a:r>
              <a:rPr kumimoji="1" lang="en-US" altLang="zh-CN" sz="1400" kern="0" dirty="0">
                <a:latin typeface="Times New Roman" pitchFamily="18" charset="0"/>
                <a:ea typeface="黑体" pitchFamily="49" charset="-122"/>
                <a:cs typeface="Times New Roman" pitchFamily="18" charset="0"/>
              </a:rPr>
              <a:t>=-</a:t>
            </a:r>
            <a:r>
              <a:rPr kumimoji="1" lang="en-US" altLang="zh-CN" sz="1400" i="1" kern="0" dirty="0">
                <a:latin typeface="Times New Roman" pitchFamily="18" charset="0"/>
                <a:ea typeface="黑体" pitchFamily="49" charset="-122"/>
                <a:cs typeface="Times New Roman" pitchFamily="18" charset="0"/>
              </a:rPr>
              <a:t>V</a:t>
            </a:r>
            <a:r>
              <a:rPr kumimoji="1" lang="en-US" altLang="zh-CN" sz="1400" kern="0" baseline="-25000" dirty="0">
                <a:latin typeface="Times New Roman" pitchFamily="18" charset="0"/>
                <a:ea typeface="黑体" pitchFamily="49" charset="-122"/>
                <a:cs typeface="Times New Roman" pitchFamily="18" charset="0"/>
              </a:rPr>
              <a:t>DD</a:t>
            </a:r>
            <a:r>
              <a:rPr kumimoji="1" lang="en-US" altLang="zh-CN" sz="1400" kern="0" dirty="0">
                <a:latin typeface="Times New Roman" pitchFamily="18" charset="0"/>
                <a:ea typeface="黑体" pitchFamily="49" charset="-122"/>
                <a:cs typeface="Times New Roman" pitchFamily="18" charset="0"/>
              </a:rPr>
              <a:t>&lt;</a:t>
            </a:r>
            <a:r>
              <a:rPr kumimoji="1" lang="en-US" altLang="zh-CN" sz="1400" i="1" kern="0" dirty="0">
                <a:latin typeface="Times New Roman" pitchFamily="18" charset="0"/>
                <a:ea typeface="黑体" pitchFamily="49" charset="-122"/>
                <a:cs typeface="Times New Roman" pitchFamily="18" charset="0"/>
              </a:rPr>
              <a:t> V</a:t>
            </a:r>
            <a:r>
              <a:rPr kumimoji="1" lang="en-US" altLang="zh-CN" sz="1400" kern="0" baseline="-25000" dirty="0">
                <a:latin typeface="Times New Roman" pitchFamily="18" charset="0"/>
                <a:ea typeface="黑体" pitchFamily="49" charset="-122"/>
                <a:cs typeface="Times New Roman" pitchFamily="18" charset="0"/>
              </a:rPr>
              <a:t>TP</a:t>
            </a:r>
            <a:r>
              <a:rPr kumimoji="1" lang="zh-CN" altLang="en-US" sz="1400" kern="0" dirty="0">
                <a:latin typeface="Times New Roman" pitchFamily="18" charset="0"/>
                <a:ea typeface="黑体" pitchFamily="49" charset="-122"/>
                <a:cs typeface="Times New Roman" pitchFamily="18" charset="0"/>
              </a:rPr>
              <a:t> ，</a:t>
            </a:r>
            <a:r>
              <a:rPr lang="el-GR" altLang="zh-CN" sz="1400" i="1" kern="0" dirty="0">
                <a:latin typeface="Times New Roman" pitchFamily="18" charset="0"/>
                <a:ea typeface="黑体" pitchFamily="49" charset="-122"/>
                <a:cs typeface="Times New Roman" pitchFamily="18" charset="0"/>
              </a:rPr>
              <a:t> </a:t>
            </a:r>
            <a:r>
              <a:rPr kumimoji="1" lang="en-US" altLang="zh-CN" sz="1400" kern="0" dirty="0">
                <a:latin typeface="Times New Roman" pitchFamily="18" charset="0"/>
                <a:ea typeface="黑体" pitchFamily="49" charset="-122"/>
                <a:cs typeface="Times New Roman" pitchFamily="18" charset="0"/>
              </a:rPr>
              <a:t>TP</a:t>
            </a:r>
            <a:r>
              <a:rPr kumimoji="1" lang="zh-CN" altLang="en-US" sz="1400" kern="0" dirty="0">
                <a:latin typeface="Times New Roman" pitchFamily="18" charset="0"/>
                <a:ea typeface="黑体" pitchFamily="49" charset="-122"/>
                <a:cs typeface="Times New Roman" pitchFamily="18" charset="0"/>
              </a:rPr>
              <a:t>导通。</a:t>
            </a:r>
            <a:endParaRPr kumimoji="1" lang="en-US" altLang="zh-CN" sz="1400" kern="0" dirty="0">
              <a:latin typeface="Times New Roman" pitchFamily="18" charset="0"/>
              <a:ea typeface="黑体" pitchFamily="49" charset="-122"/>
              <a:cs typeface="Times New Roman" pitchFamily="18" charset="0"/>
            </a:endParaRPr>
          </a:p>
          <a:p>
            <a:pPr>
              <a:lnSpc>
                <a:spcPct val="125000"/>
              </a:lnSpc>
              <a:defRPr/>
            </a:pPr>
            <a:r>
              <a:rPr kumimoji="1" lang="en-US" altLang="zh-CN" sz="1400" kern="0" dirty="0">
                <a:latin typeface="Times New Roman" pitchFamily="18" charset="0"/>
                <a:ea typeface="黑体" pitchFamily="49" charset="-122"/>
                <a:cs typeface="Times New Roman" pitchFamily="18" charset="0"/>
              </a:rPr>
              <a:t>                                </a:t>
            </a:r>
            <a:r>
              <a:rPr kumimoji="1" lang="zh-CN" altLang="en-US" sz="1400" kern="0" dirty="0">
                <a:latin typeface="Times New Roman" pitchFamily="18" charset="0"/>
                <a:ea typeface="黑体" pitchFamily="49" charset="-122"/>
                <a:cs typeface="Times New Roman" pitchFamily="18" charset="0"/>
              </a:rPr>
              <a:t>输出</a:t>
            </a:r>
            <a:r>
              <a:rPr lang="el-GR" altLang="zh-CN" sz="1400" i="1" kern="0" dirty="0">
                <a:latin typeface="Times New Roman" pitchFamily="18" charset="0"/>
                <a:ea typeface="黑体" pitchFamily="49" charset="-122"/>
                <a:cs typeface="Times New Roman" pitchFamily="18" charset="0"/>
              </a:rPr>
              <a:t>υ</a:t>
            </a:r>
            <a:r>
              <a:rPr kumimoji="1" lang="en-US" altLang="zh-CN" sz="1400" kern="0" baseline="-25000" dirty="0">
                <a:latin typeface="Times New Roman" pitchFamily="18" charset="0"/>
                <a:ea typeface="黑体" pitchFamily="49" charset="-122"/>
                <a:cs typeface="Times New Roman" pitchFamily="18" charset="0"/>
              </a:rPr>
              <a:t>O</a:t>
            </a:r>
            <a:r>
              <a:rPr kumimoji="1" lang="en-US" altLang="zh-CN" sz="1400" kern="0" dirty="0">
                <a:latin typeface="Times New Roman" pitchFamily="18" charset="0"/>
                <a:ea typeface="黑体" pitchFamily="49" charset="-122"/>
                <a:cs typeface="Times New Roman" pitchFamily="18" charset="0"/>
              </a:rPr>
              <a:t>≈</a:t>
            </a:r>
            <a:r>
              <a:rPr kumimoji="1" lang="en-US" altLang="zh-CN" sz="1400" i="1" kern="0" dirty="0">
                <a:latin typeface="Times New Roman" pitchFamily="18" charset="0"/>
                <a:ea typeface="黑体" pitchFamily="49" charset="-122"/>
                <a:cs typeface="Times New Roman" pitchFamily="18" charset="0"/>
              </a:rPr>
              <a:t>V</a:t>
            </a:r>
            <a:r>
              <a:rPr kumimoji="1" lang="en-US" altLang="zh-CN" sz="1400" kern="0" baseline="-25000" dirty="0">
                <a:latin typeface="Times New Roman" pitchFamily="18" charset="0"/>
                <a:ea typeface="黑体" pitchFamily="49" charset="-122"/>
                <a:cs typeface="Times New Roman" pitchFamily="18" charset="0"/>
              </a:rPr>
              <a:t>DD</a:t>
            </a:r>
            <a:r>
              <a:rPr kumimoji="1" lang="zh-CN" altLang="en-US" sz="1400" kern="0" dirty="0">
                <a:latin typeface="Times New Roman" pitchFamily="18" charset="0"/>
                <a:ea typeface="黑体" pitchFamily="49" charset="-122"/>
                <a:cs typeface="Times New Roman" pitchFamily="18" charset="0"/>
              </a:rPr>
              <a:t> 。</a:t>
            </a:r>
          </a:p>
        </p:txBody>
      </p:sp>
      <p:grpSp>
        <p:nvGrpSpPr>
          <p:cNvPr id="41" name="组合 40"/>
          <p:cNvGrpSpPr/>
          <p:nvPr/>
        </p:nvGrpSpPr>
        <p:grpSpPr>
          <a:xfrm>
            <a:off x="6156960" y="766250"/>
            <a:ext cx="1785620" cy="2304610"/>
            <a:chOff x="6156960" y="766250"/>
            <a:chExt cx="1785620" cy="2304610"/>
          </a:xfrm>
        </p:grpSpPr>
        <p:grpSp>
          <p:nvGrpSpPr>
            <p:cNvPr id="26" name="组合 25"/>
            <p:cNvGrpSpPr/>
            <p:nvPr/>
          </p:nvGrpSpPr>
          <p:grpSpPr>
            <a:xfrm>
              <a:off x="6156960" y="766250"/>
              <a:ext cx="1706880" cy="841568"/>
              <a:chOff x="6156960" y="766250"/>
              <a:chExt cx="1706880" cy="841568"/>
            </a:xfrm>
          </p:grpSpPr>
          <p:cxnSp>
            <p:nvCxnSpPr>
              <p:cNvPr id="45" name="直接箭头连接符 44"/>
              <p:cNvCxnSpPr/>
              <p:nvPr/>
            </p:nvCxnSpPr>
            <p:spPr bwMode="auto">
              <a:xfrm rot="10800000" flipV="1">
                <a:off x="7368540" y="1150619"/>
                <a:ext cx="495300" cy="457199"/>
              </a:xfrm>
              <a:prstGeom prst="straightConnector1">
                <a:avLst/>
              </a:prstGeom>
              <a:noFill/>
              <a:ln w="28575" cap="flat" cmpd="sng" algn="ctr">
                <a:solidFill>
                  <a:srgbClr val="0000FF"/>
                </a:solidFill>
                <a:prstDash val="solid"/>
                <a:round/>
                <a:headEnd type="none" w="med" len="med"/>
                <a:tailEnd type="arrow"/>
              </a:ln>
              <a:effectLst/>
            </p:spPr>
          </p:cxnSp>
          <p:sp>
            <p:nvSpPr>
              <p:cNvPr id="24" name="AutoShape 134"/>
              <p:cNvSpPr>
                <a:spLocks noChangeArrowheads="1"/>
              </p:cNvSpPr>
              <p:nvPr/>
            </p:nvSpPr>
            <p:spPr bwMode="auto">
              <a:xfrm>
                <a:off x="6156960" y="766250"/>
                <a:ext cx="1072321" cy="590110"/>
              </a:xfrm>
              <a:prstGeom prst="wedgeRoundRectCallout">
                <a:avLst>
                  <a:gd name="adj1" fmla="val 71797"/>
                  <a:gd name="adj2" fmla="val 66841"/>
                  <a:gd name="adj3" fmla="val 16667"/>
                </a:avLst>
              </a:prstGeom>
              <a:solidFill>
                <a:srgbClr val="FFFF99"/>
              </a:solidFill>
              <a:ln w="19050">
                <a:solidFill>
                  <a:srgbClr val="FF00FF"/>
                </a:solid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spcBef>
                    <a:spcPts val="600"/>
                  </a:spcBef>
                </a:pPr>
                <a:r>
                  <a:rPr lang="el-GR" altLang="zh-CN" sz="1600" i="1" kern="0" dirty="0">
                    <a:latin typeface="Times New Roman" pitchFamily="18" charset="0"/>
                    <a:ea typeface="黑体" pitchFamily="49" charset="-122"/>
                    <a:cs typeface="Times New Roman" pitchFamily="18" charset="0"/>
                  </a:rPr>
                  <a:t>υ</a:t>
                </a:r>
                <a:r>
                  <a:rPr lang="en-US" altLang="zh-CN" sz="1600" kern="0" baseline="-25000" dirty="0">
                    <a:latin typeface="Times New Roman" pitchFamily="18" charset="0"/>
                    <a:ea typeface="黑体" pitchFamily="49" charset="-122"/>
                    <a:cs typeface="Times New Roman" pitchFamily="18" charset="0"/>
                  </a:rPr>
                  <a:t>GSP</a:t>
                </a:r>
                <a:r>
                  <a:rPr kumimoji="1" lang="en-US" altLang="zh-CN" sz="1600" i="1" kern="0" dirty="0">
                    <a:latin typeface="Times New Roman" pitchFamily="18" charset="0"/>
                    <a:ea typeface="黑体" pitchFamily="49" charset="-122"/>
                    <a:cs typeface="Times New Roman" pitchFamily="18" charset="0"/>
                  </a:rPr>
                  <a:t> =-V</a:t>
                </a:r>
                <a:r>
                  <a:rPr kumimoji="1" lang="en-US" altLang="zh-CN" sz="1600" kern="0" baseline="-25000" dirty="0">
                    <a:latin typeface="Times New Roman" pitchFamily="18" charset="0"/>
                    <a:ea typeface="黑体" pitchFamily="49" charset="-122"/>
                    <a:cs typeface="Times New Roman" pitchFamily="18" charset="0"/>
                  </a:rPr>
                  <a:t>DD</a:t>
                </a:r>
              </a:p>
              <a:p>
                <a:pPr algn="ctr">
                  <a:spcBef>
                    <a:spcPts val="600"/>
                  </a:spcBef>
                </a:pPr>
                <a:r>
                  <a:rPr kumimoji="1" lang="zh-CN" altLang="en-US" sz="1600" kern="0" dirty="0">
                    <a:latin typeface="方正大黑简体" pitchFamily="2" charset="-122"/>
                    <a:ea typeface="方正大黑简体" pitchFamily="2" charset="-122"/>
                    <a:cs typeface="Times New Roman" pitchFamily="18" charset="0"/>
                  </a:rPr>
                  <a:t>导  通</a:t>
                </a:r>
                <a:endParaRPr lang="en-US" altLang="zh-CN" sz="1600" dirty="0">
                  <a:solidFill>
                    <a:schemeClr val="tx1"/>
                  </a:solidFill>
                  <a:latin typeface="方正大黑简体" pitchFamily="2" charset="-122"/>
                  <a:ea typeface="方正大黑简体" pitchFamily="2" charset="-122"/>
                </a:endParaRPr>
              </a:p>
            </p:txBody>
          </p:sp>
        </p:grpSp>
        <p:grpSp>
          <p:nvGrpSpPr>
            <p:cNvPr id="27" name="组合 26"/>
            <p:cNvGrpSpPr/>
            <p:nvPr/>
          </p:nvGrpSpPr>
          <p:grpSpPr>
            <a:xfrm>
              <a:off x="6304280" y="2263139"/>
              <a:ext cx="1638300" cy="807721"/>
              <a:chOff x="6240780" y="2644139"/>
              <a:chExt cx="1638300" cy="807721"/>
            </a:xfrm>
          </p:grpSpPr>
          <p:cxnSp>
            <p:nvCxnSpPr>
              <p:cNvPr id="57" name="直接箭头连接符 56"/>
              <p:cNvCxnSpPr/>
              <p:nvPr/>
            </p:nvCxnSpPr>
            <p:spPr bwMode="auto">
              <a:xfrm rot="10800000" flipH="1" flipV="1">
                <a:off x="7383780" y="2644139"/>
                <a:ext cx="495300" cy="457199"/>
              </a:xfrm>
              <a:prstGeom prst="straightConnector1">
                <a:avLst/>
              </a:prstGeom>
              <a:noFill/>
              <a:ln w="28575" cap="flat" cmpd="sng" algn="ctr">
                <a:solidFill>
                  <a:srgbClr val="0000FF"/>
                </a:solidFill>
                <a:prstDash val="solid"/>
                <a:round/>
                <a:headEnd type="none" w="med" len="med"/>
                <a:tailEnd type="none" w="med" len="med"/>
              </a:ln>
              <a:effectLst/>
            </p:spPr>
          </p:cxnSp>
          <p:sp>
            <p:nvSpPr>
              <p:cNvPr id="25" name="AutoShape 134"/>
              <p:cNvSpPr>
                <a:spLocks noChangeArrowheads="1"/>
              </p:cNvSpPr>
              <p:nvPr/>
            </p:nvSpPr>
            <p:spPr bwMode="auto">
              <a:xfrm>
                <a:off x="6240780" y="2861750"/>
                <a:ext cx="1072321" cy="590110"/>
              </a:xfrm>
              <a:prstGeom prst="wedgeRoundRectCallout">
                <a:avLst>
                  <a:gd name="adj1" fmla="val 63980"/>
                  <a:gd name="adj2" fmla="val -58414"/>
                  <a:gd name="adj3" fmla="val 16667"/>
                </a:avLst>
              </a:prstGeom>
              <a:solidFill>
                <a:srgbClr val="FFFF99"/>
              </a:solidFill>
              <a:ln w="19050">
                <a:solidFill>
                  <a:srgbClr val="FF00FF"/>
                </a:solid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spcBef>
                    <a:spcPts val="600"/>
                  </a:spcBef>
                </a:pPr>
                <a:r>
                  <a:rPr lang="el-GR" altLang="zh-CN" sz="1600" i="1" kern="0" dirty="0">
                    <a:latin typeface="Times New Roman" pitchFamily="18" charset="0"/>
                    <a:ea typeface="黑体" pitchFamily="49" charset="-122"/>
                    <a:cs typeface="Times New Roman" pitchFamily="18" charset="0"/>
                  </a:rPr>
                  <a:t>υ</a:t>
                </a:r>
                <a:r>
                  <a:rPr lang="en-US" altLang="zh-CN" sz="1600" kern="0" baseline="-25000" dirty="0">
                    <a:latin typeface="Times New Roman" pitchFamily="18" charset="0"/>
                    <a:ea typeface="黑体" pitchFamily="49" charset="-122"/>
                    <a:cs typeface="Times New Roman" pitchFamily="18" charset="0"/>
                  </a:rPr>
                  <a:t>GSN</a:t>
                </a:r>
                <a:r>
                  <a:rPr lang="en-US" altLang="zh-CN" sz="1600" kern="0" dirty="0">
                    <a:latin typeface="Times New Roman" pitchFamily="18" charset="0"/>
                    <a:ea typeface="黑体" pitchFamily="49" charset="-122"/>
                    <a:cs typeface="Times New Roman" pitchFamily="18" charset="0"/>
                  </a:rPr>
                  <a:t>=</a:t>
                </a:r>
                <a:r>
                  <a:rPr kumimoji="1" lang="en-US" altLang="zh-CN" sz="1600" i="1" kern="0" dirty="0">
                    <a:latin typeface="Times New Roman" pitchFamily="18" charset="0"/>
                    <a:ea typeface="黑体" pitchFamily="49" charset="-122"/>
                    <a:cs typeface="Times New Roman" pitchFamily="18" charset="0"/>
                  </a:rPr>
                  <a:t> </a:t>
                </a:r>
                <a:r>
                  <a:rPr kumimoji="1" lang="en-US" altLang="zh-CN" sz="1600" kern="0" dirty="0">
                    <a:latin typeface="Times New Roman" pitchFamily="18" charset="0"/>
                    <a:ea typeface="黑体" pitchFamily="49" charset="-122"/>
                    <a:cs typeface="Times New Roman" pitchFamily="18" charset="0"/>
                  </a:rPr>
                  <a:t>0</a:t>
                </a:r>
                <a:endParaRPr kumimoji="1" lang="en-US" altLang="zh-CN" sz="1600" kern="0" baseline="-25000" dirty="0">
                  <a:latin typeface="Times New Roman" pitchFamily="18" charset="0"/>
                  <a:ea typeface="黑体" pitchFamily="49" charset="-122"/>
                  <a:cs typeface="Times New Roman" pitchFamily="18" charset="0"/>
                </a:endParaRPr>
              </a:p>
              <a:p>
                <a:pPr algn="ctr">
                  <a:spcBef>
                    <a:spcPts val="600"/>
                  </a:spcBef>
                </a:pPr>
                <a:r>
                  <a:rPr lang="zh-CN" altLang="en-US" sz="1600" dirty="0">
                    <a:solidFill>
                      <a:schemeClr val="tx1"/>
                    </a:solidFill>
                    <a:latin typeface="方正粗黑宋简体" pitchFamily="2" charset="-122"/>
                    <a:ea typeface="方正粗黑宋简体" pitchFamily="2" charset="-122"/>
                  </a:rPr>
                  <a:t>截  止</a:t>
                </a:r>
                <a:endParaRPr lang="en-US" altLang="zh-CN" sz="1600" dirty="0">
                  <a:solidFill>
                    <a:schemeClr val="tx1"/>
                  </a:solidFill>
                  <a:latin typeface="方正粗黑宋简体" pitchFamily="2" charset="-122"/>
                  <a:ea typeface="方正粗黑宋简体" pitchFamily="2" charset="-122"/>
                </a:endParaRPr>
              </a:p>
            </p:txBody>
          </p:sp>
        </p:grpSp>
      </p:grpSp>
      <p:sp>
        <p:nvSpPr>
          <p:cNvPr id="28" name="矩形 27"/>
          <p:cNvSpPr/>
          <p:nvPr/>
        </p:nvSpPr>
        <p:spPr>
          <a:xfrm>
            <a:off x="496897" y="4256946"/>
            <a:ext cx="5671493" cy="603563"/>
          </a:xfrm>
          <a:prstGeom prst="rect">
            <a:avLst/>
          </a:prstGeom>
        </p:spPr>
        <p:txBody>
          <a:bodyPr wrap="square">
            <a:spAutoFit/>
          </a:bodyPr>
          <a:lstStyle/>
          <a:p>
            <a:pPr>
              <a:lnSpc>
                <a:spcPct val="125000"/>
              </a:lnSpc>
              <a:buFont typeface="Wingdings" pitchFamily="2" charset="2"/>
              <a:buChar char="Ø"/>
              <a:defRPr/>
            </a:pPr>
            <a:r>
              <a:rPr lang="zh-CN" altLang="en-US" sz="1400" dirty="0">
                <a:solidFill>
                  <a:srgbClr val="6600FF"/>
                </a:solidFill>
                <a:latin typeface="方正粗黑宋简体" pitchFamily="2" charset="-122"/>
                <a:ea typeface="方正粗黑宋简体" pitchFamily="2" charset="-122"/>
              </a:rPr>
              <a:t> 当</a:t>
            </a:r>
            <a:r>
              <a:rPr lang="el-GR" altLang="zh-CN" sz="1400" i="1" dirty="0">
                <a:solidFill>
                  <a:srgbClr val="6600FF"/>
                </a:solidFill>
                <a:latin typeface="方正粗黑宋简体" pitchFamily="2" charset="-122"/>
                <a:ea typeface="方正粗黑宋简体" pitchFamily="2" charset="-122"/>
              </a:rPr>
              <a:t>υ</a:t>
            </a:r>
            <a:r>
              <a:rPr lang="en-US" altLang="zh-CN" sz="1400" baseline="-25000" dirty="0" err="1">
                <a:solidFill>
                  <a:srgbClr val="6600FF"/>
                </a:solidFill>
                <a:latin typeface="方正粗黑宋简体" pitchFamily="2" charset="-122"/>
                <a:ea typeface="方正粗黑宋简体" pitchFamily="2" charset="-122"/>
              </a:rPr>
              <a:t>i</a:t>
            </a:r>
            <a:r>
              <a:rPr lang="en-US" altLang="zh-CN" sz="1400" dirty="0">
                <a:solidFill>
                  <a:srgbClr val="6600FF"/>
                </a:solidFill>
                <a:latin typeface="方正粗黑宋简体" pitchFamily="2" charset="-122"/>
                <a:ea typeface="方正粗黑宋简体" pitchFamily="2" charset="-122"/>
              </a:rPr>
              <a:t>=</a:t>
            </a:r>
            <a:r>
              <a:rPr lang="en-US" altLang="zh-CN" sz="1400" i="1" dirty="0">
                <a:solidFill>
                  <a:srgbClr val="6600FF"/>
                </a:solidFill>
                <a:latin typeface="方正粗黑宋简体" pitchFamily="2" charset="-122"/>
                <a:ea typeface="方正粗黑宋简体" pitchFamily="2" charset="-122"/>
              </a:rPr>
              <a:t>V</a:t>
            </a:r>
            <a:r>
              <a:rPr lang="en-US" altLang="zh-CN" sz="1400" baseline="-25000" dirty="0">
                <a:solidFill>
                  <a:srgbClr val="6600FF"/>
                </a:solidFill>
                <a:latin typeface="方正粗黑宋简体" pitchFamily="2" charset="-122"/>
                <a:ea typeface="方正粗黑宋简体" pitchFamily="2" charset="-122"/>
              </a:rPr>
              <a:t>DD</a:t>
            </a:r>
            <a:r>
              <a:rPr lang="zh-CN" altLang="en-US" sz="1400" dirty="0">
                <a:solidFill>
                  <a:srgbClr val="6600FF"/>
                </a:solidFill>
                <a:latin typeface="方正粗黑宋简体" pitchFamily="2" charset="-122"/>
                <a:ea typeface="方正粗黑宋简体" pitchFamily="2" charset="-122"/>
              </a:rPr>
              <a:t>时</a:t>
            </a:r>
            <a:r>
              <a:rPr kumimoji="1" lang="zh-CN" altLang="en-US" sz="1400" kern="0" dirty="0">
                <a:latin typeface="Times New Roman" pitchFamily="18" charset="0"/>
                <a:ea typeface="黑体" pitchFamily="49" charset="-122"/>
                <a:cs typeface="Times New Roman" pitchFamily="18" charset="0"/>
              </a:rPr>
              <a:t>：</a:t>
            </a:r>
            <a:r>
              <a:rPr lang="el-GR" altLang="zh-CN" sz="1400" i="1" kern="0" dirty="0">
                <a:latin typeface="Times New Roman" pitchFamily="18" charset="0"/>
                <a:ea typeface="黑体" pitchFamily="49" charset="-122"/>
                <a:cs typeface="Times New Roman" pitchFamily="18" charset="0"/>
              </a:rPr>
              <a:t> υ</a:t>
            </a:r>
            <a:r>
              <a:rPr lang="en-US" altLang="zh-CN" sz="1400" kern="0" baseline="-25000" dirty="0">
                <a:latin typeface="Times New Roman" pitchFamily="18" charset="0"/>
                <a:ea typeface="黑体" pitchFamily="49" charset="-122"/>
                <a:cs typeface="Times New Roman" pitchFamily="18" charset="0"/>
              </a:rPr>
              <a:t>GSN</a:t>
            </a:r>
            <a:r>
              <a:rPr kumimoji="1" lang="en-US" altLang="zh-CN" sz="1400" kern="0" baseline="-25000" dirty="0">
                <a:latin typeface="Times New Roman" pitchFamily="18" charset="0"/>
                <a:ea typeface="黑体" pitchFamily="49" charset="-122"/>
                <a:cs typeface="Times New Roman" pitchFamily="18" charset="0"/>
              </a:rPr>
              <a:t> </a:t>
            </a:r>
            <a:r>
              <a:rPr kumimoji="1" lang="en-US" altLang="zh-CN" sz="1400" kern="0" dirty="0">
                <a:latin typeface="Times New Roman" pitchFamily="18" charset="0"/>
                <a:ea typeface="黑体" pitchFamily="49" charset="-122"/>
                <a:cs typeface="Times New Roman" pitchFamily="18" charset="0"/>
              </a:rPr>
              <a:t>= 0 &gt;</a:t>
            </a:r>
            <a:r>
              <a:rPr kumimoji="1" lang="en-US" altLang="zh-CN" sz="1400" i="1" kern="0" dirty="0">
                <a:latin typeface="Times New Roman" pitchFamily="18" charset="0"/>
                <a:ea typeface="黑体" pitchFamily="49" charset="-122"/>
                <a:cs typeface="Times New Roman" pitchFamily="18" charset="0"/>
              </a:rPr>
              <a:t> V</a:t>
            </a:r>
            <a:r>
              <a:rPr kumimoji="1" lang="en-US" altLang="zh-CN" sz="1400" kern="0" baseline="-25000" dirty="0">
                <a:latin typeface="Times New Roman" pitchFamily="18" charset="0"/>
                <a:ea typeface="黑体" pitchFamily="49" charset="-122"/>
                <a:cs typeface="Times New Roman" pitchFamily="18" charset="0"/>
              </a:rPr>
              <a:t>TN</a:t>
            </a:r>
            <a:r>
              <a:rPr kumimoji="1" lang="zh-CN" altLang="en-US" sz="1400" kern="0" dirty="0">
                <a:latin typeface="Times New Roman" pitchFamily="18" charset="0"/>
                <a:ea typeface="黑体" pitchFamily="49" charset="-122"/>
                <a:cs typeface="Times New Roman" pitchFamily="18" charset="0"/>
              </a:rPr>
              <a:t>，</a:t>
            </a:r>
            <a:r>
              <a:rPr kumimoji="1" lang="en-US" altLang="zh-CN" sz="1400" kern="0" dirty="0">
                <a:latin typeface="Times New Roman" pitchFamily="18" charset="0"/>
                <a:ea typeface="黑体" pitchFamily="49" charset="-122"/>
                <a:cs typeface="Times New Roman" pitchFamily="18" charset="0"/>
              </a:rPr>
              <a:t>TN</a:t>
            </a:r>
            <a:r>
              <a:rPr kumimoji="1" lang="zh-CN" altLang="en-US" sz="1400" kern="0" dirty="0">
                <a:latin typeface="Times New Roman" pitchFamily="18" charset="0"/>
                <a:ea typeface="黑体" pitchFamily="49" charset="-122"/>
                <a:cs typeface="Times New Roman" pitchFamily="18" charset="0"/>
              </a:rPr>
              <a:t>导通；</a:t>
            </a:r>
            <a:r>
              <a:rPr lang="en-US" altLang="zh-CN" sz="1400" i="1" kern="0" dirty="0">
                <a:latin typeface="Times New Roman" pitchFamily="18" charset="0"/>
                <a:ea typeface="黑体" pitchFamily="49" charset="-122"/>
                <a:cs typeface="Times New Roman" pitchFamily="18" charset="0"/>
              </a:rPr>
              <a:t> </a:t>
            </a:r>
            <a:r>
              <a:rPr lang="el-GR" altLang="zh-CN" sz="1400" i="1" kern="0" dirty="0">
                <a:latin typeface="Times New Roman" pitchFamily="18" charset="0"/>
                <a:ea typeface="黑体" pitchFamily="49" charset="-122"/>
                <a:cs typeface="Times New Roman" pitchFamily="18" charset="0"/>
              </a:rPr>
              <a:t>υ</a:t>
            </a:r>
            <a:r>
              <a:rPr lang="en-US" altLang="zh-CN" sz="1400" kern="0" baseline="-25000" dirty="0">
                <a:latin typeface="Times New Roman" pitchFamily="18" charset="0"/>
                <a:ea typeface="黑体" pitchFamily="49" charset="-122"/>
                <a:cs typeface="Times New Roman" pitchFamily="18" charset="0"/>
              </a:rPr>
              <a:t>GSP</a:t>
            </a:r>
            <a:r>
              <a:rPr kumimoji="1" lang="en-US" altLang="zh-CN" sz="1400" kern="0" baseline="-25000" dirty="0">
                <a:latin typeface="Times New Roman" pitchFamily="18" charset="0"/>
                <a:ea typeface="黑体" pitchFamily="49" charset="-122"/>
                <a:cs typeface="Times New Roman" pitchFamily="18" charset="0"/>
              </a:rPr>
              <a:t> </a:t>
            </a:r>
            <a:r>
              <a:rPr kumimoji="1" lang="en-US" altLang="zh-CN" sz="1400" kern="0" dirty="0">
                <a:latin typeface="Times New Roman" pitchFamily="18" charset="0"/>
                <a:ea typeface="黑体" pitchFamily="49" charset="-122"/>
                <a:cs typeface="Times New Roman" pitchFamily="18" charset="0"/>
              </a:rPr>
              <a:t>= 0 &gt;</a:t>
            </a:r>
            <a:r>
              <a:rPr kumimoji="1" lang="en-US" altLang="zh-CN" sz="1400" i="1" kern="0" dirty="0">
                <a:latin typeface="Times New Roman" pitchFamily="18" charset="0"/>
                <a:ea typeface="黑体" pitchFamily="49" charset="-122"/>
                <a:cs typeface="Times New Roman" pitchFamily="18" charset="0"/>
              </a:rPr>
              <a:t> V</a:t>
            </a:r>
            <a:r>
              <a:rPr kumimoji="1" lang="en-US" altLang="zh-CN" sz="1400" kern="0" baseline="-25000" dirty="0">
                <a:latin typeface="Times New Roman" pitchFamily="18" charset="0"/>
                <a:ea typeface="黑体" pitchFamily="49" charset="-122"/>
                <a:cs typeface="Times New Roman" pitchFamily="18" charset="0"/>
              </a:rPr>
              <a:t>TP</a:t>
            </a:r>
            <a:r>
              <a:rPr kumimoji="1" lang="zh-CN" altLang="en-US" sz="1400" kern="0" dirty="0">
                <a:latin typeface="Times New Roman" pitchFamily="18" charset="0"/>
                <a:ea typeface="黑体" pitchFamily="49" charset="-122"/>
                <a:cs typeface="Times New Roman" pitchFamily="18" charset="0"/>
              </a:rPr>
              <a:t> ，</a:t>
            </a:r>
            <a:r>
              <a:rPr kumimoji="1" lang="en-US" altLang="zh-CN" sz="1400" kern="0" dirty="0">
                <a:latin typeface="Times New Roman" pitchFamily="18" charset="0"/>
                <a:ea typeface="黑体" pitchFamily="49" charset="-122"/>
                <a:cs typeface="Times New Roman" pitchFamily="18" charset="0"/>
              </a:rPr>
              <a:t>TP</a:t>
            </a:r>
            <a:r>
              <a:rPr kumimoji="1" lang="zh-CN" altLang="en-US" sz="1400" kern="0" dirty="0">
                <a:latin typeface="Times New Roman" pitchFamily="18" charset="0"/>
                <a:ea typeface="黑体" pitchFamily="49" charset="-122"/>
                <a:cs typeface="Times New Roman" pitchFamily="18" charset="0"/>
              </a:rPr>
              <a:t>截止。</a:t>
            </a:r>
            <a:endParaRPr kumimoji="1" lang="en-US" altLang="zh-CN" sz="1400" kern="0" dirty="0">
              <a:latin typeface="Times New Roman" pitchFamily="18" charset="0"/>
              <a:ea typeface="黑体" pitchFamily="49" charset="-122"/>
              <a:cs typeface="Times New Roman" pitchFamily="18" charset="0"/>
            </a:endParaRPr>
          </a:p>
          <a:p>
            <a:pPr>
              <a:lnSpc>
                <a:spcPct val="125000"/>
              </a:lnSpc>
              <a:defRPr/>
            </a:pPr>
            <a:r>
              <a:rPr kumimoji="1" lang="en-US" altLang="zh-CN" sz="1400" kern="0" dirty="0">
                <a:latin typeface="Times New Roman" pitchFamily="18" charset="0"/>
                <a:ea typeface="黑体" pitchFamily="49" charset="-122"/>
                <a:cs typeface="Times New Roman" pitchFamily="18" charset="0"/>
              </a:rPr>
              <a:t>                               </a:t>
            </a:r>
            <a:r>
              <a:rPr kumimoji="1" lang="zh-CN" altLang="en-US" sz="1400" kern="0" dirty="0">
                <a:latin typeface="Times New Roman" pitchFamily="18" charset="0"/>
                <a:ea typeface="黑体" pitchFamily="49" charset="-122"/>
                <a:cs typeface="Times New Roman" pitchFamily="18" charset="0"/>
              </a:rPr>
              <a:t>输出</a:t>
            </a:r>
            <a:r>
              <a:rPr lang="el-GR" altLang="zh-CN" sz="1400" i="1" kern="0" dirty="0">
                <a:latin typeface="Times New Roman" pitchFamily="18" charset="0"/>
                <a:ea typeface="黑体" pitchFamily="49" charset="-122"/>
                <a:cs typeface="Times New Roman" pitchFamily="18" charset="0"/>
              </a:rPr>
              <a:t>υ</a:t>
            </a:r>
            <a:r>
              <a:rPr kumimoji="1" lang="en-US" altLang="zh-CN" sz="1400" kern="0" baseline="-25000" dirty="0">
                <a:latin typeface="Times New Roman" pitchFamily="18" charset="0"/>
                <a:ea typeface="黑体" pitchFamily="49" charset="-122"/>
                <a:cs typeface="Times New Roman" pitchFamily="18" charset="0"/>
              </a:rPr>
              <a:t>O</a:t>
            </a:r>
            <a:r>
              <a:rPr kumimoji="1" lang="en-US" altLang="zh-CN" sz="1400" kern="0" dirty="0">
                <a:latin typeface="Times New Roman" pitchFamily="18" charset="0"/>
                <a:ea typeface="黑体" pitchFamily="49" charset="-122"/>
                <a:cs typeface="Times New Roman" pitchFamily="18" charset="0"/>
              </a:rPr>
              <a:t>≈ 0 V</a:t>
            </a:r>
            <a:r>
              <a:rPr kumimoji="1" lang="zh-CN" altLang="en-US" sz="1400" kern="0" dirty="0">
                <a:latin typeface="Times New Roman" pitchFamily="18" charset="0"/>
                <a:ea typeface="黑体" pitchFamily="49" charset="-122"/>
                <a:cs typeface="Times New Roman" pitchFamily="18" charset="0"/>
              </a:rPr>
              <a:t>。</a:t>
            </a:r>
          </a:p>
        </p:txBody>
      </p:sp>
      <p:graphicFrame>
        <p:nvGraphicFramePr>
          <p:cNvPr id="53278" name="Object 30"/>
          <p:cNvGraphicFramePr>
            <a:graphicFrameLocks noChangeAspect="1"/>
          </p:cNvGraphicFramePr>
          <p:nvPr/>
        </p:nvGraphicFramePr>
        <p:xfrm>
          <a:off x="2513901" y="4945751"/>
          <a:ext cx="622882" cy="321488"/>
        </p:xfrm>
        <a:graphic>
          <a:graphicData uri="http://schemas.openxmlformats.org/presentationml/2006/ole">
            <mc:AlternateContent xmlns:mc="http://schemas.openxmlformats.org/markup-compatibility/2006">
              <mc:Choice xmlns:v="urn:schemas-microsoft-com:vml" Requires="v">
                <p:oleObj spid="_x0000_s77828" name="公式" r:id="rId8" imgW="393529" imgH="203112" progId="">
                  <p:embed/>
                </p:oleObj>
              </mc:Choice>
              <mc:Fallback>
                <p:oleObj name="公式" r:id="rId8" imgW="393529" imgH="203112" progId="">
                  <p:embed/>
                  <p:pic>
                    <p:nvPicPr>
                      <p:cNvPr id="53278" name="Object 3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13901" y="4945751"/>
                        <a:ext cx="622882" cy="321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5" name="组合 34"/>
          <p:cNvGrpSpPr/>
          <p:nvPr/>
        </p:nvGrpSpPr>
        <p:grpSpPr>
          <a:xfrm>
            <a:off x="7575550" y="1123950"/>
            <a:ext cx="819150" cy="1504950"/>
            <a:chOff x="7575550" y="1123950"/>
            <a:chExt cx="819150" cy="1504950"/>
          </a:xfrm>
        </p:grpSpPr>
        <p:sp>
          <p:nvSpPr>
            <p:cNvPr id="32" name="乘号 31"/>
            <p:cNvSpPr/>
            <p:nvPr/>
          </p:nvSpPr>
          <p:spPr>
            <a:xfrm>
              <a:off x="7696200" y="2000250"/>
              <a:ext cx="520700" cy="628650"/>
            </a:xfrm>
            <a:prstGeom prst="mathMultiply">
              <a:avLst>
                <a:gd name="adj1" fmla="val 13414"/>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减号 32"/>
            <p:cNvSpPr/>
            <p:nvPr/>
          </p:nvSpPr>
          <p:spPr>
            <a:xfrm rot="5400000">
              <a:off x="7585075" y="1114425"/>
              <a:ext cx="800100" cy="819150"/>
            </a:xfrm>
            <a:prstGeom prst="mathMinus">
              <a:avLst>
                <a:gd name="adj1" fmla="val 9631"/>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6" name="组合 35"/>
          <p:cNvGrpSpPr/>
          <p:nvPr/>
        </p:nvGrpSpPr>
        <p:grpSpPr>
          <a:xfrm flipV="1">
            <a:off x="7574280" y="1193800"/>
            <a:ext cx="819150" cy="1504950"/>
            <a:chOff x="7575550" y="1123950"/>
            <a:chExt cx="819150" cy="1504950"/>
          </a:xfrm>
        </p:grpSpPr>
        <p:sp>
          <p:nvSpPr>
            <p:cNvPr id="37" name="乘号 36"/>
            <p:cNvSpPr/>
            <p:nvPr/>
          </p:nvSpPr>
          <p:spPr>
            <a:xfrm>
              <a:off x="7696200" y="2000250"/>
              <a:ext cx="520700" cy="628650"/>
            </a:xfrm>
            <a:prstGeom prst="mathMultiply">
              <a:avLst>
                <a:gd name="adj1" fmla="val 13414"/>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减号 37"/>
            <p:cNvSpPr/>
            <p:nvPr/>
          </p:nvSpPr>
          <p:spPr>
            <a:xfrm rot="5400000">
              <a:off x="7585075" y="1114425"/>
              <a:ext cx="800100" cy="819150"/>
            </a:xfrm>
            <a:prstGeom prst="mathMinus">
              <a:avLst>
                <a:gd name="adj1" fmla="val 9631"/>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3" name="AutoShape 134"/>
          <p:cNvSpPr>
            <a:spLocks noChangeArrowheads="1"/>
          </p:cNvSpPr>
          <p:nvPr/>
        </p:nvSpPr>
        <p:spPr bwMode="auto">
          <a:xfrm>
            <a:off x="5570220" y="1935480"/>
            <a:ext cx="1072321" cy="396240"/>
          </a:xfrm>
          <a:prstGeom prst="wedgeRoundRectCallout">
            <a:avLst>
              <a:gd name="adj1" fmla="val 71086"/>
              <a:gd name="adj2" fmla="val -44697"/>
              <a:gd name="adj3" fmla="val 16667"/>
            </a:avLst>
          </a:prstGeom>
          <a:solidFill>
            <a:srgbClr val="FFFF99"/>
          </a:solidFill>
          <a:ln w="19050">
            <a:solidFill>
              <a:srgbClr val="FF00FF"/>
            </a:solid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spcBef>
                <a:spcPts val="600"/>
              </a:spcBef>
            </a:pPr>
            <a:r>
              <a:rPr lang="el-GR" altLang="zh-CN" sz="1600" i="1" dirty="0">
                <a:solidFill>
                  <a:srgbClr val="6600FF"/>
                </a:solidFill>
                <a:latin typeface="方正粗黑宋简体" pitchFamily="2" charset="-122"/>
                <a:ea typeface="方正粗黑宋简体" pitchFamily="2" charset="-122"/>
              </a:rPr>
              <a:t>υ</a:t>
            </a:r>
            <a:r>
              <a:rPr lang="en-US" altLang="zh-CN" sz="1600" baseline="-25000" dirty="0" err="1">
                <a:solidFill>
                  <a:srgbClr val="6600FF"/>
                </a:solidFill>
                <a:latin typeface="方正粗黑宋简体" pitchFamily="2" charset="-122"/>
                <a:ea typeface="方正粗黑宋简体" pitchFamily="2" charset="-122"/>
              </a:rPr>
              <a:t>i</a:t>
            </a:r>
            <a:r>
              <a:rPr lang="en-US" altLang="zh-CN" sz="1600" dirty="0">
                <a:solidFill>
                  <a:srgbClr val="6600FF"/>
                </a:solidFill>
                <a:latin typeface="方正粗黑宋简体" pitchFamily="2" charset="-122"/>
                <a:ea typeface="方正粗黑宋简体" pitchFamily="2" charset="-122"/>
              </a:rPr>
              <a:t> = 0V</a:t>
            </a:r>
            <a:endParaRPr lang="en-US" altLang="zh-CN" sz="1600" dirty="0">
              <a:solidFill>
                <a:schemeClr val="tx1"/>
              </a:solidFill>
              <a:latin typeface="方正大黑简体" pitchFamily="2" charset="-122"/>
              <a:ea typeface="方正大黑简体" pitchFamily="2" charset="-122"/>
            </a:endParaRPr>
          </a:p>
        </p:txBody>
      </p:sp>
      <p:sp>
        <p:nvSpPr>
          <p:cNvPr id="46" name="AutoShape 134"/>
          <p:cNvSpPr>
            <a:spLocks noChangeArrowheads="1"/>
          </p:cNvSpPr>
          <p:nvPr/>
        </p:nvSpPr>
        <p:spPr bwMode="auto">
          <a:xfrm>
            <a:off x="5562600" y="1920240"/>
            <a:ext cx="1072321" cy="396240"/>
          </a:xfrm>
          <a:prstGeom prst="wedgeRoundRectCallout">
            <a:avLst>
              <a:gd name="adj1" fmla="val 71086"/>
              <a:gd name="adj2" fmla="val -44697"/>
              <a:gd name="adj3" fmla="val 16667"/>
            </a:avLst>
          </a:prstGeom>
          <a:solidFill>
            <a:srgbClr val="FFFF99"/>
          </a:solidFill>
          <a:ln w="19050">
            <a:solidFill>
              <a:srgbClr val="FF00FF"/>
            </a:solid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spcBef>
                <a:spcPts val="600"/>
              </a:spcBef>
            </a:pPr>
            <a:r>
              <a:rPr lang="el-GR" altLang="zh-CN" sz="1600" i="1" dirty="0">
                <a:solidFill>
                  <a:srgbClr val="6600FF"/>
                </a:solidFill>
                <a:latin typeface="方正粗黑宋简体" pitchFamily="2" charset="-122"/>
                <a:ea typeface="方正粗黑宋简体" pitchFamily="2" charset="-122"/>
              </a:rPr>
              <a:t>υ</a:t>
            </a:r>
            <a:r>
              <a:rPr lang="en-US" altLang="zh-CN" sz="1600" baseline="-25000" dirty="0" err="1">
                <a:solidFill>
                  <a:srgbClr val="6600FF"/>
                </a:solidFill>
                <a:latin typeface="方正粗黑宋简体" pitchFamily="2" charset="-122"/>
                <a:ea typeface="方正粗黑宋简体" pitchFamily="2" charset="-122"/>
              </a:rPr>
              <a:t>i</a:t>
            </a:r>
            <a:r>
              <a:rPr lang="en-US" altLang="zh-CN" sz="1600" dirty="0">
                <a:solidFill>
                  <a:srgbClr val="6600FF"/>
                </a:solidFill>
                <a:latin typeface="方正粗黑宋简体" pitchFamily="2" charset="-122"/>
                <a:ea typeface="方正粗黑宋简体" pitchFamily="2" charset="-122"/>
              </a:rPr>
              <a:t> = </a:t>
            </a:r>
            <a:r>
              <a:rPr lang="en-US" altLang="zh-CN" sz="1600" i="1" dirty="0">
                <a:solidFill>
                  <a:srgbClr val="6600FF"/>
                </a:solidFill>
                <a:latin typeface="方正粗黑宋简体" pitchFamily="2" charset="-122"/>
                <a:ea typeface="方正粗黑宋简体" pitchFamily="2" charset="-122"/>
              </a:rPr>
              <a:t>V</a:t>
            </a:r>
            <a:r>
              <a:rPr lang="en-US" altLang="zh-CN" sz="1600" baseline="-25000" dirty="0">
                <a:solidFill>
                  <a:srgbClr val="6600FF"/>
                </a:solidFill>
                <a:latin typeface="方正粗黑宋简体" pitchFamily="2" charset="-122"/>
                <a:ea typeface="方正粗黑宋简体" pitchFamily="2" charset="-122"/>
              </a:rPr>
              <a:t>DD</a:t>
            </a:r>
            <a:endParaRPr lang="en-US" altLang="zh-CN" sz="1600" baseline="-25000" dirty="0">
              <a:solidFill>
                <a:schemeClr val="tx1"/>
              </a:solidFill>
              <a:latin typeface="方正大黑简体" pitchFamily="2" charset="-122"/>
              <a:ea typeface="方正大黑简体" pitchFamily="2" charset="-122"/>
            </a:endParaRPr>
          </a:p>
        </p:txBody>
      </p:sp>
      <p:grpSp>
        <p:nvGrpSpPr>
          <p:cNvPr id="47" name="组合 46"/>
          <p:cNvGrpSpPr/>
          <p:nvPr/>
        </p:nvGrpSpPr>
        <p:grpSpPr>
          <a:xfrm>
            <a:off x="6149340" y="766250"/>
            <a:ext cx="1785620" cy="2304610"/>
            <a:chOff x="6156960" y="766250"/>
            <a:chExt cx="1785620" cy="2304610"/>
          </a:xfrm>
        </p:grpSpPr>
        <p:grpSp>
          <p:nvGrpSpPr>
            <p:cNvPr id="48" name="组合 25"/>
            <p:cNvGrpSpPr/>
            <p:nvPr/>
          </p:nvGrpSpPr>
          <p:grpSpPr>
            <a:xfrm>
              <a:off x="6156960" y="766250"/>
              <a:ext cx="1706880" cy="841568"/>
              <a:chOff x="6156960" y="766250"/>
              <a:chExt cx="1706880" cy="841568"/>
            </a:xfrm>
          </p:grpSpPr>
          <p:cxnSp>
            <p:nvCxnSpPr>
              <p:cNvPr id="52" name="直接箭头连接符 51"/>
              <p:cNvCxnSpPr/>
              <p:nvPr/>
            </p:nvCxnSpPr>
            <p:spPr bwMode="auto">
              <a:xfrm rot="10800000" flipV="1">
                <a:off x="7368540" y="1150619"/>
                <a:ext cx="495300" cy="457199"/>
              </a:xfrm>
              <a:prstGeom prst="straightConnector1">
                <a:avLst/>
              </a:prstGeom>
              <a:noFill/>
              <a:ln w="28575" cap="flat" cmpd="sng" algn="ctr">
                <a:solidFill>
                  <a:srgbClr val="0000FF"/>
                </a:solidFill>
                <a:prstDash val="solid"/>
                <a:round/>
                <a:headEnd type="none" w="med" len="med"/>
                <a:tailEnd type="none" w="med" len="med"/>
              </a:ln>
              <a:effectLst/>
            </p:spPr>
          </p:cxnSp>
          <p:sp>
            <p:nvSpPr>
              <p:cNvPr id="53" name="AutoShape 134"/>
              <p:cNvSpPr>
                <a:spLocks noChangeArrowheads="1"/>
              </p:cNvSpPr>
              <p:nvPr/>
            </p:nvSpPr>
            <p:spPr bwMode="auto">
              <a:xfrm>
                <a:off x="6156960" y="766250"/>
                <a:ext cx="1072321" cy="590110"/>
              </a:xfrm>
              <a:prstGeom prst="wedgeRoundRectCallout">
                <a:avLst>
                  <a:gd name="adj1" fmla="val 71797"/>
                  <a:gd name="adj2" fmla="val 66841"/>
                  <a:gd name="adj3" fmla="val 16667"/>
                </a:avLst>
              </a:prstGeom>
              <a:solidFill>
                <a:srgbClr val="FFFF99"/>
              </a:solidFill>
              <a:ln w="19050">
                <a:solidFill>
                  <a:srgbClr val="FF00FF"/>
                </a:solid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spcBef>
                    <a:spcPts val="600"/>
                  </a:spcBef>
                </a:pPr>
                <a:r>
                  <a:rPr lang="el-GR" altLang="zh-CN" sz="1600" i="1" kern="0" dirty="0">
                    <a:latin typeface="Times New Roman" pitchFamily="18" charset="0"/>
                    <a:ea typeface="黑体" pitchFamily="49" charset="-122"/>
                    <a:cs typeface="Times New Roman" pitchFamily="18" charset="0"/>
                  </a:rPr>
                  <a:t>υ</a:t>
                </a:r>
                <a:r>
                  <a:rPr lang="en-US" altLang="zh-CN" sz="1600" kern="0" baseline="-25000" dirty="0">
                    <a:latin typeface="Times New Roman" pitchFamily="18" charset="0"/>
                    <a:ea typeface="黑体" pitchFamily="49" charset="-122"/>
                    <a:cs typeface="Times New Roman" pitchFamily="18" charset="0"/>
                  </a:rPr>
                  <a:t>GSP</a:t>
                </a:r>
                <a:r>
                  <a:rPr kumimoji="1" lang="en-US" altLang="zh-CN" sz="1600" i="1" kern="0" dirty="0">
                    <a:latin typeface="Times New Roman" pitchFamily="18" charset="0"/>
                    <a:ea typeface="黑体" pitchFamily="49" charset="-122"/>
                    <a:cs typeface="Times New Roman" pitchFamily="18" charset="0"/>
                  </a:rPr>
                  <a:t> =</a:t>
                </a:r>
                <a:r>
                  <a:rPr kumimoji="1" lang="en-US" altLang="zh-CN" sz="1600" kern="0" dirty="0">
                    <a:latin typeface="Times New Roman" pitchFamily="18" charset="0"/>
                    <a:ea typeface="黑体" pitchFamily="49" charset="-122"/>
                    <a:cs typeface="Times New Roman" pitchFamily="18" charset="0"/>
                  </a:rPr>
                  <a:t>0</a:t>
                </a:r>
                <a:endParaRPr kumimoji="1" lang="en-US" altLang="zh-CN" sz="1600" kern="0" baseline="-25000" dirty="0">
                  <a:latin typeface="Times New Roman" pitchFamily="18" charset="0"/>
                  <a:ea typeface="黑体" pitchFamily="49" charset="-122"/>
                  <a:cs typeface="Times New Roman" pitchFamily="18" charset="0"/>
                </a:endParaRPr>
              </a:p>
              <a:p>
                <a:pPr algn="ctr">
                  <a:spcBef>
                    <a:spcPts val="600"/>
                  </a:spcBef>
                </a:pPr>
                <a:r>
                  <a:rPr lang="zh-CN" altLang="en-US" sz="1600" dirty="0">
                    <a:solidFill>
                      <a:schemeClr val="tx1"/>
                    </a:solidFill>
                    <a:latin typeface="方正大黑简体" pitchFamily="2" charset="-122"/>
                    <a:ea typeface="方正大黑简体" pitchFamily="2" charset="-122"/>
                  </a:rPr>
                  <a:t>截   止</a:t>
                </a:r>
                <a:endParaRPr lang="en-US" altLang="zh-CN" sz="1600" dirty="0">
                  <a:solidFill>
                    <a:schemeClr val="tx1"/>
                  </a:solidFill>
                  <a:latin typeface="方正大黑简体" pitchFamily="2" charset="-122"/>
                  <a:ea typeface="方正大黑简体" pitchFamily="2" charset="-122"/>
                </a:endParaRPr>
              </a:p>
            </p:txBody>
          </p:sp>
        </p:grpSp>
        <p:grpSp>
          <p:nvGrpSpPr>
            <p:cNvPr id="49" name="组合 26"/>
            <p:cNvGrpSpPr/>
            <p:nvPr/>
          </p:nvGrpSpPr>
          <p:grpSpPr>
            <a:xfrm>
              <a:off x="6304280" y="2270759"/>
              <a:ext cx="1638300" cy="800101"/>
              <a:chOff x="6240780" y="2651759"/>
              <a:chExt cx="1638300" cy="800101"/>
            </a:xfrm>
          </p:grpSpPr>
          <p:cxnSp>
            <p:nvCxnSpPr>
              <p:cNvPr id="50" name="直接箭头连接符 49"/>
              <p:cNvCxnSpPr/>
              <p:nvPr/>
            </p:nvCxnSpPr>
            <p:spPr bwMode="auto">
              <a:xfrm rot="10800000" flipH="1" flipV="1">
                <a:off x="7383780" y="2651759"/>
                <a:ext cx="495300" cy="457199"/>
              </a:xfrm>
              <a:prstGeom prst="straightConnector1">
                <a:avLst/>
              </a:prstGeom>
              <a:noFill/>
              <a:ln w="28575" cap="flat" cmpd="sng" algn="ctr">
                <a:solidFill>
                  <a:srgbClr val="0000FF"/>
                </a:solidFill>
                <a:prstDash val="solid"/>
                <a:round/>
                <a:headEnd type="none" w="med" len="med"/>
                <a:tailEnd type="arrow" w="med" len="med"/>
              </a:ln>
              <a:effectLst/>
            </p:spPr>
          </p:cxnSp>
          <p:sp>
            <p:nvSpPr>
              <p:cNvPr id="51" name="AutoShape 134"/>
              <p:cNvSpPr>
                <a:spLocks noChangeArrowheads="1"/>
              </p:cNvSpPr>
              <p:nvPr/>
            </p:nvSpPr>
            <p:spPr bwMode="auto">
              <a:xfrm>
                <a:off x="6240780" y="2861750"/>
                <a:ext cx="1072321" cy="590110"/>
              </a:xfrm>
              <a:prstGeom prst="wedgeRoundRectCallout">
                <a:avLst>
                  <a:gd name="adj1" fmla="val 63980"/>
                  <a:gd name="adj2" fmla="val -58414"/>
                  <a:gd name="adj3" fmla="val 16667"/>
                </a:avLst>
              </a:prstGeom>
              <a:solidFill>
                <a:srgbClr val="FFFF99"/>
              </a:solidFill>
              <a:ln w="19050">
                <a:solidFill>
                  <a:srgbClr val="FF00FF"/>
                </a:solid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spcBef>
                    <a:spcPts val="600"/>
                  </a:spcBef>
                </a:pPr>
                <a:r>
                  <a:rPr lang="el-GR" altLang="zh-CN" sz="1600" i="1" kern="0" dirty="0">
                    <a:latin typeface="Times New Roman" pitchFamily="18" charset="0"/>
                    <a:ea typeface="黑体" pitchFamily="49" charset="-122"/>
                    <a:cs typeface="Times New Roman" pitchFamily="18" charset="0"/>
                  </a:rPr>
                  <a:t>υ</a:t>
                </a:r>
                <a:r>
                  <a:rPr lang="en-US" altLang="zh-CN" sz="1600" kern="0" baseline="-25000" dirty="0">
                    <a:latin typeface="Times New Roman" pitchFamily="18" charset="0"/>
                    <a:ea typeface="黑体" pitchFamily="49" charset="-122"/>
                    <a:cs typeface="Times New Roman" pitchFamily="18" charset="0"/>
                  </a:rPr>
                  <a:t>GSN</a:t>
                </a:r>
                <a:r>
                  <a:rPr lang="en-US" altLang="zh-CN" sz="1600" kern="0" dirty="0">
                    <a:latin typeface="Times New Roman" pitchFamily="18" charset="0"/>
                    <a:ea typeface="黑体" pitchFamily="49" charset="-122"/>
                    <a:cs typeface="Times New Roman" pitchFamily="18" charset="0"/>
                  </a:rPr>
                  <a:t>=</a:t>
                </a:r>
                <a:r>
                  <a:rPr kumimoji="1" lang="en-US" altLang="zh-CN" sz="1600" i="1" kern="0" dirty="0">
                    <a:latin typeface="Times New Roman" pitchFamily="18" charset="0"/>
                    <a:ea typeface="黑体" pitchFamily="49" charset="-122"/>
                    <a:cs typeface="Times New Roman" pitchFamily="18" charset="0"/>
                  </a:rPr>
                  <a:t> V</a:t>
                </a:r>
                <a:r>
                  <a:rPr kumimoji="1" lang="en-US" altLang="zh-CN" sz="1600" kern="0" baseline="-25000" dirty="0">
                    <a:latin typeface="Times New Roman" pitchFamily="18" charset="0"/>
                    <a:ea typeface="黑体" pitchFamily="49" charset="-122"/>
                    <a:cs typeface="Times New Roman" pitchFamily="18" charset="0"/>
                  </a:rPr>
                  <a:t>DD</a:t>
                </a:r>
              </a:p>
              <a:p>
                <a:pPr algn="ctr">
                  <a:spcBef>
                    <a:spcPts val="600"/>
                  </a:spcBef>
                </a:pPr>
                <a:r>
                  <a:rPr lang="zh-CN" altLang="en-US" sz="1600" dirty="0">
                    <a:solidFill>
                      <a:schemeClr val="tx1"/>
                    </a:solidFill>
                    <a:latin typeface="方正粗黑宋简体" pitchFamily="2" charset="-122"/>
                    <a:ea typeface="方正粗黑宋简体" pitchFamily="2" charset="-122"/>
                  </a:rPr>
                  <a:t>导   通</a:t>
                </a:r>
                <a:endParaRPr lang="en-US" altLang="zh-CN" sz="1600" dirty="0">
                  <a:solidFill>
                    <a:schemeClr val="tx1"/>
                  </a:solidFill>
                  <a:latin typeface="方正粗黑宋简体" pitchFamily="2" charset="-122"/>
                  <a:ea typeface="方正粗黑宋简体" pitchFamily="2" charset="-122"/>
                </a:endParaRPr>
              </a:p>
            </p:txBody>
          </p:sp>
        </p:grpSp>
      </p:grpSp>
      <p:grpSp>
        <p:nvGrpSpPr>
          <p:cNvPr id="8" name="组合 7"/>
          <p:cNvGrpSpPr/>
          <p:nvPr/>
        </p:nvGrpSpPr>
        <p:grpSpPr>
          <a:xfrm>
            <a:off x="585788" y="2509325"/>
            <a:ext cx="5538787" cy="781661"/>
            <a:chOff x="938213" y="2480750"/>
            <a:chExt cx="5538787" cy="781661"/>
          </a:xfrm>
        </p:grpSpPr>
        <p:grpSp>
          <p:nvGrpSpPr>
            <p:cNvPr id="6" name="组合 5"/>
            <p:cNvGrpSpPr/>
            <p:nvPr/>
          </p:nvGrpSpPr>
          <p:grpSpPr>
            <a:xfrm>
              <a:off x="1052446" y="2501586"/>
              <a:ext cx="5205480" cy="707886"/>
              <a:chOff x="1052446" y="2501586"/>
              <a:chExt cx="5205480" cy="707886"/>
            </a:xfrm>
          </p:grpSpPr>
          <p:sp>
            <p:nvSpPr>
              <p:cNvPr id="23" name="矩形 22"/>
              <p:cNvSpPr/>
              <p:nvPr/>
            </p:nvSpPr>
            <p:spPr>
              <a:xfrm>
                <a:off x="1052446" y="2501586"/>
                <a:ext cx="5205480" cy="707886"/>
              </a:xfrm>
              <a:prstGeom prst="rect">
                <a:avLst/>
              </a:prstGeom>
              <a:solidFill>
                <a:schemeClr val="bg1"/>
              </a:solidFill>
            </p:spPr>
            <p:txBody>
              <a:bodyPr wrap="square">
                <a:spAutoFit/>
              </a:bodyPr>
              <a:lstStyle/>
              <a:p>
                <a:pPr>
                  <a:lnSpc>
                    <a:spcPct val="125000"/>
                  </a:lnSpc>
                  <a:spcBef>
                    <a:spcPts val="600"/>
                  </a:spcBef>
                  <a:defRPr/>
                </a:pPr>
                <a:r>
                  <a:rPr kumimoji="1" lang="zh-CN" altLang="en-US" sz="1400" kern="0" dirty="0">
                    <a:latin typeface="Times New Roman" pitchFamily="18" charset="0"/>
                    <a:ea typeface="黑体" pitchFamily="49" charset="-122"/>
                    <a:cs typeface="Times New Roman" pitchFamily="18" charset="0"/>
                  </a:rPr>
                  <a:t>设</a:t>
                </a:r>
                <a:r>
                  <a:rPr kumimoji="1" lang="en-US" altLang="zh-CN" sz="1400" i="1" kern="0" dirty="0">
                    <a:latin typeface="Times New Roman" pitchFamily="18" charset="0"/>
                    <a:ea typeface="黑体" pitchFamily="49" charset="-122"/>
                    <a:cs typeface="Times New Roman" pitchFamily="18" charset="0"/>
                  </a:rPr>
                  <a:t>V</a:t>
                </a:r>
                <a:r>
                  <a:rPr kumimoji="1" lang="en-US" altLang="zh-CN" sz="1400" kern="0" baseline="-25000" dirty="0">
                    <a:latin typeface="Times New Roman" pitchFamily="18" charset="0"/>
                    <a:ea typeface="黑体" pitchFamily="49" charset="-122"/>
                    <a:cs typeface="Times New Roman" pitchFamily="18" charset="0"/>
                  </a:rPr>
                  <a:t>TN </a:t>
                </a:r>
                <a:r>
                  <a:rPr kumimoji="1" lang="en-US" altLang="zh-CN" sz="1400" kern="0" dirty="0">
                    <a:latin typeface="Times New Roman" pitchFamily="18" charset="0"/>
                    <a:ea typeface="黑体" pitchFamily="49" charset="-122"/>
                    <a:cs typeface="Times New Roman" pitchFamily="18" charset="0"/>
                  </a:rPr>
                  <a:t>= -</a:t>
                </a:r>
                <a:r>
                  <a:rPr kumimoji="1" lang="en-US" altLang="zh-CN" sz="1400" i="1" kern="0" dirty="0">
                    <a:latin typeface="Times New Roman" pitchFamily="18" charset="0"/>
                    <a:ea typeface="黑体" pitchFamily="49" charset="-122"/>
                    <a:cs typeface="Times New Roman" pitchFamily="18" charset="0"/>
                  </a:rPr>
                  <a:t>V</a:t>
                </a:r>
                <a:r>
                  <a:rPr kumimoji="1" lang="en-US" altLang="zh-CN" sz="1400" kern="0" baseline="-25000" dirty="0">
                    <a:latin typeface="Times New Roman" pitchFamily="18" charset="0"/>
                    <a:ea typeface="黑体" pitchFamily="49" charset="-122"/>
                    <a:cs typeface="Times New Roman" pitchFamily="18" charset="0"/>
                  </a:rPr>
                  <a:t>TP</a:t>
                </a:r>
                <a:r>
                  <a:rPr kumimoji="1" lang="zh-CN" altLang="en-US" sz="1400" kern="0" dirty="0">
                    <a:latin typeface="Times New Roman" pitchFamily="18" charset="0"/>
                    <a:ea typeface="黑体" pitchFamily="49" charset="-122"/>
                    <a:cs typeface="Times New Roman" pitchFamily="18" charset="0"/>
                  </a:rPr>
                  <a:t>，</a:t>
                </a:r>
                <a:r>
                  <a:rPr lang="en-US" altLang="zh-CN" sz="1400" kern="0" dirty="0">
                    <a:latin typeface="Times New Roman" pitchFamily="18" charset="0"/>
                    <a:ea typeface="黑体" pitchFamily="49" charset="-122"/>
                    <a:cs typeface="Times New Roman" pitchFamily="18" charset="0"/>
                  </a:rPr>
                  <a:t>TN</a:t>
                </a:r>
                <a:r>
                  <a:rPr lang="zh-CN" altLang="en-US" sz="1400" kern="0" dirty="0">
                    <a:latin typeface="Times New Roman" pitchFamily="18" charset="0"/>
                    <a:ea typeface="黑体" pitchFamily="49" charset="-122"/>
                    <a:cs typeface="Times New Roman" pitchFamily="18" charset="0"/>
                  </a:rPr>
                  <a:t>：</a:t>
                </a:r>
                <a:r>
                  <a:rPr lang="el-GR" altLang="zh-CN" sz="1400" i="1" kern="0" dirty="0">
                    <a:latin typeface="Times New Roman" pitchFamily="18" charset="0"/>
                    <a:ea typeface="黑体" pitchFamily="49" charset="-122"/>
                    <a:cs typeface="Times New Roman" pitchFamily="18" charset="0"/>
                  </a:rPr>
                  <a:t>υ</a:t>
                </a:r>
                <a:r>
                  <a:rPr lang="en-US" altLang="zh-CN" sz="1400" kern="0" baseline="-25000" dirty="0">
                    <a:latin typeface="Times New Roman" pitchFamily="18" charset="0"/>
                    <a:ea typeface="黑体" pitchFamily="49" charset="-122"/>
                    <a:cs typeface="Times New Roman" pitchFamily="18" charset="0"/>
                  </a:rPr>
                  <a:t>GSN</a:t>
                </a:r>
                <a:r>
                  <a:rPr kumimoji="1" lang="en-US" altLang="zh-CN" sz="1400" kern="0" baseline="-25000" dirty="0">
                    <a:latin typeface="Times New Roman" pitchFamily="18" charset="0"/>
                    <a:ea typeface="黑体" pitchFamily="49" charset="-122"/>
                    <a:cs typeface="Times New Roman" pitchFamily="18" charset="0"/>
                  </a:rPr>
                  <a:t> </a:t>
                </a:r>
                <a:r>
                  <a:rPr kumimoji="1" lang="en-US" altLang="zh-CN" sz="1400" kern="0" dirty="0">
                    <a:latin typeface="Times New Roman" pitchFamily="18" charset="0"/>
                    <a:ea typeface="黑体" pitchFamily="49" charset="-122"/>
                    <a:cs typeface="Times New Roman" pitchFamily="18" charset="0"/>
                  </a:rPr>
                  <a:t>&gt;</a:t>
                </a:r>
                <a:r>
                  <a:rPr kumimoji="1" lang="en-US" altLang="zh-CN" sz="1400" i="1" kern="0" dirty="0">
                    <a:latin typeface="Times New Roman" pitchFamily="18" charset="0"/>
                    <a:ea typeface="黑体" pitchFamily="49" charset="-122"/>
                    <a:cs typeface="Times New Roman" pitchFamily="18" charset="0"/>
                  </a:rPr>
                  <a:t>V</a:t>
                </a:r>
                <a:r>
                  <a:rPr kumimoji="1" lang="en-US" altLang="zh-CN" sz="1400" kern="0" baseline="-25000" dirty="0">
                    <a:latin typeface="Times New Roman" pitchFamily="18" charset="0"/>
                    <a:ea typeface="黑体" pitchFamily="49" charset="-122"/>
                    <a:cs typeface="Times New Roman" pitchFamily="18" charset="0"/>
                  </a:rPr>
                  <a:t>TN</a:t>
                </a:r>
                <a:r>
                  <a:rPr kumimoji="1" lang="zh-CN" altLang="en-US" sz="1400" kern="0" dirty="0">
                    <a:latin typeface="Times New Roman" pitchFamily="18" charset="0"/>
                    <a:ea typeface="黑体" pitchFamily="49" charset="-122"/>
                    <a:cs typeface="Times New Roman" pitchFamily="18" charset="0"/>
                  </a:rPr>
                  <a:t>，导通；</a:t>
                </a:r>
                <a:r>
                  <a:rPr lang="en-US" altLang="zh-CN" sz="1400" kern="0" dirty="0">
                    <a:latin typeface="Times New Roman" pitchFamily="18" charset="0"/>
                    <a:ea typeface="黑体" pitchFamily="49" charset="-122"/>
                    <a:cs typeface="Times New Roman" pitchFamily="18" charset="0"/>
                  </a:rPr>
                  <a:t> TP</a:t>
                </a:r>
                <a:r>
                  <a:rPr lang="zh-CN" altLang="en-US" sz="1400" kern="0" dirty="0">
                    <a:latin typeface="Times New Roman" pitchFamily="18" charset="0"/>
                    <a:ea typeface="黑体" pitchFamily="49" charset="-122"/>
                    <a:cs typeface="Times New Roman" pitchFamily="18" charset="0"/>
                  </a:rPr>
                  <a:t>：</a:t>
                </a:r>
                <a:r>
                  <a:rPr lang="el-GR" altLang="zh-CN" sz="1400" i="1" kern="0" dirty="0">
                    <a:latin typeface="Times New Roman" pitchFamily="18" charset="0"/>
                    <a:ea typeface="黑体" pitchFamily="49" charset="-122"/>
                    <a:cs typeface="Times New Roman" pitchFamily="18" charset="0"/>
                  </a:rPr>
                  <a:t>υ</a:t>
                </a:r>
                <a:r>
                  <a:rPr lang="en-US" altLang="zh-CN" sz="1400" kern="0" baseline="-25000" dirty="0">
                    <a:latin typeface="Times New Roman" pitchFamily="18" charset="0"/>
                    <a:ea typeface="黑体" pitchFamily="49" charset="-122"/>
                    <a:cs typeface="Times New Roman" pitchFamily="18" charset="0"/>
                  </a:rPr>
                  <a:t>GSP</a:t>
                </a:r>
                <a:r>
                  <a:rPr kumimoji="1" lang="en-US" altLang="zh-CN" sz="1400" kern="0" baseline="-25000" dirty="0">
                    <a:latin typeface="Times New Roman" pitchFamily="18" charset="0"/>
                    <a:ea typeface="黑体" pitchFamily="49" charset="-122"/>
                    <a:cs typeface="Times New Roman" pitchFamily="18" charset="0"/>
                  </a:rPr>
                  <a:t> </a:t>
                </a:r>
                <a:r>
                  <a:rPr kumimoji="1" lang="en-US" altLang="zh-CN" sz="1400" kern="0" dirty="0">
                    <a:latin typeface="Times New Roman" pitchFamily="18" charset="0"/>
                    <a:ea typeface="黑体" pitchFamily="49" charset="-122"/>
                    <a:cs typeface="Times New Roman" pitchFamily="18" charset="0"/>
                  </a:rPr>
                  <a:t>&lt;</a:t>
                </a:r>
                <a:r>
                  <a:rPr kumimoji="1" lang="en-US" altLang="zh-CN" sz="1400" i="1" kern="0" dirty="0">
                    <a:latin typeface="Times New Roman" pitchFamily="18" charset="0"/>
                    <a:ea typeface="黑体" pitchFamily="49" charset="-122"/>
                    <a:cs typeface="Times New Roman" pitchFamily="18" charset="0"/>
                  </a:rPr>
                  <a:t>V</a:t>
                </a:r>
                <a:r>
                  <a:rPr kumimoji="1" lang="en-US" altLang="zh-CN" sz="1400" kern="0" baseline="-25000" dirty="0">
                    <a:latin typeface="Times New Roman" pitchFamily="18" charset="0"/>
                    <a:ea typeface="黑体" pitchFamily="49" charset="-122"/>
                    <a:cs typeface="Times New Roman" pitchFamily="18" charset="0"/>
                  </a:rPr>
                  <a:t>TP</a:t>
                </a:r>
                <a:r>
                  <a:rPr kumimoji="1" lang="zh-CN" altLang="en-US" sz="1400" kern="0" dirty="0">
                    <a:latin typeface="Times New Roman" pitchFamily="18" charset="0"/>
                    <a:ea typeface="黑体" pitchFamily="49" charset="-122"/>
                    <a:cs typeface="Times New Roman" pitchFamily="18" charset="0"/>
                  </a:rPr>
                  <a:t>，导通。</a:t>
                </a:r>
                <a:endParaRPr lang="zh-CN" altLang="en-US" sz="1400" dirty="0"/>
              </a:p>
              <a:p>
                <a:pPr>
                  <a:lnSpc>
                    <a:spcPct val="125000"/>
                  </a:lnSpc>
                  <a:spcBef>
                    <a:spcPts val="600"/>
                  </a:spcBef>
                  <a:defRPr/>
                </a:pPr>
                <a:r>
                  <a:rPr kumimoji="1" lang="en-US" altLang="zh-CN" sz="1400" i="1" kern="0" dirty="0">
                    <a:latin typeface="Times New Roman" pitchFamily="18" charset="0"/>
                    <a:ea typeface="黑体" pitchFamily="49" charset="-122"/>
                    <a:cs typeface="Times New Roman" pitchFamily="18" charset="0"/>
                  </a:rPr>
                  <a:t>V</a:t>
                </a:r>
                <a:r>
                  <a:rPr kumimoji="1" lang="en-US" altLang="zh-CN" sz="1400" kern="0" baseline="-25000" dirty="0">
                    <a:latin typeface="Times New Roman" pitchFamily="18" charset="0"/>
                    <a:ea typeface="黑体" pitchFamily="49" charset="-122"/>
                    <a:cs typeface="Times New Roman" pitchFamily="18" charset="0"/>
                  </a:rPr>
                  <a:t>DD</a:t>
                </a:r>
                <a:r>
                  <a:rPr kumimoji="1" lang="zh-CN" altLang="en-US" sz="1400" kern="0" dirty="0">
                    <a:latin typeface="Times New Roman" pitchFamily="18" charset="0"/>
                    <a:ea typeface="黑体" pitchFamily="49" charset="-122"/>
                    <a:cs typeface="Times New Roman" pitchFamily="18" charset="0"/>
                  </a:rPr>
                  <a:t>＞（</a:t>
                </a:r>
                <a:r>
                  <a:rPr kumimoji="1" lang="en-US" altLang="zh-CN" sz="1400" kern="0" baseline="-25000" dirty="0">
                    <a:latin typeface="Times New Roman" pitchFamily="18" charset="0"/>
                    <a:ea typeface="黑体" pitchFamily="49" charset="-122"/>
                    <a:cs typeface="Times New Roman" pitchFamily="18" charset="0"/>
                  </a:rPr>
                  <a:t> </a:t>
                </a:r>
                <a:r>
                  <a:rPr kumimoji="1" lang="en-US" altLang="zh-CN" sz="1400" kern="0" dirty="0">
                    <a:latin typeface="Times New Roman" pitchFamily="18" charset="0"/>
                    <a:ea typeface="黑体" pitchFamily="49" charset="-122"/>
                    <a:cs typeface="Times New Roman" pitchFamily="18" charset="0"/>
                  </a:rPr>
                  <a:t>|</a:t>
                </a:r>
                <a:r>
                  <a:rPr kumimoji="1" lang="en-US" altLang="zh-CN" sz="1400" i="1" kern="0" dirty="0">
                    <a:latin typeface="Times New Roman" pitchFamily="18" charset="0"/>
                    <a:ea typeface="黑体" pitchFamily="49" charset="-122"/>
                    <a:cs typeface="Times New Roman" pitchFamily="18" charset="0"/>
                  </a:rPr>
                  <a:t>V</a:t>
                </a:r>
                <a:r>
                  <a:rPr kumimoji="1" lang="en-US" altLang="zh-CN" sz="1400" kern="0" baseline="-25000" dirty="0">
                    <a:latin typeface="Times New Roman" pitchFamily="18" charset="0"/>
                    <a:ea typeface="黑体" pitchFamily="49" charset="-122"/>
                    <a:cs typeface="Times New Roman" pitchFamily="18" charset="0"/>
                  </a:rPr>
                  <a:t>TP</a:t>
                </a:r>
                <a:r>
                  <a:rPr kumimoji="1" lang="en-US" altLang="zh-CN" sz="1400" kern="0" dirty="0">
                    <a:latin typeface="Times New Roman" pitchFamily="18" charset="0"/>
                    <a:ea typeface="黑体" pitchFamily="49" charset="-122"/>
                    <a:cs typeface="Times New Roman" pitchFamily="18" charset="0"/>
                  </a:rPr>
                  <a:t>|+</a:t>
                </a:r>
                <a:r>
                  <a:rPr kumimoji="1" lang="en-US" altLang="zh-CN" sz="1400" i="1" kern="0" dirty="0">
                    <a:latin typeface="Times New Roman" pitchFamily="18" charset="0"/>
                    <a:ea typeface="黑体" pitchFamily="49" charset="-122"/>
                    <a:cs typeface="Times New Roman" pitchFamily="18" charset="0"/>
                  </a:rPr>
                  <a:t>V</a:t>
                </a:r>
                <a:r>
                  <a:rPr kumimoji="1" lang="en-US" altLang="zh-CN" sz="1400" kern="0" baseline="-25000" dirty="0">
                    <a:latin typeface="Times New Roman" pitchFamily="18" charset="0"/>
                    <a:ea typeface="黑体" pitchFamily="49" charset="-122"/>
                    <a:cs typeface="Times New Roman" pitchFamily="18" charset="0"/>
                  </a:rPr>
                  <a:t>TN </a:t>
                </a:r>
                <a:r>
                  <a:rPr kumimoji="1" lang="zh-CN" altLang="en-US" sz="1400" kern="0" dirty="0">
                    <a:latin typeface="Times New Roman" pitchFamily="18" charset="0"/>
                    <a:ea typeface="黑体" pitchFamily="49" charset="-122"/>
                    <a:cs typeface="Times New Roman" pitchFamily="18" charset="0"/>
                  </a:rPr>
                  <a:t>）</a:t>
                </a:r>
              </a:p>
            </p:txBody>
          </p:sp>
          <p:graphicFrame>
            <p:nvGraphicFramePr>
              <p:cNvPr id="3" name="对象 2"/>
              <p:cNvGraphicFramePr>
                <a:graphicFrameLocks noChangeAspect="1"/>
              </p:cNvGraphicFramePr>
              <p:nvPr/>
            </p:nvGraphicFramePr>
            <p:xfrm>
              <a:off x="3006960" y="2852850"/>
              <a:ext cx="858600" cy="324000"/>
            </p:xfrm>
            <a:graphic>
              <a:graphicData uri="http://schemas.openxmlformats.org/presentationml/2006/ole">
                <mc:AlternateContent xmlns:mc="http://schemas.openxmlformats.org/markup-compatibility/2006">
                  <mc:Choice xmlns:v="urn:schemas-microsoft-com:vml" Requires="v">
                    <p:oleObj spid="_x0000_s77829" name="公式" r:id="rId10" imgW="507780" imgH="190417" progId="">
                      <p:embed/>
                    </p:oleObj>
                  </mc:Choice>
                  <mc:Fallback>
                    <p:oleObj name="公式" r:id="rId10" imgW="507780" imgH="190417" progId="">
                      <p:embed/>
                      <p:pic>
                        <p:nvPicPr>
                          <p:cNvPr id="3" name="对象 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06960" y="2852850"/>
                            <a:ext cx="858600" cy="32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p:cNvGraphicFramePr>
                <a:graphicFrameLocks noChangeAspect="1"/>
              </p:cNvGraphicFramePr>
              <p:nvPr/>
            </p:nvGraphicFramePr>
            <p:xfrm>
              <a:off x="4162798" y="2858003"/>
              <a:ext cx="1360800" cy="324000"/>
            </p:xfrm>
            <a:graphic>
              <a:graphicData uri="http://schemas.openxmlformats.org/presentationml/2006/ole">
                <mc:AlternateContent xmlns:mc="http://schemas.openxmlformats.org/markup-compatibility/2006">
                  <mc:Choice xmlns:v="urn:schemas-microsoft-com:vml" Requires="v">
                    <p:oleObj spid="_x0000_s77830" name="公式" r:id="rId12" imgW="799753" imgH="190417" progId="">
                      <p:embed/>
                    </p:oleObj>
                  </mc:Choice>
                  <mc:Fallback>
                    <p:oleObj name="公式" r:id="rId12" imgW="799753" imgH="190417" progId="">
                      <p:embed/>
                      <p:pic>
                        <p:nvPicPr>
                          <p:cNvPr id="5" name="对象 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162798" y="2858003"/>
                            <a:ext cx="1360800" cy="32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7" name="圆角矩形 6"/>
            <p:cNvSpPr/>
            <p:nvPr/>
          </p:nvSpPr>
          <p:spPr>
            <a:xfrm>
              <a:off x="938213" y="2480750"/>
              <a:ext cx="5538787" cy="78166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grpSp>
      <p:pic>
        <p:nvPicPr>
          <p:cNvPr id="4" name="图片 3">
            <a:extLst>
              <a:ext uri="{FF2B5EF4-FFF2-40B4-BE49-F238E27FC236}">
                <a16:creationId xmlns:a16="http://schemas.microsoft.com/office/drawing/2014/main" id="{0E757B9D-2591-44D6-9617-0E41707655AD}"/>
              </a:ext>
            </a:extLst>
          </p:cNvPr>
          <p:cNvPicPr>
            <a:picLocks noChangeAspect="1"/>
          </p:cNvPicPr>
          <p:nvPr/>
        </p:nvPicPr>
        <p:blipFill>
          <a:blip r:embed="rId14" cstate="print"/>
          <a:stretch>
            <a:fillRect/>
          </a:stretch>
        </p:blipFill>
        <p:spPr>
          <a:xfrm>
            <a:off x="6426958" y="3554558"/>
            <a:ext cx="2579759" cy="1602809"/>
          </a:xfrm>
          <a:prstGeom prst="rect">
            <a:avLst/>
          </a:prstGeom>
          <a:ln>
            <a:solidFill>
              <a:srgbClr val="0000FF"/>
            </a:solidFill>
          </a:ln>
        </p:spPr>
      </p:pic>
    </p:spTree>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slide(fromBottom)">
                                      <p:cBhvr>
                                        <p:cTn id="7" dur="500"/>
                                        <p:tgtEl>
                                          <p:spTgt spid="16"/>
                                        </p:tgtEl>
                                      </p:cBhvr>
                                    </p:animEffect>
                                  </p:childTnLst>
                                </p:cTn>
                              </p:par>
                            </p:childTnLst>
                          </p:cTn>
                        </p:par>
                        <p:par>
                          <p:cTn id="8" fill="hold">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slide(fromBottom)">
                                      <p:cBhvr>
                                        <p:cTn id="11" dur="1000"/>
                                        <p:tgtEl>
                                          <p:spTgt spid="21"/>
                                        </p:tgtEl>
                                      </p:cBhvr>
                                    </p:animEffect>
                                  </p:childTnLst>
                                </p:cTn>
                              </p:par>
                            </p:childTnLst>
                          </p:cTn>
                        </p:par>
                        <p:par>
                          <p:cTn id="12" fill="hold">
                            <p:stCondLst>
                              <p:cond delay="1500"/>
                            </p:stCondLst>
                            <p:childTnLst>
                              <p:par>
                                <p:cTn id="13" presetID="22" presetClass="entr" presetSubtype="8" fill="hold"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wipe(left)">
                                      <p:cBhvr>
                                        <p:cTn id="15" dur="1000"/>
                                        <p:tgtEl>
                                          <p:spTgt spid="29"/>
                                        </p:tgtEl>
                                      </p:cBhvr>
                                    </p:animEffect>
                                  </p:childTnLst>
                                </p:cTn>
                              </p:par>
                            </p:childTnLst>
                          </p:cTn>
                        </p:par>
                        <p:par>
                          <p:cTn id="16" fill="hold">
                            <p:stCondLst>
                              <p:cond delay="2500"/>
                            </p:stCondLst>
                            <p:childTnLst>
                              <p:par>
                                <p:cTn id="17" presetID="12" presetClass="entr" presetSubtype="4" fill="hold" grpId="0" nodeType="after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slide(fromBottom)">
                                      <p:cBhvr>
                                        <p:cTn id="19" dur="1000"/>
                                        <p:tgtEl>
                                          <p:spTgt spid="22"/>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grpId="0" nodeType="clickEffect">
                                  <p:stCondLst>
                                    <p:cond delay="0"/>
                                  </p:stCondLst>
                                  <p:childTnLst>
                                    <p:set>
                                      <p:cBhvr>
                                        <p:cTn id="23" dur="1" fill="hold">
                                          <p:stCondLst>
                                            <p:cond delay="0"/>
                                          </p:stCondLst>
                                        </p:cTn>
                                        <p:tgtEl>
                                          <p:spTgt spid="34"/>
                                        </p:tgtEl>
                                        <p:attrNameLst>
                                          <p:attrName>style.visibility</p:attrName>
                                        </p:attrNameLst>
                                      </p:cBhvr>
                                      <p:to>
                                        <p:strVal val="visible"/>
                                      </p:to>
                                    </p:set>
                                    <p:animEffect transition="in" filter="slide(fromBottom)">
                                      <p:cBhvr>
                                        <p:cTn id="24" dur="1000"/>
                                        <p:tgtEl>
                                          <p:spTgt spid="34"/>
                                        </p:tgtEl>
                                      </p:cBhvr>
                                    </p:animEffect>
                                  </p:childTnLst>
                                </p:cTn>
                              </p:par>
                            </p:childTnLst>
                          </p:cTn>
                        </p:par>
                        <p:par>
                          <p:cTn id="25" fill="hold">
                            <p:stCondLst>
                              <p:cond delay="1000"/>
                            </p:stCondLst>
                            <p:childTnLst>
                              <p:par>
                                <p:cTn id="26" presetID="42" presetClass="entr" presetSubtype="0" fill="hold" nodeType="after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par>
                          <p:cTn id="31" fill="hold">
                            <p:stCondLst>
                              <p:cond delay="2000"/>
                            </p:stCondLst>
                            <p:childTnLst>
                              <p:par>
                                <p:cTn id="32" presetID="42" presetClass="entr" presetSubtype="0" fill="hold" nodeType="after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fade">
                                      <p:cBhvr>
                                        <p:cTn id="34" dur="1000"/>
                                        <p:tgtEl>
                                          <p:spTgt spid="4"/>
                                        </p:tgtEl>
                                      </p:cBhvr>
                                    </p:animEffect>
                                    <p:anim calcmode="lin" valueType="num">
                                      <p:cBhvr>
                                        <p:cTn id="35" dur="1000" fill="hold"/>
                                        <p:tgtEl>
                                          <p:spTgt spid="4"/>
                                        </p:tgtEl>
                                        <p:attrNameLst>
                                          <p:attrName>ppt_x</p:attrName>
                                        </p:attrNameLst>
                                      </p:cBhvr>
                                      <p:tavLst>
                                        <p:tav tm="0">
                                          <p:val>
                                            <p:strVal val="#ppt_x"/>
                                          </p:val>
                                        </p:tav>
                                        <p:tav tm="100000">
                                          <p:val>
                                            <p:strVal val="#ppt_x"/>
                                          </p:val>
                                        </p:tav>
                                      </p:tavLst>
                                    </p:anim>
                                    <p:anim calcmode="lin" valueType="num">
                                      <p:cBhvr>
                                        <p:cTn id="3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44"/>
                                        </p:tgtEl>
                                        <p:attrNameLst>
                                          <p:attrName>style.visibility</p:attrName>
                                        </p:attrNameLst>
                                      </p:cBhvr>
                                      <p:to>
                                        <p:strVal val="visible"/>
                                      </p:to>
                                    </p:set>
                                    <p:animEffect transition="in" filter="wipe(left)">
                                      <p:cBhvr>
                                        <p:cTn id="41" dur="1000"/>
                                        <p:tgtEl>
                                          <p:spTgt spid="44"/>
                                        </p:tgtEl>
                                      </p:cBhvr>
                                    </p:animEffect>
                                  </p:childTnLst>
                                </p:cTn>
                              </p:par>
                            </p:childTnLst>
                          </p:cTn>
                        </p:par>
                        <p:par>
                          <p:cTn id="42" fill="hold">
                            <p:stCondLst>
                              <p:cond delay="1000"/>
                            </p:stCondLst>
                            <p:childTnLst>
                              <p:par>
                                <p:cTn id="43" presetID="22" presetClass="entr" presetSubtype="8" fill="hold" grpId="0" nodeType="afterEffect">
                                  <p:stCondLst>
                                    <p:cond delay="0"/>
                                  </p:stCondLst>
                                  <p:childTnLst>
                                    <p:set>
                                      <p:cBhvr>
                                        <p:cTn id="44" dur="1" fill="hold">
                                          <p:stCondLst>
                                            <p:cond delay="0"/>
                                          </p:stCondLst>
                                        </p:cTn>
                                        <p:tgtEl>
                                          <p:spTgt spid="43"/>
                                        </p:tgtEl>
                                        <p:attrNameLst>
                                          <p:attrName>style.visibility</p:attrName>
                                        </p:attrNameLst>
                                      </p:cBhvr>
                                      <p:to>
                                        <p:strVal val="visible"/>
                                      </p:to>
                                    </p:set>
                                    <p:animEffect transition="in" filter="wipe(left)">
                                      <p:cBhvr>
                                        <p:cTn id="45" dur="1000"/>
                                        <p:tgtEl>
                                          <p:spTgt spid="43"/>
                                        </p:tgtEl>
                                      </p:cBhvr>
                                    </p:animEffect>
                                  </p:childTnLst>
                                </p:cTn>
                              </p:par>
                            </p:childTnLst>
                          </p:cTn>
                        </p:par>
                        <p:par>
                          <p:cTn id="46" fill="hold">
                            <p:stCondLst>
                              <p:cond delay="2000"/>
                            </p:stCondLst>
                            <p:childTnLst>
                              <p:par>
                                <p:cTn id="47" presetID="22" presetClass="entr" presetSubtype="2" fill="hold" nodeType="afterEffect">
                                  <p:stCondLst>
                                    <p:cond delay="0"/>
                                  </p:stCondLst>
                                  <p:childTnLst>
                                    <p:set>
                                      <p:cBhvr>
                                        <p:cTn id="48" dur="1" fill="hold">
                                          <p:stCondLst>
                                            <p:cond delay="0"/>
                                          </p:stCondLst>
                                        </p:cTn>
                                        <p:tgtEl>
                                          <p:spTgt spid="41"/>
                                        </p:tgtEl>
                                        <p:attrNameLst>
                                          <p:attrName>style.visibility</p:attrName>
                                        </p:attrNameLst>
                                      </p:cBhvr>
                                      <p:to>
                                        <p:strVal val="visible"/>
                                      </p:to>
                                    </p:set>
                                    <p:animEffect transition="in" filter="wipe(right)">
                                      <p:cBhvr>
                                        <p:cTn id="49" dur="2000"/>
                                        <p:tgtEl>
                                          <p:spTgt spid="41"/>
                                        </p:tgtEl>
                                      </p:cBhvr>
                                    </p:animEffect>
                                  </p:childTnLst>
                                </p:cTn>
                              </p:par>
                            </p:childTnLst>
                          </p:cTn>
                        </p:par>
                        <p:par>
                          <p:cTn id="50" fill="hold">
                            <p:stCondLst>
                              <p:cond delay="4000"/>
                            </p:stCondLst>
                            <p:childTnLst>
                              <p:par>
                                <p:cTn id="51" presetID="12" presetClass="entr" presetSubtype="2" fill="hold" nodeType="afterEffect">
                                  <p:stCondLst>
                                    <p:cond delay="0"/>
                                  </p:stCondLst>
                                  <p:childTnLst>
                                    <p:set>
                                      <p:cBhvr>
                                        <p:cTn id="52" dur="1" fill="hold">
                                          <p:stCondLst>
                                            <p:cond delay="0"/>
                                          </p:stCondLst>
                                        </p:cTn>
                                        <p:tgtEl>
                                          <p:spTgt spid="35"/>
                                        </p:tgtEl>
                                        <p:attrNameLst>
                                          <p:attrName>style.visibility</p:attrName>
                                        </p:attrNameLst>
                                      </p:cBhvr>
                                      <p:to>
                                        <p:strVal val="visible"/>
                                      </p:to>
                                    </p:set>
                                    <p:animEffect transition="in" filter="slide(fromRight)">
                                      <p:cBhvr>
                                        <p:cTn id="53" dur="1000"/>
                                        <p:tgtEl>
                                          <p:spTgt spid="35"/>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xit" presetSubtype="8" fill="hold" nodeType="clickEffect">
                                  <p:stCondLst>
                                    <p:cond delay="0"/>
                                  </p:stCondLst>
                                  <p:childTnLst>
                                    <p:animEffect transition="out" filter="wipe(left)">
                                      <p:cBhvr>
                                        <p:cTn id="57" dur="1000"/>
                                        <p:tgtEl>
                                          <p:spTgt spid="41"/>
                                        </p:tgtEl>
                                      </p:cBhvr>
                                    </p:animEffect>
                                    <p:set>
                                      <p:cBhvr>
                                        <p:cTn id="58" dur="1" fill="hold">
                                          <p:stCondLst>
                                            <p:cond delay="999"/>
                                          </p:stCondLst>
                                        </p:cTn>
                                        <p:tgtEl>
                                          <p:spTgt spid="41"/>
                                        </p:tgtEl>
                                        <p:attrNameLst>
                                          <p:attrName>style.visibility</p:attrName>
                                        </p:attrNameLst>
                                      </p:cBhvr>
                                      <p:to>
                                        <p:strVal val="hidden"/>
                                      </p:to>
                                    </p:set>
                                  </p:childTnLst>
                                </p:cTn>
                              </p:par>
                              <p:par>
                                <p:cTn id="59" presetID="22" presetClass="exit" presetSubtype="8" fill="hold" nodeType="withEffect">
                                  <p:stCondLst>
                                    <p:cond delay="0"/>
                                  </p:stCondLst>
                                  <p:childTnLst>
                                    <p:animEffect transition="out" filter="wipe(left)">
                                      <p:cBhvr>
                                        <p:cTn id="60" dur="1000"/>
                                        <p:tgtEl>
                                          <p:spTgt spid="35"/>
                                        </p:tgtEl>
                                      </p:cBhvr>
                                    </p:animEffect>
                                    <p:set>
                                      <p:cBhvr>
                                        <p:cTn id="61" dur="1" fill="hold">
                                          <p:stCondLst>
                                            <p:cond delay="999"/>
                                          </p:stCondLst>
                                        </p:cTn>
                                        <p:tgtEl>
                                          <p:spTgt spid="35"/>
                                        </p:tgtEl>
                                        <p:attrNameLst>
                                          <p:attrName>style.visibility</p:attrName>
                                        </p:attrNameLst>
                                      </p:cBhvr>
                                      <p:to>
                                        <p:strVal val="hidden"/>
                                      </p:to>
                                    </p:set>
                                  </p:childTnLst>
                                </p:cTn>
                              </p:par>
                              <p:par>
                                <p:cTn id="62" presetID="22" presetClass="exit" presetSubtype="8" fill="hold" grpId="1" nodeType="withEffect">
                                  <p:stCondLst>
                                    <p:cond delay="0"/>
                                  </p:stCondLst>
                                  <p:childTnLst>
                                    <p:animEffect transition="out" filter="wipe(left)">
                                      <p:cBhvr>
                                        <p:cTn id="63" dur="1000"/>
                                        <p:tgtEl>
                                          <p:spTgt spid="43"/>
                                        </p:tgtEl>
                                      </p:cBhvr>
                                    </p:animEffect>
                                    <p:set>
                                      <p:cBhvr>
                                        <p:cTn id="64" dur="1" fill="hold">
                                          <p:stCondLst>
                                            <p:cond delay="999"/>
                                          </p:stCondLst>
                                        </p:cTn>
                                        <p:tgtEl>
                                          <p:spTgt spid="43"/>
                                        </p:tgtEl>
                                        <p:attrNameLst>
                                          <p:attrName>style.visibility</p:attrName>
                                        </p:attrNameLst>
                                      </p:cBhvr>
                                      <p:to>
                                        <p:strVal val="hidden"/>
                                      </p:to>
                                    </p:set>
                                  </p:childTnLst>
                                </p:cTn>
                              </p:par>
                              <p:par>
                                <p:cTn id="65" presetID="22" presetClass="entr" presetSubtype="8" fill="hold" grpId="0" nodeType="with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wipe(left)">
                                      <p:cBhvr>
                                        <p:cTn id="67" dur="1000"/>
                                        <p:tgtEl>
                                          <p:spTgt spid="28"/>
                                        </p:tgtEl>
                                      </p:cBhvr>
                                    </p:animEffect>
                                  </p:childTnLst>
                                </p:cTn>
                              </p:par>
                            </p:childTnLst>
                          </p:cTn>
                        </p:par>
                        <p:par>
                          <p:cTn id="68" fill="hold">
                            <p:stCondLst>
                              <p:cond delay="1000"/>
                            </p:stCondLst>
                            <p:childTnLst>
                              <p:par>
                                <p:cTn id="69" presetID="22" presetClass="entr" presetSubtype="8" fill="hold" grpId="0" nodeType="afterEffect">
                                  <p:stCondLst>
                                    <p:cond delay="0"/>
                                  </p:stCondLst>
                                  <p:childTnLst>
                                    <p:set>
                                      <p:cBhvr>
                                        <p:cTn id="70" dur="1" fill="hold">
                                          <p:stCondLst>
                                            <p:cond delay="0"/>
                                          </p:stCondLst>
                                        </p:cTn>
                                        <p:tgtEl>
                                          <p:spTgt spid="46"/>
                                        </p:tgtEl>
                                        <p:attrNameLst>
                                          <p:attrName>style.visibility</p:attrName>
                                        </p:attrNameLst>
                                      </p:cBhvr>
                                      <p:to>
                                        <p:strVal val="visible"/>
                                      </p:to>
                                    </p:set>
                                    <p:animEffect transition="in" filter="wipe(left)">
                                      <p:cBhvr>
                                        <p:cTn id="71" dur="1000"/>
                                        <p:tgtEl>
                                          <p:spTgt spid="46"/>
                                        </p:tgtEl>
                                      </p:cBhvr>
                                    </p:animEffect>
                                  </p:childTnLst>
                                </p:cTn>
                              </p:par>
                            </p:childTnLst>
                          </p:cTn>
                        </p:par>
                        <p:par>
                          <p:cTn id="72" fill="hold">
                            <p:stCondLst>
                              <p:cond delay="2000"/>
                            </p:stCondLst>
                            <p:childTnLst>
                              <p:par>
                                <p:cTn id="73" presetID="22" presetClass="entr" presetSubtype="2" fill="hold" nodeType="afterEffect">
                                  <p:stCondLst>
                                    <p:cond delay="0"/>
                                  </p:stCondLst>
                                  <p:childTnLst>
                                    <p:set>
                                      <p:cBhvr>
                                        <p:cTn id="74" dur="1" fill="hold">
                                          <p:stCondLst>
                                            <p:cond delay="0"/>
                                          </p:stCondLst>
                                        </p:cTn>
                                        <p:tgtEl>
                                          <p:spTgt spid="47"/>
                                        </p:tgtEl>
                                        <p:attrNameLst>
                                          <p:attrName>style.visibility</p:attrName>
                                        </p:attrNameLst>
                                      </p:cBhvr>
                                      <p:to>
                                        <p:strVal val="visible"/>
                                      </p:to>
                                    </p:set>
                                    <p:animEffect transition="in" filter="wipe(right)">
                                      <p:cBhvr>
                                        <p:cTn id="75" dur="2000"/>
                                        <p:tgtEl>
                                          <p:spTgt spid="47"/>
                                        </p:tgtEl>
                                      </p:cBhvr>
                                    </p:animEffect>
                                  </p:childTnLst>
                                </p:cTn>
                              </p:par>
                            </p:childTnLst>
                          </p:cTn>
                        </p:par>
                        <p:par>
                          <p:cTn id="76" fill="hold">
                            <p:stCondLst>
                              <p:cond delay="4000"/>
                            </p:stCondLst>
                            <p:childTnLst>
                              <p:par>
                                <p:cTn id="77" presetID="12" presetClass="entr" presetSubtype="2" fill="hold" nodeType="afterEffect">
                                  <p:stCondLst>
                                    <p:cond delay="0"/>
                                  </p:stCondLst>
                                  <p:childTnLst>
                                    <p:set>
                                      <p:cBhvr>
                                        <p:cTn id="78" dur="1" fill="hold">
                                          <p:stCondLst>
                                            <p:cond delay="0"/>
                                          </p:stCondLst>
                                        </p:cTn>
                                        <p:tgtEl>
                                          <p:spTgt spid="36"/>
                                        </p:tgtEl>
                                        <p:attrNameLst>
                                          <p:attrName>style.visibility</p:attrName>
                                        </p:attrNameLst>
                                      </p:cBhvr>
                                      <p:to>
                                        <p:strVal val="visible"/>
                                      </p:to>
                                    </p:set>
                                    <p:animEffect transition="in" filter="slide(fromRight)">
                                      <p:cBhvr>
                                        <p:cTn id="79" dur="1000"/>
                                        <p:tgtEl>
                                          <p:spTgt spid="36"/>
                                        </p:tgtEl>
                                      </p:cBhvr>
                                    </p:animEffect>
                                  </p:childTnLst>
                                </p:cTn>
                              </p:par>
                            </p:childTnLst>
                          </p:cTn>
                        </p:par>
                      </p:childTnLst>
                    </p:cTn>
                  </p:par>
                  <p:par>
                    <p:cTn id="80" fill="hold">
                      <p:stCondLst>
                        <p:cond delay="indefinite"/>
                      </p:stCondLst>
                      <p:childTnLst>
                        <p:par>
                          <p:cTn id="81" fill="hold">
                            <p:stCondLst>
                              <p:cond delay="0"/>
                            </p:stCondLst>
                            <p:childTnLst>
                              <p:par>
                                <p:cTn id="82" presetID="12" presetClass="entr" presetSubtype="8" fill="hold" nodeType="clickEffect">
                                  <p:stCondLst>
                                    <p:cond delay="0"/>
                                  </p:stCondLst>
                                  <p:childTnLst>
                                    <p:set>
                                      <p:cBhvr>
                                        <p:cTn id="83" dur="1" fill="hold">
                                          <p:stCondLst>
                                            <p:cond delay="0"/>
                                          </p:stCondLst>
                                        </p:cTn>
                                        <p:tgtEl>
                                          <p:spTgt spid="53278"/>
                                        </p:tgtEl>
                                        <p:attrNameLst>
                                          <p:attrName>style.visibility</p:attrName>
                                        </p:attrNameLst>
                                      </p:cBhvr>
                                      <p:to>
                                        <p:strVal val="visible"/>
                                      </p:to>
                                    </p:set>
                                    <p:animEffect transition="in" filter="slide(fromLeft)">
                                      <p:cBhvr>
                                        <p:cTn id="84" dur="1000"/>
                                        <p:tgtEl>
                                          <p:spTgt spid="532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34" grpId="0"/>
      <p:bldP spid="44" grpId="0"/>
      <p:bldP spid="28" grpId="0"/>
      <p:bldP spid="43" grpId="0" animBg="1"/>
      <p:bldP spid="43" grpId="1" animBg="1"/>
      <p:bldP spid="4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82575" y="785614"/>
            <a:ext cx="3757217" cy="373579"/>
            <a:chOff x="307975" y="1517134"/>
            <a:chExt cx="3757217" cy="373579"/>
          </a:xfrm>
        </p:grpSpPr>
        <p:grpSp>
          <p:nvGrpSpPr>
            <p:cNvPr id="3" name="组合 32"/>
            <p:cNvGrpSpPr/>
            <p:nvPr/>
          </p:nvGrpSpPr>
          <p:grpSpPr>
            <a:xfrm>
              <a:off x="307975" y="1519116"/>
              <a:ext cx="568325" cy="371597"/>
              <a:chOff x="307975" y="1519116"/>
              <a:chExt cx="568325" cy="371597"/>
            </a:xfrm>
          </p:grpSpPr>
          <p:pic>
            <p:nvPicPr>
              <p:cNvPr id="5" name="Picture 4"/>
              <p:cNvPicPr>
                <a:picLocks noChangeAspect="1" noChangeArrowheads="1"/>
              </p:cNvPicPr>
              <p:nvPr/>
            </p:nvPicPr>
            <p:blipFill>
              <a:blip r:embed="rId3" cstate="print"/>
              <a:srcRect/>
              <a:stretch>
                <a:fillRect/>
              </a:stretch>
            </p:blipFill>
            <p:spPr bwMode="auto">
              <a:xfrm flipH="1">
                <a:off x="307975" y="1519116"/>
                <a:ext cx="568325" cy="371597"/>
              </a:xfrm>
              <a:prstGeom prst="rect">
                <a:avLst/>
              </a:prstGeom>
              <a:noFill/>
              <a:ln w="9525">
                <a:noFill/>
                <a:miter lim="800000"/>
                <a:headEnd/>
                <a:tailEnd/>
              </a:ln>
              <a:effectLst/>
            </p:spPr>
          </p:pic>
          <p:sp>
            <p:nvSpPr>
              <p:cNvPr id="6" name="TextBox 5"/>
              <p:cNvSpPr txBox="1"/>
              <p:nvPr/>
            </p:nvSpPr>
            <p:spPr>
              <a:xfrm flipH="1">
                <a:off x="443415" y="1555750"/>
                <a:ext cx="142668" cy="276999"/>
              </a:xfrm>
              <a:prstGeom prst="rect">
                <a:avLst/>
              </a:prstGeom>
              <a:noFill/>
            </p:spPr>
            <p:txBody>
              <a:bodyPr wrap="none" lIns="0" tIns="0" rIns="0" bIns="0" rtlCol="0">
                <a:spAutoFit/>
              </a:bodyPr>
              <a:lstStyle/>
              <a:p>
                <a:r>
                  <a:rPr lang="en-US" altLang="zh-CN" b="1" dirty="0">
                    <a:solidFill>
                      <a:srgbClr val="262626"/>
                    </a:solidFill>
                    <a:latin typeface="Segoe UI Black" pitchFamily="34" charset="0"/>
                    <a:ea typeface="Segoe UI Black" pitchFamily="34" charset="0"/>
                    <a:cs typeface="Times New Roman" pitchFamily="18" charset="0"/>
                  </a:rPr>
                  <a:t>4</a:t>
                </a:r>
                <a:endParaRPr lang="zh-CN" altLang="en-US" b="1" dirty="0">
                  <a:solidFill>
                    <a:srgbClr val="262626"/>
                  </a:solidFill>
                  <a:latin typeface="Segoe UI Black" pitchFamily="34" charset="0"/>
                  <a:cs typeface="Times New Roman" pitchFamily="18" charset="0"/>
                </a:endParaRPr>
              </a:p>
            </p:txBody>
          </p:sp>
        </p:grpSp>
        <p:sp>
          <p:nvSpPr>
            <p:cNvPr id="4" name="矩形 3"/>
            <p:cNvSpPr/>
            <p:nvPr/>
          </p:nvSpPr>
          <p:spPr>
            <a:xfrm>
              <a:off x="863675" y="1517134"/>
              <a:ext cx="3201517" cy="369332"/>
            </a:xfrm>
            <a:prstGeom prst="rect">
              <a:avLst/>
            </a:prstGeom>
          </p:spPr>
          <p:txBody>
            <a:bodyPr wrap="none">
              <a:spAutoFit/>
            </a:bodyPr>
            <a:lstStyle/>
            <a:p>
              <a:r>
                <a:rPr lang="zh-CN" altLang="en-US" b="1" dirty="0">
                  <a:solidFill>
                    <a:schemeClr val="accent1">
                      <a:lumMod val="50000"/>
                    </a:schemeClr>
                  </a:solidFill>
                  <a:latin typeface="Times New Roman" panose="02020603050405020304" pitchFamily="18" charset="0"/>
                  <a:ea typeface="黑体" pitchFamily="49" charset="-122"/>
                  <a:cs typeface="Times New Roman" panose="02020603050405020304" pitchFamily="18" charset="0"/>
                </a:rPr>
                <a:t>其他类型的</a:t>
              </a:r>
              <a:r>
                <a:rPr lang="en-US" altLang="zh-CN" b="1" dirty="0">
                  <a:solidFill>
                    <a:schemeClr val="accent1">
                      <a:lumMod val="50000"/>
                    </a:schemeClr>
                  </a:solidFill>
                  <a:latin typeface="Times New Roman" panose="02020603050405020304" pitchFamily="18" charset="0"/>
                  <a:ea typeface="黑体" pitchFamily="49" charset="-122"/>
                  <a:cs typeface="Times New Roman" panose="02020603050405020304" pitchFamily="18" charset="0"/>
                </a:rPr>
                <a:t>CMOS</a:t>
              </a:r>
              <a:r>
                <a:rPr lang="zh-CN" altLang="en-US" b="1" dirty="0">
                  <a:solidFill>
                    <a:schemeClr val="accent1">
                      <a:lumMod val="50000"/>
                    </a:schemeClr>
                  </a:solidFill>
                  <a:latin typeface="Times New Roman" panose="02020603050405020304" pitchFamily="18" charset="0"/>
                  <a:ea typeface="黑体" pitchFamily="49" charset="-122"/>
                  <a:cs typeface="Times New Roman" panose="02020603050405020304" pitchFamily="18" charset="0"/>
                </a:rPr>
                <a:t>逻辑门电路</a:t>
              </a:r>
            </a:p>
          </p:txBody>
        </p:sp>
      </p:grpSp>
      <p:sp>
        <p:nvSpPr>
          <p:cNvPr id="7" name="Rectangle 14"/>
          <p:cNvSpPr>
            <a:spLocks noChangeArrowheads="1"/>
          </p:cNvSpPr>
          <p:nvPr/>
        </p:nvSpPr>
        <p:spPr bwMode="auto">
          <a:xfrm>
            <a:off x="457359" y="1283653"/>
            <a:ext cx="234680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000" b="1">
                <a:solidFill>
                  <a:schemeClr val="accent2"/>
                </a:solidFill>
                <a:latin typeface="Times New Roman" pitchFamily="18" charset="0"/>
                <a:ea typeface="宋体" charset="-122"/>
              </a:defRPr>
            </a:lvl1pPr>
            <a:lvl2pPr marL="742950" indent="-285750" eaLnBrk="0" hangingPunct="0">
              <a:defRPr sz="2000" b="1">
                <a:solidFill>
                  <a:schemeClr val="accent2"/>
                </a:solidFill>
                <a:latin typeface="Times New Roman" pitchFamily="18" charset="0"/>
                <a:ea typeface="宋体" charset="-122"/>
              </a:defRPr>
            </a:lvl2pPr>
            <a:lvl3pPr marL="1143000" indent="-228600" eaLnBrk="0" hangingPunct="0">
              <a:defRPr sz="2000" b="1">
                <a:solidFill>
                  <a:schemeClr val="accent2"/>
                </a:solidFill>
                <a:latin typeface="Times New Roman" pitchFamily="18" charset="0"/>
                <a:ea typeface="宋体" charset="-122"/>
              </a:defRPr>
            </a:lvl3pPr>
            <a:lvl4pPr marL="1600200" indent="-228600" eaLnBrk="0" hangingPunct="0">
              <a:defRPr sz="2000" b="1">
                <a:solidFill>
                  <a:schemeClr val="accent2"/>
                </a:solidFill>
                <a:latin typeface="Times New Roman" pitchFamily="18" charset="0"/>
                <a:ea typeface="宋体" charset="-122"/>
              </a:defRPr>
            </a:lvl4pPr>
            <a:lvl5pPr marL="2057400" indent="-228600" eaLnBrk="0" hangingPunct="0">
              <a:defRPr sz="2000" b="1">
                <a:solidFill>
                  <a:schemeClr val="accent2"/>
                </a:solidFill>
                <a:latin typeface="Times New Roman" pitchFamily="18" charset="0"/>
                <a:ea typeface="宋体" charset="-122"/>
              </a:defRPr>
            </a:lvl5pPr>
            <a:lvl6pPr marL="25146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6pPr>
            <a:lvl7pPr marL="29718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7pPr>
            <a:lvl8pPr marL="34290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8pPr>
            <a:lvl9pPr marL="38862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9pPr>
          </a:lstStyle>
          <a:p>
            <a:pPr eaLnBrk="1" hangingPunct="1">
              <a:spcBef>
                <a:spcPct val="0"/>
              </a:spcBef>
            </a:pPr>
            <a:r>
              <a:rPr lang="zh-CN" altLang="en-US" sz="1600" dirty="0">
                <a:solidFill>
                  <a:srgbClr val="6600FF"/>
                </a:solidFill>
                <a:latin typeface="方正粗黑宋简体" pitchFamily="2" charset="-122"/>
                <a:ea typeface="方正粗黑宋简体" pitchFamily="2" charset="-122"/>
              </a:rPr>
              <a:t>（</a:t>
            </a:r>
            <a:r>
              <a:rPr lang="en-US" altLang="zh-CN" sz="1600" dirty="0">
                <a:solidFill>
                  <a:srgbClr val="6600FF"/>
                </a:solidFill>
                <a:latin typeface="方正粗黑宋简体" pitchFamily="2" charset="-122"/>
                <a:ea typeface="方正粗黑宋简体" pitchFamily="2" charset="-122"/>
              </a:rPr>
              <a:t>1</a:t>
            </a:r>
            <a:r>
              <a:rPr lang="zh-CN" altLang="en-US" sz="1600" dirty="0">
                <a:solidFill>
                  <a:srgbClr val="6600FF"/>
                </a:solidFill>
                <a:latin typeface="方正粗黑宋简体" pitchFamily="2" charset="-122"/>
                <a:ea typeface="方正粗黑宋简体" pitchFamily="2" charset="-122"/>
              </a:rPr>
              <a:t>）</a:t>
            </a:r>
            <a:r>
              <a:rPr lang="en-US" altLang="zh-CN" sz="1600" dirty="0">
                <a:solidFill>
                  <a:srgbClr val="6600FF"/>
                </a:solidFill>
                <a:latin typeface="方正粗黑宋简体" pitchFamily="2" charset="-122"/>
                <a:ea typeface="方正粗黑宋简体" pitchFamily="2" charset="-122"/>
              </a:rPr>
              <a:t>CMOS</a:t>
            </a:r>
            <a:r>
              <a:rPr lang="zh-CN" altLang="en-US" sz="1600" dirty="0">
                <a:solidFill>
                  <a:srgbClr val="6600FF"/>
                </a:solidFill>
                <a:latin typeface="方正粗黑宋简体" pitchFamily="2" charset="-122"/>
                <a:ea typeface="方正粗黑宋简体" pitchFamily="2" charset="-122"/>
              </a:rPr>
              <a:t>与非门</a:t>
            </a:r>
          </a:p>
        </p:txBody>
      </p:sp>
      <p:graphicFrame>
        <p:nvGraphicFramePr>
          <p:cNvPr id="8" name="Object 10"/>
          <p:cNvGraphicFramePr>
            <a:graphicFrameLocks noChangeAspect="1"/>
          </p:cNvGraphicFramePr>
          <p:nvPr/>
        </p:nvGraphicFramePr>
        <p:xfrm>
          <a:off x="709613" y="2013288"/>
          <a:ext cx="2516187" cy="2760325"/>
        </p:xfrm>
        <a:graphic>
          <a:graphicData uri="http://schemas.openxmlformats.org/presentationml/2006/ole">
            <mc:AlternateContent xmlns:mc="http://schemas.openxmlformats.org/markup-compatibility/2006">
              <mc:Choice xmlns:v="urn:schemas-microsoft-com:vml" Requires="v">
                <p:oleObj spid="_x0000_s78850" name="Visio" r:id="rId4" imgW="1868962" imgH="1983563" progId="">
                  <p:embed/>
                </p:oleObj>
              </mc:Choice>
              <mc:Fallback>
                <p:oleObj name="Visio" r:id="rId4" imgW="1868962" imgH="1983563" progId="">
                  <p:embed/>
                  <p:pic>
                    <p:nvPicPr>
                      <p:cNvPr id="8"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9613" y="2013288"/>
                        <a:ext cx="2516187" cy="276032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sp>
        <p:nvSpPr>
          <p:cNvPr id="9" name="Rectangle 22"/>
          <p:cNvSpPr>
            <a:spLocks noChangeArrowheads="1"/>
          </p:cNvSpPr>
          <p:nvPr/>
        </p:nvSpPr>
        <p:spPr bwMode="auto">
          <a:xfrm>
            <a:off x="982663" y="1622425"/>
            <a:ext cx="5543505" cy="338554"/>
          </a:xfrm>
          <a:prstGeom prst="rect">
            <a:avLst/>
          </a:prstGeom>
          <a:noFill/>
          <a:ln w="9525">
            <a:noFill/>
            <a:miter lim="800000"/>
            <a:headEnd/>
            <a:tailEnd/>
          </a:ln>
        </p:spPr>
        <p:txBody>
          <a:bodyPr wrap="none" anchor="ctr">
            <a:spAutoFit/>
          </a:bodyPr>
          <a:lstStyle/>
          <a:p>
            <a:pPr eaLnBrk="0" hangingPunct="0"/>
            <a:r>
              <a:rPr lang="zh-CN" altLang="en-US" sz="1600" dirty="0">
                <a:latin typeface="Times New Roman" pitchFamily="18" charset="0"/>
                <a:ea typeface="黑体" pitchFamily="49" charset="-122"/>
                <a:cs typeface="Times New Roman" pitchFamily="18" charset="0"/>
              </a:rPr>
              <a:t>两个</a:t>
            </a:r>
            <a:r>
              <a:rPr lang="zh-CN" altLang="en-US" sz="1600" dirty="0">
                <a:solidFill>
                  <a:srgbClr val="6600FF"/>
                </a:solidFill>
                <a:latin typeface="方正粗黑宋简体" pitchFamily="2" charset="-122"/>
                <a:ea typeface="方正粗黑宋简体" pitchFamily="2" charset="-122"/>
              </a:rPr>
              <a:t>并联的</a:t>
            </a:r>
            <a:r>
              <a:rPr lang="en-US" altLang="zh-CN" sz="1600" dirty="0">
                <a:solidFill>
                  <a:srgbClr val="6600FF"/>
                </a:solidFill>
                <a:latin typeface="方正粗黑宋简体" pitchFamily="2" charset="-122"/>
                <a:ea typeface="方正粗黑宋简体" pitchFamily="2" charset="-122"/>
              </a:rPr>
              <a:t>P</a:t>
            </a:r>
            <a:r>
              <a:rPr lang="zh-CN" altLang="en-US" sz="1600" dirty="0">
                <a:solidFill>
                  <a:srgbClr val="6600FF"/>
                </a:solidFill>
                <a:latin typeface="方正粗黑宋简体" pitchFamily="2" charset="-122"/>
                <a:ea typeface="方正粗黑宋简体" pitchFamily="2" charset="-122"/>
              </a:rPr>
              <a:t>沟道</a:t>
            </a:r>
            <a:r>
              <a:rPr lang="zh-CN" altLang="en-US" sz="1600" dirty="0">
                <a:latin typeface="Times New Roman" pitchFamily="18" charset="0"/>
                <a:ea typeface="黑体" pitchFamily="49" charset="-122"/>
                <a:cs typeface="Times New Roman" pitchFamily="18" charset="0"/>
              </a:rPr>
              <a:t>和两个</a:t>
            </a:r>
            <a:r>
              <a:rPr lang="zh-CN" altLang="en-US" sz="1600" dirty="0">
                <a:solidFill>
                  <a:srgbClr val="6600FF"/>
                </a:solidFill>
                <a:latin typeface="方正粗黑宋简体" pitchFamily="2" charset="-122"/>
                <a:ea typeface="方正粗黑宋简体" pitchFamily="2" charset="-122"/>
              </a:rPr>
              <a:t>串联的</a:t>
            </a:r>
            <a:r>
              <a:rPr lang="en-US" altLang="zh-CN" sz="1600" dirty="0">
                <a:solidFill>
                  <a:srgbClr val="6600FF"/>
                </a:solidFill>
                <a:latin typeface="方正粗黑宋简体" pitchFamily="2" charset="-122"/>
                <a:ea typeface="方正粗黑宋简体" pitchFamily="2" charset="-122"/>
              </a:rPr>
              <a:t>N</a:t>
            </a:r>
            <a:r>
              <a:rPr lang="zh-CN" altLang="en-US" sz="1600" dirty="0">
                <a:solidFill>
                  <a:srgbClr val="6600FF"/>
                </a:solidFill>
                <a:latin typeface="方正粗黑宋简体" pitchFamily="2" charset="-122"/>
                <a:ea typeface="方正粗黑宋简体" pitchFamily="2" charset="-122"/>
              </a:rPr>
              <a:t>沟道</a:t>
            </a:r>
            <a:r>
              <a:rPr lang="zh-CN" altLang="en-US" sz="1600" dirty="0">
                <a:latin typeface="Times New Roman" pitchFamily="18" charset="0"/>
                <a:ea typeface="黑体" pitchFamily="49" charset="-122"/>
                <a:cs typeface="Times New Roman" pitchFamily="18" charset="0"/>
              </a:rPr>
              <a:t>增强型</a:t>
            </a:r>
            <a:r>
              <a:rPr lang="en-US" altLang="zh-CN" sz="1600" dirty="0">
                <a:latin typeface="Times New Roman" pitchFamily="18" charset="0"/>
                <a:ea typeface="黑体" pitchFamily="49" charset="-122"/>
                <a:cs typeface="Times New Roman" pitchFamily="18" charset="0"/>
              </a:rPr>
              <a:t>MOS</a:t>
            </a:r>
            <a:r>
              <a:rPr lang="zh-CN" altLang="en-US" sz="1600" dirty="0">
                <a:latin typeface="Times New Roman" pitchFamily="18" charset="0"/>
                <a:ea typeface="黑体" pitchFamily="49" charset="-122"/>
                <a:cs typeface="Times New Roman" pitchFamily="18" charset="0"/>
              </a:rPr>
              <a:t>管组成。 </a:t>
            </a:r>
          </a:p>
        </p:txBody>
      </p:sp>
      <p:sp>
        <p:nvSpPr>
          <p:cNvPr id="10" name="Rectangle 23"/>
          <p:cNvSpPr>
            <a:spLocks noChangeArrowheads="1"/>
          </p:cNvSpPr>
          <p:nvPr/>
        </p:nvSpPr>
        <p:spPr bwMode="auto">
          <a:xfrm>
            <a:off x="4154092" y="2019300"/>
            <a:ext cx="4551759" cy="1015663"/>
          </a:xfrm>
          <a:prstGeom prst="rect">
            <a:avLst/>
          </a:prstGeom>
          <a:noFill/>
          <a:ln w="9525">
            <a:noFill/>
            <a:miter lim="800000"/>
            <a:headEnd/>
            <a:tailEnd/>
          </a:ln>
        </p:spPr>
        <p:txBody>
          <a:bodyPr wrap="square">
            <a:spAutoFit/>
          </a:bodyPr>
          <a:lstStyle/>
          <a:p>
            <a:pPr marL="266700" indent="-266700" eaLnBrk="0" hangingPunct="0">
              <a:lnSpc>
                <a:spcPct val="125000"/>
              </a:lnSpc>
              <a:buFont typeface="Wingdings" pitchFamily="2" charset="2"/>
              <a:buChar char="Ø"/>
            </a:pPr>
            <a:r>
              <a:rPr lang="zh-CN" altLang="en-US" sz="1600" dirty="0">
                <a:latin typeface="Times New Roman" pitchFamily="18" charset="0"/>
                <a:ea typeface="黑体" pitchFamily="49" charset="-122"/>
                <a:cs typeface="Times New Roman" pitchFamily="18" charset="0"/>
              </a:rPr>
              <a:t>当</a:t>
            </a:r>
            <a:r>
              <a:rPr lang="en-US" altLang="zh-CN" sz="1600" dirty="0">
                <a:latin typeface="Times New Roman" pitchFamily="18" charset="0"/>
                <a:ea typeface="黑体" pitchFamily="49" charset="-122"/>
                <a:cs typeface="Times New Roman" pitchFamily="18" charset="0"/>
              </a:rPr>
              <a:t>A</a:t>
            </a:r>
            <a:r>
              <a:rPr lang="zh-CN" altLang="en-US" sz="1600" dirty="0">
                <a:latin typeface="Times New Roman" pitchFamily="18" charset="0"/>
                <a:ea typeface="黑体" pitchFamily="49" charset="-122"/>
                <a:cs typeface="Times New Roman" pitchFamily="18" charset="0"/>
              </a:rPr>
              <a:t>、</a:t>
            </a:r>
            <a:r>
              <a:rPr lang="en-US" altLang="zh-CN" sz="1600" dirty="0">
                <a:latin typeface="Times New Roman" pitchFamily="18" charset="0"/>
                <a:ea typeface="黑体" pitchFamily="49" charset="-122"/>
                <a:cs typeface="Times New Roman" pitchFamily="18" charset="0"/>
              </a:rPr>
              <a:t>B</a:t>
            </a:r>
            <a:r>
              <a:rPr lang="zh-CN" altLang="en-US" sz="1600" dirty="0">
                <a:latin typeface="Times New Roman" pitchFamily="18" charset="0"/>
                <a:ea typeface="黑体" pitchFamily="49" charset="-122"/>
                <a:cs typeface="Times New Roman" pitchFamily="18" charset="0"/>
              </a:rPr>
              <a:t>中至少有一个为低时，</a:t>
            </a:r>
            <a:r>
              <a:rPr lang="zh-CN" altLang="zh-CN" sz="1600" dirty="0">
                <a:latin typeface="Times New Roman" pitchFamily="18" charset="0"/>
                <a:ea typeface="黑体" pitchFamily="49" charset="-122"/>
                <a:cs typeface="Times New Roman" pitchFamily="18" charset="0"/>
              </a:rPr>
              <a:t>两个串联的</a:t>
            </a:r>
            <a:r>
              <a:rPr lang="en-US" altLang="zh-CN" sz="1600" dirty="0">
                <a:latin typeface="Times New Roman" pitchFamily="18" charset="0"/>
                <a:ea typeface="黑体" pitchFamily="49" charset="-122"/>
                <a:cs typeface="Times New Roman" pitchFamily="18" charset="0"/>
              </a:rPr>
              <a:t>T</a:t>
            </a:r>
            <a:r>
              <a:rPr lang="en-US" altLang="zh-CN" sz="1600" baseline="-25000" dirty="0">
                <a:latin typeface="Times New Roman" pitchFamily="18" charset="0"/>
                <a:ea typeface="黑体" pitchFamily="49" charset="-122"/>
                <a:cs typeface="Times New Roman" pitchFamily="18" charset="0"/>
              </a:rPr>
              <a:t>N</a:t>
            </a:r>
            <a:r>
              <a:rPr lang="zh-CN" altLang="zh-CN" sz="1600" dirty="0">
                <a:latin typeface="Times New Roman" pitchFamily="18" charset="0"/>
                <a:ea typeface="黑体" pitchFamily="49" charset="-122"/>
                <a:cs typeface="Times New Roman" pitchFamily="18" charset="0"/>
              </a:rPr>
              <a:t>管至少有一个截止，两个并联的</a:t>
            </a:r>
            <a:r>
              <a:rPr lang="en-US" altLang="zh-CN" sz="1600" dirty="0">
                <a:latin typeface="Times New Roman" pitchFamily="18" charset="0"/>
                <a:ea typeface="黑体" pitchFamily="49" charset="-122"/>
                <a:cs typeface="Times New Roman" pitchFamily="18" charset="0"/>
              </a:rPr>
              <a:t>T</a:t>
            </a:r>
            <a:r>
              <a:rPr lang="en-US" altLang="zh-CN" sz="1600" baseline="-25000" dirty="0">
                <a:latin typeface="Times New Roman" pitchFamily="18" charset="0"/>
                <a:ea typeface="黑体" pitchFamily="49" charset="-122"/>
                <a:cs typeface="Times New Roman" pitchFamily="18" charset="0"/>
              </a:rPr>
              <a:t>P</a:t>
            </a:r>
            <a:r>
              <a:rPr lang="zh-CN" altLang="zh-CN" sz="1600" dirty="0">
                <a:latin typeface="Times New Roman" pitchFamily="18" charset="0"/>
                <a:ea typeface="黑体" pitchFamily="49" charset="-122"/>
                <a:cs typeface="Times New Roman" pitchFamily="18" charset="0"/>
              </a:rPr>
              <a:t>管中至少有一个导通</a:t>
            </a:r>
            <a:r>
              <a:rPr lang="zh-CN" altLang="en-US" sz="1600" dirty="0">
                <a:latin typeface="Times New Roman" pitchFamily="18" charset="0"/>
                <a:ea typeface="黑体" pitchFamily="49" charset="-122"/>
                <a:cs typeface="Times New Roman" pitchFamily="18" charset="0"/>
              </a:rPr>
              <a:t>，输出为高电平；</a:t>
            </a:r>
          </a:p>
        </p:txBody>
      </p:sp>
      <p:sp>
        <p:nvSpPr>
          <p:cNvPr id="11" name="Rectangle 24"/>
          <p:cNvSpPr>
            <a:spLocks noChangeArrowheads="1"/>
          </p:cNvSpPr>
          <p:nvPr/>
        </p:nvSpPr>
        <p:spPr bwMode="auto">
          <a:xfrm>
            <a:off x="4154092" y="2981523"/>
            <a:ext cx="4685108" cy="707886"/>
          </a:xfrm>
          <a:prstGeom prst="rect">
            <a:avLst/>
          </a:prstGeom>
          <a:noFill/>
          <a:ln w="9525">
            <a:noFill/>
            <a:miter lim="800000"/>
            <a:headEnd/>
            <a:tailEnd/>
          </a:ln>
        </p:spPr>
        <p:txBody>
          <a:bodyPr wrap="square" anchor="ctr">
            <a:spAutoFit/>
          </a:bodyPr>
          <a:lstStyle/>
          <a:p>
            <a:pPr marL="266700" indent="-266700" eaLnBrk="0" hangingPunct="0">
              <a:lnSpc>
                <a:spcPct val="125000"/>
              </a:lnSpc>
              <a:buFont typeface="Wingdings" pitchFamily="2" charset="2"/>
              <a:buChar char="Ø"/>
            </a:pPr>
            <a:r>
              <a:rPr lang="zh-CN" altLang="en-US" sz="1600" dirty="0">
                <a:latin typeface="Times New Roman" pitchFamily="18" charset="0"/>
                <a:ea typeface="黑体" pitchFamily="49" charset="-122"/>
                <a:cs typeface="Times New Roman" pitchFamily="18" charset="0"/>
              </a:rPr>
              <a:t>当</a:t>
            </a:r>
            <a:r>
              <a:rPr lang="en-US" altLang="zh-CN" sz="1600" dirty="0">
                <a:latin typeface="Times New Roman" pitchFamily="18" charset="0"/>
                <a:ea typeface="黑体" pitchFamily="49" charset="-122"/>
                <a:cs typeface="Times New Roman" pitchFamily="18" charset="0"/>
              </a:rPr>
              <a:t>A</a:t>
            </a:r>
            <a:r>
              <a:rPr lang="zh-CN" altLang="en-US" sz="1600" dirty="0">
                <a:latin typeface="Times New Roman" pitchFamily="18" charset="0"/>
                <a:ea typeface="黑体" pitchFamily="49" charset="-122"/>
                <a:cs typeface="Times New Roman" pitchFamily="18" charset="0"/>
              </a:rPr>
              <a:t>、</a:t>
            </a:r>
            <a:r>
              <a:rPr lang="en-US" altLang="zh-CN" sz="1600" dirty="0">
                <a:latin typeface="Times New Roman" pitchFamily="18" charset="0"/>
                <a:ea typeface="黑体" pitchFamily="49" charset="-122"/>
                <a:cs typeface="Times New Roman" pitchFamily="18" charset="0"/>
              </a:rPr>
              <a:t>B</a:t>
            </a:r>
            <a:r>
              <a:rPr lang="zh-CN" altLang="en-US" sz="1600" dirty="0">
                <a:latin typeface="Times New Roman" pitchFamily="18" charset="0"/>
                <a:ea typeface="黑体" pitchFamily="49" charset="-122"/>
                <a:cs typeface="Times New Roman" pitchFamily="18" charset="0"/>
              </a:rPr>
              <a:t>全为高时，两串联的</a:t>
            </a:r>
            <a:r>
              <a:rPr lang="en-US" altLang="zh-CN" sz="1600" dirty="0">
                <a:latin typeface="Times New Roman" pitchFamily="18" charset="0"/>
                <a:ea typeface="黑体" pitchFamily="49" charset="-122"/>
                <a:cs typeface="Times New Roman" pitchFamily="18" charset="0"/>
              </a:rPr>
              <a:t>T</a:t>
            </a:r>
            <a:r>
              <a:rPr lang="en-US" altLang="zh-CN" sz="1600" baseline="-25000" dirty="0">
                <a:latin typeface="Times New Roman" pitchFamily="18" charset="0"/>
                <a:ea typeface="黑体" pitchFamily="49" charset="-122"/>
                <a:cs typeface="Times New Roman" pitchFamily="18" charset="0"/>
              </a:rPr>
              <a:t>N</a:t>
            </a:r>
            <a:r>
              <a:rPr lang="zh-CN" altLang="en-US" sz="1600" dirty="0">
                <a:latin typeface="Times New Roman" pitchFamily="18" charset="0"/>
                <a:ea typeface="黑体" pitchFamily="49" charset="-122"/>
                <a:cs typeface="Times New Roman" pitchFamily="18" charset="0"/>
              </a:rPr>
              <a:t>管均导通，两并联的</a:t>
            </a:r>
            <a:r>
              <a:rPr lang="en-US" altLang="zh-CN" sz="1600" dirty="0">
                <a:latin typeface="Times New Roman" pitchFamily="18" charset="0"/>
                <a:ea typeface="黑体" pitchFamily="49" charset="-122"/>
                <a:cs typeface="Times New Roman" pitchFamily="18" charset="0"/>
              </a:rPr>
              <a:t>T</a:t>
            </a:r>
            <a:r>
              <a:rPr lang="en-US" altLang="zh-CN" sz="1600" baseline="-25000" dirty="0">
                <a:latin typeface="Times New Roman" pitchFamily="18" charset="0"/>
                <a:ea typeface="黑体" pitchFamily="49" charset="-122"/>
                <a:cs typeface="Times New Roman" pitchFamily="18" charset="0"/>
              </a:rPr>
              <a:t>P</a:t>
            </a:r>
            <a:r>
              <a:rPr lang="zh-CN" altLang="en-US" sz="1600" dirty="0">
                <a:latin typeface="Times New Roman" pitchFamily="18" charset="0"/>
                <a:ea typeface="黑体" pitchFamily="49" charset="-122"/>
                <a:cs typeface="Times New Roman" pitchFamily="18" charset="0"/>
              </a:rPr>
              <a:t>管均截止，输出为低电平。</a:t>
            </a:r>
          </a:p>
        </p:txBody>
      </p:sp>
      <p:graphicFrame>
        <p:nvGraphicFramePr>
          <p:cNvPr id="12" name="Object 25"/>
          <p:cNvGraphicFramePr>
            <a:graphicFrameLocks noChangeAspect="1"/>
          </p:cNvGraphicFramePr>
          <p:nvPr/>
        </p:nvGraphicFramePr>
        <p:xfrm>
          <a:off x="5675313" y="3778251"/>
          <a:ext cx="1411287" cy="420268"/>
        </p:xfrm>
        <a:graphic>
          <a:graphicData uri="http://schemas.openxmlformats.org/presentationml/2006/ole">
            <mc:AlternateContent xmlns:mc="http://schemas.openxmlformats.org/markup-compatibility/2006">
              <mc:Choice xmlns:v="urn:schemas-microsoft-com:vml" Requires="v">
                <p:oleObj spid="_x0000_s78851" name="公式" r:id="rId6" imgW="609336" imgH="203112" progId="">
                  <p:embed/>
                </p:oleObj>
              </mc:Choice>
              <mc:Fallback>
                <p:oleObj name="公式" r:id="rId6" imgW="609336" imgH="203112" progId="">
                  <p:embed/>
                  <p:pic>
                    <p:nvPicPr>
                      <p:cNvPr id="12" name="Object 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75313" y="3778251"/>
                        <a:ext cx="1411287" cy="4202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0" name="组合 19"/>
          <p:cNvGrpSpPr/>
          <p:nvPr/>
        </p:nvGrpSpPr>
        <p:grpSpPr>
          <a:xfrm>
            <a:off x="419100" y="2447925"/>
            <a:ext cx="2447925" cy="685800"/>
            <a:chOff x="419100" y="2447925"/>
            <a:chExt cx="2447925" cy="685800"/>
          </a:xfrm>
        </p:grpSpPr>
        <p:sp>
          <p:nvSpPr>
            <p:cNvPr id="15" name="椭圆 14"/>
            <p:cNvSpPr/>
            <p:nvPr/>
          </p:nvSpPr>
          <p:spPr>
            <a:xfrm>
              <a:off x="1600200" y="2447925"/>
              <a:ext cx="1266825" cy="685800"/>
            </a:xfrm>
            <a:prstGeom prst="ellipse">
              <a:avLst/>
            </a:prstGeom>
            <a:solidFill>
              <a:schemeClr val="accent1">
                <a:alpha val="30000"/>
              </a:schemeClr>
            </a:solidFill>
            <a:ln w="1905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AutoShape 134"/>
            <p:cNvSpPr>
              <a:spLocks noChangeArrowheads="1"/>
            </p:cNvSpPr>
            <p:nvPr/>
          </p:nvSpPr>
          <p:spPr bwMode="auto">
            <a:xfrm>
              <a:off x="419100" y="2490275"/>
              <a:ext cx="961831" cy="590110"/>
            </a:xfrm>
            <a:prstGeom prst="wedgeRoundRectCallout">
              <a:avLst>
                <a:gd name="adj1" fmla="val 75350"/>
                <a:gd name="adj2" fmla="val 7119"/>
                <a:gd name="adj3" fmla="val 16667"/>
              </a:avLst>
            </a:prstGeom>
            <a:solidFill>
              <a:srgbClr val="FFFF99"/>
            </a:solidFill>
            <a:ln w="19050">
              <a:solidFill>
                <a:srgbClr val="FF00FF"/>
              </a:solid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spcBef>
                  <a:spcPts val="600"/>
                </a:spcBef>
              </a:pPr>
              <a:r>
                <a:rPr lang="zh-CN" altLang="en-US" sz="1600" dirty="0">
                  <a:solidFill>
                    <a:schemeClr val="tx1"/>
                  </a:solidFill>
                  <a:latin typeface="方正粗黑宋简体" pitchFamily="2" charset="-122"/>
                  <a:ea typeface="方正粗黑宋简体" pitchFamily="2" charset="-122"/>
                </a:rPr>
                <a:t>至少</a:t>
              </a:r>
              <a:r>
                <a:rPr lang="en-US" altLang="zh-CN" sz="1600" dirty="0">
                  <a:solidFill>
                    <a:schemeClr val="tx1"/>
                  </a:solidFill>
                  <a:latin typeface="方正粗黑宋简体" pitchFamily="2" charset="-122"/>
                  <a:ea typeface="方正粗黑宋简体" pitchFamily="2" charset="-122"/>
                </a:rPr>
                <a:t>1</a:t>
              </a:r>
              <a:r>
                <a:rPr lang="zh-CN" altLang="en-US" sz="1600" dirty="0">
                  <a:solidFill>
                    <a:schemeClr val="tx1"/>
                  </a:solidFill>
                  <a:latin typeface="方正粗黑宋简体" pitchFamily="2" charset="-122"/>
                  <a:ea typeface="方正粗黑宋简体" pitchFamily="2" charset="-122"/>
                </a:rPr>
                <a:t>个导通</a:t>
              </a:r>
              <a:endParaRPr lang="en-US" altLang="zh-CN" sz="1600" dirty="0">
                <a:solidFill>
                  <a:schemeClr val="tx1"/>
                </a:solidFill>
                <a:latin typeface="方正粗黑宋简体" pitchFamily="2" charset="-122"/>
                <a:ea typeface="方正粗黑宋简体" pitchFamily="2" charset="-122"/>
              </a:endParaRPr>
            </a:p>
          </p:txBody>
        </p:sp>
      </p:grpSp>
      <p:grpSp>
        <p:nvGrpSpPr>
          <p:cNvPr id="21" name="组合 20"/>
          <p:cNvGrpSpPr/>
          <p:nvPr/>
        </p:nvGrpSpPr>
        <p:grpSpPr>
          <a:xfrm>
            <a:off x="2238376" y="3419474"/>
            <a:ext cx="1761930" cy="1680211"/>
            <a:chOff x="2238376" y="3419474"/>
            <a:chExt cx="1761930" cy="1680211"/>
          </a:xfrm>
        </p:grpSpPr>
        <p:sp>
          <p:nvSpPr>
            <p:cNvPr id="16" name="椭圆 15"/>
            <p:cNvSpPr/>
            <p:nvPr/>
          </p:nvSpPr>
          <p:spPr>
            <a:xfrm>
              <a:off x="2238376" y="3419474"/>
              <a:ext cx="781050" cy="1152525"/>
            </a:xfrm>
            <a:prstGeom prst="ellipse">
              <a:avLst/>
            </a:prstGeom>
            <a:solidFill>
              <a:srgbClr val="FF0000">
                <a:alpha val="30000"/>
              </a:srgbClr>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AutoShape 134"/>
            <p:cNvSpPr>
              <a:spLocks noChangeArrowheads="1"/>
            </p:cNvSpPr>
            <p:nvPr/>
          </p:nvSpPr>
          <p:spPr bwMode="auto">
            <a:xfrm>
              <a:off x="2927985" y="4509575"/>
              <a:ext cx="1072321" cy="590110"/>
            </a:xfrm>
            <a:prstGeom prst="wedgeRoundRectCallout">
              <a:avLst>
                <a:gd name="adj1" fmla="val -48118"/>
                <a:gd name="adj2" fmla="val -89727"/>
                <a:gd name="adj3" fmla="val 16667"/>
              </a:avLst>
            </a:prstGeom>
            <a:solidFill>
              <a:srgbClr val="FFFF99"/>
            </a:solidFill>
            <a:ln w="19050">
              <a:solidFill>
                <a:srgbClr val="FF00FF"/>
              </a:solid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spcBef>
                  <a:spcPts val="600"/>
                </a:spcBef>
              </a:pPr>
              <a:r>
                <a:rPr lang="zh-CN" altLang="en-US" sz="1600" dirty="0">
                  <a:solidFill>
                    <a:schemeClr val="tx1"/>
                  </a:solidFill>
                  <a:latin typeface="方正粗黑宋简体" pitchFamily="2" charset="-122"/>
                  <a:ea typeface="方正粗黑宋简体" pitchFamily="2" charset="-122"/>
                </a:rPr>
                <a:t>至少有</a:t>
              </a:r>
              <a:r>
                <a:rPr lang="en-US" altLang="zh-CN" sz="1600" dirty="0">
                  <a:solidFill>
                    <a:schemeClr val="tx1"/>
                  </a:solidFill>
                  <a:latin typeface="方正粗黑宋简体" pitchFamily="2" charset="-122"/>
                  <a:ea typeface="方正粗黑宋简体" pitchFamily="2" charset="-122"/>
                </a:rPr>
                <a:t>1</a:t>
              </a:r>
              <a:r>
                <a:rPr lang="zh-CN" altLang="en-US" sz="1600" dirty="0">
                  <a:solidFill>
                    <a:schemeClr val="tx1"/>
                  </a:solidFill>
                  <a:latin typeface="方正粗黑宋简体" pitchFamily="2" charset="-122"/>
                  <a:ea typeface="方正粗黑宋简体" pitchFamily="2" charset="-122"/>
                </a:rPr>
                <a:t>个截止</a:t>
              </a:r>
              <a:endParaRPr lang="en-US" altLang="zh-CN" sz="1600" dirty="0">
                <a:solidFill>
                  <a:schemeClr val="tx1"/>
                </a:solidFill>
                <a:latin typeface="方正粗黑宋简体" pitchFamily="2" charset="-122"/>
                <a:ea typeface="方正粗黑宋简体" pitchFamily="2" charset="-122"/>
              </a:endParaRPr>
            </a:p>
          </p:txBody>
        </p:sp>
      </p:grpSp>
      <p:sp>
        <p:nvSpPr>
          <p:cNvPr id="19" name="AutoShape 134"/>
          <p:cNvSpPr>
            <a:spLocks noChangeArrowheads="1"/>
          </p:cNvSpPr>
          <p:nvPr/>
        </p:nvSpPr>
        <p:spPr bwMode="auto">
          <a:xfrm>
            <a:off x="3147060" y="3557075"/>
            <a:ext cx="1167765" cy="433900"/>
          </a:xfrm>
          <a:prstGeom prst="wedgeRoundRectCallout">
            <a:avLst>
              <a:gd name="adj1" fmla="val -60626"/>
              <a:gd name="adj2" fmla="val -110065"/>
              <a:gd name="adj3" fmla="val 16667"/>
            </a:avLst>
          </a:prstGeom>
          <a:solidFill>
            <a:srgbClr val="FFFF99"/>
          </a:solidFill>
          <a:ln w="19050">
            <a:solidFill>
              <a:srgbClr val="FF00FF"/>
            </a:solid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spcBef>
                <a:spcPts val="600"/>
              </a:spcBef>
            </a:pPr>
            <a:r>
              <a:rPr lang="zh-CN" altLang="en-US" sz="1600" dirty="0">
                <a:solidFill>
                  <a:schemeClr val="tx1"/>
                </a:solidFill>
                <a:latin typeface="方正粗黑宋简体" pitchFamily="2" charset="-122"/>
                <a:ea typeface="方正粗黑宋简体" pitchFamily="2" charset="-122"/>
              </a:rPr>
              <a:t>输出高电平</a:t>
            </a:r>
            <a:endParaRPr lang="en-US" altLang="zh-CN" sz="1600" dirty="0">
              <a:solidFill>
                <a:schemeClr val="tx1"/>
              </a:solidFill>
              <a:latin typeface="方正粗黑宋简体" pitchFamily="2" charset="-122"/>
              <a:ea typeface="方正粗黑宋简体" pitchFamily="2" charset="-122"/>
            </a:endParaRPr>
          </a:p>
        </p:txBody>
      </p:sp>
      <p:grpSp>
        <p:nvGrpSpPr>
          <p:cNvPr id="22" name="组合 21"/>
          <p:cNvGrpSpPr/>
          <p:nvPr/>
        </p:nvGrpSpPr>
        <p:grpSpPr>
          <a:xfrm>
            <a:off x="411480" y="2446020"/>
            <a:ext cx="2447925" cy="685800"/>
            <a:chOff x="419100" y="2447925"/>
            <a:chExt cx="2447925" cy="685800"/>
          </a:xfrm>
        </p:grpSpPr>
        <p:sp>
          <p:nvSpPr>
            <p:cNvPr id="23" name="椭圆 22"/>
            <p:cNvSpPr/>
            <p:nvPr/>
          </p:nvSpPr>
          <p:spPr>
            <a:xfrm>
              <a:off x="1600200" y="2447925"/>
              <a:ext cx="1266825" cy="685800"/>
            </a:xfrm>
            <a:prstGeom prst="ellipse">
              <a:avLst/>
            </a:prstGeom>
            <a:solidFill>
              <a:schemeClr val="accent1">
                <a:alpha val="30000"/>
              </a:schemeClr>
            </a:solidFill>
            <a:ln w="1905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AutoShape 134"/>
            <p:cNvSpPr>
              <a:spLocks noChangeArrowheads="1"/>
            </p:cNvSpPr>
            <p:nvPr/>
          </p:nvSpPr>
          <p:spPr bwMode="auto">
            <a:xfrm>
              <a:off x="419100" y="2490275"/>
              <a:ext cx="961831" cy="590110"/>
            </a:xfrm>
            <a:prstGeom prst="wedgeRoundRectCallout">
              <a:avLst>
                <a:gd name="adj1" fmla="val 75350"/>
                <a:gd name="adj2" fmla="val 7119"/>
                <a:gd name="adj3" fmla="val 16667"/>
              </a:avLst>
            </a:prstGeom>
            <a:solidFill>
              <a:srgbClr val="FFFF99"/>
            </a:solidFill>
            <a:ln w="19050">
              <a:solidFill>
                <a:srgbClr val="FF00FF"/>
              </a:solid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r>
                <a:rPr lang="zh-CN" altLang="en-US" sz="1600" dirty="0">
                  <a:solidFill>
                    <a:schemeClr val="tx1"/>
                  </a:solidFill>
                  <a:latin typeface="方正粗黑宋简体" pitchFamily="2" charset="-122"/>
                  <a:ea typeface="方正粗黑宋简体" pitchFamily="2" charset="-122"/>
                </a:rPr>
                <a:t>两个均</a:t>
              </a:r>
              <a:endParaRPr lang="en-US" altLang="zh-CN" sz="1600" dirty="0">
                <a:solidFill>
                  <a:schemeClr val="tx1"/>
                </a:solidFill>
                <a:latin typeface="方正粗黑宋简体" pitchFamily="2" charset="-122"/>
                <a:ea typeface="方正粗黑宋简体" pitchFamily="2" charset="-122"/>
              </a:endParaRPr>
            </a:p>
            <a:p>
              <a:pPr algn="ctr"/>
              <a:r>
                <a:rPr lang="zh-CN" altLang="en-US" sz="1600" dirty="0">
                  <a:solidFill>
                    <a:schemeClr val="tx1"/>
                  </a:solidFill>
                  <a:latin typeface="方正粗黑宋简体" pitchFamily="2" charset="-122"/>
                  <a:ea typeface="方正粗黑宋简体" pitchFamily="2" charset="-122"/>
                </a:rPr>
                <a:t>截止</a:t>
              </a:r>
              <a:endParaRPr lang="en-US" altLang="zh-CN" sz="1600" dirty="0">
                <a:solidFill>
                  <a:schemeClr val="tx1"/>
                </a:solidFill>
                <a:latin typeface="方正粗黑宋简体" pitchFamily="2" charset="-122"/>
                <a:ea typeface="方正粗黑宋简体" pitchFamily="2" charset="-122"/>
              </a:endParaRPr>
            </a:p>
          </p:txBody>
        </p:sp>
      </p:grpSp>
      <p:grpSp>
        <p:nvGrpSpPr>
          <p:cNvPr id="25" name="组合 24"/>
          <p:cNvGrpSpPr/>
          <p:nvPr/>
        </p:nvGrpSpPr>
        <p:grpSpPr>
          <a:xfrm>
            <a:off x="2230756" y="3411854"/>
            <a:ext cx="1761930" cy="1680211"/>
            <a:chOff x="2238376" y="3419474"/>
            <a:chExt cx="1761930" cy="1680211"/>
          </a:xfrm>
        </p:grpSpPr>
        <p:sp>
          <p:nvSpPr>
            <p:cNvPr id="26" name="椭圆 25"/>
            <p:cNvSpPr/>
            <p:nvPr/>
          </p:nvSpPr>
          <p:spPr>
            <a:xfrm>
              <a:off x="2238376" y="3419474"/>
              <a:ext cx="781050" cy="1152525"/>
            </a:xfrm>
            <a:prstGeom prst="ellipse">
              <a:avLst/>
            </a:prstGeom>
            <a:solidFill>
              <a:srgbClr val="FF0000">
                <a:alpha val="30000"/>
              </a:srgbClr>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AutoShape 134"/>
            <p:cNvSpPr>
              <a:spLocks noChangeArrowheads="1"/>
            </p:cNvSpPr>
            <p:nvPr/>
          </p:nvSpPr>
          <p:spPr bwMode="auto">
            <a:xfrm>
              <a:off x="2927985" y="4509575"/>
              <a:ext cx="1072321" cy="590110"/>
            </a:xfrm>
            <a:prstGeom prst="wedgeRoundRectCallout">
              <a:avLst>
                <a:gd name="adj1" fmla="val -48118"/>
                <a:gd name="adj2" fmla="val -89727"/>
                <a:gd name="adj3" fmla="val 16667"/>
              </a:avLst>
            </a:prstGeom>
            <a:solidFill>
              <a:srgbClr val="FFFF99"/>
            </a:solidFill>
            <a:ln w="19050">
              <a:solidFill>
                <a:srgbClr val="FF00FF"/>
              </a:solid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r>
                <a:rPr lang="zh-CN" altLang="en-US" sz="1600" dirty="0">
                  <a:solidFill>
                    <a:schemeClr val="tx1"/>
                  </a:solidFill>
                  <a:latin typeface="方正粗黑宋简体" pitchFamily="2" charset="-122"/>
                  <a:ea typeface="方正粗黑宋简体" pitchFamily="2" charset="-122"/>
                </a:rPr>
                <a:t>两个均</a:t>
              </a:r>
              <a:endParaRPr lang="en-US" altLang="zh-CN" sz="1600" dirty="0">
                <a:solidFill>
                  <a:schemeClr val="tx1"/>
                </a:solidFill>
                <a:latin typeface="方正粗黑宋简体" pitchFamily="2" charset="-122"/>
                <a:ea typeface="方正粗黑宋简体" pitchFamily="2" charset="-122"/>
              </a:endParaRPr>
            </a:p>
            <a:p>
              <a:pPr algn="ctr"/>
              <a:r>
                <a:rPr lang="zh-CN" altLang="en-US" sz="1600" dirty="0">
                  <a:solidFill>
                    <a:schemeClr val="tx1"/>
                  </a:solidFill>
                  <a:latin typeface="方正粗黑宋简体" pitchFamily="2" charset="-122"/>
                  <a:ea typeface="方正粗黑宋简体" pitchFamily="2" charset="-122"/>
                </a:rPr>
                <a:t>导通</a:t>
              </a:r>
              <a:endParaRPr lang="en-US" altLang="zh-CN" sz="1600" dirty="0">
                <a:solidFill>
                  <a:schemeClr val="tx1"/>
                </a:solidFill>
                <a:latin typeface="方正粗黑宋简体" pitchFamily="2" charset="-122"/>
                <a:ea typeface="方正粗黑宋简体" pitchFamily="2" charset="-122"/>
              </a:endParaRPr>
            </a:p>
          </p:txBody>
        </p:sp>
      </p:grpSp>
      <p:sp>
        <p:nvSpPr>
          <p:cNvPr id="28" name="AutoShape 134"/>
          <p:cNvSpPr>
            <a:spLocks noChangeArrowheads="1"/>
          </p:cNvSpPr>
          <p:nvPr/>
        </p:nvSpPr>
        <p:spPr bwMode="auto">
          <a:xfrm>
            <a:off x="3139440" y="3554216"/>
            <a:ext cx="1167765" cy="433900"/>
          </a:xfrm>
          <a:prstGeom prst="wedgeRoundRectCallout">
            <a:avLst>
              <a:gd name="adj1" fmla="val -60626"/>
              <a:gd name="adj2" fmla="val -110065"/>
              <a:gd name="adj3" fmla="val 16667"/>
            </a:avLst>
          </a:prstGeom>
          <a:solidFill>
            <a:srgbClr val="FFFF99"/>
          </a:solidFill>
          <a:ln w="19050">
            <a:solidFill>
              <a:srgbClr val="FF00FF"/>
            </a:solid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spcBef>
                <a:spcPts val="600"/>
              </a:spcBef>
            </a:pPr>
            <a:r>
              <a:rPr lang="zh-CN" altLang="en-US" sz="1600" dirty="0">
                <a:solidFill>
                  <a:schemeClr val="tx1"/>
                </a:solidFill>
                <a:latin typeface="方正粗黑宋简体" pitchFamily="2" charset="-122"/>
                <a:ea typeface="方正粗黑宋简体" pitchFamily="2" charset="-122"/>
              </a:rPr>
              <a:t>输出低电平</a:t>
            </a:r>
            <a:endParaRPr lang="en-US" altLang="zh-CN" sz="1600" dirty="0">
              <a:solidFill>
                <a:schemeClr val="tx1"/>
              </a:solidFill>
              <a:latin typeface="方正粗黑宋简体" pitchFamily="2" charset="-122"/>
              <a:ea typeface="方正粗黑宋简体" pitchFamily="2" charset="-122"/>
            </a:endParaRPr>
          </a:p>
        </p:txBody>
      </p:sp>
      <p:sp>
        <p:nvSpPr>
          <p:cNvPr id="30" name="圆角矩形 29"/>
          <p:cNvSpPr/>
          <p:nvPr/>
        </p:nvSpPr>
        <p:spPr>
          <a:xfrm>
            <a:off x="4882514" y="4305300"/>
            <a:ext cx="3971926" cy="781050"/>
          </a:xfrm>
          <a:prstGeom prst="roundRect">
            <a:avLst>
              <a:gd name="adj" fmla="val 21930"/>
            </a:avLst>
          </a:prstGeom>
          <a:solidFill>
            <a:srgbClr val="66FF66"/>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25475" indent="-625475">
              <a:lnSpc>
                <a:spcPct val="150000"/>
              </a:lnSpc>
            </a:pPr>
            <a:r>
              <a:rPr lang="zh-CN" altLang="en-US" sz="1600" dirty="0">
                <a:solidFill>
                  <a:schemeClr val="tx1"/>
                </a:solidFill>
                <a:latin typeface="Times New Roman" pitchFamily="18" charset="0"/>
                <a:ea typeface="黑体" pitchFamily="49" charset="-122"/>
                <a:cs typeface="Times New Roman" pitchFamily="18" charset="0"/>
              </a:rPr>
              <a:t>推广：</a:t>
            </a:r>
            <a:r>
              <a:rPr lang="en-US" altLang="zh-CN" sz="1600" dirty="0">
                <a:solidFill>
                  <a:schemeClr val="tx1"/>
                </a:solidFill>
                <a:latin typeface="Times New Roman" pitchFamily="18" charset="0"/>
                <a:ea typeface="黑体" pitchFamily="49" charset="-122"/>
                <a:cs typeface="Times New Roman" pitchFamily="18" charset="0"/>
              </a:rPr>
              <a:t>n</a:t>
            </a:r>
            <a:r>
              <a:rPr lang="zh-CN" altLang="en-US" sz="1600" dirty="0">
                <a:solidFill>
                  <a:schemeClr val="tx1"/>
                </a:solidFill>
                <a:latin typeface="Times New Roman" pitchFamily="18" charset="0"/>
                <a:ea typeface="黑体" pitchFamily="49" charset="-122"/>
                <a:cs typeface="Times New Roman" pitchFamily="18" charset="0"/>
              </a:rPr>
              <a:t>个</a:t>
            </a:r>
            <a:r>
              <a:rPr lang="en-US" altLang="zh-CN" sz="1600" dirty="0">
                <a:solidFill>
                  <a:schemeClr val="tx1"/>
                </a:solidFill>
                <a:latin typeface="Times New Roman" pitchFamily="18" charset="0"/>
                <a:ea typeface="黑体" pitchFamily="49" charset="-122"/>
                <a:cs typeface="Times New Roman" pitchFamily="18" charset="0"/>
              </a:rPr>
              <a:t>T</a:t>
            </a:r>
            <a:r>
              <a:rPr lang="en-US" altLang="zh-CN" sz="1600" baseline="-25000" dirty="0">
                <a:solidFill>
                  <a:schemeClr val="tx1"/>
                </a:solidFill>
                <a:latin typeface="Times New Roman" pitchFamily="18" charset="0"/>
                <a:ea typeface="黑体" pitchFamily="49" charset="-122"/>
                <a:cs typeface="Times New Roman" pitchFamily="18" charset="0"/>
              </a:rPr>
              <a:t>N</a:t>
            </a:r>
            <a:r>
              <a:rPr lang="zh-CN" altLang="en-US" sz="1600" dirty="0">
                <a:solidFill>
                  <a:schemeClr val="tx1"/>
                </a:solidFill>
                <a:latin typeface="Times New Roman" pitchFamily="18" charset="0"/>
                <a:ea typeface="黑体" pitchFamily="49" charset="-122"/>
                <a:cs typeface="Times New Roman" pitchFamily="18" charset="0"/>
              </a:rPr>
              <a:t>管串联和</a:t>
            </a:r>
            <a:r>
              <a:rPr lang="en-US" altLang="zh-CN" sz="1600" dirty="0">
                <a:solidFill>
                  <a:schemeClr val="tx1"/>
                </a:solidFill>
                <a:latin typeface="Times New Roman" pitchFamily="18" charset="0"/>
                <a:ea typeface="黑体" pitchFamily="49" charset="-122"/>
                <a:cs typeface="Times New Roman" pitchFamily="18" charset="0"/>
              </a:rPr>
              <a:t>n</a:t>
            </a:r>
            <a:r>
              <a:rPr lang="zh-CN" altLang="en-US" sz="1600" dirty="0">
                <a:solidFill>
                  <a:schemeClr val="tx1"/>
                </a:solidFill>
                <a:latin typeface="Times New Roman" pitchFamily="18" charset="0"/>
                <a:ea typeface="黑体" pitchFamily="49" charset="-122"/>
                <a:cs typeface="Times New Roman" pitchFamily="18" charset="0"/>
              </a:rPr>
              <a:t>个</a:t>
            </a:r>
            <a:r>
              <a:rPr lang="en-US" altLang="zh-CN" sz="1600" dirty="0">
                <a:solidFill>
                  <a:schemeClr val="tx1"/>
                </a:solidFill>
                <a:latin typeface="Times New Roman" pitchFamily="18" charset="0"/>
                <a:ea typeface="黑体" pitchFamily="49" charset="-122"/>
                <a:cs typeface="Times New Roman" pitchFamily="18" charset="0"/>
              </a:rPr>
              <a:t>T</a:t>
            </a:r>
            <a:r>
              <a:rPr lang="en-US" altLang="zh-CN" sz="1600" baseline="-25000" dirty="0">
                <a:solidFill>
                  <a:schemeClr val="tx1"/>
                </a:solidFill>
                <a:latin typeface="Times New Roman" pitchFamily="18" charset="0"/>
                <a:ea typeface="黑体" pitchFamily="49" charset="-122"/>
                <a:cs typeface="Times New Roman" pitchFamily="18" charset="0"/>
              </a:rPr>
              <a:t>P</a:t>
            </a:r>
            <a:r>
              <a:rPr lang="zh-CN" altLang="en-US" sz="1600" dirty="0">
                <a:solidFill>
                  <a:schemeClr val="tx1"/>
                </a:solidFill>
                <a:latin typeface="Times New Roman" pitchFamily="18" charset="0"/>
                <a:ea typeface="黑体" pitchFamily="49" charset="-122"/>
                <a:cs typeface="Times New Roman" pitchFamily="18" charset="0"/>
              </a:rPr>
              <a:t>并联可构成</a:t>
            </a:r>
            <a:r>
              <a:rPr lang="en-US" altLang="zh-CN" sz="1600" dirty="0">
                <a:solidFill>
                  <a:schemeClr val="tx1"/>
                </a:solidFill>
                <a:latin typeface="Times New Roman" pitchFamily="18" charset="0"/>
                <a:ea typeface="黑体" pitchFamily="49" charset="-122"/>
                <a:cs typeface="Times New Roman" pitchFamily="18" charset="0"/>
              </a:rPr>
              <a:t>n</a:t>
            </a:r>
            <a:r>
              <a:rPr lang="zh-CN" altLang="en-US" sz="1600" dirty="0">
                <a:solidFill>
                  <a:schemeClr val="tx1"/>
                </a:solidFill>
                <a:latin typeface="Times New Roman" pitchFamily="18" charset="0"/>
                <a:ea typeface="黑体" pitchFamily="49" charset="-122"/>
                <a:cs typeface="Times New Roman" pitchFamily="18" charset="0"/>
              </a:rPr>
              <a:t>输入端的与非门</a:t>
            </a:r>
            <a:endParaRPr lang="zh-CN" altLang="en-US" sz="1600" dirty="0"/>
          </a:p>
        </p:txBody>
      </p:sp>
    </p:spTree>
  </p:cSld>
  <p:clrMapOvr>
    <a:masterClrMapping/>
  </p:clrMapOvr>
  <mc:AlternateContent xmlns:mc="http://schemas.openxmlformats.org/markup-compatibility/2006" xmlns:p14="http://schemas.microsoft.com/office/powerpoint/2010/main">
    <mc:Choice Requires="p14">
      <p:transition spd="slow" p14:dur="1200">
        <p14:prism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1000"/>
                                        <p:tgtEl>
                                          <p:spTgt spid="2"/>
                                        </p:tgtEl>
                                      </p:cBhvr>
                                    </p:animEffect>
                                  </p:childTnLst>
                                </p:cTn>
                              </p:par>
                            </p:childTnLst>
                          </p:cTn>
                        </p:par>
                        <p:par>
                          <p:cTn id="8" fill="hold">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slide(fromBottom)">
                                      <p:cBhvr>
                                        <p:cTn id="11" dur="1000"/>
                                        <p:tgtEl>
                                          <p:spTgt spid="7"/>
                                        </p:tgtEl>
                                      </p:cBhvr>
                                    </p:animEffect>
                                  </p:childTnLst>
                                </p:cTn>
                              </p:par>
                            </p:childTnLst>
                          </p:cTn>
                        </p:par>
                        <p:par>
                          <p:cTn id="12" fill="hold">
                            <p:stCondLst>
                              <p:cond delay="2000"/>
                            </p:stCondLst>
                            <p:childTnLst>
                              <p:par>
                                <p:cTn id="13" presetID="12" presetClass="entr" presetSubtype="4"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slide(fromBottom)">
                                      <p:cBhvr>
                                        <p:cTn id="15" dur="1000"/>
                                        <p:tgtEl>
                                          <p:spTgt spid="9"/>
                                        </p:tgtEl>
                                      </p:cBhvr>
                                    </p:animEffect>
                                  </p:childTnLst>
                                </p:cTn>
                              </p:par>
                            </p:childTnLst>
                          </p:cTn>
                        </p:par>
                        <p:par>
                          <p:cTn id="16" fill="hold">
                            <p:stCondLst>
                              <p:cond delay="3000"/>
                            </p:stCondLst>
                            <p:childTnLst>
                              <p:par>
                                <p:cTn id="17" presetID="12" presetClass="entr" presetSubtype="4"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slide(fromBottom)">
                                      <p:cBhvr>
                                        <p:cTn id="19" dur="10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left)">
                                      <p:cBhvr>
                                        <p:cTn id="24" dur="1000"/>
                                        <p:tgtEl>
                                          <p:spTgt spid="10"/>
                                        </p:tgtEl>
                                      </p:cBhvr>
                                    </p:animEffect>
                                  </p:childTnLst>
                                </p:cTn>
                              </p:par>
                            </p:childTnLst>
                          </p:cTn>
                        </p:par>
                        <p:par>
                          <p:cTn id="25" fill="hold">
                            <p:stCondLst>
                              <p:cond delay="1000"/>
                            </p:stCondLst>
                            <p:childTnLst>
                              <p:par>
                                <p:cTn id="26" presetID="22" presetClass="entr" presetSubtype="1" fill="hold" nodeType="after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wipe(up)">
                                      <p:cBhvr>
                                        <p:cTn id="28" dur="1000"/>
                                        <p:tgtEl>
                                          <p:spTgt spid="21"/>
                                        </p:tgtEl>
                                      </p:cBhvr>
                                    </p:animEffect>
                                  </p:childTnLst>
                                </p:cTn>
                              </p:par>
                            </p:childTnLst>
                          </p:cTn>
                        </p:par>
                        <p:par>
                          <p:cTn id="29" fill="hold">
                            <p:stCondLst>
                              <p:cond delay="2000"/>
                            </p:stCondLst>
                            <p:childTnLst>
                              <p:par>
                                <p:cTn id="30" presetID="22" presetClass="entr" presetSubtype="2" fill="hold" nodeType="after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right)">
                                      <p:cBhvr>
                                        <p:cTn id="32" dur="1000"/>
                                        <p:tgtEl>
                                          <p:spTgt spid="20"/>
                                        </p:tgtEl>
                                      </p:cBhvr>
                                    </p:animEffect>
                                  </p:childTnLst>
                                </p:cTn>
                              </p:par>
                            </p:childTnLst>
                          </p:cTn>
                        </p:par>
                        <p:par>
                          <p:cTn id="33" fill="hold">
                            <p:stCondLst>
                              <p:cond delay="3000"/>
                            </p:stCondLst>
                            <p:childTnLst>
                              <p:par>
                                <p:cTn id="34" presetID="22" presetClass="entr" presetSubtype="8" fill="hold" grpId="0" nodeType="after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wipe(left)">
                                      <p:cBhvr>
                                        <p:cTn id="36" dur="1000"/>
                                        <p:tgtEl>
                                          <p:spTgt spid="19"/>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xit" presetSubtype="8" fill="hold" nodeType="clickEffect">
                                  <p:stCondLst>
                                    <p:cond delay="0"/>
                                  </p:stCondLst>
                                  <p:childTnLst>
                                    <p:animEffect transition="out" filter="wipe(left)">
                                      <p:cBhvr>
                                        <p:cTn id="40" dur="1000"/>
                                        <p:tgtEl>
                                          <p:spTgt spid="20"/>
                                        </p:tgtEl>
                                      </p:cBhvr>
                                    </p:animEffect>
                                    <p:set>
                                      <p:cBhvr>
                                        <p:cTn id="41" dur="1" fill="hold">
                                          <p:stCondLst>
                                            <p:cond delay="999"/>
                                          </p:stCondLst>
                                        </p:cTn>
                                        <p:tgtEl>
                                          <p:spTgt spid="20"/>
                                        </p:tgtEl>
                                        <p:attrNameLst>
                                          <p:attrName>style.visibility</p:attrName>
                                        </p:attrNameLst>
                                      </p:cBhvr>
                                      <p:to>
                                        <p:strVal val="hidden"/>
                                      </p:to>
                                    </p:set>
                                  </p:childTnLst>
                                </p:cTn>
                              </p:par>
                              <p:par>
                                <p:cTn id="42" presetID="22" presetClass="exit" presetSubtype="8" fill="hold" grpId="1" nodeType="withEffect">
                                  <p:stCondLst>
                                    <p:cond delay="0"/>
                                  </p:stCondLst>
                                  <p:childTnLst>
                                    <p:animEffect transition="out" filter="wipe(left)">
                                      <p:cBhvr>
                                        <p:cTn id="43" dur="1000"/>
                                        <p:tgtEl>
                                          <p:spTgt spid="19"/>
                                        </p:tgtEl>
                                      </p:cBhvr>
                                    </p:animEffect>
                                    <p:set>
                                      <p:cBhvr>
                                        <p:cTn id="44" dur="1" fill="hold">
                                          <p:stCondLst>
                                            <p:cond delay="999"/>
                                          </p:stCondLst>
                                        </p:cTn>
                                        <p:tgtEl>
                                          <p:spTgt spid="19"/>
                                        </p:tgtEl>
                                        <p:attrNameLst>
                                          <p:attrName>style.visibility</p:attrName>
                                        </p:attrNameLst>
                                      </p:cBhvr>
                                      <p:to>
                                        <p:strVal val="hidden"/>
                                      </p:to>
                                    </p:set>
                                  </p:childTnLst>
                                </p:cTn>
                              </p:par>
                              <p:par>
                                <p:cTn id="45" presetID="22" presetClass="exit" presetSubtype="8" fill="hold" nodeType="withEffect">
                                  <p:stCondLst>
                                    <p:cond delay="0"/>
                                  </p:stCondLst>
                                  <p:childTnLst>
                                    <p:animEffect transition="out" filter="wipe(left)">
                                      <p:cBhvr>
                                        <p:cTn id="46" dur="1000"/>
                                        <p:tgtEl>
                                          <p:spTgt spid="21"/>
                                        </p:tgtEl>
                                      </p:cBhvr>
                                    </p:animEffect>
                                    <p:set>
                                      <p:cBhvr>
                                        <p:cTn id="47" dur="1" fill="hold">
                                          <p:stCondLst>
                                            <p:cond delay="999"/>
                                          </p:stCondLst>
                                        </p:cTn>
                                        <p:tgtEl>
                                          <p:spTgt spid="21"/>
                                        </p:tgtEl>
                                        <p:attrNameLst>
                                          <p:attrName>style.visibility</p:attrName>
                                        </p:attrNameLst>
                                      </p:cBhvr>
                                      <p:to>
                                        <p:strVal val="hidden"/>
                                      </p:to>
                                    </p:set>
                                  </p:childTnLst>
                                </p:cTn>
                              </p:par>
                              <p:par>
                                <p:cTn id="48" presetID="22" presetClass="entr" presetSubtype="8" fill="hold" grpId="0" nodeType="with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wipe(left)">
                                      <p:cBhvr>
                                        <p:cTn id="50" dur="1000"/>
                                        <p:tgtEl>
                                          <p:spTgt spid="11"/>
                                        </p:tgtEl>
                                      </p:cBhvr>
                                    </p:animEffect>
                                  </p:childTnLst>
                                </p:cTn>
                              </p:par>
                            </p:childTnLst>
                          </p:cTn>
                        </p:par>
                        <p:par>
                          <p:cTn id="51" fill="hold">
                            <p:stCondLst>
                              <p:cond delay="1000"/>
                            </p:stCondLst>
                            <p:childTnLst>
                              <p:par>
                                <p:cTn id="52" presetID="22" presetClass="entr" presetSubtype="1" fill="hold" nodeType="after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wipe(up)">
                                      <p:cBhvr>
                                        <p:cTn id="54" dur="1000"/>
                                        <p:tgtEl>
                                          <p:spTgt spid="25"/>
                                        </p:tgtEl>
                                      </p:cBhvr>
                                    </p:animEffect>
                                  </p:childTnLst>
                                </p:cTn>
                              </p:par>
                            </p:childTnLst>
                          </p:cTn>
                        </p:par>
                        <p:par>
                          <p:cTn id="55" fill="hold">
                            <p:stCondLst>
                              <p:cond delay="2000"/>
                            </p:stCondLst>
                            <p:childTnLst>
                              <p:par>
                                <p:cTn id="56" presetID="22" presetClass="entr" presetSubtype="2" fill="hold" nodeType="after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1000"/>
                                        <p:tgtEl>
                                          <p:spTgt spid="22"/>
                                        </p:tgtEl>
                                      </p:cBhvr>
                                    </p:animEffect>
                                  </p:childTnLst>
                                </p:cTn>
                              </p:par>
                            </p:childTnLst>
                          </p:cTn>
                        </p:par>
                        <p:par>
                          <p:cTn id="59" fill="hold">
                            <p:stCondLst>
                              <p:cond delay="3000"/>
                            </p:stCondLst>
                            <p:childTnLst>
                              <p:par>
                                <p:cTn id="60" presetID="22" presetClass="entr" presetSubtype="8" fill="hold" grpId="0" nodeType="after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wipe(left)">
                                      <p:cBhvr>
                                        <p:cTn id="62" dur="1000"/>
                                        <p:tgtEl>
                                          <p:spTgt spid="28"/>
                                        </p:tgtEl>
                                      </p:cBhvr>
                                    </p:animEffect>
                                  </p:childTnLst>
                                </p:cTn>
                              </p:par>
                            </p:childTnLst>
                          </p:cTn>
                        </p:par>
                      </p:childTnLst>
                    </p:cTn>
                  </p:par>
                  <p:par>
                    <p:cTn id="63" fill="hold">
                      <p:stCondLst>
                        <p:cond delay="indefinite"/>
                      </p:stCondLst>
                      <p:childTnLst>
                        <p:par>
                          <p:cTn id="64" fill="hold">
                            <p:stCondLst>
                              <p:cond delay="0"/>
                            </p:stCondLst>
                            <p:childTnLst>
                              <p:par>
                                <p:cTn id="65" presetID="12" presetClass="entr" presetSubtype="4" fill="hold" nodeType="clickEffect">
                                  <p:stCondLst>
                                    <p:cond delay="0"/>
                                  </p:stCondLst>
                                  <p:childTnLst>
                                    <p:set>
                                      <p:cBhvr>
                                        <p:cTn id="66" dur="1" fill="hold">
                                          <p:stCondLst>
                                            <p:cond delay="0"/>
                                          </p:stCondLst>
                                        </p:cTn>
                                        <p:tgtEl>
                                          <p:spTgt spid="12"/>
                                        </p:tgtEl>
                                        <p:attrNameLst>
                                          <p:attrName>style.visibility</p:attrName>
                                        </p:attrNameLst>
                                      </p:cBhvr>
                                      <p:to>
                                        <p:strVal val="visible"/>
                                      </p:to>
                                    </p:set>
                                    <p:animEffect transition="in" filter="slide(fromBottom)">
                                      <p:cBhvr>
                                        <p:cTn id="67" dur="1000"/>
                                        <p:tgtEl>
                                          <p:spTgt spid="12"/>
                                        </p:tgtEl>
                                      </p:cBhvr>
                                    </p:animEffect>
                                  </p:childTnLst>
                                </p:cTn>
                              </p:par>
                            </p:childTnLst>
                          </p:cTn>
                        </p:par>
                      </p:childTnLst>
                    </p:cTn>
                  </p:par>
                  <p:par>
                    <p:cTn id="68" fill="hold">
                      <p:stCondLst>
                        <p:cond delay="indefinite"/>
                      </p:stCondLst>
                      <p:childTnLst>
                        <p:par>
                          <p:cTn id="69" fill="hold">
                            <p:stCondLst>
                              <p:cond delay="0"/>
                            </p:stCondLst>
                            <p:childTnLst>
                              <p:par>
                                <p:cTn id="70" presetID="12" presetClass="entr" presetSubtype="4" fill="hold" grpId="0" nodeType="clickEffect">
                                  <p:stCondLst>
                                    <p:cond delay="0"/>
                                  </p:stCondLst>
                                  <p:childTnLst>
                                    <p:set>
                                      <p:cBhvr>
                                        <p:cTn id="71" dur="1" fill="hold">
                                          <p:stCondLst>
                                            <p:cond delay="0"/>
                                          </p:stCondLst>
                                        </p:cTn>
                                        <p:tgtEl>
                                          <p:spTgt spid="30"/>
                                        </p:tgtEl>
                                        <p:attrNameLst>
                                          <p:attrName>style.visibility</p:attrName>
                                        </p:attrNameLst>
                                      </p:cBhvr>
                                      <p:to>
                                        <p:strVal val="visible"/>
                                      </p:to>
                                    </p:set>
                                    <p:animEffect transition="in" filter="slide(fromBottom)">
                                      <p:cBhvr>
                                        <p:cTn id="72" dur="10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P spid="11" grpId="0"/>
      <p:bldP spid="19" grpId="0" animBg="1"/>
      <p:bldP spid="19" grpId="1" animBg="1"/>
      <p:bldP spid="28" grpId="0" animBg="1"/>
      <p:bldP spid="3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4"/>
          <p:cNvSpPr>
            <a:spLocks noChangeArrowheads="1"/>
          </p:cNvSpPr>
          <p:nvPr/>
        </p:nvSpPr>
        <p:spPr bwMode="auto">
          <a:xfrm>
            <a:off x="457359" y="1283653"/>
            <a:ext cx="234680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000" b="1">
                <a:solidFill>
                  <a:schemeClr val="accent2"/>
                </a:solidFill>
                <a:latin typeface="Times New Roman" pitchFamily="18" charset="0"/>
                <a:ea typeface="宋体" charset="-122"/>
              </a:defRPr>
            </a:lvl1pPr>
            <a:lvl2pPr marL="742950" indent="-285750" eaLnBrk="0" hangingPunct="0">
              <a:defRPr sz="2000" b="1">
                <a:solidFill>
                  <a:schemeClr val="accent2"/>
                </a:solidFill>
                <a:latin typeface="Times New Roman" pitchFamily="18" charset="0"/>
                <a:ea typeface="宋体" charset="-122"/>
              </a:defRPr>
            </a:lvl2pPr>
            <a:lvl3pPr marL="1143000" indent="-228600" eaLnBrk="0" hangingPunct="0">
              <a:defRPr sz="2000" b="1">
                <a:solidFill>
                  <a:schemeClr val="accent2"/>
                </a:solidFill>
                <a:latin typeface="Times New Roman" pitchFamily="18" charset="0"/>
                <a:ea typeface="宋体" charset="-122"/>
              </a:defRPr>
            </a:lvl3pPr>
            <a:lvl4pPr marL="1600200" indent="-228600" eaLnBrk="0" hangingPunct="0">
              <a:defRPr sz="2000" b="1">
                <a:solidFill>
                  <a:schemeClr val="accent2"/>
                </a:solidFill>
                <a:latin typeface="Times New Roman" pitchFamily="18" charset="0"/>
                <a:ea typeface="宋体" charset="-122"/>
              </a:defRPr>
            </a:lvl4pPr>
            <a:lvl5pPr marL="2057400" indent="-228600" eaLnBrk="0" hangingPunct="0">
              <a:defRPr sz="2000" b="1">
                <a:solidFill>
                  <a:schemeClr val="accent2"/>
                </a:solidFill>
                <a:latin typeface="Times New Roman" pitchFamily="18" charset="0"/>
                <a:ea typeface="宋体" charset="-122"/>
              </a:defRPr>
            </a:lvl5pPr>
            <a:lvl6pPr marL="25146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6pPr>
            <a:lvl7pPr marL="29718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7pPr>
            <a:lvl8pPr marL="34290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8pPr>
            <a:lvl9pPr marL="38862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9pPr>
          </a:lstStyle>
          <a:p>
            <a:pPr eaLnBrk="1" hangingPunct="1">
              <a:spcBef>
                <a:spcPct val="0"/>
              </a:spcBef>
            </a:pPr>
            <a:r>
              <a:rPr lang="zh-CN" altLang="en-US" sz="1600" dirty="0">
                <a:solidFill>
                  <a:srgbClr val="6600FF"/>
                </a:solidFill>
                <a:latin typeface="方正粗黑宋简体" pitchFamily="2" charset="-122"/>
                <a:ea typeface="方正粗黑宋简体" pitchFamily="2" charset="-122"/>
              </a:rPr>
              <a:t>（</a:t>
            </a:r>
            <a:r>
              <a:rPr lang="en-US" altLang="zh-CN" sz="1600" dirty="0">
                <a:solidFill>
                  <a:srgbClr val="6600FF"/>
                </a:solidFill>
                <a:latin typeface="方正粗黑宋简体" pitchFamily="2" charset="-122"/>
                <a:ea typeface="方正粗黑宋简体" pitchFamily="2" charset="-122"/>
              </a:rPr>
              <a:t>2</a:t>
            </a:r>
            <a:r>
              <a:rPr lang="zh-CN" altLang="en-US" sz="1600" dirty="0">
                <a:solidFill>
                  <a:srgbClr val="6600FF"/>
                </a:solidFill>
                <a:latin typeface="方正粗黑宋简体" pitchFamily="2" charset="-122"/>
                <a:ea typeface="方正粗黑宋简体" pitchFamily="2" charset="-122"/>
              </a:rPr>
              <a:t>）</a:t>
            </a:r>
            <a:r>
              <a:rPr lang="en-US" altLang="zh-CN" sz="1600" dirty="0">
                <a:solidFill>
                  <a:srgbClr val="6600FF"/>
                </a:solidFill>
                <a:latin typeface="方正粗黑宋简体" pitchFamily="2" charset="-122"/>
                <a:ea typeface="方正粗黑宋简体" pitchFamily="2" charset="-122"/>
              </a:rPr>
              <a:t>CMOS</a:t>
            </a:r>
            <a:r>
              <a:rPr lang="zh-CN" altLang="en-US" sz="1600" dirty="0">
                <a:solidFill>
                  <a:srgbClr val="6600FF"/>
                </a:solidFill>
                <a:latin typeface="方正粗黑宋简体" pitchFamily="2" charset="-122"/>
                <a:ea typeface="方正粗黑宋简体" pitchFamily="2" charset="-122"/>
              </a:rPr>
              <a:t>或非门</a:t>
            </a:r>
          </a:p>
        </p:txBody>
      </p:sp>
      <p:sp>
        <p:nvSpPr>
          <p:cNvPr id="8" name="Rectangle 22"/>
          <p:cNvSpPr>
            <a:spLocks noChangeArrowheads="1"/>
          </p:cNvSpPr>
          <p:nvPr/>
        </p:nvSpPr>
        <p:spPr bwMode="auto">
          <a:xfrm>
            <a:off x="982663" y="1651000"/>
            <a:ext cx="5687776" cy="338554"/>
          </a:xfrm>
          <a:prstGeom prst="rect">
            <a:avLst/>
          </a:prstGeom>
          <a:noFill/>
          <a:ln w="9525">
            <a:noFill/>
            <a:miter lim="800000"/>
            <a:headEnd/>
            <a:tailEnd/>
          </a:ln>
        </p:spPr>
        <p:txBody>
          <a:bodyPr wrap="none" anchor="ctr">
            <a:spAutoFit/>
          </a:bodyPr>
          <a:lstStyle/>
          <a:p>
            <a:pPr eaLnBrk="0" hangingPunct="0"/>
            <a:r>
              <a:rPr lang="zh-CN" altLang="en-US" sz="1600" dirty="0">
                <a:latin typeface="Times New Roman" pitchFamily="18" charset="0"/>
                <a:ea typeface="黑体" pitchFamily="49" charset="-122"/>
                <a:cs typeface="Times New Roman" pitchFamily="18" charset="0"/>
              </a:rPr>
              <a:t>两个</a:t>
            </a:r>
            <a:r>
              <a:rPr lang="zh-CN" altLang="en-US" sz="1600" dirty="0">
                <a:solidFill>
                  <a:srgbClr val="6600FF"/>
                </a:solidFill>
                <a:latin typeface="方正粗黑宋简体" pitchFamily="2" charset="-122"/>
                <a:ea typeface="方正粗黑宋简体" pitchFamily="2" charset="-122"/>
              </a:rPr>
              <a:t>串联的</a:t>
            </a:r>
            <a:r>
              <a:rPr lang="en-US" altLang="zh-CN" sz="1600" dirty="0">
                <a:solidFill>
                  <a:srgbClr val="6600FF"/>
                </a:solidFill>
                <a:latin typeface="方正粗黑宋简体" pitchFamily="2" charset="-122"/>
                <a:ea typeface="方正粗黑宋简体" pitchFamily="2" charset="-122"/>
              </a:rPr>
              <a:t>P</a:t>
            </a:r>
            <a:r>
              <a:rPr lang="zh-CN" altLang="en-US" sz="1600" dirty="0">
                <a:solidFill>
                  <a:srgbClr val="6600FF"/>
                </a:solidFill>
                <a:latin typeface="方正粗黑宋简体" pitchFamily="2" charset="-122"/>
                <a:ea typeface="方正粗黑宋简体" pitchFamily="2" charset="-122"/>
              </a:rPr>
              <a:t>沟道</a:t>
            </a:r>
            <a:r>
              <a:rPr lang="zh-CN" altLang="en-US" sz="1600" dirty="0">
                <a:latin typeface="Times New Roman" pitchFamily="18" charset="0"/>
                <a:ea typeface="黑体" pitchFamily="49" charset="-122"/>
                <a:cs typeface="Times New Roman" pitchFamily="18" charset="0"/>
              </a:rPr>
              <a:t>和两个</a:t>
            </a:r>
            <a:r>
              <a:rPr lang="zh-CN" altLang="en-US" sz="1600" dirty="0">
                <a:solidFill>
                  <a:srgbClr val="6600FF"/>
                </a:solidFill>
                <a:latin typeface="方正粗黑宋简体" pitchFamily="2" charset="-122"/>
                <a:ea typeface="方正粗黑宋简体" pitchFamily="2" charset="-122"/>
              </a:rPr>
              <a:t>并联的</a:t>
            </a:r>
            <a:r>
              <a:rPr lang="en-US" altLang="zh-CN" sz="1600" dirty="0">
                <a:solidFill>
                  <a:srgbClr val="6600FF"/>
                </a:solidFill>
                <a:latin typeface="方正粗黑宋简体" pitchFamily="2" charset="-122"/>
                <a:ea typeface="方正粗黑宋简体" pitchFamily="2" charset="-122"/>
              </a:rPr>
              <a:t>N</a:t>
            </a:r>
            <a:r>
              <a:rPr lang="zh-CN" altLang="en-US" sz="1600" dirty="0">
                <a:solidFill>
                  <a:srgbClr val="6600FF"/>
                </a:solidFill>
                <a:latin typeface="方正粗黑宋简体" pitchFamily="2" charset="-122"/>
                <a:ea typeface="方正粗黑宋简体" pitchFamily="2" charset="-122"/>
              </a:rPr>
              <a:t>沟道</a:t>
            </a:r>
            <a:r>
              <a:rPr lang="zh-CN" altLang="en-US" sz="1600" dirty="0">
                <a:latin typeface="Times New Roman" pitchFamily="18" charset="0"/>
                <a:ea typeface="黑体" pitchFamily="49" charset="-122"/>
                <a:cs typeface="Times New Roman" pitchFamily="18" charset="0"/>
              </a:rPr>
              <a:t>增强型</a:t>
            </a:r>
            <a:r>
              <a:rPr lang="en-US" altLang="zh-CN" sz="1600" dirty="0">
                <a:latin typeface="Times New Roman" pitchFamily="18" charset="0"/>
                <a:ea typeface="黑体" pitchFamily="49" charset="-122"/>
                <a:cs typeface="Times New Roman" pitchFamily="18" charset="0"/>
              </a:rPr>
              <a:t>MOS</a:t>
            </a:r>
            <a:r>
              <a:rPr lang="zh-CN" altLang="en-US" sz="1600" dirty="0">
                <a:latin typeface="Times New Roman" pitchFamily="18" charset="0"/>
                <a:ea typeface="黑体" pitchFamily="49" charset="-122"/>
                <a:cs typeface="Times New Roman" pitchFamily="18" charset="0"/>
              </a:rPr>
              <a:t>管组成。 </a:t>
            </a:r>
          </a:p>
        </p:txBody>
      </p:sp>
      <p:graphicFrame>
        <p:nvGraphicFramePr>
          <p:cNvPr id="58411" name="Object 43"/>
          <p:cNvGraphicFramePr>
            <a:graphicFrameLocks noChangeAspect="1"/>
          </p:cNvGraphicFramePr>
          <p:nvPr/>
        </p:nvGraphicFramePr>
        <p:xfrm>
          <a:off x="800100" y="2105024"/>
          <a:ext cx="2677703" cy="2647951"/>
        </p:xfrm>
        <a:graphic>
          <a:graphicData uri="http://schemas.openxmlformats.org/presentationml/2006/ole">
            <mc:AlternateContent xmlns:mc="http://schemas.openxmlformats.org/markup-compatibility/2006">
              <mc:Choice xmlns:v="urn:schemas-microsoft-com:vml" Requires="v">
                <p:oleObj spid="_x0000_s79874" name="Visio" r:id="rId3" imgW="2105630" imgH="1805064" progId="">
                  <p:embed/>
                </p:oleObj>
              </mc:Choice>
              <mc:Fallback>
                <p:oleObj name="Visio" r:id="rId3" imgW="2105630" imgH="1805064" progId="">
                  <p:embed/>
                  <p:pic>
                    <p:nvPicPr>
                      <p:cNvPr id="58411" name="Object 43"/>
                      <p:cNvPicPr>
                        <a:picLocks noChangeAspect="1" noChangeArrowheads="1"/>
                      </p:cNvPicPr>
                      <p:nvPr/>
                    </p:nvPicPr>
                    <p:blipFill>
                      <a:blip r:embed="rId4">
                        <a:extLst>
                          <a:ext uri="{28A0092B-C50C-407E-A947-70E740481C1C}">
                            <a14:useLocalDpi xmlns:a14="http://schemas.microsoft.com/office/drawing/2010/main" val="0"/>
                          </a:ext>
                        </a:extLst>
                      </a:blip>
                      <a:srcRect l="9396"/>
                      <a:stretch>
                        <a:fillRect/>
                      </a:stretch>
                    </p:blipFill>
                    <p:spPr bwMode="auto">
                      <a:xfrm>
                        <a:off x="800100" y="2105024"/>
                        <a:ext cx="2677703" cy="264795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sp>
        <p:nvSpPr>
          <p:cNvPr id="10" name="Rectangle 23"/>
          <p:cNvSpPr>
            <a:spLocks noChangeArrowheads="1"/>
          </p:cNvSpPr>
          <p:nvPr/>
        </p:nvSpPr>
        <p:spPr bwMode="auto">
          <a:xfrm>
            <a:off x="3703638" y="2066925"/>
            <a:ext cx="4995862" cy="1015663"/>
          </a:xfrm>
          <a:prstGeom prst="rect">
            <a:avLst/>
          </a:prstGeom>
          <a:noFill/>
          <a:ln w="9525">
            <a:noFill/>
            <a:miter lim="800000"/>
            <a:headEnd/>
            <a:tailEnd/>
          </a:ln>
        </p:spPr>
        <p:txBody>
          <a:bodyPr>
            <a:spAutoFit/>
          </a:bodyPr>
          <a:lstStyle/>
          <a:p>
            <a:pPr marL="266700" indent="-266700" eaLnBrk="0" hangingPunct="0">
              <a:lnSpc>
                <a:spcPct val="125000"/>
              </a:lnSpc>
              <a:buFont typeface="Wingdings" pitchFamily="2" charset="2"/>
              <a:buChar char="Ø"/>
            </a:pPr>
            <a:r>
              <a:rPr lang="zh-CN" altLang="en-US" sz="1600" dirty="0">
                <a:latin typeface="Times New Roman" pitchFamily="18" charset="0"/>
                <a:ea typeface="黑体" pitchFamily="49" charset="-122"/>
                <a:cs typeface="Times New Roman" pitchFamily="18" charset="0"/>
              </a:rPr>
              <a:t>当</a:t>
            </a:r>
            <a:r>
              <a:rPr lang="en-US" altLang="zh-CN" sz="1600" dirty="0">
                <a:latin typeface="Times New Roman" pitchFamily="18" charset="0"/>
                <a:ea typeface="黑体" pitchFamily="49" charset="-122"/>
                <a:cs typeface="Times New Roman" pitchFamily="18" charset="0"/>
              </a:rPr>
              <a:t>A</a:t>
            </a:r>
            <a:r>
              <a:rPr lang="zh-CN" altLang="en-US" sz="1600" dirty="0">
                <a:latin typeface="Times New Roman" pitchFamily="18" charset="0"/>
                <a:ea typeface="黑体" pitchFamily="49" charset="-122"/>
                <a:cs typeface="Times New Roman" pitchFamily="18" charset="0"/>
              </a:rPr>
              <a:t>、</a:t>
            </a:r>
            <a:r>
              <a:rPr lang="en-US" altLang="zh-CN" sz="1600" dirty="0">
                <a:latin typeface="Times New Roman" pitchFamily="18" charset="0"/>
                <a:ea typeface="黑体" pitchFamily="49" charset="-122"/>
                <a:cs typeface="Times New Roman" pitchFamily="18" charset="0"/>
              </a:rPr>
              <a:t>B</a:t>
            </a:r>
            <a:r>
              <a:rPr lang="zh-CN" altLang="en-US" sz="1600" dirty="0">
                <a:latin typeface="Times New Roman" pitchFamily="18" charset="0"/>
                <a:ea typeface="黑体" pitchFamily="49" charset="-122"/>
                <a:cs typeface="Times New Roman" pitchFamily="18" charset="0"/>
              </a:rPr>
              <a:t>中至少有一个为高时，</a:t>
            </a:r>
            <a:r>
              <a:rPr lang="zh-CN" altLang="zh-CN" sz="1600" dirty="0">
                <a:latin typeface="Times New Roman" pitchFamily="18" charset="0"/>
                <a:ea typeface="黑体" pitchFamily="49" charset="-122"/>
                <a:cs typeface="Times New Roman" pitchFamily="18" charset="0"/>
              </a:rPr>
              <a:t>两个串联的</a:t>
            </a:r>
            <a:r>
              <a:rPr lang="en-US" altLang="zh-CN" sz="1600" dirty="0">
                <a:latin typeface="Times New Roman" pitchFamily="18" charset="0"/>
                <a:ea typeface="黑体" pitchFamily="49" charset="-122"/>
                <a:cs typeface="Times New Roman" pitchFamily="18" charset="0"/>
              </a:rPr>
              <a:t>T</a:t>
            </a:r>
            <a:r>
              <a:rPr lang="en-US" altLang="zh-CN" sz="1600" baseline="-25000" dirty="0">
                <a:latin typeface="Times New Roman" pitchFamily="18" charset="0"/>
                <a:ea typeface="黑体" pitchFamily="49" charset="-122"/>
                <a:cs typeface="Times New Roman" pitchFamily="18" charset="0"/>
              </a:rPr>
              <a:t>P</a:t>
            </a:r>
            <a:r>
              <a:rPr lang="zh-CN" altLang="zh-CN" sz="1600" dirty="0">
                <a:latin typeface="Times New Roman" pitchFamily="18" charset="0"/>
                <a:ea typeface="黑体" pitchFamily="49" charset="-122"/>
                <a:cs typeface="Times New Roman" pitchFamily="18" charset="0"/>
              </a:rPr>
              <a:t>管至少有一个截止，两个并联的</a:t>
            </a:r>
            <a:r>
              <a:rPr lang="en-US" altLang="zh-CN" sz="1600" dirty="0">
                <a:latin typeface="Times New Roman" pitchFamily="18" charset="0"/>
                <a:ea typeface="黑体" pitchFamily="49" charset="-122"/>
                <a:cs typeface="Times New Roman" pitchFamily="18" charset="0"/>
              </a:rPr>
              <a:t>T</a:t>
            </a:r>
            <a:r>
              <a:rPr lang="en-US" altLang="zh-CN" sz="1600" baseline="-25000" dirty="0">
                <a:latin typeface="Times New Roman" pitchFamily="18" charset="0"/>
                <a:ea typeface="黑体" pitchFamily="49" charset="-122"/>
                <a:cs typeface="Times New Roman" pitchFamily="18" charset="0"/>
              </a:rPr>
              <a:t>N</a:t>
            </a:r>
            <a:r>
              <a:rPr lang="zh-CN" altLang="zh-CN" sz="1600" dirty="0">
                <a:latin typeface="Times New Roman" pitchFamily="18" charset="0"/>
                <a:ea typeface="黑体" pitchFamily="49" charset="-122"/>
                <a:cs typeface="Times New Roman" pitchFamily="18" charset="0"/>
              </a:rPr>
              <a:t>管中至少有一个导通</a:t>
            </a:r>
            <a:r>
              <a:rPr lang="zh-CN" altLang="en-US" sz="1600" dirty="0">
                <a:latin typeface="Times New Roman" pitchFamily="18" charset="0"/>
                <a:ea typeface="黑体" pitchFamily="49" charset="-122"/>
                <a:cs typeface="Times New Roman" pitchFamily="18" charset="0"/>
              </a:rPr>
              <a:t>，输出为低电平。</a:t>
            </a:r>
          </a:p>
        </p:txBody>
      </p:sp>
      <p:sp>
        <p:nvSpPr>
          <p:cNvPr id="11" name="Rectangle 24"/>
          <p:cNvSpPr>
            <a:spLocks noChangeArrowheads="1"/>
          </p:cNvSpPr>
          <p:nvPr/>
        </p:nvSpPr>
        <p:spPr bwMode="auto">
          <a:xfrm>
            <a:off x="3686175" y="3000375"/>
            <a:ext cx="4937125" cy="707886"/>
          </a:xfrm>
          <a:prstGeom prst="rect">
            <a:avLst/>
          </a:prstGeom>
          <a:noFill/>
          <a:ln w="9525">
            <a:noFill/>
            <a:miter lim="800000"/>
            <a:headEnd/>
            <a:tailEnd/>
          </a:ln>
        </p:spPr>
        <p:txBody>
          <a:bodyPr anchor="ctr">
            <a:spAutoFit/>
          </a:bodyPr>
          <a:lstStyle/>
          <a:p>
            <a:pPr marL="266700" indent="-266700" eaLnBrk="0" hangingPunct="0">
              <a:lnSpc>
                <a:spcPct val="125000"/>
              </a:lnSpc>
              <a:buFont typeface="Wingdings" pitchFamily="2" charset="2"/>
              <a:buChar char="Ø"/>
            </a:pPr>
            <a:r>
              <a:rPr lang="zh-CN" altLang="en-US" sz="1600" dirty="0">
                <a:latin typeface="Times New Roman" pitchFamily="18" charset="0"/>
                <a:ea typeface="黑体" pitchFamily="49" charset="-122"/>
                <a:cs typeface="Times New Roman" pitchFamily="18" charset="0"/>
              </a:rPr>
              <a:t>当</a:t>
            </a:r>
            <a:r>
              <a:rPr lang="en-US" altLang="zh-CN" sz="1600" dirty="0">
                <a:latin typeface="Times New Roman" pitchFamily="18" charset="0"/>
                <a:ea typeface="黑体" pitchFamily="49" charset="-122"/>
                <a:cs typeface="Times New Roman" pitchFamily="18" charset="0"/>
              </a:rPr>
              <a:t>A</a:t>
            </a:r>
            <a:r>
              <a:rPr lang="zh-CN" altLang="en-US" sz="1600" dirty="0">
                <a:latin typeface="Times New Roman" pitchFamily="18" charset="0"/>
                <a:ea typeface="黑体" pitchFamily="49" charset="-122"/>
                <a:cs typeface="Times New Roman" pitchFamily="18" charset="0"/>
              </a:rPr>
              <a:t>、</a:t>
            </a:r>
            <a:r>
              <a:rPr lang="en-US" altLang="zh-CN" sz="1600" dirty="0">
                <a:latin typeface="Times New Roman" pitchFamily="18" charset="0"/>
                <a:ea typeface="黑体" pitchFamily="49" charset="-122"/>
                <a:cs typeface="Times New Roman" pitchFamily="18" charset="0"/>
              </a:rPr>
              <a:t>B</a:t>
            </a:r>
            <a:r>
              <a:rPr lang="zh-CN" altLang="en-US" sz="1600" dirty="0">
                <a:latin typeface="Times New Roman" pitchFamily="18" charset="0"/>
                <a:ea typeface="黑体" pitchFamily="49" charset="-122"/>
                <a:cs typeface="Times New Roman" pitchFamily="18" charset="0"/>
              </a:rPr>
              <a:t>全为低时，两串联的</a:t>
            </a:r>
            <a:r>
              <a:rPr lang="en-US" altLang="zh-CN" sz="1600" dirty="0">
                <a:latin typeface="Times New Roman" pitchFamily="18" charset="0"/>
                <a:ea typeface="黑体" pitchFamily="49" charset="-122"/>
                <a:cs typeface="Times New Roman" pitchFamily="18" charset="0"/>
              </a:rPr>
              <a:t>T</a:t>
            </a:r>
            <a:r>
              <a:rPr lang="en-US" altLang="zh-CN" sz="1600" baseline="-25000" dirty="0">
                <a:latin typeface="Times New Roman" pitchFamily="18" charset="0"/>
                <a:ea typeface="黑体" pitchFamily="49" charset="-122"/>
                <a:cs typeface="Times New Roman" pitchFamily="18" charset="0"/>
              </a:rPr>
              <a:t>P</a:t>
            </a:r>
            <a:r>
              <a:rPr lang="zh-CN" altLang="en-US" sz="1600" dirty="0">
                <a:latin typeface="Times New Roman" pitchFamily="18" charset="0"/>
                <a:ea typeface="黑体" pitchFamily="49" charset="-122"/>
                <a:cs typeface="Times New Roman" pitchFamily="18" charset="0"/>
              </a:rPr>
              <a:t>管导通，两并联的</a:t>
            </a:r>
            <a:r>
              <a:rPr lang="en-US" altLang="zh-CN" sz="1600" dirty="0">
                <a:latin typeface="Times New Roman" pitchFamily="18" charset="0"/>
                <a:ea typeface="黑体" pitchFamily="49" charset="-122"/>
                <a:cs typeface="Times New Roman" pitchFamily="18" charset="0"/>
              </a:rPr>
              <a:t>T</a:t>
            </a:r>
            <a:r>
              <a:rPr lang="en-US" altLang="zh-CN" sz="1600" baseline="-25000" dirty="0">
                <a:latin typeface="Times New Roman" pitchFamily="18" charset="0"/>
                <a:ea typeface="黑体" pitchFamily="49" charset="-122"/>
                <a:cs typeface="Times New Roman" pitchFamily="18" charset="0"/>
              </a:rPr>
              <a:t>N</a:t>
            </a:r>
            <a:r>
              <a:rPr lang="zh-CN" altLang="en-US" sz="1600" dirty="0">
                <a:latin typeface="Times New Roman" pitchFamily="18" charset="0"/>
                <a:ea typeface="黑体" pitchFamily="49" charset="-122"/>
                <a:cs typeface="Times New Roman" pitchFamily="18" charset="0"/>
              </a:rPr>
              <a:t>管截止，输出为高电平。</a:t>
            </a:r>
          </a:p>
        </p:txBody>
      </p:sp>
      <p:grpSp>
        <p:nvGrpSpPr>
          <p:cNvPr id="12" name="组合 11"/>
          <p:cNvGrpSpPr/>
          <p:nvPr/>
        </p:nvGrpSpPr>
        <p:grpSpPr>
          <a:xfrm>
            <a:off x="1047750" y="2147375"/>
            <a:ext cx="1971675" cy="1386400"/>
            <a:chOff x="1047750" y="2147375"/>
            <a:chExt cx="1971675" cy="1386400"/>
          </a:xfrm>
        </p:grpSpPr>
        <p:sp>
          <p:nvSpPr>
            <p:cNvPr id="13" name="椭圆 12"/>
            <p:cNvSpPr/>
            <p:nvPr/>
          </p:nvSpPr>
          <p:spPr>
            <a:xfrm>
              <a:off x="2247900" y="2447924"/>
              <a:ext cx="771525" cy="1085851"/>
            </a:xfrm>
            <a:prstGeom prst="ellipse">
              <a:avLst/>
            </a:prstGeom>
            <a:solidFill>
              <a:schemeClr val="accent1">
                <a:alpha val="30000"/>
              </a:schemeClr>
            </a:solidFill>
            <a:ln w="1905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AutoShape 134"/>
            <p:cNvSpPr>
              <a:spLocks noChangeArrowheads="1"/>
            </p:cNvSpPr>
            <p:nvPr/>
          </p:nvSpPr>
          <p:spPr bwMode="auto">
            <a:xfrm>
              <a:off x="1047750" y="2147375"/>
              <a:ext cx="961831" cy="590110"/>
            </a:xfrm>
            <a:prstGeom prst="wedgeRoundRectCallout">
              <a:avLst>
                <a:gd name="adj1" fmla="val 73369"/>
                <a:gd name="adj2" fmla="val 58770"/>
                <a:gd name="adj3" fmla="val 16667"/>
              </a:avLst>
            </a:prstGeom>
            <a:solidFill>
              <a:srgbClr val="FFFF99"/>
            </a:solidFill>
            <a:ln w="19050">
              <a:solidFill>
                <a:srgbClr val="FF00FF"/>
              </a:solid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r>
                <a:rPr lang="zh-CN" altLang="en-US" sz="1600" dirty="0">
                  <a:latin typeface="方正粗黑宋简体" pitchFamily="2" charset="-122"/>
                  <a:ea typeface="方正粗黑宋简体" pitchFamily="2" charset="-122"/>
                </a:rPr>
                <a:t>至少一个</a:t>
              </a:r>
              <a:endParaRPr lang="en-US" altLang="zh-CN" sz="1600" dirty="0">
                <a:solidFill>
                  <a:schemeClr val="tx1"/>
                </a:solidFill>
                <a:latin typeface="方正粗黑宋简体" pitchFamily="2" charset="-122"/>
                <a:ea typeface="方正粗黑宋简体" pitchFamily="2" charset="-122"/>
              </a:endParaRPr>
            </a:p>
            <a:p>
              <a:pPr algn="ctr"/>
              <a:r>
                <a:rPr lang="zh-CN" altLang="en-US" sz="1600" dirty="0">
                  <a:solidFill>
                    <a:schemeClr val="tx1"/>
                  </a:solidFill>
                  <a:latin typeface="方正粗黑宋简体" pitchFamily="2" charset="-122"/>
                  <a:ea typeface="方正粗黑宋简体" pitchFamily="2" charset="-122"/>
                </a:rPr>
                <a:t>截止</a:t>
              </a:r>
              <a:endParaRPr lang="en-US" altLang="zh-CN" sz="1600" dirty="0">
                <a:solidFill>
                  <a:schemeClr val="tx1"/>
                </a:solidFill>
                <a:latin typeface="方正粗黑宋简体" pitchFamily="2" charset="-122"/>
                <a:ea typeface="方正粗黑宋简体" pitchFamily="2" charset="-122"/>
              </a:endParaRPr>
            </a:p>
          </p:txBody>
        </p:sp>
      </p:grpSp>
      <p:grpSp>
        <p:nvGrpSpPr>
          <p:cNvPr id="15" name="组合 14"/>
          <p:cNvGrpSpPr/>
          <p:nvPr/>
        </p:nvGrpSpPr>
        <p:grpSpPr>
          <a:xfrm>
            <a:off x="546735" y="3895725"/>
            <a:ext cx="2472691" cy="1223010"/>
            <a:chOff x="546735" y="3895725"/>
            <a:chExt cx="2472691" cy="1223010"/>
          </a:xfrm>
        </p:grpSpPr>
        <p:sp>
          <p:nvSpPr>
            <p:cNvPr id="16" name="椭圆 15"/>
            <p:cNvSpPr/>
            <p:nvPr/>
          </p:nvSpPr>
          <p:spPr>
            <a:xfrm>
              <a:off x="1438275" y="3895725"/>
              <a:ext cx="1581151" cy="676274"/>
            </a:xfrm>
            <a:prstGeom prst="ellipse">
              <a:avLst/>
            </a:prstGeom>
            <a:solidFill>
              <a:srgbClr val="FF0000">
                <a:alpha val="30000"/>
              </a:srgbClr>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AutoShape 134"/>
            <p:cNvSpPr>
              <a:spLocks noChangeArrowheads="1"/>
            </p:cNvSpPr>
            <p:nvPr/>
          </p:nvSpPr>
          <p:spPr bwMode="auto">
            <a:xfrm>
              <a:off x="546735" y="4528625"/>
              <a:ext cx="1072321" cy="590110"/>
            </a:xfrm>
            <a:prstGeom prst="wedgeRoundRectCallout">
              <a:avLst>
                <a:gd name="adj1" fmla="val 47814"/>
                <a:gd name="adj2" fmla="val -63901"/>
                <a:gd name="adj3" fmla="val 16667"/>
              </a:avLst>
            </a:prstGeom>
            <a:solidFill>
              <a:srgbClr val="FFFF99"/>
            </a:solidFill>
            <a:ln w="19050">
              <a:solidFill>
                <a:srgbClr val="FF00FF"/>
              </a:solid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r>
                <a:rPr lang="zh-CN" altLang="en-US" sz="1600" dirty="0">
                  <a:solidFill>
                    <a:schemeClr val="tx1"/>
                  </a:solidFill>
                  <a:latin typeface="方正粗黑宋简体" pitchFamily="2" charset="-122"/>
                  <a:ea typeface="方正粗黑宋简体" pitchFamily="2" charset="-122"/>
                </a:rPr>
                <a:t>至少</a:t>
              </a:r>
              <a:r>
                <a:rPr lang="en-US" altLang="zh-CN" sz="1600" dirty="0">
                  <a:solidFill>
                    <a:schemeClr val="tx1"/>
                  </a:solidFill>
                  <a:latin typeface="方正粗黑宋简体" pitchFamily="2" charset="-122"/>
                  <a:ea typeface="方正粗黑宋简体" pitchFamily="2" charset="-122"/>
                </a:rPr>
                <a:t>1</a:t>
              </a:r>
              <a:r>
                <a:rPr lang="zh-CN" altLang="en-US" sz="1600" dirty="0">
                  <a:solidFill>
                    <a:schemeClr val="tx1"/>
                  </a:solidFill>
                  <a:latin typeface="方正粗黑宋简体" pitchFamily="2" charset="-122"/>
                  <a:ea typeface="方正粗黑宋简体" pitchFamily="2" charset="-122"/>
                </a:rPr>
                <a:t>个</a:t>
              </a:r>
              <a:endParaRPr lang="en-US" altLang="zh-CN" sz="1600" dirty="0">
                <a:solidFill>
                  <a:schemeClr val="tx1"/>
                </a:solidFill>
                <a:latin typeface="方正粗黑宋简体" pitchFamily="2" charset="-122"/>
                <a:ea typeface="方正粗黑宋简体" pitchFamily="2" charset="-122"/>
              </a:endParaRPr>
            </a:p>
            <a:p>
              <a:pPr algn="ctr"/>
              <a:r>
                <a:rPr lang="zh-CN" altLang="en-US" sz="1600" dirty="0">
                  <a:solidFill>
                    <a:schemeClr val="tx1"/>
                  </a:solidFill>
                  <a:latin typeface="方正粗黑宋简体" pitchFamily="2" charset="-122"/>
                  <a:ea typeface="方正粗黑宋简体" pitchFamily="2" charset="-122"/>
                </a:rPr>
                <a:t>导通</a:t>
              </a:r>
              <a:endParaRPr lang="en-US" altLang="zh-CN" sz="1600" dirty="0">
                <a:solidFill>
                  <a:schemeClr val="tx1"/>
                </a:solidFill>
                <a:latin typeface="方正粗黑宋简体" pitchFamily="2" charset="-122"/>
                <a:ea typeface="方正粗黑宋简体" pitchFamily="2" charset="-122"/>
              </a:endParaRPr>
            </a:p>
          </p:txBody>
        </p:sp>
      </p:grpSp>
      <p:sp>
        <p:nvSpPr>
          <p:cNvPr id="18" name="AutoShape 134"/>
          <p:cNvSpPr>
            <a:spLocks noChangeArrowheads="1"/>
          </p:cNvSpPr>
          <p:nvPr/>
        </p:nvSpPr>
        <p:spPr bwMode="auto">
          <a:xfrm>
            <a:off x="3328035" y="3795200"/>
            <a:ext cx="1167765" cy="433900"/>
          </a:xfrm>
          <a:prstGeom prst="wedgeRoundRectCallout">
            <a:avLst>
              <a:gd name="adj1" fmla="val -67967"/>
              <a:gd name="adj2" fmla="val -57380"/>
              <a:gd name="adj3" fmla="val 16667"/>
            </a:avLst>
          </a:prstGeom>
          <a:solidFill>
            <a:srgbClr val="FFFF99"/>
          </a:solidFill>
          <a:ln w="19050">
            <a:solidFill>
              <a:srgbClr val="FF00FF"/>
            </a:solid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spcBef>
                <a:spcPts val="600"/>
              </a:spcBef>
            </a:pPr>
            <a:r>
              <a:rPr lang="zh-CN" altLang="en-US" sz="1600" dirty="0">
                <a:solidFill>
                  <a:schemeClr val="tx1"/>
                </a:solidFill>
                <a:latin typeface="方正粗黑宋简体" pitchFamily="2" charset="-122"/>
                <a:ea typeface="方正粗黑宋简体" pitchFamily="2" charset="-122"/>
              </a:rPr>
              <a:t>输出低电平</a:t>
            </a:r>
            <a:endParaRPr lang="en-US" altLang="zh-CN" sz="1600" dirty="0">
              <a:solidFill>
                <a:schemeClr val="tx1"/>
              </a:solidFill>
              <a:latin typeface="方正粗黑宋简体" pitchFamily="2" charset="-122"/>
              <a:ea typeface="方正粗黑宋简体" pitchFamily="2" charset="-122"/>
            </a:endParaRPr>
          </a:p>
        </p:txBody>
      </p:sp>
      <p:grpSp>
        <p:nvGrpSpPr>
          <p:cNvPr id="19" name="组合 18"/>
          <p:cNvGrpSpPr/>
          <p:nvPr/>
        </p:nvGrpSpPr>
        <p:grpSpPr>
          <a:xfrm>
            <a:off x="1040130" y="2137850"/>
            <a:ext cx="1971675" cy="1386400"/>
            <a:chOff x="1047750" y="2147375"/>
            <a:chExt cx="1971675" cy="1386400"/>
          </a:xfrm>
        </p:grpSpPr>
        <p:sp>
          <p:nvSpPr>
            <p:cNvPr id="20" name="椭圆 19"/>
            <p:cNvSpPr/>
            <p:nvPr/>
          </p:nvSpPr>
          <p:spPr>
            <a:xfrm>
              <a:off x="2247900" y="2447924"/>
              <a:ext cx="771525" cy="1085851"/>
            </a:xfrm>
            <a:prstGeom prst="ellipse">
              <a:avLst/>
            </a:prstGeom>
            <a:solidFill>
              <a:schemeClr val="accent1">
                <a:alpha val="30000"/>
              </a:schemeClr>
            </a:solidFill>
            <a:ln w="1905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AutoShape 134"/>
            <p:cNvSpPr>
              <a:spLocks noChangeArrowheads="1"/>
            </p:cNvSpPr>
            <p:nvPr/>
          </p:nvSpPr>
          <p:spPr bwMode="auto">
            <a:xfrm>
              <a:off x="1047750" y="2147375"/>
              <a:ext cx="961831" cy="590110"/>
            </a:xfrm>
            <a:prstGeom prst="wedgeRoundRectCallout">
              <a:avLst>
                <a:gd name="adj1" fmla="val 73369"/>
                <a:gd name="adj2" fmla="val 58770"/>
                <a:gd name="adj3" fmla="val 16667"/>
              </a:avLst>
            </a:prstGeom>
            <a:solidFill>
              <a:srgbClr val="FFFF99"/>
            </a:solidFill>
            <a:ln w="19050">
              <a:solidFill>
                <a:srgbClr val="FF00FF"/>
              </a:solid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r>
                <a:rPr lang="zh-CN" altLang="en-US" sz="1600" dirty="0">
                  <a:solidFill>
                    <a:schemeClr val="tx1"/>
                  </a:solidFill>
                  <a:latin typeface="方正粗黑宋简体" pitchFamily="2" charset="-122"/>
                  <a:ea typeface="方正粗黑宋简体" pitchFamily="2" charset="-122"/>
                </a:rPr>
                <a:t>两个均</a:t>
              </a:r>
              <a:endParaRPr lang="en-US" altLang="zh-CN" sz="1600" dirty="0">
                <a:solidFill>
                  <a:schemeClr val="tx1"/>
                </a:solidFill>
                <a:latin typeface="方正粗黑宋简体" pitchFamily="2" charset="-122"/>
                <a:ea typeface="方正粗黑宋简体" pitchFamily="2" charset="-122"/>
              </a:endParaRPr>
            </a:p>
            <a:p>
              <a:pPr algn="ctr"/>
              <a:r>
                <a:rPr lang="zh-CN" altLang="en-US" sz="1600" dirty="0">
                  <a:solidFill>
                    <a:schemeClr val="tx1"/>
                  </a:solidFill>
                  <a:latin typeface="方正粗黑宋简体" pitchFamily="2" charset="-122"/>
                  <a:ea typeface="方正粗黑宋简体" pitchFamily="2" charset="-122"/>
                </a:rPr>
                <a:t>导通</a:t>
              </a:r>
              <a:endParaRPr lang="en-US" altLang="zh-CN" sz="1600" dirty="0">
                <a:solidFill>
                  <a:schemeClr val="tx1"/>
                </a:solidFill>
                <a:latin typeface="方正粗黑宋简体" pitchFamily="2" charset="-122"/>
                <a:ea typeface="方正粗黑宋简体" pitchFamily="2" charset="-122"/>
              </a:endParaRPr>
            </a:p>
          </p:txBody>
        </p:sp>
      </p:grpSp>
      <p:grpSp>
        <p:nvGrpSpPr>
          <p:cNvPr id="22" name="组合 21"/>
          <p:cNvGrpSpPr/>
          <p:nvPr/>
        </p:nvGrpSpPr>
        <p:grpSpPr>
          <a:xfrm>
            <a:off x="541020" y="3895725"/>
            <a:ext cx="2472691" cy="1223010"/>
            <a:chOff x="546735" y="3895725"/>
            <a:chExt cx="2472691" cy="1223010"/>
          </a:xfrm>
        </p:grpSpPr>
        <p:sp>
          <p:nvSpPr>
            <p:cNvPr id="23" name="椭圆 22"/>
            <p:cNvSpPr/>
            <p:nvPr/>
          </p:nvSpPr>
          <p:spPr>
            <a:xfrm>
              <a:off x="1438275" y="3895725"/>
              <a:ext cx="1581151" cy="676274"/>
            </a:xfrm>
            <a:prstGeom prst="ellipse">
              <a:avLst/>
            </a:prstGeom>
            <a:solidFill>
              <a:srgbClr val="FF0000">
                <a:alpha val="30000"/>
              </a:srgbClr>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AutoShape 134"/>
            <p:cNvSpPr>
              <a:spLocks noChangeArrowheads="1"/>
            </p:cNvSpPr>
            <p:nvPr/>
          </p:nvSpPr>
          <p:spPr bwMode="auto">
            <a:xfrm>
              <a:off x="546735" y="4528625"/>
              <a:ext cx="1072321" cy="590110"/>
            </a:xfrm>
            <a:prstGeom prst="wedgeRoundRectCallout">
              <a:avLst>
                <a:gd name="adj1" fmla="val 47814"/>
                <a:gd name="adj2" fmla="val -63901"/>
                <a:gd name="adj3" fmla="val 16667"/>
              </a:avLst>
            </a:prstGeom>
            <a:solidFill>
              <a:srgbClr val="FFFF99"/>
            </a:solidFill>
            <a:ln w="19050">
              <a:solidFill>
                <a:srgbClr val="FF00FF"/>
              </a:solid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r>
                <a:rPr lang="zh-CN" altLang="en-US" sz="1600" dirty="0">
                  <a:solidFill>
                    <a:schemeClr val="tx1"/>
                  </a:solidFill>
                  <a:latin typeface="方正粗黑宋简体" pitchFamily="2" charset="-122"/>
                  <a:ea typeface="方正粗黑宋简体" pitchFamily="2" charset="-122"/>
                </a:rPr>
                <a:t>两个均</a:t>
              </a:r>
              <a:endParaRPr lang="en-US" altLang="zh-CN" sz="1600" dirty="0">
                <a:solidFill>
                  <a:schemeClr val="tx1"/>
                </a:solidFill>
                <a:latin typeface="方正粗黑宋简体" pitchFamily="2" charset="-122"/>
                <a:ea typeface="方正粗黑宋简体" pitchFamily="2" charset="-122"/>
              </a:endParaRPr>
            </a:p>
            <a:p>
              <a:pPr algn="ctr"/>
              <a:r>
                <a:rPr lang="zh-CN" altLang="en-US" sz="1600" dirty="0">
                  <a:solidFill>
                    <a:schemeClr val="tx1"/>
                  </a:solidFill>
                  <a:latin typeface="方正粗黑宋简体" pitchFamily="2" charset="-122"/>
                  <a:ea typeface="方正粗黑宋简体" pitchFamily="2" charset="-122"/>
                </a:rPr>
                <a:t>截止</a:t>
              </a:r>
              <a:endParaRPr lang="en-US" altLang="zh-CN" sz="1600" dirty="0">
                <a:solidFill>
                  <a:schemeClr val="tx1"/>
                </a:solidFill>
                <a:latin typeface="方正粗黑宋简体" pitchFamily="2" charset="-122"/>
                <a:ea typeface="方正粗黑宋简体" pitchFamily="2" charset="-122"/>
              </a:endParaRPr>
            </a:p>
          </p:txBody>
        </p:sp>
      </p:grpSp>
      <p:sp>
        <p:nvSpPr>
          <p:cNvPr id="25" name="AutoShape 134"/>
          <p:cNvSpPr>
            <a:spLocks noChangeArrowheads="1"/>
          </p:cNvSpPr>
          <p:nvPr/>
        </p:nvSpPr>
        <p:spPr bwMode="auto">
          <a:xfrm>
            <a:off x="3320415" y="3795200"/>
            <a:ext cx="1167765" cy="433900"/>
          </a:xfrm>
          <a:prstGeom prst="wedgeRoundRectCallout">
            <a:avLst>
              <a:gd name="adj1" fmla="val -67967"/>
              <a:gd name="adj2" fmla="val -57380"/>
              <a:gd name="adj3" fmla="val 16667"/>
            </a:avLst>
          </a:prstGeom>
          <a:solidFill>
            <a:srgbClr val="FFFF99"/>
          </a:solidFill>
          <a:ln w="19050">
            <a:solidFill>
              <a:srgbClr val="FF00FF"/>
            </a:solid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spcBef>
                <a:spcPts val="600"/>
              </a:spcBef>
            </a:pPr>
            <a:r>
              <a:rPr lang="zh-CN" altLang="en-US" sz="1600" dirty="0">
                <a:solidFill>
                  <a:schemeClr val="tx1"/>
                </a:solidFill>
                <a:latin typeface="方正粗黑宋简体" pitchFamily="2" charset="-122"/>
                <a:ea typeface="方正粗黑宋简体" pitchFamily="2" charset="-122"/>
              </a:rPr>
              <a:t>输出高电平</a:t>
            </a:r>
            <a:endParaRPr lang="en-US" altLang="zh-CN" sz="1600" dirty="0">
              <a:solidFill>
                <a:schemeClr val="tx1"/>
              </a:solidFill>
              <a:latin typeface="方正粗黑宋简体" pitchFamily="2" charset="-122"/>
              <a:ea typeface="方正粗黑宋简体" pitchFamily="2" charset="-122"/>
            </a:endParaRPr>
          </a:p>
        </p:txBody>
      </p:sp>
      <p:graphicFrame>
        <p:nvGraphicFramePr>
          <p:cNvPr id="58409" name="Object 41"/>
          <p:cNvGraphicFramePr>
            <a:graphicFrameLocks noChangeAspect="1"/>
          </p:cNvGraphicFramePr>
          <p:nvPr/>
        </p:nvGraphicFramePr>
        <p:xfrm>
          <a:off x="5133976" y="3778250"/>
          <a:ext cx="1642958" cy="433388"/>
        </p:xfrm>
        <a:graphic>
          <a:graphicData uri="http://schemas.openxmlformats.org/presentationml/2006/ole">
            <mc:AlternateContent xmlns:mc="http://schemas.openxmlformats.org/markup-compatibility/2006">
              <mc:Choice xmlns:v="urn:schemas-microsoft-com:vml" Requires="v">
                <p:oleObj spid="_x0000_s79875" name="公式" r:id="rId5" imgW="685800" imgH="203200" progId="">
                  <p:embed/>
                </p:oleObj>
              </mc:Choice>
              <mc:Fallback>
                <p:oleObj name="公式" r:id="rId5" imgW="685800" imgH="203200" progId="">
                  <p:embed/>
                  <p:pic>
                    <p:nvPicPr>
                      <p:cNvPr id="58409" name="Object 4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33976" y="3778250"/>
                        <a:ext cx="1642958" cy="433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 name="圆角矩形 26"/>
          <p:cNvSpPr/>
          <p:nvPr/>
        </p:nvSpPr>
        <p:spPr>
          <a:xfrm>
            <a:off x="3922394" y="4453890"/>
            <a:ext cx="4439636" cy="781050"/>
          </a:xfrm>
          <a:prstGeom prst="roundRect">
            <a:avLst>
              <a:gd name="adj" fmla="val 21930"/>
            </a:avLst>
          </a:prstGeom>
          <a:solidFill>
            <a:srgbClr val="66FF66"/>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25475" indent="-625475">
              <a:lnSpc>
                <a:spcPct val="150000"/>
              </a:lnSpc>
            </a:pPr>
            <a:r>
              <a:rPr lang="zh-CN" altLang="en-US" sz="1600" dirty="0">
                <a:solidFill>
                  <a:schemeClr val="tx1"/>
                </a:solidFill>
                <a:latin typeface="Times New Roman" pitchFamily="18" charset="0"/>
                <a:ea typeface="黑体" pitchFamily="49" charset="-122"/>
                <a:cs typeface="Times New Roman" pitchFamily="18" charset="0"/>
              </a:rPr>
              <a:t>推广：</a:t>
            </a:r>
            <a:r>
              <a:rPr lang="en-US" altLang="zh-CN" sz="1600" dirty="0">
                <a:solidFill>
                  <a:schemeClr val="tx1"/>
                </a:solidFill>
                <a:latin typeface="Times New Roman" pitchFamily="18" charset="0"/>
                <a:ea typeface="黑体" pitchFamily="49" charset="-122"/>
                <a:cs typeface="Times New Roman" pitchFamily="18" charset="0"/>
              </a:rPr>
              <a:t>n</a:t>
            </a:r>
            <a:r>
              <a:rPr lang="zh-CN" altLang="en-US" sz="1600" dirty="0">
                <a:solidFill>
                  <a:schemeClr val="tx1"/>
                </a:solidFill>
                <a:latin typeface="Times New Roman" pitchFamily="18" charset="0"/>
                <a:ea typeface="黑体" pitchFamily="49" charset="-122"/>
                <a:cs typeface="Times New Roman" pitchFamily="18" charset="0"/>
              </a:rPr>
              <a:t>个</a:t>
            </a:r>
            <a:r>
              <a:rPr lang="en-US" altLang="zh-CN" sz="1600" dirty="0">
                <a:solidFill>
                  <a:schemeClr val="tx1"/>
                </a:solidFill>
                <a:latin typeface="Times New Roman" pitchFamily="18" charset="0"/>
                <a:ea typeface="黑体" pitchFamily="49" charset="-122"/>
                <a:cs typeface="Times New Roman" pitchFamily="18" charset="0"/>
              </a:rPr>
              <a:t>T</a:t>
            </a:r>
            <a:r>
              <a:rPr lang="en-US" altLang="zh-CN" sz="1600" baseline="-25000" dirty="0">
                <a:solidFill>
                  <a:schemeClr val="tx1"/>
                </a:solidFill>
                <a:latin typeface="Times New Roman" pitchFamily="18" charset="0"/>
                <a:ea typeface="黑体" pitchFamily="49" charset="-122"/>
                <a:cs typeface="Times New Roman" pitchFamily="18" charset="0"/>
              </a:rPr>
              <a:t>P</a:t>
            </a:r>
            <a:r>
              <a:rPr lang="zh-CN" altLang="en-US" sz="1600" dirty="0">
                <a:solidFill>
                  <a:schemeClr val="tx1"/>
                </a:solidFill>
                <a:latin typeface="Times New Roman" pitchFamily="18" charset="0"/>
                <a:ea typeface="黑体" pitchFamily="49" charset="-122"/>
                <a:cs typeface="Times New Roman" pitchFamily="18" charset="0"/>
              </a:rPr>
              <a:t>管串联和</a:t>
            </a:r>
            <a:r>
              <a:rPr lang="en-US" altLang="zh-CN" sz="1600" dirty="0">
                <a:solidFill>
                  <a:schemeClr val="tx1"/>
                </a:solidFill>
                <a:latin typeface="Times New Roman" pitchFamily="18" charset="0"/>
                <a:ea typeface="黑体" pitchFamily="49" charset="-122"/>
                <a:cs typeface="Times New Roman" pitchFamily="18" charset="0"/>
              </a:rPr>
              <a:t>n</a:t>
            </a:r>
            <a:r>
              <a:rPr lang="zh-CN" altLang="en-US" sz="1600" dirty="0">
                <a:solidFill>
                  <a:schemeClr val="tx1"/>
                </a:solidFill>
                <a:latin typeface="Times New Roman" pitchFamily="18" charset="0"/>
                <a:ea typeface="黑体" pitchFamily="49" charset="-122"/>
                <a:cs typeface="Times New Roman" pitchFamily="18" charset="0"/>
              </a:rPr>
              <a:t>个</a:t>
            </a:r>
            <a:r>
              <a:rPr lang="en-US" altLang="zh-CN" sz="1600" dirty="0">
                <a:solidFill>
                  <a:schemeClr val="tx1"/>
                </a:solidFill>
                <a:latin typeface="Times New Roman" pitchFamily="18" charset="0"/>
                <a:ea typeface="黑体" pitchFamily="49" charset="-122"/>
                <a:cs typeface="Times New Roman" pitchFamily="18" charset="0"/>
              </a:rPr>
              <a:t>T</a:t>
            </a:r>
            <a:r>
              <a:rPr lang="en-US" altLang="zh-CN" sz="1600" baseline="-25000" dirty="0">
                <a:solidFill>
                  <a:schemeClr val="tx1"/>
                </a:solidFill>
                <a:latin typeface="Times New Roman" pitchFamily="18" charset="0"/>
                <a:ea typeface="黑体" pitchFamily="49" charset="-122"/>
                <a:cs typeface="Times New Roman" pitchFamily="18" charset="0"/>
              </a:rPr>
              <a:t>N</a:t>
            </a:r>
            <a:r>
              <a:rPr lang="zh-CN" altLang="en-US" sz="1600" dirty="0">
                <a:solidFill>
                  <a:schemeClr val="tx1"/>
                </a:solidFill>
                <a:latin typeface="Times New Roman" pitchFamily="18" charset="0"/>
                <a:ea typeface="黑体" pitchFamily="49" charset="-122"/>
                <a:cs typeface="Times New Roman" pitchFamily="18" charset="0"/>
              </a:rPr>
              <a:t>并联可构成</a:t>
            </a:r>
            <a:r>
              <a:rPr lang="en-US" altLang="zh-CN" sz="1600" dirty="0">
                <a:solidFill>
                  <a:schemeClr val="tx1"/>
                </a:solidFill>
                <a:latin typeface="Times New Roman" pitchFamily="18" charset="0"/>
                <a:ea typeface="黑体" pitchFamily="49" charset="-122"/>
                <a:cs typeface="Times New Roman" pitchFamily="18" charset="0"/>
              </a:rPr>
              <a:t>n</a:t>
            </a:r>
            <a:r>
              <a:rPr lang="zh-CN" altLang="en-US" sz="1600" dirty="0">
                <a:solidFill>
                  <a:schemeClr val="tx1"/>
                </a:solidFill>
                <a:latin typeface="Times New Roman" pitchFamily="18" charset="0"/>
                <a:ea typeface="黑体" pitchFamily="49" charset="-122"/>
                <a:cs typeface="Times New Roman" pitchFamily="18" charset="0"/>
              </a:rPr>
              <a:t>输入端的或非门</a:t>
            </a:r>
            <a:endParaRPr lang="zh-CN" altLang="en-US" sz="1600" dirty="0">
              <a:solidFill>
                <a:schemeClr val="tx1"/>
              </a:solidFill>
            </a:endParaRPr>
          </a:p>
        </p:txBody>
      </p:sp>
      <p:grpSp>
        <p:nvGrpSpPr>
          <p:cNvPr id="28" name="组合 27">
            <a:extLst>
              <a:ext uri="{FF2B5EF4-FFF2-40B4-BE49-F238E27FC236}">
                <a16:creationId xmlns:a16="http://schemas.microsoft.com/office/drawing/2014/main" id="{DB3D5EC8-B585-42E1-906A-85EAEB3066F6}"/>
              </a:ext>
            </a:extLst>
          </p:cNvPr>
          <p:cNvGrpSpPr/>
          <p:nvPr/>
        </p:nvGrpSpPr>
        <p:grpSpPr>
          <a:xfrm>
            <a:off x="282575" y="785614"/>
            <a:ext cx="3757217" cy="373579"/>
            <a:chOff x="307975" y="1517134"/>
            <a:chExt cx="3757217" cy="373579"/>
          </a:xfrm>
        </p:grpSpPr>
        <p:grpSp>
          <p:nvGrpSpPr>
            <p:cNvPr id="29" name="组合 32">
              <a:extLst>
                <a:ext uri="{FF2B5EF4-FFF2-40B4-BE49-F238E27FC236}">
                  <a16:creationId xmlns:a16="http://schemas.microsoft.com/office/drawing/2014/main" id="{F24E7683-B990-4A99-A139-69EC34B5388D}"/>
                </a:ext>
              </a:extLst>
            </p:cNvPr>
            <p:cNvGrpSpPr/>
            <p:nvPr/>
          </p:nvGrpSpPr>
          <p:grpSpPr>
            <a:xfrm>
              <a:off x="307975" y="1519116"/>
              <a:ext cx="568325" cy="371597"/>
              <a:chOff x="307975" y="1519116"/>
              <a:chExt cx="568325" cy="371597"/>
            </a:xfrm>
          </p:grpSpPr>
          <p:pic>
            <p:nvPicPr>
              <p:cNvPr id="31" name="Picture 4">
                <a:extLst>
                  <a:ext uri="{FF2B5EF4-FFF2-40B4-BE49-F238E27FC236}">
                    <a16:creationId xmlns:a16="http://schemas.microsoft.com/office/drawing/2014/main" id="{7BD171AB-9A6B-4E3F-8424-C160A2335132}"/>
                  </a:ext>
                </a:extLst>
              </p:cNvPr>
              <p:cNvPicPr>
                <a:picLocks noChangeAspect="1" noChangeArrowheads="1"/>
              </p:cNvPicPr>
              <p:nvPr/>
            </p:nvPicPr>
            <p:blipFill>
              <a:blip r:embed="rId7" cstate="print"/>
              <a:srcRect/>
              <a:stretch>
                <a:fillRect/>
              </a:stretch>
            </p:blipFill>
            <p:spPr bwMode="auto">
              <a:xfrm flipH="1">
                <a:off x="307975" y="1519116"/>
                <a:ext cx="568325" cy="371597"/>
              </a:xfrm>
              <a:prstGeom prst="rect">
                <a:avLst/>
              </a:prstGeom>
              <a:noFill/>
              <a:ln w="9525">
                <a:noFill/>
                <a:miter lim="800000"/>
                <a:headEnd/>
                <a:tailEnd/>
              </a:ln>
              <a:effectLst/>
            </p:spPr>
          </p:pic>
          <p:sp>
            <p:nvSpPr>
              <p:cNvPr id="32" name="TextBox 5">
                <a:extLst>
                  <a:ext uri="{FF2B5EF4-FFF2-40B4-BE49-F238E27FC236}">
                    <a16:creationId xmlns:a16="http://schemas.microsoft.com/office/drawing/2014/main" id="{A5B27746-7648-49E8-A023-CF5EDA433ED0}"/>
                  </a:ext>
                </a:extLst>
              </p:cNvPr>
              <p:cNvSpPr txBox="1"/>
              <p:nvPr/>
            </p:nvSpPr>
            <p:spPr>
              <a:xfrm flipH="1">
                <a:off x="443415" y="1555750"/>
                <a:ext cx="142668" cy="276999"/>
              </a:xfrm>
              <a:prstGeom prst="rect">
                <a:avLst/>
              </a:prstGeom>
              <a:noFill/>
            </p:spPr>
            <p:txBody>
              <a:bodyPr wrap="none" lIns="0" tIns="0" rIns="0" bIns="0" rtlCol="0">
                <a:spAutoFit/>
              </a:bodyPr>
              <a:lstStyle/>
              <a:p>
                <a:r>
                  <a:rPr lang="en-US" altLang="zh-CN" b="1" dirty="0">
                    <a:solidFill>
                      <a:srgbClr val="262626"/>
                    </a:solidFill>
                    <a:latin typeface="Segoe UI Black" pitchFamily="34" charset="0"/>
                    <a:ea typeface="Segoe UI Black" pitchFamily="34" charset="0"/>
                    <a:cs typeface="Times New Roman" pitchFamily="18" charset="0"/>
                  </a:rPr>
                  <a:t>4</a:t>
                </a:r>
                <a:endParaRPr lang="zh-CN" altLang="en-US" b="1" dirty="0">
                  <a:solidFill>
                    <a:srgbClr val="262626"/>
                  </a:solidFill>
                  <a:latin typeface="Segoe UI Black" pitchFamily="34" charset="0"/>
                  <a:cs typeface="Times New Roman" pitchFamily="18" charset="0"/>
                </a:endParaRPr>
              </a:p>
            </p:txBody>
          </p:sp>
        </p:grpSp>
        <p:sp>
          <p:nvSpPr>
            <p:cNvPr id="30" name="矩形 29">
              <a:extLst>
                <a:ext uri="{FF2B5EF4-FFF2-40B4-BE49-F238E27FC236}">
                  <a16:creationId xmlns:a16="http://schemas.microsoft.com/office/drawing/2014/main" id="{C1153F36-36D1-427D-9086-E4597A3191F0}"/>
                </a:ext>
              </a:extLst>
            </p:cNvPr>
            <p:cNvSpPr/>
            <p:nvPr/>
          </p:nvSpPr>
          <p:spPr>
            <a:xfrm>
              <a:off x="863675" y="1517134"/>
              <a:ext cx="3201517" cy="369332"/>
            </a:xfrm>
            <a:prstGeom prst="rect">
              <a:avLst/>
            </a:prstGeom>
          </p:spPr>
          <p:txBody>
            <a:bodyPr wrap="none">
              <a:spAutoFit/>
            </a:bodyPr>
            <a:lstStyle/>
            <a:p>
              <a:r>
                <a:rPr lang="zh-CN" altLang="en-US" b="1" dirty="0">
                  <a:solidFill>
                    <a:schemeClr val="accent1">
                      <a:lumMod val="50000"/>
                    </a:schemeClr>
                  </a:solidFill>
                  <a:latin typeface="Times New Roman" panose="02020603050405020304" pitchFamily="18" charset="0"/>
                  <a:ea typeface="黑体" pitchFamily="49" charset="-122"/>
                  <a:cs typeface="Times New Roman" panose="02020603050405020304" pitchFamily="18" charset="0"/>
                </a:rPr>
                <a:t>其他类型的</a:t>
              </a:r>
              <a:r>
                <a:rPr lang="en-US" altLang="zh-CN" b="1" dirty="0">
                  <a:solidFill>
                    <a:schemeClr val="accent1">
                      <a:lumMod val="50000"/>
                    </a:schemeClr>
                  </a:solidFill>
                  <a:latin typeface="Times New Roman" panose="02020603050405020304" pitchFamily="18" charset="0"/>
                  <a:ea typeface="黑体" pitchFamily="49" charset="-122"/>
                  <a:cs typeface="Times New Roman" panose="02020603050405020304" pitchFamily="18" charset="0"/>
                </a:rPr>
                <a:t>CMOS</a:t>
              </a:r>
              <a:r>
                <a:rPr lang="zh-CN" altLang="en-US" b="1" dirty="0">
                  <a:solidFill>
                    <a:schemeClr val="accent1">
                      <a:lumMod val="50000"/>
                    </a:schemeClr>
                  </a:solidFill>
                  <a:latin typeface="Times New Roman" panose="02020603050405020304" pitchFamily="18" charset="0"/>
                  <a:ea typeface="黑体" pitchFamily="49" charset="-122"/>
                  <a:cs typeface="Times New Roman" panose="02020603050405020304" pitchFamily="18" charset="0"/>
                </a:rPr>
                <a:t>逻辑门电路</a:t>
              </a:r>
            </a:p>
          </p:txBody>
        </p:sp>
      </p:grpSp>
    </p:spTree>
  </p:cSld>
  <p:clrMapOvr>
    <a:masterClrMapping/>
  </p:clrMapOvr>
  <mc:AlternateContent xmlns:mc="http://schemas.openxmlformats.org/markup-compatibility/2006" xmlns:p14="http://schemas.microsoft.com/office/powerpoint/2010/main">
    <mc:Choice Requires="p14">
      <p:transition spd="slow" p14:dur="1200">
        <p14:prism di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lide(fromBottom)">
                                      <p:cBhvr>
                                        <p:cTn id="7" dur="1000"/>
                                        <p:tgtEl>
                                          <p:spTgt spid="7"/>
                                        </p:tgtEl>
                                      </p:cBhvr>
                                    </p:animEffect>
                                  </p:childTnLst>
                                </p:cTn>
                              </p:par>
                            </p:childTnLst>
                          </p:cTn>
                        </p:par>
                        <p:par>
                          <p:cTn id="8" fill="hold">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slide(fromBottom)">
                                      <p:cBhvr>
                                        <p:cTn id="11" dur="1000"/>
                                        <p:tgtEl>
                                          <p:spTgt spid="8"/>
                                        </p:tgtEl>
                                      </p:cBhvr>
                                    </p:animEffect>
                                  </p:childTnLst>
                                </p:cTn>
                              </p:par>
                            </p:childTnLst>
                          </p:cTn>
                        </p:par>
                        <p:par>
                          <p:cTn id="12" fill="hold">
                            <p:stCondLst>
                              <p:cond delay="2000"/>
                            </p:stCondLst>
                            <p:childTnLst>
                              <p:par>
                                <p:cTn id="13" presetID="12" presetClass="entr" presetSubtype="4" fill="hold" nodeType="afterEffect">
                                  <p:stCondLst>
                                    <p:cond delay="0"/>
                                  </p:stCondLst>
                                  <p:childTnLst>
                                    <p:set>
                                      <p:cBhvr>
                                        <p:cTn id="14" dur="1" fill="hold">
                                          <p:stCondLst>
                                            <p:cond delay="0"/>
                                          </p:stCondLst>
                                        </p:cTn>
                                        <p:tgtEl>
                                          <p:spTgt spid="58411"/>
                                        </p:tgtEl>
                                        <p:attrNameLst>
                                          <p:attrName>style.visibility</p:attrName>
                                        </p:attrNameLst>
                                      </p:cBhvr>
                                      <p:to>
                                        <p:strVal val="visible"/>
                                      </p:to>
                                    </p:set>
                                    <p:animEffect transition="in" filter="slide(fromBottom)">
                                      <p:cBhvr>
                                        <p:cTn id="15" dur="1000"/>
                                        <p:tgtEl>
                                          <p:spTgt spid="58411"/>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ipe(left)">
                                      <p:cBhvr>
                                        <p:cTn id="20" dur="1000"/>
                                        <p:tgtEl>
                                          <p:spTgt spid="10"/>
                                        </p:tgtEl>
                                      </p:cBhvr>
                                    </p:animEffect>
                                  </p:childTnLst>
                                </p:cTn>
                              </p:par>
                            </p:childTnLst>
                          </p:cTn>
                        </p:par>
                        <p:par>
                          <p:cTn id="21" fill="hold">
                            <p:stCondLst>
                              <p:cond delay="1000"/>
                            </p:stCondLst>
                            <p:childTnLst>
                              <p:par>
                                <p:cTn id="22" presetID="22" presetClass="entr" presetSubtype="2" fill="hold"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wipe(right)">
                                      <p:cBhvr>
                                        <p:cTn id="24" dur="1000"/>
                                        <p:tgtEl>
                                          <p:spTgt spid="12"/>
                                        </p:tgtEl>
                                      </p:cBhvr>
                                    </p:animEffect>
                                  </p:childTnLst>
                                </p:cTn>
                              </p:par>
                            </p:childTnLst>
                          </p:cTn>
                        </p:par>
                        <p:par>
                          <p:cTn id="25" fill="hold">
                            <p:stCondLst>
                              <p:cond delay="2000"/>
                            </p:stCondLst>
                            <p:childTnLst>
                              <p:par>
                                <p:cTn id="26" presetID="22" presetClass="entr" presetSubtype="2" fill="hold" nodeType="after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wipe(right)">
                                      <p:cBhvr>
                                        <p:cTn id="28" dur="1000"/>
                                        <p:tgtEl>
                                          <p:spTgt spid="15"/>
                                        </p:tgtEl>
                                      </p:cBhvr>
                                    </p:animEffect>
                                  </p:childTnLst>
                                </p:cTn>
                              </p:par>
                            </p:childTnLst>
                          </p:cTn>
                        </p:par>
                        <p:par>
                          <p:cTn id="29" fill="hold">
                            <p:stCondLst>
                              <p:cond delay="3000"/>
                            </p:stCondLst>
                            <p:childTnLst>
                              <p:par>
                                <p:cTn id="30" presetID="22" presetClass="entr" presetSubtype="8" fill="hold" grpId="0" nodeType="after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wipe(left)">
                                      <p:cBhvr>
                                        <p:cTn id="32" dur="10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xit" presetSubtype="2" fill="hold" nodeType="clickEffect">
                                  <p:stCondLst>
                                    <p:cond delay="0"/>
                                  </p:stCondLst>
                                  <p:childTnLst>
                                    <p:animEffect transition="out" filter="wipe(right)">
                                      <p:cBhvr>
                                        <p:cTn id="36" dur="1000"/>
                                        <p:tgtEl>
                                          <p:spTgt spid="12"/>
                                        </p:tgtEl>
                                      </p:cBhvr>
                                    </p:animEffect>
                                    <p:set>
                                      <p:cBhvr>
                                        <p:cTn id="37" dur="1" fill="hold">
                                          <p:stCondLst>
                                            <p:cond delay="999"/>
                                          </p:stCondLst>
                                        </p:cTn>
                                        <p:tgtEl>
                                          <p:spTgt spid="12"/>
                                        </p:tgtEl>
                                        <p:attrNameLst>
                                          <p:attrName>style.visibility</p:attrName>
                                        </p:attrNameLst>
                                      </p:cBhvr>
                                      <p:to>
                                        <p:strVal val="hidden"/>
                                      </p:to>
                                    </p:set>
                                  </p:childTnLst>
                                </p:cTn>
                              </p:par>
                              <p:par>
                                <p:cTn id="38" presetID="22" presetClass="exit" presetSubtype="2" fill="hold" nodeType="withEffect">
                                  <p:stCondLst>
                                    <p:cond delay="0"/>
                                  </p:stCondLst>
                                  <p:childTnLst>
                                    <p:animEffect transition="out" filter="wipe(right)">
                                      <p:cBhvr>
                                        <p:cTn id="39" dur="1000"/>
                                        <p:tgtEl>
                                          <p:spTgt spid="15"/>
                                        </p:tgtEl>
                                      </p:cBhvr>
                                    </p:animEffect>
                                    <p:set>
                                      <p:cBhvr>
                                        <p:cTn id="40" dur="1" fill="hold">
                                          <p:stCondLst>
                                            <p:cond delay="999"/>
                                          </p:stCondLst>
                                        </p:cTn>
                                        <p:tgtEl>
                                          <p:spTgt spid="15"/>
                                        </p:tgtEl>
                                        <p:attrNameLst>
                                          <p:attrName>style.visibility</p:attrName>
                                        </p:attrNameLst>
                                      </p:cBhvr>
                                      <p:to>
                                        <p:strVal val="hidden"/>
                                      </p:to>
                                    </p:set>
                                  </p:childTnLst>
                                </p:cTn>
                              </p:par>
                              <p:par>
                                <p:cTn id="41" presetID="22" presetClass="exit" presetSubtype="2" fill="hold" grpId="1" nodeType="withEffect">
                                  <p:stCondLst>
                                    <p:cond delay="0"/>
                                  </p:stCondLst>
                                  <p:childTnLst>
                                    <p:animEffect transition="out" filter="wipe(right)">
                                      <p:cBhvr>
                                        <p:cTn id="42" dur="1000"/>
                                        <p:tgtEl>
                                          <p:spTgt spid="18"/>
                                        </p:tgtEl>
                                      </p:cBhvr>
                                    </p:animEffect>
                                    <p:set>
                                      <p:cBhvr>
                                        <p:cTn id="43" dur="1" fill="hold">
                                          <p:stCondLst>
                                            <p:cond delay="999"/>
                                          </p:stCondLst>
                                        </p:cTn>
                                        <p:tgtEl>
                                          <p:spTgt spid="18"/>
                                        </p:tgtEl>
                                        <p:attrNameLst>
                                          <p:attrName>style.visibility</p:attrName>
                                        </p:attrNameLst>
                                      </p:cBhvr>
                                      <p:to>
                                        <p:strVal val="hidden"/>
                                      </p:to>
                                    </p:set>
                                  </p:childTnLst>
                                </p:cTn>
                              </p:par>
                              <p:par>
                                <p:cTn id="44" presetID="12" presetClass="entr" presetSubtype="4" fill="hold" grpId="0" nodeType="with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slide(fromBottom)">
                                      <p:cBhvr>
                                        <p:cTn id="46" dur="1000"/>
                                        <p:tgtEl>
                                          <p:spTgt spid="11"/>
                                        </p:tgtEl>
                                      </p:cBhvr>
                                    </p:animEffect>
                                  </p:childTnLst>
                                </p:cTn>
                              </p:par>
                            </p:childTnLst>
                          </p:cTn>
                        </p:par>
                        <p:par>
                          <p:cTn id="47" fill="hold">
                            <p:stCondLst>
                              <p:cond delay="1000"/>
                            </p:stCondLst>
                            <p:childTnLst>
                              <p:par>
                                <p:cTn id="48" presetID="22" presetClass="entr" presetSubtype="2" fill="hold" nodeType="after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wipe(right)">
                                      <p:cBhvr>
                                        <p:cTn id="50" dur="1000"/>
                                        <p:tgtEl>
                                          <p:spTgt spid="19"/>
                                        </p:tgtEl>
                                      </p:cBhvr>
                                    </p:animEffect>
                                  </p:childTnLst>
                                </p:cTn>
                              </p:par>
                            </p:childTnLst>
                          </p:cTn>
                        </p:par>
                        <p:par>
                          <p:cTn id="51" fill="hold">
                            <p:stCondLst>
                              <p:cond delay="2000"/>
                            </p:stCondLst>
                            <p:childTnLst>
                              <p:par>
                                <p:cTn id="52" presetID="22" presetClass="entr" presetSubtype="2" fill="hold" nodeType="after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wipe(right)">
                                      <p:cBhvr>
                                        <p:cTn id="54" dur="1000"/>
                                        <p:tgtEl>
                                          <p:spTgt spid="22"/>
                                        </p:tgtEl>
                                      </p:cBhvr>
                                    </p:animEffect>
                                  </p:childTnLst>
                                </p:cTn>
                              </p:par>
                            </p:childTnLst>
                          </p:cTn>
                        </p:par>
                        <p:par>
                          <p:cTn id="55" fill="hold">
                            <p:stCondLst>
                              <p:cond delay="3000"/>
                            </p:stCondLst>
                            <p:childTnLst>
                              <p:par>
                                <p:cTn id="56" presetID="22" presetClass="entr" presetSubtype="8" fill="hold" grpId="0" nodeType="after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wipe(left)">
                                      <p:cBhvr>
                                        <p:cTn id="58" dur="1000"/>
                                        <p:tgtEl>
                                          <p:spTgt spid="25"/>
                                        </p:tgtEl>
                                      </p:cBhvr>
                                    </p:animEffect>
                                  </p:childTnLst>
                                </p:cTn>
                              </p:par>
                            </p:childTnLst>
                          </p:cTn>
                        </p:par>
                      </p:childTnLst>
                    </p:cTn>
                  </p:par>
                  <p:par>
                    <p:cTn id="59" fill="hold">
                      <p:stCondLst>
                        <p:cond delay="indefinite"/>
                      </p:stCondLst>
                      <p:childTnLst>
                        <p:par>
                          <p:cTn id="60" fill="hold">
                            <p:stCondLst>
                              <p:cond delay="0"/>
                            </p:stCondLst>
                            <p:childTnLst>
                              <p:par>
                                <p:cTn id="61" presetID="12" presetClass="entr" presetSubtype="4" fill="hold" nodeType="clickEffect">
                                  <p:stCondLst>
                                    <p:cond delay="0"/>
                                  </p:stCondLst>
                                  <p:childTnLst>
                                    <p:set>
                                      <p:cBhvr>
                                        <p:cTn id="62" dur="1" fill="hold">
                                          <p:stCondLst>
                                            <p:cond delay="0"/>
                                          </p:stCondLst>
                                        </p:cTn>
                                        <p:tgtEl>
                                          <p:spTgt spid="58409"/>
                                        </p:tgtEl>
                                        <p:attrNameLst>
                                          <p:attrName>style.visibility</p:attrName>
                                        </p:attrNameLst>
                                      </p:cBhvr>
                                      <p:to>
                                        <p:strVal val="visible"/>
                                      </p:to>
                                    </p:set>
                                    <p:animEffect transition="in" filter="slide(fromBottom)">
                                      <p:cBhvr>
                                        <p:cTn id="63" dur="1000"/>
                                        <p:tgtEl>
                                          <p:spTgt spid="58409"/>
                                        </p:tgtEl>
                                      </p:cBhvr>
                                    </p:animEffect>
                                  </p:childTnLst>
                                </p:cTn>
                              </p:par>
                            </p:childTnLst>
                          </p:cTn>
                        </p:par>
                      </p:childTnLst>
                    </p:cTn>
                  </p:par>
                  <p:par>
                    <p:cTn id="64" fill="hold">
                      <p:stCondLst>
                        <p:cond delay="indefinite"/>
                      </p:stCondLst>
                      <p:childTnLst>
                        <p:par>
                          <p:cTn id="65" fill="hold">
                            <p:stCondLst>
                              <p:cond delay="0"/>
                            </p:stCondLst>
                            <p:childTnLst>
                              <p:par>
                                <p:cTn id="66" presetID="12" presetClass="entr" presetSubtype="4" fill="hold" grpId="0" nodeType="click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slide(fromBottom)">
                                      <p:cBhvr>
                                        <p:cTn id="68" dur="1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p:bldP spid="11" grpId="0"/>
      <p:bldP spid="18" grpId="0" animBg="1"/>
      <p:bldP spid="18" grpId="1" animBg="1"/>
      <p:bldP spid="25" grpId="0" animBg="1"/>
      <p:bldP spid="2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4"/>
          <p:cNvSpPr>
            <a:spLocks noChangeArrowheads="1"/>
          </p:cNvSpPr>
          <p:nvPr/>
        </p:nvSpPr>
        <p:spPr bwMode="auto">
          <a:xfrm>
            <a:off x="457359" y="1283653"/>
            <a:ext cx="234680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000" b="1">
                <a:solidFill>
                  <a:schemeClr val="accent2"/>
                </a:solidFill>
                <a:latin typeface="Times New Roman" pitchFamily="18" charset="0"/>
                <a:ea typeface="宋体" charset="-122"/>
              </a:defRPr>
            </a:lvl1pPr>
            <a:lvl2pPr marL="742950" indent="-285750" eaLnBrk="0" hangingPunct="0">
              <a:defRPr sz="2000" b="1">
                <a:solidFill>
                  <a:schemeClr val="accent2"/>
                </a:solidFill>
                <a:latin typeface="Times New Roman" pitchFamily="18" charset="0"/>
                <a:ea typeface="宋体" charset="-122"/>
              </a:defRPr>
            </a:lvl2pPr>
            <a:lvl3pPr marL="1143000" indent="-228600" eaLnBrk="0" hangingPunct="0">
              <a:defRPr sz="2000" b="1">
                <a:solidFill>
                  <a:schemeClr val="accent2"/>
                </a:solidFill>
                <a:latin typeface="Times New Roman" pitchFamily="18" charset="0"/>
                <a:ea typeface="宋体" charset="-122"/>
              </a:defRPr>
            </a:lvl3pPr>
            <a:lvl4pPr marL="1600200" indent="-228600" eaLnBrk="0" hangingPunct="0">
              <a:defRPr sz="2000" b="1">
                <a:solidFill>
                  <a:schemeClr val="accent2"/>
                </a:solidFill>
                <a:latin typeface="Times New Roman" pitchFamily="18" charset="0"/>
                <a:ea typeface="宋体" charset="-122"/>
              </a:defRPr>
            </a:lvl4pPr>
            <a:lvl5pPr marL="2057400" indent="-228600" eaLnBrk="0" hangingPunct="0">
              <a:defRPr sz="2000" b="1">
                <a:solidFill>
                  <a:schemeClr val="accent2"/>
                </a:solidFill>
                <a:latin typeface="Times New Roman" pitchFamily="18" charset="0"/>
                <a:ea typeface="宋体" charset="-122"/>
              </a:defRPr>
            </a:lvl5pPr>
            <a:lvl6pPr marL="25146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6pPr>
            <a:lvl7pPr marL="29718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7pPr>
            <a:lvl8pPr marL="34290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8pPr>
            <a:lvl9pPr marL="38862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9pPr>
          </a:lstStyle>
          <a:p>
            <a:pPr eaLnBrk="1" hangingPunct="1">
              <a:spcBef>
                <a:spcPct val="0"/>
              </a:spcBef>
            </a:pPr>
            <a:r>
              <a:rPr lang="zh-CN" altLang="en-US" sz="1600" dirty="0">
                <a:solidFill>
                  <a:srgbClr val="6600FF"/>
                </a:solidFill>
                <a:latin typeface="方正粗黑宋简体" pitchFamily="2" charset="-122"/>
                <a:ea typeface="方正粗黑宋简体" pitchFamily="2" charset="-122"/>
              </a:rPr>
              <a:t>（</a:t>
            </a:r>
            <a:r>
              <a:rPr lang="en-US" altLang="zh-CN" sz="1600" dirty="0">
                <a:solidFill>
                  <a:srgbClr val="6600FF"/>
                </a:solidFill>
                <a:latin typeface="方正粗黑宋简体" pitchFamily="2" charset="-122"/>
                <a:ea typeface="方正粗黑宋简体" pitchFamily="2" charset="-122"/>
              </a:rPr>
              <a:t>3</a:t>
            </a:r>
            <a:r>
              <a:rPr lang="zh-CN" altLang="en-US" sz="1600" dirty="0">
                <a:solidFill>
                  <a:srgbClr val="6600FF"/>
                </a:solidFill>
                <a:latin typeface="方正粗黑宋简体" pitchFamily="2" charset="-122"/>
                <a:ea typeface="方正粗黑宋简体" pitchFamily="2" charset="-122"/>
              </a:rPr>
              <a:t>）</a:t>
            </a:r>
            <a:r>
              <a:rPr lang="en-US" altLang="zh-CN" sz="1600" dirty="0">
                <a:solidFill>
                  <a:srgbClr val="6600FF"/>
                </a:solidFill>
                <a:latin typeface="方正粗黑宋简体" pitchFamily="2" charset="-122"/>
                <a:ea typeface="方正粗黑宋简体" pitchFamily="2" charset="-122"/>
              </a:rPr>
              <a:t>CMOS</a:t>
            </a:r>
            <a:r>
              <a:rPr lang="zh-CN" altLang="en-US" sz="1600" dirty="0">
                <a:solidFill>
                  <a:srgbClr val="6600FF"/>
                </a:solidFill>
                <a:latin typeface="方正粗黑宋简体" pitchFamily="2" charset="-122"/>
                <a:ea typeface="方正粗黑宋简体" pitchFamily="2" charset="-122"/>
              </a:rPr>
              <a:t>异或门</a:t>
            </a:r>
          </a:p>
        </p:txBody>
      </p:sp>
      <p:graphicFrame>
        <p:nvGraphicFramePr>
          <p:cNvPr id="59423" name="Object 31"/>
          <p:cNvGraphicFramePr>
            <a:graphicFrameLocks noChangeAspect="1"/>
          </p:cNvGraphicFramePr>
          <p:nvPr/>
        </p:nvGraphicFramePr>
        <p:xfrm>
          <a:off x="6278880" y="640080"/>
          <a:ext cx="2692400" cy="2343150"/>
        </p:xfrm>
        <a:graphic>
          <a:graphicData uri="http://schemas.openxmlformats.org/presentationml/2006/ole">
            <mc:AlternateContent xmlns:mc="http://schemas.openxmlformats.org/markup-compatibility/2006">
              <mc:Choice xmlns:v="urn:schemas-microsoft-com:vml" Requires="v">
                <p:oleObj spid="_x0000_s80898" name="Visio" r:id="rId3" imgW="2555658" imgH="2074963" progId="">
                  <p:embed/>
                </p:oleObj>
              </mc:Choice>
              <mc:Fallback>
                <p:oleObj name="Visio" r:id="rId3" imgW="2555658" imgH="2074963" progId="">
                  <p:embed/>
                  <p:pic>
                    <p:nvPicPr>
                      <p:cNvPr id="59423" name="Object 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78880" y="640080"/>
                        <a:ext cx="2692400" cy="234315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sp>
        <p:nvSpPr>
          <p:cNvPr id="9" name="Rectangle 27"/>
          <p:cNvSpPr>
            <a:spLocks noChangeArrowheads="1"/>
          </p:cNvSpPr>
          <p:nvPr/>
        </p:nvSpPr>
        <p:spPr bwMode="auto">
          <a:xfrm>
            <a:off x="648653" y="1715417"/>
            <a:ext cx="3627437" cy="400110"/>
          </a:xfrm>
          <a:prstGeom prst="rect">
            <a:avLst/>
          </a:prstGeom>
          <a:noFill/>
          <a:ln w="9525">
            <a:noFill/>
            <a:miter lim="800000"/>
            <a:headEnd/>
            <a:tailEnd/>
          </a:ln>
        </p:spPr>
        <p:txBody>
          <a:bodyPr>
            <a:spAutoFit/>
          </a:bodyPr>
          <a:lstStyle/>
          <a:p>
            <a:pPr>
              <a:lnSpc>
                <a:spcPct val="125000"/>
              </a:lnSpc>
              <a:buFont typeface="Wingdings" pitchFamily="2" charset="2"/>
              <a:buChar char="Ø"/>
            </a:pPr>
            <a:r>
              <a:rPr lang="zh-CN" altLang="en-US" sz="1600" dirty="0">
                <a:latin typeface="Times New Roman" pitchFamily="18" charset="0"/>
                <a:ea typeface="黑体" pitchFamily="49" charset="-122"/>
                <a:cs typeface="Times New Roman" pitchFamily="18" charset="0"/>
              </a:rPr>
              <a:t>电路由</a:t>
            </a:r>
            <a:r>
              <a:rPr lang="zh-CN" altLang="en-US" sz="1600" dirty="0">
                <a:solidFill>
                  <a:srgbClr val="6600FF"/>
                </a:solidFill>
                <a:latin typeface="方正粗黑宋简体" pitchFamily="2" charset="-122"/>
                <a:ea typeface="方正粗黑宋简体" pitchFamily="2" charset="-122"/>
              </a:rPr>
              <a:t>两级</a:t>
            </a:r>
            <a:r>
              <a:rPr lang="zh-CN" altLang="en-US" sz="1600" dirty="0">
                <a:latin typeface="Times New Roman" pitchFamily="18" charset="0"/>
                <a:ea typeface="黑体" pitchFamily="49" charset="-122"/>
                <a:cs typeface="Times New Roman" pitchFamily="18" charset="0"/>
              </a:rPr>
              <a:t>组成。</a:t>
            </a:r>
          </a:p>
        </p:txBody>
      </p:sp>
      <p:sp>
        <p:nvSpPr>
          <p:cNvPr id="33" name="圆角矩形 32"/>
          <p:cNvSpPr/>
          <p:nvPr/>
        </p:nvSpPr>
        <p:spPr>
          <a:xfrm>
            <a:off x="6537960" y="693420"/>
            <a:ext cx="1005727" cy="2202180"/>
          </a:xfrm>
          <a:prstGeom prst="roundRect">
            <a:avLst>
              <a:gd name="adj" fmla="val 7247"/>
            </a:avLst>
          </a:prstGeom>
          <a:solidFill>
            <a:schemeClr val="accent1">
              <a:alpha val="20000"/>
            </a:schemeClr>
          </a:solidFill>
          <a:ln w="1905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a:off x="7651594" y="685800"/>
            <a:ext cx="1362865" cy="2202180"/>
          </a:xfrm>
          <a:prstGeom prst="roundRect">
            <a:avLst>
              <a:gd name="adj" fmla="val 7247"/>
            </a:avLst>
          </a:prstGeom>
          <a:solidFill>
            <a:srgbClr val="66FF66">
              <a:alpha val="20000"/>
            </a:srgbClr>
          </a:solidFill>
          <a:ln w="19050">
            <a:solidFill>
              <a:srgbClr val="66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2" name="组合 51"/>
          <p:cNvGrpSpPr/>
          <p:nvPr/>
        </p:nvGrpSpPr>
        <p:grpSpPr>
          <a:xfrm>
            <a:off x="5928360" y="2369820"/>
            <a:ext cx="2392680" cy="2906078"/>
            <a:chOff x="5928360" y="2369820"/>
            <a:chExt cx="2392680" cy="2906078"/>
          </a:xfrm>
        </p:grpSpPr>
        <p:grpSp>
          <p:nvGrpSpPr>
            <p:cNvPr id="37" name="组合 36"/>
            <p:cNvGrpSpPr/>
            <p:nvPr/>
          </p:nvGrpSpPr>
          <p:grpSpPr>
            <a:xfrm>
              <a:off x="6536299" y="3092450"/>
              <a:ext cx="1784741" cy="2183448"/>
              <a:chOff x="6322939" y="3031490"/>
              <a:chExt cx="1784741" cy="2183448"/>
            </a:xfrm>
          </p:grpSpPr>
          <p:graphicFrame>
            <p:nvGraphicFramePr>
              <p:cNvPr id="31" name="Object 31"/>
              <p:cNvGraphicFramePr>
                <a:graphicFrameLocks noChangeAspect="1"/>
              </p:cNvGraphicFramePr>
              <p:nvPr/>
            </p:nvGraphicFramePr>
            <p:xfrm>
              <a:off x="6358573" y="3081338"/>
              <a:ext cx="1700212" cy="2133600"/>
            </p:xfrm>
            <a:graphic>
              <a:graphicData uri="http://schemas.openxmlformats.org/presentationml/2006/ole">
                <mc:AlternateContent xmlns:mc="http://schemas.openxmlformats.org/markup-compatibility/2006">
                  <mc:Choice xmlns:v="urn:schemas-microsoft-com:vml" Requires="v">
                    <p:oleObj spid="_x0000_s80899" name="Visio" r:id="rId5" imgW="1535833" imgH="1780690" progId="">
                      <p:embed/>
                    </p:oleObj>
                  </mc:Choice>
                  <mc:Fallback>
                    <p:oleObj name="Visio" r:id="rId5" imgW="1535833" imgH="1780690" progId="">
                      <p:embed/>
                      <p:pic>
                        <p:nvPicPr>
                          <p:cNvPr id="31" name="Object 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58573" y="3081338"/>
                            <a:ext cx="1700212" cy="21336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sp>
            <p:nvSpPr>
              <p:cNvPr id="36" name="圆角矩形 35"/>
              <p:cNvSpPr/>
              <p:nvPr/>
            </p:nvSpPr>
            <p:spPr>
              <a:xfrm>
                <a:off x="6322939" y="3031490"/>
                <a:ext cx="1784741" cy="2172970"/>
              </a:xfrm>
              <a:prstGeom prst="roundRect">
                <a:avLst>
                  <a:gd name="adj" fmla="val 6694"/>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8" name="左弧形箭头 37"/>
            <p:cNvSpPr/>
            <p:nvPr/>
          </p:nvSpPr>
          <p:spPr>
            <a:xfrm>
              <a:off x="5928360" y="2369820"/>
              <a:ext cx="609600" cy="1988820"/>
            </a:xfrm>
            <a:prstGeom prst="curvedRightArrow">
              <a:avLst>
                <a:gd name="adj1" fmla="val 18649"/>
                <a:gd name="adj2" fmla="val 50000"/>
                <a:gd name="adj3" fmla="val 25000"/>
              </a:avLst>
            </a:prstGeom>
            <a:ln>
              <a:solidFill>
                <a:srgbClr val="66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41" name="组合 40"/>
          <p:cNvGrpSpPr/>
          <p:nvPr/>
        </p:nvGrpSpPr>
        <p:grpSpPr>
          <a:xfrm>
            <a:off x="648653" y="2292946"/>
            <a:ext cx="3411692" cy="338554"/>
            <a:chOff x="1046008" y="2177534"/>
            <a:chExt cx="3411692" cy="338554"/>
          </a:xfrm>
        </p:grpSpPr>
        <p:sp>
          <p:nvSpPr>
            <p:cNvPr id="39" name="矩形 38"/>
            <p:cNvSpPr/>
            <p:nvPr/>
          </p:nvSpPr>
          <p:spPr>
            <a:xfrm>
              <a:off x="1046008" y="2177534"/>
              <a:ext cx="2605200" cy="338554"/>
            </a:xfrm>
            <a:prstGeom prst="rect">
              <a:avLst/>
            </a:prstGeom>
          </p:spPr>
          <p:txBody>
            <a:bodyPr wrap="none">
              <a:spAutoFit/>
            </a:bodyPr>
            <a:lstStyle/>
            <a:p>
              <a:pPr>
                <a:buFont typeface="Wingdings" pitchFamily="2" charset="2"/>
                <a:buChar char="Ø"/>
              </a:pPr>
              <a:r>
                <a:rPr lang="zh-CN" altLang="en-US" sz="1600" dirty="0">
                  <a:latin typeface="Times New Roman" pitchFamily="18" charset="0"/>
                  <a:ea typeface="黑体" pitchFamily="49" charset="-122"/>
                  <a:cs typeface="Times New Roman" pitchFamily="18" charset="0"/>
                </a:rPr>
                <a:t>前级为</a:t>
              </a:r>
              <a:r>
                <a:rPr lang="zh-CN" altLang="en-US" sz="1600" dirty="0">
                  <a:solidFill>
                    <a:srgbClr val="6600FF"/>
                  </a:solidFill>
                  <a:latin typeface="方正粗黑宋简体" pitchFamily="2" charset="-122"/>
                  <a:ea typeface="方正粗黑宋简体" pitchFamily="2" charset="-122"/>
                </a:rPr>
                <a:t>或非门</a:t>
              </a:r>
              <a:r>
                <a:rPr lang="zh-CN" altLang="en-US" sz="1600" dirty="0">
                  <a:latin typeface="Times New Roman" pitchFamily="18" charset="0"/>
                  <a:ea typeface="黑体" pitchFamily="49" charset="-122"/>
                  <a:cs typeface="Times New Roman" pitchFamily="18" charset="0"/>
                </a:rPr>
                <a:t>，输出为：</a:t>
              </a:r>
              <a:endParaRPr lang="zh-CN" altLang="en-US" sz="1600" dirty="0"/>
            </a:p>
          </p:txBody>
        </p:sp>
        <p:graphicFrame>
          <p:nvGraphicFramePr>
            <p:cNvPr id="40" name="Object 28"/>
            <p:cNvGraphicFramePr>
              <a:graphicFrameLocks noChangeAspect="1"/>
            </p:cNvGraphicFramePr>
            <p:nvPr/>
          </p:nvGraphicFramePr>
          <p:xfrm>
            <a:off x="3549650" y="2178782"/>
            <a:ext cx="908050" cy="289864"/>
          </p:xfrm>
          <a:graphic>
            <a:graphicData uri="http://schemas.openxmlformats.org/presentationml/2006/ole">
              <mc:AlternateContent xmlns:mc="http://schemas.openxmlformats.org/markup-compatibility/2006">
                <mc:Choice xmlns:v="urn:schemas-microsoft-com:vml" Requires="v">
                  <p:oleObj spid="_x0000_s80900" name="公式" r:id="rId7" imgW="596900" imgH="190500" progId="">
                    <p:embed/>
                  </p:oleObj>
                </mc:Choice>
                <mc:Fallback>
                  <p:oleObj name="公式" r:id="rId7" imgW="596900" imgH="190500" progId="">
                    <p:embed/>
                    <p:pic>
                      <p:nvPicPr>
                        <p:cNvPr id="40" name="Object 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49650" y="2178782"/>
                          <a:ext cx="908050" cy="2898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pSp>
      <p:sp>
        <p:nvSpPr>
          <p:cNvPr id="43" name="矩形 42"/>
          <p:cNvSpPr/>
          <p:nvPr/>
        </p:nvSpPr>
        <p:spPr>
          <a:xfrm>
            <a:off x="632378" y="2791574"/>
            <a:ext cx="4621778" cy="338554"/>
          </a:xfrm>
          <a:prstGeom prst="rect">
            <a:avLst/>
          </a:prstGeom>
        </p:spPr>
        <p:txBody>
          <a:bodyPr wrap="none">
            <a:spAutoFit/>
          </a:bodyPr>
          <a:lstStyle/>
          <a:p>
            <a:pPr>
              <a:buFont typeface="Wingdings" pitchFamily="2" charset="2"/>
              <a:buChar char="Ø"/>
            </a:pPr>
            <a:r>
              <a:rPr lang="zh-CN" altLang="en-US" sz="1600" dirty="0">
                <a:latin typeface="Times New Roman" pitchFamily="18" charset="0"/>
                <a:ea typeface="黑体" pitchFamily="49" charset="-122"/>
                <a:cs typeface="Times New Roman" pitchFamily="18" charset="0"/>
              </a:rPr>
              <a:t>后级可以看作三变量</a:t>
            </a:r>
            <a:r>
              <a:rPr lang="en-US" altLang="zh-CN" sz="1600" i="1" dirty="0">
                <a:latin typeface="Times New Roman" pitchFamily="18" charset="0"/>
                <a:ea typeface="黑体" pitchFamily="49" charset="-122"/>
                <a:cs typeface="Times New Roman" pitchFamily="18" charset="0"/>
              </a:rPr>
              <a:t>X</a:t>
            </a:r>
            <a:r>
              <a:rPr lang="zh-CN" altLang="en-US" sz="1600" dirty="0">
                <a:latin typeface="Times New Roman" pitchFamily="18" charset="0"/>
                <a:ea typeface="黑体" pitchFamily="49" charset="-122"/>
                <a:cs typeface="Times New Roman" pitchFamily="18" charset="0"/>
              </a:rPr>
              <a:t>、</a:t>
            </a:r>
            <a:r>
              <a:rPr lang="en-US" altLang="zh-CN" sz="1600" i="1" dirty="0">
                <a:latin typeface="Times New Roman" pitchFamily="18" charset="0"/>
                <a:ea typeface="黑体" pitchFamily="49" charset="-122"/>
                <a:cs typeface="Times New Roman" pitchFamily="18" charset="0"/>
              </a:rPr>
              <a:t>A</a:t>
            </a:r>
            <a:r>
              <a:rPr lang="zh-CN" altLang="en-US" sz="1600" dirty="0">
                <a:latin typeface="Times New Roman" pitchFamily="18" charset="0"/>
                <a:ea typeface="黑体" pitchFamily="49" charset="-122"/>
                <a:cs typeface="Times New Roman" pitchFamily="18" charset="0"/>
              </a:rPr>
              <a:t>、</a:t>
            </a:r>
            <a:r>
              <a:rPr lang="en-US" altLang="zh-CN" sz="1600" i="1" dirty="0">
                <a:latin typeface="Times New Roman" pitchFamily="18" charset="0"/>
                <a:ea typeface="黑体" pitchFamily="49" charset="-122"/>
                <a:cs typeface="Times New Roman" pitchFamily="18" charset="0"/>
              </a:rPr>
              <a:t>B</a:t>
            </a:r>
            <a:r>
              <a:rPr lang="zh-CN" altLang="en-US" sz="1600" dirty="0">
                <a:latin typeface="Times New Roman" pitchFamily="18" charset="0"/>
                <a:ea typeface="黑体" pitchFamily="49" charset="-122"/>
                <a:cs typeface="Times New Roman" pitchFamily="18" charset="0"/>
              </a:rPr>
              <a:t>输入的逻辑电路：</a:t>
            </a:r>
            <a:endParaRPr lang="zh-CN" altLang="en-US" sz="1600" dirty="0"/>
          </a:p>
        </p:txBody>
      </p:sp>
      <p:grpSp>
        <p:nvGrpSpPr>
          <p:cNvPr id="51" name="组合 50"/>
          <p:cNvGrpSpPr/>
          <p:nvPr/>
        </p:nvGrpSpPr>
        <p:grpSpPr>
          <a:xfrm>
            <a:off x="6532531" y="2631500"/>
            <a:ext cx="2481928" cy="2697851"/>
            <a:chOff x="6528905" y="2682018"/>
            <a:chExt cx="2481928" cy="2697851"/>
          </a:xfrm>
        </p:grpSpPr>
        <p:grpSp>
          <p:nvGrpSpPr>
            <p:cNvPr id="49" name="组合 48"/>
            <p:cNvGrpSpPr/>
            <p:nvPr/>
          </p:nvGrpSpPr>
          <p:grpSpPr>
            <a:xfrm>
              <a:off x="6528905" y="3031787"/>
              <a:ext cx="1913762" cy="2348082"/>
              <a:chOff x="4025399" y="2721068"/>
              <a:chExt cx="1913762" cy="2348082"/>
            </a:xfrm>
          </p:grpSpPr>
          <p:sp>
            <p:nvSpPr>
              <p:cNvPr id="48" name="圆角矩形 47"/>
              <p:cNvSpPr/>
              <p:nvPr/>
            </p:nvSpPr>
            <p:spPr>
              <a:xfrm>
                <a:off x="4025399" y="2721068"/>
                <a:ext cx="1913762" cy="2348082"/>
              </a:xfrm>
              <a:prstGeom prst="roundRect">
                <a:avLst>
                  <a:gd name="adj" fmla="val 6694"/>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59393" name="Object 31"/>
              <p:cNvGraphicFramePr>
                <a:graphicFrameLocks noChangeAspect="1"/>
              </p:cNvGraphicFramePr>
              <p:nvPr/>
            </p:nvGraphicFramePr>
            <p:xfrm>
              <a:off x="4078581" y="2769831"/>
              <a:ext cx="1772813" cy="2225798"/>
            </p:xfrm>
            <a:graphic>
              <a:graphicData uri="http://schemas.openxmlformats.org/presentationml/2006/ole">
                <mc:AlternateContent xmlns:mc="http://schemas.openxmlformats.org/markup-compatibility/2006">
                  <mc:Choice xmlns:v="urn:schemas-microsoft-com:vml" Requires="v">
                    <p:oleObj spid="_x0000_s80901" name="Visio" r:id="rId9" imgW="1664925" imgH="2074963" progId="">
                      <p:embed/>
                    </p:oleObj>
                  </mc:Choice>
                  <mc:Fallback>
                    <p:oleObj name="Visio" r:id="rId9" imgW="1664925" imgH="2074963" progId="">
                      <p:embed/>
                      <p:pic>
                        <p:nvPicPr>
                          <p:cNvPr id="59393" name="Object 3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78581" y="2769831"/>
                            <a:ext cx="1772813" cy="22257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pSp>
        <p:sp>
          <p:nvSpPr>
            <p:cNvPr id="50" name="左弧形箭头 49"/>
            <p:cNvSpPr/>
            <p:nvPr/>
          </p:nvSpPr>
          <p:spPr>
            <a:xfrm flipH="1">
              <a:off x="8474769" y="2682018"/>
              <a:ext cx="536064" cy="1721306"/>
            </a:xfrm>
            <a:prstGeom prst="curvedRightArrow">
              <a:avLst>
                <a:gd name="adj1" fmla="val 22015"/>
                <a:gd name="adj2" fmla="val 50000"/>
                <a:gd name="adj3" fmla="val 25000"/>
              </a:avLst>
            </a:prstGeom>
            <a:ln>
              <a:solidFill>
                <a:srgbClr val="66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53" name="组合 52"/>
          <p:cNvGrpSpPr/>
          <p:nvPr/>
        </p:nvGrpSpPr>
        <p:grpSpPr>
          <a:xfrm>
            <a:off x="869633" y="3168650"/>
            <a:ext cx="2190432" cy="362010"/>
            <a:chOff x="1046008" y="2154078"/>
            <a:chExt cx="2190432" cy="362010"/>
          </a:xfrm>
        </p:grpSpPr>
        <p:sp>
          <p:nvSpPr>
            <p:cNvPr id="54" name="矩形 53"/>
            <p:cNvSpPr/>
            <p:nvPr/>
          </p:nvSpPr>
          <p:spPr>
            <a:xfrm>
              <a:off x="1046008" y="2177534"/>
              <a:ext cx="1418978" cy="338554"/>
            </a:xfrm>
            <a:prstGeom prst="rect">
              <a:avLst/>
            </a:prstGeom>
          </p:spPr>
          <p:txBody>
            <a:bodyPr wrap="none">
              <a:spAutoFit/>
            </a:bodyPr>
            <a:lstStyle/>
            <a:p>
              <a:pPr>
                <a:buFont typeface="Wingdings" pitchFamily="2" charset="2"/>
                <a:buChar char="u"/>
              </a:pPr>
              <a:r>
                <a:rPr lang="zh-CN" altLang="en-US" sz="1600" dirty="0">
                  <a:latin typeface="Times New Roman" pitchFamily="18" charset="0"/>
                  <a:ea typeface="黑体" pitchFamily="49" charset="-122"/>
                  <a:cs typeface="Times New Roman" pitchFamily="18" charset="0"/>
                </a:rPr>
                <a:t> 当</a:t>
              </a:r>
              <a:r>
                <a:rPr lang="en-US" altLang="zh-CN" sz="1600" dirty="0">
                  <a:latin typeface="Times New Roman" pitchFamily="18" charset="0"/>
                  <a:ea typeface="黑体" pitchFamily="49" charset="-122"/>
                  <a:cs typeface="Times New Roman" pitchFamily="18" charset="0"/>
                </a:rPr>
                <a:t>X=0</a:t>
              </a:r>
              <a:r>
                <a:rPr lang="zh-CN" altLang="en-US" sz="1600" dirty="0">
                  <a:latin typeface="Times New Roman" pitchFamily="18" charset="0"/>
                  <a:ea typeface="黑体" pitchFamily="49" charset="-122"/>
                  <a:cs typeface="Times New Roman" pitchFamily="18" charset="0"/>
                </a:rPr>
                <a:t>时：</a:t>
              </a:r>
              <a:endParaRPr lang="zh-CN" altLang="en-US" sz="1600" dirty="0"/>
            </a:p>
          </p:txBody>
        </p:sp>
        <p:graphicFrame>
          <p:nvGraphicFramePr>
            <p:cNvPr id="55" name="Object 28"/>
            <p:cNvGraphicFramePr>
              <a:graphicFrameLocks noChangeAspect="1"/>
            </p:cNvGraphicFramePr>
            <p:nvPr/>
          </p:nvGraphicFramePr>
          <p:xfrm>
            <a:off x="2364903" y="2154078"/>
            <a:ext cx="871537" cy="311150"/>
          </p:xfrm>
          <a:graphic>
            <a:graphicData uri="http://schemas.openxmlformats.org/presentationml/2006/ole">
              <mc:AlternateContent xmlns:mc="http://schemas.openxmlformats.org/markup-compatibility/2006">
                <mc:Choice xmlns:v="urn:schemas-microsoft-com:vml" Requires="v">
                  <p:oleObj spid="_x0000_s80902" name="公式" r:id="rId11" imgW="571252" imgH="203112" progId="">
                    <p:embed/>
                  </p:oleObj>
                </mc:Choice>
                <mc:Fallback>
                  <p:oleObj name="公式" r:id="rId11" imgW="571252" imgH="203112" progId="">
                    <p:embed/>
                    <p:pic>
                      <p:nvPicPr>
                        <p:cNvPr id="55" name="Object 2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64903" y="2154078"/>
                          <a:ext cx="871537" cy="311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pSp>
      <p:grpSp>
        <p:nvGrpSpPr>
          <p:cNvPr id="56" name="组合 55"/>
          <p:cNvGrpSpPr/>
          <p:nvPr/>
        </p:nvGrpSpPr>
        <p:grpSpPr>
          <a:xfrm>
            <a:off x="7606030" y="3752850"/>
            <a:ext cx="819150" cy="834390"/>
            <a:chOff x="10539730" y="1604010"/>
            <a:chExt cx="819150" cy="834390"/>
          </a:xfrm>
        </p:grpSpPr>
        <p:sp>
          <p:nvSpPr>
            <p:cNvPr id="57" name="乘号 56"/>
            <p:cNvSpPr/>
            <p:nvPr/>
          </p:nvSpPr>
          <p:spPr>
            <a:xfrm>
              <a:off x="10789920" y="2019300"/>
              <a:ext cx="327660" cy="419100"/>
            </a:xfrm>
            <a:prstGeom prst="mathMultiply">
              <a:avLst>
                <a:gd name="adj1" fmla="val 22716"/>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减号 57"/>
            <p:cNvSpPr/>
            <p:nvPr/>
          </p:nvSpPr>
          <p:spPr>
            <a:xfrm rot="5400000">
              <a:off x="10787380" y="1356360"/>
              <a:ext cx="323850" cy="819150"/>
            </a:xfrm>
            <a:prstGeom prst="mathMinus">
              <a:avLst>
                <a:gd name="adj1" fmla="val 9631"/>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9" name="组合 58"/>
          <p:cNvGrpSpPr/>
          <p:nvPr/>
        </p:nvGrpSpPr>
        <p:grpSpPr>
          <a:xfrm>
            <a:off x="869633" y="3550246"/>
            <a:ext cx="1859280" cy="338554"/>
            <a:chOff x="1046008" y="2177534"/>
            <a:chExt cx="1859280" cy="338554"/>
          </a:xfrm>
        </p:grpSpPr>
        <p:sp>
          <p:nvSpPr>
            <p:cNvPr id="60" name="矩形 59"/>
            <p:cNvSpPr/>
            <p:nvPr/>
          </p:nvSpPr>
          <p:spPr>
            <a:xfrm>
              <a:off x="1046008" y="2177534"/>
              <a:ext cx="1418978" cy="338554"/>
            </a:xfrm>
            <a:prstGeom prst="rect">
              <a:avLst/>
            </a:prstGeom>
          </p:spPr>
          <p:txBody>
            <a:bodyPr wrap="none">
              <a:spAutoFit/>
            </a:bodyPr>
            <a:lstStyle/>
            <a:p>
              <a:pPr>
                <a:buFont typeface="Wingdings" pitchFamily="2" charset="2"/>
                <a:buChar char="u"/>
              </a:pPr>
              <a:r>
                <a:rPr lang="zh-CN" altLang="en-US" sz="1600" dirty="0">
                  <a:latin typeface="Times New Roman" pitchFamily="18" charset="0"/>
                  <a:ea typeface="黑体" pitchFamily="49" charset="-122"/>
                  <a:cs typeface="Times New Roman" pitchFamily="18" charset="0"/>
                </a:rPr>
                <a:t> 当</a:t>
              </a:r>
              <a:r>
                <a:rPr lang="en-US" altLang="zh-CN" sz="1600" dirty="0">
                  <a:latin typeface="Times New Roman" pitchFamily="18" charset="0"/>
                  <a:ea typeface="黑体" pitchFamily="49" charset="-122"/>
                  <a:cs typeface="Times New Roman" pitchFamily="18" charset="0"/>
                </a:rPr>
                <a:t>X=1</a:t>
              </a:r>
              <a:r>
                <a:rPr lang="zh-CN" altLang="en-US" sz="1600" dirty="0">
                  <a:latin typeface="Times New Roman" pitchFamily="18" charset="0"/>
                  <a:ea typeface="黑体" pitchFamily="49" charset="-122"/>
                  <a:cs typeface="Times New Roman" pitchFamily="18" charset="0"/>
                </a:rPr>
                <a:t>时：</a:t>
              </a:r>
              <a:endParaRPr lang="zh-CN" altLang="en-US" sz="1600" dirty="0"/>
            </a:p>
          </p:txBody>
        </p:sp>
        <p:graphicFrame>
          <p:nvGraphicFramePr>
            <p:cNvPr id="61" name="Object 28"/>
            <p:cNvGraphicFramePr>
              <a:graphicFrameLocks noChangeAspect="1"/>
            </p:cNvGraphicFramePr>
            <p:nvPr/>
          </p:nvGraphicFramePr>
          <p:xfrm>
            <a:off x="2344900" y="2211546"/>
            <a:ext cx="560388" cy="271462"/>
          </p:xfrm>
          <a:graphic>
            <a:graphicData uri="http://schemas.openxmlformats.org/presentationml/2006/ole">
              <mc:AlternateContent xmlns:mc="http://schemas.openxmlformats.org/markup-compatibility/2006">
                <mc:Choice xmlns:v="urn:schemas-microsoft-com:vml" Requires="v">
                  <p:oleObj spid="_x0000_s80903" name="公式" r:id="rId13" imgW="368140" imgH="177723" progId="">
                    <p:embed/>
                  </p:oleObj>
                </mc:Choice>
                <mc:Fallback>
                  <p:oleObj name="公式" r:id="rId13" imgW="368140" imgH="177723" progId="">
                    <p:embed/>
                    <p:pic>
                      <p:nvPicPr>
                        <p:cNvPr id="61" name="Object 2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44900" y="2211546"/>
                          <a:ext cx="560388" cy="271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pSp>
      <p:grpSp>
        <p:nvGrpSpPr>
          <p:cNvPr id="62" name="组合 61"/>
          <p:cNvGrpSpPr/>
          <p:nvPr/>
        </p:nvGrpSpPr>
        <p:grpSpPr>
          <a:xfrm rot="10800000">
            <a:off x="7623810" y="3714750"/>
            <a:ext cx="819150" cy="834390"/>
            <a:chOff x="10539730" y="1604010"/>
            <a:chExt cx="819150" cy="834390"/>
          </a:xfrm>
        </p:grpSpPr>
        <p:sp>
          <p:nvSpPr>
            <p:cNvPr id="63" name="乘号 62"/>
            <p:cNvSpPr/>
            <p:nvPr/>
          </p:nvSpPr>
          <p:spPr>
            <a:xfrm>
              <a:off x="10789920" y="2019300"/>
              <a:ext cx="327660" cy="419100"/>
            </a:xfrm>
            <a:prstGeom prst="mathMultiply">
              <a:avLst>
                <a:gd name="adj1" fmla="val 22716"/>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减号 63"/>
            <p:cNvSpPr/>
            <p:nvPr/>
          </p:nvSpPr>
          <p:spPr>
            <a:xfrm rot="5400000">
              <a:off x="10787380" y="1356360"/>
              <a:ext cx="323850" cy="819150"/>
            </a:xfrm>
            <a:prstGeom prst="mathMinus">
              <a:avLst>
                <a:gd name="adj1" fmla="val 9631"/>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7" name="组合 66"/>
          <p:cNvGrpSpPr/>
          <p:nvPr/>
        </p:nvGrpSpPr>
        <p:grpSpPr>
          <a:xfrm>
            <a:off x="3147060" y="3276600"/>
            <a:ext cx="2545080" cy="556260"/>
            <a:chOff x="3147060" y="3276600"/>
            <a:chExt cx="2545080" cy="556260"/>
          </a:xfrm>
        </p:grpSpPr>
        <p:sp>
          <p:nvSpPr>
            <p:cNvPr id="65" name="右大括号 64"/>
            <p:cNvSpPr/>
            <p:nvPr/>
          </p:nvSpPr>
          <p:spPr>
            <a:xfrm>
              <a:off x="3147060" y="3276600"/>
              <a:ext cx="182880" cy="556260"/>
            </a:xfrm>
            <a:prstGeom prst="rightBrace">
              <a:avLst>
                <a:gd name="adj1" fmla="val 48874"/>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66" name="Object 28"/>
            <p:cNvGraphicFramePr>
              <a:graphicFrameLocks noChangeAspect="1"/>
            </p:cNvGraphicFramePr>
            <p:nvPr/>
          </p:nvGraphicFramePr>
          <p:xfrm>
            <a:off x="3445828" y="3374073"/>
            <a:ext cx="2246312" cy="311150"/>
          </p:xfrm>
          <a:graphic>
            <a:graphicData uri="http://schemas.openxmlformats.org/presentationml/2006/ole">
              <mc:AlternateContent xmlns:mc="http://schemas.openxmlformats.org/markup-compatibility/2006">
                <mc:Choice xmlns:v="urn:schemas-microsoft-com:vml" Requires="v">
                  <p:oleObj spid="_x0000_s80904" name="公式" r:id="rId15" imgW="1473200" imgH="203200" progId="">
                    <p:embed/>
                  </p:oleObj>
                </mc:Choice>
                <mc:Fallback>
                  <p:oleObj name="公式" r:id="rId15" imgW="1473200" imgH="203200" progId="">
                    <p:embed/>
                    <p:pic>
                      <p:nvPicPr>
                        <p:cNvPr id="66" name="Object 2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445828" y="3374073"/>
                          <a:ext cx="2246312" cy="311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pSp>
      <p:sp>
        <p:nvSpPr>
          <p:cNvPr id="68" name="AutoShape 134"/>
          <p:cNvSpPr>
            <a:spLocks noChangeArrowheads="1"/>
          </p:cNvSpPr>
          <p:nvPr/>
        </p:nvSpPr>
        <p:spPr bwMode="auto">
          <a:xfrm>
            <a:off x="4615815" y="2705540"/>
            <a:ext cx="1167765" cy="433900"/>
          </a:xfrm>
          <a:prstGeom prst="wedgeRoundRectCallout">
            <a:avLst>
              <a:gd name="adj1" fmla="val -2714"/>
              <a:gd name="adj2" fmla="val 105943"/>
              <a:gd name="adj3" fmla="val 16667"/>
            </a:avLst>
          </a:prstGeom>
          <a:solidFill>
            <a:srgbClr val="FFFF99"/>
          </a:solidFill>
          <a:ln w="19050">
            <a:solidFill>
              <a:srgbClr val="FF00FF"/>
            </a:solid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spcBef>
                <a:spcPts val="600"/>
              </a:spcBef>
            </a:pPr>
            <a:r>
              <a:rPr lang="zh-CN" altLang="en-US" sz="1600" dirty="0">
                <a:latin typeface="方正粗黑宋简体" pitchFamily="2" charset="-122"/>
                <a:ea typeface="方正粗黑宋简体" pitchFamily="2" charset="-122"/>
              </a:rPr>
              <a:t>与或非门</a:t>
            </a:r>
            <a:endParaRPr lang="en-US" altLang="zh-CN" sz="1600" dirty="0">
              <a:solidFill>
                <a:schemeClr val="tx1"/>
              </a:solidFill>
              <a:latin typeface="方正粗黑宋简体" pitchFamily="2" charset="-122"/>
              <a:ea typeface="方正粗黑宋简体" pitchFamily="2" charset="-122"/>
            </a:endParaRPr>
          </a:p>
        </p:txBody>
      </p:sp>
      <p:sp>
        <p:nvSpPr>
          <p:cNvPr id="69" name="任意多边形 68"/>
          <p:cNvSpPr/>
          <p:nvPr/>
        </p:nvSpPr>
        <p:spPr>
          <a:xfrm>
            <a:off x="3276600" y="2606040"/>
            <a:ext cx="1592580" cy="944880"/>
          </a:xfrm>
          <a:custGeom>
            <a:avLst/>
            <a:gdLst>
              <a:gd name="connsiteX0" fmla="*/ 0 w 1584960"/>
              <a:gd name="connsiteY0" fmla="*/ 0 h 975360"/>
              <a:gd name="connsiteX1" fmla="*/ 518160 w 1584960"/>
              <a:gd name="connsiteY1" fmla="*/ 662940 h 975360"/>
              <a:gd name="connsiteX2" fmla="*/ 1584960 w 1584960"/>
              <a:gd name="connsiteY2" fmla="*/ 975360 h 975360"/>
            </a:gdLst>
            <a:ahLst/>
            <a:cxnLst>
              <a:cxn ang="0">
                <a:pos x="connsiteX0" y="connsiteY0"/>
              </a:cxn>
              <a:cxn ang="0">
                <a:pos x="connsiteX1" y="connsiteY1"/>
              </a:cxn>
              <a:cxn ang="0">
                <a:pos x="connsiteX2" y="connsiteY2"/>
              </a:cxn>
            </a:cxnLst>
            <a:rect l="l" t="t" r="r" b="b"/>
            <a:pathLst>
              <a:path w="1584960" h="975360">
                <a:moveTo>
                  <a:pt x="0" y="0"/>
                </a:moveTo>
                <a:cubicBezTo>
                  <a:pt x="127000" y="250190"/>
                  <a:pt x="254000" y="500380"/>
                  <a:pt x="518160" y="662940"/>
                </a:cubicBezTo>
                <a:cubicBezTo>
                  <a:pt x="782320" y="825500"/>
                  <a:pt x="1183640" y="900430"/>
                  <a:pt x="1584960" y="975360"/>
                </a:cubicBezTo>
              </a:path>
            </a:pathLst>
          </a:custGeom>
          <a:ln w="28575">
            <a:solidFill>
              <a:srgbClr val="6600FF"/>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73" name="Object 28"/>
          <p:cNvGraphicFramePr>
            <a:graphicFrameLocks noChangeAspect="1"/>
          </p:cNvGraphicFramePr>
          <p:nvPr/>
        </p:nvGraphicFramePr>
        <p:xfrm>
          <a:off x="3634105" y="3795078"/>
          <a:ext cx="1414463" cy="738187"/>
        </p:xfrm>
        <a:graphic>
          <a:graphicData uri="http://schemas.openxmlformats.org/presentationml/2006/ole">
            <mc:AlternateContent xmlns:mc="http://schemas.openxmlformats.org/markup-compatibility/2006">
              <mc:Choice xmlns:v="urn:schemas-microsoft-com:vml" Requires="v">
                <p:oleObj spid="_x0000_s80905" name="公式" r:id="rId17" imgW="927100" imgH="482600" progId="">
                  <p:embed/>
                </p:oleObj>
              </mc:Choice>
              <mc:Fallback>
                <p:oleObj name="公式" r:id="rId17" imgW="927100" imgH="482600" progId="">
                  <p:embed/>
                  <p:pic>
                    <p:nvPicPr>
                      <p:cNvPr id="73" name="Object 2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634105" y="3795078"/>
                        <a:ext cx="1414463" cy="7381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74" name="AutoShape 134"/>
          <p:cNvSpPr>
            <a:spLocks noChangeArrowheads="1"/>
          </p:cNvSpPr>
          <p:nvPr/>
        </p:nvSpPr>
        <p:spPr bwMode="auto">
          <a:xfrm>
            <a:off x="4122686" y="4720287"/>
            <a:ext cx="1167765" cy="433900"/>
          </a:xfrm>
          <a:prstGeom prst="wedgeRoundRectCallout">
            <a:avLst>
              <a:gd name="adj1" fmla="val -32078"/>
              <a:gd name="adj2" fmla="val -81966"/>
              <a:gd name="adj3" fmla="val 16667"/>
            </a:avLst>
          </a:prstGeom>
          <a:solidFill>
            <a:srgbClr val="FFFF99"/>
          </a:solidFill>
          <a:ln w="19050">
            <a:solidFill>
              <a:srgbClr val="FF00FF"/>
            </a:solid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spcBef>
                <a:spcPts val="600"/>
              </a:spcBef>
            </a:pPr>
            <a:r>
              <a:rPr lang="zh-CN" altLang="en-US" sz="1600" dirty="0">
                <a:solidFill>
                  <a:schemeClr val="tx1"/>
                </a:solidFill>
                <a:latin typeface="方正粗黑宋简体" pitchFamily="2" charset="-122"/>
                <a:ea typeface="方正粗黑宋简体" pitchFamily="2" charset="-122"/>
              </a:rPr>
              <a:t>异或逻辑</a:t>
            </a:r>
            <a:endParaRPr lang="en-US" altLang="zh-CN" sz="1600" dirty="0">
              <a:solidFill>
                <a:schemeClr val="tx1"/>
              </a:solidFill>
              <a:latin typeface="方正粗黑宋简体" pitchFamily="2" charset="-122"/>
              <a:ea typeface="方正粗黑宋简体" pitchFamily="2" charset="-122"/>
            </a:endParaRPr>
          </a:p>
        </p:txBody>
      </p:sp>
      <p:sp>
        <p:nvSpPr>
          <p:cNvPr id="45" name="椭圆 44">
            <a:extLst>
              <a:ext uri="{FF2B5EF4-FFF2-40B4-BE49-F238E27FC236}">
                <a16:creationId xmlns:a16="http://schemas.microsoft.com/office/drawing/2014/main" id="{E5BEF23C-77A3-4E8B-ADFD-7BFB2A952F12}"/>
              </a:ext>
            </a:extLst>
          </p:cNvPr>
          <p:cNvSpPr/>
          <p:nvPr/>
        </p:nvSpPr>
        <p:spPr>
          <a:xfrm>
            <a:off x="6616258" y="3924300"/>
            <a:ext cx="284551" cy="332144"/>
          </a:xfrm>
          <a:prstGeom prst="ellipse">
            <a:avLst/>
          </a:prstGeom>
          <a:solidFill>
            <a:schemeClr val="accent1"/>
          </a:solidFill>
          <a:ln w="1905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a:t>
            </a:r>
            <a:endParaRPr lang="zh-CN" altLang="en-US" dirty="0"/>
          </a:p>
        </p:txBody>
      </p:sp>
      <p:sp>
        <p:nvSpPr>
          <p:cNvPr id="46" name="椭圆 45">
            <a:extLst>
              <a:ext uri="{FF2B5EF4-FFF2-40B4-BE49-F238E27FC236}">
                <a16:creationId xmlns:a16="http://schemas.microsoft.com/office/drawing/2014/main" id="{00F43E8F-D782-41E6-9DBF-CD5A4D002CB5}"/>
              </a:ext>
            </a:extLst>
          </p:cNvPr>
          <p:cNvSpPr/>
          <p:nvPr/>
        </p:nvSpPr>
        <p:spPr>
          <a:xfrm>
            <a:off x="6614909" y="3924300"/>
            <a:ext cx="284551" cy="332144"/>
          </a:xfrm>
          <a:prstGeom prst="ellipse">
            <a:avLst/>
          </a:prstGeom>
          <a:solidFill>
            <a:srgbClr val="00B0F0"/>
          </a:solidFill>
          <a:ln w="1905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grpSp>
        <p:nvGrpSpPr>
          <p:cNvPr id="47" name="组合 46">
            <a:extLst>
              <a:ext uri="{FF2B5EF4-FFF2-40B4-BE49-F238E27FC236}">
                <a16:creationId xmlns:a16="http://schemas.microsoft.com/office/drawing/2014/main" id="{2B07005E-B0F7-4F51-8B37-3F47622B1548}"/>
              </a:ext>
            </a:extLst>
          </p:cNvPr>
          <p:cNvGrpSpPr/>
          <p:nvPr/>
        </p:nvGrpSpPr>
        <p:grpSpPr>
          <a:xfrm>
            <a:off x="282575" y="785614"/>
            <a:ext cx="3757217" cy="373579"/>
            <a:chOff x="307975" y="1517134"/>
            <a:chExt cx="3757217" cy="373579"/>
          </a:xfrm>
        </p:grpSpPr>
        <p:grpSp>
          <p:nvGrpSpPr>
            <p:cNvPr id="70" name="组合 32">
              <a:extLst>
                <a:ext uri="{FF2B5EF4-FFF2-40B4-BE49-F238E27FC236}">
                  <a16:creationId xmlns:a16="http://schemas.microsoft.com/office/drawing/2014/main" id="{841D0D7D-C314-4A47-9DEA-9A45DE3223F5}"/>
                </a:ext>
              </a:extLst>
            </p:cNvPr>
            <p:cNvGrpSpPr/>
            <p:nvPr/>
          </p:nvGrpSpPr>
          <p:grpSpPr>
            <a:xfrm>
              <a:off x="307975" y="1519116"/>
              <a:ext cx="568325" cy="371597"/>
              <a:chOff x="307975" y="1519116"/>
              <a:chExt cx="568325" cy="371597"/>
            </a:xfrm>
          </p:grpSpPr>
          <p:pic>
            <p:nvPicPr>
              <p:cNvPr id="72" name="Picture 4">
                <a:extLst>
                  <a:ext uri="{FF2B5EF4-FFF2-40B4-BE49-F238E27FC236}">
                    <a16:creationId xmlns:a16="http://schemas.microsoft.com/office/drawing/2014/main" id="{7419C2F5-0DE3-4C83-AB11-18CEFF73311B}"/>
                  </a:ext>
                </a:extLst>
              </p:cNvPr>
              <p:cNvPicPr>
                <a:picLocks noChangeAspect="1" noChangeArrowheads="1"/>
              </p:cNvPicPr>
              <p:nvPr/>
            </p:nvPicPr>
            <p:blipFill>
              <a:blip r:embed="rId19" cstate="print"/>
              <a:srcRect/>
              <a:stretch>
                <a:fillRect/>
              </a:stretch>
            </p:blipFill>
            <p:spPr bwMode="auto">
              <a:xfrm flipH="1">
                <a:off x="307975" y="1519116"/>
                <a:ext cx="568325" cy="371597"/>
              </a:xfrm>
              <a:prstGeom prst="rect">
                <a:avLst/>
              </a:prstGeom>
              <a:noFill/>
              <a:ln w="9525">
                <a:noFill/>
                <a:miter lim="800000"/>
                <a:headEnd/>
                <a:tailEnd/>
              </a:ln>
              <a:effectLst/>
            </p:spPr>
          </p:pic>
          <p:sp>
            <p:nvSpPr>
              <p:cNvPr id="75" name="TextBox 5">
                <a:extLst>
                  <a:ext uri="{FF2B5EF4-FFF2-40B4-BE49-F238E27FC236}">
                    <a16:creationId xmlns:a16="http://schemas.microsoft.com/office/drawing/2014/main" id="{81500452-A53F-486D-8723-FD0972067D4B}"/>
                  </a:ext>
                </a:extLst>
              </p:cNvPr>
              <p:cNvSpPr txBox="1"/>
              <p:nvPr/>
            </p:nvSpPr>
            <p:spPr>
              <a:xfrm flipH="1">
                <a:off x="443415" y="1555750"/>
                <a:ext cx="142668" cy="276999"/>
              </a:xfrm>
              <a:prstGeom prst="rect">
                <a:avLst/>
              </a:prstGeom>
              <a:noFill/>
            </p:spPr>
            <p:txBody>
              <a:bodyPr wrap="none" lIns="0" tIns="0" rIns="0" bIns="0" rtlCol="0">
                <a:spAutoFit/>
              </a:bodyPr>
              <a:lstStyle/>
              <a:p>
                <a:r>
                  <a:rPr lang="en-US" altLang="zh-CN" b="1" dirty="0">
                    <a:solidFill>
                      <a:srgbClr val="262626"/>
                    </a:solidFill>
                    <a:latin typeface="Segoe UI Black" pitchFamily="34" charset="0"/>
                    <a:ea typeface="Segoe UI Black" pitchFamily="34" charset="0"/>
                    <a:cs typeface="Times New Roman" pitchFamily="18" charset="0"/>
                  </a:rPr>
                  <a:t>4</a:t>
                </a:r>
                <a:endParaRPr lang="zh-CN" altLang="en-US" b="1" dirty="0">
                  <a:solidFill>
                    <a:srgbClr val="262626"/>
                  </a:solidFill>
                  <a:latin typeface="Segoe UI Black" pitchFamily="34" charset="0"/>
                  <a:cs typeface="Times New Roman" pitchFamily="18" charset="0"/>
                </a:endParaRPr>
              </a:p>
            </p:txBody>
          </p:sp>
        </p:grpSp>
        <p:sp>
          <p:nvSpPr>
            <p:cNvPr id="71" name="矩形 70">
              <a:extLst>
                <a:ext uri="{FF2B5EF4-FFF2-40B4-BE49-F238E27FC236}">
                  <a16:creationId xmlns:a16="http://schemas.microsoft.com/office/drawing/2014/main" id="{48BAA3C0-0DEB-4C70-A445-36E6A29616A3}"/>
                </a:ext>
              </a:extLst>
            </p:cNvPr>
            <p:cNvSpPr/>
            <p:nvPr/>
          </p:nvSpPr>
          <p:spPr>
            <a:xfrm>
              <a:off x="863675" y="1517134"/>
              <a:ext cx="3201517" cy="369332"/>
            </a:xfrm>
            <a:prstGeom prst="rect">
              <a:avLst/>
            </a:prstGeom>
          </p:spPr>
          <p:txBody>
            <a:bodyPr wrap="none">
              <a:spAutoFit/>
            </a:bodyPr>
            <a:lstStyle/>
            <a:p>
              <a:r>
                <a:rPr lang="zh-CN" altLang="en-US" b="1" dirty="0">
                  <a:solidFill>
                    <a:schemeClr val="accent1">
                      <a:lumMod val="50000"/>
                    </a:schemeClr>
                  </a:solidFill>
                  <a:latin typeface="Times New Roman" panose="02020603050405020304" pitchFamily="18" charset="0"/>
                  <a:ea typeface="黑体" pitchFamily="49" charset="-122"/>
                  <a:cs typeface="Times New Roman" panose="02020603050405020304" pitchFamily="18" charset="0"/>
                </a:rPr>
                <a:t>其他类型的</a:t>
              </a:r>
              <a:r>
                <a:rPr lang="en-US" altLang="zh-CN" b="1" dirty="0">
                  <a:solidFill>
                    <a:schemeClr val="accent1">
                      <a:lumMod val="50000"/>
                    </a:schemeClr>
                  </a:solidFill>
                  <a:latin typeface="Times New Roman" panose="02020603050405020304" pitchFamily="18" charset="0"/>
                  <a:ea typeface="黑体" pitchFamily="49" charset="-122"/>
                  <a:cs typeface="Times New Roman" panose="02020603050405020304" pitchFamily="18" charset="0"/>
                </a:rPr>
                <a:t>CMOS</a:t>
              </a:r>
              <a:r>
                <a:rPr lang="zh-CN" altLang="en-US" b="1" dirty="0">
                  <a:solidFill>
                    <a:schemeClr val="accent1">
                      <a:lumMod val="50000"/>
                    </a:schemeClr>
                  </a:solidFill>
                  <a:latin typeface="Times New Roman" panose="02020603050405020304" pitchFamily="18" charset="0"/>
                  <a:ea typeface="黑体" pitchFamily="49" charset="-122"/>
                  <a:cs typeface="Times New Roman" panose="02020603050405020304" pitchFamily="18" charset="0"/>
                </a:rPr>
                <a:t>逻辑门电路</a:t>
              </a:r>
            </a:p>
          </p:txBody>
        </p:sp>
      </p:gr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lide(fromBottom)">
                                      <p:cBhvr>
                                        <p:cTn id="7" dur="1000"/>
                                        <p:tgtEl>
                                          <p:spTgt spid="9"/>
                                        </p:tgtEl>
                                      </p:cBhvr>
                                    </p:animEffect>
                                  </p:childTnLst>
                                </p:cTn>
                              </p:par>
                            </p:childTnLst>
                          </p:cTn>
                        </p:par>
                        <p:par>
                          <p:cTn id="8" fill="hold">
                            <p:stCondLst>
                              <p:cond delay="1000"/>
                            </p:stCondLst>
                            <p:childTnLst>
                              <p:par>
                                <p:cTn id="9" presetID="23" presetClass="entr" presetSubtype="16" fill="hold" grpId="0" nodeType="afterEffect">
                                  <p:stCondLst>
                                    <p:cond delay="0"/>
                                  </p:stCondLst>
                                  <p:childTnLst>
                                    <p:set>
                                      <p:cBhvr>
                                        <p:cTn id="10" dur="1" fill="hold">
                                          <p:stCondLst>
                                            <p:cond delay="0"/>
                                          </p:stCondLst>
                                        </p:cTn>
                                        <p:tgtEl>
                                          <p:spTgt spid="35"/>
                                        </p:tgtEl>
                                        <p:attrNameLst>
                                          <p:attrName>style.visibility</p:attrName>
                                        </p:attrNameLst>
                                      </p:cBhvr>
                                      <p:to>
                                        <p:strVal val="visible"/>
                                      </p:to>
                                    </p:set>
                                    <p:anim calcmode="lin" valueType="num">
                                      <p:cBhvr>
                                        <p:cTn id="11" dur="1000" fill="hold"/>
                                        <p:tgtEl>
                                          <p:spTgt spid="35"/>
                                        </p:tgtEl>
                                        <p:attrNameLst>
                                          <p:attrName>ppt_w</p:attrName>
                                        </p:attrNameLst>
                                      </p:cBhvr>
                                      <p:tavLst>
                                        <p:tav tm="0">
                                          <p:val>
                                            <p:fltVal val="0"/>
                                          </p:val>
                                        </p:tav>
                                        <p:tav tm="100000">
                                          <p:val>
                                            <p:strVal val="#ppt_w"/>
                                          </p:val>
                                        </p:tav>
                                      </p:tavLst>
                                    </p:anim>
                                    <p:anim calcmode="lin" valueType="num">
                                      <p:cBhvr>
                                        <p:cTn id="12" dur="1000" fill="hold"/>
                                        <p:tgtEl>
                                          <p:spTgt spid="35"/>
                                        </p:tgtEl>
                                        <p:attrNameLst>
                                          <p:attrName>ppt_h</p:attrName>
                                        </p:attrNameLst>
                                      </p:cBhvr>
                                      <p:tavLst>
                                        <p:tav tm="0">
                                          <p:val>
                                            <p:fltVal val="0"/>
                                          </p:val>
                                        </p:tav>
                                        <p:tav tm="100000">
                                          <p:val>
                                            <p:strVal val="#ppt_h"/>
                                          </p:val>
                                        </p:tav>
                                      </p:tavLst>
                                    </p:anim>
                                  </p:childTnLst>
                                </p:cTn>
                              </p:par>
                              <p:par>
                                <p:cTn id="13" presetID="23" presetClass="entr" presetSubtype="16" fill="hold" grpId="0" nodeType="with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p:cTn id="15" dur="1000" fill="hold"/>
                                        <p:tgtEl>
                                          <p:spTgt spid="33"/>
                                        </p:tgtEl>
                                        <p:attrNameLst>
                                          <p:attrName>ppt_w</p:attrName>
                                        </p:attrNameLst>
                                      </p:cBhvr>
                                      <p:tavLst>
                                        <p:tav tm="0">
                                          <p:val>
                                            <p:fltVal val="0"/>
                                          </p:val>
                                        </p:tav>
                                        <p:tav tm="100000">
                                          <p:val>
                                            <p:strVal val="#ppt_w"/>
                                          </p:val>
                                        </p:tav>
                                      </p:tavLst>
                                    </p:anim>
                                    <p:anim calcmode="lin" valueType="num">
                                      <p:cBhvr>
                                        <p:cTn id="16" dur="1000" fill="hold"/>
                                        <p:tgtEl>
                                          <p:spTgt spid="33"/>
                                        </p:tgtEl>
                                        <p:attrNameLst>
                                          <p:attrName>ppt_h</p:attrName>
                                        </p:attrNameLst>
                                      </p:cBhvr>
                                      <p:tavLst>
                                        <p:tav tm="0">
                                          <p:val>
                                            <p:fltVal val="0"/>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52"/>
                                        </p:tgtEl>
                                        <p:attrNameLst>
                                          <p:attrName>style.visibility</p:attrName>
                                        </p:attrNameLst>
                                      </p:cBhvr>
                                      <p:to>
                                        <p:strVal val="visible"/>
                                      </p:to>
                                    </p:set>
                                    <p:animEffect transition="in" filter="wipe(up)">
                                      <p:cBhvr>
                                        <p:cTn id="21" dur="1000"/>
                                        <p:tgtEl>
                                          <p:spTgt spid="52"/>
                                        </p:tgtEl>
                                      </p:cBhvr>
                                    </p:animEffect>
                                  </p:childTnLst>
                                </p:cTn>
                              </p:par>
                            </p:childTnLst>
                          </p:cTn>
                        </p:par>
                        <p:par>
                          <p:cTn id="22" fill="hold">
                            <p:stCondLst>
                              <p:cond delay="1000"/>
                            </p:stCondLst>
                            <p:childTnLst>
                              <p:par>
                                <p:cTn id="23" presetID="12" presetClass="entr" presetSubtype="4" fill="hold" nodeType="after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slide(fromBottom)">
                                      <p:cBhvr>
                                        <p:cTn id="25" dur="1000"/>
                                        <p:tgtEl>
                                          <p:spTgt spid="41"/>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4" fill="hold" grpId="0" nodeType="clickEffect">
                                  <p:stCondLst>
                                    <p:cond delay="0"/>
                                  </p:stCondLst>
                                  <p:childTnLst>
                                    <p:set>
                                      <p:cBhvr>
                                        <p:cTn id="29" dur="1" fill="hold">
                                          <p:stCondLst>
                                            <p:cond delay="0"/>
                                          </p:stCondLst>
                                        </p:cTn>
                                        <p:tgtEl>
                                          <p:spTgt spid="43"/>
                                        </p:tgtEl>
                                        <p:attrNameLst>
                                          <p:attrName>style.visibility</p:attrName>
                                        </p:attrNameLst>
                                      </p:cBhvr>
                                      <p:to>
                                        <p:strVal val="visible"/>
                                      </p:to>
                                    </p:set>
                                    <p:animEffect transition="in" filter="slide(fromBottom)">
                                      <p:cBhvr>
                                        <p:cTn id="30" dur="1000"/>
                                        <p:tgtEl>
                                          <p:spTgt spid="43"/>
                                        </p:tgtEl>
                                      </p:cBhvr>
                                    </p:animEffect>
                                  </p:childTnLst>
                                </p:cTn>
                              </p:par>
                            </p:childTnLst>
                          </p:cTn>
                        </p:par>
                        <p:par>
                          <p:cTn id="31" fill="hold">
                            <p:stCondLst>
                              <p:cond delay="1000"/>
                            </p:stCondLst>
                            <p:childTnLst>
                              <p:par>
                                <p:cTn id="32" presetID="22" presetClass="entr" presetSubtype="1" fill="hold" nodeType="afterEffect">
                                  <p:stCondLst>
                                    <p:cond delay="0"/>
                                  </p:stCondLst>
                                  <p:childTnLst>
                                    <p:set>
                                      <p:cBhvr>
                                        <p:cTn id="33" dur="1" fill="hold">
                                          <p:stCondLst>
                                            <p:cond delay="0"/>
                                          </p:stCondLst>
                                        </p:cTn>
                                        <p:tgtEl>
                                          <p:spTgt spid="51"/>
                                        </p:tgtEl>
                                        <p:attrNameLst>
                                          <p:attrName>style.visibility</p:attrName>
                                        </p:attrNameLst>
                                      </p:cBhvr>
                                      <p:to>
                                        <p:strVal val="visible"/>
                                      </p:to>
                                    </p:set>
                                    <p:animEffect transition="in" filter="wipe(up)">
                                      <p:cBhvr>
                                        <p:cTn id="34" dur="1000"/>
                                        <p:tgtEl>
                                          <p:spTgt spid="51"/>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4" fill="hold" grpId="0" nodeType="clickEffect">
                                  <p:stCondLst>
                                    <p:cond delay="0"/>
                                  </p:stCondLst>
                                  <p:childTnLst>
                                    <p:set>
                                      <p:cBhvr>
                                        <p:cTn id="38" dur="1" fill="hold">
                                          <p:stCondLst>
                                            <p:cond delay="0"/>
                                          </p:stCondLst>
                                        </p:cTn>
                                        <p:tgtEl>
                                          <p:spTgt spid="45"/>
                                        </p:tgtEl>
                                        <p:attrNameLst>
                                          <p:attrName>style.visibility</p:attrName>
                                        </p:attrNameLst>
                                      </p:cBhvr>
                                      <p:to>
                                        <p:strVal val="visible"/>
                                      </p:to>
                                    </p:set>
                                    <p:anim calcmode="lin" valueType="num">
                                      <p:cBhvr additive="base">
                                        <p:cTn id="39" dur="500"/>
                                        <p:tgtEl>
                                          <p:spTgt spid="45"/>
                                        </p:tgtEl>
                                        <p:attrNameLst>
                                          <p:attrName>ppt_y</p:attrName>
                                        </p:attrNameLst>
                                      </p:cBhvr>
                                      <p:tavLst>
                                        <p:tav tm="0">
                                          <p:val>
                                            <p:strVal val="#ppt_y+#ppt_h*1.125000"/>
                                          </p:val>
                                        </p:tav>
                                        <p:tav tm="100000">
                                          <p:val>
                                            <p:strVal val="#ppt_y"/>
                                          </p:val>
                                        </p:tav>
                                      </p:tavLst>
                                    </p:anim>
                                    <p:animEffect transition="in" filter="wipe(up)">
                                      <p:cBhvr>
                                        <p:cTn id="40" dur="500"/>
                                        <p:tgtEl>
                                          <p:spTgt spid="45"/>
                                        </p:tgtEl>
                                      </p:cBhvr>
                                    </p:animEffect>
                                  </p:childTnLst>
                                </p:cTn>
                              </p:par>
                            </p:childTnLst>
                          </p:cTn>
                        </p:par>
                        <p:par>
                          <p:cTn id="41" fill="hold">
                            <p:stCondLst>
                              <p:cond delay="500"/>
                            </p:stCondLst>
                            <p:childTnLst>
                              <p:par>
                                <p:cTn id="42" presetID="12" presetClass="entr" presetSubtype="2" fill="hold" nodeType="afterEffect">
                                  <p:stCondLst>
                                    <p:cond delay="0"/>
                                  </p:stCondLst>
                                  <p:childTnLst>
                                    <p:set>
                                      <p:cBhvr>
                                        <p:cTn id="43" dur="1" fill="hold">
                                          <p:stCondLst>
                                            <p:cond delay="0"/>
                                          </p:stCondLst>
                                        </p:cTn>
                                        <p:tgtEl>
                                          <p:spTgt spid="56"/>
                                        </p:tgtEl>
                                        <p:attrNameLst>
                                          <p:attrName>style.visibility</p:attrName>
                                        </p:attrNameLst>
                                      </p:cBhvr>
                                      <p:to>
                                        <p:strVal val="visible"/>
                                      </p:to>
                                    </p:set>
                                    <p:animEffect transition="in" filter="slide(fromRight)">
                                      <p:cBhvr>
                                        <p:cTn id="44" dur="1000"/>
                                        <p:tgtEl>
                                          <p:spTgt spid="56"/>
                                        </p:tgtEl>
                                      </p:cBhvr>
                                    </p:animEffect>
                                  </p:childTnLst>
                                </p:cTn>
                              </p:par>
                            </p:childTnLst>
                          </p:cTn>
                        </p:par>
                        <p:par>
                          <p:cTn id="45" fill="hold">
                            <p:stCondLst>
                              <p:cond delay="1500"/>
                            </p:stCondLst>
                            <p:childTnLst>
                              <p:par>
                                <p:cTn id="46" presetID="12" presetClass="entr" presetSubtype="4" fill="hold" nodeType="afterEffect">
                                  <p:stCondLst>
                                    <p:cond delay="0"/>
                                  </p:stCondLst>
                                  <p:childTnLst>
                                    <p:set>
                                      <p:cBhvr>
                                        <p:cTn id="47" dur="1" fill="hold">
                                          <p:stCondLst>
                                            <p:cond delay="0"/>
                                          </p:stCondLst>
                                        </p:cTn>
                                        <p:tgtEl>
                                          <p:spTgt spid="53"/>
                                        </p:tgtEl>
                                        <p:attrNameLst>
                                          <p:attrName>style.visibility</p:attrName>
                                        </p:attrNameLst>
                                      </p:cBhvr>
                                      <p:to>
                                        <p:strVal val="visible"/>
                                      </p:to>
                                    </p:set>
                                    <p:animEffect transition="in" filter="slide(fromBottom)">
                                      <p:cBhvr>
                                        <p:cTn id="48" dur="1000"/>
                                        <p:tgtEl>
                                          <p:spTgt spid="53"/>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xit" presetSubtype="2" fill="hold" nodeType="clickEffect">
                                  <p:stCondLst>
                                    <p:cond delay="0"/>
                                  </p:stCondLst>
                                  <p:childTnLst>
                                    <p:animEffect transition="out" filter="wipe(right)">
                                      <p:cBhvr>
                                        <p:cTn id="52" dur="1000"/>
                                        <p:tgtEl>
                                          <p:spTgt spid="56"/>
                                        </p:tgtEl>
                                      </p:cBhvr>
                                    </p:animEffect>
                                    <p:set>
                                      <p:cBhvr>
                                        <p:cTn id="53" dur="1" fill="hold">
                                          <p:stCondLst>
                                            <p:cond delay="999"/>
                                          </p:stCondLst>
                                        </p:cTn>
                                        <p:tgtEl>
                                          <p:spTgt spid="56"/>
                                        </p:tgtEl>
                                        <p:attrNameLst>
                                          <p:attrName>style.visibility</p:attrName>
                                        </p:attrNameLst>
                                      </p:cBhvr>
                                      <p:to>
                                        <p:strVal val="hidden"/>
                                      </p:to>
                                    </p:set>
                                  </p:childTnLst>
                                </p:cTn>
                              </p:par>
                            </p:childTnLst>
                          </p:cTn>
                        </p:par>
                        <p:par>
                          <p:cTn id="54" fill="hold">
                            <p:stCondLst>
                              <p:cond delay="1000"/>
                            </p:stCondLst>
                            <p:childTnLst>
                              <p:par>
                                <p:cTn id="55" presetID="12" presetClass="entr" presetSubtype="4" fill="hold" grpId="0" nodeType="afterEffect">
                                  <p:stCondLst>
                                    <p:cond delay="0"/>
                                  </p:stCondLst>
                                  <p:childTnLst>
                                    <p:set>
                                      <p:cBhvr>
                                        <p:cTn id="56" dur="1" fill="hold">
                                          <p:stCondLst>
                                            <p:cond delay="0"/>
                                          </p:stCondLst>
                                        </p:cTn>
                                        <p:tgtEl>
                                          <p:spTgt spid="46"/>
                                        </p:tgtEl>
                                        <p:attrNameLst>
                                          <p:attrName>style.visibility</p:attrName>
                                        </p:attrNameLst>
                                      </p:cBhvr>
                                      <p:to>
                                        <p:strVal val="visible"/>
                                      </p:to>
                                    </p:set>
                                    <p:anim calcmode="lin" valueType="num">
                                      <p:cBhvr additive="base">
                                        <p:cTn id="57" dur="500"/>
                                        <p:tgtEl>
                                          <p:spTgt spid="46"/>
                                        </p:tgtEl>
                                        <p:attrNameLst>
                                          <p:attrName>ppt_y</p:attrName>
                                        </p:attrNameLst>
                                      </p:cBhvr>
                                      <p:tavLst>
                                        <p:tav tm="0">
                                          <p:val>
                                            <p:strVal val="#ppt_y+#ppt_h*1.125000"/>
                                          </p:val>
                                        </p:tav>
                                        <p:tav tm="100000">
                                          <p:val>
                                            <p:strVal val="#ppt_y"/>
                                          </p:val>
                                        </p:tav>
                                      </p:tavLst>
                                    </p:anim>
                                    <p:animEffect transition="in" filter="wipe(up)">
                                      <p:cBhvr>
                                        <p:cTn id="58" dur="500"/>
                                        <p:tgtEl>
                                          <p:spTgt spid="46"/>
                                        </p:tgtEl>
                                      </p:cBhvr>
                                    </p:animEffect>
                                  </p:childTnLst>
                                </p:cTn>
                              </p:par>
                            </p:childTnLst>
                          </p:cTn>
                        </p:par>
                        <p:par>
                          <p:cTn id="59" fill="hold">
                            <p:stCondLst>
                              <p:cond delay="1500"/>
                            </p:stCondLst>
                            <p:childTnLst>
                              <p:par>
                                <p:cTn id="60" presetID="12" presetClass="entr" presetSubtype="2" fill="hold" nodeType="afterEffect">
                                  <p:stCondLst>
                                    <p:cond delay="0"/>
                                  </p:stCondLst>
                                  <p:childTnLst>
                                    <p:set>
                                      <p:cBhvr>
                                        <p:cTn id="61" dur="1" fill="hold">
                                          <p:stCondLst>
                                            <p:cond delay="0"/>
                                          </p:stCondLst>
                                        </p:cTn>
                                        <p:tgtEl>
                                          <p:spTgt spid="62"/>
                                        </p:tgtEl>
                                        <p:attrNameLst>
                                          <p:attrName>style.visibility</p:attrName>
                                        </p:attrNameLst>
                                      </p:cBhvr>
                                      <p:to>
                                        <p:strVal val="visible"/>
                                      </p:to>
                                    </p:set>
                                    <p:animEffect transition="in" filter="slide(fromRight)">
                                      <p:cBhvr>
                                        <p:cTn id="62" dur="1000"/>
                                        <p:tgtEl>
                                          <p:spTgt spid="62"/>
                                        </p:tgtEl>
                                      </p:cBhvr>
                                    </p:animEffect>
                                  </p:childTnLst>
                                </p:cTn>
                              </p:par>
                            </p:childTnLst>
                          </p:cTn>
                        </p:par>
                        <p:par>
                          <p:cTn id="63" fill="hold">
                            <p:stCondLst>
                              <p:cond delay="2500"/>
                            </p:stCondLst>
                            <p:childTnLst>
                              <p:par>
                                <p:cTn id="64" presetID="12" presetClass="entr" presetSubtype="4" fill="hold" nodeType="afterEffect">
                                  <p:stCondLst>
                                    <p:cond delay="0"/>
                                  </p:stCondLst>
                                  <p:childTnLst>
                                    <p:set>
                                      <p:cBhvr>
                                        <p:cTn id="65" dur="1" fill="hold">
                                          <p:stCondLst>
                                            <p:cond delay="0"/>
                                          </p:stCondLst>
                                        </p:cTn>
                                        <p:tgtEl>
                                          <p:spTgt spid="59"/>
                                        </p:tgtEl>
                                        <p:attrNameLst>
                                          <p:attrName>style.visibility</p:attrName>
                                        </p:attrNameLst>
                                      </p:cBhvr>
                                      <p:to>
                                        <p:strVal val="visible"/>
                                      </p:to>
                                    </p:set>
                                    <p:animEffect transition="in" filter="slide(fromBottom)">
                                      <p:cBhvr>
                                        <p:cTn id="66" dur="1000"/>
                                        <p:tgtEl>
                                          <p:spTgt spid="59"/>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67"/>
                                        </p:tgtEl>
                                        <p:attrNameLst>
                                          <p:attrName>style.visibility</p:attrName>
                                        </p:attrNameLst>
                                      </p:cBhvr>
                                      <p:to>
                                        <p:strVal val="visible"/>
                                      </p:to>
                                    </p:set>
                                    <p:animEffect transition="in" filter="wipe(left)">
                                      <p:cBhvr>
                                        <p:cTn id="71" dur="1000"/>
                                        <p:tgtEl>
                                          <p:spTgt spid="67"/>
                                        </p:tgtEl>
                                      </p:cBhvr>
                                    </p:animEffect>
                                  </p:childTnLst>
                                </p:cTn>
                              </p:par>
                            </p:childTnLst>
                          </p:cTn>
                        </p:par>
                        <p:par>
                          <p:cTn id="72" fill="hold">
                            <p:stCondLst>
                              <p:cond delay="1000"/>
                            </p:stCondLst>
                            <p:childTnLst>
                              <p:par>
                                <p:cTn id="73" presetID="22" presetClass="entr" presetSubtype="4" fill="hold" grpId="0" nodeType="afterEffect">
                                  <p:stCondLst>
                                    <p:cond delay="0"/>
                                  </p:stCondLst>
                                  <p:childTnLst>
                                    <p:set>
                                      <p:cBhvr>
                                        <p:cTn id="74" dur="1" fill="hold">
                                          <p:stCondLst>
                                            <p:cond delay="0"/>
                                          </p:stCondLst>
                                        </p:cTn>
                                        <p:tgtEl>
                                          <p:spTgt spid="68"/>
                                        </p:tgtEl>
                                        <p:attrNameLst>
                                          <p:attrName>style.visibility</p:attrName>
                                        </p:attrNameLst>
                                      </p:cBhvr>
                                      <p:to>
                                        <p:strVal val="visible"/>
                                      </p:to>
                                    </p:set>
                                    <p:animEffect transition="in" filter="wipe(down)">
                                      <p:cBhvr>
                                        <p:cTn id="75" dur="1000"/>
                                        <p:tgtEl>
                                          <p:spTgt spid="68"/>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69"/>
                                        </p:tgtEl>
                                        <p:attrNameLst>
                                          <p:attrName>style.visibility</p:attrName>
                                        </p:attrNameLst>
                                      </p:cBhvr>
                                      <p:to>
                                        <p:strVal val="visible"/>
                                      </p:to>
                                    </p:set>
                                    <p:animEffect transition="in" filter="wipe(left)">
                                      <p:cBhvr>
                                        <p:cTn id="80" dur="1000"/>
                                        <p:tgtEl>
                                          <p:spTgt spid="69"/>
                                        </p:tgtEl>
                                      </p:cBhvr>
                                    </p:animEffect>
                                  </p:childTnLst>
                                </p:cTn>
                              </p:par>
                            </p:childTnLst>
                          </p:cTn>
                        </p:par>
                        <p:par>
                          <p:cTn id="81" fill="hold">
                            <p:stCondLst>
                              <p:cond delay="1000"/>
                            </p:stCondLst>
                            <p:childTnLst>
                              <p:par>
                                <p:cTn id="82" presetID="12" presetClass="entr" presetSubtype="4" fill="hold" nodeType="afterEffect">
                                  <p:stCondLst>
                                    <p:cond delay="0"/>
                                  </p:stCondLst>
                                  <p:childTnLst>
                                    <p:set>
                                      <p:cBhvr>
                                        <p:cTn id="83" dur="1" fill="hold">
                                          <p:stCondLst>
                                            <p:cond delay="0"/>
                                          </p:stCondLst>
                                        </p:cTn>
                                        <p:tgtEl>
                                          <p:spTgt spid="73"/>
                                        </p:tgtEl>
                                        <p:attrNameLst>
                                          <p:attrName>style.visibility</p:attrName>
                                        </p:attrNameLst>
                                      </p:cBhvr>
                                      <p:to>
                                        <p:strVal val="visible"/>
                                      </p:to>
                                    </p:set>
                                    <p:animEffect transition="in" filter="slide(fromBottom)">
                                      <p:cBhvr>
                                        <p:cTn id="84" dur="1000"/>
                                        <p:tgtEl>
                                          <p:spTgt spid="73"/>
                                        </p:tgtEl>
                                      </p:cBhvr>
                                    </p:animEffect>
                                  </p:childTnLst>
                                </p:cTn>
                              </p:par>
                            </p:childTnLst>
                          </p:cTn>
                        </p:par>
                        <p:par>
                          <p:cTn id="85" fill="hold">
                            <p:stCondLst>
                              <p:cond delay="2000"/>
                            </p:stCondLst>
                            <p:childTnLst>
                              <p:par>
                                <p:cTn id="86" presetID="22" presetClass="entr" presetSubtype="1" fill="hold" grpId="0" nodeType="afterEffect">
                                  <p:stCondLst>
                                    <p:cond delay="0"/>
                                  </p:stCondLst>
                                  <p:childTnLst>
                                    <p:set>
                                      <p:cBhvr>
                                        <p:cTn id="87" dur="1" fill="hold">
                                          <p:stCondLst>
                                            <p:cond delay="0"/>
                                          </p:stCondLst>
                                        </p:cTn>
                                        <p:tgtEl>
                                          <p:spTgt spid="74"/>
                                        </p:tgtEl>
                                        <p:attrNameLst>
                                          <p:attrName>style.visibility</p:attrName>
                                        </p:attrNameLst>
                                      </p:cBhvr>
                                      <p:to>
                                        <p:strVal val="visible"/>
                                      </p:to>
                                    </p:set>
                                    <p:animEffect transition="in" filter="wipe(up)">
                                      <p:cBhvr>
                                        <p:cTn id="88" dur="10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3" grpId="0" animBg="1"/>
      <p:bldP spid="35" grpId="0" animBg="1"/>
      <p:bldP spid="43" grpId="0"/>
      <p:bldP spid="68" grpId="0" animBg="1"/>
      <p:bldP spid="69" grpId="0" animBg="1"/>
      <p:bldP spid="74" grpId="0" animBg="1"/>
      <p:bldP spid="45" grpId="0" animBg="1"/>
      <p:bldP spid="4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1"/>
          <p:cNvSpPr>
            <a:spLocks noChangeArrowheads="1"/>
          </p:cNvSpPr>
          <p:nvPr/>
        </p:nvSpPr>
        <p:spPr bwMode="auto">
          <a:xfrm>
            <a:off x="218440" y="1333183"/>
            <a:ext cx="2875280" cy="338554"/>
          </a:xfrm>
          <a:prstGeom prst="rect">
            <a:avLst/>
          </a:prstGeom>
          <a:noFill/>
          <a:ln w="9525" algn="ctr">
            <a:noFill/>
            <a:miter lim="800000"/>
            <a:headEnd/>
            <a:tailEnd/>
          </a:ln>
        </p:spPr>
        <p:txBody>
          <a:bodyPr wrap="square">
            <a:spAutoFit/>
          </a:bodyPr>
          <a:lstStyle/>
          <a:p>
            <a:pPr>
              <a:defRPr/>
            </a:pPr>
            <a:r>
              <a:rPr lang="zh-CN" altLang="en-US" sz="1600" b="1" dirty="0">
                <a:solidFill>
                  <a:srgbClr val="6600FF"/>
                </a:solidFill>
                <a:latin typeface="方正粗黑宋简体" pitchFamily="2" charset="-122"/>
                <a:ea typeface="方正粗黑宋简体" pitchFamily="2" charset="-122"/>
              </a:rPr>
              <a:t>（</a:t>
            </a:r>
            <a:r>
              <a:rPr lang="en-US" altLang="zh-CN" sz="1600" b="1" dirty="0">
                <a:solidFill>
                  <a:srgbClr val="6600FF"/>
                </a:solidFill>
                <a:latin typeface="方正粗黑宋简体" pitchFamily="2" charset="-122"/>
                <a:ea typeface="方正粗黑宋简体" pitchFamily="2" charset="-122"/>
              </a:rPr>
              <a:t>4</a:t>
            </a:r>
            <a:r>
              <a:rPr lang="zh-CN" altLang="en-US" sz="1600" b="1" dirty="0">
                <a:solidFill>
                  <a:srgbClr val="6600FF"/>
                </a:solidFill>
                <a:latin typeface="方正粗黑宋简体" pitchFamily="2" charset="-122"/>
                <a:ea typeface="方正粗黑宋简体" pitchFamily="2" charset="-122"/>
              </a:rPr>
              <a:t>）漏极开路门（</a:t>
            </a:r>
            <a:r>
              <a:rPr lang="en-US" altLang="zh-CN" sz="1600" b="1" dirty="0">
                <a:solidFill>
                  <a:srgbClr val="6600FF"/>
                </a:solidFill>
                <a:latin typeface="方正粗黑宋简体" pitchFamily="2" charset="-122"/>
                <a:ea typeface="方正粗黑宋简体" pitchFamily="2" charset="-122"/>
              </a:rPr>
              <a:t>OD</a:t>
            </a:r>
            <a:r>
              <a:rPr lang="zh-CN" altLang="en-US" sz="1600" b="1" dirty="0">
                <a:solidFill>
                  <a:srgbClr val="6600FF"/>
                </a:solidFill>
                <a:latin typeface="方正粗黑宋简体" pitchFamily="2" charset="-122"/>
                <a:ea typeface="方正粗黑宋简体" pitchFamily="2" charset="-122"/>
              </a:rPr>
              <a:t>门）</a:t>
            </a:r>
          </a:p>
        </p:txBody>
      </p:sp>
      <p:grpSp>
        <p:nvGrpSpPr>
          <p:cNvPr id="4" name="组合 3">
            <a:extLst>
              <a:ext uri="{FF2B5EF4-FFF2-40B4-BE49-F238E27FC236}">
                <a16:creationId xmlns:a16="http://schemas.microsoft.com/office/drawing/2014/main" id="{6E366B5E-7CA4-4612-82FB-2F36C0E490EA}"/>
              </a:ext>
            </a:extLst>
          </p:cNvPr>
          <p:cNvGrpSpPr/>
          <p:nvPr/>
        </p:nvGrpSpPr>
        <p:grpSpPr>
          <a:xfrm>
            <a:off x="735547" y="1837970"/>
            <a:ext cx="2261205" cy="2055329"/>
            <a:chOff x="878422" y="1809395"/>
            <a:chExt cx="2261205" cy="2055329"/>
          </a:xfrm>
        </p:grpSpPr>
        <p:pic>
          <p:nvPicPr>
            <p:cNvPr id="3" name="图片 2">
              <a:extLst>
                <a:ext uri="{FF2B5EF4-FFF2-40B4-BE49-F238E27FC236}">
                  <a16:creationId xmlns:a16="http://schemas.microsoft.com/office/drawing/2014/main" id="{B86D282B-C15D-4D96-9E5F-9D1109A57FDB}"/>
                </a:ext>
              </a:extLst>
            </p:cNvPr>
            <p:cNvPicPr>
              <a:picLocks noChangeAspect="1"/>
            </p:cNvPicPr>
            <p:nvPr/>
          </p:nvPicPr>
          <p:blipFill>
            <a:blip r:embed="rId3" cstate="print"/>
            <a:stretch>
              <a:fillRect/>
            </a:stretch>
          </p:blipFill>
          <p:spPr>
            <a:xfrm>
              <a:off x="960163" y="1809395"/>
              <a:ext cx="2150995" cy="2035172"/>
            </a:xfrm>
            <a:prstGeom prst="rect">
              <a:avLst/>
            </a:prstGeom>
          </p:spPr>
        </p:pic>
        <p:sp>
          <p:nvSpPr>
            <p:cNvPr id="54" name="圆角矩形 53"/>
            <p:cNvSpPr/>
            <p:nvPr/>
          </p:nvSpPr>
          <p:spPr>
            <a:xfrm>
              <a:off x="878422" y="1814944"/>
              <a:ext cx="2261205" cy="2049780"/>
            </a:xfrm>
            <a:prstGeom prst="roundRect">
              <a:avLst>
                <a:gd name="adj" fmla="val 6694"/>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0668"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endParaRPr lang="zh-CN" altLang="en-US"/>
          </a:p>
        </p:txBody>
      </p:sp>
      <p:grpSp>
        <p:nvGrpSpPr>
          <p:cNvPr id="33" name="组合 32">
            <a:extLst>
              <a:ext uri="{FF2B5EF4-FFF2-40B4-BE49-F238E27FC236}">
                <a16:creationId xmlns:a16="http://schemas.microsoft.com/office/drawing/2014/main" id="{A602D8D2-853C-4047-8D9D-6E5FEF3BDCBC}"/>
              </a:ext>
            </a:extLst>
          </p:cNvPr>
          <p:cNvGrpSpPr/>
          <p:nvPr/>
        </p:nvGrpSpPr>
        <p:grpSpPr>
          <a:xfrm>
            <a:off x="282575" y="785614"/>
            <a:ext cx="3757217" cy="373579"/>
            <a:chOff x="307975" y="1517134"/>
            <a:chExt cx="3757217" cy="373579"/>
          </a:xfrm>
        </p:grpSpPr>
        <p:grpSp>
          <p:nvGrpSpPr>
            <p:cNvPr id="35" name="组合 32">
              <a:extLst>
                <a:ext uri="{FF2B5EF4-FFF2-40B4-BE49-F238E27FC236}">
                  <a16:creationId xmlns:a16="http://schemas.microsoft.com/office/drawing/2014/main" id="{82864214-1F00-4F45-8F83-DA02F6F614D6}"/>
                </a:ext>
              </a:extLst>
            </p:cNvPr>
            <p:cNvGrpSpPr/>
            <p:nvPr/>
          </p:nvGrpSpPr>
          <p:grpSpPr>
            <a:xfrm>
              <a:off x="307975" y="1519116"/>
              <a:ext cx="568325" cy="371597"/>
              <a:chOff x="307975" y="1519116"/>
              <a:chExt cx="568325" cy="371597"/>
            </a:xfrm>
          </p:grpSpPr>
          <p:pic>
            <p:nvPicPr>
              <p:cNvPr id="37" name="Picture 4">
                <a:extLst>
                  <a:ext uri="{FF2B5EF4-FFF2-40B4-BE49-F238E27FC236}">
                    <a16:creationId xmlns:a16="http://schemas.microsoft.com/office/drawing/2014/main" id="{91DFDE6E-B8E5-429E-B14B-446EC4D92975}"/>
                  </a:ext>
                </a:extLst>
              </p:cNvPr>
              <p:cNvPicPr>
                <a:picLocks noChangeAspect="1" noChangeArrowheads="1"/>
              </p:cNvPicPr>
              <p:nvPr/>
            </p:nvPicPr>
            <p:blipFill>
              <a:blip r:embed="rId4" cstate="print"/>
              <a:srcRect/>
              <a:stretch>
                <a:fillRect/>
              </a:stretch>
            </p:blipFill>
            <p:spPr bwMode="auto">
              <a:xfrm flipH="1">
                <a:off x="307975" y="1519116"/>
                <a:ext cx="568325" cy="371597"/>
              </a:xfrm>
              <a:prstGeom prst="rect">
                <a:avLst/>
              </a:prstGeom>
              <a:noFill/>
              <a:ln w="9525">
                <a:noFill/>
                <a:miter lim="800000"/>
                <a:headEnd/>
                <a:tailEnd/>
              </a:ln>
              <a:effectLst/>
            </p:spPr>
          </p:pic>
          <p:sp>
            <p:nvSpPr>
              <p:cNvPr id="38" name="TextBox 5">
                <a:extLst>
                  <a:ext uri="{FF2B5EF4-FFF2-40B4-BE49-F238E27FC236}">
                    <a16:creationId xmlns:a16="http://schemas.microsoft.com/office/drawing/2014/main" id="{CDBD5C24-22EA-45FC-92EC-C5A580F5108A}"/>
                  </a:ext>
                </a:extLst>
              </p:cNvPr>
              <p:cNvSpPr txBox="1"/>
              <p:nvPr/>
            </p:nvSpPr>
            <p:spPr>
              <a:xfrm flipH="1">
                <a:off x="443415" y="1555750"/>
                <a:ext cx="142668" cy="276999"/>
              </a:xfrm>
              <a:prstGeom prst="rect">
                <a:avLst/>
              </a:prstGeom>
              <a:noFill/>
            </p:spPr>
            <p:txBody>
              <a:bodyPr wrap="none" lIns="0" tIns="0" rIns="0" bIns="0" rtlCol="0">
                <a:spAutoFit/>
              </a:bodyPr>
              <a:lstStyle/>
              <a:p>
                <a:r>
                  <a:rPr lang="en-US" altLang="zh-CN" b="1" dirty="0">
                    <a:solidFill>
                      <a:srgbClr val="262626"/>
                    </a:solidFill>
                    <a:latin typeface="Segoe UI Black" pitchFamily="34" charset="0"/>
                    <a:ea typeface="Segoe UI Black" pitchFamily="34" charset="0"/>
                    <a:cs typeface="Times New Roman" pitchFamily="18" charset="0"/>
                  </a:rPr>
                  <a:t>4</a:t>
                </a:r>
                <a:endParaRPr lang="zh-CN" altLang="en-US" b="1" dirty="0">
                  <a:solidFill>
                    <a:srgbClr val="262626"/>
                  </a:solidFill>
                  <a:latin typeface="Segoe UI Black" pitchFamily="34" charset="0"/>
                  <a:cs typeface="Times New Roman" pitchFamily="18" charset="0"/>
                </a:endParaRPr>
              </a:p>
            </p:txBody>
          </p:sp>
        </p:grpSp>
        <p:sp>
          <p:nvSpPr>
            <p:cNvPr id="36" name="矩形 35">
              <a:extLst>
                <a:ext uri="{FF2B5EF4-FFF2-40B4-BE49-F238E27FC236}">
                  <a16:creationId xmlns:a16="http://schemas.microsoft.com/office/drawing/2014/main" id="{B058EFB0-253B-4E3A-B9D1-CADBC825BE4B}"/>
                </a:ext>
              </a:extLst>
            </p:cNvPr>
            <p:cNvSpPr/>
            <p:nvPr/>
          </p:nvSpPr>
          <p:spPr>
            <a:xfrm>
              <a:off x="863675" y="1517134"/>
              <a:ext cx="3201517" cy="369332"/>
            </a:xfrm>
            <a:prstGeom prst="rect">
              <a:avLst/>
            </a:prstGeom>
          </p:spPr>
          <p:txBody>
            <a:bodyPr wrap="none">
              <a:spAutoFit/>
            </a:bodyPr>
            <a:lstStyle/>
            <a:p>
              <a:r>
                <a:rPr lang="zh-CN" altLang="en-US" b="1" dirty="0">
                  <a:solidFill>
                    <a:schemeClr val="accent1">
                      <a:lumMod val="50000"/>
                    </a:schemeClr>
                  </a:solidFill>
                  <a:latin typeface="Times New Roman" panose="02020603050405020304" pitchFamily="18" charset="0"/>
                  <a:ea typeface="黑体" pitchFamily="49" charset="-122"/>
                  <a:cs typeface="Times New Roman" panose="02020603050405020304" pitchFamily="18" charset="0"/>
                </a:rPr>
                <a:t>其他类型的</a:t>
              </a:r>
              <a:r>
                <a:rPr lang="en-US" altLang="zh-CN" b="1" dirty="0">
                  <a:solidFill>
                    <a:schemeClr val="accent1">
                      <a:lumMod val="50000"/>
                    </a:schemeClr>
                  </a:solidFill>
                  <a:latin typeface="Times New Roman" panose="02020603050405020304" pitchFamily="18" charset="0"/>
                  <a:ea typeface="黑体" pitchFamily="49" charset="-122"/>
                  <a:cs typeface="Times New Roman" panose="02020603050405020304" pitchFamily="18" charset="0"/>
                </a:rPr>
                <a:t>CMOS</a:t>
              </a:r>
              <a:r>
                <a:rPr lang="zh-CN" altLang="en-US" b="1" dirty="0">
                  <a:solidFill>
                    <a:schemeClr val="accent1">
                      <a:lumMod val="50000"/>
                    </a:schemeClr>
                  </a:solidFill>
                  <a:latin typeface="Times New Roman" panose="02020603050405020304" pitchFamily="18" charset="0"/>
                  <a:ea typeface="黑体" pitchFamily="49" charset="-122"/>
                  <a:cs typeface="Times New Roman" panose="02020603050405020304" pitchFamily="18" charset="0"/>
                </a:rPr>
                <a:t>逻辑门电路</a:t>
              </a:r>
            </a:p>
          </p:txBody>
        </p:sp>
      </p:grpSp>
      <p:sp>
        <p:nvSpPr>
          <p:cNvPr id="40" name="圆角矩形 55">
            <a:extLst>
              <a:ext uri="{FF2B5EF4-FFF2-40B4-BE49-F238E27FC236}">
                <a16:creationId xmlns:a16="http://schemas.microsoft.com/office/drawing/2014/main" id="{165BA581-AD58-4091-9605-5C2588761B8D}"/>
              </a:ext>
            </a:extLst>
          </p:cNvPr>
          <p:cNvSpPr/>
          <p:nvPr/>
        </p:nvSpPr>
        <p:spPr>
          <a:xfrm>
            <a:off x="2163048" y="1895436"/>
            <a:ext cx="684928" cy="1138058"/>
          </a:xfrm>
          <a:prstGeom prst="roundRect">
            <a:avLst>
              <a:gd name="adj" fmla="val 7176"/>
            </a:avLst>
          </a:prstGeom>
          <a:solidFill>
            <a:srgbClr val="FFFF00">
              <a:alpha val="21000"/>
            </a:srgbClr>
          </a:solid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2" name="组合 11">
            <a:extLst>
              <a:ext uri="{FF2B5EF4-FFF2-40B4-BE49-F238E27FC236}">
                <a16:creationId xmlns:a16="http://schemas.microsoft.com/office/drawing/2014/main" id="{8CB0BAE6-1633-4C17-9334-ECF17FF6F414}"/>
              </a:ext>
            </a:extLst>
          </p:cNvPr>
          <p:cNvGrpSpPr/>
          <p:nvPr/>
        </p:nvGrpSpPr>
        <p:grpSpPr>
          <a:xfrm>
            <a:off x="3810329" y="3988991"/>
            <a:ext cx="1594441" cy="1409211"/>
            <a:chOff x="7118781" y="2361181"/>
            <a:chExt cx="1594441" cy="1409211"/>
          </a:xfrm>
        </p:grpSpPr>
        <p:sp>
          <p:nvSpPr>
            <p:cNvPr id="60" name="Rectangle 52"/>
            <p:cNvSpPr>
              <a:spLocks noChangeArrowheads="1"/>
            </p:cNvSpPr>
            <p:nvPr/>
          </p:nvSpPr>
          <p:spPr bwMode="auto">
            <a:xfrm>
              <a:off x="7526302" y="3458041"/>
              <a:ext cx="933815" cy="312351"/>
            </a:xfrm>
            <a:prstGeom prst="rect">
              <a:avLst/>
            </a:prstGeom>
            <a:noFill/>
            <a:ln w="9525" algn="ctr">
              <a:noFill/>
              <a:miter lim="800000"/>
              <a:headEnd/>
              <a:tailEnd/>
            </a:ln>
          </p:spPr>
          <p:txBody>
            <a:bodyPr lIns="0" rIns="0">
              <a:spAutoFit/>
            </a:bodyPr>
            <a:lstStyle/>
            <a:p>
              <a:pPr algn="ctr"/>
              <a:r>
                <a:rPr kumimoji="1" lang="zh-CN" altLang="en-US" sz="1600" dirty="0">
                  <a:solidFill>
                    <a:srgbClr val="080808"/>
                  </a:solidFill>
                  <a:latin typeface="黑体" pitchFamily="49" charset="-122"/>
                  <a:ea typeface="黑体" pitchFamily="49" charset="-122"/>
                </a:rPr>
                <a:t>符号</a:t>
              </a:r>
            </a:p>
          </p:txBody>
        </p:sp>
        <p:pic>
          <p:nvPicPr>
            <p:cNvPr id="47" name="图片 46">
              <a:extLst>
                <a:ext uri="{FF2B5EF4-FFF2-40B4-BE49-F238E27FC236}">
                  <a16:creationId xmlns:a16="http://schemas.microsoft.com/office/drawing/2014/main" id="{92AA86CA-5506-419B-8FDC-1F4CEE804E00}"/>
                </a:ext>
              </a:extLst>
            </p:cNvPr>
            <p:cNvPicPr>
              <a:picLocks noChangeAspect="1"/>
            </p:cNvPicPr>
            <p:nvPr/>
          </p:nvPicPr>
          <p:blipFill rotWithShape="1">
            <a:blip r:embed="rId5" cstate="print"/>
            <a:srcRect l="59451"/>
            <a:stretch/>
          </p:blipFill>
          <p:spPr>
            <a:xfrm>
              <a:off x="7118781" y="2361181"/>
              <a:ext cx="1594441" cy="1096860"/>
            </a:xfrm>
            <a:prstGeom prst="rect">
              <a:avLst/>
            </a:prstGeom>
          </p:spPr>
        </p:pic>
      </p:grpSp>
      <p:grpSp>
        <p:nvGrpSpPr>
          <p:cNvPr id="18" name="组合 17">
            <a:extLst>
              <a:ext uri="{FF2B5EF4-FFF2-40B4-BE49-F238E27FC236}">
                <a16:creationId xmlns:a16="http://schemas.microsoft.com/office/drawing/2014/main" id="{0610BAAA-912A-4DCE-86BF-52D4AD82D1ED}"/>
              </a:ext>
            </a:extLst>
          </p:cNvPr>
          <p:cNvGrpSpPr/>
          <p:nvPr/>
        </p:nvGrpSpPr>
        <p:grpSpPr>
          <a:xfrm>
            <a:off x="6376943" y="1824470"/>
            <a:ext cx="2395582" cy="2145472"/>
            <a:chOff x="6481718" y="1843520"/>
            <a:chExt cx="2395582" cy="2145472"/>
          </a:xfrm>
        </p:grpSpPr>
        <p:grpSp>
          <p:nvGrpSpPr>
            <p:cNvPr id="17" name="组合 16">
              <a:extLst>
                <a:ext uri="{FF2B5EF4-FFF2-40B4-BE49-F238E27FC236}">
                  <a16:creationId xmlns:a16="http://schemas.microsoft.com/office/drawing/2014/main" id="{96B18759-F020-40F4-B1B0-A54CD5C2BB6D}"/>
                </a:ext>
              </a:extLst>
            </p:cNvPr>
            <p:cNvGrpSpPr/>
            <p:nvPr/>
          </p:nvGrpSpPr>
          <p:grpSpPr>
            <a:xfrm>
              <a:off x="6559921" y="2007127"/>
              <a:ext cx="2162713" cy="1749057"/>
              <a:chOff x="6559921" y="2007127"/>
              <a:chExt cx="2162713" cy="1749057"/>
            </a:xfrm>
          </p:grpSpPr>
          <p:sp>
            <p:nvSpPr>
              <p:cNvPr id="48" name="AutoShape 22"/>
              <p:cNvSpPr>
                <a:spLocks noChangeArrowheads="1"/>
              </p:cNvSpPr>
              <p:nvPr/>
            </p:nvSpPr>
            <p:spPr bwMode="auto">
              <a:xfrm>
                <a:off x="8040962" y="3280518"/>
                <a:ext cx="681672" cy="303848"/>
              </a:xfrm>
              <a:prstGeom prst="wedgeRoundRectCallout">
                <a:avLst>
                  <a:gd name="adj1" fmla="val -85753"/>
                  <a:gd name="adj2" fmla="val -123260"/>
                  <a:gd name="adj3" fmla="val 16667"/>
                </a:avLst>
              </a:prstGeom>
              <a:solidFill>
                <a:srgbClr val="FFFF66"/>
              </a:solidFill>
              <a:ln w="12700" algn="ctr">
                <a:solidFill>
                  <a:srgbClr val="0000FF"/>
                </a:solidFill>
                <a:miter lim="800000"/>
                <a:headEnd/>
                <a:tailEnd/>
              </a:ln>
            </p:spPr>
            <p:txBody>
              <a:bodyPr lIns="0" rIns="0" anchor="ctr"/>
              <a:lstStyle/>
              <a:p>
                <a:pPr algn="ctr"/>
                <a:r>
                  <a:rPr lang="zh-CN" altLang="en-US" sz="1600" b="1" dirty="0">
                    <a:solidFill>
                      <a:srgbClr val="6600FF"/>
                    </a:solidFill>
                    <a:latin typeface="方正粗黑宋简体" pitchFamily="2" charset="-122"/>
                    <a:ea typeface="方正粗黑宋简体" pitchFamily="2" charset="-122"/>
                  </a:rPr>
                  <a:t>线 与</a:t>
                </a:r>
              </a:p>
            </p:txBody>
          </p:sp>
          <p:pic>
            <p:nvPicPr>
              <p:cNvPr id="16" name="图片 15">
                <a:extLst>
                  <a:ext uri="{FF2B5EF4-FFF2-40B4-BE49-F238E27FC236}">
                    <a16:creationId xmlns:a16="http://schemas.microsoft.com/office/drawing/2014/main" id="{8D187FC3-3A35-4CEF-B07F-4C9B9FCEE6C1}"/>
                  </a:ext>
                </a:extLst>
              </p:cNvPr>
              <p:cNvPicPr>
                <a:picLocks noChangeAspect="1"/>
              </p:cNvPicPr>
              <p:nvPr/>
            </p:nvPicPr>
            <p:blipFill>
              <a:blip r:embed="rId6" cstate="print"/>
              <a:stretch>
                <a:fillRect/>
              </a:stretch>
            </p:blipFill>
            <p:spPr>
              <a:xfrm>
                <a:off x="6559921" y="2007127"/>
                <a:ext cx="2109688" cy="1749057"/>
              </a:xfrm>
              <a:prstGeom prst="rect">
                <a:avLst/>
              </a:prstGeom>
            </p:spPr>
          </p:pic>
        </p:grpSp>
        <p:sp>
          <p:nvSpPr>
            <p:cNvPr id="66" name="圆角矩形 56">
              <a:extLst>
                <a:ext uri="{FF2B5EF4-FFF2-40B4-BE49-F238E27FC236}">
                  <a16:creationId xmlns:a16="http://schemas.microsoft.com/office/drawing/2014/main" id="{1AAD0FF7-3F6D-465F-AE15-C220104CA866}"/>
                </a:ext>
              </a:extLst>
            </p:cNvPr>
            <p:cNvSpPr/>
            <p:nvPr/>
          </p:nvSpPr>
          <p:spPr>
            <a:xfrm>
              <a:off x="6481718" y="1843520"/>
              <a:ext cx="2395582" cy="2145472"/>
            </a:xfrm>
            <a:prstGeom prst="roundRect">
              <a:avLst>
                <a:gd name="adj" fmla="val 6694"/>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 name="组合 20">
            <a:extLst>
              <a:ext uri="{FF2B5EF4-FFF2-40B4-BE49-F238E27FC236}">
                <a16:creationId xmlns:a16="http://schemas.microsoft.com/office/drawing/2014/main" id="{B6AA08C0-A5C3-4710-9789-339E94CD1B35}"/>
              </a:ext>
            </a:extLst>
          </p:cNvPr>
          <p:cNvGrpSpPr/>
          <p:nvPr/>
        </p:nvGrpSpPr>
        <p:grpSpPr>
          <a:xfrm>
            <a:off x="3438411" y="1945111"/>
            <a:ext cx="1940013" cy="936544"/>
            <a:chOff x="3438411" y="1945111"/>
            <a:chExt cx="1940013" cy="936544"/>
          </a:xfrm>
        </p:grpSpPr>
        <p:sp>
          <p:nvSpPr>
            <p:cNvPr id="45" name="AutoShape 21"/>
            <p:cNvSpPr>
              <a:spLocks noChangeArrowheads="1"/>
            </p:cNvSpPr>
            <p:nvPr/>
          </p:nvSpPr>
          <p:spPr bwMode="auto">
            <a:xfrm>
              <a:off x="3438411" y="2012135"/>
              <a:ext cx="1120390" cy="367926"/>
            </a:xfrm>
            <a:prstGeom prst="wedgeRoundRectCallout">
              <a:avLst>
                <a:gd name="adj1" fmla="val 52408"/>
                <a:gd name="adj2" fmla="val 83160"/>
                <a:gd name="adj3" fmla="val 16667"/>
              </a:avLst>
            </a:prstGeom>
            <a:solidFill>
              <a:srgbClr val="FFFF66"/>
            </a:solidFill>
            <a:ln w="12700" algn="ctr">
              <a:solidFill>
                <a:srgbClr val="0000FF"/>
              </a:solidFill>
              <a:miter lim="800000"/>
              <a:headEnd/>
              <a:tailEnd/>
            </a:ln>
          </p:spPr>
          <p:txBody>
            <a:bodyPr lIns="0" rIns="0" anchor="ctr"/>
            <a:lstStyle/>
            <a:p>
              <a:pPr algn="ctr"/>
              <a:r>
                <a:rPr lang="zh-CN" altLang="en-US" sz="1600" b="1" dirty="0">
                  <a:solidFill>
                    <a:srgbClr val="6600FF"/>
                  </a:solidFill>
                  <a:latin typeface="方正粗黑宋简体" pitchFamily="2" charset="-122"/>
                  <a:ea typeface="方正粗黑宋简体" pitchFamily="2" charset="-122"/>
                </a:rPr>
                <a:t>上拉电阻</a:t>
              </a:r>
            </a:p>
          </p:txBody>
        </p:sp>
        <p:pic>
          <p:nvPicPr>
            <p:cNvPr id="20" name="图片 19">
              <a:extLst>
                <a:ext uri="{FF2B5EF4-FFF2-40B4-BE49-F238E27FC236}">
                  <a16:creationId xmlns:a16="http://schemas.microsoft.com/office/drawing/2014/main" id="{001B4267-A650-4E07-8D02-543522E7CB46}"/>
                </a:ext>
              </a:extLst>
            </p:cNvPr>
            <p:cNvPicPr>
              <a:picLocks noChangeAspect="1"/>
            </p:cNvPicPr>
            <p:nvPr/>
          </p:nvPicPr>
          <p:blipFill>
            <a:blip r:embed="rId7" cstate="print"/>
            <a:stretch>
              <a:fillRect/>
            </a:stretch>
          </p:blipFill>
          <p:spPr>
            <a:xfrm>
              <a:off x="4586978" y="1945111"/>
              <a:ext cx="791446" cy="936544"/>
            </a:xfrm>
            <a:prstGeom prst="rect">
              <a:avLst/>
            </a:prstGeom>
          </p:spPr>
        </p:pic>
      </p:grpSp>
      <p:grpSp>
        <p:nvGrpSpPr>
          <p:cNvPr id="14" name="组合 13">
            <a:extLst>
              <a:ext uri="{FF2B5EF4-FFF2-40B4-BE49-F238E27FC236}">
                <a16:creationId xmlns:a16="http://schemas.microsoft.com/office/drawing/2014/main" id="{8147F025-39F7-4356-8E10-7D7FE9255A0C}"/>
              </a:ext>
            </a:extLst>
          </p:cNvPr>
          <p:cNvGrpSpPr/>
          <p:nvPr/>
        </p:nvGrpSpPr>
        <p:grpSpPr>
          <a:xfrm>
            <a:off x="3223649" y="1833229"/>
            <a:ext cx="2875281" cy="3681935"/>
            <a:chOff x="3595124" y="1623679"/>
            <a:chExt cx="2875281" cy="3681935"/>
          </a:xfrm>
        </p:grpSpPr>
        <p:sp>
          <p:nvSpPr>
            <p:cNvPr id="57" name="圆角矩形 56"/>
            <p:cNvSpPr/>
            <p:nvPr/>
          </p:nvSpPr>
          <p:spPr>
            <a:xfrm>
              <a:off x="3595124" y="1623679"/>
              <a:ext cx="2875281" cy="3681935"/>
            </a:xfrm>
            <a:prstGeom prst="roundRect">
              <a:avLst>
                <a:gd name="adj" fmla="val 4375"/>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a:extLst>
                <a:ext uri="{FF2B5EF4-FFF2-40B4-BE49-F238E27FC236}">
                  <a16:creationId xmlns:a16="http://schemas.microsoft.com/office/drawing/2014/main" id="{1C6EF4BD-9AED-4CD6-8AEB-AC59EA7CE991}"/>
                </a:ext>
              </a:extLst>
            </p:cNvPr>
            <p:cNvGrpSpPr/>
            <p:nvPr/>
          </p:nvGrpSpPr>
          <p:grpSpPr>
            <a:xfrm>
              <a:off x="3809886" y="2449497"/>
              <a:ext cx="2529870" cy="1418645"/>
              <a:chOff x="3809886" y="2449497"/>
              <a:chExt cx="2529870" cy="1418645"/>
            </a:xfrm>
          </p:grpSpPr>
          <p:sp>
            <p:nvSpPr>
              <p:cNvPr id="59" name="Rectangle 51"/>
              <p:cNvSpPr>
                <a:spLocks noChangeArrowheads="1"/>
              </p:cNvSpPr>
              <p:nvPr/>
            </p:nvSpPr>
            <p:spPr bwMode="auto">
              <a:xfrm>
                <a:off x="4473110" y="3555791"/>
                <a:ext cx="981544" cy="312351"/>
              </a:xfrm>
              <a:prstGeom prst="rect">
                <a:avLst/>
              </a:prstGeom>
              <a:noFill/>
              <a:ln w="9525" algn="ctr">
                <a:noFill/>
                <a:miter lim="800000"/>
                <a:headEnd/>
                <a:tailEnd/>
              </a:ln>
            </p:spPr>
            <p:txBody>
              <a:bodyPr lIns="0" rIns="0">
                <a:spAutoFit/>
              </a:bodyPr>
              <a:lstStyle/>
              <a:p>
                <a:pPr algn="ctr"/>
                <a:r>
                  <a:rPr kumimoji="1" lang="zh-CN" altLang="en-US" sz="1600" dirty="0">
                    <a:solidFill>
                      <a:srgbClr val="080808"/>
                    </a:solidFill>
                    <a:latin typeface="黑体" pitchFamily="49" charset="-122"/>
                    <a:ea typeface="黑体" pitchFamily="49" charset="-122"/>
                  </a:rPr>
                  <a:t>电路</a:t>
                </a:r>
              </a:p>
            </p:txBody>
          </p:sp>
          <p:pic>
            <p:nvPicPr>
              <p:cNvPr id="6" name="图片 5">
                <a:extLst>
                  <a:ext uri="{FF2B5EF4-FFF2-40B4-BE49-F238E27FC236}">
                    <a16:creationId xmlns:a16="http://schemas.microsoft.com/office/drawing/2014/main" id="{7B2F0043-B0BD-483D-BAF1-E00DBCF5D89D}"/>
                  </a:ext>
                </a:extLst>
              </p:cNvPr>
              <p:cNvPicPr>
                <a:picLocks noChangeAspect="1"/>
              </p:cNvPicPr>
              <p:nvPr/>
            </p:nvPicPr>
            <p:blipFill rotWithShape="1">
              <a:blip r:embed="rId5" cstate="print"/>
              <a:srcRect r="49601"/>
              <a:stretch/>
            </p:blipFill>
            <p:spPr>
              <a:xfrm>
                <a:off x="3809886" y="2455857"/>
                <a:ext cx="1801006" cy="996825"/>
              </a:xfrm>
              <a:prstGeom prst="rect">
                <a:avLst/>
              </a:prstGeom>
            </p:spPr>
          </p:pic>
          <p:graphicFrame>
            <p:nvGraphicFramePr>
              <p:cNvPr id="11" name="对象 10">
                <a:extLst>
                  <a:ext uri="{FF2B5EF4-FFF2-40B4-BE49-F238E27FC236}">
                    <a16:creationId xmlns:a16="http://schemas.microsoft.com/office/drawing/2014/main" id="{8195976C-158D-4D64-BE2D-F018C5B45925}"/>
                  </a:ext>
                </a:extLst>
              </p:cNvPr>
              <p:cNvGraphicFramePr>
                <a:graphicFrameLocks noChangeAspect="1"/>
              </p:cNvGraphicFramePr>
              <p:nvPr/>
            </p:nvGraphicFramePr>
            <p:xfrm>
              <a:off x="5463456" y="2449497"/>
              <a:ext cx="876300" cy="279400"/>
            </p:xfrm>
            <a:graphic>
              <a:graphicData uri="http://schemas.openxmlformats.org/presentationml/2006/ole">
                <mc:AlternateContent xmlns:mc="http://schemas.openxmlformats.org/markup-compatibility/2006">
                  <mc:Choice xmlns:v="urn:schemas-microsoft-com:vml" Requires="v">
                    <p:oleObj spid="_x0000_s81922" name="Equation" r:id="rId8" imgW="634680" imgH="203040" progId="">
                      <p:embed/>
                    </p:oleObj>
                  </mc:Choice>
                  <mc:Fallback>
                    <p:oleObj name="Equation" r:id="rId8" imgW="634680" imgH="203040" progId="">
                      <p:embed/>
                      <p:pic>
                        <p:nvPicPr>
                          <p:cNvPr id="11" name="对象 10">
                            <a:extLst>
                              <a:ext uri="{FF2B5EF4-FFF2-40B4-BE49-F238E27FC236}">
                                <a16:creationId xmlns:a16="http://schemas.microsoft.com/office/drawing/2014/main" id="{8195976C-158D-4D64-BE2D-F018C5B4592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63456" y="2449497"/>
                            <a:ext cx="876300" cy="279400"/>
                          </a:xfrm>
                          <a:prstGeom prst="rect">
                            <a:avLst/>
                          </a:prstGeom>
                          <a:solidFill>
                            <a:schemeClr val="bg1"/>
                          </a:solidFill>
                        </p:spPr>
                      </p:pic>
                    </p:oleObj>
                  </mc:Fallback>
                </mc:AlternateContent>
              </a:graphicData>
            </a:graphic>
          </p:graphicFrame>
        </p:grpSp>
      </p:grpSp>
    </p:spTree>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left)">
                                      <p:cBhvr>
                                        <p:cTn id="7" dur="1000"/>
                                        <p:tgtEl>
                                          <p:spTgt spid="40"/>
                                        </p:tgtEl>
                                      </p:cBhvr>
                                    </p:animEffect>
                                  </p:childTnLst>
                                </p:cTn>
                              </p:par>
                            </p:childTnLst>
                          </p:cTn>
                        </p:par>
                        <p:par>
                          <p:cTn id="8" fill="hold">
                            <p:stCondLst>
                              <p:cond delay="1000"/>
                            </p:stCondLst>
                            <p:childTnLst>
                              <p:par>
                                <p:cTn id="9" presetID="12" presetClass="entr" presetSubtype="8"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1000"/>
                                        <p:tgtEl>
                                          <p:spTgt spid="14"/>
                                        </p:tgtEl>
                                        <p:attrNameLst>
                                          <p:attrName>ppt_x</p:attrName>
                                        </p:attrNameLst>
                                      </p:cBhvr>
                                      <p:tavLst>
                                        <p:tav tm="0">
                                          <p:val>
                                            <p:strVal val="#ppt_x-#ppt_w*1.125000"/>
                                          </p:val>
                                        </p:tav>
                                        <p:tav tm="100000">
                                          <p:val>
                                            <p:strVal val="#ppt_x"/>
                                          </p:val>
                                        </p:tav>
                                      </p:tavLst>
                                    </p:anim>
                                    <p:animEffect transition="in" filter="wipe(right)">
                                      <p:cBhvr>
                                        <p:cTn id="12" dur="1000"/>
                                        <p:tgtEl>
                                          <p:spTgt spid="14"/>
                                        </p:tgtEl>
                                      </p:cBhvr>
                                    </p:animEffect>
                                  </p:childTnLst>
                                </p:cTn>
                              </p:par>
                            </p:childTnLst>
                          </p:cTn>
                        </p:par>
                        <p:par>
                          <p:cTn id="13" fill="hold">
                            <p:stCondLst>
                              <p:cond delay="2000"/>
                            </p:stCondLst>
                            <p:childTnLst>
                              <p:par>
                                <p:cTn id="14" presetID="42" presetClass="entr" presetSubtype="0" fill="hold" nodeType="after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1000"/>
                                        <p:tgtEl>
                                          <p:spTgt spid="12"/>
                                        </p:tgtEl>
                                      </p:cBhvr>
                                    </p:animEffect>
                                    <p:anim calcmode="lin" valueType="num">
                                      <p:cBhvr>
                                        <p:cTn id="17" dur="1000" fill="hold"/>
                                        <p:tgtEl>
                                          <p:spTgt spid="12"/>
                                        </p:tgtEl>
                                        <p:attrNameLst>
                                          <p:attrName>ppt_x</p:attrName>
                                        </p:attrNameLst>
                                      </p:cBhvr>
                                      <p:tavLst>
                                        <p:tav tm="0">
                                          <p:val>
                                            <p:strVal val="#ppt_x"/>
                                          </p:val>
                                        </p:tav>
                                        <p:tav tm="100000">
                                          <p:val>
                                            <p:strVal val="#ppt_x"/>
                                          </p:val>
                                        </p:tav>
                                      </p:tavLst>
                                    </p:anim>
                                    <p:anim calcmode="lin" valueType="num">
                                      <p:cBhvr>
                                        <p:cTn id="18"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wipe(down)">
                                      <p:cBhvr>
                                        <p:cTn id="23" dur="1000"/>
                                        <p:tgtEl>
                                          <p:spTgt spid="21"/>
                                        </p:tgtEl>
                                      </p:cBhvr>
                                    </p:animEffect>
                                  </p:childTnLst>
                                </p:cTn>
                              </p:par>
                            </p:childTnLst>
                          </p:cTn>
                        </p:par>
                        <p:par>
                          <p:cTn id="24" fill="hold">
                            <p:stCondLst>
                              <p:cond delay="1000"/>
                            </p:stCondLst>
                            <p:childTnLst>
                              <p:par>
                                <p:cTn id="25" presetID="42" presetClass="entr" presetSubtype="0" fill="hold" nodeType="after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1000"/>
                                        <p:tgtEl>
                                          <p:spTgt spid="18"/>
                                        </p:tgtEl>
                                      </p:cBhvr>
                                    </p:animEffect>
                                    <p:anim calcmode="lin" valueType="num">
                                      <p:cBhvr>
                                        <p:cTn id="28" dur="1000" fill="hold"/>
                                        <p:tgtEl>
                                          <p:spTgt spid="18"/>
                                        </p:tgtEl>
                                        <p:attrNameLst>
                                          <p:attrName>ppt_x</p:attrName>
                                        </p:attrNameLst>
                                      </p:cBhvr>
                                      <p:tavLst>
                                        <p:tav tm="0">
                                          <p:val>
                                            <p:strVal val="#ppt_x"/>
                                          </p:val>
                                        </p:tav>
                                        <p:tav tm="100000">
                                          <p:val>
                                            <p:strVal val="#ppt_x"/>
                                          </p:val>
                                        </p:tav>
                                      </p:tavLst>
                                    </p:anim>
                                    <p:anim calcmode="lin" valueType="num">
                                      <p:cBhvr>
                                        <p:cTn id="2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3" cstate="print"/>
          <a:stretch>
            <a:fillRect/>
          </a:stretch>
        </p:blipFill>
        <p:spPr>
          <a:xfrm>
            <a:off x="5788748" y="829630"/>
            <a:ext cx="3071410" cy="1725655"/>
          </a:xfrm>
          <a:prstGeom prst="rect">
            <a:avLst/>
          </a:prstGeom>
        </p:spPr>
      </p:pic>
      <p:grpSp>
        <p:nvGrpSpPr>
          <p:cNvPr id="18" name="组合 17"/>
          <p:cNvGrpSpPr/>
          <p:nvPr/>
        </p:nvGrpSpPr>
        <p:grpSpPr>
          <a:xfrm>
            <a:off x="7680718" y="1046702"/>
            <a:ext cx="257866" cy="1383245"/>
            <a:chOff x="7978140" y="899160"/>
            <a:chExt cx="252000" cy="1265460"/>
          </a:xfrm>
        </p:grpSpPr>
        <p:sp>
          <p:nvSpPr>
            <p:cNvPr id="15" name="椭圆 14"/>
            <p:cNvSpPr/>
            <p:nvPr/>
          </p:nvSpPr>
          <p:spPr>
            <a:xfrm>
              <a:off x="7978140" y="899160"/>
              <a:ext cx="252000" cy="25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latin typeface="Times New Roman" pitchFamily="18" charset="0"/>
                  <a:cs typeface="Times New Roman" pitchFamily="18" charset="0"/>
                </a:rPr>
                <a:t>Ā</a:t>
              </a:r>
              <a:endParaRPr lang="zh-CN" altLang="en-US" sz="1600" b="1" dirty="0">
                <a:latin typeface="Times New Roman" pitchFamily="18" charset="0"/>
                <a:cs typeface="Times New Roman" pitchFamily="18" charset="0"/>
              </a:endParaRPr>
            </a:p>
          </p:txBody>
        </p:sp>
        <p:sp>
          <p:nvSpPr>
            <p:cNvPr id="16" name="椭圆 15"/>
            <p:cNvSpPr/>
            <p:nvPr/>
          </p:nvSpPr>
          <p:spPr>
            <a:xfrm>
              <a:off x="7978140" y="1912620"/>
              <a:ext cx="252000" cy="25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latin typeface="Times New Roman" pitchFamily="18" charset="0"/>
                  <a:cs typeface="Times New Roman" pitchFamily="18" charset="0"/>
                </a:rPr>
                <a:t>Ā</a:t>
              </a:r>
              <a:endParaRPr lang="zh-CN" altLang="en-US" sz="1600" b="1" dirty="0">
                <a:latin typeface="Times New Roman" pitchFamily="18" charset="0"/>
                <a:cs typeface="Times New Roman" pitchFamily="18" charset="0"/>
              </a:endParaRPr>
            </a:p>
          </p:txBody>
        </p:sp>
      </p:grpSp>
      <p:sp>
        <p:nvSpPr>
          <p:cNvPr id="8" name="Rectangle 6"/>
          <p:cNvSpPr>
            <a:spLocks noChangeArrowheads="1"/>
          </p:cNvSpPr>
          <p:nvPr/>
        </p:nvSpPr>
        <p:spPr bwMode="auto">
          <a:xfrm>
            <a:off x="606600" y="2555285"/>
            <a:ext cx="5127477" cy="984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812800" indent="-812800" eaLnBrk="0" hangingPunct="0">
              <a:defRPr sz="2000" b="1">
                <a:solidFill>
                  <a:schemeClr val="accent2"/>
                </a:solidFill>
                <a:latin typeface="Times New Roman" pitchFamily="18" charset="0"/>
                <a:ea typeface="宋体" charset="-122"/>
              </a:defRPr>
            </a:lvl1pPr>
            <a:lvl2pPr marL="742950" indent="-285750" eaLnBrk="0" hangingPunct="0">
              <a:defRPr sz="2000" b="1">
                <a:solidFill>
                  <a:schemeClr val="accent2"/>
                </a:solidFill>
                <a:latin typeface="Times New Roman" pitchFamily="18" charset="0"/>
                <a:ea typeface="宋体" charset="-122"/>
              </a:defRPr>
            </a:lvl2pPr>
            <a:lvl3pPr marL="1143000" indent="-228600" eaLnBrk="0" hangingPunct="0">
              <a:defRPr sz="2000" b="1">
                <a:solidFill>
                  <a:schemeClr val="accent2"/>
                </a:solidFill>
                <a:latin typeface="Times New Roman" pitchFamily="18" charset="0"/>
                <a:ea typeface="宋体" charset="-122"/>
              </a:defRPr>
            </a:lvl3pPr>
            <a:lvl4pPr marL="1600200" indent="-228600" eaLnBrk="0" hangingPunct="0">
              <a:defRPr sz="2000" b="1">
                <a:solidFill>
                  <a:schemeClr val="accent2"/>
                </a:solidFill>
                <a:latin typeface="Times New Roman" pitchFamily="18" charset="0"/>
                <a:ea typeface="宋体" charset="-122"/>
              </a:defRPr>
            </a:lvl4pPr>
            <a:lvl5pPr marL="2057400" indent="-228600" eaLnBrk="0" hangingPunct="0">
              <a:defRPr sz="2000" b="1">
                <a:solidFill>
                  <a:schemeClr val="accent2"/>
                </a:solidFill>
                <a:latin typeface="Times New Roman" pitchFamily="18" charset="0"/>
                <a:ea typeface="宋体" charset="-122"/>
              </a:defRPr>
            </a:lvl5pPr>
            <a:lvl6pPr marL="25146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6pPr>
            <a:lvl7pPr marL="29718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7pPr>
            <a:lvl8pPr marL="34290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8pPr>
            <a:lvl9pPr marL="38862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9pPr>
          </a:lstStyle>
          <a:p>
            <a:pPr marL="715963" indent="-715963" eaLnBrk="1" hangingPunct="1">
              <a:lnSpc>
                <a:spcPct val="125000"/>
              </a:lnSpc>
              <a:spcBef>
                <a:spcPct val="0"/>
              </a:spcBef>
            </a:pPr>
            <a:r>
              <a:rPr lang="en-US" altLang="zh-CN" sz="1600" b="0" i="1" dirty="0">
                <a:solidFill>
                  <a:srgbClr val="6600FF"/>
                </a:solidFill>
                <a:latin typeface="方正粗黑宋简体" pitchFamily="2" charset="-122"/>
                <a:ea typeface="方正粗黑宋简体" pitchFamily="2" charset="-122"/>
              </a:rPr>
              <a:t>EN</a:t>
            </a:r>
            <a:r>
              <a:rPr lang="en-US" altLang="zh-CN" sz="1600" b="0" dirty="0">
                <a:solidFill>
                  <a:srgbClr val="6600FF"/>
                </a:solidFill>
                <a:latin typeface="方正粗黑宋简体" pitchFamily="2" charset="-122"/>
                <a:ea typeface="方正粗黑宋简体" pitchFamily="2" charset="-122"/>
              </a:rPr>
              <a:t>=0</a:t>
            </a:r>
            <a:r>
              <a:rPr lang="zh-CN" altLang="en-US" sz="1600" b="0" dirty="0">
                <a:solidFill>
                  <a:srgbClr val="6600FF"/>
                </a:solidFill>
                <a:latin typeface="方正粗黑宋简体" pitchFamily="2" charset="-122"/>
                <a:ea typeface="方正粗黑宋简体" pitchFamily="2" charset="-122"/>
              </a:rPr>
              <a:t>：</a:t>
            </a:r>
            <a:r>
              <a:rPr lang="zh-CN" altLang="zh-CN" sz="1600" b="0" dirty="0">
                <a:solidFill>
                  <a:schemeClr val="tx1"/>
                </a:solidFill>
                <a:ea typeface="黑体" pitchFamily="49" charset="-122"/>
                <a:cs typeface="Times New Roman" pitchFamily="18" charset="0"/>
              </a:rPr>
              <a:t>与非门和或非门均封锁，与非门的输出为高电平，或非门的输出为低电平，此时</a:t>
            </a:r>
            <a:r>
              <a:rPr lang="en-US" altLang="zh-CN" sz="1600" b="0" dirty="0">
                <a:solidFill>
                  <a:schemeClr val="tx1"/>
                </a:solidFill>
                <a:ea typeface="黑体" pitchFamily="49" charset="-122"/>
                <a:cs typeface="Times New Roman" pitchFamily="18" charset="0"/>
              </a:rPr>
              <a:t>T</a:t>
            </a:r>
            <a:r>
              <a:rPr lang="en-US" altLang="zh-CN" sz="1600" b="0" baseline="-25000" dirty="0">
                <a:solidFill>
                  <a:schemeClr val="tx1"/>
                </a:solidFill>
                <a:ea typeface="黑体" pitchFamily="49" charset="-122"/>
                <a:cs typeface="Times New Roman" pitchFamily="18" charset="0"/>
              </a:rPr>
              <a:t>N</a:t>
            </a:r>
            <a:r>
              <a:rPr lang="zh-CN" altLang="zh-CN" sz="1600" b="0" dirty="0">
                <a:solidFill>
                  <a:schemeClr val="tx1"/>
                </a:solidFill>
                <a:ea typeface="黑体" pitchFamily="49" charset="-122"/>
                <a:cs typeface="Times New Roman" pitchFamily="18" charset="0"/>
              </a:rPr>
              <a:t>和</a:t>
            </a:r>
            <a:r>
              <a:rPr lang="en-US" altLang="zh-CN" sz="1600" b="0" dirty="0">
                <a:solidFill>
                  <a:schemeClr val="tx1"/>
                </a:solidFill>
                <a:ea typeface="黑体" pitchFamily="49" charset="-122"/>
                <a:cs typeface="Times New Roman" pitchFamily="18" charset="0"/>
              </a:rPr>
              <a:t>T</a:t>
            </a:r>
            <a:r>
              <a:rPr lang="en-US" altLang="zh-CN" sz="1600" b="0" baseline="-25000" dirty="0">
                <a:solidFill>
                  <a:schemeClr val="tx1"/>
                </a:solidFill>
                <a:ea typeface="黑体" pitchFamily="49" charset="-122"/>
                <a:cs typeface="Times New Roman" pitchFamily="18" charset="0"/>
              </a:rPr>
              <a:t>P</a:t>
            </a:r>
            <a:r>
              <a:rPr lang="zh-CN" altLang="zh-CN" sz="1600" b="0" dirty="0">
                <a:solidFill>
                  <a:schemeClr val="tx1"/>
                </a:solidFill>
                <a:ea typeface="黑体" pitchFamily="49" charset="-122"/>
                <a:cs typeface="Times New Roman" pitchFamily="18" charset="0"/>
              </a:rPr>
              <a:t>均截止，输出为</a:t>
            </a:r>
            <a:r>
              <a:rPr lang="zh-CN" altLang="zh-CN" sz="1600" b="0" dirty="0">
                <a:solidFill>
                  <a:srgbClr val="6600FF"/>
                </a:solidFill>
                <a:ea typeface="黑体" pitchFamily="49" charset="-122"/>
                <a:cs typeface="Times New Roman" pitchFamily="18" charset="0"/>
              </a:rPr>
              <a:t>高阻态</a:t>
            </a:r>
            <a:r>
              <a:rPr lang="zh-CN" altLang="zh-CN" sz="1600" b="0" dirty="0">
                <a:solidFill>
                  <a:schemeClr val="tx1"/>
                </a:solidFill>
                <a:ea typeface="黑体" pitchFamily="49" charset="-122"/>
                <a:cs typeface="Times New Roman" pitchFamily="18" charset="0"/>
              </a:rPr>
              <a:t>。</a:t>
            </a:r>
            <a:r>
              <a:rPr lang="zh-CN" altLang="en-US" sz="1600" b="0" dirty="0">
                <a:solidFill>
                  <a:schemeClr val="tx1"/>
                </a:solidFill>
                <a:ea typeface="黑体" pitchFamily="49" charset="-122"/>
                <a:cs typeface="Times New Roman" pitchFamily="18" charset="0"/>
              </a:rPr>
              <a:t>即</a:t>
            </a:r>
            <a:r>
              <a:rPr lang="en-US" altLang="zh-CN" sz="1600" b="0" i="1" dirty="0">
                <a:solidFill>
                  <a:srgbClr val="6600FF"/>
                </a:solidFill>
                <a:latin typeface="方正粗黑宋简体" pitchFamily="2" charset="-122"/>
                <a:ea typeface="方正粗黑宋简体" pitchFamily="2" charset="-122"/>
              </a:rPr>
              <a:t>L=Z</a:t>
            </a:r>
            <a:r>
              <a:rPr lang="zh-CN" altLang="en-US" sz="1600" b="0" dirty="0">
                <a:solidFill>
                  <a:schemeClr val="tx1"/>
                </a:solidFill>
                <a:latin typeface="方正粗黑宋简体" pitchFamily="2" charset="-122"/>
                <a:ea typeface="方正粗黑宋简体" pitchFamily="2" charset="-122"/>
              </a:rPr>
              <a:t>。</a:t>
            </a:r>
          </a:p>
        </p:txBody>
      </p:sp>
      <mc:AlternateContent xmlns:mc="http://schemas.openxmlformats.org/markup-compatibility/2006" xmlns:a14="http://schemas.microsoft.com/office/drawing/2010/main">
        <mc:Choice Requires="a14">
          <p:sp>
            <p:nvSpPr>
              <p:cNvPr id="9" name="Rectangle 8"/>
              <p:cNvSpPr>
                <a:spLocks noChangeArrowheads="1"/>
              </p:cNvSpPr>
              <p:nvPr/>
            </p:nvSpPr>
            <p:spPr bwMode="auto">
              <a:xfrm>
                <a:off x="590246" y="1763066"/>
                <a:ext cx="5020797" cy="685444"/>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marL="812800" indent="-812800" eaLnBrk="0" hangingPunct="0">
                  <a:defRPr sz="2000" b="1">
                    <a:solidFill>
                      <a:schemeClr val="accent2"/>
                    </a:solidFill>
                    <a:latin typeface="Times New Roman" pitchFamily="18" charset="0"/>
                    <a:ea typeface="宋体" charset="-122"/>
                  </a:defRPr>
                </a:lvl1pPr>
                <a:lvl2pPr marL="742950" indent="-285750" eaLnBrk="0" hangingPunct="0">
                  <a:defRPr sz="2000" b="1">
                    <a:solidFill>
                      <a:schemeClr val="accent2"/>
                    </a:solidFill>
                    <a:latin typeface="Times New Roman" pitchFamily="18" charset="0"/>
                    <a:ea typeface="宋体" charset="-122"/>
                  </a:defRPr>
                </a:lvl2pPr>
                <a:lvl3pPr marL="1143000" indent="-228600" eaLnBrk="0" hangingPunct="0">
                  <a:defRPr sz="2000" b="1">
                    <a:solidFill>
                      <a:schemeClr val="accent2"/>
                    </a:solidFill>
                    <a:latin typeface="Times New Roman" pitchFamily="18" charset="0"/>
                    <a:ea typeface="宋体" charset="-122"/>
                  </a:defRPr>
                </a:lvl3pPr>
                <a:lvl4pPr marL="1600200" indent="-228600" eaLnBrk="0" hangingPunct="0">
                  <a:defRPr sz="2000" b="1">
                    <a:solidFill>
                      <a:schemeClr val="accent2"/>
                    </a:solidFill>
                    <a:latin typeface="Times New Roman" pitchFamily="18" charset="0"/>
                    <a:ea typeface="宋体" charset="-122"/>
                  </a:defRPr>
                </a:lvl4pPr>
                <a:lvl5pPr marL="2057400" indent="-228600" eaLnBrk="0" hangingPunct="0">
                  <a:defRPr sz="2000" b="1">
                    <a:solidFill>
                      <a:schemeClr val="accent2"/>
                    </a:solidFill>
                    <a:latin typeface="Times New Roman" pitchFamily="18" charset="0"/>
                    <a:ea typeface="宋体" charset="-122"/>
                  </a:defRPr>
                </a:lvl5pPr>
                <a:lvl6pPr marL="25146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6pPr>
                <a:lvl7pPr marL="29718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7pPr>
                <a:lvl8pPr marL="34290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8pPr>
                <a:lvl9pPr marL="38862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9pPr>
              </a:lstStyle>
              <a:p>
                <a:pPr marL="715963" indent="-715963">
                  <a:lnSpc>
                    <a:spcPct val="125000"/>
                  </a:lnSpc>
                  <a:spcBef>
                    <a:spcPct val="0"/>
                  </a:spcBef>
                </a:pPr>
                <a:r>
                  <a:rPr lang="en-US" altLang="zh-CN" sz="1600" b="0" i="1" dirty="0">
                    <a:solidFill>
                      <a:srgbClr val="6600FF"/>
                    </a:solidFill>
                    <a:latin typeface="方正粗黑宋简体" pitchFamily="2" charset="-122"/>
                    <a:ea typeface="方正粗黑宋简体" pitchFamily="2" charset="-122"/>
                  </a:rPr>
                  <a:t>EN</a:t>
                </a:r>
                <a:r>
                  <a:rPr lang="en-US" altLang="zh-CN" sz="1600" b="0" dirty="0">
                    <a:solidFill>
                      <a:srgbClr val="6600FF"/>
                    </a:solidFill>
                    <a:latin typeface="方正粗黑宋简体" pitchFamily="2" charset="-122"/>
                    <a:ea typeface="方正粗黑宋简体" pitchFamily="2" charset="-122"/>
                  </a:rPr>
                  <a:t>=1</a:t>
                </a:r>
                <a:r>
                  <a:rPr lang="zh-CN" altLang="en-US" sz="1600" b="0" dirty="0">
                    <a:solidFill>
                      <a:srgbClr val="6600FF"/>
                    </a:solidFill>
                    <a:latin typeface="方正粗黑宋简体" pitchFamily="2" charset="-122"/>
                    <a:ea typeface="方正粗黑宋简体" pitchFamily="2" charset="-122"/>
                  </a:rPr>
                  <a:t>：</a:t>
                </a:r>
                <a:r>
                  <a:rPr lang="zh-CN" altLang="zh-CN" sz="1600" b="0" dirty="0">
                    <a:solidFill>
                      <a:schemeClr val="tx1"/>
                    </a:solidFill>
                    <a:ea typeface="黑体" pitchFamily="49" charset="-122"/>
                    <a:cs typeface="Times New Roman" pitchFamily="18" charset="0"/>
                  </a:rPr>
                  <a:t>与非门和或非门均打开</a:t>
                </a:r>
                <a:r>
                  <a:rPr lang="zh-CN" altLang="en-US" sz="1600" b="0" dirty="0">
                    <a:solidFill>
                      <a:schemeClr val="tx1"/>
                    </a:solidFill>
                    <a:ea typeface="黑体" pitchFamily="49" charset="-122"/>
                    <a:cs typeface="Times New Roman" pitchFamily="18" charset="0"/>
                  </a:rPr>
                  <a:t>，两个门的输出均为</a:t>
                </a:r>
                <a14:m>
                  <m:oMath xmlns:m="http://schemas.openxmlformats.org/officeDocument/2006/math">
                    <m:acc>
                      <m:accPr>
                        <m:chr m:val="̅"/>
                        <m:ctrlPr>
                          <a:rPr lang="en-US" altLang="zh-CN" sz="1600" b="0" i="1" dirty="0" smtClean="0">
                            <a:solidFill>
                              <a:schemeClr val="tx1"/>
                            </a:solidFill>
                            <a:latin typeface="Cambria Math" panose="02040503050406030204" pitchFamily="18" charset="0"/>
                            <a:ea typeface="黑体" pitchFamily="49" charset="-122"/>
                            <a:cs typeface="Times New Roman" pitchFamily="18" charset="0"/>
                          </a:rPr>
                        </m:ctrlPr>
                      </m:accPr>
                      <m:e>
                        <m:r>
                          <a:rPr lang="en-US" altLang="zh-CN" sz="1600" b="0" i="1" dirty="0">
                            <a:solidFill>
                              <a:schemeClr val="tx1"/>
                            </a:solidFill>
                            <a:latin typeface="Cambria Math" panose="02040503050406030204" pitchFamily="18" charset="0"/>
                            <a:ea typeface="黑体" pitchFamily="49" charset="-122"/>
                            <a:cs typeface="Times New Roman" pitchFamily="18" charset="0"/>
                          </a:rPr>
                          <m:t>𝐴</m:t>
                        </m:r>
                      </m:e>
                    </m:acc>
                  </m:oMath>
                </a14:m>
                <a:r>
                  <a:rPr lang="zh-CN" altLang="en-US" sz="1600" b="0" dirty="0">
                    <a:solidFill>
                      <a:schemeClr val="tx1"/>
                    </a:solidFill>
                    <a:ea typeface="黑体" pitchFamily="49" charset="-122"/>
                    <a:cs typeface="Times New Roman" pitchFamily="18" charset="0"/>
                  </a:rPr>
                  <a:t>，后级</a:t>
                </a:r>
                <a:r>
                  <a:rPr lang="en-US" altLang="zh-CN" sz="1600" b="0" dirty="0">
                    <a:solidFill>
                      <a:schemeClr val="tx1"/>
                    </a:solidFill>
                    <a:ea typeface="黑体" pitchFamily="49" charset="-122"/>
                    <a:cs typeface="Times New Roman" pitchFamily="18" charset="0"/>
                  </a:rPr>
                  <a:t>T</a:t>
                </a:r>
                <a:r>
                  <a:rPr lang="en-US" altLang="zh-CN" sz="1600" b="0" baseline="-25000" dirty="0">
                    <a:solidFill>
                      <a:schemeClr val="tx1"/>
                    </a:solidFill>
                    <a:ea typeface="黑体" pitchFamily="49" charset="-122"/>
                    <a:cs typeface="Times New Roman" pitchFamily="18" charset="0"/>
                  </a:rPr>
                  <a:t>N</a:t>
                </a:r>
                <a:r>
                  <a:rPr lang="zh-CN" altLang="en-US" sz="1600" b="0" dirty="0">
                    <a:solidFill>
                      <a:schemeClr val="tx1"/>
                    </a:solidFill>
                    <a:ea typeface="黑体" pitchFamily="49" charset="-122"/>
                    <a:cs typeface="Times New Roman" pitchFamily="18" charset="0"/>
                  </a:rPr>
                  <a:t>和</a:t>
                </a:r>
                <a:r>
                  <a:rPr lang="en-US" altLang="zh-CN" sz="1600" b="0" dirty="0">
                    <a:solidFill>
                      <a:schemeClr val="tx1"/>
                    </a:solidFill>
                    <a:ea typeface="黑体" pitchFamily="49" charset="-122"/>
                    <a:cs typeface="Times New Roman" pitchFamily="18" charset="0"/>
                  </a:rPr>
                  <a:t>T</a:t>
                </a:r>
                <a:r>
                  <a:rPr lang="en-US" altLang="zh-CN" sz="1600" b="0" baseline="-25000" dirty="0">
                    <a:solidFill>
                      <a:schemeClr val="tx1"/>
                    </a:solidFill>
                    <a:ea typeface="黑体" pitchFamily="49" charset="-122"/>
                    <a:cs typeface="Times New Roman" pitchFamily="18" charset="0"/>
                  </a:rPr>
                  <a:t>P</a:t>
                </a:r>
                <a:r>
                  <a:rPr lang="zh-CN" altLang="en-US" sz="1600" b="0" dirty="0">
                    <a:solidFill>
                      <a:schemeClr val="tx1"/>
                    </a:solidFill>
                    <a:ea typeface="黑体" pitchFamily="49" charset="-122"/>
                    <a:cs typeface="Times New Roman" pitchFamily="18" charset="0"/>
                  </a:rPr>
                  <a:t>构成非门电路，输出</a:t>
                </a:r>
                <a:r>
                  <a:rPr lang="en-US" altLang="zh-CN" sz="1600" b="0" i="1" dirty="0">
                    <a:solidFill>
                      <a:srgbClr val="6600FF"/>
                    </a:solidFill>
                    <a:latin typeface="方正粗黑宋简体" pitchFamily="2" charset="-122"/>
                    <a:ea typeface="方正粗黑宋简体" pitchFamily="2" charset="-122"/>
                  </a:rPr>
                  <a:t>L</a:t>
                </a:r>
                <a:r>
                  <a:rPr lang="en-US" altLang="zh-CN" sz="1600" b="0" dirty="0">
                    <a:solidFill>
                      <a:srgbClr val="6600FF"/>
                    </a:solidFill>
                    <a:latin typeface="方正粗黑宋简体" pitchFamily="2" charset="-122"/>
                    <a:ea typeface="方正粗黑宋简体" pitchFamily="2" charset="-122"/>
                  </a:rPr>
                  <a:t>=</a:t>
                </a:r>
                <a:r>
                  <a:rPr lang="en-US" altLang="zh-CN" sz="1600" b="0" i="1" dirty="0">
                    <a:solidFill>
                      <a:srgbClr val="6600FF"/>
                    </a:solidFill>
                    <a:latin typeface="方正粗黑宋简体" pitchFamily="2" charset="-122"/>
                    <a:ea typeface="方正粗黑宋简体" pitchFamily="2" charset="-122"/>
                  </a:rPr>
                  <a:t>A</a:t>
                </a:r>
                <a:r>
                  <a:rPr lang="zh-CN" altLang="en-US" sz="1600" b="0" dirty="0">
                    <a:solidFill>
                      <a:schemeClr val="tx1"/>
                    </a:solidFill>
                    <a:ea typeface="黑体" pitchFamily="49" charset="-122"/>
                    <a:cs typeface="Times New Roman" pitchFamily="18" charset="0"/>
                  </a:rPr>
                  <a:t>。</a:t>
                </a:r>
                <a:endParaRPr lang="en-US" altLang="zh-CN" sz="1600" b="0" dirty="0">
                  <a:solidFill>
                    <a:schemeClr val="tx1"/>
                  </a:solidFill>
                  <a:ea typeface="黑体" pitchFamily="49" charset="-122"/>
                  <a:cs typeface="Times New Roman" pitchFamily="18" charset="0"/>
                </a:endParaRPr>
              </a:p>
            </p:txBody>
          </p:sp>
        </mc:Choice>
        <mc:Fallback xmlns="">
          <p:sp>
            <p:nvSpPr>
              <p:cNvPr id="9" name="Rectangle 8"/>
              <p:cNvSpPr>
                <a:spLocks noRot="1" noChangeAspect="1" noMove="1" noResize="1" noEditPoints="1" noAdjustHandles="1" noChangeArrowheads="1" noChangeShapeType="1" noTextEdit="1"/>
              </p:cNvSpPr>
              <p:nvPr/>
            </p:nvSpPr>
            <p:spPr bwMode="auto">
              <a:xfrm>
                <a:off x="590246" y="1763066"/>
                <a:ext cx="5020797" cy="685444"/>
              </a:xfrm>
              <a:prstGeom prst="rect">
                <a:avLst/>
              </a:prstGeom>
              <a:blipFill>
                <a:blip r:embed="rId4" cstate="print"/>
                <a:stretch>
                  <a:fillRect l="-729" r="-2795" b="-11504"/>
                </a:stretch>
              </a:blip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10" name="椭圆 9"/>
          <p:cNvSpPr/>
          <p:nvPr/>
        </p:nvSpPr>
        <p:spPr>
          <a:xfrm>
            <a:off x="6261407" y="2088973"/>
            <a:ext cx="257866" cy="27545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latin typeface="Times New Roman" pitchFamily="18" charset="0"/>
                <a:cs typeface="Times New Roman" pitchFamily="18" charset="0"/>
              </a:rPr>
              <a:t>1</a:t>
            </a:r>
            <a:endParaRPr lang="zh-CN" altLang="en-US" sz="1600" b="1" dirty="0">
              <a:latin typeface="Times New Roman" pitchFamily="18" charset="0"/>
              <a:cs typeface="Times New Roman" pitchFamily="18" charset="0"/>
            </a:endParaRPr>
          </a:p>
        </p:txBody>
      </p:sp>
      <p:grpSp>
        <p:nvGrpSpPr>
          <p:cNvPr id="17" name="组合 16"/>
          <p:cNvGrpSpPr/>
          <p:nvPr/>
        </p:nvGrpSpPr>
        <p:grpSpPr>
          <a:xfrm>
            <a:off x="6997829" y="1100406"/>
            <a:ext cx="273460" cy="1283294"/>
            <a:chOff x="7360920" y="960120"/>
            <a:chExt cx="267240" cy="1174020"/>
          </a:xfrm>
        </p:grpSpPr>
        <p:sp>
          <p:nvSpPr>
            <p:cNvPr id="11" name="椭圆 10"/>
            <p:cNvSpPr/>
            <p:nvPr/>
          </p:nvSpPr>
          <p:spPr>
            <a:xfrm>
              <a:off x="7360920" y="960120"/>
              <a:ext cx="252000" cy="25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latin typeface="Times New Roman" pitchFamily="18" charset="0"/>
                  <a:cs typeface="Times New Roman" pitchFamily="18" charset="0"/>
                </a:rPr>
                <a:t>1</a:t>
              </a:r>
              <a:endParaRPr lang="zh-CN" altLang="en-US" sz="1600" b="1" dirty="0">
                <a:latin typeface="Times New Roman" pitchFamily="18" charset="0"/>
                <a:cs typeface="Times New Roman" pitchFamily="18" charset="0"/>
              </a:endParaRPr>
            </a:p>
          </p:txBody>
        </p:sp>
        <p:sp>
          <p:nvSpPr>
            <p:cNvPr id="12" name="椭圆 11"/>
            <p:cNvSpPr/>
            <p:nvPr/>
          </p:nvSpPr>
          <p:spPr>
            <a:xfrm>
              <a:off x="7376160" y="1882140"/>
              <a:ext cx="252000" cy="25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latin typeface="Times New Roman" pitchFamily="18" charset="0"/>
                  <a:cs typeface="Times New Roman" pitchFamily="18" charset="0"/>
                </a:rPr>
                <a:t>0</a:t>
              </a:r>
              <a:endParaRPr lang="zh-CN" altLang="en-US" sz="1600" b="1" dirty="0">
                <a:latin typeface="Times New Roman" pitchFamily="18" charset="0"/>
                <a:cs typeface="Times New Roman" pitchFamily="18" charset="0"/>
              </a:endParaRPr>
            </a:p>
          </p:txBody>
        </p:sp>
      </p:grpSp>
      <p:sp>
        <p:nvSpPr>
          <p:cNvPr id="19" name="椭圆 18"/>
          <p:cNvSpPr/>
          <p:nvPr/>
        </p:nvSpPr>
        <p:spPr>
          <a:xfrm>
            <a:off x="8530891" y="1732502"/>
            <a:ext cx="257866" cy="27545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latin typeface="Times New Roman" pitchFamily="18" charset="0"/>
                <a:cs typeface="Times New Roman" pitchFamily="18" charset="0"/>
              </a:rPr>
              <a:t>A</a:t>
            </a:r>
            <a:endParaRPr lang="zh-CN" altLang="en-US" sz="1600" b="1" dirty="0">
              <a:latin typeface="Times New Roman" pitchFamily="18" charset="0"/>
              <a:cs typeface="Times New Roman" pitchFamily="18" charset="0"/>
            </a:endParaRPr>
          </a:p>
        </p:txBody>
      </p:sp>
      <p:sp>
        <p:nvSpPr>
          <p:cNvPr id="24" name="椭圆 23"/>
          <p:cNvSpPr/>
          <p:nvPr/>
        </p:nvSpPr>
        <p:spPr>
          <a:xfrm>
            <a:off x="6257985" y="2088973"/>
            <a:ext cx="257866" cy="275455"/>
          </a:xfrm>
          <a:prstGeom prst="ellipse">
            <a:avLst/>
          </a:prstGeom>
          <a:solidFill>
            <a:srgbClr val="CC00CC"/>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latin typeface="Times New Roman" pitchFamily="18" charset="0"/>
                <a:cs typeface="Times New Roman" pitchFamily="18" charset="0"/>
              </a:rPr>
              <a:t>0</a:t>
            </a:r>
            <a:endParaRPr lang="zh-CN" altLang="en-US" sz="1600" b="1" dirty="0">
              <a:latin typeface="Times New Roman" pitchFamily="18" charset="0"/>
              <a:cs typeface="Times New Roman" pitchFamily="18" charset="0"/>
            </a:endParaRPr>
          </a:p>
        </p:txBody>
      </p:sp>
      <p:grpSp>
        <p:nvGrpSpPr>
          <p:cNvPr id="25" name="组合 24"/>
          <p:cNvGrpSpPr/>
          <p:nvPr/>
        </p:nvGrpSpPr>
        <p:grpSpPr>
          <a:xfrm>
            <a:off x="6997829" y="1100406"/>
            <a:ext cx="273460" cy="1283294"/>
            <a:chOff x="7360920" y="960120"/>
            <a:chExt cx="267240" cy="1174020"/>
          </a:xfrm>
          <a:solidFill>
            <a:srgbClr val="CC00CC"/>
          </a:solidFill>
        </p:grpSpPr>
        <p:sp>
          <p:nvSpPr>
            <p:cNvPr id="26" name="椭圆 25"/>
            <p:cNvSpPr/>
            <p:nvPr/>
          </p:nvSpPr>
          <p:spPr>
            <a:xfrm>
              <a:off x="7360920" y="960120"/>
              <a:ext cx="252000" cy="252000"/>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latin typeface="Times New Roman" pitchFamily="18" charset="0"/>
                  <a:cs typeface="Times New Roman" pitchFamily="18" charset="0"/>
                </a:rPr>
                <a:t>0</a:t>
              </a:r>
              <a:endParaRPr lang="zh-CN" altLang="en-US" sz="1600" b="1" dirty="0">
                <a:latin typeface="Times New Roman" pitchFamily="18" charset="0"/>
                <a:cs typeface="Times New Roman" pitchFamily="18" charset="0"/>
              </a:endParaRPr>
            </a:p>
          </p:txBody>
        </p:sp>
        <p:sp>
          <p:nvSpPr>
            <p:cNvPr id="27" name="椭圆 26"/>
            <p:cNvSpPr/>
            <p:nvPr/>
          </p:nvSpPr>
          <p:spPr>
            <a:xfrm>
              <a:off x="7376160" y="1882140"/>
              <a:ext cx="252000" cy="252000"/>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latin typeface="Times New Roman" pitchFamily="18" charset="0"/>
                  <a:cs typeface="Times New Roman" pitchFamily="18" charset="0"/>
                </a:rPr>
                <a:t>1</a:t>
              </a:r>
              <a:endParaRPr lang="zh-CN" altLang="en-US" sz="1600" b="1" dirty="0">
                <a:latin typeface="Times New Roman" pitchFamily="18" charset="0"/>
                <a:cs typeface="Times New Roman" pitchFamily="18" charset="0"/>
              </a:endParaRPr>
            </a:p>
          </p:txBody>
        </p:sp>
      </p:grpSp>
      <p:grpSp>
        <p:nvGrpSpPr>
          <p:cNvPr id="29" name="组合 17"/>
          <p:cNvGrpSpPr/>
          <p:nvPr/>
        </p:nvGrpSpPr>
        <p:grpSpPr>
          <a:xfrm>
            <a:off x="7680718" y="1046702"/>
            <a:ext cx="257866" cy="1383245"/>
            <a:chOff x="7978140" y="899160"/>
            <a:chExt cx="252000" cy="1265460"/>
          </a:xfrm>
          <a:solidFill>
            <a:srgbClr val="CC00CC"/>
          </a:solidFill>
        </p:grpSpPr>
        <p:sp>
          <p:nvSpPr>
            <p:cNvPr id="31" name="椭圆 30"/>
            <p:cNvSpPr/>
            <p:nvPr/>
          </p:nvSpPr>
          <p:spPr>
            <a:xfrm>
              <a:off x="7978140" y="899160"/>
              <a:ext cx="252000" cy="252000"/>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latin typeface="Times New Roman" pitchFamily="18" charset="0"/>
                  <a:cs typeface="Times New Roman" pitchFamily="18" charset="0"/>
                </a:rPr>
                <a:t>1</a:t>
              </a:r>
              <a:endParaRPr lang="zh-CN" altLang="en-US" sz="1600" b="1" dirty="0">
                <a:latin typeface="Times New Roman" pitchFamily="18" charset="0"/>
                <a:cs typeface="Times New Roman" pitchFamily="18" charset="0"/>
              </a:endParaRPr>
            </a:p>
          </p:txBody>
        </p:sp>
        <p:sp>
          <p:nvSpPr>
            <p:cNvPr id="32" name="椭圆 31"/>
            <p:cNvSpPr/>
            <p:nvPr/>
          </p:nvSpPr>
          <p:spPr>
            <a:xfrm>
              <a:off x="7978140" y="1912620"/>
              <a:ext cx="252000" cy="252000"/>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latin typeface="Times New Roman" pitchFamily="18" charset="0"/>
                  <a:cs typeface="Times New Roman" pitchFamily="18" charset="0"/>
                </a:rPr>
                <a:t>0</a:t>
              </a:r>
              <a:endParaRPr lang="zh-CN" altLang="en-US" sz="1600" b="1" dirty="0">
                <a:latin typeface="Times New Roman" pitchFamily="18" charset="0"/>
                <a:cs typeface="Times New Roman" pitchFamily="18" charset="0"/>
              </a:endParaRPr>
            </a:p>
          </p:txBody>
        </p:sp>
      </p:grpSp>
      <p:grpSp>
        <p:nvGrpSpPr>
          <p:cNvPr id="35" name="组合 34"/>
          <p:cNvGrpSpPr/>
          <p:nvPr/>
        </p:nvGrpSpPr>
        <p:grpSpPr>
          <a:xfrm>
            <a:off x="8024940" y="1210533"/>
            <a:ext cx="335287" cy="1016168"/>
            <a:chOff x="8258810" y="1062990"/>
            <a:chExt cx="327660" cy="929640"/>
          </a:xfrm>
          <a:solidFill>
            <a:srgbClr val="FF0000"/>
          </a:solidFill>
        </p:grpSpPr>
        <p:sp>
          <p:nvSpPr>
            <p:cNvPr id="33" name="乘号 32"/>
            <p:cNvSpPr/>
            <p:nvPr/>
          </p:nvSpPr>
          <p:spPr>
            <a:xfrm rot="10800000">
              <a:off x="8258810" y="1062990"/>
              <a:ext cx="327660" cy="419100"/>
            </a:xfrm>
            <a:prstGeom prst="mathMultiply">
              <a:avLst>
                <a:gd name="adj1" fmla="val 13414"/>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乘号 33"/>
            <p:cNvSpPr/>
            <p:nvPr/>
          </p:nvSpPr>
          <p:spPr>
            <a:xfrm rot="10800000">
              <a:off x="8258810" y="1573530"/>
              <a:ext cx="327660" cy="419100"/>
            </a:xfrm>
            <a:prstGeom prst="mathMultiply">
              <a:avLst>
                <a:gd name="adj1" fmla="val 13414"/>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6" name="椭圆 35"/>
          <p:cNvSpPr/>
          <p:nvPr/>
        </p:nvSpPr>
        <p:spPr>
          <a:xfrm>
            <a:off x="8530891" y="1732502"/>
            <a:ext cx="257866" cy="275455"/>
          </a:xfrm>
          <a:prstGeom prst="ellipse">
            <a:avLst/>
          </a:prstGeom>
          <a:solidFill>
            <a:srgbClr val="CC00CC"/>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latin typeface="Times New Roman" pitchFamily="18" charset="0"/>
                <a:cs typeface="Times New Roman" pitchFamily="18" charset="0"/>
              </a:rPr>
              <a:t>Z</a:t>
            </a:r>
            <a:endParaRPr lang="zh-CN" altLang="en-US" sz="1600" b="1" dirty="0">
              <a:latin typeface="Times New Roman" pitchFamily="18" charset="0"/>
              <a:cs typeface="Times New Roman" pitchFamily="18" charset="0"/>
            </a:endParaRPr>
          </a:p>
        </p:txBody>
      </p:sp>
      <p:graphicFrame>
        <p:nvGraphicFramePr>
          <p:cNvPr id="37" name="Group 80"/>
          <p:cNvGraphicFramePr>
            <a:graphicFrameLocks noGrp="1"/>
          </p:cNvGraphicFramePr>
          <p:nvPr/>
        </p:nvGraphicFramePr>
        <p:xfrm>
          <a:off x="2439033" y="3833900"/>
          <a:ext cx="3136768" cy="1358900"/>
        </p:xfrm>
        <a:graphic>
          <a:graphicData uri="http://schemas.openxmlformats.org/drawingml/2006/table">
            <a:tbl>
              <a:tblPr/>
              <a:tblGrid>
                <a:gridCol w="934891">
                  <a:extLst>
                    <a:ext uri="{9D8B030D-6E8A-4147-A177-3AD203B41FA5}">
                      <a16:colId xmlns:a16="http://schemas.microsoft.com/office/drawing/2014/main" val="20000"/>
                    </a:ext>
                  </a:extLst>
                </a:gridCol>
                <a:gridCol w="971170">
                  <a:extLst>
                    <a:ext uri="{9D8B030D-6E8A-4147-A177-3AD203B41FA5}">
                      <a16:colId xmlns:a16="http://schemas.microsoft.com/office/drawing/2014/main" val="20001"/>
                    </a:ext>
                  </a:extLst>
                </a:gridCol>
                <a:gridCol w="1230707">
                  <a:extLst>
                    <a:ext uri="{9D8B030D-6E8A-4147-A177-3AD203B41FA5}">
                      <a16:colId xmlns:a16="http://schemas.microsoft.com/office/drawing/2014/main" val="20002"/>
                    </a:ext>
                  </a:extLst>
                </a:gridCol>
              </a:tblGrid>
              <a:tr h="419100">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zh-CN" altLang="en-US" sz="1600" b="1" i="0" u="none" strike="noStrike" cap="none" normalizeH="0" baseline="0" dirty="0">
                          <a:ln>
                            <a:noFill/>
                          </a:ln>
                          <a:solidFill>
                            <a:srgbClr val="080808"/>
                          </a:solidFill>
                          <a:effectLst/>
                          <a:latin typeface="Times New Roman" pitchFamily="18" charset="0"/>
                          <a:ea typeface="楷体_GB2312" pitchFamily="49" charset="-122"/>
                          <a:cs typeface="Times New Roman" pitchFamily="18" charset="0"/>
                        </a:rPr>
                        <a:t>使能</a:t>
                      </a:r>
                      <a:r>
                        <a:rPr kumimoji="0" lang="en-US" altLang="zh-CN" sz="1600" b="1" i="1" u="none" strike="noStrike" cap="none" normalizeH="0" baseline="0" dirty="0">
                          <a:ln>
                            <a:noFill/>
                          </a:ln>
                          <a:solidFill>
                            <a:srgbClr val="080808"/>
                          </a:solidFill>
                          <a:effectLst/>
                          <a:latin typeface="Times New Roman" pitchFamily="18" charset="0"/>
                          <a:ea typeface="楷体_GB2312" pitchFamily="49" charset="-122"/>
                          <a:cs typeface="Times New Roman" pitchFamily="18" charset="0"/>
                        </a:rPr>
                        <a:t>EN</a:t>
                      </a:r>
                    </a:p>
                  </a:txBody>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zh-CN" altLang="en-US" sz="1600" b="1" i="0" u="none" strike="noStrike" cap="none" normalizeH="0" baseline="0" dirty="0">
                          <a:ln>
                            <a:noFill/>
                          </a:ln>
                          <a:solidFill>
                            <a:srgbClr val="080808"/>
                          </a:solidFill>
                          <a:effectLst/>
                          <a:latin typeface="Times New Roman" pitchFamily="18" charset="0"/>
                          <a:ea typeface="楷体_GB2312" pitchFamily="49" charset="-122"/>
                          <a:cs typeface="Times New Roman" pitchFamily="18" charset="0"/>
                        </a:rPr>
                        <a:t>输入</a:t>
                      </a:r>
                      <a:r>
                        <a:rPr kumimoji="0" lang="en-US" altLang="zh-CN" sz="1600" b="1" i="1" u="none" strike="noStrike" cap="none" normalizeH="0" baseline="0" dirty="0">
                          <a:ln>
                            <a:noFill/>
                          </a:ln>
                          <a:solidFill>
                            <a:srgbClr val="080808"/>
                          </a:solidFill>
                          <a:effectLst/>
                          <a:latin typeface="Times New Roman" pitchFamily="18" charset="0"/>
                          <a:ea typeface="楷体_GB2312" pitchFamily="49" charset="-122"/>
                          <a:cs typeface="Times New Roman" pitchFamily="18" charset="0"/>
                        </a:rPr>
                        <a:t>A</a:t>
                      </a:r>
                    </a:p>
                  </a:txBody>
                  <a:tcPr marL="0" marR="0" marT="0" marB="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zh-CN" altLang="en-US" sz="1600" b="1" i="0" u="none" strike="noStrike" cap="none" normalizeH="0" baseline="0" dirty="0">
                          <a:ln>
                            <a:noFill/>
                          </a:ln>
                          <a:solidFill>
                            <a:srgbClr val="080808"/>
                          </a:solidFill>
                          <a:effectLst/>
                          <a:latin typeface="Times New Roman" pitchFamily="18" charset="0"/>
                          <a:ea typeface="楷体_GB2312" pitchFamily="49" charset="-122"/>
                          <a:cs typeface="Times New Roman" pitchFamily="18" charset="0"/>
                        </a:rPr>
                        <a:t>输出</a:t>
                      </a:r>
                      <a:r>
                        <a:rPr kumimoji="0" lang="en-US" altLang="zh-CN" sz="1600" b="1" i="1" u="none" strike="noStrike" cap="none" normalizeH="0" baseline="0" dirty="0">
                          <a:ln>
                            <a:noFill/>
                          </a:ln>
                          <a:solidFill>
                            <a:srgbClr val="080808"/>
                          </a:solidFill>
                          <a:effectLst/>
                          <a:latin typeface="Times New Roman" pitchFamily="18" charset="0"/>
                          <a:ea typeface="楷体_GB2312" pitchFamily="49" charset="-122"/>
                          <a:cs typeface="Times New Roman" pitchFamily="18" charset="0"/>
                        </a:rPr>
                        <a:t>L</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solidFill>
                  </a:tcPr>
                </a:tc>
                <a:extLst>
                  <a:ext uri="{0D108BD9-81ED-4DB2-BD59-A6C34878D82A}">
                    <a16:rowId xmlns:a16="http://schemas.microsoft.com/office/drawing/2014/main" val="10000"/>
                  </a:ext>
                </a:extLst>
              </a:tr>
              <a:tr h="337820">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600" b="1" i="0" u="none" strike="noStrike" cap="none" normalizeH="0" baseline="0" dirty="0">
                          <a:ln>
                            <a:noFill/>
                          </a:ln>
                          <a:solidFill>
                            <a:srgbClr val="080808"/>
                          </a:solidFill>
                          <a:effectLst/>
                          <a:latin typeface="Times New Roman" pitchFamily="18" charset="0"/>
                          <a:ea typeface="楷体_GB2312" pitchFamily="49" charset="-122"/>
                          <a:cs typeface="Times New Roman" pitchFamily="18" charset="0"/>
                        </a:rPr>
                        <a:t>1</a:t>
                      </a:r>
                    </a:p>
                  </a:txBody>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solidFill>
                      <a:srgbClr val="66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600" b="1" i="0" u="none" strike="noStrike" cap="none" normalizeH="0" baseline="0" dirty="0">
                          <a:ln>
                            <a:noFill/>
                          </a:ln>
                          <a:solidFill>
                            <a:srgbClr val="080808"/>
                          </a:solidFill>
                          <a:effectLst/>
                          <a:latin typeface="Times New Roman" pitchFamily="18" charset="0"/>
                          <a:ea typeface="楷体_GB2312" pitchFamily="49" charset="-122"/>
                          <a:cs typeface="Times New Roman" pitchFamily="18" charset="0"/>
                        </a:rPr>
                        <a:t>0</a:t>
                      </a:r>
                    </a:p>
                  </a:txBody>
                  <a:tcPr marL="0" marR="0" marT="0" marB="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66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600" b="1" i="0" u="none" strike="noStrike" cap="none" normalizeH="0" baseline="0" dirty="0">
                          <a:ln>
                            <a:noFill/>
                          </a:ln>
                          <a:solidFill>
                            <a:srgbClr val="080808"/>
                          </a:solidFill>
                          <a:effectLst/>
                          <a:latin typeface="Times New Roman" pitchFamily="18" charset="0"/>
                          <a:ea typeface="楷体_GB2312" pitchFamily="49" charset="-122"/>
                          <a:cs typeface="Times New Roman" pitchFamily="18" charset="0"/>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66FFCC"/>
                    </a:solidFill>
                  </a:tcPr>
                </a:tc>
                <a:extLst>
                  <a:ext uri="{0D108BD9-81ED-4DB2-BD59-A6C34878D82A}">
                    <a16:rowId xmlns:a16="http://schemas.microsoft.com/office/drawing/2014/main" val="10001"/>
                  </a:ext>
                </a:extLst>
              </a:tr>
              <a:tr h="260985">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600" b="1" i="0" u="none" strike="noStrike" cap="none" normalizeH="0" baseline="0" dirty="0">
                          <a:ln>
                            <a:noFill/>
                          </a:ln>
                          <a:solidFill>
                            <a:srgbClr val="080808"/>
                          </a:solidFill>
                          <a:effectLst/>
                          <a:latin typeface="Times New Roman" pitchFamily="18" charset="0"/>
                          <a:ea typeface="楷体_GB2312" pitchFamily="49" charset="-122"/>
                          <a:cs typeface="Times New Roman" pitchFamily="18" charset="0"/>
                        </a:rPr>
                        <a:t>1</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600" b="1" i="0" u="none" strike="noStrike" cap="none" normalizeH="0" baseline="0" dirty="0">
                          <a:ln>
                            <a:noFill/>
                          </a:ln>
                          <a:solidFill>
                            <a:srgbClr val="080808"/>
                          </a:solidFill>
                          <a:effectLst/>
                          <a:latin typeface="Times New Roman" pitchFamily="18" charset="0"/>
                          <a:ea typeface="楷体_GB2312" pitchFamily="49" charset="-122"/>
                          <a:cs typeface="Times New Roman" pitchFamily="18" charset="0"/>
                        </a:rPr>
                        <a:t>1</a:t>
                      </a: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600" b="1" i="0" u="none" strike="noStrike" cap="none" normalizeH="0" baseline="0" dirty="0">
                          <a:ln>
                            <a:noFill/>
                          </a:ln>
                          <a:solidFill>
                            <a:srgbClr val="080808"/>
                          </a:solidFill>
                          <a:effectLst/>
                          <a:latin typeface="Times New Roman" pitchFamily="18" charset="0"/>
                          <a:ea typeface="楷体_GB2312" pitchFamily="49" charset="-122"/>
                          <a:cs typeface="Times New Roman" pitchFamily="18"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extLst>
                  <a:ext uri="{0D108BD9-81ED-4DB2-BD59-A6C34878D82A}">
                    <a16:rowId xmlns:a16="http://schemas.microsoft.com/office/drawing/2014/main" val="10002"/>
                  </a:ext>
                </a:extLst>
              </a:tr>
              <a:tr h="340995">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600" b="1" i="0" u="none" strike="noStrike" cap="none" normalizeH="0" baseline="0" dirty="0">
                          <a:ln>
                            <a:noFill/>
                          </a:ln>
                          <a:solidFill>
                            <a:srgbClr val="080808"/>
                          </a:solidFill>
                          <a:effectLst/>
                          <a:latin typeface="Times New Roman" pitchFamily="18" charset="0"/>
                          <a:ea typeface="楷体_GB2312" pitchFamily="49" charset="-122"/>
                          <a:cs typeface="Times New Roman" pitchFamily="18" charset="0"/>
                        </a:rPr>
                        <a:t>0</a:t>
                      </a:r>
                    </a:p>
                  </a:txBody>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600" b="1" i="0" u="none" strike="noStrike" cap="none" normalizeH="0" baseline="0" dirty="0">
                          <a:ln>
                            <a:noFill/>
                          </a:ln>
                          <a:solidFill>
                            <a:srgbClr val="080808"/>
                          </a:solidFill>
                          <a:effectLst/>
                          <a:latin typeface="Times New Roman" pitchFamily="18" charset="0"/>
                          <a:ea typeface="楷体_GB2312" pitchFamily="49" charset="-122"/>
                          <a:cs typeface="Times New Roman" pitchFamily="18" charset="0"/>
                        </a:rPr>
                        <a:t>×</a:t>
                      </a:r>
                    </a:p>
                  </a:txBody>
                  <a:tcPr marL="0" marR="0" marT="0" marB="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zh-CN" altLang="en-US" sz="1600" b="1" i="0" u="none" strike="noStrike" cap="none" normalizeH="0" baseline="0" dirty="0">
                          <a:ln>
                            <a:noFill/>
                          </a:ln>
                          <a:solidFill>
                            <a:srgbClr val="080808"/>
                          </a:solidFill>
                          <a:effectLst/>
                          <a:latin typeface="Times New Roman" pitchFamily="18" charset="0"/>
                          <a:ea typeface="楷体_GB2312" pitchFamily="49" charset="-122"/>
                          <a:cs typeface="Times New Roman" pitchFamily="18" charset="0"/>
                        </a:rPr>
                        <a:t>高阻</a:t>
                      </a:r>
                      <a:r>
                        <a:rPr kumimoji="0" lang="en-US" altLang="zh-CN" sz="1600" b="1" i="0" u="none" strike="noStrike" cap="none" normalizeH="0" baseline="0" dirty="0">
                          <a:ln>
                            <a:noFill/>
                          </a:ln>
                          <a:solidFill>
                            <a:srgbClr val="080808"/>
                          </a:solidFill>
                          <a:effectLst/>
                          <a:latin typeface="Times New Roman" pitchFamily="18" charset="0"/>
                          <a:ea typeface="楷体_GB2312" pitchFamily="49" charset="-122"/>
                          <a:cs typeface="Times New Roman" pitchFamily="18" charset="0"/>
                        </a:rPr>
                        <a:t>Z</a:t>
                      </a:r>
                      <a:endParaRPr kumimoji="0" lang="zh-CN" altLang="en-US" sz="1600" b="1" i="0" u="none" strike="noStrike" cap="none" normalizeH="0" baseline="0" dirty="0">
                        <a:ln>
                          <a:noFill/>
                        </a:ln>
                        <a:solidFill>
                          <a:srgbClr val="080808"/>
                        </a:solidFill>
                        <a:effectLst/>
                        <a:latin typeface="Times New Roman" pitchFamily="18" charset="0"/>
                        <a:ea typeface="楷体_GB2312" pitchFamily="49" charset="-122"/>
                        <a:cs typeface="Times New Roman"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val="10003"/>
                  </a:ext>
                </a:extLst>
              </a:tr>
            </a:tbl>
          </a:graphicData>
        </a:graphic>
      </p:graphicFrame>
      <p:grpSp>
        <p:nvGrpSpPr>
          <p:cNvPr id="22" name="组合 21">
            <a:extLst>
              <a:ext uri="{FF2B5EF4-FFF2-40B4-BE49-F238E27FC236}">
                <a16:creationId xmlns:a16="http://schemas.microsoft.com/office/drawing/2014/main" id="{5830AC11-0033-48BE-850A-2B1ED1CF6508}"/>
              </a:ext>
            </a:extLst>
          </p:cNvPr>
          <p:cNvGrpSpPr/>
          <p:nvPr/>
        </p:nvGrpSpPr>
        <p:grpSpPr>
          <a:xfrm>
            <a:off x="6246715" y="3967250"/>
            <a:ext cx="1502228" cy="1092200"/>
            <a:chOff x="6857999" y="3159716"/>
            <a:chExt cx="1502228" cy="1092200"/>
          </a:xfrm>
        </p:grpSpPr>
        <p:grpSp>
          <p:nvGrpSpPr>
            <p:cNvPr id="59" name="组合 58"/>
            <p:cNvGrpSpPr/>
            <p:nvPr/>
          </p:nvGrpSpPr>
          <p:grpSpPr>
            <a:xfrm>
              <a:off x="6857999" y="3159716"/>
              <a:ext cx="1502228" cy="1092200"/>
              <a:chOff x="5861050" y="2698750"/>
              <a:chExt cx="1502228" cy="1092200"/>
            </a:xfrm>
          </p:grpSpPr>
          <p:sp>
            <p:nvSpPr>
              <p:cNvPr id="54" name="圆角矩形 53"/>
              <p:cNvSpPr/>
              <p:nvPr/>
            </p:nvSpPr>
            <p:spPr>
              <a:xfrm>
                <a:off x="5861050" y="2698750"/>
                <a:ext cx="1502228" cy="1092200"/>
              </a:xfrm>
              <a:prstGeom prst="roundRect">
                <a:avLst>
                  <a:gd name="adj" fmla="val 10272"/>
                </a:avLst>
              </a:prstGeom>
              <a:solidFill>
                <a:schemeClr val="bg1"/>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50" name="Object 10"/>
              <p:cNvGraphicFramePr>
                <a:graphicFrameLocks noChangeAspect="1"/>
              </p:cNvGraphicFramePr>
              <p:nvPr/>
            </p:nvGraphicFramePr>
            <p:xfrm>
              <a:off x="5949949" y="2863850"/>
              <a:ext cx="1329179" cy="685800"/>
            </p:xfrm>
            <a:graphic>
              <a:graphicData uri="http://schemas.openxmlformats.org/presentationml/2006/ole">
                <mc:AlternateContent xmlns:mc="http://schemas.openxmlformats.org/markup-compatibility/2006">
                  <mc:Choice xmlns:v="urn:schemas-microsoft-com:vml" Requires="v">
                    <p:oleObj spid="_x0000_s82946" name="Visio" r:id="rId5" imgW="830849" imgH="435495" progId="">
                      <p:embed/>
                    </p:oleObj>
                  </mc:Choice>
                  <mc:Fallback>
                    <p:oleObj name="Visio" r:id="rId5" imgW="830849" imgH="435495" progId="">
                      <p:embed/>
                      <p:pic>
                        <p:nvPicPr>
                          <p:cNvPr id="5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49949" y="2863850"/>
                            <a:ext cx="1329179" cy="6858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pSp>
        <p:sp>
          <p:nvSpPr>
            <p:cNvPr id="47" name="AutoShape 21"/>
            <p:cNvSpPr>
              <a:spLocks noChangeArrowheads="1"/>
            </p:cNvSpPr>
            <p:nvPr/>
          </p:nvSpPr>
          <p:spPr bwMode="auto">
            <a:xfrm>
              <a:off x="7077841" y="4000728"/>
              <a:ext cx="889000" cy="230187"/>
            </a:xfrm>
            <a:prstGeom prst="wedgeRoundRectCallout">
              <a:avLst>
                <a:gd name="adj1" fmla="val -23885"/>
                <a:gd name="adj2" fmla="val -113793"/>
                <a:gd name="adj3" fmla="val 16667"/>
              </a:avLst>
            </a:prstGeom>
            <a:solidFill>
              <a:srgbClr val="FFFF66"/>
            </a:solidFill>
            <a:ln w="12700" algn="ctr">
              <a:solidFill>
                <a:srgbClr val="0000FF"/>
              </a:solidFill>
              <a:miter lim="800000"/>
              <a:headEnd/>
              <a:tailEnd/>
            </a:ln>
          </p:spPr>
          <p:txBody>
            <a:bodyPr lIns="0" rIns="0" anchor="ctr"/>
            <a:lstStyle/>
            <a:p>
              <a:pPr algn="ctr"/>
              <a:r>
                <a:rPr lang="zh-CN" altLang="en-US" sz="1200" dirty="0">
                  <a:solidFill>
                    <a:srgbClr val="6600FF"/>
                  </a:solidFill>
                  <a:latin typeface="方正粗黑宋简体" pitchFamily="2" charset="-122"/>
                  <a:ea typeface="方正粗黑宋简体" pitchFamily="2" charset="-122"/>
                </a:rPr>
                <a:t>使能高有效</a:t>
              </a:r>
            </a:p>
          </p:txBody>
        </p:sp>
      </p:grpSp>
      <p:cxnSp>
        <p:nvCxnSpPr>
          <p:cNvPr id="44" name="直接连接符 43"/>
          <p:cNvCxnSpPr>
            <a:cxnSpLocks/>
          </p:cNvCxnSpPr>
          <p:nvPr/>
        </p:nvCxnSpPr>
        <p:spPr>
          <a:xfrm flipV="1">
            <a:off x="7814930" y="1360250"/>
            <a:ext cx="0" cy="75525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3" name="Rectangle 11">
            <a:extLst>
              <a:ext uri="{FF2B5EF4-FFF2-40B4-BE49-F238E27FC236}">
                <a16:creationId xmlns:a16="http://schemas.microsoft.com/office/drawing/2014/main" id="{838B8017-C210-47ED-80BD-77CDB6C2FC4C}"/>
              </a:ext>
            </a:extLst>
          </p:cNvPr>
          <p:cNvSpPr>
            <a:spLocks noChangeArrowheads="1"/>
          </p:cNvSpPr>
          <p:nvPr/>
        </p:nvSpPr>
        <p:spPr bwMode="auto">
          <a:xfrm>
            <a:off x="218440" y="1333183"/>
            <a:ext cx="2875280" cy="338554"/>
          </a:xfrm>
          <a:prstGeom prst="rect">
            <a:avLst/>
          </a:prstGeom>
          <a:noFill/>
          <a:ln w="9525" algn="ctr">
            <a:noFill/>
            <a:miter lim="800000"/>
            <a:headEnd/>
            <a:tailEnd/>
          </a:ln>
        </p:spPr>
        <p:txBody>
          <a:bodyPr wrap="square">
            <a:spAutoFit/>
          </a:bodyPr>
          <a:lstStyle/>
          <a:p>
            <a:pPr>
              <a:defRPr/>
            </a:pPr>
            <a:r>
              <a:rPr lang="zh-CN" altLang="en-US" sz="1600" b="1" dirty="0">
                <a:solidFill>
                  <a:srgbClr val="6600FF"/>
                </a:solidFill>
                <a:latin typeface="方正粗黑宋简体" pitchFamily="2" charset="-122"/>
                <a:ea typeface="方正粗黑宋简体" pitchFamily="2" charset="-122"/>
              </a:rPr>
              <a:t>（</a:t>
            </a:r>
            <a:r>
              <a:rPr lang="en-US" altLang="zh-CN" sz="1600" b="1" dirty="0">
                <a:solidFill>
                  <a:srgbClr val="6600FF"/>
                </a:solidFill>
                <a:latin typeface="方正粗黑宋简体" pitchFamily="2" charset="-122"/>
                <a:ea typeface="方正粗黑宋简体" pitchFamily="2" charset="-122"/>
              </a:rPr>
              <a:t>5</a:t>
            </a:r>
            <a:r>
              <a:rPr lang="zh-CN" altLang="en-US" sz="1600" b="1" dirty="0">
                <a:solidFill>
                  <a:srgbClr val="6600FF"/>
                </a:solidFill>
                <a:latin typeface="方正粗黑宋简体" pitchFamily="2" charset="-122"/>
                <a:ea typeface="方正粗黑宋简体" pitchFamily="2" charset="-122"/>
              </a:rPr>
              <a:t>）</a:t>
            </a:r>
            <a:r>
              <a:rPr lang="en-US" altLang="zh-CN" sz="1600" b="1" dirty="0">
                <a:solidFill>
                  <a:srgbClr val="6600FF"/>
                </a:solidFill>
                <a:latin typeface="方正粗黑宋简体" pitchFamily="2" charset="-122"/>
                <a:ea typeface="方正粗黑宋简体" pitchFamily="2" charset="-122"/>
              </a:rPr>
              <a:t>CMOS</a:t>
            </a:r>
            <a:r>
              <a:rPr lang="zh-CN" altLang="en-US" sz="1600" b="1" dirty="0">
                <a:solidFill>
                  <a:srgbClr val="6600FF"/>
                </a:solidFill>
                <a:latin typeface="方正粗黑宋简体" pitchFamily="2" charset="-122"/>
                <a:ea typeface="方正粗黑宋简体" pitchFamily="2" charset="-122"/>
              </a:rPr>
              <a:t>三态门</a:t>
            </a:r>
          </a:p>
        </p:txBody>
      </p:sp>
      <p:grpSp>
        <p:nvGrpSpPr>
          <p:cNvPr id="45" name="组合 44">
            <a:extLst>
              <a:ext uri="{FF2B5EF4-FFF2-40B4-BE49-F238E27FC236}">
                <a16:creationId xmlns:a16="http://schemas.microsoft.com/office/drawing/2014/main" id="{CCCA7044-2AEB-4CD1-B72A-01918B9D5453}"/>
              </a:ext>
            </a:extLst>
          </p:cNvPr>
          <p:cNvGrpSpPr/>
          <p:nvPr/>
        </p:nvGrpSpPr>
        <p:grpSpPr>
          <a:xfrm>
            <a:off x="282575" y="785614"/>
            <a:ext cx="3757217" cy="373579"/>
            <a:chOff x="307975" y="1517134"/>
            <a:chExt cx="3757217" cy="373579"/>
          </a:xfrm>
        </p:grpSpPr>
        <p:grpSp>
          <p:nvGrpSpPr>
            <p:cNvPr id="49" name="组合 32">
              <a:extLst>
                <a:ext uri="{FF2B5EF4-FFF2-40B4-BE49-F238E27FC236}">
                  <a16:creationId xmlns:a16="http://schemas.microsoft.com/office/drawing/2014/main" id="{8F4AD113-1F85-4936-AFD7-0609D40B7A37}"/>
                </a:ext>
              </a:extLst>
            </p:cNvPr>
            <p:cNvGrpSpPr/>
            <p:nvPr/>
          </p:nvGrpSpPr>
          <p:grpSpPr>
            <a:xfrm>
              <a:off x="307975" y="1519116"/>
              <a:ext cx="568325" cy="371597"/>
              <a:chOff x="307975" y="1519116"/>
              <a:chExt cx="568325" cy="371597"/>
            </a:xfrm>
          </p:grpSpPr>
          <p:pic>
            <p:nvPicPr>
              <p:cNvPr id="52" name="Picture 4">
                <a:extLst>
                  <a:ext uri="{FF2B5EF4-FFF2-40B4-BE49-F238E27FC236}">
                    <a16:creationId xmlns:a16="http://schemas.microsoft.com/office/drawing/2014/main" id="{02A1FF4E-81BC-4CCD-83B5-F7ACF7680829}"/>
                  </a:ext>
                </a:extLst>
              </p:cNvPr>
              <p:cNvPicPr>
                <a:picLocks noChangeAspect="1" noChangeArrowheads="1"/>
              </p:cNvPicPr>
              <p:nvPr/>
            </p:nvPicPr>
            <p:blipFill>
              <a:blip r:embed="rId7" cstate="print"/>
              <a:srcRect/>
              <a:stretch>
                <a:fillRect/>
              </a:stretch>
            </p:blipFill>
            <p:spPr bwMode="auto">
              <a:xfrm flipH="1">
                <a:off x="307975" y="1519116"/>
                <a:ext cx="568325" cy="371597"/>
              </a:xfrm>
              <a:prstGeom prst="rect">
                <a:avLst/>
              </a:prstGeom>
              <a:noFill/>
              <a:ln w="9525">
                <a:noFill/>
                <a:miter lim="800000"/>
                <a:headEnd/>
                <a:tailEnd/>
              </a:ln>
              <a:effectLst/>
            </p:spPr>
          </p:pic>
          <p:sp>
            <p:nvSpPr>
              <p:cNvPr id="53" name="TextBox 5">
                <a:extLst>
                  <a:ext uri="{FF2B5EF4-FFF2-40B4-BE49-F238E27FC236}">
                    <a16:creationId xmlns:a16="http://schemas.microsoft.com/office/drawing/2014/main" id="{8E6C7E1F-9DE9-4FA5-832C-37673DC67C3E}"/>
                  </a:ext>
                </a:extLst>
              </p:cNvPr>
              <p:cNvSpPr txBox="1"/>
              <p:nvPr/>
            </p:nvSpPr>
            <p:spPr>
              <a:xfrm flipH="1">
                <a:off x="443415" y="1555750"/>
                <a:ext cx="142668" cy="276999"/>
              </a:xfrm>
              <a:prstGeom prst="rect">
                <a:avLst/>
              </a:prstGeom>
              <a:noFill/>
            </p:spPr>
            <p:txBody>
              <a:bodyPr wrap="none" lIns="0" tIns="0" rIns="0" bIns="0" rtlCol="0">
                <a:spAutoFit/>
              </a:bodyPr>
              <a:lstStyle/>
              <a:p>
                <a:r>
                  <a:rPr lang="en-US" altLang="zh-CN" b="1" dirty="0">
                    <a:solidFill>
                      <a:srgbClr val="262626"/>
                    </a:solidFill>
                    <a:latin typeface="Segoe UI Black" pitchFamily="34" charset="0"/>
                    <a:ea typeface="Segoe UI Black" pitchFamily="34" charset="0"/>
                    <a:cs typeface="Times New Roman" pitchFamily="18" charset="0"/>
                  </a:rPr>
                  <a:t>4</a:t>
                </a:r>
                <a:endParaRPr lang="zh-CN" altLang="en-US" b="1" dirty="0">
                  <a:solidFill>
                    <a:srgbClr val="262626"/>
                  </a:solidFill>
                  <a:latin typeface="Segoe UI Black" pitchFamily="34" charset="0"/>
                  <a:cs typeface="Times New Roman" pitchFamily="18" charset="0"/>
                </a:endParaRPr>
              </a:p>
            </p:txBody>
          </p:sp>
        </p:grpSp>
        <p:sp>
          <p:nvSpPr>
            <p:cNvPr id="51" name="矩形 50">
              <a:extLst>
                <a:ext uri="{FF2B5EF4-FFF2-40B4-BE49-F238E27FC236}">
                  <a16:creationId xmlns:a16="http://schemas.microsoft.com/office/drawing/2014/main" id="{5CA18596-1140-4230-B9B8-EC6F851BE52F}"/>
                </a:ext>
              </a:extLst>
            </p:cNvPr>
            <p:cNvSpPr/>
            <p:nvPr/>
          </p:nvSpPr>
          <p:spPr>
            <a:xfrm>
              <a:off x="863675" y="1517134"/>
              <a:ext cx="3201517" cy="369332"/>
            </a:xfrm>
            <a:prstGeom prst="rect">
              <a:avLst/>
            </a:prstGeom>
          </p:spPr>
          <p:txBody>
            <a:bodyPr wrap="none">
              <a:spAutoFit/>
            </a:bodyPr>
            <a:lstStyle/>
            <a:p>
              <a:r>
                <a:rPr lang="zh-CN" altLang="en-US" b="1" dirty="0">
                  <a:solidFill>
                    <a:schemeClr val="accent1">
                      <a:lumMod val="50000"/>
                    </a:schemeClr>
                  </a:solidFill>
                  <a:latin typeface="Times New Roman" panose="02020603050405020304" pitchFamily="18" charset="0"/>
                  <a:ea typeface="黑体" pitchFamily="49" charset="-122"/>
                  <a:cs typeface="Times New Roman" panose="02020603050405020304" pitchFamily="18" charset="0"/>
                </a:rPr>
                <a:t>其他类型的</a:t>
              </a:r>
              <a:r>
                <a:rPr lang="en-US" altLang="zh-CN" b="1" dirty="0">
                  <a:solidFill>
                    <a:schemeClr val="accent1">
                      <a:lumMod val="50000"/>
                    </a:schemeClr>
                  </a:solidFill>
                  <a:latin typeface="Times New Roman" panose="02020603050405020304" pitchFamily="18" charset="0"/>
                  <a:ea typeface="黑体" pitchFamily="49" charset="-122"/>
                  <a:cs typeface="Times New Roman" panose="02020603050405020304" pitchFamily="18" charset="0"/>
                </a:rPr>
                <a:t>CMOS</a:t>
              </a:r>
              <a:r>
                <a:rPr lang="zh-CN" altLang="en-US" b="1" dirty="0">
                  <a:solidFill>
                    <a:schemeClr val="accent1">
                      <a:lumMod val="50000"/>
                    </a:schemeClr>
                  </a:solidFill>
                  <a:latin typeface="Times New Roman" panose="02020603050405020304" pitchFamily="18" charset="0"/>
                  <a:ea typeface="黑体" pitchFamily="49" charset="-122"/>
                  <a:cs typeface="Times New Roman" panose="02020603050405020304" pitchFamily="18" charset="0"/>
                </a:rPr>
                <a:t>逻辑门电路</a:t>
              </a:r>
            </a:p>
          </p:txBody>
        </p:sp>
      </p:grpSp>
    </p:spTree>
  </p:cSld>
  <p:clrMapOvr>
    <a:masterClrMapping/>
  </p:clrMapOvr>
  <mc:AlternateContent xmlns:mc="http://schemas.openxmlformats.org/markup-compatibility/2006" xmlns:p14="http://schemas.microsoft.com/office/powerpoint/2010/main">
    <mc:Choice Requires="p14">
      <p:transition spd="slow" p14:dur="1200">
        <p14:prism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1000"/>
                                        <p:tgtEl>
                                          <p:spTgt spid="9"/>
                                        </p:tgtEl>
                                      </p:cBhvr>
                                    </p:animEffect>
                                  </p:childTnLst>
                                </p:cTn>
                              </p:par>
                            </p:childTnLst>
                          </p:cTn>
                        </p:par>
                        <p:par>
                          <p:cTn id="8" fill="hold">
                            <p:stCondLst>
                              <p:cond delay="1000"/>
                            </p:stCondLst>
                            <p:childTnLst>
                              <p:par>
                                <p:cTn id="9" presetID="12" presetClass="entr" presetSubtype="8"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slide(fromLeft)">
                                      <p:cBhvr>
                                        <p:cTn id="11" dur="1000"/>
                                        <p:tgtEl>
                                          <p:spTgt spid="10"/>
                                        </p:tgtEl>
                                      </p:cBhvr>
                                    </p:animEffect>
                                  </p:childTnLst>
                                </p:cTn>
                              </p:par>
                            </p:childTnLst>
                          </p:cTn>
                        </p:par>
                        <p:par>
                          <p:cTn id="12" fill="hold">
                            <p:stCondLst>
                              <p:cond delay="2000"/>
                            </p:stCondLst>
                            <p:childTnLst>
                              <p:par>
                                <p:cTn id="13" presetID="12" presetClass="entr" presetSubtype="8" fill="hold"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slide(fromLeft)">
                                      <p:cBhvr>
                                        <p:cTn id="15" dur="1000"/>
                                        <p:tgtEl>
                                          <p:spTgt spid="17"/>
                                        </p:tgtEl>
                                      </p:cBhvr>
                                    </p:animEffect>
                                  </p:childTnLst>
                                </p:cTn>
                              </p:par>
                            </p:childTnLst>
                          </p:cTn>
                        </p:par>
                        <p:par>
                          <p:cTn id="16" fill="hold">
                            <p:stCondLst>
                              <p:cond delay="3000"/>
                            </p:stCondLst>
                            <p:childTnLst>
                              <p:par>
                                <p:cTn id="17" presetID="12" presetClass="entr" presetSubtype="8" fill="hold" nodeType="after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slide(fromLeft)">
                                      <p:cBhvr>
                                        <p:cTn id="19" dur="1000"/>
                                        <p:tgtEl>
                                          <p:spTgt spid="18"/>
                                        </p:tgtEl>
                                      </p:cBhvr>
                                    </p:animEffect>
                                  </p:childTnLst>
                                </p:cTn>
                              </p:par>
                            </p:childTnLst>
                          </p:cTn>
                        </p:par>
                        <p:par>
                          <p:cTn id="20" fill="hold">
                            <p:stCondLst>
                              <p:cond delay="4000"/>
                            </p:stCondLst>
                            <p:childTnLst>
                              <p:par>
                                <p:cTn id="21" presetID="23" presetClass="entr" presetSubtype="16" fill="hold" nodeType="afterEffect">
                                  <p:stCondLst>
                                    <p:cond delay="0"/>
                                  </p:stCondLst>
                                  <p:childTnLst>
                                    <p:set>
                                      <p:cBhvr>
                                        <p:cTn id="22" dur="1" fill="hold">
                                          <p:stCondLst>
                                            <p:cond delay="0"/>
                                          </p:stCondLst>
                                        </p:cTn>
                                        <p:tgtEl>
                                          <p:spTgt spid="44"/>
                                        </p:tgtEl>
                                        <p:attrNameLst>
                                          <p:attrName>style.visibility</p:attrName>
                                        </p:attrNameLst>
                                      </p:cBhvr>
                                      <p:to>
                                        <p:strVal val="visible"/>
                                      </p:to>
                                    </p:set>
                                    <p:anim calcmode="lin" valueType="num">
                                      <p:cBhvr>
                                        <p:cTn id="23" dur="1000" fill="hold"/>
                                        <p:tgtEl>
                                          <p:spTgt spid="44"/>
                                        </p:tgtEl>
                                        <p:attrNameLst>
                                          <p:attrName>ppt_w</p:attrName>
                                        </p:attrNameLst>
                                      </p:cBhvr>
                                      <p:tavLst>
                                        <p:tav tm="0">
                                          <p:val>
                                            <p:fltVal val="0"/>
                                          </p:val>
                                        </p:tav>
                                        <p:tav tm="100000">
                                          <p:val>
                                            <p:strVal val="#ppt_w"/>
                                          </p:val>
                                        </p:tav>
                                      </p:tavLst>
                                    </p:anim>
                                    <p:anim calcmode="lin" valueType="num">
                                      <p:cBhvr>
                                        <p:cTn id="24" dur="1000" fill="hold"/>
                                        <p:tgtEl>
                                          <p:spTgt spid="44"/>
                                        </p:tgtEl>
                                        <p:attrNameLst>
                                          <p:attrName>ppt_h</p:attrName>
                                        </p:attrNameLst>
                                      </p:cBhvr>
                                      <p:tavLst>
                                        <p:tav tm="0">
                                          <p:val>
                                            <p:fltVal val="0"/>
                                          </p:val>
                                        </p:tav>
                                        <p:tav tm="100000">
                                          <p:val>
                                            <p:strVal val="#ppt_h"/>
                                          </p:val>
                                        </p:tav>
                                      </p:tavLst>
                                    </p:anim>
                                  </p:childTnLst>
                                </p:cTn>
                              </p:par>
                            </p:childTnLst>
                          </p:cTn>
                        </p:par>
                        <p:par>
                          <p:cTn id="25" fill="hold">
                            <p:stCondLst>
                              <p:cond delay="5000"/>
                            </p:stCondLst>
                            <p:childTnLst>
                              <p:par>
                                <p:cTn id="26" presetID="12" presetClass="entr" presetSubtype="8" fill="hold" grpId="0" nodeType="after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slide(fromLeft)">
                                      <p:cBhvr>
                                        <p:cTn id="28" dur="10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wipe(left)">
                                      <p:cBhvr>
                                        <p:cTn id="33" dur="1000"/>
                                        <p:tgtEl>
                                          <p:spTgt spid="8"/>
                                        </p:tgtEl>
                                      </p:cBhvr>
                                    </p:animEffect>
                                  </p:childTnLst>
                                </p:cTn>
                              </p:par>
                              <p:par>
                                <p:cTn id="34" presetID="22" presetClass="exit" presetSubtype="8" fill="hold" grpId="1" nodeType="withEffect">
                                  <p:stCondLst>
                                    <p:cond delay="0"/>
                                  </p:stCondLst>
                                  <p:childTnLst>
                                    <p:animEffect transition="out" filter="wipe(left)">
                                      <p:cBhvr>
                                        <p:cTn id="35" dur="1000"/>
                                        <p:tgtEl>
                                          <p:spTgt spid="10"/>
                                        </p:tgtEl>
                                      </p:cBhvr>
                                    </p:animEffect>
                                    <p:set>
                                      <p:cBhvr>
                                        <p:cTn id="36" dur="1" fill="hold">
                                          <p:stCondLst>
                                            <p:cond delay="999"/>
                                          </p:stCondLst>
                                        </p:cTn>
                                        <p:tgtEl>
                                          <p:spTgt spid="10"/>
                                        </p:tgtEl>
                                        <p:attrNameLst>
                                          <p:attrName>style.visibility</p:attrName>
                                        </p:attrNameLst>
                                      </p:cBhvr>
                                      <p:to>
                                        <p:strVal val="hidden"/>
                                      </p:to>
                                    </p:set>
                                  </p:childTnLst>
                                </p:cTn>
                              </p:par>
                              <p:par>
                                <p:cTn id="37" presetID="22" presetClass="exit" presetSubtype="8" fill="hold" nodeType="withEffect">
                                  <p:stCondLst>
                                    <p:cond delay="0"/>
                                  </p:stCondLst>
                                  <p:childTnLst>
                                    <p:animEffect transition="out" filter="wipe(left)">
                                      <p:cBhvr>
                                        <p:cTn id="38" dur="1000"/>
                                        <p:tgtEl>
                                          <p:spTgt spid="17"/>
                                        </p:tgtEl>
                                      </p:cBhvr>
                                    </p:animEffect>
                                    <p:set>
                                      <p:cBhvr>
                                        <p:cTn id="39" dur="1" fill="hold">
                                          <p:stCondLst>
                                            <p:cond delay="999"/>
                                          </p:stCondLst>
                                        </p:cTn>
                                        <p:tgtEl>
                                          <p:spTgt spid="17"/>
                                        </p:tgtEl>
                                        <p:attrNameLst>
                                          <p:attrName>style.visibility</p:attrName>
                                        </p:attrNameLst>
                                      </p:cBhvr>
                                      <p:to>
                                        <p:strVal val="hidden"/>
                                      </p:to>
                                    </p:set>
                                  </p:childTnLst>
                                </p:cTn>
                              </p:par>
                              <p:par>
                                <p:cTn id="40" presetID="22" presetClass="exit" presetSubtype="8" fill="hold" nodeType="withEffect">
                                  <p:stCondLst>
                                    <p:cond delay="0"/>
                                  </p:stCondLst>
                                  <p:childTnLst>
                                    <p:animEffect transition="out" filter="wipe(left)">
                                      <p:cBhvr>
                                        <p:cTn id="41" dur="1000"/>
                                        <p:tgtEl>
                                          <p:spTgt spid="18"/>
                                        </p:tgtEl>
                                      </p:cBhvr>
                                    </p:animEffect>
                                    <p:set>
                                      <p:cBhvr>
                                        <p:cTn id="42" dur="1" fill="hold">
                                          <p:stCondLst>
                                            <p:cond delay="999"/>
                                          </p:stCondLst>
                                        </p:cTn>
                                        <p:tgtEl>
                                          <p:spTgt spid="18"/>
                                        </p:tgtEl>
                                        <p:attrNameLst>
                                          <p:attrName>style.visibility</p:attrName>
                                        </p:attrNameLst>
                                      </p:cBhvr>
                                      <p:to>
                                        <p:strVal val="hidden"/>
                                      </p:to>
                                    </p:set>
                                  </p:childTnLst>
                                </p:cTn>
                              </p:par>
                              <p:par>
                                <p:cTn id="43" presetID="22" presetClass="exit" presetSubtype="8" fill="hold" grpId="1" nodeType="withEffect">
                                  <p:stCondLst>
                                    <p:cond delay="0"/>
                                  </p:stCondLst>
                                  <p:childTnLst>
                                    <p:animEffect transition="out" filter="wipe(left)">
                                      <p:cBhvr>
                                        <p:cTn id="44" dur="1000"/>
                                        <p:tgtEl>
                                          <p:spTgt spid="19"/>
                                        </p:tgtEl>
                                      </p:cBhvr>
                                    </p:animEffect>
                                    <p:set>
                                      <p:cBhvr>
                                        <p:cTn id="45" dur="1" fill="hold">
                                          <p:stCondLst>
                                            <p:cond delay="999"/>
                                          </p:stCondLst>
                                        </p:cTn>
                                        <p:tgtEl>
                                          <p:spTgt spid="19"/>
                                        </p:tgtEl>
                                        <p:attrNameLst>
                                          <p:attrName>style.visibility</p:attrName>
                                        </p:attrNameLst>
                                      </p:cBhvr>
                                      <p:to>
                                        <p:strVal val="hidden"/>
                                      </p:to>
                                    </p:set>
                                  </p:childTnLst>
                                </p:cTn>
                              </p:par>
                              <p:par>
                                <p:cTn id="46" presetID="22" presetClass="exit" presetSubtype="8" fill="hold" nodeType="withEffect">
                                  <p:stCondLst>
                                    <p:cond delay="0"/>
                                  </p:stCondLst>
                                  <p:childTnLst>
                                    <p:animEffect transition="out" filter="wipe(left)">
                                      <p:cBhvr>
                                        <p:cTn id="47" dur="1000"/>
                                        <p:tgtEl>
                                          <p:spTgt spid="44"/>
                                        </p:tgtEl>
                                      </p:cBhvr>
                                    </p:animEffect>
                                    <p:set>
                                      <p:cBhvr>
                                        <p:cTn id="48" dur="1" fill="hold">
                                          <p:stCondLst>
                                            <p:cond delay="999"/>
                                          </p:stCondLst>
                                        </p:cTn>
                                        <p:tgtEl>
                                          <p:spTgt spid="44"/>
                                        </p:tgtEl>
                                        <p:attrNameLst>
                                          <p:attrName>style.visibility</p:attrName>
                                        </p:attrNameLst>
                                      </p:cBhvr>
                                      <p:to>
                                        <p:strVal val="hidden"/>
                                      </p:to>
                                    </p:set>
                                  </p:childTnLst>
                                </p:cTn>
                              </p:par>
                            </p:childTnLst>
                          </p:cTn>
                        </p:par>
                        <p:par>
                          <p:cTn id="49" fill="hold">
                            <p:stCondLst>
                              <p:cond delay="1000"/>
                            </p:stCondLst>
                            <p:childTnLst>
                              <p:par>
                                <p:cTn id="50" presetID="12" presetClass="entr" presetSubtype="8" fill="hold" grpId="0" nodeType="after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slide(fromLeft)">
                                      <p:cBhvr>
                                        <p:cTn id="52" dur="1000"/>
                                        <p:tgtEl>
                                          <p:spTgt spid="24"/>
                                        </p:tgtEl>
                                      </p:cBhvr>
                                    </p:animEffect>
                                  </p:childTnLst>
                                </p:cTn>
                              </p:par>
                            </p:childTnLst>
                          </p:cTn>
                        </p:par>
                        <p:par>
                          <p:cTn id="53" fill="hold">
                            <p:stCondLst>
                              <p:cond delay="2000"/>
                            </p:stCondLst>
                            <p:childTnLst>
                              <p:par>
                                <p:cTn id="54" presetID="12" presetClass="entr" presetSubtype="8" fill="hold" nodeType="afterEffect">
                                  <p:stCondLst>
                                    <p:cond delay="0"/>
                                  </p:stCondLst>
                                  <p:childTnLst>
                                    <p:set>
                                      <p:cBhvr>
                                        <p:cTn id="55" dur="1" fill="hold">
                                          <p:stCondLst>
                                            <p:cond delay="0"/>
                                          </p:stCondLst>
                                        </p:cTn>
                                        <p:tgtEl>
                                          <p:spTgt spid="25"/>
                                        </p:tgtEl>
                                        <p:attrNameLst>
                                          <p:attrName>style.visibility</p:attrName>
                                        </p:attrNameLst>
                                      </p:cBhvr>
                                      <p:to>
                                        <p:strVal val="visible"/>
                                      </p:to>
                                    </p:set>
                                    <p:animEffect transition="in" filter="slide(fromLeft)">
                                      <p:cBhvr>
                                        <p:cTn id="56" dur="1000"/>
                                        <p:tgtEl>
                                          <p:spTgt spid="25"/>
                                        </p:tgtEl>
                                      </p:cBhvr>
                                    </p:animEffect>
                                  </p:childTnLst>
                                </p:cTn>
                              </p:par>
                            </p:childTnLst>
                          </p:cTn>
                        </p:par>
                        <p:par>
                          <p:cTn id="57" fill="hold">
                            <p:stCondLst>
                              <p:cond delay="3000"/>
                            </p:stCondLst>
                            <p:childTnLst>
                              <p:par>
                                <p:cTn id="58" presetID="12" presetClass="entr" presetSubtype="8" fill="hold" nodeType="afterEffect">
                                  <p:stCondLst>
                                    <p:cond delay="0"/>
                                  </p:stCondLst>
                                  <p:childTnLst>
                                    <p:set>
                                      <p:cBhvr>
                                        <p:cTn id="59" dur="1" fill="hold">
                                          <p:stCondLst>
                                            <p:cond delay="0"/>
                                          </p:stCondLst>
                                        </p:cTn>
                                        <p:tgtEl>
                                          <p:spTgt spid="29"/>
                                        </p:tgtEl>
                                        <p:attrNameLst>
                                          <p:attrName>style.visibility</p:attrName>
                                        </p:attrNameLst>
                                      </p:cBhvr>
                                      <p:to>
                                        <p:strVal val="visible"/>
                                      </p:to>
                                    </p:set>
                                    <p:animEffect transition="in" filter="slide(fromLeft)">
                                      <p:cBhvr>
                                        <p:cTn id="60" dur="1000"/>
                                        <p:tgtEl>
                                          <p:spTgt spid="29"/>
                                        </p:tgtEl>
                                      </p:cBhvr>
                                    </p:animEffect>
                                  </p:childTnLst>
                                </p:cTn>
                              </p:par>
                            </p:childTnLst>
                          </p:cTn>
                        </p:par>
                        <p:par>
                          <p:cTn id="61" fill="hold">
                            <p:stCondLst>
                              <p:cond delay="4000"/>
                            </p:stCondLst>
                            <p:childTnLst>
                              <p:par>
                                <p:cTn id="62" presetID="12" presetClass="entr" presetSubtype="8" fill="hold" nodeType="afterEffect">
                                  <p:stCondLst>
                                    <p:cond delay="0"/>
                                  </p:stCondLst>
                                  <p:childTnLst>
                                    <p:set>
                                      <p:cBhvr>
                                        <p:cTn id="63" dur="1" fill="hold">
                                          <p:stCondLst>
                                            <p:cond delay="0"/>
                                          </p:stCondLst>
                                        </p:cTn>
                                        <p:tgtEl>
                                          <p:spTgt spid="35"/>
                                        </p:tgtEl>
                                        <p:attrNameLst>
                                          <p:attrName>style.visibility</p:attrName>
                                        </p:attrNameLst>
                                      </p:cBhvr>
                                      <p:to>
                                        <p:strVal val="visible"/>
                                      </p:to>
                                    </p:set>
                                    <p:animEffect transition="in" filter="slide(fromLeft)">
                                      <p:cBhvr>
                                        <p:cTn id="64" dur="1000"/>
                                        <p:tgtEl>
                                          <p:spTgt spid="35"/>
                                        </p:tgtEl>
                                      </p:cBhvr>
                                    </p:animEffect>
                                  </p:childTnLst>
                                </p:cTn>
                              </p:par>
                            </p:childTnLst>
                          </p:cTn>
                        </p:par>
                        <p:par>
                          <p:cTn id="65" fill="hold">
                            <p:stCondLst>
                              <p:cond delay="5000"/>
                            </p:stCondLst>
                            <p:childTnLst>
                              <p:par>
                                <p:cTn id="66" presetID="12" presetClass="entr" presetSubtype="8" fill="hold" grpId="0" nodeType="afterEffect">
                                  <p:stCondLst>
                                    <p:cond delay="0"/>
                                  </p:stCondLst>
                                  <p:childTnLst>
                                    <p:set>
                                      <p:cBhvr>
                                        <p:cTn id="67" dur="1" fill="hold">
                                          <p:stCondLst>
                                            <p:cond delay="0"/>
                                          </p:stCondLst>
                                        </p:cTn>
                                        <p:tgtEl>
                                          <p:spTgt spid="36"/>
                                        </p:tgtEl>
                                        <p:attrNameLst>
                                          <p:attrName>style.visibility</p:attrName>
                                        </p:attrNameLst>
                                      </p:cBhvr>
                                      <p:to>
                                        <p:strVal val="visible"/>
                                      </p:to>
                                    </p:set>
                                    <p:animEffect transition="in" filter="slide(fromLeft)">
                                      <p:cBhvr>
                                        <p:cTn id="68" dur="1000"/>
                                        <p:tgtEl>
                                          <p:spTgt spid="36"/>
                                        </p:tgtEl>
                                      </p:cBhvr>
                                    </p:animEffect>
                                  </p:childTnLst>
                                </p:cTn>
                              </p:par>
                            </p:childTnLst>
                          </p:cTn>
                        </p:par>
                      </p:childTnLst>
                    </p:cTn>
                  </p:par>
                  <p:par>
                    <p:cTn id="69" fill="hold">
                      <p:stCondLst>
                        <p:cond delay="indefinite"/>
                      </p:stCondLst>
                      <p:childTnLst>
                        <p:par>
                          <p:cTn id="70" fill="hold">
                            <p:stCondLst>
                              <p:cond delay="0"/>
                            </p:stCondLst>
                            <p:childTnLst>
                              <p:par>
                                <p:cTn id="71" presetID="12" presetClass="entr" presetSubtype="4" fill="hold" nodeType="clickEffect">
                                  <p:stCondLst>
                                    <p:cond delay="0"/>
                                  </p:stCondLst>
                                  <p:childTnLst>
                                    <p:set>
                                      <p:cBhvr>
                                        <p:cTn id="72" dur="1" fill="hold">
                                          <p:stCondLst>
                                            <p:cond delay="0"/>
                                          </p:stCondLst>
                                        </p:cTn>
                                        <p:tgtEl>
                                          <p:spTgt spid="37"/>
                                        </p:tgtEl>
                                        <p:attrNameLst>
                                          <p:attrName>style.visibility</p:attrName>
                                        </p:attrNameLst>
                                      </p:cBhvr>
                                      <p:to>
                                        <p:strVal val="visible"/>
                                      </p:to>
                                    </p:set>
                                    <p:animEffect transition="in" filter="slide(fromBottom)">
                                      <p:cBhvr>
                                        <p:cTn id="73" dur="1000"/>
                                        <p:tgtEl>
                                          <p:spTgt spid="37"/>
                                        </p:tgtEl>
                                      </p:cBhvr>
                                    </p:animEffect>
                                  </p:childTnLst>
                                </p:cTn>
                              </p:par>
                            </p:childTnLst>
                          </p:cTn>
                        </p:par>
                        <p:par>
                          <p:cTn id="74" fill="hold">
                            <p:stCondLst>
                              <p:cond delay="1000"/>
                            </p:stCondLst>
                            <p:childTnLst>
                              <p:par>
                                <p:cTn id="75" presetID="42" presetClass="entr" presetSubtype="0" fill="hold" nodeType="afterEffect">
                                  <p:stCondLst>
                                    <p:cond delay="0"/>
                                  </p:stCondLst>
                                  <p:childTnLst>
                                    <p:set>
                                      <p:cBhvr>
                                        <p:cTn id="76" dur="1" fill="hold">
                                          <p:stCondLst>
                                            <p:cond delay="0"/>
                                          </p:stCondLst>
                                        </p:cTn>
                                        <p:tgtEl>
                                          <p:spTgt spid="22"/>
                                        </p:tgtEl>
                                        <p:attrNameLst>
                                          <p:attrName>style.visibility</p:attrName>
                                        </p:attrNameLst>
                                      </p:cBhvr>
                                      <p:to>
                                        <p:strVal val="visible"/>
                                      </p:to>
                                    </p:set>
                                    <p:animEffect transition="in" filter="fade">
                                      <p:cBhvr>
                                        <p:cTn id="77" dur="1000"/>
                                        <p:tgtEl>
                                          <p:spTgt spid="22"/>
                                        </p:tgtEl>
                                      </p:cBhvr>
                                    </p:animEffect>
                                    <p:anim calcmode="lin" valueType="num">
                                      <p:cBhvr>
                                        <p:cTn id="78" dur="1000" fill="hold"/>
                                        <p:tgtEl>
                                          <p:spTgt spid="22"/>
                                        </p:tgtEl>
                                        <p:attrNameLst>
                                          <p:attrName>ppt_x</p:attrName>
                                        </p:attrNameLst>
                                      </p:cBhvr>
                                      <p:tavLst>
                                        <p:tav tm="0">
                                          <p:val>
                                            <p:strVal val="#ppt_x"/>
                                          </p:val>
                                        </p:tav>
                                        <p:tav tm="100000">
                                          <p:val>
                                            <p:strVal val="#ppt_x"/>
                                          </p:val>
                                        </p:tav>
                                      </p:tavLst>
                                    </p:anim>
                                    <p:anim calcmode="lin" valueType="num">
                                      <p:cBhvr>
                                        <p:cTn id="7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0" grpId="0" animBg="1"/>
      <p:bldP spid="10" grpId="1" animBg="1"/>
      <p:bldP spid="19" grpId="0" animBg="1"/>
      <p:bldP spid="19" grpId="1" animBg="1"/>
      <p:bldP spid="24" grpId="0" animBg="1"/>
      <p:bldP spid="3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组合 22"/>
          <p:cNvGrpSpPr/>
          <p:nvPr/>
        </p:nvGrpSpPr>
        <p:grpSpPr>
          <a:xfrm>
            <a:off x="4629150" y="839000"/>
            <a:ext cx="4373880" cy="2011680"/>
            <a:chOff x="845820" y="1303020"/>
            <a:chExt cx="4373880" cy="2011680"/>
          </a:xfrm>
        </p:grpSpPr>
        <p:grpSp>
          <p:nvGrpSpPr>
            <p:cNvPr id="16" name="组合 15"/>
            <p:cNvGrpSpPr/>
            <p:nvPr/>
          </p:nvGrpSpPr>
          <p:grpSpPr>
            <a:xfrm>
              <a:off x="845820" y="1303020"/>
              <a:ext cx="4373880" cy="2011680"/>
              <a:chOff x="845820" y="1303020"/>
              <a:chExt cx="4373880" cy="2011680"/>
            </a:xfrm>
          </p:grpSpPr>
          <p:grpSp>
            <p:nvGrpSpPr>
              <p:cNvPr id="10" name="组合 14"/>
              <p:cNvGrpSpPr/>
              <p:nvPr/>
            </p:nvGrpSpPr>
            <p:grpSpPr>
              <a:xfrm>
                <a:off x="845820" y="1303020"/>
                <a:ext cx="4373880" cy="2011680"/>
                <a:chOff x="548640" y="1981200"/>
                <a:chExt cx="5553409" cy="2468880"/>
              </a:xfrm>
            </p:grpSpPr>
            <p:graphicFrame>
              <p:nvGraphicFramePr>
                <p:cNvPr id="12" name="Object 77"/>
                <p:cNvGraphicFramePr>
                  <a:graphicFrameLocks noChangeAspect="1"/>
                </p:cNvGraphicFramePr>
                <p:nvPr/>
              </p:nvGraphicFramePr>
              <p:xfrm>
                <a:off x="822325" y="2032318"/>
                <a:ext cx="2579688" cy="2417762"/>
              </p:xfrm>
              <a:graphic>
                <a:graphicData uri="http://schemas.openxmlformats.org/presentationml/2006/ole">
                  <mc:AlternateContent xmlns:mc="http://schemas.openxmlformats.org/markup-compatibility/2006">
                    <mc:Choice xmlns:v="urn:schemas-microsoft-com:vml" Requires="v">
                      <p:oleObj spid="_x0000_s83970" name="Visio" r:id="rId3" imgW="1356539" imgH="1398243" progId="">
                        <p:embed/>
                      </p:oleObj>
                    </mc:Choice>
                    <mc:Fallback>
                      <p:oleObj name="Visio" r:id="rId3" imgW="1356539" imgH="1398243" progId="">
                        <p:embed/>
                        <p:pic>
                          <p:nvPicPr>
                            <p:cNvPr id="12" name="Object 7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2325" y="2032318"/>
                              <a:ext cx="2579688" cy="2417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圆角矩形 12"/>
                <p:cNvSpPr/>
                <p:nvPr/>
              </p:nvSpPr>
              <p:spPr>
                <a:xfrm>
                  <a:off x="548640" y="1981200"/>
                  <a:ext cx="5553409" cy="2461260"/>
                </a:xfrm>
                <a:prstGeom prst="roundRect">
                  <a:avLst>
                    <a:gd name="adj" fmla="val 6694"/>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TextBox 13"/>
              <p:cNvSpPr txBox="1"/>
              <p:nvPr/>
            </p:nvSpPr>
            <p:spPr>
              <a:xfrm>
                <a:off x="929640" y="2026920"/>
                <a:ext cx="514564" cy="276999"/>
              </a:xfrm>
              <a:prstGeom prst="rect">
                <a:avLst/>
              </a:prstGeom>
              <a:noFill/>
            </p:spPr>
            <p:txBody>
              <a:bodyPr wrap="none" lIns="0" tIns="0" rIns="0" bIns="0" rtlCol="0">
                <a:spAutoFit/>
              </a:bodyPr>
              <a:lstStyle/>
              <a:p>
                <a:r>
                  <a:rPr lang="el-GR" altLang="zh-CN" i="1" dirty="0">
                    <a:solidFill>
                      <a:srgbClr val="262626"/>
                    </a:solidFill>
                    <a:latin typeface="Times New Roman" pitchFamily="18" charset="0"/>
                    <a:ea typeface="黑体" pitchFamily="49" charset="-122"/>
                    <a:cs typeface="Times New Roman" pitchFamily="18" charset="0"/>
                  </a:rPr>
                  <a:t>υ</a:t>
                </a:r>
                <a:r>
                  <a:rPr lang="en-US" altLang="zh-CN" baseline="-25000" dirty="0">
                    <a:solidFill>
                      <a:srgbClr val="262626"/>
                    </a:solidFill>
                    <a:latin typeface="Times New Roman" pitchFamily="18" charset="0"/>
                    <a:ea typeface="黑体" pitchFamily="49" charset="-122"/>
                    <a:cs typeface="Times New Roman" pitchFamily="18" charset="0"/>
                  </a:rPr>
                  <a:t>I </a:t>
                </a:r>
                <a:r>
                  <a:rPr lang="en-US" altLang="zh-CN" dirty="0">
                    <a:solidFill>
                      <a:srgbClr val="262626"/>
                    </a:solidFill>
                    <a:latin typeface="Times New Roman" pitchFamily="18" charset="0"/>
                    <a:cs typeface="Times New Roman" pitchFamily="18" charset="0"/>
                  </a:rPr>
                  <a:t>/</a:t>
                </a:r>
                <a:r>
                  <a:rPr lang="el-GR" altLang="zh-CN" i="1" dirty="0">
                    <a:solidFill>
                      <a:srgbClr val="262626"/>
                    </a:solidFill>
                    <a:latin typeface="Times New Roman" pitchFamily="18" charset="0"/>
                    <a:ea typeface="黑体" pitchFamily="49" charset="-122"/>
                    <a:cs typeface="Times New Roman" pitchFamily="18" charset="0"/>
                  </a:rPr>
                  <a:t>υ</a:t>
                </a:r>
                <a:r>
                  <a:rPr lang="en-US" altLang="zh-CN" baseline="-25000" dirty="0">
                    <a:solidFill>
                      <a:srgbClr val="262626"/>
                    </a:solidFill>
                    <a:latin typeface="Times New Roman" pitchFamily="18" charset="0"/>
                    <a:ea typeface="黑体" pitchFamily="49" charset="-122"/>
                    <a:cs typeface="Times New Roman" pitchFamily="18" charset="0"/>
                  </a:rPr>
                  <a:t>O </a:t>
                </a:r>
                <a:endParaRPr lang="zh-CN" altLang="en-US" dirty="0">
                  <a:solidFill>
                    <a:srgbClr val="262626"/>
                  </a:solidFill>
                  <a:latin typeface="Times New Roman" pitchFamily="18" charset="0"/>
                  <a:cs typeface="Times New Roman" pitchFamily="18" charset="0"/>
                </a:endParaRPr>
              </a:p>
            </p:txBody>
          </p:sp>
          <p:sp>
            <p:nvSpPr>
              <p:cNvPr id="15" name="TextBox 14"/>
              <p:cNvSpPr txBox="1"/>
              <p:nvPr/>
            </p:nvSpPr>
            <p:spPr>
              <a:xfrm>
                <a:off x="2659380" y="2026920"/>
                <a:ext cx="476092" cy="276999"/>
              </a:xfrm>
              <a:prstGeom prst="rect">
                <a:avLst/>
              </a:prstGeom>
              <a:noFill/>
            </p:spPr>
            <p:txBody>
              <a:bodyPr wrap="none" lIns="0" tIns="0" rIns="0" bIns="0" rtlCol="0">
                <a:spAutoFit/>
              </a:bodyPr>
              <a:lstStyle/>
              <a:p>
                <a:r>
                  <a:rPr lang="el-GR" altLang="zh-CN" i="1" dirty="0">
                    <a:solidFill>
                      <a:srgbClr val="262626"/>
                    </a:solidFill>
                    <a:latin typeface="Times New Roman" pitchFamily="18" charset="0"/>
                    <a:ea typeface="黑体" pitchFamily="49" charset="-122"/>
                    <a:cs typeface="Times New Roman" pitchFamily="18" charset="0"/>
                  </a:rPr>
                  <a:t>υ</a:t>
                </a:r>
                <a:r>
                  <a:rPr lang="en-US" altLang="zh-CN" baseline="-25000" dirty="0">
                    <a:solidFill>
                      <a:srgbClr val="262626"/>
                    </a:solidFill>
                    <a:latin typeface="Times New Roman" pitchFamily="18" charset="0"/>
                    <a:ea typeface="黑体" pitchFamily="49" charset="-122"/>
                    <a:cs typeface="Times New Roman" pitchFamily="18" charset="0"/>
                  </a:rPr>
                  <a:t>O </a:t>
                </a:r>
                <a:r>
                  <a:rPr lang="en-US" altLang="zh-CN" dirty="0">
                    <a:solidFill>
                      <a:srgbClr val="262626"/>
                    </a:solidFill>
                    <a:latin typeface="Times New Roman" pitchFamily="18" charset="0"/>
                    <a:cs typeface="Times New Roman" pitchFamily="18" charset="0"/>
                  </a:rPr>
                  <a:t>/</a:t>
                </a:r>
                <a:r>
                  <a:rPr lang="el-GR" altLang="zh-CN" i="1" dirty="0">
                    <a:solidFill>
                      <a:srgbClr val="262626"/>
                    </a:solidFill>
                    <a:latin typeface="Times New Roman" pitchFamily="18" charset="0"/>
                    <a:ea typeface="黑体" pitchFamily="49" charset="-122"/>
                    <a:cs typeface="Times New Roman" pitchFamily="18" charset="0"/>
                  </a:rPr>
                  <a:t>υ</a:t>
                </a:r>
                <a:r>
                  <a:rPr lang="en-US" altLang="zh-CN" baseline="-25000" dirty="0">
                    <a:solidFill>
                      <a:srgbClr val="262626"/>
                    </a:solidFill>
                    <a:latin typeface="Times New Roman" pitchFamily="18" charset="0"/>
                    <a:ea typeface="黑体" pitchFamily="49" charset="-122"/>
                    <a:cs typeface="Times New Roman" pitchFamily="18" charset="0"/>
                  </a:rPr>
                  <a:t>I</a:t>
                </a:r>
                <a:endParaRPr lang="zh-CN" altLang="en-US" dirty="0">
                  <a:solidFill>
                    <a:srgbClr val="262626"/>
                  </a:solidFill>
                  <a:latin typeface="Times New Roman" pitchFamily="18" charset="0"/>
                  <a:cs typeface="Times New Roman" pitchFamily="18" charset="0"/>
                </a:endParaRPr>
              </a:p>
            </p:txBody>
          </p:sp>
        </p:grpSp>
        <p:grpSp>
          <p:nvGrpSpPr>
            <p:cNvPr id="22" name="组合 21"/>
            <p:cNvGrpSpPr/>
            <p:nvPr/>
          </p:nvGrpSpPr>
          <p:grpSpPr>
            <a:xfrm>
              <a:off x="3375660" y="1504050"/>
              <a:ext cx="1687672" cy="1578875"/>
              <a:chOff x="3771900" y="1465950"/>
              <a:chExt cx="1687672" cy="1578875"/>
            </a:xfrm>
          </p:grpSpPr>
          <p:pic>
            <p:nvPicPr>
              <p:cNvPr id="75781" name="Picture 5"/>
              <p:cNvPicPr>
                <a:picLocks noChangeAspect="1" noChangeArrowheads="1"/>
              </p:cNvPicPr>
              <p:nvPr/>
            </p:nvPicPr>
            <p:blipFill>
              <a:blip r:embed="rId5" cstate="print"/>
              <a:srcRect/>
              <a:stretch>
                <a:fillRect/>
              </a:stretch>
            </p:blipFill>
            <p:spPr bwMode="auto">
              <a:xfrm>
                <a:off x="3902394" y="1607819"/>
                <a:ext cx="1486472" cy="1327785"/>
              </a:xfrm>
              <a:prstGeom prst="rect">
                <a:avLst/>
              </a:prstGeom>
              <a:noFill/>
              <a:ln w="9525">
                <a:noFill/>
                <a:miter lim="800000"/>
                <a:headEnd/>
                <a:tailEnd/>
              </a:ln>
              <a:effectLst/>
            </p:spPr>
          </p:pic>
          <p:sp>
            <p:nvSpPr>
              <p:cNvPr id="18" name="TextBox 17"/>
              <p:cNvSpPr txBox="1"/>
              <p:nvPr/>
            </p:nvSpPr>
            <p:spPr>
              <a:xfrm>
                <a:off x="3771900" y="1965960"/>
                <a:ext cx="514564" cy="276999"/>
              </a:xfrm>
              <a:prstGeom prst="rect">
                <a:avLst/>
              </a:prstGeom>
              <a:noFill/>
            </p:spPr>
            <p:txBody>
              <a:bodyPr wrap="none" lIns="0" tIns="0" rIns="0" bIns="0" rtlCol="0">
                <a:spAutoFit/>
              </a:bodyPr>
              <a:lstStyle/>
              <a:p>
                <a:r>
                  <a:rPr lang="el-GR" altLang="zh-CN" i="1" dirty="0">
                    <a:solidFill>
                      <a:srgbClr val="262626"/>
                    </a:solidFill>
                    <a:latin typeface="Times New Roman" pitchFamily="18" charset="0"/>
                    <a:ea typeface="黑体" pitchFamily="49" charset="-122"/>
                    <a:cs typeface="Times New Roman" pitchFamily="18" charset="0"/>
                  </a:rPr>
                  <a:t>υ</a:t>
                </a:r>
                <a:r>
                  <a:rPr lang="en-US" altLang="zh-CN" baseline="-25000" dirty="0">
                    <a:solidFill>
                      <a:srgbClr val="262626"/>
                    </a:solidFill>
                    <a:latin typeface="Times New Roman" pitchFamily="18" charset="0"/>
                    <a:ea typeface="黑体" pitchFamily="49" charset="-122"/>
                    <a:cs typeface="Times New Roman" pitchFamily="18" charset="0"/>
                  </a:rPr>
                  <a:t>I </a:t>
                </a:r>
                <a:r>
                  <a:rPr lang="en-US" altLang="zh-CN" dirty="0">
                    <a:solidFill>
                      <a:srgbClr val="262626"/>
                    </a:solidFill>
                    <a:latin typeface="Times New Roman" pitchFamily="18" charset="0"/>
                    <a:cs typeface="Times New Roman" pitchFamily="18" charset="0"/>
                  </a:rPr>
                  <a:t>/</a:t>
                </a:r>
                <a:r>
                  <a:rPr lang="el-GR" altLang="zh-CN" i="1" dirty="0">
                    <a:solidFill>
                      <a:srgbClr val="262626"/>
                    </a:solidFill>
                    <a:latin typeface="Times New Roman" pitchFamily="18" charset="0"/>
                    <a:ea typeface="黑体" pitchFamily="49" charset="-122"/>
                    <a:cs typeface="Times New Roman" pitchFamily="18" charset="0"/>
                  </a:rPr>
                  <a:t>υ</a:t>
                </a:r>
                <a:r>
                  <a:rPr lang="en-US" altLang="zh-CN" baseline="-25000" dirty="0">
                    <a:solidFill>
                      <a:srgbClr val="262626"/>
                    </a:solidFill>
                    <a:latin typeface="Times New Roman" pitchFamily="18" charset="0"/>
                    <a:ea typeface="黑体" pitchFamily="49" charset="-122"/>
                    <a:cs typeface="Times New Roman" pitchFamily="18" charset="0"/>
                  </a:rPr>
                  <a:t>O </a:t>
                </a:r>
                <a:endParaRPr lang="zh-CN" altLang="en-US" dirty="0">
                  <a:solidFill>
                    <a:srgbClr val="262626"/>
                  </a:solidFill>
                  <a:latin typeface="Times New Roman" pitchFamily="18" charset="0"/>
                  <a:cs typeface="Times New Roman" pitchFamily="18" charset="0"/>
                </a:endParaRPr>
              </a:p>
            </p:txBody>
          </p:sp>
          <p:sp>
            <p:nvSpPr>
              <p:cNvPr id="19" name="TextBox 18"/>
              <p:cNvSpPr txBox="1"/>
              <p:nvPr/>
            </p:nvSpPr>
            <p:spPr>
              <a:xfrm>
                <a:off x="4983480" y="1965960"/>
                <a:ext cx="476092" cy="276999"/>
              </a:xfrm>
              <a:prstGeom prst="rect">
                <a:avLst/>
              </a:prstGeom>
              <a:noFill/>
            </p:spPr>
            <p:txBody>
              <a:bodyPr wrap="none" lIns="0" tIns="0" rIns="0" bIns="0" rtlCol="0">
                <a:spAutoFit/>
              </a:bodyPr>
              <a:lstStyle/>
              <a:p>
                <a:r>
                  <a:rPr lang="el-GR" altLang="zh-CN" i="1" dirty="0">
                    <a:solidFill>
                      <a:srgbClr val="262626"/>
                    </a:solidFill>
                    <a:latin typeface="Times New Roman" pitchFamily="18" charset="0"/>
                    <a:ea typeface="黑体" pitchFamily="49" charset="-122"/>
                    <a:cs typeface="Times New Roman" pitchFamily="18" charset="0"/>
                  </a:rPr>
                  <a:t>υ</a:t>
                </a:r>
                <a:r>
                  <a:rPr lang="en-US" altLang="zh-CN" baseline="-25000" dirty="0">
                    <a:solidFill>
                      <a:srgbClr val="262626"/>
                    </a:solidFill>
                    <a:latin typeface="Times New Roman" pitchFamily="18" charset="0"/>
                    <a:ea typeface="黑体" pitchFamily="49" charset="-122"/>
                    <a:cs typeface="Times New Roman" pitchFamily="18" charset="0"/>
                  </a:rPr>
                  <a:t>O </a:t>
                </a:r>
                <a:r>
                  <a:rPr lang="en-US" altLang="zh-CN" dirty="0">
                    <a:solidFill>
                      <a:srgbClr val="262626"/>
                    </a:solidFill>
                    <a:latin typeface="Times New Roman" pitchFamily="18" charset="0"/>
                    <a:cs typeface="Times New Roman" pitchFamily="18" charset="0"/>
                  </a:rPr>
                  <a:t>/</a:t>
                </a:r>
                <a:r>
                  <a:rPr lang="el-GR" altLang="zh-CN" i="1" dirty="0">
                    <a:solidFill>
                      <a:srgbClr val="262626"/>
                    </a:solidFill>
                    <a:latin typeface="Times New Roman" pitchFamily="18" charset="0"/>
                    <a:ea typeface="黑体" pitchFamily="49" charset="-122"/>
                    <a:cs typeface="Times New Roman" pitchFamily="18" charset="0"/>
                  </a:rPr>
                  <a:t>υ</a:t>
                </a:r>
                <a:r>
                  <a:rPr lang="en-US" altLang="zh-CN" baseline="-25000" dirty="0">
                    <a:solidFill>
                      <a:srgbClr val="262626"/>
                    </a:solidFill>
                    <a:latin typeface="Times New Roman" pitchFamily="18" charset="0"/>
                    <a:ea typeface="黑体" pitchFamily="49" charset="-122"/>
                    <a:cs typeface="Times New Roman" pitchFamily="18" charset="0"/>
                  </a:rPr>
                  <a:t>I</a:t>
                </a:r>
                <a:endParaRPr lang="zh-CN" altLang="en-US" dirty="0">
                  <a:solidFill>
                    <a:srgbClr val="262626"/>
                  </a:solidFill>
                  <a:latin typeface="Times New Roman" pitchFamily="18" charset="0"/>
                  <a:cs typeface="Times New Roman" pitchFamily="18" charset="0"/>
                </a:endParaRPr>
              </a:p>
            </p:txBody>
          </p:sp>
          <p:graphicFrame>
            <p:nvGraphicFramePr>
              <p:cNvPr id="75782" name="Object 6"/>
              <p:cNvGraphicFramePr>
                <a:graphicFrameLocks noChangeAspect="1"/>
              </p:cNvGraphicFramePr>
              <p:nvPr/>
            </p:nvGraphicFramePr>
            <p:xfrm>
              <a:off x="4551045" y="1465950"/>
              <a:ext cx="173355" cy="212673"/>
            </p:xfrm>
            <a:graphic>
              <a:graphicData uri="http://schemas.openxmlformats.org/presentationml/2006/ole">
                <mc:AlternateContent xmlns:mc="http://schemas.openxmlformats.org/markup-compatibility/2006">
                  <mc:Choice xmlns:v="urn:schemas-microsoft-com:vml" Requires="v">
                    <p:oleObj spid="_x0000_s83971" name="公式" r:id="rId6" imgW="164957" imgH="203024" progId="">
                      <p:embed/>
                    </p:oleObj>
                  </mc:Choice>
                  <mc:Fallback>
                    <p:oleObj name="公式" r:id="rId6" imgW="164957" imgH="203024" progId="">
                      <p:embed/>
                      <p:pic>
                        <p:nvPicPr>
                          <p:cNvPr id="75782"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51045" y="1465950"/>
                            <a:ext cx="173355" cy="212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5783" name="Object 7"/>
              <p:cNvGraphicFramePr>
                <a:graphicFrameLocks noChangeAspect="1"/>
              </p:cNvGraphicFramePr>
              <p:nvPr/>
            </p:nvGraphicFramePr>
            <p:xfrm>
              <a:off x="4560888" y="2859088"/>
              <a:ext cx="160337" cy="185737"/>
            </p:xfrm>
            <a:graphic>
              <a:graphicData uri="http://schemas.openxmlformats.org/presentationml/2006/ole">
                <mc:AlternateContent xmlns:mc="http://schemas.openxmlformats.org/markup-compatibility/2006">
                  <mc:Choice xmlns:v="urn:schemas-microsoft-com:vml" Requires="v">
                    <p:oleObj spid="_x0000_s83972" name="公式" r:id="rId8" imgW="152202" imgH="177569" progId="">
                      <p:embed/>
                    </p:oleObj>
                  </mc:Choice>
                  <mc:Fallback>
                    <p:oleObj name="公式" r:id="rId8" imgW="152202" imgH="177569" progId="">
                      <p:embed/>
                      <p:pic>
                        <p:nvPicPr>
                          <p:cNvPr id="75783"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60888" y="2859088"/>
                            <a:ext cx="160337" cy="185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pSp>
        <p:nvGrpSpPr>
          <p:cNvPr id="26" name="组合 25"/>
          <p:cNvGrpSpPr/>
          <p:nvPr/>
        </p:nvGrpSpPr>
        <p:grpSpPr>
          <a:xfrm>
            <a:off x="804940" y="1736191"/>
            <a:ext cx="2889250" cy="1327150"/>
            <a:chOff x="533400" y="1276350"/>
            <a:chExt cx="2889250" cy="1327150"/>
          </a:xfrm>
        </p:grpSpPr>
        <p:sp>
          <p:nvSpPr>
            <p:cNvPr id="24" name="圆角矩形 23"/>
            <p:cNvSpPr/>
            <p:nvPr/>
          </p:nvSpPr>
          <p:spPr>
            <a:xfrm>
              <a:off x="533400" y="1447800"/>
              <a:ext cx="2889250" cy="1155700"/>
            </a:xfrm>
            <a:prstGeom prst="roundRect">
              <a:avLst>
                <a:gd name="adj" fmla="val 9566"/>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0" rtlCol="0" anchor="b"/>
            <a:lstStyle/>
            <a:p>
              <a:pPr>
                <a:lnSpc>
                  <a:spcPct val="130000"/>
                </a:lnSpc>
                <a:buFont typeface="Wingdings" pitchFamily="2" charset="2"/>
                <a:buChar char="Ø"/>
              </a:pPr>
              <a:r>
                <a:rPr lang="en-US" altLang="zh-CN" sz="1600" i="1" dirty="0">
                  <a:solidFill>
                    <a:schemeClr val="tx1"/>
                  </a:solidFill>
                  <a:latin typeface="方正粗黑宋简体" pitchFamily="2" charset="-122"/>
                  <a:ea typeface="方正粗黑宋简体" pitchFamily="2" charset="-122"/>
                  <a:cs typeface="Times New Roman" pitchFamily="18" charset="0"/>
                </a:rPr>
                <a:t> V</a:t>
              </a:r>
              <a:r>
                <a:rPr lang="en-US" altLang="zh-CN" sz="1600" baseline="-25000" dirty="0">
                  <a:solidFill>
                    <a:schemeClr val="tx1"/>
                  </a:solidFill>
                  <a:latin typeface="方正粗黑宋简体" pitchFamily="2" charset="-122"/>
                  <a:ea typeface="方正粗黑宋简体" pitchFamily="2" charset="-122"/>
                  <a:cs typeface="Times New Roman" pitchFamily="18" charset="0"/>
                </a:rPr>
                <a:t>TP</a:t>
              </a:r>
              <a:r>
                <a:rPr lang="en-US" altLang="zh-CN" sz="1600" dirty="0">
                  <a:solidFill>
                    <a:schemeClr val="tx1"/>
                  </a:solidFill>
                  <a:latin typeface="方正粗黑宋简体" pitchFamily="2" charset="-122"/>
                  <a:ea typeface="方正粗黑宋简体" pitchFamily="2" charset="-122"/>
                  <a:cs typeface="Times New Roman" pitchFamily="18" charset="0"/>
                </a:rPr>
                <a:t>=-2V</a:t>
              </a:r>
              <a:r>
                <a:rPr lang="zh-CN" altLang="en-US" sz="1600" dirty="0">
                  <a:solidFill>
                    <a:schemeClr val="tx1"/>
                  </a:solidFill>
                  <a:latin typeface="方正粗黑宋简体" pitchFamily="2" charset="-122"/>
                  <a:ea typeface="方正粗黑宋简体" pitchFamily="2" charset="-122"/>
                  <a:cs typeface="Times New Roman" pitchFamily="18" charset="0"/>
                </a:rPr>
                <a:t>；</a:t>
              </a:r>
              <a:r>
                <a:rPr lang="en-US" altLang="zh-CN" sz="1600" i="1" dirty="0">
                  <a:solidFill>
                    <a:schemeClr val="tx1"/>
                  </a:solidFill>
                  <a:latin typeface="方正粗黑宋简体" pitchFamily="2" charset="-122"/>
                  <a:ea typeface="方正粗黑宋简体" pitchFamily="2" charset="-122"/>
                  <a:cs typeface="Times New Roman" pitchFamily="18" charset="0"/>
                </a:rPr>
                <a:t>V</a:t>
              </a:r>
              <a:r>
                <a:rPr lang="en-US" altLang="zh-CN" sz="1600" baseline="-25000" dirty="0">
                  <a:solidFill>
                    <a:schemeClr val="tx1"/>
                  </a:solidFill>
                  <a:latin typeface="方正粗黑宋简体" pitchFamily="2" charset="-122"/>
                  <a:ea typeface="方正粗黑宋简体" pitchFamily="2" charset="-122"/>
                  <a:cs typeface="Times New Roman" pitchFamily="18" charset="0"/>
                </a:rPr>
                <a:t>TN</a:t>
              </a:r>
              <a:r>
                <a:rPr lang="en-US" altLang="zh-CN" sz="1600" dirty="0">
                  <a:solidFill>
                    <a:schemeClr val="tx1"/>
                  </a:solidFill>
                  <a:latin typeface="方正粗黑宋简体" pitchFamily="2" charset="-122"/>
                  <a:ea typeface="方正粗黑宋简体" pitchFamily="2" charset="-122"/>
                  <a:cs typeface="Times New Roman" pitchFamily="18" charset="0"/>
                </a:rPr>
                <a:t>=2V</a:t>
              </a:r>
              <a:r>
                <a:rPr lang="zh-CN" altLang="en-US" sz="1600" dirty="0">
                  <a:solidFill>
                    <a:schemeClr val="tx1"/>
                  </a:solidFill>
                  <a:latin typeface="方正粗黑宋简体" pitchFamily="2" charset="-122"/>
                  <a:ea typeface="方正粗黑宋简体" pitchFamily="2" charset="-122"/>
                  <a:cs typeface="Times New Roman" pitchFamily="18" charset="0"/>
                </a:rPr>
                <a:t>。</a:t>
              </a:r>
              <a:endParaRPr lang="en-US" altLang="zh-CN" sz="1600" dirty="0">
                <a:solidFill>
                  <a:schemeClr val="tx1"/>
                </a:solidFill>
                <a:latin typeface="方正粗黑宋简体" pitchFamily="2" charset="-122"/>
                <a:ea typeface="方正粗黑宋简体" pitchFamily="2" charset="-122"/>
                <a:cs typeface="Times New Roman" pitchFamily="18" charset="0"/>
              </a:endParaRPr>
            </a:p>
            <a:p>
              <a:pPr>
                <a:lnSpc>
                  <a:spcPct val="130000"/>
                </a:lnSpc>
                <a:buFont typeface="Wingdings" pitchFamily="2" charset="2"/>
                <a:buChar char="Ø"/>
              </a:pPr>
              <a:r>
                <a:rPr lang="en-US" altLang="zh-CN" sz="1600" i="1" dirty="0">
                  <a:solidFill>
                    <a:schemeClr val="tx1"/>
                  </a:solidFill>
                  <a:latin typeface="方正粗黑宋简体" pitchFamily="2" charset="-122"/>
                  <a:ea typeface="方正粗黑宋简体" pitchFamily="2" charset="-122"/>
                  <a:cs typeface="Times New Roman" pitchFamily="18" charset="0"/>
                  <a:sym typeface="Symbol" pitchFamily="18" charset="2"/>
                </a:rPr>
                <a:t> </a:t>
              </a:r>
              <a:r>
                <a:rPr lang="en-US" altLang="zh-CN" sz="1600" baseline="-25000" dirty="0">
                  <a:solidFill>
                    <a:schemeClr val="tx1"/>
                  </a:solidFill>
                  <a:latin typeface="方正粗黑宋简体" pitchFamily="2" charset="-122"/>
                  <a:ea typeface="方正粗黑宋简体" pitchFamily="2" charset="-122"/>
                  <a:cs typeface="Times New Roman" pitchFamily="18" charset="0"/>
                  <a:sym typeface="Symbol" pitchFamily="18" charset="2"/>
                </a:rPr>
                <a:t>I</a:t>
              </a:r>
              <a:r>
                <a:rPr lang="zh-CN" altLang="en-US" sz="1600" dirty="0">
                  <a:solidFill>
                    <a:schemeClr val="tx1"/>
                  </a:solidFill>
                  <a:latin typeface="方正粗黑宋简体" pitchFamily="2" charset="-122"/>
                  <a:ea typeface="方正粗黑宋简体" pitchFamily="2" charset="-122"/>
                  <a:cs typeface="Times New Roman" pitchFamily="18" charset="0"/>
                </a:rPr>
                <a:t>的变化范围为</a:t>
              </a:r>
              <a:r>
                <a:rPr lang="en-US" altLang="zh-CN" sz="1600" dirty="0">
                  <a:solidFill>
                    <a:schemeClr val="tx1"/>
                  </a:solidFill>
                  <a:latin typeface="方正粗黑宋简体" pitchFamily="2" charset="-122"/>
                  <a:ea typeface="方正粗黑宋简体" pitchFamily="2" charset="-122"/>
                  <a:cs typeface="Times New Roman" pitchFamily="18" charset="0"/>
                </a:rPr>
                <a:t>0V~5V</a:t>
              </a:r>
              <a:r>
                <a:rPr lang="zh-CN" altLang="en-US" sz="1600" dirty="0">
                  <a:solidFill>
                    <a:schemeClr val="tx1"/>
                  </a:solidFill>
                  <a:latin typeface="方正粗黑宋简体" pitchFamily="2" charset="-122"/>
                  <a:ea typeface="方正粗黑宋简体" pitchFamily="2" charset="-122"/>
                  <a:cs typeface="Times New Roman" pitchFamily="18" charset="0"/>
                </a:rPr>
                <a:t>。</a:t>
              </a:r>
              <a:endParaRPr lang="en-US" altLang="zh-CN" sz="1600" dirty="0">
                <a:solidFill>
                  <a:schemeClr val="tx1"/>
                </a:solidFill>
                <a:latin typeface="方正粗黑宋简体" pitchFamily="2" charset="-122"/>
                <a:ea typeface="方正粗黑宋简体" pitchFamily="2" charset="-122"/>
                <a:cs typeface="Times New Roman" pitchFamily="18" charset="0"/>
              </a:endParaRPr>
            </a:p>
            <a:p>
              <a:pPr>
                <a:lnSpc>
                  <a:spcPct val="130000"/>
                </a:lnSpc>
                <a:buFont typeface="Wingdings" pitchFamily="2" charset="2"/>
                <a:buChar char="Ø"/>
              </a:pPr>
              <a:r>
                <a:rPr lang="en-US" altLang="zh-CN" sz="1600" dirty="0">
                  <a:solidFill>
                    <a:schemeClr val="tx1"/>
                  </a:solidFill>
                  <a:latin typeface="方正粗黑宋简体" pitchFamily="2" charset="-122"/>
                  <a:ea typeface="方正粗黑宋简体" pitchFamily="2" charset="-122"/>
                  <a:cs typeface="Times New Roman" pitchFamily="18" charset="0"/>
                </a:rPr>
                <a:t> 0</a:t>
              </a:r>
              <a:r>
                <a:rPr lang="zh-CN" altLang="en-US" sz="1600" dirty="0">
                  <a:solidFill>
                    <a:schemeClr val="tx1"/>
                  </a:solidFill>
                  <a:latin typeface="方正粗黑宋简体" pitchFamily="2" charset="-122"/>
                  <a:ea typeface="方正粗黑宋简体" pitchFamily="2" charset="-122"/>
                  <a:cs typeface="Times New Roman" pitchFamily="18" charset="0"/>
                </a:rPr>
                <a:t>（</a:t>
              </a:r>
              <a:r>
                <a:rPr lang="en-US" altLang="zh-CN" sz="1600" dirty="0">
                  <a:solidFill>
                    <a:schemeClr val="tx1"/>
                  </a:solidFill>
                  <a:latin typeface="方正粗黑宋简体" pitchFamily="2" charset="-122"/>
                  <a:ea typeface="方正粗黑宋简体" pitchFamily="2" charset="-122"/>
                  <a:cs typeface="Times New Roman" pitchFamily="18" charset="0"/>
                </a:rPr>
                <a:t>0V</a:t>
              </a:r>
              <a:r>
                <a:rPr lang="zh-CN" altLang="en-US" sz="1600" dirty="0">
                  <a:solidFill>
                    <a:schemeClr val="tx1"/>
                  </a:solidFill>
                  <a:latin typeface="方正粗黑宋简体" pitchFamily="2" charset="-122"/>
                  <a:ea typeface="方正粗黑宋简体" pitchFamily="2" charset="-122"/>
                  <a:cs typeface="Times New Roman" pitchFamily="18" charset="0"/>
                </a:rPr>
                <a:t>）；</a:t>
              </a:r>
              <a:r>
                <a:rPr lang="en-US" altLang="zh-CN" sz="1600" dirty="0">
                  <a:solidFill>
                    <a:schemeClr val="tx1"/>
                  </a:solidFill>
                  <a:latin typeface="方正粗黑宋简体" pitchFamily="2" charset="-122"/>
                  <a:ea typeface="方正粗黑宋简体" pitchFamily="2" charset="-122"/>
                  <a:cs typeface="Times New Roman" pitchFamily="18" charset="0"/>
                </a:rPr>
                <a:t>1</a:t>
              </a:r>
              <a:r>
                <a:rPr lang="zh-CN" altLang="en-US" sz="1600" dirty="0">
                  <a:solidFill>
                    <a:schemeClr val="tx1"/>
                  </a:solidFill>
                  <a:latin typeface="方正粗黑宋简体" pitchFamily="2" charset="-122"/>
                  <a:ea typeface="方正粗黑宋简体" pitchFamily="2" charset="-122"/>
                  <a:cs typeface="Times New Roman" pitchFamily="18" charset="0"/>
                </a:rPr>
                <a:t>（</a:t>
              </a:r>
              <a:r>
                <a:rPr lang="en-US" altLang="zh-CN" sz="1600" dirty="0">
                  <a:solidFill>
                    <a:schemeClr val="tx1"/>
                  </a:solidFill>
                  <a:latin typeface="方正粗黑宋简体" pitchFamily="2" charset="-122"/>
                  <a:ea typeface="方正粗黑宋简体" pitchFamily="2" charset="-122"/>
                  <a:cs typeface="Times New Roman" pitchFamily="18" charset="0"/>
                </a:rPr>
                <a:t>5V</a:t>
              </a:r>
              <a:r>
                <a:rPr lang="zh-CN" altLang="en-US" sz="1600" dirty="0">
                  <a:solidFill>
                    <a:schemeClr val="tx1"/>
                  </a:solidFill>
                  <a:latin typeface="方正粗黑宋简体" pitchFamily="2" charset="-122"/>
                  <a:ea typeface="方正粗黑宋简体" pitchFamily="2" charset="-122"/>
                  <a:cs typeface="Times New Roman" pitchFamily="18" charset="0"/>
                </a:rPr>
                <a:t>）</a:t>
              </a:r>
              <a:r>
                <a:rPr lang="zh-CN" altLang="en-US" sz="1600" dirty="0">
                  <a:solidFill>
                    <a:srgbClr val="6600FF"/>
                  </a:solidFill>
                  <a:latin typeface="方正粗黑宋简体" pitchFamily="2" charset="-122"/>
                  <a:ea typeface="方正粗黑宋简体" pitchFamily="2" charset="-122"/>
                  <a:cs typeface="Times New Roman" pitchFamily="18" charset="0"/>
                </a:rPr>
                <a:t>。</a:t>
              </a:r>
              <a:endParaRPr lang="zh-CN" altLang="en-US" sz="1600" dirty="0">
                <a:solidFill>
                  <a:srgbClr val="6600FF"/>
                </a:solidFill>
                <a:latin typeface="方正粗黑宋简体" pitchFamily="2" charset="-122"/>
                <a:ea typeface="方正粗黑宋简体" pitchFamily="2" charset="-122"/>
              </a:endParaRPr>
            </a:p>
          </p:txBody>
        </p:sp>
        <p:sp>
          <p:nvSpPr>
            <p:cNvPr id="25" name="圆角矩形 24"/>
            <p:cNvSpPr/>
            <p:nvPr/>
          </p:nvSpPr>
          <p:spPr>
            <a:xfrm>
              <a:off x="1397000" y="1276350"/>
              <a:ext cx="1079500" cy="292100"/>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黑体" pitchFamily="49" charset="-122"/>
                  <a:ea typeface="黑体" pitchFamily="49" charset="-122"/>
                </a:rPr>
                <a:t>假设条件</a:t>
              </a:r>
            </a:p>
          </p:txBody>
        </p:sp>
      </p:grpSp>
      <p:sp>
        <p:nvSpPr>
          <p:cNvPr id="33" name="AutoShape 21"/>
          <p:cNvSpPr>
            <a:spLocks noChangeArrowheads="1"/>
          </p:cNvSpPr>
          <p:nvPr/>
        </p:nvSpPr>
        <p:spPr bwMode="auto">
          <a:xfrm>
            <a:off x="3825925" y="2126051"/>
            <a:ext cx="1314775" cy="718420"/>
          </a:xfrm>
          <a:prstGeom prst="wedgeRoundRectCallout">
            <a:avLst>
              <a:gd name="adj1" fmla="val 48755"/>
              <a:gd name="adj2" fmla="val -79121"/>
              <a:gd name="adj3" fmla="val 16667"/>
            </a:avLst>
          </a:prstGeom>
          <a:solidFill>
            <a:srgbClr val="FFFF66"/>
          </a:solidFill>
          <a:ln w="12700" algn="ctr">
            <a:solidFill>
              <a:srgbClr val="0000FF"/>
            </a:solidFill>
            <a:miter lim="800000"/>
            <a:headEnd/>
            <a:tailEnd/>
          </a:ln>
        </p:spPr>
        <p:txBody>
          <a:bodyPr lIns="0" rIns="0" anchor="ctr"/>
          <a:lstStyle/>
          <a:p>
            <a:pPr algn="ctr"/>
            <a:r>
              <a:rPr lang="zh-CN" altLang="en-US" sz="1400" i="1" dirty="0">
                <a:solidFill>
                  <a:srgbClr val="6600FF"/>
                </a:solidFill>
                <a:latin typeface="方正粗黑宋简体" pitchFamily="2" charset="-122"/>
                <a:ea typeface="方正粗黑宋简体" pitchFamily="2" charset="-122"/>
                <a:sym typeface="Symbol" pitchFamily="18" charset="2"/>
              </a:rPr>
              <a:t></a:t>
            </a:r>
            <a:r>
              <a:rPr lang="en-US" altLang="zh-CN" sz="1400" baseline="-25000" dirty="0">
                <a:solidFill>
                  <a:srgbClr val="6600FF"/>
                </a:solidFill>
                <a:latin typeface="方正粗黑宋简体" pitchFamily="2" charset="-122"/>
                <a:ea typeface="方正粗黑宋简体" pitchFamily="2" charset="-122"/>
              </a:rPr>
              <a:t>SP</a:t>
            </a:r>
            <a:r>
              <a:rPr lang="zh-CN" altLang="en-US" sz="1400" dirty="0">
                <a:solidFill>
                  <a:srgbClr val="6600FF"/>
                </a:solidFill>
                <a:latin typeface="方正粗黑宋简体" pitchFamily="2" charset="-122"/>
                <a:ea typeface="方正粗黑宋简体" pitchFamily="2" charset="-122"/>
                <a:sym typeface="Symbol" pitchFamily="18" charset="2"/>
              </a:rPr>
              <a:t> </a:t>
            </a:r>
            <a:r>
              <a:rPr lang="en-US" altLang="zh-CN" sz="1400" dirty="0">
                <a:solidFill>
                  <a:srgbClr val="6600FF"/>
                </a:solidFill>
                <a:latin typeface="方正粗黑宋简体" pitchFamily="2" charset="-122"/>
                <a:ea typeface="方正粗黑宋简体" pitchFamily="2" charset="-122"/>
                <a:sym typeface="Symbol" pitchFamily="18" charset="2"/>
              </a:rPr>
              <a:t>=</a:t>
            </a:r>
            <a:r>
              <a:rPr lang="zh-CN" altLang="en-US" sz="1400" i="1" dirty="0">
                <a:solidFill>
                  <a:srgbClr val="6600FF"/>
                </a:solidFill>
                <a:latin typeface="方正粗黑宋简体" pitchFamily="2" charset="-122"/>
                <a:ea typeface="方正粗黑宋简体" pitchFamily="2" charset="-122"/>
                <a:sym typeface="Symbol" pitchFamily="18" charset="2"/>
              </a:rPr>
              <a:t></a:t>
            </a:r>
            <a:r>
              <a:rPr lang="en-US" altLang="zh-CN" sz="1400" baseline="-25000" dirty="0">
                <a:solidFill>
                  <a:srgbClr val="6600FF"/>
                </a:solidFill>
                <a:latin typeface="方正粗黑宋简体" pitchFamily="2" charset="-122"/>
                <a:ea typeface="方正粗黑宋简体" pitchFamily="2" charset="-122"/>
                <a:sym typeface="Symbol" pitchFamily="18" charset="2"/>
              </a:rPr>
              <a:t>SN</a:t>
            </a:r>
            <a:r>
              <a:rPr lang="en-US" altLang="zh-CN" sz="1400" dirty="0">
                <a:solidFill>
                  <a:srgbClr val="6600FF"/>
                </a:solidFill>
                <a:latin typeface="方正粗黑宋简体" pitchFamily="2" charset="-122"/>
                <a:ea typeface="方正粗黑宋简体" pitchFamily="2" charset="-122"/>
                <a:sym typeface="Symbol" pitchFamily="18" charset="2"/>
              </a:rPr>
              <a:t>=</a:t>
            </a:r>
            <a:endParaRPr lang="en-US" altLang="zh-CN" sz="1400" baseline="-25000" dirty="0">
              <a:solidFill>
                <a:srgbClr val="6600FF"/>
              </a:solidFill>
              <a:latin typeface="方正粗黑宋简体" pitchFamily="2" charset="-122"/>
              <a:ea typeface="方正粗黑宋简体" pitchFamily="2" charset="-122"/>
              <a:sym typeface="Symbol" pitchFamily="18" charset="2"/>
            </a:endParaRPr>
          </a:p>
          <a:p>
            <a:pPr algn="ctr"/>
            <a:endParaRPr lang="en-US" altLang="zh-CN" sz="1400" baseline="-25000" dirty="0">
              <a:solidFill>
                <a:srgbClr val="6600FF"/>
              </a:solidFill>
              <a:latin typeface="方正粗黑宋简体" pitchFamily="2" charset="-122"/>
              <a:ea typeface="方正粗黑宋简体" pitchFamily="2" charset="-122"/>
              <a:sym typeface="Symbol" pitchFamily="18" charset="2"/>
            </a:endParaRPr>
          </a:p>
          <a:p>
            <a:pPr algn="ctr"/>
            <a:r>
              <a:rPr lang="zh-CN" altLang="en-US" sz="1400" dirty="0">
                <a:solidFill>
                  <a:srgbClr val="6600FF"/>
                </a:solidFill>
                <a:latin typeface="方正粗黑宋简体" pitchFamily="2" charset="-122"/>
                <a:ea typeface="方正粗黑宋简体" pitchFamily="2" charset="-122"/>
                <a:sym typeface="Symbol" pitchFamily="18" charset="2"/>
              </a:rPr>
              <a:t> </a:t>
            </a:r>
            <a:r>
              <a:rPr lang="en-US" altLang="zh-CN" sz="1400" dirty="0">
                <a:solidFill>
                  <a:srgbClr val="6600FF"/>
                </a:solidFill>
                <a:latin typeface="方正粗黑宋简体" pitchFamily="2" charset="-122"/>
                <a:ea typeface="方正粗黑宋简体" pitchFamily="2" charset="-122"/>
              </a:rPr>
              <a:t>0V~+5V</a:t>
            </a:r>
          </a:p>
        </p:txBody>
      </p:sp>
      <p:sp>
        <p:nvSpPr>
          <p:cNvPr id="34" name="AutoShape 21"/>
          <p:cNvSpPr>
            <a:spLocks noChangeArrowheads="1"/>
          </p:cNvSpPr>
          <p:nvPr/>
        </p:nvSpPr>
        <p:spPr bwMode="auto">
          <a:xfrm>
            <a:off x="5835650" y="2708297"/>
            <a:ext cx="920750" cy="245253"/>
          </a:xfrm>
          <a:prstGeom prst="wedgeRoundRectCallout">
            <a:avLst>
              <a:gd name="adj1" fmla="val -56513"/>
              <a:gd name="adj2" fmla="val -106954"/>
              <a:gd name="adj3" fmla="val 16667"/>
            </a:avLst>
          </a:prstGeom>
          <a:solidFill>
            <a:srgbClr val="FFFF66"/>
          </a:solidFill>
          <a:ln w="12700" algn="ctr">
            <a:solidFill>
              <a:srgbClr val="0000FF"/>
            </a:solidFill>
            <a:miter lim="800000"/>
            <a:headEnd/>
            <a:tailEnd/>
          </a:ln>
        </p:spPr>
        <p:txBody>
          <a:bodyPr lIns="0" rIns="0" anchor="ctr"/>
          <a:lstStyle/>
          <a:p>
            <a:pPr algn="ctr"/>
            <a:r>
              <a:rPr lang="zh-CN" altLang="en-US" sz="1400" i="1" dirty="0">
                <a:solidFill>
                  <a:srgbClr val="6600FF"/>
                </a:solidFill>
                <a:latin typeface="方正粗黑宋简体" pitchFamily="2" charset="-122"/>
                <a:ea typeface="方正粗黑宋简体" pitchFamily="2" charset="-122"/>
                <a:sym typeface="Symbol" pitchFamily="18" charset="2"/>
              </a:rPr>
              <a:t></a:t>
            </a:r>
            <a:r>
              <a:rPr lang="en-US" altLang="zh-CN" sz="1400" baseline="-25000" dirty="0">
                <a:solidFill>
                  <a:srgbClr val="6600FF"/>
                </a:solidFill>
                <a:latin typeface="方正粗黑宋简体" pitchFamily="2" charset="-122"/>
                <a:ea typeface="方正粗黑宋简体" pitchFamily="2" charset="-122"/>
              </a:rPr>
              <a:t>GN</a:t>
            </a:r>
            <a:r>
              <a:rPr lang="zh-CN" altLang="en-US" sz="1400" dirty="0">
                <a:solidFill>
                  <a:srgbClr val="6600FF"/>
                </a:solidFill>
                <a:latin typeface="方正粗黑宋简体" pitchFamily="2" charset="-122"/>
                <a:ea typeface="方正粗黑宋简体" pitchFamily="2" charset="-122"/>
                <a:sym typeface="Symbol" pitchFamily="18" charset="2"/>
              </a:rPr>
              <a:t> </a:t>
            </a:r>
            <a:r>
              <a:rPr lang="en-US" altLang="zh-CN" sz="1400" dirty="0">
                <a:solidFill>
                  <a:srgbClr val="6600FF"/>
                </a:solidFill>
                <a:latin typeface="方正粗黑宋简体" pitchFamily="2" charset="-122"/>
                <a:ea typeface="方正粗黑宋简体" pitchFamily="2" charset="-122"/>
                <a:sym typeface="Symbol" pitchFamily="18" charset="2"/>
              </a:rPr>
              <a:t>=0V</a:t>
            </a:r>
            <a:endParaRPr lang="en-US" altLang="zh-CN" sz="1400" dirty="0">
              <a:solidFill>
                <a:srgbClr val="6600FF"/>
              </a:solidFill>
              <a:latin typeface="方正粗黑宋简体" pitchFamily="2" charset="-122"/>
              <a:ea typeface="方正粗黑宋简体" pitchFamily="2" charset="-122"/>
            </a:endParaRPr>
          </a:p>
        </p:txBody>
      </p:sp>
      <p:sp>
        <p:nvSpPr>
          <p:cNvPr id="35" name="AutoShape 21"/>
          <p:cNvSpPr>
            <a:spLocks noChangeArrowheads="1"/>
          </p:cNvSpPr>
          <p:nvPr/>
        </p:nvSpPr>
        <p:spPr bwMode="auto">
          <a:xfrm>
            <a:off x="5943600" y="714397"/>
            <a:ext cx="920750" cy="245253"/>
          </a:xfrm>
          <a:prstGeom prst="wedgeRoundRectCallout">
            <a:avLst>
              <a:gd name="adj1" fmla="val -67547"/>
              <a:gd name="adj2" fmla="val 141606"/>
              <a:gd name="adj3" fmla="val 16667"/>
            </a:avLst>
          </a:prstGeom>
          <a:solidFill>
            <a:srgbClr val="FFFF66"/>
          </a:solidFill>
          <a:ln w="12700" algn="ctr">
            <a:solidFill>
              <a:srgbClr val="0000FF"/>
            </a:solidFill>
            <a:miter lim="800000"/>
            <a:headEnd/>
            <a:tailEnd/>
          </a:ln>
        </p:spPr>
        <p:txBody>
          <a:bodyPr lIns="0" rIns="0" anchor="ctr"/>
          <a:lstStyle/>
          <a:p>
            <a:pPr algn="ctr"/>
            <a:r>
              <a:rPr lang="zh-CN" altLang="en-US" sz="1400" i="1" dirty="0">
                <a:solidFill>
                  <a:srgbClr val="6600FF"/>
                </a:solidFill>
                <a:latin typeface="方正粗黑宋简体" pitchFamily="2" charset="-122"/>
                <a:ea typeface="方正粗黑宋简体" pitchFamily="2" charset="-122"/>
                <a:sym typeface="Symbol" pitchFamily="18" charset="2"/>
              </a:rPr>
              <a:t></a:t>
            </a:r>
            <a:r>
              <a:rPr lang="en-US" altLang="zh-CN" sz="1400" baseline="-25000" dirty="0">
                <a:solidFill>
                  <a:srgbClr val="6600FF"/>
                </a:solidFill>
                <a:latin typeface="方正粗黑宋简体" pitchFamily="2" charset="-122"/>
                <a:ea typeface="方正粗黑宋简体" pitchFamily="2" charset="-122"/>
              </a:rPr>
              <a:t>GP</a:t>
            </a:r>
            <a:r>
              <a:rPr lang="zh-CN" altLang="en-US" sz="1400" dirty="0">
                <a:solidFill>
                  <a:srgbClr val="6600FF"/>
                </a:solidFill>
                <a:latin typeface="方正粗黑宋简体" pitchFamily="2" charset="-122"/>
                <a:ea typeface="方正粗黑宋简体" pitchFamily="2" charset="-122"/>
                <a:sym typeface="Symbol" pitchFamily="18" charset="2"/>
              </a:rPr>
              <a:t> </a:t>
            </a:r>
            <a:r>
              <a:rPr lang="en-US" altLang="zh-CN" sz="1400" dirty="0">
                <a:solidFill>
                  <a:srgbClr val="6600FF"/>
                </a:solidFill>
                <a:latin typeface="方正粗黑宋简体" pitchFamily="2" charset="-122"/>
                <a:ea typeface="方正粗黑宋简体" pitchFamily="2" charset="-122"/>
                <a:sym typeface="Symbol" pitchFamily="18" charset="2"/>
              </a:rPr>
              <a:t>=5V</a:t>
            </a:r>
            <a:endParaRPr lang="en-US" altLang="zh-CN" sz="1400" dirty="0">
              <a:solidFill>
                <a:srgbClr val="6600FF"/>
              </a:solidFill>
              <a:latin typeface="方正粗黑宋简体" pitchFamily="2" charset="-122"/>
              <a:ea typeface="方正粗黑宋简体" pitchFamily="2" charset="-122"/>
            </a:endParaRPr>
          </a:p>
        </p:txBody>
      </p:sp>
      <p:sp>
        <p:nvSpPr>
          <p:cNvPr id="39" name="矩形 38"/>
          <p:cNvSpPr/>
          <p:nvPr/>
        </p:nvSpPr>
        <p:spPr>
          <a:xfrm>
            <a:off x="957455" y="3779748"/>
            <a:ext cx="6464300" cy="338554"/>
          </a:xfrm>
          <a:prstGeom prst="rect">
            <a:avLst/>
          </a:prstGeom>
        </p:spPr>
        <p:txBody>
          <a:bodyPr wrap="square">
            <a:spAutoFit/>
          </a:bodyPr>
          <a:lstStyle/>
          <a:p>
            <a:r>
              <a:rPr lang="zh-CN" altLang="en-US" sz="1600" i="1" dirty="0">
                <a:latin typeface="方正粗黑宋简体" pitchFamily="2" charset="-122"/>
                <a:ea typeface="方正粗黑宋简体" pitchFamily="2" charset="-122"/>
                <a:sym typeface="Symbol" pitchFamily="18" charset="2"/>
              </a:rPr>
              <a:t></a:t>
            </a:r>
            <a:r>
              <a:rPr lang="en-US" altLang="zh-CN" sz="1600" baseline="-25000" dirty="0">
                <a:latin typeface="方正粗黑宋简体" pitchFamily="2" charset="-122"/>
                <a:ea typeface="方正粗黑宋简体" pitchFamily="2" charset="-122"/>
                <a:sym typeface="Symbol" pitchFamily="18" charset="2"/>
              </a:rPr>
              <a:t>GSN </a:t>
            </a:r>
            <a:r>
              <a:rPr lang="zh-CN" altLang="en-US" sz="1600" dirty="0">
                <a:latin typeface="方正粗黑宋简体" pitchFamily="2" charset="-122"/>
                <a:ea typeface="方正粗黑宋简体" pitchFamily="2" charset="-122"/>
                <a:sym typeface="Symbol" pitchFamily="18" charset="2"/>
              </a:rPr>
              <a:t>＝ </a:t>
            </a:r>
            <a:r>
              <a:rPr lang="zh-CN" altLang="en-US" sz="1600" i="1" dirty="0">
                <a:latin typeface="方正粗黑宋简体" pitchFamily="2" charset="-122"/>
                <a:ea typeface="方正粗黑宋简体" pitchFamily="2" charset="-122"/>
                <a:sym typeface="Symbol" pitchFamily="18" charset="2"/>
              </a:rPr>
              <a:t></a:t>
            </a:r>
            <a:r>
              <a:rPr lang="en-US" altLang="zh-CN" sz="1600" baseline="-25000" dirty="0">
                <a:latin typeface="方正粗黑宋简体" pitchFamily="2" charset="-122"/>
                <a:ea typeface="方正粗黑宋简体" pitchFamily="2" charset="-122"/>
                <a:sym typeface="Symbol" pitchFamily="18" charset="2"/>
              </a:rPr>
              <a:t>GN </a:t>
            </a:r>
            <a:r>
              <a:rPr lang="en-US" altLang="zh-CN" sz="1600" dirty="0">
                <a:latin typeface="方正粗黑宋简体" pitchFamily="2" charset="-122"/>
                <a:ea typeface="方正粗黑宋简体" pitchFamily="2" charset="-122"/>
                <a:sym typeface="Symbol" pitchFamily="18" charset="2"/>
              </a:rPr>
              <a:t>- </a:t>
            </a:r>
            <a:r>
              <a:rPr lang="zh-CN" altLang="en-US" sz="1600" i="1" dirty="0">
                <a:latin typeface="方正粗黑宋简体" pitchFamily="2" charset="-122"/>
                <a:ea typeface="方正粗黑宋简体" pitchFamily="2" charset="-122"/>
                <a:sym typeface="Symbol" pitchFamily="18" charset="2"/>
              </a:rPr>
              <a:t></a:t>
            </a:r>
            <a:r>
              <a:rPr lang="en-US" altLang="zh-CN" sz="1600" baseline="-25000" dirty="0">
                <a:latin typeface="方正粗黑宋简体" pitchFamily="2" charset="-122"/>
                <a:ea typeface="方正粗黑宋简体" pitchFamily="2" charset="-122"/>
                <a:sym typeface="Symbol" pitchFamily="18" charset="2"/>
              </a:rPr>
              <a:t>SN  </a:t>
            </a:r>
            <a:r>
              <a:rPr lang="en-US" altLang="zh-CN" sz="1600" dirty="0">
                <a:latin typeface="方正粗黑宋简体" pitchFamily="2" charset="-122"/>
                <a:ea typeface="方正粗黑宋简体" pitchFamily="2" charset="-122"/>
                <a:sym typeface="Symbol" pitchFamily="18" charset="2"/>
              </a:rPr>
              <a:t>=0V</a:t>
            </a:r>
            <a:r>
              <a:rPr lang="zh-CN" altLang="en-US" sz="1600" dirty="0">
                <a:latin typeface="方正粗黑宋简体" pitchFamily="2" charset="-122"/>
                <a:ea typeface="方正粗黑宋简体" pitchFamily="2" charset="-122"/>
                <a:sym typeface="Symbol" pitchFamily="18" charset="2"/>
              </a:rPr>
              <a:t>－</a:t>
            </a:r>
            <a:r>
              <a:rPr lang="en-US" altLang="zh-CN" sz="1600" dirty="0">
                <a:latin typeface="方正粗黑宋简体" pitchFamily="2" charset="-122"/>
                <a:ea typeface="方正粗黑宋简体" pitchFamily="2" charset="-122"/>
                <a:sym typeface="Symbol" pitchFamily="18" charset="2"/>
              </a:rPr>
              <a:t>(0V</a:t>
            </a:r>
            <a:r>
              <a:rPr lang="zh-CN" altLang="en-US" sz="1600" dirty="0">
                <a:latin typeface="方正粗黑宋简体" pitchFamily="2" charset="-122"/>
                <a:ea typeface="方正粗黑宋简体" pitchFamily="2" charset="-122"/>
                <a:sym typeface="Symbol" pitchFamily="18" charset="2"/>
              </a:rPr>
              <a:t>～</a:t>
            </a:r>
            <a:r>
              <a:rPr lang="en-US" altLang="zh-CN" sz="1600" dirty="0">
                <a:latin typeface="方正粗黑宋简体" pitchFamily="2" charset="-122"/>
                <a:ea typeface="方正粗黑宋简体" pitchFamily="2" charset="-122"/>
                <a:sym typeface="Symbol" pitchFamily="18" charset="2"/>
              </a:rPr>
              <a:t>5V) =(-5</a:t>
            </a:r>
            <a:r>
              <a:rPr lang="zh-CN" altLang="en-US" sz="1600" dirty="0">
                <a:latin typeface="方正粗黑宋简体" pitchFamily="2" charset="-122"/>
                <a:ea typeface="方正粗黑宋简体" pitchFamily="2" charset="-122"/>
                <a:sym typeface="Symbol" pitchFamily="18" charset="2"/>
              </a:rPr>
              <a:t>～</a:t>
            </a:r>
            <a:r>
              <a:rPr lang="en-US" altLang="zh-CN" sz="1600" dirty="0">
                <a:latin typeface="方正粗黑宋简体" pitchFamily="2" charset="-122"/>
                <a:ea typeface="方正粗黑宋简体" pitchFamily="2" charset="-122"/>
                <a:sym typeface="Symbol" pitchFamily="18" charset="2"/>
              </a:rPr>
              <a:t>0)V &lt; </a:t>
            </a:r>
            <a:r>
              <a:rPr lang="en-US" altLang="zh-CN" sz="1600" i="1" dirty="0">
                <a:latin typeface="方正粗黑宋简体" pitchFamily="2" charset="-122"/>
                <a:ea typeface="方正粗黑宋简体" pitchFamily="2" charset="-122"/>
                <a:sym typeface="Symbol" pitchFamily="18" charset="2"/>
              </a:rPr>
              <a:t>V</a:t>
            </a:r>
            <a:r>
              <a:rPr lang="en-US" altLang="zh-CN" sz="1600" baseline="-25000" dirty="0">
                <a:latin typeface="方正粗黑宋简体" pitchFamily="2" charset="-122"/>
                <a:ea typeface="方正粗黑宋简体" pitchFamily="2" charset="-122"/>
                <a:sym typeface="Symbol" pitchFamily="18" charset="2"/>
              </a:rPr>
              <a:t>TN</a:t>
            </a:r>
            <a:r>
              <a:rPr lang="zh-CN" altLang="en-US" sz="1600" dirty="0">
                <a:latin typeface="方正粗黑宋简体" pitchFamily="2" charset="-122"/>
                <a:ea typeface="方正粗黑宋简体" pitchFamily="2" charset="-122"/>
                <a:sym typeface="Symbol" pitchFamily="18" charset="2"/>
              </a:rPr>
              <a:t>；</a:t>
            </a:r>
            <a:r>
              <a:rPr lang="en-US" altLang="zh-CN" sz="1600" dirty="0">
                <a:latin typeface="方正粗黑宋简体" pitchFamily="2" charset="-122"/>
                <a:ea typeface="方正粗黑宋简体" pitchFamily="2" charset="-122"/>
                <a:sym typeface="Symbol" pitchFamily="18" charset="2"/>
              </a:rPr>
              <a:t>T</a:t>
            </a:r>
            <a:r>
              <a:rPr lang="en-US" altLang="zh-CN" sz="1600" baseline="-25000" dirty="0">
                <a:latin typeface="方正粗黑宋简体" pitchFamily="2" charset="-122"/>
                <a:ea typeface="方正粗黑宋简体" pitchFamily="2" charset="-122"/>
                <a:sym typeface="Symbol" pitchFamily="18" charset="2"/>
              </a:rPr>
              <a:t>N</a:t>
            </a:r>
            <a:r>
              <a:rPr lang="zh-CN" altLang="en-US" sz="1600" dirty="0">
                <a:latin typeface="方正粗黑宋简体" pitchFamily="2" charset="-122"/>
                <a:ea typeface="方正粗黑宋简体" pitchFamily="2" charset="-122"/>
                <a:sym typeface="Symbol" pitchFamily="18" charset="2"/>
              </a:rPr>
              <a:t>截止。</a:t>
            </a:r>
            <a:endParaRPr lang="en-US" altLang="zh-CN" sz="1600" dirty="0">
              <a:latin typeface="方正粗黑宋简体" pitchFamily="2" charset="-122"/>
              <a:ea typeface="方正粗黑宋简体" pitchFamily="2" charset="-122"/>
            </a:endParaRPr>
          </a:p>
        </p:txBody>
      </p:sp>
      <p:sp>
        <p:nvSpPr>
          <p:cNvPr id="40" name="矩形 39"/>
          <p:cNvSpPr/>
          <p:nvPr/>
        </p:nvSpPr>
        <p:spPr>
          <a:xfrm>
            <a:off x="976505" y="4224248"/>
            <a:ext cx="6464300" cy="338554"/>
          </a:xfrm>
          <a:prstGeom prst="rect">
            <a:avLst/>
          </a:prstGeom>
        </p:spPr>
        <p:txBody>
          <a:bodyPr wrap="square">
            <a:spAutoFit/>
          </a:bodyPr>
          <a:lstStyle/>
          <a:p>
            <a:r>
              <a:rPr lang="zh-CN" altLang="en-US" sz="1600" i="1" dirty="0">
                <a:latin typeface="方正粗黑宋简体" pitchFamily="2" charset="-122"/>
                <a:ea typeface="方正粗黑宋简体" pitchFamily="2" charset="-122"/>
                <a:sym typeface="Symbol" pitchFamily="18" charset="2"/>
              </a:rPr>
              <a:t></a:t>
            </a:r>
            <a:r>
              <a:rPr lang="en-US" altLang="zh-CN" sz="1600" baseline="-25000" dirty="0">
                <a:latin typeface="方正粗黑宋简体" pitchFamily="2" charset="-122"/>
                <a:ea typeface="方正粗黑宋简体" pitchFamily="2" charset="-122"/>
                <a:sym typeface="Symbol" pitchFamily="18" charset="2"/>
              </a:rPr>
              <a:t>GSP </a:t>
            </a:r>
            <a:r>
              <a:rPr lang="zh-CN" altLang="en-US" sz="1600" dirty="0">
                <a:latin typeface="方正粗黑宋简体" pitchFamily="2" charset="-122"/>
                <a:ea typeface="方正粗黑宋简体" pitchFamily="2" charset="-122"/>
                <a:sym typeface="Symbol" pitchFamily="18" charset="2"/>
              </a:rPr>
              <a:t>＝ </a:t>
            </a:r>
            <a:r>
              <a:rPr lang="zh-CN" altLang="en-US" sz="1600" i="1" dirty="0">
                <a:latin typeface="方正粗黑宋简体" pitchFamily="2" charset="-122"/>
                <a:ea typeface="方正粗黑宋简体" pitchFamily="2" charset="-122"/>
                <a:sym typeface="Symbol" pitchFamily="18" charset="2"/>
              </a:rPr>
              <a:t></a:t>
            </a:r>
            <a:r>
              <a:rPr lang="en-US" altLang="zh-CN" sz="1600" baseline="-25000" dirty="0">
                <a:latin typeface="方正粗黑宋简体" pitchFamily="2" charset="-122"/>
                <a:ea typeface="方正粗黑宋简体" pitchFamily="2" charset="-122"/>
                <a:sym typeface="Symbol" pitchFamily="18" charset="2"/>
              </a:rPr>
              <a:t>GP </a:t>
            </a:r>
            <a:r>
              <a:rPr lang="en-US" altLang="zh-CN" sz="1600" dirty="0">
                <a:latin typeface="方正粗黑宋简体" pitchFamily="2" charset="-122"/>
                <a:ea typeface="方正粗黑宋简体" pitchFamily="2" charset="-122"/>
                <a:sym typeface="Symbol" pitchFamily="18" charset="2"/>
              </a:rPr>
              <a:t>- </a:t>
            </a:r>
            <a:r>
              <a:rPr lang="zh-CN" altLang="en-US" sz="1600" i="1" dirty="0">
                <a:latin typeface="方正粗黑宋简体" pitchFamily="2" charset="-122"/>
                <a:ea typeface="方正粗黑宋简体" pitchFamily="2" charset="-122"/>
                <a:sym typeface="Symbol" pitchFamily="18" charset="2"/>
              </a:rPr>
              <a:t></a:t>
            </a:r>
            <a:r>
              <a:rPr lang="en-US" altLang="zh-CN" sz="1600" baseline="-25000" dirty="0">
                <a:latin typeface="方正粗黑宋简体" pitchFamily="2" charset="-122"/>
                <a:ea typeface="方正粗黑宋简体" pitchFamily="2" charset="-122"/>
                <a:sym typeface="Symbol" pitchFamily="18" charset="2"/>
              </a:rPr>
              <a:t>SP  </a:t>
            </a:r>
            <a:r>
              <a:rPr lang="en-US" altLang="zh-CN" sz="1600" dirty="0">
                <a:latin typeface="方正粗黑宋简体" pitchFamily="2" charset="-122"/>
                <a:ea typeface="方正粗黑宋简体" pitchFamily="2" charset="-122"/>
                <a:sym typeface="Symbol" pitchFamily="18" charset="2"/>
              </a:rPr>
              <a:t>=5V</a:t>
            </a:r>
            <a:r>
              <a:rPr lang="zh-CN" altLang="en-US" sz="1600" dirty="0">
                <a:latin typeface="方正粗黑宋简体" pitchFamily="2" charset="-122"/>
                <a:ea typeface="方正粗黑宋简体" pitchFamily="2" charset="-122"/>
                <a:sym typeface="Symbol" pitchFamily="18" charset="2"/>
              </a:rPr>
              <a:t>－</a:t>
            </a:r>
            <a:r>
              <a:rPr lang="en-US" altLang="zh-CN" sz="1600" dirty="0">
                <a:latin typeface="方正粗黑宋简体" pitchFamily="2" charset="-122"/>
                <a:ea typeface="方正粗黑宋简体" pitchFamily="2" charset="-122"/>
                <a:sym typeface="Symbol" pitchFamily="18" charset="2"/>
              </a:rPr>
              <a:t>(0V</a:t>
            </a:r>
            <a:r>
              <a:rPr lang="zh-CN" altLang="en-US" sz="1600" dirty="0">
                <a:latin typeface="方正粗黑宋简体" pitchFamily="2" charset="-122"/>
                <a:ea typeface="方正粗黑宋简体" pitchFamily="2" charset="-122"/>
                <a:sym typeface="Symbol" pitchFamily="18" charset="2"/>
              </a:rPr>
              <a:t>～</a:t>
            </a:r>
            <a:r>
              <a:rPr lang="en-US" altLang="zh-CN" sz="1600" dirty="0">
                <a:latin typeface="方正粗黑宋简体" pitchFamily="2" charset="-122"/>
                <a:ea typeface="方正粗黑宋简体" pitchFamily="2" charset="-122"/>
                <a:sym typeface="Symbol" pitchFamily="18" charset="2"/>
              </a:rPr>
              <a:t>5V) =(0</a:t>
            </a:r>
            <a:r>
              <a:rPr lang="zh-CN" altLang="en-US" sz="1600" dirty="0">
                <a:latin typeface="方正粗黑宋简体" pitchFamily="2" charset="-122"/>
                <a:ea typeface="方正粗黑宋简体" pitchFamily="2" charset="-122"/>
                <a:sym typeface="Symbol" pitchFamily="18" charset="2"/>
              </a:rPr>
              <a:t>～</a:t>
            </a:r>
            <a:r>
              <a:rPr lang="en-US" altLang="zh-CN" sz="1600" dirty="0">
                <a:latin typeface="方正粗黑宋简体" pitchFamily="2" charset="-122"/>
                <a:ea typeface="方正粗黑宋简体" pitchFamily="2" charset="-122"/>
                <a:sym typeface="Symbol" pitchFamily="18" charset="2"/>
              </a:rPr>
              <a:t>5)V &gt; </a:t>
            </a:r>
            <a:r>
              <a:rPr lang="en-US" altLang="zh-CN" sz="1600" i="1" dirty="0">
                <a:latin typeface="方正粗黑宋简体" pitchFamily="2" charset="-122"/>
                <a:ea typeface="方正粗黑宋简体" pitchFamily="2" charset="-122"/>
                <a:sym typeface="Symbol" pitchFamily="18" charset="2"/>
              </a:rPr>
              <a:t>V</a:t>
            </a:r>
            <a:r>
              <a:rPr lang="en-US" altLang="zh-CN" sz="1600" baseline="-25000" dirty="0">
                <a:latin typeface="方正粗黑宋简体" pitchFamily="2" charset="-122"/>
                <a:ea typeface="方正粗黑宋简体" pitchFamily="2" charset="-122"/>
                <a:sym typeface="Symbol" pitchFamily="18" charset="2"/>
              </a:rPr>
              <a:t>TP</a:t>
            </a:r>
            <a:r>
              <a:rPr lang="zh-CN" altLang="en-US" sz="1600" dirty="0">
                <a:latin typeface="方正粗黑宋简体" pitchFamily="2" charset="-122"/>
                <a:ea typeface="方正粗黑宋简体" pitchFamily="2" charset="-122"/>
                <a:sym typeface="Symbol" pitchFamily="18" charset="2"/>
              </a:rPr>
              <a:t>；</a:t>
            </a:r>
            <a:r>
              <a:rPr lang="en-US" altLang="zh-CN" sz="1600" dirty="0">
                <a:latin typeface="方正粗黑宋简体" pitchFamily="2" charset="-122"/>
                <a:ea typeface="方正粗黑宋简体" pitchFamily="2" charset="-122"/>
                <a:sym typeface="Symbol" pitchFamily="18" charset="2"/>
              </a:rPr>
              <a:t>T</a:t>
            </a:r>
            <a:r>
              <a:rPr lang="en-US" altLang="zh-CN" sz="1600" baseline="-25000" dirty="0">
                <a:latin typeface="方正粗黑宋简体" pitchFamily="2" charset="-122"/>
                <a:ea typeface="方正粗黑宋简体" pitchFamily="2" charset="-122"/>
                <a:sym typeface="Symbol" pitchFamily="18" charset="2"/>
              </a:rPr>
              <a:t>P</a:t>
            </a:r>
            <a:r>
              <a:rPr lang="zh-CN" altLang="en-US" sz="1600" dirty="0">
                <a:latin typeface="方正粗黑宋简体" pitchFamily="2" charset="-122"/>
                <a:ea typeface="方正粗黑宋简体" pitchFamily="2" charset="-122"/>
                <a:sym typeface="Symbol" pitchFamily="18" charset="2"/>
              </a:rPr>
              <a:t>截止。</a:t>
            </a:r>
            <a:endParaRPr lang="en-US" altLang="zh-CN" sz="1600" dirty="0">
              <a:latin typeface="方正粗黑宋简体" pitchFamily="2" charset="-122"/>
              <a:ea typeface="方正粗黑宋简体" pitchFamily="2" charset="-122"/>
            </a:endParaRPr>
          </a:p>
        </p:txBody>
      </p:sp>
      <p:sp>
        <p:nvSpPr>
          <p:cNvPr id="31" name="矩形 30"/>
          <p:cNvSpPr/>
          <p:nvPr/>
        </p:nvSpPr>
        <p:spPr>
          <a:xfrm>
            <a:off x="976505" y="4771797"/>
            <a:ext cx="6340197" cy="382349"/>
          </a:xfrm>
          <a:prstGeom prst="rect">
            <a:avLst/>
          </a:prstGeom>
        </p:spPr>
        <p:txBody>
          <a:bodyPr wrap="none">
            <a:spAutoFit/>
          </a:bodyPr>
          <a:lstStyle/>
          <a:p>
            <a:pPr>
              <a:lnSpc>
                <a:spcPct val="125000"/>
              </a:lnSpc>
            </a:pPr>
            <a:r>
              <a:rPr lang="zh-CN" altLang="zh-CN" sz="1600" dirty="0">
                <a:solidFill>
                  <a:srgbClr val="6600FF"/>
                </a:solidFill>
                <a:latin typeface="方正粗黑宋简体" pitchFamily="2" charset="-122"/>
                <a:ea typeface="方正粗黑宋简体" pitchFamily="2" charset="-122"/>
              </a:rPr>
              <a:t>输入、输出之间呈现高阻状态，传输门是断开的</a:t>
            </a:r>
            <a:r>
              <a:rPr lang="zh-CN" altLang="en-US" sz="1600" dirty="0">
                <a:solidFill>
                  <a:srgbClr val="6600FF"/>
                </a:solidFill>
                <a:latin typeface="方正粗黑宋简体" pitchFamily="2" charset="-122"/>
                <a:ea typeface="方正粗黑宋简体" pitchFamily="2" charset="-122"/>
              </a:rPr>
              <a:t>，</a:t>
            </a:r>
            <a:r>
              <a:rPr lang="zh-CN" altLang="en-US" sz="1600" dirty="0">
                <a:solidFill>
                  <a:srgbClr val="6600FF"/>
                </a:solidFill>
                <a:latin typeface="方正粗黑宋简体" pitchFamily="2" charset="-122"/>
                <a:ea typeface="方正粗黑宋简体" pitchFamily="2" charset="-122"/>
                <a:sym typeface="Symbol" pitchFamily="18" charset="2"/>
              </a:rPr>
              <a:t>不能转送信号。</a:t>
            </a:r>
          </a:p>
        </p:txBody>
      </p:sp>
      <p:grpSp>
        <p:nvGrpSpPr>
          <p:cNvPr id="42" name="组合 41"/>
          <p:cNvGrpSpPr/>
          <p:nvPr/>
        </p:nvGrpSpPr>
        <p:grpSpPr>
          <a:xfrm>
            <a:off x="464864" y="3294965"/>
            <a:ext cx="3486852" cy="338554"/>
            <a:chOff x="431800" y="2897875"/>
            <a:chExt cx="3486852" cy="338554"/>
          </a:xfrm>
        </p:grpSpPr>
        <p:sp>
          <p:nvSpPr>
            <p:cNvPr id="28" name="Rectangle 29"/>
            <p:cNvSpPr>
              <a:spLocks noChangeArrowheads="1"/>
            </p:cNvSpPr>
            <p:nvPr/>
          </p:nvSpPr>
          <p:spPr bwMode="auto">
            <a:xfrm>
              <a:off x="431800" y="2897875"/>
              <a:ext cx="3486852" cy="338554"/>
            </a:xfrm>
            <a:prstGeom prst="rect">
              <a:avLst/>
            </a:prstGeom>
            <a:noFill/>
            <a:ln w="25400" algn="ctr">
              <a:noFill/>
              <a:miter lim="800000"/>
              <a:headEnd/>
              <a:tailEnd/>
            </a:ln>
          </p:spPr>
          <p:txBody>
            <a:bodyPr wrap="none">
              <a:spAutoFit/>
            </a:bodyPr>
            <a:lstStyle/>
            <a:p>
              <a:r>
                <a:rPr lang="zh-CN" altLang="en-US" sz="1600" dirty="0">
                  <a:solidFill>
                    <a:srgbClr val="6600FF"/>
                  </a:solidFill>
                  <a:latin typeface="方正粗黑宋简体" pitchFamily="2" charset="-122"/>
                  <a:ea typeface="方正粗黑宋简体" pitchFamily="2" charset="-122"/>
                </a:rPr>
                <a:t>（</a:t>
              </a:r>
              <a:r>
                <a:rPr lang="en-US" altLang="zh-CN" sz="1600" dirty="0">
                  <a:solidFill>
                    <a:srgbClr val="6600FF"/>
                  </a:solidFill>
                  <a:latin typeface="方正粗黑宋简体" pitchFamily="2" charset="-122"/>
                  <a:ea typeface="方正粗黑宋简体" pitchFamily="2" charset="-122"/>
                </a:rPr>
                <a:t>1</a:t>
              </a:r>
              <a:r>
                <a:rPr lang="zh-CN" altLang="en-US" sz="1600" dirty="0">
                  <a:solidFill>
                    <a:srgbClr val="6600FF"/>
                  </a:solidFill>
                  <a:latin typeface="方正粗黑宋简体" pitchFamily="2" charset="-122"/>
                  <a:ea typeface="方正粗黑宋简体" pitchFamily="2" charset="-122"/>
                </a:rPr>
                <a:t>）当</a:t>
              </a:r>
              <a:r>
                <a:rPr lang="en-US" altLang="zh-CN" sz="1600" i="1" dirty="0">
                  <a:solidFill>
                    <a:srgbClr val="6600FF"/>
                  </a:solidFill>
                  <a:latin typeface="方正粗黑宋简体" pitchFamily="2" charset="-122"/>
                  <a:ea typeface="方正粗黑宋简体" pitchFamily="2" charset="-122"/>
                </a:rPr>
                <a:t>C</a:t>
              </a:r>
              <a:r>
                <a:rPr lang="en-US" altLang="zh-CN" sz="1600" dirty="0">
                  <a:solidFill>
                    <a:srgbClr val="6600FF"/>
                  </a:solidFill>
                  <a:latin typeface="方正粗黑宋简体" pitchFamily="2" charset="-122"/>
                  <a:ea typeface="方正粗黑宋简体" pitchFamily="2" charset="-122"/>
                </a:rPr>
                <a:t>=0</a:t>
              </a:r>
              <a:r>
                <a:rPr lang="zh-CN" altLang="en-US" sz="1600" dirty="0">
                  <a:solidFill>
                    <a:srgbClr val="6600FF"/>
                  </a:solidFill>
                  <a:latin typeface="方正粗黑宋简体" pitchFamily="2" charset="-122"/>
                  <a:ea typeface="方正粗黑宋简体" pitchFamily="2" charset="-122"/>
                </a:rPr>
                <a:t>（</a:t>
              </a:r>
              <a:r>
                <a:rPr lang="en-US" altLang="zh-CN" sz="1600" dirty="0">
                  <a:solidFill>
                    <a:srgbClr val="6600FF"/>
                  </a:solidFill>
                  <a:latin typeface="方正粗黑宋简体" pitchFamily="2" charset="-122"/>
                  <a:ea typeface="方正粗黑宋简体" pitchFamily="2" charset="-122"/>
                </a:rPr>
                <a:t>0V</a:t>
              </a:r>
              <a:r>
                <a:rPr lang="zh-CN" altLang="en-US" sz="1600" dirty="0">
                  <a:solidFill>
                    <a:srgbClr val="6600FF"/>
                  </a:solidFill>
                  <a:latin typeface="方正粗黑宋简体" pitchFamily="2" charset="-122"/>
                  <a:ea typeface="方正粗黑宋简体" pitchFamily="2" charset="-122"/>
                </a:rPr>
                <a:t>）、</a:t>
              </a:r>
              <a:r>
                <a:rPr lang="en-US" altLang="zh-CN" sz="1600" dirty="0">
                  <a:solidFill>
                    <a:srgbClr val="6600FF"/>
                  </a:solidFill>
                  <a:latin typeface="方正粗黑宋简体" pitchFamily="2" charset="-122"/>
                  <a:ea typeface="方正粗黑宋简体" pitchFamily="2" charset="-122"/>
                </a:rPr>
                <a:t> </a:t>
              </a:r>
              <a:r>
                <a:rPr lang="en-US" altLang="zh-CN" sz="1600" i="1" dirty="0">
                  <a:solidFill>
                    <a:srgbClr val="6600FF"/>
                  </a:solidFill>
                  <a:latin typeface="方正粗黑宋简体" pitchFamily="2" charset="-122"/>
                  <a:ea typeface="方正粗黑宋简体" pitchFamily="2" charset="-122"/>
                </a:rPr>
                <a:t>C</a:t>
              </a:r>
              <a:r>
                <a:rPr lang="en-US" altLang="zh-CN" sz="1600" dirty="0">
                  <a:solidFill>
                    <a:srgbClr val="6600FF"/>
                  </a:solidFill>
                  <a:latin typeface="方正粗黑宋简体" pitchFamily="2" charset="-122"/>
                  <a:ea typeface="方正粗黑宋简体" pitchFamily="2" charset="-122"/>
                </a:rPr>
                <a:t>=1</a:t>
              </a:r>
              <a:r>
                <a:rPr lang="zh-CN" altLang="en-US" sz="1600" dirty="0">
                  <a:solidFill>
                    <a:srgbClr val="6600FF"/>
                  </a:solidFill>
                  <a:latin typeface="方正粗黑宋简体" pitchFamily="2" charset="-122"/>
                  <a:ea typeface="方正粗黑宋简体" pitchFamily="2" charset="-122"/>
                </a:rPr>
                <a:t>（</a:t>
              </a:r>
              <a:r>
                <a:rPr lang="en-US" altLang="zh-CN" sz="1600" dirty="0">
                  <a:solidFill>
                    <a:srgbClr val="6600FF"/>
                  </a:solidFill>
                  <a:latin typeface="方正粗黑宋简体" pitchFamily="2" charset="-122"/>
                  <a:ea typeface="方正粗黑宋简体" pitchFamily="2" charset="-122"/>
                </a:rPr>
                <a:t>5V</a:t>
              </a:r>
              <a:r>
                <a:rPr lang="zh-CN" altLang="en-US" sz="1600" dirty="0">
                  <a:solidFill>
                    <a:srgbClr val="6600FF"/>
                  </a:solidFill>
                  <a:latin typeface="方正粗黑宋简体" pitchFamily="2" charset="-122"/>
                  <a:ea typeface="方正粗黑宋简体" pitchFamily="2" charset="-122"/>
                </a:rPr>
                <a:t>）</a:t>
              </a:r>
              <a:r>
                <a:rPr lang="zh-CN" altLang="en-US" sz="1600" dirty="0">
                  <a:solidFill>
                    <a:srgbClr val="6600FF"/>
                  </a:solidFill>
                  <a:latin typeface="方正粗黑宋简体" pitchFamily="2" charset="-122"/>
                  <a:ea typeface="方正粗黑宋简体" pitchFamily="2" charset="-122"/>
                  <a:sym typeface="Symbol" pitchFamily="18" charset="2"/>
                </a:rPr>
                <a:t>时</a:t>
              </a:r>
            </a:p>
          </p:txBody>
        </p:sp>
        <p:cxnSp>
          <p:nvCxnSpPr>
            <p:cNvPr id="37" name="直接连接符 36"/>
            <p:cNvCxnSpPr/>
            <p:nvPr/>
          </p:nvCxnSpPr>
          <p:spPr>
            <a:xfrm flipV="1">
              <a:off x="2587170" y="2941320"/>
              <a:ext cx="144000" cy="0"/>
            </a:xfrm>
            <a:prstGeom prst="line">
              <a:avLst/>
            </a:prstGeom>
            <a:ln w="19050">
              <a:solidFill>
                <a:srgbClr val="6600FF"/>
              </a:solidFill>
            </a:ln>
          </p:spPr>
          <p:style>
            <a:lnRef idx="1">
              <a:schemeClr val="accent1"/>
            </a:lnRef>
            <a:fillRef idx="0">
              <a:schemeClr val="accent1"/>
            </a:fillRef>
            <a:effectRef idx="0">
              <a:schemeClr val="accent1"/>
            </a:effectRef>
            <a:fontRef idx="minor">
              <a:schemeClr val="tx1"/>
            </a:fontRef>
          </p:style>
        </p:cxnSp>
      </p:grpSp>
      <p:grpSp>
        <p:nvGrpSpPr>
          <p:cNvPr id="46" name="组合 45"/>
          <p:cNvGrpSpPr/>
          <p:nvPr/>
        </p:nvGrpSpPr>
        <p:grpSpPr>
          <a:xfrm>
            <a:off x="7581900" y="1051560"/>
            <a:ext cx="914400" cy="1570260"/>
            <a:chOff x="7581900" y="1051560"/>
            <a:chExt cx="914400" cy="1570260"/>
          </a:xfrm>
        </p:grpSpPr>
        <p:sp>
          <p:nvSpPr>
            <p:cNvPr id="32" name="乘号 31"/>
            <p:cNvSpPr/>
            <p:nvPr/>
          </p:nvSpPr>
          <p:spPr>
            <a:xfrm>
              <a:off x="7581900" y="1386840"/>
              <a:ext cx="914400" cy="914400"/>
            </a:xfrm>
            <a:prstGeom prst="mathMultiply">
              <a:avLst>
                <a:gd name="adj1" fmla="val 12687"/>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5" name="组合 44"/>
            <p:cNvGrpSpPr/>
            <p:nvPr/>
          </p:nvGrpSpPr>
          <p:grpSpPr>
            <a:xfrm>
              <a:off x="7901940" y="1051560"/>
              <a:ext cx="259620" cy="1570260"/>
              <a:chOff x="8100060" y="1066800"/>
              <a:chExt cx="259620" cy="1570260"/>
            </a:xfrm>
          </p:grpSpPr>
          <p:sp>
            <p:nvSpPr>
              <p:cNvPr id="43" name="椭圆 42"/>
              <p:cNvSpPr/>
              <p:nvPr/>
            </p:nvSpPr>
            <p:spPr>
              <a:xfrm>
                <a:off x="8107680" y="2385060"/>
                <a:ext cx="252000" cy="252000"/>
              </a:xfrm>
              <a:prstGeom prst="ellipse">
                <a:avLst/>
              </a:prstGeom>
              <a:solidFill>
                <a:srgbClr val="CC00CC"/>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latin typeface="Times New Roman" pitchFamily="18" charset="0"/>
                    <a:cs typeface="Times New Roman" pitchFamily="18" charset="0"/>
                  </a:rPr>
                  <a:t>0</a:t>
                </a:r>
                <a:endParaRPr lang="zh-CN" altLang="en-US" sz="1600" b="1" dirty="0">
                  <a:latin typeface="Times New Roman" pitchFamily="18" charset="0"/>
                  <a:cs typeface="Times New Roman" pitchFamily="18" charset="0"/>
                </a:endParaRPr>
              </a:p>
            </p:txBody>
          </p:sp>
          <p:sp>
            <p:nvSpPr>
              <p:cNvPr id="44" name="椭圆 43"/>
              <p:cNvSpPr/>
              <p:nvPr/>
            </p:nvSpPr>
            <p:spPr>
              <a:xfrm>
                <a:off x="8100060" y="1066800"/>
                <a:ext cx="252000" cy="252000"/>
              </a:xfrm>
              <a:prstGeom prst="ellipse">
                <a:avLst/>
              </a:prstGeom>
              <a:solidFill>
                <a:srgbClr val="CC00CC"/>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latin typeface="Times New Roman" pitchFamily="18" charset="0"/>
                    <a:cs typeface="Times New Roman" pitchFamily="18" charset="0"/>
                  </a:rPr>
                  <a:t>1</a:t>
                </a:r>
                <a:endParaRPr lang="zh-CN" altLang="en-US" sz="1600" b="1" dirty="0">
                  <a:latin typeface="Times New Roman" pitchFamily="18" charset="0"/>
                  <a:cs typeface="Times New Roman" pitchFamily="18" charset="0"/>
                </a:endParaRPr>
              </a:p>
            </p:txBody>
          </p:sp>
        </p:grpSp>
      </p:grpSp>
      <p:sp>
        <p:nvSpPr>
          <p:cNvPr id="47" name="乘号 46"/>
          <p:cNvSpPr/>
          <p:nvPr/>
        </p:nvSpPr>
        <p:spPr>
          <a:xfrm rot="10800000">
            <a:off x="5546090" y="1280160"/>
            <a:ext cx="580390" cy="527310"/>
          </a:xfrm>
          <a:prstGeom prst="mathMultiply">
            <a:avLst>
              <a:gd name="adj1" fmla="val 13414"/>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乘号 47"/>
          <p:cNvSpPr/>
          <p:nvPr/>
        </p:nvSpPr>
        <p:spPr>
          <a:xfrm rot="10800000">
            <a:off x="5553710" y="1935480"/>
            <a:ext cx="580390" cy="527310"/>
          </a:xfrm>
          <a:prstGeom prst="mathMultiply">
            <a:avLst>
              <a:gd name="adj1" fmla="val 13414"/>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Rectangle 11">
            <a:extLst>
              <a:ext uri="{FF2B5EF4-FFF2-40B4-BE49-F238E27FC236}">
                <a16:creationId xmlns:a16="http://schemas.microsoft.com/office/drawing/2014/main" id="{4573F8DC-8C7E-4A0E-9FF2-7F477908351C}"/>
              </a:ext>
            </a:extLst>
          </p:cNvPr>
          <p:cNvSpPr>
            <a:spLocks noChangeArrowheads="1"/>
          </p:cNvSpPr>
          <p:nvPr/>
        </p:nvSpPr>
        <p:spPr bwMode="auto">
          <a:xfrm>
            <a:off x="218440" y="1333183"/>
            <a:ext cx="3821352" cy="338554"/>
          </a:xfrm>
          <a:prstGeom prst="rect">
            <a:avLst/>
          </a:prstGeom>
          <a:noFill/>
          <a:ln w="9525" algn="ctr">
            <a:noFill/>
            <a:miter lim="800000"/>
            <a:headEnd/>
            <a:tailEnd/>
          </a:ln>
        </p:spPr>
        <p:txBody>
          <a:bodyPr wrap="square">
            <a:spAutoFit/>
          </a:bodyPr>
          <a:lstStyle/>
          <a:p>
            <a:pPr>
              <a:defRPr/>
            </a:pPr>
            <a:r>
              <a:rPr lang="zh-CN" altLang="en-US" sz="1600" b="1" dirty="0">
                <a:solidFill>
                  <a:srgbClr val="6600FF"/>
                </a:solidFill>
                <a:latin typeface="方正粗黑宋简体" pitchFamily="2" charset="-122"/>
                <a:ea typeface="方正粗黑宋简体" pitchFamily="2" charset="-122"/>
              </a:rPr>
              <a:t>（</a:t>
            </a:r>
            <a:r>
              <a:rPr lang="en-US" altLang="zh-CN" sz="1600" b="1" dirty="0">
                <a:solidFill>
                  <a:srgbClr val="6600FF"/>
                </a:solidFill>
                <a:latin typeface="方正粗黑宋简体" pitchFamily="2" charset="-122"/>
                <a:ea typeface="方正粗黑宋简体" pitchFamily="2" charset="-122"/>
              </a:rPr>
              <a:t>6</a:t>
            </a:r>
            <a:r>
              <a:rPr lang="zh-CN" altLang="en-US" sz="1600" b="1" dirty="0">
                <a:solidFill>
                  <a:srgbClr val="6600FF"/>
                </a:solidFill>
                <a:latin typeface="方正粗黑宋简体" pitchFamily="2" charset="-122"/>
                <a:ea typeface="方正粗黑宋简体" pitchFamily="2" charset="-122"/>
              </a:rPr>
              <a:t>）</a:t>
            </a:r>
            <a:r>
              <a:rPr lang="en-US" altLang="zh-CN" sz="1600" b="1" dirty="0">
                <a:solidFill>
                  <a:srgbClr val="6600FF"/>
                </a:solidFill>
                <a:latin typeface="方正粗黑宋简体" pitchFamily="2" charset="-122"/>
                <a:ea typeface="方正粗黑宋简体" pitchFamily="2" charset="-122"/>
              </a:rPr>
              <a:t>CMOS</a:t>
            </a:r>
            <a:r>
              <a:rPr lang="zh-CN" altLang="en-US" sz="1600" b="1" dirty="0">
                <a:solidFill>
                  <a:srgbClr val="6600FF"/>
                </a:solidFill>
                <a:latin typeface="方正粗黑宋简体" pitchFamily="2" charset="-122"/>
                <a:ea typeface="方正粗黑宋简体" pitchFamily="2" charset="-122"/>
              </a:rPr>
              <a:t>传输门（双向模拟开关）</a:t>
            </a:r>
          </a:p>
        </p:txBody>
      </p:sp>
      <p:grpSp>
        <p:nvGrpSpPr>
          <p:cNvPr id="49" name="组合 48">
            <a:extLst>
              <a:ext uri="{FF2B5EF4-FFF2-40B4-BE49-F238E27FC236}">
                <a16:creationId xmlns:a16="http://schemas.microsoft.com/office/drawing/2014/main" id="{2C89835A-E34A-4671-AED6-4930F09FC5D2}"/>
              </a:ext>
            </a:extLst>
          </p:cNvPr>
          <p:cNvGrpSpPr/>
          <p:nvPr/>
        </p:nvGrpSpPr>
        <p:grpSpPr>
          <a:xfrm>
            <a:off x="282575" y="785614"/>
            <a:ext cx="3757217" cy="373579"/>
            <a:chOff x="307975" y="1517134"/>
            <a:chExt cx="3757217" cy="373579"/>
          </a:xfrm>
        </p:grpSpPr>
        <p:grpSp>
          <p:nvGrpSpPr>
            <p:cNvPr id="50" name="组合 32">
              <a:extLst>
                <a:ext uri="{FF2B5EF4-FFF2-40B4-BE49-F238E27FC236}">
                  <a16:creationId xmlns:a16="http://schemas.microsoft.com/office/drawing/2014/main" id="{1E73ABCD-0B39-4735-9F18-A9FDA6BF842A}"/>
                </a:ext>
              </a:extLst>
            </p:cNvPr>
            <p:cNvGrpSpPr/>
            <p:nvPr/>
          </p:nvGrpSpPr>
          <p:grpSpPr>
            <a:xfrm>
              <a:off x="307975" y="1519116"/>
              <a:ext cx="568325" cy="371597"/>
              <a:chOff x="307975" y="1519116"/>
              <a:chExt cx="568325" cy="371597"/>
            </a:xfrm>
          </p:grpSpPr>
          <p:pic>
            <p:nvPicPr>
              <p:cNvPr id="52" name="Picture 4">
                <a:extLst>
                  <a:ext uri="{FF2B5EF4-FFF2-40B4-BE49-F238E27FC236}">
                    <a16:creationId xmlns:a16="http://schemas.microsoft.com/office/drawing/2014/main" id="{8B4EAB21-6FDA-492C-A972-A595F3D717CC}"/>
                  </a:ext>
                </a:extLst>
              </p:cNvPr>
              <p:cNvPicPr>
                <a:picLocks noChangeAspect="1" noChangeArrowheads="1"/>
              </p:cNvPicPr>
              <p:nvPr/>
            </p:nvPicPr>
            <p:blipFill>
              <a:blip r:embed="rId10" cstate="print"/>
              <a:srcRect/>
              <a:stretch>
                <a:fillRect/>
              </a:stretch>
            </p:blipFill>
            <p:spPr bwMode="auto">
              <a:xfrm flipH="1">
                <a:off x="307975" y="1519116"/>
                <a:ext cx="568325" cy="371597"/>
              </a:xfrm>
              <a:prstGeom prst="rect">
                <a:avLst/>
              </a:prstGeom>
              <a:noFill/>
              <a:ln w="9525">
                <a:noFill/>
                <a:miter lim="800000"/>
                <a:headEnd/>
                <a:tailEnd/>
              </a:ln>
              <a:effectLst/>
            </p:spPr>
          </p:pic>
          <p:sp>
            <p:nvSpPr>
              <p:cNvPr id="53" name="TextBox 5">
                <a:extLst>
                  <a:ext uri="{FF2B5EF4-FFF2-40B4-BE49-F238E27FC236}">
                    <a16:creationId xmlns:a16="http://schemas.microsoft.com/office/drawing/2014/main" id="{3407A4D9-AFE0-4350-9A19-FB20C9792E28}"/>
                  </a:ext>
                </a:extLst>
              </p:cNvPr>
              <p:cNvSpPr txBox="1"/>
              <p:nvPr/>
            </p:nvSpPr>
            <p:spPr>
              <a:xfrm flipH="1">
                <a:off x="443415" y="1555750"/>
                <a:ext cx="142668" cy="276999"/>
              </a:xfrm>
              <a:prstGeom prst="rect">
                <a:avLst/>
              </a:prstGeom>
              <a:noFill/>
            </p:spPr>
            <p:txBody>
              <a:bodyPr wrap="none" lIns="0" tIns="0" rIns="0" bIns="0" rtlCol="0">
                <a:spAutoFit/>
              </a:bodyPr>
              <a:lstStyle/>
              <a:p>
                <a:r>
                  <a:rPr lang="en-US" altLang="zh-CN" b="1" dirty="0">
                    <a:solidFill>
                      <a:srgbClr val="262626"/>
                    </a:solidFill>
                    <a:latin typeface="Segoe UI Black" pitchFamily="34" charset="0"/>
                    <a:ea typeface="Segoe UI Black" pitchFamily="34" charset="0"/>
                    <a:cs typeface="Times New Roman" pitchFamily="18" charset="0"/>
                  </a:rPr>
                  <a:t>4</a:t>
                </a:r>
                <a:endParaRPr lang="zh-CN" altLang="en-US" b="1" dirty="0">
                  <a:solidFill>
                    <a:srgbClr val="262626"/>
                  </a:solidFill>
                  <a:latin typeface="Segoe UI Black" pitchFamily="34" charset="0"/>
                  <a:cs typeface="Times New Roman" pitchFamily="18" charset="0"/>
                </a:endParaRPr>
              </a:p>
            </p:txBody>
          </p:sp>
        </p:grpSp>
        <p:sp>
          <p:nvSpPr>
            <p:cNvPr id="51" name="矩形 50">
              <a:extLst>
                <a:ext uri="{FF2B5EF4-FFF2-40B4-BE49-F238E27FC236}">
                  <a16:creationId xmlns:a16="http://schemas.microsoft.com/office/drawing/2014/main" id="{CAF5C9B6-09BC-4D9F-81B0-796A28970C8B}"/>
                </a:ext>
              </a:extLst>
            </p:cNvPr>
            <p:cNvSpPr/>
            <p:nvPr/>
          </p:nvSpPr>
          <p:spPr>
            <a:xfrm>
              <a:off x="863675" y="1517134"/>
              <a:ext cx="3201517" cy="369332"/>
            </a:xfrm>
            <a:prstGeom prst="rect">
              <a:avLst/>
            </a:prstGeom>
          </p:spPr>
          <p:txBody>
            <a:bodyPr wrap="none">
              <a:spAutoFit/>
            </a:bodyPr>
            <a:lstStyle/>
            <a:p>
              <a:r>
                <a:rPr lang="zh-CN" altLang="en-US" b="1" dirty="0">
                  <a:solidFill>
                    <a:schemeClr val="accent1">
                      <a:lumMod val="50000"/>
                    </a:schemeClr>
                  </a:solidFill>
                  <a:latin typeface="Times New Roman" panose="02020603050405020304" pitchFamily="18" charset="0"/>
                  <a:ea typeface="黑体" pitchFamily="49" charset="-122"/>
                  <a:cs typeface="Times New Roman" panose="02020603050405020304" pitchFamily="18" charset="0"/>
                </a:rPr>
                <a:t>其他类型的</a:t>
              </a:r>
              <a:r>
                <a:rPr lang="en-US" altLang="zh-CN" b="1" dirty="0">
                  <a:solidFill>
                    <a:schemeClr val="accent1">
                      <a:lumMod val="50000"/>
                    </a:schemeClr>
                  </a:solidFill>
                  <a:latin typeface="Times New Roman" panose="02020603050405020304" pitchFamily="18" charset="0"/>
                  <a:ea typeface="黑体" pitchFamily="49" charset="-122"/>
                  <a:cs typeface="Times New Roman" panose="02020603050405020304" pitchFamily="18" charset="0"/>
                </a:rPr>
                <a:t>CMOS</a:t>
              </a:r>
              <a:r>
                <a:rPr lang="zh-CN" altLang="en-US" b="1" dirty="0">
                  <a:solidFill>
                    <a:schemeClr val="accent1">
                      <a:lumMod val="50000"/>
                    </a:schemeClr>
                  </a:solidFill>
                  <a:latin typeface="Times New Roman" panose="02020603050405020304" pitchFamily="18" charset="0"/>
                  <a:ea typeface="黑体" pitchFamily="49" charset="-122"/>
                  <a:cs typeface="Times New Roman" panose="02020603050405020304" pitchFamily="18" charset="0"/>
                </a:rPr>
                <a:t>逻辑门电路</a:t>
              </a:r>
            </a:p>
          </p:txBody>
        </p:sp>
      </p:grpSp>
    </p:spTree>
  </p:cSld>
  <p:clrMapOvr>
    <a:masterClrMapping/>
  </p:clrMapOvr>
  <mc:AlternateContent xmlns:mc="http://schemas.openxmlformats.org/markup-compatibility/2006" xmlns:p14="http://schemas.microsoft.com/office/powerpoint/2010/main">
    <mc:Choice Requires="p14">
      <p:transition spd="slow" p14:dur="1200">
        <p14:prism di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slide(fromLeft)">
                                      <p:cBhvr>
                                        <p:cTn id="7" dur="10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slide(fromBottom)">
                                      <p:cBhvr>
                                        <p:cTn id="12" dur="1000"/>
                                        <p:tgtEl>
                                          <p:spTgt spid="26"/>
                                        </p:tgtEl>
                                      </p:cBhvr>
                                    </p:animEffect>
                                  </p:childTnLst>
                                </p:cTn>
                              </p:par>
                            </p:childTnLst>
                          </p:cTn>
                        </p:par>
                        <p:par>
                          <p:cTn id="13" fill="hold">
                            <p:stCondLst>
                              <p:cond delay="1000"/>
                            </p:stCondLst>
                            <p:childTnLst>
                              <p:par>
                                <p:cTn id="14" presetID="22" presetClass="entr" presetSubtype="2" fill="hold" grpId="0" nodeType="after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wipe(right)">
                                      <p:cBhvr>
                                        <p:cTn id="16" dur="1000"/>
                                        <p:tgtEl>
                                          <p:spTgt spid="33"/>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4" fill="hold" nodeType="clickEffect">
                                  <p:stCondLst>
                                    <p:cond delay="0"/>
                                  </p:stCondLst>
                                  <p:childTnLst>
                                    <p:set>
                                      <p:cBhvr>
                                        <p:cTn id="20" dur="1" fill="hold">
                                          <p:stCondLst>
                                            <p:cond delay="0"/>
                                          </p:stCondLst>
                                        </p:cTn>
                                        <p:tgtEl>
                                          <p:spTgt spid="42"/>
                                        </p:tgtEl>
                                        <p:attrNameLst>
                                          <p:attrName>style.visibility</p:attrName>
                                        </p:attrNameLst>
                                      </p:cBhvr>
                                      <p:to>
                                        <p:strVal val="visible"/>
                                      </p:to>
                                    </p:set>
                                    <p:animEffect transition="in" filter="slide(fromBottom)">
                                      <p:cBhvr>
                                        <p:cTn id="21" dur="1000"/>
                                        <p:tgtEl>
                                          <p:spTgt spid="42"/>
                                        </p:tgtEl>
                                      </p:cBhvr>
                                    </p:animEffec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wipe(left)">
                                      <p:cBhvr>
                                        <p:cTn id="25" dur="1000"/>
                                        <p:tgtEl>
                                          <p:spTgt spid="35"/>
                                        </p:tgtEl>
                                      </p:cBhvr>
                                    </p:animEffect>
                                  </p:childTnLst>
                                </p:cTn>
                              </p:par>
                            </p:childTnLst>
                          </p:cTn>
                        </p:par>
                        <p:par>
                          <p:cTn id="26" fill="hold">
                            <p:stCondLst>
                              <p:cond delay="2000"/>
                            </p:stCondLst>
                            <p:childTnLst>
                              <p:par>
                                <p:cTn id="27" presetID="22" presetClass="entr" presetSubtype="8" fill="hold" grpId="0" nodeType="after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wipe(left)">
                                      <p:cBhvr>
                                        <p:cTn id="29" dur="1000"/>
                                        <p:tgtEl>
                                          <p:spTgt spid="3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39"/>
                                        </p:tgtEl>
                                        <p:attrNameLst>
                                          <p:attrName>style.visibility</p:attrName>
                                        </p:attrNameLst>
                                      </p:cBhvr>
                                      <p:to>
                                        <p:strVal val="visible"/>
                                      </p:to>
                                    </p:set>
                                    <p:animEffect transition="in" filter="wipe(left)">
                                      <p:cBhvr>
                                        <p:cTn id="34" dur="1000"/>
                                        <p:tgtEl>
                                          <p:spTgt spid="39"/>
                                        </p:tgtEl>
                                      </p:cBhvr>
                                    </p:animEffect>
                                  </p:childTnLst>
                                </p:cTn>
                              </p:par>
                            </p:childTnLst>
                          </p:cTn>
                        </p:par>
                        <p:par>
                          <p:cTn id="35" fill="hold">
                            <p:stCondLst>
                              <p:cond delay="1000"/>
                            </p:stCondLst>
                            <p:childTnLst>
                              <p:par>
                                <p:cTn id="36" presetID="23" presetClass="entr" presetSubtype="16" fill="hold" grpId="0" nodeType="afterEffect">
                                  <p:stCondLst>
                                    <p:cond delay="0"/>
                                  </p:stCondLst>
                                  <p:childTnLst>
                                    <p:set>
                                      <p:cBhvr>
                                        <p:cTn id="37" dur="1" fill="hold">
                                          <p:stCondLst>
                                            <p:cond delay="0"/>
                                          </p:stCondLst>
                                        </p:cTn>
                                        <p:tgtEl>
                                          <p:spTgt spid="48"/>
                                        </p:tgtEl>
                                        <p:attrNameLst>
                                          <p:attrName>style.visibility</p:attrName>
                                        </p:attrNameLst>
                                      </p:cBhvr>
                                      <p:to>
                                        <p:strVal val="visible"/>
                                      </p:to>
                                    </p:set>
                                    <p:anim calcmode="lin" valueType="num">
                                      <p:cBhvr>
                                        <p:cTn id="38" dur="1000" fill="hold"/>
                                        <p:tgtEl>
                                          <p:spTgt spid="48"/>
                                        </p:tgtEl>
                                        <p:attrNameLst>
                                          <p:attrName>ppt_w</p:attrName>
                                        </p:attrNameLst>
                                      </p:cBhvr>
                                      <p:tavLst>
                                        <p:tav tm="0">
                                          <p:val>
                                            <p:fltVal val="0"/>
                                          </p:val>
                                        </p:tav>
                                        <p:tav tm="100000">
                                          <p:val>
                                            <p:strVal val="#ppt_w"/>
                                          </p:val>
                                        </p:tav>
                                      </p:tavLst>
                                    </p:anim>
                                    <p:anim calcmode="lin" valueType="num">
                                      <p:cBhvr>
                                        <p:cTn id="39" dur="1000" fill="hold"/>
                                        <p:tgtEl>
                                          <p:spTgt spid="48"/>
                                        </p:tgtEl>
                                        <p:attrNameLst>
                                          <p:attrName>ppt_h</p:attrName>
                                        </p:attrNameLst>
                                      </p:cBhvr>
                                      <p:tavLst>
                                        <p:tav tm="0">
                                          <p:val>
                                            <p:fltVal val="0"/>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40"/>
                                        </p:tgtEl>
                                        <p:attrNameLst>
                                          <p:attrName>style.visibility</p:attrName>
                                        </p:attrNameLst>
                                      </p:cBhvr>
                                      <p:to>
                                        <p:strVal val="visible"/>
                                      </p:to>
                                    </p:set>
                                    <p:animEffect transition="in" filter="wipe(left)">
                                      <p:cBhvr>
                                        <p:cTn id="44" dur="1000"/>
                                        <p:tgtEl>
                                          <p:spTgt spid="40"/>
                                        </p:tgtEl>
                                      </p:cBhvr>
                                    </p:animEffect>
                                  </p:childTnLst>
                                </p:cTn>
                              </p:par>
                            </p:childTnLst>
                          </p:cTn>
                        </p:par>
                        <p:par>
                          <p:cTn id="45" fill="hold">
                            <p:stCondLst>
                              <p:cond delay="1000"/>
                            </p:stCondLst>
                            <p:childTnLst>
                              <p:par>
                                <p:cTn id="46" presetID="23" presetClass="entr" presetSubtype="16" fill="hold" grpId="0" nodeType="afterEffect">
                                  <p:stCondLst>
                                    <p:cond delay="0"/>
                                  </p:stCondLst>
                                  <p:childTnLst>
                                    <p:set>
                                      <p:cBhvr>
                                        <p:cTn id="47" dur="1" fill="hold">
                                          <p:stCondLst>
                                            <p:cond delay="0"/>
                                          </p:stCondLst>
                                        </p:cTn>
                                        <p:tgtEl>
                                          <p:spTgt spid="47"/>
                                        </p:tgtEl>
                                        <p:attrNameLst>
                                          <p:attrName>style.visibility</p:attrName>
                                        </p:attrNameLst>
                                      </p:cBhvr>
                                      <p:to>
                                        <p:strVal val="visible"/>
                                      </p:to>
                                    </p:set>
                                    <p:anim calcmode="lin" valueType="num">
                                      <p:cBhvr>
                                        <p:cTn id="48" dur="1000" fill="hold"/>
                                        <p:tgtEl>
                                          <p:spTgt spid="47"/>
                                        </p:tgtEl>
                                        <p:attrNameLst>
                                          <p:attrName>ppt_w</p:attrName>
                                        </p:attrNameLst>
                                      </p:cBhvr>
                                      <p:tavLst>
                                        <p:tav tm="0">
                                          <p:val>
                                            <p:fltVal val="0"/>
                                          </p:val>
                                        </p:tav>
                                        <p:tav tm="100000">
                                          <p:val>
                                            <p:strVal val="#ppt_w"/>
                                          </p:val>
                                        </p:tav>
                                      </p:tavLst>
                                    </p:anim>
                                    <p:anim calcmode="lin" valueType="num">
                                      <p:cBhvr>
                                        <p:cTn id="49" dur="1000" fill="hold"/>
                                        <p:tgtEl>
                                          <p:spTgt spid="47"/>
                                        </p:tgtEl>
                                        <p:attrNameLst>
                                          <p:attrName>ppt_h</p:attrName>
                                        </p:attrNameLst>
                                      </p:cBhvr>
                                      <p:tavLst>
                                        <p:tav tm="0">
                                          <p:val>
                                            <p:fltVal val="0"/>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17" presetClass="entr" presetSubtype="10" fill="hold" nodeType="clickEffect">
                                  <p:stCondLst>
                                    <p:cond delay="0"/>
                                  </p:stCondLst>
                                  <p:childTnLst>
                                    <p:set>
                                      <p:cBhvr>
                                        <p:cTn id="53" dur="1" fill="hold">
                                          <p:stCondLst>
                                            <p:cond delay="0"/>
                                          </p:stCondLst>
                                        </p:cTn>
                                        <p:tgtEl>
                                          <p:spTgt spid="46"/>
                                        </p:tgtEl>
                                        <p:attrNameLst>
                                          <p:attrName>style.visibility</p:attrName>
                                        </p:attrNameLst>
                                      </p:cBhvr>
                                      <p:to>
                                        <p:strVal val="visible"/>
                                      </p:to>
                                    </p:set>
                                    <p:anim calcmode="lin" valueType="num">
                                      <p:cBhvr>
                                        <p:cTn id="54" dur="1000" fill="hold"/>
                                        <p:tgtEl>
                                          <p:spTgt spid="46"/>
                                        </p:tgtEl>
                                        <p:attrNameLst>
                                          <p:attrName>ppt_w</p:attrName>
                                        </p:attrNameLst>
                                      </p:cBhvr>
                                      <p:tavLst>
                                        <p:tav tm="0">
                                          <p:val>
                                            <p:fltVal val="0"/>
                                          </p:val>
                                        </p:tav>
                                        <p:tav tm="100000">
                                          <p:val>
                                            <p:strVal val="#ppt_w"/>
                                          </p:val>
                                        </p:tav>
                                      </p:tavLst>
                                    </p:anim>
                                    <p:anim calcmode="lin" valueType="num">
                                      <p:cBhvr>
                                        <p:cTn id="55" dur="1000" fill="hold"/>
                                        <p:tgtEl>
                                          <p:spTgt spid="46"/>
                                        </p:tgtEl>
                                        <p:attrNameLst>
                                          <p:attrName>ppt_h</p:attrName>
                                        </p:attrNameLst>
                                      </p:cBhvr>
                                      <p:tavLst>
                                        <p:tav tm="0">
                                          <p:val>
                                            <p:strVal val="#ppt_h"/>
                                          </p:val>
                                        </p:tav>
                                        <p:tav tm="100000">
                                          <p:val>
                                            <p:strVal val="#ppt_h"/>
                                          </p:val>
                                        </p:tav>
                                      </p:tavLst>
                                    </p:anim>
                                  </p:childTnLst>
                                </p:cTn>
                              </p:par>
                            </p:childTnLst>
                          </p:cTn>
                        </p:par>
                        <p:par>
                          <p:cTn id="56" fill="hold">
                            <p:stCondLst>
                              <p:cond delay="1000"/>
                            </p:stCondLst>
                            <p:childTnLst>
                              <p:par>
                                <p:cTn id="57" presetID="12" presetClass="entr" presetSubtype="4" fill="hold" grpId="0" nodeType="after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slide(fromBottom)">
                                      <p:cBhvr>
                                        <p:cTn id="59" dur="10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animBg="1"/>
      <p:bldP spid="35" grpId="0" animBg="1"/>
      <p:bldP spid="39" grpId="0"/>
      <p:bldP spid="40" grpId="0"/>
      <p:bldP spid="31" grpId="0"/>
      <p:bldP spid="47" grpId="0" animBg="1"/>
      <p:bldP spid="4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22"/>
          <p:cNvGrpSpPr/>
          <p:nvPr/>
        </p:nvGrpSpPr>
        <p:grpSpPr>
          <a:xfrm>
            <a:off x="4629150" y="839000"/>
            <a:ext cx="4373880" cy="2011680"/>
            <a:chOff x="845820" y="1303020"/>
            <a:chExt cx="4373880" cy="2011680"/>
          </a:xfrm>
        </p:grpSpPr>
        <p:grpSp>
          <p:nvGrpSpPr>
            <p:cNvPr id="8" name="组合 15"/>
            <p:cNvGrpSpPr/>
            <p:nvPr/>
          </p:nvGrpSpPr>
          <p:grpSpPr>
            <a:xfrm>
              <a:off x="845820" y="1303020"/>
              <a:ext cx="4373880" cy="2011680"/>
              <a:chOff x="845820" y="1303020"/>
              <a:chExt cx="4373880" cy="2011680"/>
            </a:xfrm>
          </p:grpSpPr>
          <p:grpSp>
            <p:nvGrpSpPr>
              <p:cNvPr id="9" name="组合 14"/>
              <p:cNvGrpSpPr/>
              <p:nvPr/>
            </p:nvGrpSpPr>
            <p:grpSpPr>
              <a:xfrm>
                <a:off x="845820" y="1303020"/>
                <a:ext cx="4373880" cy="2011680"/>
                <a:chOff x="548640" y="1981200"/>
                <a:chExt cx="5553409" cy="2468880"/>
              </a:xfrm>
            </p:grpSpPr>
            <p:graphicFrame>
              <p:nvGraphicFramePr>
                <p:cNvPr id="12" name="Object 77"/>
                <p:cNvGraphicFramePr>
                  <a:graphicFrameLocks noChangeAspect="1"/>
                </p:cNvGraphicFramePr>
                <p:nvPr/>
              </p:nvGraphicFramePr>
              <p:xfrm>
                <a:off x="822325" y="2032318"/>
                <a:ext cx="2579688" cy="2417762"/>
              </p:xfrm>
              <a:graphic>
                <a:graphicData uri="http://schemas.openxmlformats.org/presentationml/2006/ole">
                  <mc:AlternateContent xmlns:mc="http://schemas.openxmlformats.org/markup-compatibility/2006">
                    <mc:Choice xmlns:v="urn:schemas-microsoft-com:vml" Requires="v">
                      <p:oleObj spid="_x0000_s84994" name="Visio" r:id="rId3" imgW="1356539" imgH="1398243" progId="">
                        <p:embed/>
                      </p:oleObj>
                    </mc:Choice>
                    <mc:Fallback>
                      <p:oleObj name="Visio" r:id="rId3" imgW="1356539" imgH="1398243" progId="">
                        <p:embed/>
                        <p:pic>
                          <p:nvPicPr>
                            <p:cNvPr id="12" name="Object 7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2325" y="2032318"/>
                              <a:ext cx="2579688" cy="2417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圆角矩形 12"/>
                <p:cNvSpPr/>
                <p:nvPr/>
              </p:nvSpPr>
              <p:spPr>
                <a:xfrm>
                  <a:off x="548640" y="1981200"/>
                  <a:ext cx="5553409" cy="2461260"/>
                </a:xfrm>
                <a:prstGeom prst="roundRect">
                  <a:avLst>
                    <a:gd name="adj" fmla="val 6694"/>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TextBox 13"/>
              <p:cNvSpPr txBox="1"/>
              <p:nvPr/>
            </p:nvSpPr>
            <p:spPr>
              <a:xfrm>
                <a:off x="929640" y="2026920"/>
                <a:ext cx="514564" cy="276999"/>
              </a:xfrm>
              <a:prstGeom prst="rect">
                <a:avLst/>
              </a:prstGeom>
              <a:noFill/>
            </p:spPr>
            <p:txBody>
              <a:bodyPr wrap="none" lIns="0" tIns="0" rIns="0" bIns="0" rtlCol="0">
                <a:spAutoFit/>
              </a:bodyPr>
              <a:lstStyle/>
              <a:p>
                <a:r>
                  <a:rPr lang="el-GR" altLang="zh-CN" i="1" dirty="0">
                    <a:solidFill>
                      <a:srgbClr val="262626"/>
                    </a:solidFill>
                    <a:latin typeface="Times New Roman" pitchFamily="18" charset="0"/>
                    <a:ea typeface="黑体" pitchFamily="49" charset="-122"/>
                    <a:cs typeface="Times New Roman" pitchFamily="18" charset="0"/>
                  </a:rPr>
                  <a:t>υ</a:t>
                </a:r>
                <a:r>
                  <a:rPr lang="en-US" altLang="zh-CN" baseline="-25000" dirty="0">
                    <a:solidFill>
                      <a:srgbClr val="262626"/>
                    </a:solidFill>
                    <a:latin typeface="Times New Roman" pitchFamily="18" charset="0"/>
                    <a:ea typeface="黑体" pitchFamily="49" charset="-122"/>
                    <a:cs typeface="Times New Roman" pitchFamily="18" charset="0"/>
                  </a:rPr>
                  <a:t>I </a:t>
                </a:r>
                <a:r>
                  <a:rPr lang="en-US" altLang="zh-CN" dirty="0">
                    <a:solidFill>
                      <a:srgbClr val="262626"/>
                    </a:solidFill>
                    <a:latin typeface="Times New Roman" pitchFamily="18" charset="0"/>
                    <a:cs typeface="Times New Roman" pitchFamily="18" charset="0"/>
                  </a:rPr>
                  <a:t>/</a:t>
                </a:r>
                <a:r>
                  <a:rPr lang="el-GR" altLang="zh-CN" i="1" dirty="0">
                    <a:solidFill>
                      <a:srgbClr val="262626"/>
                    </a:solidFill>
                    <a:latin typeface="Times New Roman" pitchFamily="18" charset="0"/>
                    <a:ea typeface="黑体" pitchFamily="49" charset="-122"/>
                    <a:cs typeface="Times New Roman" pitchFamily="18" charset="0"/>
                  </a:rPr>
                  <a:t>υ</a:t>
                </a:r>
                <a:r>
                  <a:rPr lang="en-US" altLang="zh-CN" baseline="-25000" dirty="0">
                    <a:solidFill>
                      <a:srgbClr val="262626"/>
                    </a:solidFill>
                    <a:latin typeface="Times New Roman" pitchFamily="18" charset="0"/>
                    <a:ea typeface="黑体" pitchFamily="49" charset="-122"/>
                    <a:cs typeface="Times New Roman" pitchFamily="18" charset="0"/>
                  </a:rPr>
                  <a:t>O </a:t>
                </a:r>
                <a:endParaRPr lang="zh-CN" altLang="en-US" dirty="0">
                  <a:solidFill>
                    <a:srgbClr val="262626"/>
                  </a:solidFill>
                  <a:latin typeface="Times New Roman" pitchFamily="18" charset="0"/>
                  <a:cs typeface="Times New Roman" pitchFamily="18" charset="0"/>
                </a:endParaRPr>
              </a:p>
            </p:txBody>
          </p:sp>
          <p:sp>
            <p:nvSpPr>
              <p:cNvPr id="15" name="TextBox 14"/>
              <p:cNvSpPr txBox="1"/>
              <p:nvPr/>
            </p:nvSpPr>
            <p:spPr>
              <a:xfrm>
                <a:off x="2659380" y="2026920"/>
                <a:ext cx="476092" cy="276999"/>
              </a:xfrm>
              <a:prstGeom prst="rect">
                <a:avLst/>
              </a:prstGeom>
              <a:noFill/>
            </p:spPr>
            <p:txBody>
              <a:bodyPr wrap="none" lIns="0" tIns="0" rIns="0" bIns="0" rtlCol="0">
                <a:spAutoFit/>
              </a:bodyPr>
              <a:lstStyle/>
              <a:p>
                <a:r>
                  <a:rPr lang="el-GR" altLang="zh-CN" i="1" dirty="0">
                    <a:solidFill>
                      <a:srgbClr val="262626"/>
                    </a:solidFill>
                    <a:latin typeface="Times New Roman" pitchFamily="18" charset="0"/>
                    <a:ea typeface="黑体" pitchFamily="49" charset="-122"/>
                    <a:cs typeface="Times New Roman" pitchFamily="18" charset="0"/>
                  </a:rPr>
                  <a:t>υ</a:t>
                </a:r>
                <a:r>
                  <a:rPr lang="en-US" altLang="zh-CN" baseline="-25000" dirty="0">
                    <a:solidFill>
                      <a:srgbClr val="262626"/>
                    </a:solidFill>
                    <a:latin typeface="Times New Roman" pitchFamily="18" charset="0"/>
                    <a:ea typeface="黑体" pitchFamily="49" charset="-122"/>
                    <a:cs typeface="Times New Roman" pitchFamily="18" charset="0"/>
                  </a:rPr>
                  <a:t>O </a:t>
                </a:r>
                <a:r>
                  <a:rPr lang="en-US" altLang="zh-CN" dirty="0">
                    <a:solidFill>
                      <a:srgbClr val="262626"/>
                    </a:solidFill>
                    <a:latin typeface="Times New Roman" pitchFamily="18" charset="0"/>
                    <a:cs typeface="Times New Roman" pitchFamily="18" charset="0"/>
                  </a:rPr>
                  <a:t>/</a:t>
                </a:r>
                <a:r>
                  <a:rPr lang="el-GR" altLang="zh-CN" i="1" dirty="0">
                    <a:solidFill>
                      <a:srgbClr val="262626"/>
                    </a:solidFill>
                    <a:latin typeface="Times New Roman" pitchFamily="18" charset="0"/>
                    <a:ea typeface="黑体" pitchFamily="49" charset="-122"/>
                    <a:cs typeface="Times New Roman" pitchFamily="18" charset="0"/>
                  </a:rPr>
                  <a:t>υ</a:t>
                </a:r>
                <a:r>
                  <a:rPr lang="en-US" altLang="zh-CN" baseline="-25000" dirty="0">
                    <a:solidFill>
                      <a:srgbClr val="262626"/>
                    </a:solidFill>
                    <a:latin typeface="Times New Roman" pitchFamily="18" charset="0"/>
                    <a:ea typeface="黑体" pitchFamily="49" charset="-122"/>
                    <a:cs typeface="Times New Roman" pitchFamily="18" charset="0"/>
                  </a:rPr>
                  <a:t>I</a:t>
                </a:r>
                <a:endParaRPr lang="zh-CN" altLang="en-US" dirty="0">
                  <a:solidFill>
                    <a:srgbClr val="262626"/>
                  </a:solidFill>
                  <a:latin typeface="Times New Roman" pitchFamily="18" charset="0"/>
                  <a:cs typeface="Times New Roman" pitchFamily="18" charset="0"/>
                </a:endParaRPr>
              </a:p>
            </p:txBody>
          </p:sp>
        </p:grpSp>
        <p:grpSp>
          <p:nvGrpSpPr>
            <p:cNvPr id="10" name="组合 21"/>
            <p:cNvGrpSpPr/>
            <p:nvPr/>
          </p:nvGrpSpPr>
          <p:grpSpPr>
            <a:xfrm>
              <a:off x="3375660" y="1504050"/>
              <a:ext cx="1687672" cy="1557275"/>
              <a:chOff x="3771900" y="1465950"/>
              <a:chExt cx="1687672" cy="1557275"/>
            </a:xfrm>
          </p:grpSpPr>
          <p:pic>
            <p:nvPicPr>
              <p:cNvPr id="75781" name="Picture 5"/>
              <p:cNvPicPr>
                <a:picLocks noChangeAspect="1" noChangeArrowheads="1"/>
              </p:cNvPicPr>
              <p:nvPr/>
            </p:nvPicPr>
            <p:blipFill>
              <a:blip r:embed="rId5" cstate="print"/>
              <a:srcRect/>
              <a:stretch>
                <a:fillRect/>
              </a:stretch>
            </p:blipFill>
            <p:spPr bwMode="auto">
              <a:xfrm>
                <a:off x="3902394" y="1607819"/>
                <a:ext cx="1486472" cy="1327785"/>
              </a:xfrm>
              <a:prstGeom prst="rect">
                <a:avLst/>
              </a:prstGeom>
              <a:noFill/>
              <a:ln w="9525">
                <a:noFill/>
                <a:miter lim="800000"/>
                <a:headEnd/>
                <a:tailEnd/>
              </a:ln>
              <a:effectLst/>
            </p:spPr>
          </p:pic>
          <p:sp>
            <p:nvSpPr>
              <p:cNvPr id="18" name="TextBox 17"/>
              <p:cNvSpPr txBox="1"/>
              <p:nvPr/>
            </p:nvSpPr>
            <p:spPr>
              <a:xfrm>
                <a:off x="3771900" y="1965960"/>
                <a:ext cx="514564" cy="276999"/>
              </a:xfrm>
              <a:prstGeom prst="rect">
                <a:avLst/>
              </a:prstGeom>
              <a:noFill/>
            </p:spPr>
            <p:txBody>
              <a:bodyPr wrap="none" lIns="0" tIns="0" rIns="0" bIns="0" rtlCol="0">
                <a:spAutoFit/>
              </a:bodyPr>
              <a:lstStyle/>
              <a:p>
                <a:r>
                  <a:rPr lang="el-GR" altLang="zh-CN" i="1" dirty="0">
                    <a:solidFill>
                      <a:srgbClr val="262626"/>
                    </a:solidFill>
                    <a:latin typeface="Times New Roman" pitchFamily="18" charset="0"/>
                    <a:ea typeface="黑体" pitchFamily="49" charset="-122"/>
                    <a:cs typeface="Times New Roman" pitchFamily="18" charset="0"/>
                  </a:rPr>
                  <a:t>υ</a:t>
                </a:r>
                <a:r>
                  <a:rPr lang="en-US" altLang="zh-CN" baseline="-25000" dirty="0">
                    <a:solidFill>
                      <a:srgbClr val="262626"/>
                    </a:solidFill>
                    <a:latin typeface="Times New Roman" pitchFamily="18" charset="0"/>
                    <a:ea typeface="黑体" pitchFamily="49" charset="-122"/>
                    <a:cs typeface="Times New Roman" pitchFamily="18" charset="0"/>
                  </a:rPr>
                  <a:t>I </a:t>
                </a:r>
                <a:r>
                  <a:rPr lang="en-US" altLang="zh-CN" dirty="0">
                    <a:solidFill>
                      <a:srgbClr val="262626"/>
                    </a:solidFill>
                    <a:latin typeface="Times New Roman" pitchFamily="18" charset="0"/>
                    <a:cs typeface="Times New Roman" pitchFamily="18" charset="0"/>
                  </a:rPr>
                  <a:t>/</a:t>
                </a:r>
                <a:r>
                  <a:rPr lang="el-GR" altLang="zh-CN" i="1" dirty="0">
                    <a:solidFill>
                      <a:srgbClr val="262626"/>
                    </a:solidFill>
                    <a:latin typeface="Times New Roman" pitchFamily="18" charset="0"/>
                    <a:ea typeface="黑体" pitchFamily="49" charset="-122"/>
                    <a:cs typeface="Times New Roman" pitchFamily="18" charset="0"/>
                  </a:rPr>
                  <a:t>υ</a:t>
                </a:r>
                <a:r>
                  <a:rPr lang="en-US" altLang="zh-CN" baseline="-25000" dirty="0">
                    <a:solidFill>
                      <a:srgbClr val="262626"/>
                    </a:solidFill>
                    <a:latin typeface="Times New Roman" pitchFamily="18" charset="0"/>
                    <a:ea typeface="黑体" pitchFamily="49" charset="-122"/>
                    <a:cs typeface="Times New Roman" pitchFamily="18" charset="0"/>
                  </a:rPr>
                  <a:t>O </a:t>
                </a:r>
                <a:endParaRPr lang="zh-CN" altLang="en-US" dirty="0">
                  <a:solidFill>
                    <a:srgbClr val="262626"/>
                  </a:solidFill>
                  <a:latin typeface="Times New Roman" pitchFamily="18" charset="0"/>
                  <a:cs typeface="Times New Roman" pitchFamily="18" charset="0"/>
                </a:endParaRPr>
              </a:p>
            </p:txBody>
          </p:sp>
          <p:sp>
            <p:nvSpPr>
              <p:cNvPr id="19" name="TextBox 18"/>
              <p:cNvSpPr txBox="1"/>
              <p:nvPr/>
            </p:nvSpPr>
            <p:spPr>
              <a:xfrm>
                <a:off x="4983480" y="1965960"/>
                <a:ext cx="476092" cy="276999"/>
              </a:xfrm>
              <a:prstGeom prst="rect">
                <a:avLst/>
              </a:prstGeom>
              <a:noFill/>
            </p:spPr>
            <p:txBody>
              <a:bodyPr wrap="none" lIns="0" tIns="0" rIns="0" bIns="0" rtlCol="0">
                <a:spAutoFit/>
              </a:bodyPr>
              <a:lstStyle/>
              <a:p>
                <a:r>
                  <a:rPr lang="el-GR" altLang="zh-CN" i="1" dirty="0">
                    <a:solidFill>
                      <a:srgbClr val="262626"/>
                    </a:solidFill>
                    <a:latin typeface="Times New Roman" pitchFamily="18" charset="0"/>
                    <a:ea typeface="黑体" pitchFamily="49" charset="-122"/>
                    <a:cs typeface="Times New Roman" pitchFamily="18" charset="0"/>
                  </a:rPr>
                  <a:t>υ</a:t>
                </a:r>
                <a:r>
                  <a:rPr lang="en-US" altLang="zh-CN" baseline="-25000" dirty="0">
                    <a:solidFill>
                      <a:srgbClr val="262626"/>
                    </a:solidFill>
                    <a:latin typeface="Times New Roman" pitchFamily="18" charset="0"/>
                    <a:ea typeface="黑体" pitchFamily="49" charset="-122"/>
                    <a:cs typeface="Times New Roman" pitchFamily="18" charset="0"/>
                  </a:rPr>
                  <a:t>O </a:t>
                </a:r>
                <a:r>
                  <a:rPr lang="en-US" altLang="zh-CN" dirty="0">
                    <a:solidFill>
                      <a:srgbClr val="262626"/>
                    </a:solidFill>
                    <a:latin typeface="Times New Roman" pitchFamily="18" charset="0"/>
                    <a:cs typeface="Times New Roman" pitchFamily="18" charset="0"/>
                  </a:rPr>
                  <a:t>/</a:t>
                </a:r>
                <a:r>
                  <a:rPr lang="el-GR" altLang="zh-CN" i="1" dirty="0">
                    <a:solidFill>
                      <a:srgbClr val="262626"/>
                    </a:solidFill>
                    <a:latin typeface="Times New Roman" pitchFamily="18" charset="0"/>
                    <a:ea typeface="黑体" pitchFamily="49" charset="-122"/>
                    <a:cs typeface="Times New Roman" pitchFamily="18" charset="0"/>
                  </a:rPr>
                  <a:t>υ</a:t>
                </a:r>
                <a:r>
                  <a:rPr lang="en-US" altLang="zh-CN" baseline="-25000" dirty="0">
                    <a:solidFill>
                      <a:srgbClr val="262626"/>
                    </a:solidFill>
                    <a:latin typeface="Times New Roman" pitchFamily="18" charset="0"/>
                    <a:ea typeface="黑体" pitchFamily="49" charset="-122"/>
                    <a:cs typeface="Times New Roman" pitchFamily="18" charset="0"/>
                  </a:rPr>
                  <a:t>I</a:t>
                </a:r>
                <a:endParaRPr lang="zh-CN" altLang="en-US" dirty="0">
                  <a:solidFill>
                    <a:srgbClr val="262626"/>
                  </a:solidFill>
                  <a:latin typeface="Times New Roman" pitchFamily="18" charset="0"/>
                  <a:cs typeface="Times New Roman" pitchFamily="18" charset="0"/>
                </a:endParaRPr>
              </a:p>
            </p:txBody>
          </p:sp>
          <p:graphicFrame>
            <p:nvGraphicFramePr>
              <p:cNvPr id="75782" name="Object 6"/>
              <p:cNvGraphicFramePr>
                <a:graphicFrameLocks noChangeAspect="1"/>
              </p:cNvGraphicFramePr>
              <p:nvPr/>
            </p:nvGraphicFramePr>
            <p:xfrm>
              <a:off x="4551045" y="1465950"/>
              <a:ext cx="173355" cy="212673"/>
            </p:xfrm>
            <a:graphic>
              <a:graphicData uri="http://schemas.openxmlformats.org/presentationml/2006/ole">
                <mc:AlternateContent xmlns:mc="http://schemas.openxmlformats.org/markup-compatibility/2006">
                  <mc:Choice xmlns:v="urn:schemas-microsoft-com:vml" Requires="v">
                    <p:oleObj spid="_x0000_s84995" name="公式" r:id="rId6" imgW="164957" imgH="203024" progId="">
                      <p:embed/>
                    </p:oleObj>
                  </mc:Choice>
                  <mc:Fallback>
                    <p:oleObj name="公式" r:id="rId6" imgW="164957" imgH="203024" progId="">
                      <p:embed/>
                      <p:pic>
                        <p:nvPicPr>
                          <p:cNvPr id="75782"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51045" y="1465950"/>
                            <a:ext cx="173355" cy="212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5783" name="Object 7"/>
              <p:cNvGraphicFramePr>
                <a:graphicFrameLocks noChangeAspect="1"/>
              </p:cNvGraphicFramePr>
              <p:nvPr/>
            </p:nvGraphicFramePr>
            <p:xfrm>
              <a:off x="4560888" y="2837488"/>
              <a:ext cx="160337" cy="185737"/>
            </p:xfrm>
            <a:graphic>
              <a:graphicData uri="http://schemas.openxmlformats.org/presentationml/2006/ole">
                <mc:AlternateContent xmlns:mc="http://schemas.openxmlformats.org/markup-compatibility/2006">
                  <mc:Choice xmlns:v="urn:schemas-microsoft-com:vml" Requires="v">
                    <p:oleObj spid="_x0000_s84996" name="公式" r:id="rId8" imgW="152202" imgH="177569" progId="">
                      <p:embed/>
                    </p:oleObj>
                  </mc:Choice>
                  <mc:Fallback>
                    <p:oleObj name="公式" r:id="rId8" imgW="152202" imgH="177569" progId="">
                      <p:embed/>
                      <p:pic>
                        <p:nvPicPr>
                          <p:cNvPr id="75783"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60888" y="2837488"/>
                            <a:ext cx="160337" cy="185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sp>
        <p:nvSpPr>
          <p:cNvPr id="33" name="AutoShape 21"/>
          <p:cNvSpPr>
            <a:spLocks noChangeArrowheads="1"/>
          </p:cNvSpPr>
          <p:nvPr/>
        </p:nvSpPr>
        <p:spPr bwMode="auto">
          <a:xfrm>
            <a:off x="4198989" y="2258462"/>
            <a:ext cx="920750" cy="318633"/>
          </a:xfrm>
          <a:prstGeom prst="wedgeRoundRectCallout">
            <a:avLst>
              <a:gd name="adj1" fmla="val 60039"/>
              <a:gd name="adj2" fmla="val -110940"/>
              <a:gd name="adj3" fmla="val 16667"/>
            </a:avLst>
          </a:prstGeom>
          <a:solidFill>
            <a:srgbClr val="FFFF66"/>
          </a:solidFill>
          <a:ln w="12700" algn="ctr">
            <a:solidFill>
              <a:srgbClr val="0000FF"/>
            </a:solidFill>
            <a:miter lim="800000"/>
            <a:headEnd/>
            <a:tailEnd/>
          </a:ln>
        </p:spPr>
        <p:txBody>
          <a:bodyPr lIns="0" rIns="0" anchor="ctr"/>
          <a:lstStyle/>
          <a:p>
            <a:pPr algn="ctr"/>
            <a:r>
              <a:rPr lang="en-US" altLang="zh-CN" sz="1400" dirty="0">
                <a:solidFill>
                  <a:srgbClr val="6600FF"/>
                </a:solidFill>
                <a:latin typeface="方正粗黑宋简体" pitchFamily="2" charset="-122"/>
                <a:ea typeface="方正粗黑宋简体" pitchFamily="2" charset="-122"/>
              </a:rPr>
              <a:t>0V~3V</a:t>
            </a:r>
          </a:p>
        </p:txBody>
      </p:sp>
      <p:sp>
        <p:nvSpPr>
          <p:cNvPr id="34" name="AutoShape 21"/>
          <p:cNvSpPr>
            <a:spLocks noChangeArrowheads="1"/>
          </p:cNvSpPr>
          <p:nvPr/>
        </p:nvSpPr>
        <p:spPr bwMode="auto">
          <a:xfrm>
            <a:off x="5835650" y="2708297"/>
            <a:ext cx="920750" cy="245253"/>
          </a:xfrm>
          <a:prstGeom prst="wedgeRoundRectCallout">
            <a:avLst>
              <a:gd name="adj1" fmla="val -56513"/>
              <a:gd name="adj2" fmla="val -106954"/>
              <a:gd name="adj3" fmla="val 16667"/>
            </a:avLst>
          </a:prstGeom>
          <a:solidFill>
            <a:srgbClr val="FFFF66"/>
          </a:solidFill>
          <a:ln w="12700" algn="ctr">
            <a:solidFill>
              <a:srgbClr val="0000FF"/>
            </a:solidFill>
            <a:miter lim="800000"/>
            <a:headEnd/>
            <a:tailEnd/>
          </a:ln>
        </p:spPr>
        <p:txBody>
          <a:bodyPr lIns="0" rIns="0" anchor="ctr"/>
          <a:lstStyle/>
          <a:p>
            <a:pPr algn="ctr"/>
            <a:r>
              <a:rPr lang="zh-CN" altLang="en-US" sz="1400" i="1" dirty="0">
                <a:solidFill>
                  <a:srgbClr val="6600FF"/>
                </a:solidFill>
                <a:latin typeface="方正粗黑宋简体" pitchFamily="2" charset="-122"/>
                <a:ea typeface="方正粗黑宋简体" pitchFamily="2" charset="-122"/>
                <a:sym typeface="Symbol" pitchFamily="18" charset="2"/>
              </a:rPr>
              <a:t></a:t>
            </a:r>
            <a:r>
              <a:rPr lang="en-US" altLang="zh-CN" sz="1400" baseline="-25000" dirty="0">
                <a:solidFill>
                  <a:srgbClr val="6600FF"/>
                </a:solidFill>
                <a:latin typeface="方正粗黑宋简体" pitchFamily="2" charset="-122"/>
                <a:ea typeface="方正粗黑宋简体" pitchFamily="2" charset="-122"/>
              </a:rPr>
              <a:t>GN</a:t>
            </a:r>
            <a:r>
              <a:rPr lang="zh-CN" altLang="en-US" sz="1400" dirty="0">
                <a:solidFill>
                  <a:srgbClr val="6600FF"/>
                </a:solidFill>
                <a:latin typeface="方正粗黑宋简体" pitchFamily="2" charset="-122"/>
                <a:ea typeface="方正粗黑宋简体" pitchFamily="2" charset="-122"/>
                <a:sym typeface="Symbol" pitchFamily="18" charset="2"/>
              </a:rPr>
              <a:t> </a:t>
            </a:r>
            <a:r>
              <a:rPr lang="en-US" altLang="zh-CN" sz="1400" dirty="0">
                <a:solidFill>
                  <a:srgbClr val="6600FF"/>
                </a:solidFill>
                <a:latin typeface="方正粗黑宋简体" pitchFamily="2" charset="-122"/>
                <a:ea typeface="方正粗黑宋简体" pitchFamily="2" charset="-122"/>
                <a:sym typeface="Symbol" pitchFamily="18" charset="2"/>
              </a:rPr>
              <a:t>=5V</a:t>
            </a:r>
            <a:endParaRPr lang="en-US" altLang="zh-CN" sz="1400" dirty="0">
              <a:solidFill>
                <a:srgbClr val="6600FF"/>
              </a:solidFill>
              <a:latin typeface="方正粗黑宋简体" pitchFamily="2" charset="-122"/>
              <a:ea typeface="方正粗黑宋简体" pitchFamily="2" charset="-122"/>
            </a:endParaRPr>
          </a:p>
        </p:txBody>
      </p:sp>
      <p:sp>
        <p:nvSpPr>
          <p:cNvPr id="35" name="AutoShape 21"/>
          <p:cNvSpPr>
            <a:spLocks noChangeArrowheads="1"/>
          </p:cNvSpPr>
          <p:nvPr/>
        </p:nvSpPr>
        <p:spPr bwMode="auto">
          <a:xfrm>
            <a:off x="5943600" y="714397"/>
            <a:ext cx="920750" cy="245253"/>
          </a:xfrm>
          <a:prstGeom prst="wedgeRoundRectCallout">
            <a:avLst>
              <a:gd name="adj1" fmla="val -67547"/>
              <a:gd name="adj2" fmla="val 141606"/>
              <a:gd name="adj3" fmla="val 16667"/>
            </a:avLst>
          </a:prstGeom>
          <a:solidFill>
            <a:srgbClr val="FFFF66"/>
          </a:solidFill>
          <a:ln w="12700" algn="ctr">
            <a:solidFill>
              <a:srgbClr val="0000FF"/>
            </a:solidFill>
            <a:miter lim="800000"/>
            <a:headEnd/>
            <a:tailEnd/>
          </a:ln>
        </p:spPr>
        <p:txBody>
          <a:bodyPr lIns="0" rIns="0" anchor="ctr"/>
          <a:lstStyle/>
          <a:p>
            <a:pPr algn="ctr"/>
            <a:r>
              <a:rPr lang="zh-CN" altLang="en-US" sz="1400" i="1" dirty="0">
                <a:solidFill>
                  <a:srgbClr val="6600FF"/>
                </a:solidFill>
                <a:latin typeface="方正粗黑宋简体" pitchFamily="2" charset="-122"/>
                <a:ea typeface="方正粗黑宋简体" pitchFamily="2" charset="-122"/>
                <a:sym typeface="Symbol" pitchFamily="18" charset="2"/>
              </a:rPr>
              <a:t></a:t>
            </a:r>
            <a:r>
              <a:rPr lang="en-US" altLang="zh-CN" sz="1400" baseline="-25000" dirty="0">
                <a:solidFill>
                  <a:srgbClr val="6600FF"/>
                </a:solidFill>
                <a:latin typeface="方正粗黑宋简体" pitchFamily="2" charset="-122"/>
                <a:ea typeface="方正粗黑宋简体" pitchFamily="2" charset="-122"/>
              </a:rPr>
              <a:t>GP</a:t>
            </a:r>
            <a:r>
              <a:rPr lang="zh-CN" altLang="en-US" sz="1400" dirty="0">
                <a:solidFill>
                  <a:srgbClr val="6600FF"/>
                </a:solidFill>
                <a:latin typeface="方正粗黑宋简体" pitchFamily="2" charset="-122"/>
                <a:ea typeface="方正粗黑宋简体" pitchFamily="2" charset="-122"/>
                <a:sym typeface="Symbol" pitchFamily="18" charset="2"/>
              </a:rPr>
              <a:t> </a:t>
            </a:r>
            <a:r>
              <a:rPr lang="en-US" altLang="zh-CN" sz="1400" dirty="0">
                <a:solidFill>
                  <a:srgbClr val="6600FF"/>
                </a:solidFill>
                <a:latin typeface="方正粗黑宋简体" pitchFamily="2" charset="-122"/>
                <a:ea typeface="方正粗黑宋简体" pitchFamily="2" charset="-122"/>
                <a:sym typeface="Symbol" pitchFamily="18" charset="2"/>
              </a:rPr>
              <a:t>=0V</a:t>
            </a:r>
            <a:endParaRPr lang="en-US" altLang="zh-CN" sz="1400" dirty="0">
              <a:solidFill>
                <a:srgbClr val="6600FF"/>
              </a:solidFill>
              <a:latin typeface="方正粗黑宋简体" pitchFamily="2" charset="-122"/>
              <a:ea typeface="方正粗黑宋简体" pitchFamily="2" charset="-122"/>
            </a:endParaRPr>
          </a:p>
        </p:txBody>
      </p:sp>
      <p:sp>
        <p:nvSpPr>
          <p:cNvPr id="39" name="矩形 38"/>
          <p:cNvSpPr/>
          <p:nvPr/>
        </p:nvSpPr>
        <p:spPr>
          <a:xfrm>
            <a:off x="967312" y="3713518"/>
            <a:ext cx="7879350" cy="338554"/>
          </a:xfrm>
          <a:prstGeom prst="rect">
            <a:avLst/>
          </a:prstGeom>
        </p:spPr>
        <p:txBody>
          <a:bodyPr wrap="square">
            <a:spAutoFit/>
          </a:bodyPr>
          <a:lstStyle/>
          <a:p>
            <a:pPr>
              <a:buFont typeface="Wingdings" pitchFamily="2" charset="2"/>
              <a:buChar char="Ø"/>
            </a:pPr>
            <a:r>
              <a:rPr lang="zh-CN" altLang="en-US" sz="1600" i="1" dirty="0">
                <a:solidFill>
                  <a:srgbClr val="6600FF"/>
                </a:solidFill>
                <a:latin typeface="方正粗黑宋简体" pitchFamily="2" charset="-122"/>
                <a:ea typeface="方正粗黑宋简体" pitchFamily="2" charset="-122"/>
                <a:sym typeface="Symbol" pitchFamily="18" charset="2"/>
              </a:rPr>
              <a:t></a:t>
            </a:r>
            <a:r>
              <a:rPr lang="en-US" altLang="zh-CN" sz="1600" baseline="-25000" dirty="0">
                <a:solidFill>
                  <a:srgbClr val="6600FF"/>
                </a:solidFill>
                <a:latin typeface="方正粗黑宋简体" pitchFamily="2" charset="-122"/>
                <a:ea typeface="方正粗黑宋简体" pitchFamily="2" charset="-122"/>
                <a:sym typeface="Symbol" pitchFamily="18" charset="2"/>
              </a:rPr>
              <a:t>I </a:t>
            </a:r>
            <a:r>
              <a:rPr lang="zh-CN" altLang="en-US" sz="1600" dirty="0">
                <a:solidFill>
                  <a:srgbClr val="6600FF"/>
                </a:solidFill>
                <a:latin typeface="方正粗黑宋简体" pitchFamily="2" charset="-122"/>
                <a:ea typeface="方正粗黑宋简体" pitchFamily="2" charset="-122"/>
                <a:sym typeface="Symbol" pitchFamily="18" charset="2"/>
              </a:rPr>
              <a:t>＝</a:t>
            </a:r>
            <a:r>
              <a:rPr lang="en-US" altLang="zh-CN" sz="1400" dirty="0">
                <a:solidFill>
                  <a:srgbClr val="6600FF"/>
                </a:solidFill>
                <a:latin typeface="方正粗黑宋简体" pitchFamily="2" charset="-122"/>
                <a:ea typeface="方正粗黑宋简体" pitchFamily="2" charset="-122"/>
                <a:sym typeface="Symbol" pitchFamily="18" charset="2"/>
              </a:rPr>
              <a:t>0V</a:t>
            </a:r>
            <a:r>
              <a:rPr lang="zh-CN" altLang="en-US" sz="1400" dirty="0">
                <a:solidFill>
                  <a:srgbClr val="6600FF"/>
                </a:solidFill>
                <a:latin typeface="方正粗黑宋简体" pitchFamily="2" charset="-122"/>
                <a:ea typeface="方正粗黑宋简体" pitchFamily="2" charset="-122"/>
                <a:sym typeface="Symbol" pitchFamily="18" charset="2"/>
              </a:rPr>
              <a:t>～</a:t>
            </a:r>
            <a:r>
              <a:rPr lang="en-US" altLang="zh-CN" sz="1400" dirty="0">
                <a:solidFill>
                  <a:srgbClr val="6600FF"/>
                </a:solidFill>
                <a:latin typeface="方正粗黑宋简体" pitchFamily="2" charset="-122"/>
                <a:ea typeface="方正粗黑宋简体" pitchFamily="2" charset="-122"/>
                <a:sym typeface="Symbol" pitchFamily="18" charset="2"/>
              </a:rPr>
              <a:t>3V</a:t>
            </a:r>
            <a:r>
              <a:rPr lang="zh-CN" altLang="en-US" sz="1400" dirty="0">
                <a:latin typeface="方正粗黑宋简体" pitchFamily="2" charset="-122"/>
                <a:ea typeface="方正粗黑宋简体" pitchFamily="2" charset="-122"/>
                <a:sym typeface="Symbol" pitchFamily="18" charset="2"/>
              </a:rPr>
              <a:t>：</a:t>
            </a:r>
            <a:r>
              <a:rPr lang="zh-CN" altLang="en-US" sz="1600" i="1" dirty="0">
                <a:latin typeface="方正粗黑宋简体" pitchFamily="2" charset="-122"/>
                <a:ea typeface="方正粗黑宋简体" pitchFamily="2" charset="-122"/>
                <a:sym typeface="Symbol" pitchFamily="18" charset="2"/>
              </a:rPr>
              <a:t></a:t>
            </a:r>
            <a:r>
              <a:rPr lang="en-US" altLang="zh-CN" sz="1600" baseline="-25000" dirty="0">
                <a:latin typeface="方正粗黑宋简体" pitchFamily="2" charset="-122"/>
                <a:ea typeface="方正粗黑宋简体" pitchFamily="2" charset="-122"/>
                <a:sym typeface="Symbol" pitchFamily="18" charset="2"/>
              </a:rPr>
              <a:t>GSN</a:t>
            </a:r>
            <a:r>
              <a:rPr lang="zh-CN" altLang="en-US" sz="1600" dirty="0">
                <a:latin typeface="方正粗黑宋简体" pitchFamily="2" charset="-122"/>
                <a:ea typeface="方正粗黑宋简体" pitchFamily="2" charset="-122"/>
                <a:sym typeface="Symbol" pitchFamily="18" charset="2"/>
              </a:rPr>
              <a:t>＝</a:t>
            </a:r>
            <a:r>
              <a:rPr lang="zh-CN" altLang="en-US" sz="1600" i="1" dirty="0">
                <a:latin typeface="方正粗黑宋简体" pitchFamily="2" charset="-122"/>
                <a:ea typeface="方正粗黑宋简体" pitchFamily="2" charset="-122"/>
                <a:sym typeface="Symbol" pitchFamily="18" charset="2"/>
              </a:rPr>
              <a:t></a:t>
            </a:r>
            <a:r>
              <a:rPr lang="en-US" altLang="zh-CN" sz="1600" baseline="-25000" dirty="0">
                <a:latin typeface="方正粗黑宋简体" pitchFamily="2" charset="-122"/>
                <a:ea typeface="方正粗黑宋简体" pitchFamily="2" charset="-122"/>
                <a:sym typeface="Symbol" pitchFamily="18" charset="2"/>
              </a:rPr>
              <a:t>GN</a:t>
            </a:r>
            <a:r>
              <a:rPr lang="en-US" altLang="zh-CN" sz="1600" dirty="0">
                <a:latin typeface="方正粗黑宋简体" pitchFamily="2" charset="-122"/>
                <a:ea typeface="方正粗黑宋简体" pitchFamily="2" charset="-122"/>
                <a:sym typeface="Symbol" pitchFamily="18" charset="2"/>
              </a:rPr>
              <a:t>-</a:t>
            </a:r>
            <a:r>
              <a:rPr lang="zh-CN" altLang="en-US" sz="1600" i="1" dirty="0">
                <a:latin typeface="方正粗黑宋简体" pitchFamily="2" charset="-122"/>
                <a:ea typeface="方正粗黑宋简体" pitchFamily="2" charset="-122"/>
                <a:sym typeface="Symbol" pitchFamily="18" charset="2"/>
              </a:rPr>
              <a:t></a:t>
            </a:r>
            <a:r>
              <a:rPr lang="en-US" altLang="zh-CN" sz="1600" baseline="-25000" dirty="0">
                <a:latin typeface="方正粗黑宋简体" pitchFamily="2" charset="-122"/>
                <a:ea typeface="方正粗黑宋简体" pitchFamily="2" charset="-122"/>
                <a:sym typeface="Symbol" pitchFamily="18" charset="2"/>
              </a:rPr>
              <a:t>SN </a:t>
            </a:r>
            <a:r>
              <a:rPr lang="en-US" altLang="zh-CN" sz="1400" dirty="0">
                <a:latin typeface="方正粗黑宋简体" pitchFamily="2" charset="-122"/>
                <a:ea typeface="方正粗黑宋简体" pitchFamily="2" charset="-122"/>
                <a:sym typeface="Symbol" pitchFamily="18" charset="2"/>
              </a:rPr>
              <a:t>=5V</a:t>
            </a:r>
            <a:r>
              <a:rPr lang="zh-CN" altLang="en-US" sz="1400" dirty="0">
                <a:latin typeface="方正粗黑宋简体" pitchFamily="2" charset="-122"/>
                <a:ea typeface="方正粗黑宋简体" pitchFamily="2" charset="-122"/>
                <a:sym typeface="Symbol" pitchFamily="18" charset="2"/>
              </a:rPr>
              <a:t>－</a:t>
            </a:r>
            <a:r>
              <a:rPr lang="en-US" altLang="zh-CN" sz="1400" dirty="0">
                <a:latin typeface="方正粗黑宋简体" pitchFamily="2" charset="-122"/>
                <a:ea typeface="方正粗黑宋简体" pitchFamily="2" charset="-122"/>
                <a:sym typeface="Symbol" pitchFamily="18" charset="2"/>
              </a:rPr>
              <a:t>(0V</a:t>
            </a:r>
            <a:r>
              <a:rPr lang="zh-CN" altLang="en-US" sz="1400" dirty="0">
                <a:latin typeface="方正粗黑宋简体" pitchFamily="2" charset="-122"/>
                <a:ea typeface="方正粗黑宋简体" pitchFamily="2" charset="-122"/>
                <a:sym typeface="Symbol" pitchFamily="18" charset="2"/>
              </a:rPr>
              <a:t>～</a:t>
            </a:r>
            <a:r>
              <a:rPr lang="en-US" altLang="zh-CN" sz="1400" dirty="0">
                <a:latin typeface="方正粗黑宋简体" pitchFamily="2" charset="-122"/>
                <a:ea typeface="方正粗黑宋简体" pitchFamily="2" charset="-122"/>
                <a:sym typeface="Symbol" pitchFamily="18" charset="2"/>
              </a:rPr>
              <a:t>3V) </a:t>
            </a:r>
            <a:r>
              <a:rPr lang="en-US" altLang="zh-CN" sz="1600" dirty="0">
                <a:latin typeface="方正粗黑宋简体" pitchFamily="2" charset="-122"/>
                <a:ea typeface="方正粗黑宋简体" pitchFamily="2" charset="-122"/>
                <a:sym typeface="Symbol" pitchFamily="18" charset="2"/>
              </a:rPr>
              <a:t>=(+2</a:t>
            </a:r>
            <a:r>
              <a:rPr lang="zh-CN" altLang="en-US" sz="1600" dirty="0">
                <a:latin typeface="方正粗黑宋简体" pitchFamily="2" charset="-122"/>
                <a:ea typeface="方正粗黑宋简体" pitchFamily="2" charset="-122"/>
                <a:sym typeface="Symbol" pitchFamily="18" charset="2"/>
              </a:rPr>
              <a:t>～</a:t>
            </a:r>
            <a:r>
              <a:rPr lang="en-US" altLang="zh-CN" sz="1600" dirty="0">
                <a:latin typeface="方正粗黑宋简体" pitchFamily="2" charset="-122"/>
                <a:ea typeface="方正粗黑宋简体" pitchFamily="2" charset="-122"/>
                <a:sym typeface="Symbol" pitchFamily="18" charset="2"/>
              </a:rPr>
              <a:t>+5)V &gt;</a:t>
            </a:r>
            <a:r>
              <a:rPr lang="en-US" altLang="zh-CN" sz="1600" i="1" dirty="0">
                <a:latin typeface="方正粗黑宋简体" pitchFamily="2" charset="-122"/>
                <a:ea typeface="方正粗黑宋简体" pitchFamily="2" charset="-122"/>
                <a:sym typeface="Symbol" pitchFamily="18" charset="2"/>
              </a:rPr>
              <a:t>V</a:t>
            </a:r>
            <a:r>
              <a:rPr lang="en-US" altLang="zh-CN" sz="1600" baseline="-25000" dirty="0">
                <a:latin typeface="方正粗黑宋简体" pitchFamily="2" charset="-122"/>
                <a:ea typeface="方正粗黑宋简体" pitchFamily="2" charset="-122"/>
                <a:sym typeface="Symbol" pitchFamily="18" charset="2"/>
              </a:rPr>
              <a:t>TN</a:t>
            </a:r>
            <a:r>
              <a:rPr lang="zh-CN" altLang="en-US" sz="1600" dirty="0">
                <a:latin typeface="方正粗黑宋简体" pitchFamily="2" charset="-122"/>
                <a:ea typeface="方正粗黑宋简体" pitchFamily="2" charset="-122"/>
                <a:sym typeface="Symbol" pitchFamily="18" charset="2"/>
              </a:rPr>
              <a:t>；</a:t>
            </a:r>
            <a:r>
              <a:rPr lang="en-US" altLang="zh-CN" sz="1600" dirty="0">
                <a:latin typeface="方正粗黑宋简体" pitchFamily="2" charset="-122"/>
                <a:ea typeface="方正粗黑宋简体" pitchFamily="2" charset="-122"/>
                <a:sym typeface="Symbol" pitchFamily="18" charset="2"/>
              </a:rPr>
              <a:t>T</a:t>
            </a:r>
            <a:r>
              <a:rPr lang="en-US" altLang="zh-CN" sz="1600" baseline="-25000" dirty="0">
                <a:latin typeface="方正粗黑宋简体" pitchFamily="2" charset="-122"/>
                <a:ea typeface="方正粗黑宋简体" pitchFamily="2" charset="-122"/>
                <a:sym typeface="Symbol" pitchFamily="18" charset="2"/>
              </a:rPr>
              <a:t>N</a:t>
            </a:r>
            <a:r>
              <a:rPr lang="zh-CN" altLang="en-US" sz="1600" dirty="0">
                <a:latin typeface="方正粗黑宋简体" pitchFamily="2" charset="-122"/>
                <a:ea typeface="方正粗黑宋简体" pitchFamily="2" charset="-122"/>
                <a:sym typeface="Symbol" pitchFamily="18" charset="2"/>
              </a:rPr>
              <a:t>导通。</a:t>
            </a:r>
            <a:endParaRPr lang="en-US" altLang="zh-CN" sz="1600" dirty="0">
              <a:latin typeface="方正粗黑宋简体" pitchFamily="2" charset="-122"/>
              <a:ea typeface="方正粗黑宋简体" pitchFamily="2" charset="-122"/>
            </a:endParaRPr>
          </a:p>
        </p:txBody>
      </p:sp>
      <p:sp>
        <p:nvSpPr>
          <p:cNvPr id="31" name="矩形 30"/>
          <p:cNvSpPr/>
          <p:nvPr/>
        </p:nvSpPr>
        <p:spPr>
          <a:xfrm>
            <a:off x="1910296" y="4675820"/>
            <a:ext cx="5314275" cy="378950"/>
          </a:xfrm>
          <a:prstGeom prst="rect">
            <a:avLst/>
          </a:prstGeom>
        </p:spPr>
        <p:txBody>
          <a:bodyPr wrap="none">
            <a:spAutoFit/>
          </a:bodyPr>
          <a:lstStyle/>
          <a:p>
            <a:pPr>
              <a:lnSpc>
                <a:spcPct val="125000"/>
              </a:lnSpc>
            </a:pPr>
            <a:r>
              <a:rPr lang="zh-CN" altLang="en-US" sz="1600" i="1" dirty="0">
                <a:solidFill>
                  <a:srgbClr val="6600FF"/>
                </a:solidFill>
                <a:latin typeface="方正粗黑宋简体" pitchFamily="2" charset="-122"/>
                <a:ea typeface="方正粗黑宋简体" pitchFamily="2" charset="-122"/>
                <a:sym typeface="Symbol" pitchFamily="18" charset="2"/>
              </a:rPr>
              <a:t></a:t>
            </a:r>
            <a:r>
              <a:rPr lang="en-US" altLang="zh-CN" sz="1600" baseline="-25000" dirty="0">
                <a:solidFill>
                  <a:srgbClr val="6600FF"/>
                </a:solidFill>
                <a:latin typeface="方正粗黑宋简体" pitchFamily="2" charset="-122"/>
                <a:ea typeface="方正粗黑宋简体" pitchFamily="2" charset="-122"/>
                <a:sym typeface="Symbol" pitchFamily="18" charset="2"/>
              </a:rPr>
              <a:t>I</a:t>
            </a:r>
            <a:r>
              <a:rPr lang="en-US" altLang="zh-CN" sz="1600" dirty="0">
                <a:solidFill>
                  <a:srgbClr val="6600FF"/>
                </a:solidFill>
                <a:latin typeface="方正粗黑宋简体" pitchFamily="2" charset="-122"/>
                <a:ea typeface="方正粗黑宋简体" pitchFamily="2" charset="-122"/>
                <a:sym typeface="Symbol" pitchFamily="18" charset="2"/>
              </a:rPr>
              <a:t> </a:t>
            </a:r>
            <a:r>
              <a:rPr lang="zh-CN" altLang="en-US" sz="1600" dirty="0">
                <a:solidFill>
                  <a:srgbClr val="6600FF"/>
                </a:solidFill>
                <a:latin typeface="方正粗黑宋简体" pitchFamily="2" charset="-122"/>
                <a:ea typeface="方正粗黑宋简体" pitchFamily="2" charset="-122"/>
                <a:sym typeface="Symbol" pitchFamily="18" charset="2"/>
              </a:rPr>
              <a:t>＝</a:t>
            </a:r>
            <a:r>
              <a:rPr lang="en-US" altLang="zh-CN" sz="1600" dirty="0">
                <a:solidFill>
                  <a:srgbClr val="6600FF"/>
                </a:solidFill>
                <a:latin typeface="方正粗黑宋简体" pitchFamily="2" charset="-122"/>
                <a:ea typeface="方正粗黑宋简体" pitchFamily="2" charset="-122"/>
                <a:sym typeface="Symbol" pitchFamily="18" charset="2"/>
              </a:rPr>
              <a:t>0V</a:t>
            </a:r>
            <a:r>
              <a:rPr lang="zh-CN" altLang="en-US" sz="1600" dirty="0">
                <a:solidFill>
                  <a:srgbClr val="6600FF"/>
                </a:solidFill>
                <a:latin typeface="方正粗黑宋简体" pitchFamily="2" charset="-122"/>
                <a:ea typeface="方正粗黑宋简体" pitchFamily="2" charset="-122"/>
                <a:sym typeface="Symbol" pitchFamily="18" charset="2"/>
              </a:rPr>
              <a:t>～</a:t>
            </a:r>
            <a:r>
              <a:rPr lang="en-US" altLang="zh-CN" sz="1600" dirty="0">
                <a:solidFill>
                  <a:srgbClr val="6600FF"/>
                </a:solidFill>
                <a:latin typeface="方正粗黑宋简体" pitchFamily="2" charset="-122"/>
                <a:ea typeface="方正粗黑宋简体" pitchFamily="2" charset="-122"/>
                <a:sym typeface="Symbol" pitchFamily="18" charset="2"/>
              </a:rPr>
              <a:t>5V</a:t>
            </a:r>
            <a:r>
              <a:rPr lang="zh-CN" altLang="en-US" sz="1600" dirty="0">
                <a:solidFill>
                  <a:srgbClr val="6600FF"/>
                </a:solidFill>
                <a:latin typeface="方正粗黑宋简体" pitchFamily="2" charset="-122"/>
                <a:ea typeface="方正粗黑宋简体" pitchFamily="2" charset="-122"/>
                <a:sym typeface="Symbol" pitchFamily="18" charset="2"/>
              </a:rPr>
              <a:t>，整个门输出与输入之间均导通：</a:t>
            </a:r>
            <a:r>
              <a:rPr lang="zh-CN" altLang="en-US" sz="1600" i="1" dirty="0">
                <a:solidFill>
                  <a:srgbClr val="6600FF"/>
                </a:solidFill>
                <a:latin typeface="方正粗黑宋简体" pitchFamily="2" charset="-122"/>
                <a:ea typeface="方正粗黑宋简体" pitchFamily="2" charset="-122"/>
                <a:sym typeface="Symbol" pitchFamily="18" charset="2"/>
              </a:rPr>
              <a:t></a:t>
            </a:r>
            <a:r>
              <a:rPr lang="en-US" altLang="zh-CN" sz="1600" baseline="-25000" dirty="0">
                <a:solidFill>
                  <a:srgbClr val="6600FF"/>
                </a:solidFill>
                <a:latin typeface="方正粗黑宋简体" pitchFamily="2" charset="-122"/>
                <a:ea typeface="方正粗黑宋简体" pitchFamily="2" charset="-122"/>
                <a:sym typeface="Symbol" pitchFamily="18" charset="2"/>
              </a:rPr>
              <a:t>O</a:t>
            </a:r>
            <a:r>
              <a:rPr lang="en-US" altLang="zh-CN" sz="1600" dirty="0">
                <a:solidFill>
                  <a:srgbClr val="6600FF"/>
                </a:solidFill>
                <a:latin typeface="方正粗黑宋简体" pitchFamily="2" charset="-122"/>
                <a:ea typeface="方正粗黑宋简体" pitchFamily="2" charset="-122"/>
                <a:sym typeface="Symbol" pitchFamily="18" charset="2"/>
              </a:rPr>
              <a:t>=</a:t>
            </a:r>
            <a:r>
              <a:rPr lang="zh-CN" altLang="en-US" sz="1600" i="1" dirty="0">
                <a:solidFill>
                  <a:srgbClr val="6600FF"/>
                </a:solidFill>
                <a:latin typeface="方正粗黑宋简体" pitchFamily="2" charset="-122"/>
                <a:ea typeface="方正粗黑宋简体" pitchFamily="2" charset="-122"/>
                <a:sym typeface="Symbol" pitchFamily="18" charset="2"/>
              </a:rPr>
              <a:t> </a:t>
            </a:r>
            <a:r>
              <a:rPr lang="en-US" altLang="zh-CN" sz="1600" baseline="-25000" dirty="0">
                <a:solidFill>
                  <a:srgbClr val="6600FF"/>
                </a:solidFill>
                <a:latin typeface="方正粗黑宋简体" pitchFamily="2" charset="-122"/>
                <a:ea typeface="方正粗黑宋简体" pitchFamily="2" charset="-122"/>
                <a:sym typeface="Symbol" pitchFamily="18" charset="2"/>
              </a:rPr>
              <a:t>I</a:t>
            </a:r>
            <a:r>
              <a:rPr lang="zh-CN" altLang="en-US" sz="1600" dirty="0">
                <a:solidFill>
                  <a:srgbClr val="6600FF"/>
                </a:solidFill>
                <a:latin typeface="方正粗黑宋简体" pitchFamily="2" charset="-122"/>
                <a:ea typeface="方正粗黑宋简体" pitchFamily="2" charset="-122"/>
                <a:sym typeface="Symbol" pitchFamily="18" charset="2"/>
              </a:rPr>
              <a:t>。</a:t>
            </a:r>
          </a:p>
        </p:txBody>
      </p:sp>
      <p:sp>
        <p:nvSpPr>
          <p:cNvPr id="32" name="矩形 31"/>
          <p:cNvSpPr/>
          <p:nvPr/>
        </p:nvSpPr>
        <p:spPr>
          <a:xfrm>
            <a:off x="970343" y="4200661"/>
            <a:ext cx="7879350" cy="338554"/>
          </a:xfrm>
          <a:prstGeom prst="rect">
            <a:avLst/>
          </a:prstGeom>
        </p:spPr>
        <p:txBody>
          <a:bodyPr wrap="square">
            <a:spAutoFit/>
          </a:bodyPr>
          <a:lstStyle/>
          <a:p>
            <a:pPr>
              <a:buFont typeface="Wingdings" pitchFamily="2" charset="2"/>
              <a:buChar char="Ø"/>
            </a:pPr>
            <a:r>
              <a:rPr lang="zh-CN" altLang="en-US" sz="1600" i="1" dirty="0">
                <a:solidFill>
                  <a:srgbClr val="6600FF"/>
                </a:solidFill>
                <a:latin typeface="方正粗黑宋简体" pitchFamily="2" charset="-122"/>
                <a:ea typeface="方正粗黑宋简体" pitchFamily="2" charset="-122"/>
                <a:sym typeface="Symbol" pitchFamily="18" charset="2"/>
              </a:rPr>
              <a:t></a:t>
            </a:r>
            <a:r>
              <a:rPr lang="en-US" altLang="zh-CN" sz="1600" baseline="-25000" dirty="0">
                <a:solidFill>
                  <a:srgbClr val="6600FF"/>
                </a:solidFill>
                <a:latin typeface="方正粗黑宋简体" pitchFamily="2" charset="-122"/>
                <a:ea typeface="方正粗黑宋简体" pitchFamily="2" charset="-122"/>
                <a:sym typeface="Symbol" pitchFamily="18" charset="2"/>
              </a:rPr>
              <a:t>I </a:t>
            </a:r>
            <a:r>
              <a:rPr lang="zh-CN" altLang="en-US" sz="1600" dirty="0">
                <a:solidFill>
                  <a:srgbClr val="6600FF"/>
                </a:solidFill>
                <a:latin typeface="方正粗黑宋简体" pitchFamily="2" charset="-122"/>
                <a:ea typeface="方正粗黑宋简体" pitchFamily="2" charset="-122"/>
                <a:sym typeface="Symbol" pitchFamily="18" charset="2"/>
              </a:rPr>
              <a:t>＝</a:t>
            </a:r>
            <a:r>
              <a:rPr lang="en-US" altLang="zh-CN" sz="1400" dirty="0">
                <a:solidFill>
                  <a:srgbClr val="6600FF"/>
                </a:solidFill>
                <a:latin typeface="方正粗黑宋简体" pitchFamily="2" charset="-122"/>
                <a:ea typeface="方正粗黑宋简体" pitchFamily="2" charset="-122"/>
                <a:sym typeface="Symbol" pitchFamily="18" charset="2"/>
              </a:rPr>
              <a:t>2V</a:t>
            </a:r>
            <a:r>
              <a:rPr lang="zh-CN" altLang="en-US" sz="1400" dirty="0">
                <a:solidFill>
                  <a:srgbClr val="6600FF"/>
                </a:solidFill>
                <a:latin typeface="方正粗黑宋简体" pitchFamily="2" charset="-122"/>
                <a:ea typeface="方正粗黑宋简体" pitchFamily="2" charset="-122"/>
                <a:sym typeface="Symbol" pitchFamily="18" charset="2"/>
              </a:rPr>
              <a:t>～</a:t>
            </a:r>
            <a:r>
              <a:rPr lang="en-US" altLang="zh-CN" sz="1400" dirty="0">
                <a:solidFill>
                  <a:srgbClr val="6600FF"/>
                </a:solidFill>
                <a:latin typeface="方正粗黑宋简体" pitchFamily="2" charset="-122"/>
                <a:ea typeface="方正粗黑宋简体" pitchFamily="2" charset="-122"/>
                <a:sym typeface="Symbol" pitchFamily="18" charset="2"/>
              </a:rPr>
              <a:t>5V</a:t>
            </a:r>
            <a:r>
              <a:rPr lang="zh-CN" altLang="en-US" sz="1400" dirty="0">
                <a:latin typeface="方正粗黑宋简体" pitchFamily="2" charset="-122"/>
                <a:ea typeface="方正粗黑宋简体" pitchFamily="2" charset="-122"/>
                <a:sym typeface="Symbol" pitchFamily="18" charset="2"/>
              </a:rPr>
              <a:t>：</a:t>
            </a:r>
            <a:r>
              <a:rPr lang="zh-CN" altLang="en-US" sz="1600" i="1" dirty="0">
                <a:latin typeface="方正粗黑宋简体" pitchFamily="2" charset="-122"/>
                <a:ea typeface="方正粗黑宋简体" pitchFamily="2" charset="-122"/>
                <a:sym typeface="Symbol" pitchFamily="18" charset="2"/>
              </a:rPr>
              <a:t></a:t>
            </a:r>
            <a:r>
              <a:rPr lang="en-US" altLang="zh-CN" sz="1600" baseline="-25000" dirty="0">
                <a:latin typeface="方正粗黑宋简体" pitchFamily="2" charset="-122"/>
                <a:ea typeface="方正粗黑宋简体" pitchFamily="2" charset="-122"/>
                <a:sym typeface="Symbol" pitchFamily="18" charset="2"/>
              </a:rPr>
              <a:t>GSP</a:t>
            </a:r>
            <a:r>
              <a:rPr lang="zh-CN" altLang="en-US" sz="1600" dirty="0">
                <a:latin typeface="方正粗黑宋简体" pitchFamily="2" charset="-122"/>
                <a:ea typeface="方正粗黑宋简体" pitchFamily="2" charset="-122"/>
                <a:sym typeface="Symbol" pitchFamily="18" charset="2"/>
              </a:rPr>
              <a:t>＝</a:t>
            </a:r>
            <a:r>
              <a:rPr lang="zh-CN" altLang="en-US" sz="1600" i="1" dirty="0">
                <a:latin typeface="方正粗黑宋简体" pitchFamily="2" charset="-122"/>
                <a:ea typeface="方正粗黑宋简体" pitchFamily="2" charset="-122"/>
                <a:sym typeface="Symbol" pitchFamily="18" charset="2"/>
              </a:rPr>
              <a:t></a:t>
            </a:r>
            <a:r>
              <a:rPr lang="en-US" altLang="zh-CN" sz="1600" baseline="-25000" dirty="0">
                <a:latin typeface="方正粗黑宋简体" pitchFamily="2" charset="-122"/>
                <a:ea typeface="方正粗黑宋简体" pitchFamily="2" charset="-122"/>
                <a:sym typeface="Symbol" pitchFamily="18" charset="2"/>
              </a:rPr>
              <a:t>GP</a:t>
            </a:r>
            <a:r>
              <a:rPr lang="en-US" altLang="zh-CN" sz="1600" dirty="0">
                <a:latin typeface="方正粗黑宋简体" pitchFamily="2" charset="-122"/>
                <a:ea typeface="方正粗黑宋简体" pitchFamily="2" charset="-122"/>
                <a:sym typeface="Symbol" pitchFamily="18" charset="2"/>
              </a:rPr>
              <a:t>-</a:t>
            </a:r>
            <a:r>
              <a:rPr lang="zh-CN" altLang="en-US" sz="1600" i="1" dirty="0">
                <a:latin typeface="方正粗黑宋简体" pitchFamily="2" charset="-122"/>
                <a:ea typeface="方正粗黑宋简体" pitchFamily="2" charset="-122"/>
                <a:sym typeface="Symbol" pitchFamily="18" charset="2"/>
              </a:rPr>
              <a:t></a:t>
            </a:r>
            <a:r>
              <a:rPr lang="en-US" altLang="zh-CN" sz="1600" baseline="-25000" dirty="0">
                <a:latin typeface="方正粗黑宋简体" pitchFamily="2" charset="-122"/>
                <a:ea typeface="方正粗黑宋简体" pitchFamily="2" charset="-122"/>
                <a:sym typeface="Symbol" pitchFamily="18" charset="2"/>
              </a:rPr>
              <a:t>SP </a:t>
            </a:r>
            <a:r>
              <a:rPr lang="en-US" altLang="zh-CN" sz="1400" dirty="0">
                <a:latin typeface="方正粗黑宋简体" pitchFamily="2" charset="-122"/>
                <a:ea typeface="方正粗黑宋简体" pitchFamily="2" charset="-122"/>
                <a:sym typeface="Symbol" pitchFamily="18" charset="2"/>
              </a:rPr>
              <a:t>=0V</a:t>
            </a:r>
            <a:r>
              <a:rPr lang="zh-CN" altLang="en-US" sz="1400" dirty="0">
                <a:latin typeface="方正粗黑宋简体" pitchFamily="2" charset="-122"/>
                <a:ea typeface="方正粗黑宋简体" pitchFamily="2" charset="-122"/>
                <a:sym typeface="Symbol" pitchFamily="18" charset="2"/>
              </a:rPr>
              <a:t>－</a:t>
            </a:r>
            <a:r>
              <a:rPr lang="en-US" altLang="zh-CN" sz="1400" dirty="0">
                <a:latin typeface="方正粗黑宋简体" pitchFamily="2" charset="-122"/>
                <a:ea typeface="方正粗黑宋简体" pitchFamily="2" charset="-122"/>
                <a:sym typeface="Symbol" pitchFamily="18" charset="2"/>
              </a:rPr>
              <a:t>(2V</a:t>
            </a:r>
            <a:r>
              <a:rPr lang="zh-CN" altLang="en-US" sz="1400" dirty="0">
                <a:latin typeface="方正粗黑宋简体" pitchFamily="2" charset="-122"/>
                <a:ea typeface="方正粗黑宋简体" pitchFamily="2" charset="-122"/>
                <a:sym typeface="Symbol" pitchFamily="18" charset="2"/>
              </a:rPr>
              <a:t>～</a:t>
            </a:r>
            <a:r>
              <a:rPr lang="en-US" altLang="zh-CN" sz="1400" dirty="0">
                <a:latin typeface="方正粗黑宋简体" pitchFamily="2" charset="-122"/>
                <a:ea typeface="方正粗黑宋简体" pitchFamily="2" charset="-122"/>
                <a:sym typeface="Symbol" pitchFamily="18" charset="2"/>
              </a:rPr>
              <a:t>5V) </a:t>
            </a:r>
            <a:r>
              <a:rPr lang="en-US" altLang="zh-CN" sz="1600" dirty="0">
                <a:latin typeface="方正粗黑宋简体" pitchFamily="2" charset="-122"/>
                <a:ea typeface="方正粗黑宋简体" pitchFamily="2" charset="-122"/>
                <a:sym typeface="Symbol" pitchFamily="18" charset="2"/>
              </a:rPr>
              <a:t>=(-5</a:t>
            </a:r>
            <a:r>
              <a:rPr lang="zh-CN" altLang="en-US" sz="1600" dirty="0">
                <a:latin typeface="方正粗黑宋简体" pitchFamily="2" charset="-122"/>
                <a:ea typeface="方正粗黑宋简体" pitchFamily="2" charset="-122"/>
                <a:sym typeface="Symbol" pitchFamily="18" charset="2"/>
              </a:rPr>
              <a:t>～</a:t>
            </a:r>
            <a:r>
              <a:rPr lang="en-US" altLang="zh-CN" sz="1600" dirty="0">
                <a:latin typeface="方正粗黑宋简体" pitchFamily="2" charset="-122"/>
                <a:ea typeface="方正粗黑宋简体" pitchFamily="2" charset="-122"/>
                <a:sym typeface="Symbol" pitchFamily="18" charset="2"/>
              </a:rPr>
              <a:t>-2)V &lt;</a:t>
            </a:r>
            <a:r>
              <a:rPr lang="en-US" altLang="zh-CN" sz="1600" i="1" dirty="0">
                <a:latin typeface="方正粗黑宋简体" pitchFamily="2" charset="-122"/>
                <a:ea typeface="方正粗黑宋简体" pitchFamily="2" charset="-122"/>
                <a:sym typeface="Symbol" pitchFamily="18" charset="2"/>
              </a:rPr>
              <a:t>V</a:t>
            </a:r>
            <a:r>
              <a:rPr lang="en-US" altLang="zh-CN" sz="1600" baseline="-25000" dirty="0">
                <a:latin typeface="方正粗黑宋简体" pitchFamily="2" charset="-122"/>
                <a:ea typeface="方正粗黑宋简体" pitchFamily="2" charset="-122"/>
                <a:sym typeface="Symbol" pitchFamily="18" charset="2"/>
              </a:rPr>
              <a:t>TP</a:t>
            </a:r>
            <a:r>
              <a:rPr lang="zh-CN" altLang="en-US" sz="1600" dirty="0">
                <a:latin typeface="方正粗黑宋简体" pitchFamily="2" charset="-122"/>
                <a:ea typeface="方正粗黑宋简体" pitchFamily="2" charset="-122"/>
                <a:sym typeface="Symbol" pitchFamily="18" charset="2"/>
              </a:rPr>
              <a:t>；</a:t>
            </a:r>
            <a:r>
              <a:rPr lang="en-US" altLang="zh-CN" sz="1600" dirty="0">
                <a:latin typeface="方正粗黑宋简体" pitchFamily="2" charset="-122"/>
                <a:ea typeface="方正粗黑宋简体" pitchFamily="2" charset="-122"/>
                <a:sym typeface="Symbol" pitchFamily="18" charset="2"/>
              </a:rPr>
              <a:t>T</a:t>
            </a:r>
            <a:r>
              <a:rPr lang="en-US" altLang="zh-CN" sz="1600" baseline="-25000" dirty="0">
                <a:latin typeface="方正粗黑宋简体" pitchFamily="2" charset="-122"/>
                <a:ea typeface="方正粗黑宋简体" pitchFamily="2" charset="-122"/>
                <a:sym typeface="Symbol" pitchFamily="18" charset="2"/>
              </a:rPr>
              <a:t>P</a:t>
            </a:r>
            <a:r>
              <a:rPr lang="zh-CN" altLang="en-US" sz="1600" dirty="0">
                <a:latin typeface="方正粗黑宋简体" pitchFamily="2" charset="-122"/>
                <a:ea typeface="方正粗黑宋简体" pitchFamily="2" charset="-122"/>
                <a:sym typeface="Symbol" pitchFamily="18" charset="2"/>
              </a:rPr>
              <a:t>导通。</a:t>
            </a:r>
            <a:endParaRPr lang="en-US" altLang="zh-CN" sz="1600" dirty="0">
              <a:latin typeface="方正粗黑宋简体" pitchFamily="2" charset="-122"/>
              <a:ea typeface="方正粗黑宋简体" pitchFamily="2" charset="-122"/>
            </a:endParaRPr>
          </a:p>
        </p:txBody>
      </p:sp>
      <p:sp>
        <p:nvSpPr>
          <p:cNvPr id="36" name="AutoShape 21"/>
          <p:cNvSpPr>
            <a:spLocks noChangeArrowheads="1"/>
          </p:cNvSpPr>
          <p:nvPr/>
        </p:nvSpPr>
        <p:spPr bwMode="auto">
          <a:xfrm>
            <a:off x="4158668" y="1101229"/>
            <a:ext cx="920750" cy="318633"/>
          </a:xfrm>
          <a:prstGeom prst="wedgeRoundRectCallout">
            <a:avLst>
              <a:gd name="adj1" fmla="val 53783"/>
              <a:gd name="adj2" fmla="val 105987"/>
              <a:gd name="adj3" fmla="val 16667"/>
            </a:avLst>
          </a:prstGeom>
          <a:solidFill>
            <a:srgbClr val="FFFF66"/>
          </a:solidFill>
          <a:ln w="12700" algn="ctr">
            <a:solidFill>
              <a:srgbClr val="0000FF"/>
            </a:solidFill>
            <a:miter lim="800000"/>
            <a:headEnd/>
            <a:tailEnd/>
          </a:ln>
        </p:spPr>
        <p:txBody>
          <a:bodyPr lIns="0" rIns="0" anchor="ctr"/>
          <a:lstStyle/>
          <a:p>
            <a:pPr algn="ctr"/>
            <a:r>
              <a:rPr lang="en-US" altLang="zh-CN" sz="1400" dirty="0">
                <a:solidFill>
                  <a:srgbClr val="6600FF"/>
                </a:solidFill>
                <a:latin typeface="方正粗黑宋简体" pitchFamily="2" charset="-122"/>
                <a:ea typeface="方正粗黑宋简体" pitchFamily="2" charset="-122"/>
              </a:rPr>
              <a:t>2V~5V</a:t>
            </a:r>
          </a:p>
        </p:txBody>
      </p:sp>
      <p:grpSp>
        <p:nvGrpSpPr>
          <p:cNvPr id="50" name="组合 49"/>
          <p:cNvGrpSpPr/>
          <p:nvPr/>
        </p:nvGrpSpPr>
        <p:grpSpPr>
          <a:xfrm>
            <a:off x="7688580" y="1051560"/>
            <a:ext cx="685800" cy="1570260"/>
            <a:chOff x="7688580" y="1051560"/>
            <a:chExt cx="685800" cy="1570260"/>
          </a:xfrm>
        </p:grpSpPr>
        <p:grpSp>
          <p:nvGrpSpPr>
            <p:cNvPr id="46" name="组合 44"/>
            <p:cNvGrpSpPr/>
            <p:nvPr/>
          </p:nvGrpSpPr>
          <p:grpSpPr>
            <a:xfrm>
              <a:off x="7901940" y="1051560"/>
              <a:ext cx="259620" cy="1570260"/>
              <a:chOff x="8100060" y="1066800"/>
              <a:chExt cx="259620" cy="1570260"/>
            </a:xfrm>
          </p:grpSpPr>
          <p:sp>
            <p:nvSpPr>
              <p:cNvPr id="47" name="椭圆 46"/>
              <p:cNvSpPr/>
              <p:nvPr/>
            </p:nvSpPr>
            <p:spPr>
              <a:xfrm>
                <a:off x="8107680" y="2385060"/>
                <a:ext cx="252000" cy="252000"/>
              </a:xfrm>
              <a:prstGeom prst="ellipse">
                <a:avLst/>
              </a:prstGeom>
              <a:solidFill>
                <a:srgbClr val="CC00CC"/>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latin typeface="Times New Roman" pitchFamily="18" charset="0"/>
                    <a:cs typeface="Times New Roman" pitchFamily="18" charset="0"/>
                  </a:rPr>
                  <a:t>1</a:t>
                </a:r>
                <a:endParaRPr lang="zh-CN" altLang="en-US" sz="1600" b="1" dirty="0">
                  <a:latin typeface="Times New Roman" pitchFamily="18" charset="0"/>
                  <a:cs typeface="Times New Roman" pitchFamily="18" charset="0"/>
                </a:endParaRPr>
              </a:p>
            </p:txBody>
          </p:sp>
          <p:sp>
            <p:nvSpPr>
              <p:cNvPr id="48" name="椭圆 47"/>
              <p:cNvSpPr/>
              <p:nvPr/>
            </p:nvSpPr>
            <p:spPr>
              <a:xfrm>
                <a:off x="8100060" y="1066800"/>
                <a:ext cx="252000" cy="252000"/>
              </a:xfrm>
              <a:prstGeom prst="ellipse">
                <a:avLst/>
              </a:prstGeom>
              <a:solidFill>
                <a:srgbClr val="CC00CC"/>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latin typeface="Times New Roman" pitchFamily="18" charset="0"/>
                    <a:cs typeface="Times New Roman" pitchFamily="18" charset="0"/>
                  </a:rPr>
                  <a:t>0</a:t>
                </a:r>
                <a:endParaRPr lang="zh-CN" altLang="en-US" sz="1600" b="1" dirty="0">
                  <a:latin typeface="Times New Roman" pitchFamily="18" charset="0"/>
                  <a:cs typeface="Times New Roman" pitchFamily="18" charset="0"/>
                </a:endParaRPr>
              </a:p>
            </p:txBody>
          </p:sp>
        </p:grpSp>
        <p:sp>
          <p:nvSpPr>
            <p:cNvPr id="49" name="左右箭头 48"/>
            <p:cNvSpPr/>
            <p:nvPr/>
          </p:nvSpPr>
          <p:spPr>
            <a:xfrm>
              <a:off x="7688580" y="1699260"/>
              <a:ext cx="685800" cy="286512"/>
            </a:xfrm>
            <a:prstGeom prst="leftRightArrow">
              <a:avLst>
                <a:gd name="adj1" fmla="val 36842"/>
                <a:gd name="adj2" fmla="val 50000"/>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9" name="左右箭头 58"/>
          <p:cNvSpPr/>
          <p:nvPr/>
        </p:nvSpPr>
        <p:spPr>
          <a:xfrm>
            <a:off x="5509260" y="2065020"/>
            <a:ext cx="685800" cy="202692"/>
          </a:xfrm>
          <a:prstGeom prst="leftRightArrow">
            <a:avLst>
              <a:gd name="adj1" fmla="val 36842"/>
              <a:gd name="adj2" fmla="val 57979"/>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左右箭头 59"/>
          <p:cNvSpPr/>
          <p:nvPr/>
        </p:nvSpPr>
        <p:spPr>
          <a:xfrm>
            <a:off x="5509260" y="1493520"/>
            <a:ext cx="685800" cy="202692"/>
          </a:xfrm>
          <a:prstGeom prst="leftRightArrow">
            <a:avLst>
              <a:gd name="adj1" fmla="val 36842"/>
              <a:gd name="adj2" fmla="val 57979"/>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Rectangle 11">
            <a:extLst>
              <a:ext uri="{FF2B5EF4-FFF2-40B4-BE49-F238E27FC236}">
                <a16:creationId xmlns:a16="http://schemas.microsoft.com/office/drawing/2014/main" id="{AC9A7B28-DEEB-422F-BE24-D1C30D88FDBE}"/>
              </a:ext>
            </a:extLst>
          </p:cNvPr>
          <p:cNvSpPr>
            <a:spLocks noChangeArrowheads="1"/>
          </p:cNvSpPr>
          <p:nvPr/>
        </p:nvSpPr>
        <p:spPr bwMode="auto">
          <a:xfrm>
            <a:off x="218440" y="1333183"/>
            <a:ext cx="3821352" cy="338554"/>
          </a:xfrm>
          <a:prstGeom prst="rect">
            <a:avLst/>
          </a:prstGeom>
          <a:noFill/>
          <a:ln w="9525" algn="ctr">
            <a:noFill/>
            <a:miter lim="800000"/>
            <a:headEnd/>
            <a:tailEnd/>
          </a:ln>
        </p:spPr>
        <p:txBody>
          <a:bodyPr wrap="square">
            <a:spAutoFit/>
          </a:bodyPr>
          <a:lstStyle/>
          <a:p>
            <a:pPr>
              <a:defRPr/>
            </a:pPr>
            <a:r>
              <a:rPr lang="zh-CN" altLang="en-US" sz="1600" b="1" dirty="0">
                <a:solidFill>
                  <a:srgbClr val="6600FF"/>
                </a:solidFill>
                <a:latin typeface="方正粗黑宋简体" pitchFamily="2" charset="-122"/>
                <a:ea typeface="方正粗黑宋简体" pitchFamily="2" charset="-122"/>
              </a:rPr>
              <a:t>（</a:t>
            </a:r>
            <a:r>
              <a:rPr lang="en-US" altLang="zh-CN" sz="1600" b="1" dirty="0">
                <a:solidFill>
                  <a:srgbClr val="6600FF"/>
                </a:solidFill>
                <a:latin typeface="方正粗黑宋简体" pitchFamily="2" charset="-122"/>
                <a:ea typeface="方正粗黑宋简体" pitchFamily="2" charset="-122"/>
              </a:rPr>
              <a:t>6</a:t>
            </a:r>
            <a:r>
              <a:rPr lang="zh-CN" altLang="en-US" sz="1600" b="1" dirty="0">
                <a:solidFill>
                  <a:srgbClr val="6600FF"/>
                </a:solidFill>
                <a:latin typeface="方正粗黑宋简体" pitchFamily="2" charset="-122"/>
                <a:ea typeface="方正粗黑宋简体" pitchFamily="2" charset="-122"/>
              </a:rPr>
              <a:t>）</a:t>
            </a:r>
            <a:r>
              <a:rPr lang="en-US" altLang="zh-CN" sz="1600" b="1" dirty="0">
                <a:solidFill>
                  <a:srgbClr val="6600FF"/>
                </a:solidFill>
                <a:latin typeface="方正粗黑宋简体" pitchFamily="2" charset="-122"/>
                <a:ea typeface="方正粗黑宋简体" pitchFamily="2" charset="-122"/>
              </a:rPr>
              <a:t>CMOS</a:t>
            </a:r>
            <a:r>
              <a:rPr lang="zh-CN" altLang="en-US" sz="1600" b="1" dirty="0">
                <a:solidFill>
                  <a:srgbClr val="6600FF"/>
                </a:solidFill>
                <a:latin typeface="方正粗黑宋简体" pitchFamily="2" charset="-122"/>
                <a:ea typeface="方正粗黑宋简体" pitchFamily="2" charset="-122"/>
              </a:rPr>
              <a:t>传输门（双向模拟开关）</a:t>
            </a:r>
          </a:p>
        </p:txBody>
      </p:sp>
      <p:grpSp>
        <p:nvGrpSpPr>
          <p:cNvPr id="66" name="组合 65">
            <a:extLst>
              <a:ext uri="{FF2B5EF4-FFF2-40B4-BE49-F238E27FC236}">
                <a16:creationId xmlns:a16="http://schemas.microsoft.com/office/drawing/2014/main" id="{98E2C901-C5DE-4F77-87E9-707FCEDB802E}"/>
              </a:ext>
            </a:extLst>
          </p:cNvPr>
          <p:cNvGrpSpPr/>
          <p:nvPr/>
        </p:nvGrpSpPr>
        <p:grpSpPr>
          <a:xfrm>
            <a:off x="282575" y="785614"/>
            <a:ext cx="3757217" cy="373579"/>
            <a:chOff x="307975" y="1517134"/>
            <a:chExt cx="3757217" cy="373579"/>
          </a:xfrm>
        </p:grpSpPr>
        <p:grpSp>
          <p:nvGrpSpPr>
            <p:cNvPr id="67" name="组合 32">
              <a:extLst>
                <a:ext uri="{FF2B5EF4-FFF2-40B4-BE49-F238E27FC236}">
                  <a16:creationId xmlns:a16="http://schemas.microsoft.com/office/drawing/2014/main" id="{CDD2C783-40EA-42F0-BA00-FE1DC1714FE2}"/>
                </a:ext>
              </a:extLst>
            </p:cNvPr>
            <p:cNvGrpSpPr/>
            <p:nvPr/>
          </p:nvGrpSpPr>
          <p:grpSpPr>
            <a:xfrm>
              <a:off x="307975" y="1519116"/>
              <a:ext cx="568325" cy="371597"/>
              <a:chOff x="307975" y="1519116"/>
              <a:chExt cx="568325" cy="371597"/>
            </a:xfrm>
          </p:grpSpPr>
          <p:pic>
            <p:nvPicPr>
              <p:cNvPr id="69" name="Picture 4">
                <a:extLst>
                  <a:ext uri="{FF2B5EF4-FFF2-40B4-BE49-F238E27FC236}">
                    <a16:creationId xmlns:a16="http://schemas.microsoft.com/office/drawing/2014/main" id="{50E8D27C-B199-4D20-A3A6-71887C57FA10}"/>
                  </a:ext>
                </a:extLst>
              </p:cNvPr>
              <p:cNvPicPr>
                <a:picLocks noChangeAspect="1" noChangeArrowheads="1"/>
              </p:cNvPicPr>
              <p:nvPr/>
            </p:nvPicPr>
            <p:blipFill>
              <a:blip r:embed="rId10" cstate="print"/>
              <a:srcRect/>
              <a:stretch>
                <a:fillRect/>
              </a:stretch>
            </p:blipFill>
            <p:spPr bwMode="auto">
              <a:xfrm flipH="1">
                <a:off x="307975" y="1519116"/>
                <a:ext cx="568325" cy="371597"/>
              </a:xfrm>
              <a:prstGeom prst="rect">
                <a:avLst/>
              </a:prstGeom>
              <a:noFill/>
              <a:ln w="9525">
                <a:noFill/>
                <a:miter lim="800000"/>
                <a:headEnd/>
                <a:tailEnd/>
              </a:ln>
              <a:effectLst/>
            </p:spPr>
          </p:pic>
          <p:sp>
            <p:nvSpPr>
              <p:cNvPr id="70" name="TextBox 5">
                <a:extLst>
                  <a:ext uri="{FF2B5EF4-FFF2-40B4-BE49-F238E27FC236}">
                    <a16:creationId xmlns:a16="http://schemas.microsoft.com/office/drawing/2014/main" id="{6CCD99D7-8E5A-48F5-9B73-210DC26EFD5E}"/>
                  </a:ext>
                </a:extLst>
              </p:cNvPr>
              <p:cNvSpPr txBox="1"/>
              <p:nvPr/>
            </p:nvSpPr>
            <p:spPr>
              <a:xfrm flipH="1">
                <a:off x="443415" y="1555750"/>
                <a:ext cx="142668" cy="276999"/>
              </a:xfrm>
              <a:prstGeom prst="rect">
                <a:avLst/>
              </a:prstGeom>
              <a:noFill/>
            </p:spPr>
            <p:txBody>
              <a:bodyPr wrap="none" lIns="0" tIns="0" rIns="0" bIns="0" rtlCol="0">
                <a:spAutoFit/>
              </a:bodyPr>
              <a:lstStyle/>
              <a:p>
                <a:r>
                  <a:rPr lang="en-US" altLang="zh-CN" b="1" dirty="0">
                    <a:solidFill>
                      <a:srgbClr val="262626"/>
                    </a:solidFill>
                    <a:latin typeface="Segoe UI Black" pitchFamily="34" charset="0"/>
                    <a:ea typeface="Segoe UI Black" pitchFamily="34" charset="0"/>
                    <a:cs typeface="Times New Roman" pitchFamily="18" charset="0"/>
                  </a:rPr>
                  <a:t>4</a:t>
                </a:r>
                <a:endParaRPr lang="zh-CN" altLang="en-US" b="1" dirty="0">
                  <a:solidFill>
                    <a:srgbClr val="262626"/>
                  </a:solidFill>
                  <a:latin typeface="Segoe UI Black" pitchFamily="34" charset="0"/>
                  <a:cs typeface="Times New Roman" pitchFamily="18" charset="0"/>
                </a:endParaRPr>
              </a:p>
            </p:txBody>
          </p:sp>
        </p:grpSp>
        <p:sp>
          <p:nvSpPr>
            <p:cNvPr id="68" name="矩形 67">
              <a:extLst>
                <a:ext uri="{FF2B5EF4-FFF2-40B4-BE49-F238E27FC236}">
                  <a16:creationId xmlns:a16="http://schemas.microsoft.com/office/drawing/2014/main" id="{4ADC1D18-6C77-45D1-91AE-BF143F47FF19}"/>
                </a:ext>
              </a:extLst>
            </p:cNvPr>
            <p:cNvSpPr/>
            <p:nvPr/>
          </p:nvSpPr>
          <p:spPr>
            <a:xfrm>
              <a:off x="863675" y="1517134"/>
              <a:ext cx="3201517" cy="369332"/>
            </a:xfrm>
            <a:prstGeom prst="rect">
              <a:avLst/>
            </a:prstGeom>
          </p:spPr>
          <p:txBody>
            <a:bodyPr wrap="none">
              <a:spAutoFit/>
            </a:bodyPr>
            <a:lstStyle/>
            <a:p>
              <a:r>
                <a:rPr lang="zh-CN" altLang="en-US" b="1" dirty="0">
                  <a:solidFill>
                    <a:schemeClr val="accent1">
                      <a:lumMod val="50000"/>
                    </a:schemeClr>
                  </a:solidFill>
                  <a:latin typeface="Times New Roman" panose="02020603050405020304" pitchFamily="18" charset="0"/>
                  <a:ea typeface="黑体" pitchFamily="49" charset="-122"/>
                  <a:cs typeface="Times New Roman" panose="02020603050405020304" pitchFamily="18" charset="0"/>
                </a:rPr>
                <a:t>其他类型的</a:t>
              </a:r>
              <a:r>
                <a:rPr lang="en-US" altLang="zh-CN" b="1" dirty="0">
                  <a:solidFill>
                    <a:schemeClr val="accent1">
                      <a:lumMod val="50000"/>
                    </a:schemeClr>
                  </a:solidFill>
                  <a:latin typeface="Times New Roman" panose="02020603050405020304" pitchFamily="18" charset="0"/>
                  <a:ea typeface="黑体" pitchFamily="49" charset="-122"/>
                  <a:cs typeface="Times New Roman" panose="02020603050405020304" pitchFamily="18" charset="0"/>
                </a:rPr>
                <a:t>CMOS</a:t>
              </a:r>
              <a:r>
                <a:rPr lang="zh-CN" altLang="en-US" b="1" dirty="0">
                  <a:solidFill>
                    <a:schemeClr val="accent1">
                      <a:lumMod val="50000"/>
                    </a:schemeClr>
                  </a:solidFill>
                  <a:latin typeface="Times New Roman" panose="02020603050405020304" pitchFamily="18" charset="0"/>
                  <a:ea typeface="黑体" pitchFamily="49" charset="-122"/>
                  <a:cs typeface="Times New Roman" panose="02020603050405020304" pitchFamily="18" charset="0"/>
                </a:rPr>
                <a:t>逻辑门电路</a:t>
              </a:r>
            </a:p>
          </p:txBody>
        </p:sp>
      </p:grpSp>
      <p:grpSp>
        <p:nvGrpSpPr>
          <p:cNvPr id="71" name="组合 70">
            <a:extLst>
              <a:ext uri="{FF2B5EF4-FFF2-40B4-BE49-F238E27FC236}">
                <a16:creationId xmlns:a16="http://schemas.microsoft.com/office/drawing/2014/main" id="{3C62C713-5222-4598-B3F5-2D08A30EF5A6}"/>
              </a:ext>
            </a:extLst>
          </p:cNvPr>
          <p:cNvGrpSpPr/>
          <p:nvPr/>
        </p:nvGrpSpPr>
        <p:grpSpPr>
          <a:xfrm>
            <a:off x="804940" y="1736191"/>
            <a:ext cx="2889250" cy="1327150"/>
            <a:chOff x="533400" y="1276350"/>
            <a:chExt cx="2889250" cy="1327150"/>
          </a:xfrm>
        </p:grpSpPr>
        <p:sp>
          <p:nvSpPr>
            <p:cNvPr id="72" name="圆角矩形 23">
              <a:extLst>
                <a:ext uri="{FF2B5EF4-FFF2-40B4-BE49-F238E27FC236}">
                  <a16:creationId xmlns:a16="http://schemas.microsoft.com/office/drawing/2014/main" id="{56BA29AA-2BFE-4896-85BA-5AF138F5DD0C}"/>
                </a:ext>
              </a:extLst>
            </p:cNvPr>
            <p:cNvSpPr/>
            <p:nvPr/>
          </p:nvSpPr>
          <p:spPr>
            <a:xfrm>
              <a:off x="533400" y="1447800"/>
              <a:ext cx="2889250" cy="1155700"/>
            </a:xfrm>
            <a:prstGeom prst="roundRect">
              <a:avLst>
                <a:gd name="adj" fmla="val 9566"/>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0" rtlCol="0" anchor="b"/>
            <a:lstStyle/>
            <a:p>
              <a:pPr>
                <a:lnSpc>
                  <a:spcPct val="130000"/>
                </a:lnSpc>
                <a:buFont typeface="Wingdings" pitchFamily="2" charset="2"/>
                <a:buChar char="Ø"/>
              </a:pPr>
              <a:r>
                <a:rPr lang="en-US" altLang="zh-CN" sz="1600" i="1" dirty="0">
                  <a:solidFill>
                    <a:schemeClr val="tx1"/>
                  </a:solidFill>
                  <a:latin typeface="方正粗黑宋简体" pitchFamily="2" charset="-122"/>
                  <a:ea typeface="方正粗黑宋简体" pitchFamily="2" charset="-122"/>
                  <a:cs typeface="Times New Roman" pitchFamily="18" charset="0"/>
                </a:rPr>
                <a:t> V</a:t>
              </a:r>
              <a:r>
                <a:rPr lang="en-US" altLang="zh-CN" sz="1600" baseline="-25000" dirty="0">
                  <a:solidFill>
                    <a:schemeClr val="tx1"/>
                  </a:solidFill>
                  <a:latin typeface="方正粗黑宋简体" pitchFamily="2" charset="-122"/>
                  <a:ea typeface="方正粗黑宋简体" pitchFamily="2" charset="-122"/>
                  <a:cs typeface="Times New Roman" pitchFamily="18" charset="0"/>
                </a:rPr>
                <a:t>TP</a:t>
              </a:r>
              <a:r>
                <a:rPr lang="en-US" altLang="zh-CN" sz="1600" dirty="0">
                  <a:solidFill>
                    <a:schemeClr val="tx1"/>
                  </a:solidFill>
                  <a:latin typeface="方正粗黑宋简体" pitchFamily="2" charset="-122"/>
                  <a:ea typeface="方正粗黑宋简体" pitchFamily="2" charset="-122"/>
                  <a:cs typeface="Times New Roman" pitchFamily="18" charset="0"/>
                </a:rPr>
                <a:t>=-2V</a:t>
              </a:r>
              <a:r>
                <a:rPr lang="zh-CN" altLang="en-US" sz="1600" dirty="0">
                  <a:solidFill>
                    <a:schemeClr val="tx1"/>
                  </a:solidFill>
                  <a:latin typeface="方正粗黑宋简体" pitchFamily="2" charset="-122"/>
                  <a:ea typeface="方正粗黑宋简体" pitchFamily="2" charset="-122"/>
                  <a:cs typeface="Times New Roman" pitchFamily="18" charset="0"/>
                </a:rPr>
                <a:t>；</a:t>
              </a:r>
              <a:r>
                <a:rPr lang="en-US" altLang="zh-CN" sz="1600" i="1" dirty="0">
                  <a:solidFill>
                    <a:schemeClr val="tx1"/>
                  </a:solidFill>
                  <a:latin typeface="方正粗黑宋简体" pitchFamily="2" charset="-122"/>
                  <a:ea typeface="方正粗黑宋简体" pitchFamily="2" charset="-122"/>
                  <a:cs typeface="Times New Roman" pitchFamily="18" charset="0"/>
                </a:rPr>
                <a:t>V</a:t>
              </a:r>
              <a:r>
                <a:rPr lang="en-US" altLang="zh-CN" sz="1600" baseline="-25000" dirty="0">
                  <a:solidFill>
                    <a:schemeClr val="tx1"/>
                  </a:solidFill>
                  <a:latin typeface="方正粗黑宋简体" pitchFamily="2" charset="-122"/>
                  <a:ea typeface="方正粗黑宋简体" pitchFamily="2" charset="-122"/>
                  <a:cs typeface="Times New Roman" pitchFamily="18" charset="0"/>
                </a:rPr>
                <a:t>TN</a:t>
              </a:r>
              <a:r>
                <a:rPr lang="en-US" altLang="zh-CN" sz="1600" dirty="0">
                  <a:solidFill>
                    <a:schemeClr val="tx1"/>
                  </a:solidFill>
                  <a:latin typeface="方正粗黑宋简体" pitchFamily="2" charset="-122"/>
                  <a:ea typeface="方正粗黑宋简体" pitchFamily="2" charset="-122"/>
                  <a:cs typeface="Times New Roman" pitchFamily="18" charset="0"/>
                </a:rPr>
                <a:t>=2V</a:t>
              </a:r>
              <a:r>
                <a:rPr lang="zh-CN" altLang="en-US" sz="1600" dirty="0">
                  <a:solidFill>
                    <a:schemeClr val="tx1"/>
                  </a:solidFill>
                  <a:latin typeface="方正粗黑宋简体" pitchFamily="2" charset="-122"/>
                  <a:ea typeface="方正粗黑宋简体" pitchFamily="2" charset="-122"/>
                  <a:cs typeface="Times New Roman" pitchFamily="18" charset="0"/>
                </a:rPr>
                <a:t>。</a:t>
              </a:r>
              <a:endParaRPr lang="en-US" altLang="zh-CN" sz="1600" dirty="0">
                <a:solidFill>
                  <a:schemeClr val="tx1"/>
                </a:solidFill>
                <a:latin typeface="方正粗黑宋简体" pitchFamily="2" charset="-122"/>
                <a:ea typeface="方正粗黑宋简体" pitchFamily="2" charset="-122"/>
                <a:cs typeface="Times New Roman" pitchFamily="18" charset="0"/>
              </a:endParaRPr>
            </a:p>
            <a:p>
              <a:pPr>
                <a:lnSpc>
                  <a:spcPct val="130000"/>
                </a:lnSpc>
                <a:buFont typeface="Wingdings" pitchFamily="2" charset="2"/>
                <a:buChar char="Ø"/>
              </a:pPr>
              <a:r>
                <a:rPr lang="en-US" altLang="zh-CN" sz="1600" i="1" dirty="0">
                  <a:solidFill>
                    <a:schemeClr val="tx1"/>
                  </a:solidFill>
                  <a:latin typeface="方正粗黑宋简体" pitchFamily="2" charset="-122"/>
                  <a:ea typeface="方正粗黑宋简体" pitchFamily="2" charset="-122"/>
                  <a:cs typeface="Times New Roman" pitchFamily="18" charset="0"/>
                  <a:sym typeface="Symbol" pitchFamily="18" charset="2"/>
                </a:rPr>
                <a:t> </a:t>
              </a:r>
              <a:r>
                <a:rPr lang="en-US" altLang="zh-CN" sz="1600" baseline="-25000" dirty="0">
                  <a:solidFill>
                    <a:schemeClr val="tx1"/>
                  </a:solidFill>
                  <a:latin typeface="方正粗黑宋简体" pitchFamily="2" charset="-122"/>
                  <a:ea typeface="方正粗黑宋简体" pitchFamily="2" charset="-122"/>
                  <a:cs typeface="Times New Roman" pitchFamily="18" charset="0"/>
                  <a:sym typeface="Symbol" pitchFamily="18" charset="2"/>
                </a:rPr>
                <a:t>I</a:t>
              </a:r>
              <a:r>
                <a:rPr lang="zh-CN" altLang="en-US" sz="1600" dirty="0">
                  <a:solidFill>
                    <a:schemeClr val="tx1"/>
                  </a:solidFill>
                  <a:latin typeface="方正粗黑宋简体" pitchFamily="2" charset="-122"/>
                  <a:ea typeface="方正粗黑宋简体" pitchFamily="2" charset="-122"/>
                  <a:cs typeface="Times New Roman" pitchFamily="18" charset="0"/>
                </a:rPr>
                <a:t>的变化范围为</a:t>
              </a:r>
              <a:r>
                <a:rPr lang="en-US" altLang="zh-CN" sz="1600" dirty="0">
                  <a:solidFill>
                    <a:schemeClr val="tx1"/>
                  </a:solidFill>
                  <a:latin typeface="方正粗黑宋简体" pitchFamily="2" charset="-122"/>
                  <a:ea typeface="方正粗黑宋简体" pitchFamily="2" charset="-122"/>
                  <a:cs typeface="Times New Roman" pitchFamily="18" charset="0"/>
                </a:rPr>
                <a:t>0V~5V</a:t>
              </a:r>
              <a:r>
                <a:rPr lang="zh-CN" altLang="en-US" sz="1600" dirty="0">
                  <a:solidFill>
                    <a:schemeClr val="tx1"/>
                  </a:solidFill>
                  <a:latin typeface="方正粗黑宋简体" pitchFamily="2" charset="-122"/>
                  <a:ea typeface="方正粗黑宋简体" pitchFamily="2" charset="-122"/>
                  <a:cs typeface="Times New Roman" pitchFamily="18" charset="0"/>
                </a:rPr>
                <a:t>。</a:t>
              </a:r>
              <a:endParaRPr lang="en-US" altLang="zh-CN" sz="1600" dirty="0">
                <a:solidFill>
                  <a:schemeClr val="tx1"/>
                </a:solidFill>
                <a:latin typeface="方正粗黑宋简体" pitchFamily="2" charset="-122"/>
                <a:ea typeface="方正粗黑宋简体" pitchFamily="2" charset="-122"/>
                <a:cs typeface="Times New Roman" pitchFamily="18" charset="0"/>
              </a:endParaRPr>
            </a:p>
            <a:p>
              <a:pPr>
                <a:lnSpc>
                  <a:spcPct val="130000"/>
                </a:lnSpc>
                <a:buFont typeface="Wingdings" pitchFamily="2" charset="2"/>
                <a:buChar char="Ø"/>
              </a:pPr>
              <a:r>
                <a:rPr lang="en-US" altLang="zh-CN" sz="1600" dirty="0">
                  <a:solidFill>
                    <a:schemeClr val="tx1"/>
                  </a:solidFill>
                  <a:latin typeface="方正粗黑宋简体" pitchFamily="2" charset="-122"/>
                  <a:ea typeface="方正粗黑宋简体" pitchFamily="2" charset="-122"/>
                  <a:cs typeface="Times New Roman" pitchFamily="18" charset="0"/>
                </a:rPr>
                <a:t> 0</a:t>
              </a:r>
              <a:r>
                <a:rPr lang="zh-CN" altLang="en-US" sz="1600" dirty="0">
                  <a:solidFill>
                    <a:schemeClr val="tx1"/>
                  </a:solidFill>
                  <a:latin typeface="方正粗黑宋简体" pitchFamily="2" charset="-122"/>
                  <a:ea typeface="方正粗黑宋简体" pitchFamily="2" charset="-122"/>
                  <a:cs typeface="Times New Roman" pitchFamily="18" charset="0"/>
                </a:rPr>
                <a:t>（</a:t>
              </a:r>
              <a:r>
                <a:rPr lang="en-US" altLang="zh-CN" sz="1600" dirty="0">
                  <a:solidFill>
                    <a:schemeClr val="tx1"/>
                  </a:solidFill>
                  <a:latin typeface="方正粗黑宋简体" pitchFamily="2" charset="-122"/>
                  <a:ea typeface="方正粗黑宋简体" pitchFamily="2" charset="-122"/>
                  <a:cs typeface="Times New Roman" pitchFamily="18" charset="0"/>
                </a:rPr>
                <a:t>0V</a:t>
              </a:r>
              <a:r>
                <a:rPr lang="zh-CN" altLang="en-US" sz="1600" dirty="0">
                  <a:solidFill>
                    <a:schemeClr val="tx1"/>
                  </a:solidFill>
                  <a:latin typeface="方正粗黑宋简体" pitchFamily="2" charset="-122"/>
                  <a:ea typeface="方正粗黑宋简体" pitchFamily="2" charset="-122"/>
                  <a:cs typeface="Times New Roman" pitchFamily="18" charset="0"/>
                </a:rPr>
                <a:t>）；</a:t>
              </a:r>
              <a:r>
                <a:rPr lang="en-US" altLang="zh-CN" sz="1600" dirty="0">
                  <a:solidFill>
                    <a:schemeClr val="tx1"/>
                  </a:solidFill>
                  <a:latin typeface="方正粗黑宋简体" pitchFamily="2" charset="-122"/>
                  <a:ea typeface="方正粗黑宋简体" pitchFamily="2" charset="-122"/>
                  <a:cs typeface="Times New Roman" pitchFamily="18" charset="0"/>
                </a:rPr>
                <a:t>1</a:t>
              </a:r>
              <a:r>
                <a:rPr lang="zh-CN" altLang="en-US" sz="1600" dirty="0">
                  <a:solidFill>
                    <a:schemeClr val="tx1"/>
                  </a:solidFill>
                  <a:latin typeface="方正粗黑宋简体" pitchFamily="2" charset="-122"/>
                  <a:ea typeface="方正粗黑宋简体" pitchFamily="2" charset="-122"/>
                  <a:cs typeface="Times New Roman" pitchFamily="18" charset="0"/>
                </a:rPr>
                <a:t>（</a:t>
              </a:r>
              <a:r>
                <a:rPr lang="en-US" altLang="zh-CN" sz="1600" dirty="0">
                  <a:solidFill>
                    <a:schemeClr val="tx1"/>
                  </a:solidFill>
                  <a:latin typeface="方正粗黑宋简体" pitchFamily="2" charset="-122"/>
                  <a:ea typeface="方正粗黑宋简体" pitchFamily="2" charset="-122"/>
                  <a:cs typeface="Times New Roman" pitchFamily="18" charset="0"/>
                </a:rPr>
                <a:t>5V</a:t>
              </a:r>
              <a:r>
                <a:rPr lang="zh-CN" altLang="en-US" sz="1600" dirty="0">
                  <a:solidFill>
                    <a:schemeClr val="tx1"/>
                  </a:solidFill>
                  <a:latin typeface="方正粗黑宋简体" pitchFamily="2" charset="-122"/>
                  <a:ea typeface="方正粗黑宋简体" pitchFamily="2" charset="-122"/>
                  <a:cs typeface="Times New Roman" pitchFamily="18" charset="0"/>
                </a:rPr>
                <a:t>）。</a:t>
              </a:r>
              <a:endParaRPr lang="zh-CN" altLang="en-US" sz="1600" dirty="0">
                <a:solidFill>
                  <a:schemeClr val="tx1"/>
                </a:solidFill>
                <a:latin typeface="方正粗黑宋简体" pitchFamily="2" charset="-122"/>
                <a:ea typeface="方正粗黑宋简体" pitchFamily="2" charset="-122"/>
              </a:endParaRPr>
            </a:p>
          </p:txBody>
        </p:sp>
        <p:sp>
          <p:nvSpPr>
            <p:cNvPr id="73" name="圆角矩形 24">
              <a:extLst>
                <a:ext uri="{FF2B5EF4-FFF2-40B4-BE49-F238E27FC236}">
                  <a16:creationId xmlns:a16="http://schemas.microsoft.com/office/drawing/2014/main" id="{0AD86BB5-6F5E-49FE-BACB-CBC7DE0AB814}"/>
                </a:ext>
              </a:extLst>
            </p:cNvPr>
            <p:cNvSpPr/>
            <p:nvPr/>
          </p:nvSpPr>
          <p:spPr>
            <a:xfrm>
              <a:off x="1397000" y="1276350"/>
              <a:ext cx="1079500" cy="292100"/>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黑体" pitchFamily="49" charset="-122"/>
                  <a:ea typeface="黑体" pitchFamily="49" charset="-122"/>
                </a:rPr>
                <a:t>假设条件</a:t>
              </a:r>
            </a:p>
          </p:txBody>
        </p:sp>
      </p:grpSp>
      <p:grpSp>
        <p:nvGrpSpPr>
          <p:cNvPr id="74" name="组合 73">
            <a:extLst>
              <a:ext uri="{FF2B5EF4-FFF2-40B4-BE49-F238E27FC236}">
                <a16:creationId xmlns:a16="http://schemas.microsoft.com/office/drawing/2014/main" id="{328F6651-902E-4198-B146-B8422FA4D380}"/>
              </a:ext>
            </a:extLst>
          </p:cNvPr>
          <p:cNvGrpSpPr/>
          <p:nvPr/>
        </p:nvGrpSpPr>
        <p:grpSpPr>
          <a:xfrm>
            <a:off x="464864" y="3294965"/>
            <a:ext cx="3486852" cy="338554"/>
            <a:chOff x="431800" y="2897875"/>
            <a:chExt cx="3486852" cy="338554"/>
          </a:xfrm>
        </p:grpSpPr>
        <p:sp>
          <p:nvSpPr>
            <p:cNvPr id="75" name="Rectangle 29">
              <a:extLst>
                <a:ext uri="{FF2B5EF4-FFF2-40B4-BE49-F238E27FC236}">
                  <a16:creationId xmlns:a16="http://schemas.microsoft.com/office/drawing/2014/main" id="{CFF01EB3-521E-476E-8179-5A235D94AAD1}"/>
                </a:ext>
              </a:extLst>
            </p:cNvPr>
            <p:cNvSpPr>
              <a:spLocks noChangeArrowheads="1"/>
            </p:cNvSpPr>
            <p:nvPr/>
          </p:nvSpPr>
          <p:spPr bwMode="auto">
            <a:xfrm>
              <a:off x="431800" y="2897875"/>
              <a:ext cx="3486852" cy="338554"/>
            </a:xfrm>
            <a:prstGeom prst="rect">
              <a:avLst/>
            </a:prstGeom>
            <a:noFill/>
            <a:ln w="25400" algn="ctr">
              <a:noFill/>
              <a:miter lim="800000"/>
              <a:headEnd/>
              <a:tailEnd/>
            </a:ln>
          </p:spPr>
          <p:txBody>
            <a:bodyPr wrap="none">
              <a:spAutoFit/>
            </a:bodyPr>
            <a:lstStyle/>
            <a:p>
              <a:r>
                <a:rPr lang="zh-CN" altLang="en-US" sz="1600" dirty="0">
                  <a:solidFill>
                    <a:srgbClr val="6600FF"/>
                  </a:solidFill>
                  <a:latin typeface="方正粗黑宋简体" pitchFamily="2" charset="-122"/>
                  <a:ea typeface="方正粗黑宋简体" pitchFamily="2" charset="-122"/>
                </a:rPr>
                <a:t>（</a:t>
              </a:r>
              <a:r>
                <a:rPr lang="en-US" altLang="zh-CN" sz="1600" dirty="0">
                  <a:solidFill>
                    <a:srgbClr val="6600FF"/>
                  </a:solidFill>
                  <a:latin typeface="方正粗黑宋简体" pitchFamily="2" charset="-122"/>
                  <a:ea typeface="方正粗黑宋简体" pitchFamily="2" charset="-122"/>
                </a:rPr>
                <a:t>2</a:t>
              </a:r>
              <a:r>
                <a:rPr lang="zh-CN" altLang="en-US" sz="1600" dirty="0">
                  <a:solidFill>
                    <a:srgbClr val="6600FF"/>
                  </a:solidFill>
                  <a:latin typeface="方正粗黑宋简体" pitchFamily="2" charset="-122"/>
                  <a:ea typeface="方正粗黑宋简体" pitchFamily="2" charset="-122"/>
                </a:rPr>
                <a:t>）当</a:t>
              </a:r>
              <a:r>
                <a:rPr lang="en-US" altLang="zh-CN" sz="1600" i="1" dirty="0">
                  <a:solidFill>
                    <a:srgbClr val="6600FF"/>
                  </a:solidFill>
                  <a:latin typeface="方正粗黑宋简体" pitchFamily="2" charset="-122"/>
                  <a:ea typeface="方正粗黑宋简体" pitchFamily="2" charset="-122"/>
                </a:rPr>
                <a:t>C</a:t>
              </a:r>
              <a:r>
                <a:rPr lang="en-US" altLang="zh-CN" sz="1600" dirty="0">
                  <a:solidFill>
                    <a:srgbClr val="6600FF"/>
                  </a:solidFill>
                  <a:latin typeface="方正粗黑宋简体" pitchFamily="2" charset="-122"/>
                  <a:ea typeface="方正粗黑宋简体" pitchFamily="2" charset="-122"/>
                </a:rPr>
                <a:t>=1</a:t>
              </a:r>
              <a:r>
                <a:rPr lang="zh-CN" altLang="en-US" sz="1600" dirty="0">
                  <a:solidFill>
                    <a:srgbClr val="6600FF"/>
                  </a:solidFill>
                  <a:latin typeface="方正粗黑宋简体" pitchFamily="2" charset="-122"/>
                  <a:ea typeface="方正粗黑宋简体" pitchFamily="2" charset="-122"/>
                </a:rPr>
                <a:t>（</a:t>
              </a:r>
              <a:r>
                <a:rPr lang="en-US" altLang="zh-CN" sz="1600" dirty="0">
                  <a:solidFill>
                    <a:srgbClr val="6600FF"/>
                  </a:solidFill>
                  <a:latin typeface="方正粗黑宋简体" pitchFamily="2" charset="-122"/>
                  <a:ea typeface="方正粗黑宋简体" pitchFamily="2" charset="-122"/>
                </a:rPr>
                <a:t>5V</a:t>
              </a:r>
              <a:r>
                <a:rPr lang="zh-CN" altLang="en-US" sz="1600" dirty="0">
                  <a:solidFill>
                    <a:srgbClr val="6600FF"/>
                  </a:solidFill>
                  <a:latin typeface="方正粗黑宋简体" pitchFamily="2" charset="-122"/>
                  <a:ea typeface="方正粗黑宋简体" pitchFamily="2" charset="-122"/>
                </a:rPr>
                <a:t>）、</a:t>
              </a:r>
              <a:r>
                <a:rPr lang="en-US" altLang="zh-CN" sz="1600" dirty="0">
                  <a:solidFill>
                    <a:srgbClr val="6600FF"/>
                  </a:solidFill>
                  <a:latin typeface="方正粗黑宋简体" pitchFamily="2" charset="-122"/>
                  <a:ea typeface="方正粗黑宋简体" pitchFamily="2" charset="-122"/>
                </a:rPr>
                <a:t> </a:t>
              </a:r>
              <a:r>
                <a:rPr lang="en-US" altLang="zh-CN" sz="1600" i="1" dirty="0">
                  <a:solidFill>
                    <a:srgbClr val="6600FF"/>
                  </a:solidFill>
                  <a:latin typeface="方正粗黑宋简体" pitchFamily="2" charset="-122"/>
                  <a:ea typeface="方正粗黑宋简体" pitchFamily="2" charset="-122"/>
                </a:rPr>
                <a:t>C</a:t>
              </a:r>
              <a:r>
                <a:rPr lang="en-US" altLang="zh-CN" sz="1600" dirty="0">
                  <a:solidFill>
                    <a:srgbClr val="6600FF"/>
                  </a:solidFill>
                  <a:latin typeface="方正粗黑宋简体" pitchFamily="2" charset="-122"/>
                  <a:ea typeface="方正粗黑宋简体" pitchFamily="2" charset="-122"/>
                </a:rPr>
                <a:t>=0</a:t>
              </a:r>
              <a:r>
                <a:rPr lang="zh-CN" altLang="en-US" sz="1600" dirty="0">
                  <a:solidFill>
                    <a:srgbClr val="6600FF"/>
                  </a:solidFill>
                  <a:latin typeface="方正粗黑宋简体" pitchFamily="2" charset="-122"/>
                  <a:ea typeface="方正粗黑宋简体" pitchFamily="2" charset="-122"/>
                </a:rPr>
                <a:t>（</a:t>
              </a:r>
              <a:r>
                <a:rPr lang="en-US" altLang="zh-CN" sz="1600" dirty="0">
                  <a:solidFill>
                    <a:srgbClr val="6600FF"/>
                  </a:solidFill>
                  <a:latin typeface="方正粗黑宋简体" pitchFamily="2" charset="-122"/>
                  <a:ea typeface="方正粗黑宋简体" pitchFamily="2" charset="-122"/>
                </a:rPr>
                <a:t>0V</a:t>
              </a:r>
              <a:r>
                <a:rPr lang="zh-CN" altLang="en-US" sz="1600" dirty="0">
                  <a:solidFill>
                    <a:srgbClr val="6600FF"/>
                  </a:solidFill>
                  <a:latin typeface="方正粗黑宋简体" pitchFamily="2" charset="-122"/>
                  <a:ea typeface="方正粗黑宋简体" pitchFamily="2" charset="-122"/>
                </a:rPr>
                <a:t>）</a:t>
              </a:r>
              <a:r>
                <a:rPr lang="zh-CN" altLang="en-US" sz="1600" dirty="0">
                  <a:solidFill>
                    <a:srgbClr val="6600FF"/>
                  </a:solidFill>
                  <a:latin typeface="方正粗黑宋简体" pitchFamily="2" charset="-122"/>
                  <a:ea typeface="方正粗黑宋简体" pitchFamily="2" charset="-122"/>
                  <a:sym typeface="Symbol" pitchFamily="18" charset="2"/>
                </a:rPr>
                <a:t>时</a:t>
              </a:r>
            </a:p>
          </p:txBody>
        </p:sp>
        <p:cxnSp>
          <p:nvCxnSpPr>
            <p:cNvPr id="76" name="直接连接符 75">
              <a:extLst>
                <a:ext uri="{FF2B5EF4-FFF2-40B4-BE49-F238E27FC236}">
                  <a16:creationId xmlns:a16="http://schemas.microsoft.com/office/drawing/2014/main" id="{69791C00-82EC-4495-809B-FA42A43C0F2B}"/>
                </a:ext>
              </a:extLst>
            </p:cNvPr>
            <p:cNvCxnSpPr/>
            <p:nvPr/>
          </p:nvCxnSpPr>
          <p:spPr>
            <a:xfrm flipV="1">
              <a:off x="2587170" y="2941320"/>
              <a:ext cx="144000" cy="0"/>
            </a:xfrm>
            <a:prstGeom prst="line">
              <a:avLst/>
            </a:prstGeom>
            <a:ln w="19050">
              <a:solidFill>
                <a:srgbClr val="6600FF"/>
              </a:solidFill>
            </a:ln>
          </p:spPr>
          <p:style>
            <a:lnRef idx="1">
              <a:schemeClr val="accent1"/>
            </a:lnRef>
            <a:fillRef idx="0">
              <a:schemeClr val="accent1"/>
            </a:fillRef>
            <a:effectRef idx="0">
              <a:schemeClr val="accent1"/>
            </a:effectRef>
            <a:fontRef idx="minor">
              <a:schemeClr val="tx1"/>
            </a:fontRef>
          </p:style>
        </p:cxnSp>
      </p:grpSp>
      <p:grpSp>
        <p:nvGrpSpPr>
          <p:cNvPr id="44" name="组合 43"/>
          <p:cNvGrpSpPr/>
          <p:nvPr/>
        </p:nvGrpSpPr>
        <p:grpSpPr>
          <a:xfrm>
            <a:off x="218440" y="3503926"/>
            <a:ext cx="8551885" cy="1789662"/>
            <a:chOff x="302556" y="3136638"/>
            <a:chExt cx="8551885" cy="1789662"/>
          </a:xfrm>
        </p:grpSpPr>
        <p:grpSp>
          <p:nvGrpSpPr>
            <p:cNvPr id="37" name="组合 36"/>
            <p:cNvGrpSpPr/>
            <p:nvPr/>
          </p:nvGrpSpPr>
          <p:grpSpPr>
            <a:xfrm>
              <a:off x="302556" y="3136638"/>
              <a:ext cx="8551885" cy="1789662"/>
              <a:chOff x="427441" y="4389308"/>
              <a:chExt cx="8779462" cy="1612333"/>
            </a:xfrm>
          </p:grpSpPr>
          <p:sp>
            <p:nvSpPr>
              <p:cNvPr id="38" name="剪去对角的矩形 37"/>
              <p:cNvSpPr/>
              <p:nvPr/>
            </p:nvSpPr>
            <p:spPr>
              <a:xfrm>
                <a:off x="667965" y="4600517"/>
                <a:ext cx="8538938" cy="1401124"/>
              </a:xfrm>
              <a:prstGeom prst="snip2Diag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nSpc>
                    <a:spcPct val="150000"/>
                  </a:lnSpc>
                  <a:buFont typeface="Wingdings" pitchFamily="2" charset="2"/>
                  <a:buChar char="u"/>
                </a:pPr>
                <a:r>
                  <a:rPr lang="zh-CN" altLang="en-US" sz="1600" dirty="0">
                    <a:solidFill>
                      <a:schemeClr val="tx1"/>
                    </a:solidFill>
                    <a:latin typeface="Times New Roman" pitchFamily="18" charset="0"/>
                    <a:ea typeface="黑体" pitchFamily="49" charset="-122"/>
                    <a:cs typeface="Times New Roman" pitchFamily="18" charset="0"/>
                  </a:rPr>
                  <a:t> 传输门是一个由两个互补控制端（          ）控制的模拟开关。</a:t>
                </a:r>
                <a:endParaRPr lang="en-US" altLang="zh-CN" sz="1600" dirty="0">
                  <a:solidFill>
                    <a:schemeClr val="tx1"/>
                  </a:solidFill>
                  <a:latin typeface="Times New Roman" pitchFamily="18" charset="0"/>
                  <a:ea typeface="黑体" pitchFamily="49" charset="-122"/>
                  <a:cs typeface="Times New Roman" pitchFamily="18" charset="0"/>
                </a:endParaRPr>
              </a:p>
              <a:p>
                <a:pPr marL="266700" lvl="0">
                  <a:lnSpc>
                    <a:spcPct val="150000"/>
                  </a:lnSpc>
                  <a:buFont typeface="Wingdings" pitchFamily="2" charset="2"/>
                  <a:buChar char="Ø"/>
                </a:pPr>
                <a:r>
                  <a:rPr lang="zh-CN" altLang="en-US" sz="1600" dirty="0">
                    <a:solidFill>
                      <a:schemeClr val="tx1"/>
                    </a:solidFill>
                    <a:latin typeface="Times New Roman" pitchFamily="18" charset="0"/>
                    <a:ea typeface="黑体" pitchFamily="49" charset="-122"/>
                    <a:cs typeface="Times New Roman" pitchFamily="18" charset="0"/>
                  </a:rPr>
                  <a:t>当两个控制端均有效时（                    ），开关导通，在一定的输入范围内，</a:t>
                </a:r>
                <a:r>
                  <a:rPr lang="zh-CN" altLang="en-US" sz="1600" i="1" dirty="0">
                    <a:solidFill>
                      <a:srgbClr val="6600FF"/>
                    </a:solidFill>
                    <a:latin typeface="方正粗黑宋简体" pitchFamily="2" charset="-122"/>
                    <a:ea typeface="方正粗黑宋简体" pitchFamily="2" charset="-122"/>
                    <a:sym typeface="Symbol" pitchFamily="18" charset="2"/>
                  </a:rPr>
                  <a:t></a:t>
                </a:r>
                <a:r>
                  <a:rPr lang="en-US" altLang="zh-CN" sz="1600" baseline="-25000" dirty="0">
                    <a:solidFill>
                      <a:srgbClr val="6600FF"/>
                    </a:solidFill>
                    <a:latin typeface="方正粗黑宋简体" pitchFamily="2" charset="-122"/>
                    <a:ea typeface="方正粗黑宋简体" pitchFamily="2" charset="-122"/>
                    <a:sym typeface="Symbol" pitchFamily="18" charset="2"/>
                  </a:rPr>
                  <a:t>O</a:t>
                </a:r>
                <a:r>
                  <a:rPr lang="en-US" altLang="zh-CN" sz="1600" dirty="0">
                    <a:solidFill>
                      <a:srgbClr val="6600FF"/>
                    </a:solidFill>
                    <a:latin typeface="方正粗黑宋简体" pitchFamily="2" charset="-122"/>
                    <a:ea typeface="方正粗黑宋简体" pitchFamily="2" charset="-122"/>
                    <a:sym typeface="Symbol" pitchFamily="18" charset="2"/>
                  </a:rPr>
                  <a:t>=</a:t>
                </a:r>
                <a:r>
                  <a:rPr lang="zh-CN" altLang="en-US" sz="1600" i="1" dirty="0">
                    <a:solidFill>
                      <a:srgbClr val="6600FF"/>
                    </a:solidFill>
                    <a:latin typeface="方正粗黑宋简体" pitchFamily="2" charset="-122"/>
                    <a:ea typeface="方正粗黑宋简体" pitchFamily="2" charset="-122"/>
                    <a:sym typeface="Symbol" pitchFamily="18" charset="2"/>
                  </a:rPr>
                  <a:t> </a:t>
                </a:r>
                <a:r>
                  <a:rPr lang="en-US" altLang="zh-CN" sz="1600" baseline="-25000" dirty="0">
                    <a:solidFill>
                      <a:srgbClr val="6600FF"/>
                    </a:solidFill>
                    <a:latin typeface="方正粗黑宋简体" pitchFamily="2" charset="-122"/>
                    <a:ea typeface="方正粗黑宋简体" pitchFamily="2" charset="-122"/>
                    <a:sym typeface="Symbol" pitchFamily="18" charset="2"/>
                  </a:rPr>
                  <a:t>I </a:t>
                </a:r>
                <a:r>
                  <a:rPr lang="zh-CN" altLang="en-US" sz="1600" dirty="0">
                    <a:solidFill>
                      <a:schemeClr val="tx1"/>
                    </a:solidFill>
                    <a:latin typeface="Times New Roman" pitchFamily="18" charset="0"/>
                    <a:ea typeface="黑体" pitchFamily="49" charset="-122"/>
                    <a:cs typeface="Times New Roman" pitchFamily="18" charset="0"/>
                  </a:rPr>
                  <a:t>；</a:t>
                </a:r>
                <a:endParaRPr lang="en-US" altLang="zh-CN" sz="1600" dirty="0">
                  <a:solidFill>
                    <a:schemeClr val="tx1"/>
                  </a:solidFill>
                  <a:latin typeface="Times New Roman" pitchFamily="18" charset="0"/>
                  <a:ea typeface="黑体" pitchFamily="49" charset="-122"/>
                  <a:cs typeface="Times New Roman" pitchFamily="18" charset="0"/>
                </a:endParaRPr>
              </a:p>
              <a:p>
                <a:pPr marL="266700" lvl="0">
                  <a:lnSpc>
                    <a:spcPct val="150000"/>
                  </a:lnSpc>
                  <a:buFont typeface="Wingdings" pitchFamily="2" charset="2"/>
                  <a:buChar char="Ø"/>
                </a:pPr>
                <a:r>
                  <a:rPr lang="zh-CN" altLang="en-US" sz="1600" dirty="0">
                    <a:solidFill>
                      <a:schemeClr val="tx1"/>
                    </a:solidFill>
                    <a:latin typeface="Times New Roman" pitchFamily="18" charset="0"/>
                    <a:ea typeface="黑体" pitchFamily="49" charset="-122"/>
                    <a:cs typeface="Times New Roman" pitchFamily="18" charset="0"/>
                  </a:rPr>
                  <a:t>当两个控制端均无效时（                    ），开关断开，输出与输入无关，处于</a:t>
                </a:r>
                <a:r>
                  <a:rPr lang="zh-CN" altLang="en-US" sz="1600" dirty="0">
                    <a:solidFill>
                      <a:srgbClr val="6600FF"/>
                    </a:solidFill>
                    <a:latin typeface="Times New Roman" pitchFamily="18" charset="0"/>
                    <a:ea typeface="黑体" pitchFamily="49" charset="-122"/>
                    <a:cs typeface="Times New Roman" pitchFamily="18" charset="0"/>
                  </a:rPr>
                  <a:t>高阻态</a:t>
                </a:r>
                <a:r>
                  <a:rPr lang="zh-CN" altLang="en-US" sz="1600" dirty="0">
                    <a:solidFill>
                      <a:schemeClr val="tx1"/>
                    </a:solidFill>
                    <a:latin typeface="Times New Roman" pitchFamily="18" charset="0"/>
                    <a:ea typeface="黑体" pitchFamily="49" charset="-122"/>
                    <a:cs typeface="Times New Roman" pitchFamily="18" charset="0"/>
                  </a:rPr>
                  <a:t>。</a:t>
                </a:r>
                <a:endParaRPr lang="en-US" altLang="zh-CN" sz="1600" dirty="0">
                  <a:solidFill>
                    <a:schemeClr val="tx1"/>
                  </a:solidFill>
                  <a:latin typeface="Times New Roman" pitchFamily="18" charset="0"/>
                  <a:ea typeface="方正粗黑宋简体" pitchFamily="2" charset="-122"/>
                  <a:cs typeface="Times New Roman" pitchFamily="18" charset="0"/>
                </a:endParaRPr>
              </a:p>
            </p:txBody>
          </p:sp>
          <p:pic>
            <p:nvPicPr>
              <p:cNvPr id="42" name="Picture 7"/>
              <p:cNvPicPr>
                <a:picLocks noChangeAspect="1" noChangeArrowheads="1"/>
              </p:cNvPicPr>
              <p:nvPr/>
            </p:nvPicPr>
            <p:blipFill>
              <a:blip r:embed="rId11" cstate="print"/>
              <a:srcRect/>
              <a:stretch>
                <a:fillRect/>
              </a:stretch>
            </p:blipFill>
            <p:spPr bwMode="auto">
              <a:xfrm>
                <a:off x="427441" y="4389308"/>
                <a:ext cx="489653" cy="417069"/>
              </a:xfrm>
              <a:prstGeom prst="rect">
                <a:avLst/>
              </a:prstGeom>
              <a:noFill/>
              <a:ln w="9525">
                <a:noFill/>
                <a:miter lim="800000"/>
                <a:headEnd/>
                <a:tailEnd/>
              </a:ln>
              <a:effectLst/>
            </p:spPr>
          </p:pic>
        </p:grpSp>
        <p:graphicFrame>
          <p:nvGraphicFramePr>
            <p:cNvPr id="43" name="对象 42"/>
            <p:cNvGraphicFramePr>
              <a:graphicFrameLocks noChangeAspect="1"/>
            </p:cNvGraphicFramePr>
            <p:nvPr/>
          </p:nvGraphicFramePr>
          <p:xfrm>
            <a:off x="4049522" y="3604899"/>
            <a:ext cx="511438" cy="247970"/>
          </p:xfrm>
          <a:graphic>
            <a:graphicData uri="http://schemas.openxmlformats.org/presentationml/2006/ole">
              <mc:AlternateContent xmlns:mc="http://schemas.openxmlformats.org/markup-compatibility/2006">
                <mc:Choice xmlns:v="urn:schemas-microsoft-com:vml" Requires="v">
                  <p:oleObj spid="_x0000_s84997" name="公式" r:id="rId12" imgW="418918" imgH="203112" progId="">
                    <p:embed/>
                  </p:oleObj>
                </mc:Choice>
                <mc:Fallback>
                  <p:oleObj name="公式" r:id="rId12" imgW="418918" imgH="203112" progId="">
                    <p:embed/>
                    <p:pic>
                      <p:nvPicPr>
                        <p:cNvPr id="43" name="对象 4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49522" y="3604899"/>
                          <a:ext cx="511438" cy="24797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7830" name="Object 6"/>
            <p:cNvGraphicFramePr>
              <a:graphicFrameLocks noChangeAspect="1"/>
            </p:cNvGraphicFramePr>
            <p:nvPr/>
          </p:nvGraphicFramePr>
          <p:xfrm>
            <a:off x="3427963" y="3972663"/>
            <a:ext cx="1041400" cy="247650"/>
          </p:xfrm>
          <a:graphic>
            <a:graphicData uri="http://schemas.openxmlformats.org/presentationml/2006/ole">
              <mc:AlternateContent xmlns:mc="http://schemas.openxmlformats.org/markup-compatibility/2006">
                <mc:Choice xmlns:v="urn:schemas-microsoft-com:vml" Requires="v">
                  <p:oleObj spid="_x0000_s84998" name="公式" r:id="rId14" imgW="850531" imgH="203112" progId="">
                    <p:embed/>
                  </p:oleObj>
                </mc:Choice>
                <mc:Fallback>
                  <p:oleObj name="公式" r:id="rId14" imgW="850531" imgH="203112" progId="">
                    <p:embed/>
                    <p:pic>
                      <p:nvPicPr>
                        <p:cNvPr id="77830" name="Object 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427963" y="3972663"/>
                          <a:ext cx="1041400" cy="247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7831" name="Object 7"/>
            <p:cNvGraphicFramePr>
              <a:graphicFrameLocks noChangeAspect="1"/>
            </p:cNvGraphicFramePr>
            <p:nvPr/>
          </p:nvGraphicFramePr>
          <p:xfrm>
            <a:off x="3410573" y="4331405"/>
            <a:ext cx="1041400" cy="247650"/>
          </p:xfrm>
          <a:graphic>
            <a:graphicData uri="http://schemas.openxmlformats.org/presentationml/2006/ole">
              <mc:AlternateContent xmlns:mc="http://schemas.openxmlformats.org/markup-compatibility/2006">
                <mc:Choice xmlns:v="urn:schemas-microsoft-com:vml" Requires="v">
                  <p:oleObj spid="_x0000_s84999" name="公式" r:id="rId16" imgW="850531" imgH="203112" progId="">
                    <p:embed/>
                  </p:oleObj>
                </mc:Choice>
                <mc:Fallback>
                  <p:oleObj name="公式" r:id="rId16" imgW="850531" imgH="203112" progId="">
                    <p:embed/>
                    <p:pic>
                      <p:nvPicPr>
                        <p:cNvPr id="77831" name="Object 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410573" y="4331405"/>
                          <a:ext cx="1041400" cy="247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74"/>
                                        </p:tgtEl>
                                        <p:attrNameLst>
                                          <p:attrName>style.visibility</p:attrName>
                                        </p:attrNameLst>
                                      </p:cBhvr>
                                      <p:to>
                                        <p:strVal val="visible"/>
                                      </p:to>
                                    </p:set>
                                    <p:animEffect transition="in" filter="slide(fromBottom)">
                                      <p:cBhvr>
                                        <p:cTn id="7" dur="1000"/>
                                        <p:tgtEl>
                                          <p:spTgt spid="74"/>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35"/>
                                        </p:tgtEl>
                                        <p:attrNameLst>
                                          <p:attrName>style.visibility</p:attrName>
                                        </p:attrNameLst>
                                      </p:cBhvr>
                                      <p:to>
                                        <p:strVal val="visible"/>
                                      </p:to>
                                    </p:set>
                                    <p:animEffect transition="in" filter="wipe(left)">
                                      <p:cBhvr>
                                        <p:cTn id="11" dur="1000"/>
                                        <p:tgtEl>
                                          <p:spTgt spid="35"/>
                                        </p:tgtEl>
                                      </p:cBhvr>
                                    </p:animEffect>
                                  </p:childTnLst>
                                </p:cTn>
                              </p:par>
                            </p:childTnLst>
                          </p:cTn>
                        </p:par>
                        <p:par>
                          <p:cTn id="12" fill="hold">
                            <p:stCondLst>
                              <p:cond delay="2000"/>
                            </p:stCondLst>
                            <p:childTnLst>
                              <p:par>
                                <p:cTn id="13" presetID="22" presetClass="entr" presetSubtype="8" fill="hold" nodeType="after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wipe(left)">
                                      <p:cBhvr>
                                        <p:cTn id="15" dur="1000"/>
                                        <p:tgtEl>
                                          <p:spTgt spid="34"/>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9"/>
                                        </p:tgtEl>
                                        <p:attrNameLst>
                                          <p:attrName>style.visibility</p:attrName>
                                        </p:attrNameLst>
                                      </p:cBhvr>
                                      <p:to>
                                        <p:strVal val="visible"/>
                                      </p:to>
                                    </p:set>
                                    <p:animEffect transition="in" filter="slide(fromBottom)">
                                      <p:cBhvr>
                                        <p:cTn id="20" dur="1000"/>
                                        <p:tgtEl>
                                          <p:spTgt spid="39"/>
                                        </p:tgtEl>
                                      </p:cBhvr>
                                    </p:animEffect>
                                  </p:childTnLst>
                                </p:cTn>
                              </p:par>
                            </p:childTnLst>
                          </p:cTn>
                        </p:par>
                        <p:par>
                          <p:cTn id="21" fill="hold">
                            <p:stCondLst>
                              <p:cond delay="1000"/>
                            </p:stCondLst>
                            <p:childTnLst>
                              <p:par>
                                <p:cTn id="22" presetID="22" presetClass="entr" presetSubtype="1" fill="hold" grpId="0" nodeType="afterEffect">
                                  <p:stCondLst>
                                    <p:cond delay="0"/>
                                  </p:stCondLst>
                                  <p:childTnLst>
                                    <p:set>
                                      <p:cBhvr>
                                        <p:cTn id="23" dur="1" fill="hold">
                                          <p:stCondLst>
                                            <p:cond delay="0"/>
                                          </p:stCondLst>
                                        </p:cTn>
                                        <p:tgtEl>
                                          <p:spTgt spid="33"/>
                                        </p:tgtEl>
                                        <p:attrNameLst>
                                          <p:attrName>style.visibility</p:attrName>
                                        </p:attrNameLst>
                                      </p:cBhvr>
                                      <p:to>
                                        <p:strVal val="visible"/>
                                      </p:to>
                                    </p:set>
                                    <p:animEffect transition="in" filter="wipe(up)">
                                      <p:cBhvr>
                                        <p:cTn id="24" dur="1000"/>
                                        <p:tgtEl>
                                          <p:spTgt spid="33"/>
                                        </p:tgtEl>
                                      </p:cBhvr>
                                    </p:animEffect>
                                  </p:childTnLst>
                                </p:cTn>
                              </p:par>
                            </p:childTnLst>
                          </p:cTn>
                        </p:par>
                        <p:par>
                          <p:cTn id="25" fill="hold">
                            <p:stCondLst>
                              <p:cond delay="2000"/>
                            </p:stCondLst>
                            <p:childTnLst>
                              <p:par>
                                <p:cTn id="26" presetID="17" presetClass="entr" presetSubtype="10" fill="hold" grpId="0" nodeType="afterEffect">
                                  <p:stCondLst>
                                    <p:cond delay="0"/>
                                  </p:stCondLst>
                                  <p:childTnLst>
                                    <p:set>
                                      <p:cBhvr>
                                        <p:cTn id="27" dur="1" fill="hold">
                                          <p:stCondLst>
                                            <p:cond delay="0"/>
                                          </p:stCondLst>
                                        </p:cTn>
                                        <p:tgtEl>
                                          <p:spTgt spid="59"/>
                                        </p:tgtEl>
                                        <p:attrNameLst>
                                          <p:attrName>style.visibility</p:attrName>
                                        </p:attrNameLst>
                                      </p:cBhvr>
                                      <p:to>
                                        <p:strVal val="visible"/>
                                      </p:to>
                                    </p:set>
                                    <p:anim calcmode="lin" valueType="num">
                                      <p:cBhvr>
                                        <p:cTn id="28" dur="1000" fill="hold"/>
                                        <p:tgtEl>
                                          <p:spTgt spid="59"/>
                                        </p:tgtEl>
                                        <p:attrNameLst>
                                          <p:attrName>ppt_w</p:attrName>
                                        </p:attrNameLst>
                                      </p:cBhvr>
                                      <p:tavLst>
                                        <p:tav tm="0">
                                          <p:val>
                                            <p:fltVal val="0"/>
                                          </p:val>
                                        </p:tav>
                                        <p:tav tm="100000">
                                          <p:val>
                                            <p:strVal val="#ppt_w"/>
                                          </p:val>
                                        </p:tav>
                                      </p:tavLst>
                                    </p:anim>
                                    <p:anim calcmode="lin" valueType="num">
                                      <p:cBhvr>
                                        <p:cTn id="29" dur="1000" fill="hold"/>
                                        <p:tgtEl>
                                          <p:spTgt spid="59"/>
                                        </p:tgtEl>
                                        <p:attrNameLst>
                                          <p:attrName>ppt_h</p:attrName>
                                        </p:attrNameLst>
                                      </p:cBhvr>
                                      <p:tavLst>
                                        <p:tav tm="0">
                                          <p:val>
                                            <p:strVal val="#ppt_h"/>
                                          </p:val>
                                        </p:tav>
                                        <p:tav tm="100000">
                                          <p:val>
                                            <p:strVal val="#ppt_h"/>
                                          </p:val>
                                        </p:tav>
                                      </p:tavLst>
                                    </p:anim>
                                  </p:childTnLst>
                                </p:cTn>
                              </p:par>
                            </p:childTnLst>
                          </p:cTn>
                        </p:par>
                      </p:childTnLst>
                    </p:cTn>
                  </p:par>
                  <p:par>
                    <p:cTn id="30" fill="hold">
                      <p:stCondLst>
                        <p:cond delay="indefinite"/>
                      </p:stCondLst>
                      <p:childTnLst>
                        <p:par>
                          <p:cTn id="31" fill="hold">
                            <p:stCondLst>
                              <p:cond delay="0"/>
                            </p:stCondLst>
                            <p:childTnLst>
                              <p:par>
                                <p:cTn id="32" presetID="12" presetClass="entr" presetSubtype="4" fill="hold" grpId="0" nodeType="click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slide(fromBottom)">
                                      <p:cBhvr>
                                        <p:cTn id="34" dur="1000"/>
                                        <p:tgtEl>
                                          <p:spTgt spid="32"/>
                                        </p:tgtEl>
                                      </p:cBhvr>
                                    </p:animEffect>
                                  </p:childTnLst>
                                </p:cTn>
                              </p:par>
                              <p:par>
                                <p:cTn id="35" presetID="22" presetClass="exit" presetSubtype="4" fill="hold" grpId="1" nodeType="withEffect">
                                  <p:stCondLst>
                                    <p:cond delay="0"/>
                                  </p:stCondLst>
                                  <p:childTnLst>
                                    <p:animEffect transition="out" filter="wipe(down)">
                                      <p:cBhvr>
                                        <p:cTn id="36" dur="1000"/>
                                        <p:tgtEl>
                                          <p:spTgt spid="33"/>
                                        </p:tgtEl>
                                      </p:cBhvr>
                                    </p:animEffect>
                                    <p:set>
                                      <p:cBhvr>
                                        <p:cTn id="37" dur="1" fill="hold">
                                          <p:stCondLst>
                                            <p:cond delay="999"/>
                                          </p:stCondLst>
                                        </p:cTn>
                                        <p:tgtEl>
                                          <p:spTgt spid="33"/>
                                        </p:tgtEl>
                                        <p:attrNameLst>
                                          <p:attrName>style.visibility</p:attrName>
                                        </p:attrNameLst>
                                      </p:cBhvr>
                                      <p:to>
                                        <p:strVal val="hidden"/>
                                      </p:to>
                                    </p:set>
                                  </p:childTnLst>
                                </p:cTn>
                              </p:par>
                              <p:par>
                                <p:cTn id="38" presetID="22" presetClass="exit" presetSubtype="4" fill="hold" grpId="1" nodeType="withEffect">
                                  <p:stCondLst>
                                    <p:cond delay="0"/>
                                  </p:stCondLst>
                                  <p:childTnLst>
                                    <p:animEffect transition="out" filter="wipe(down)">
                                      <p:cBhvr>
                                        <p:cTn id="39" dur="1000"/>
                                        <p:tgtEl>
                                          <p:spTgt spid="59"/>
                                        </p:tgtEl>
                                      </p:cBhvr>
                                    </p:animEffect>
                                    <p:set>
                                      <p:cBhvr>
                                        <p:cTn id="40" dur="1" fill="hold">
                                          <p:stCondLst>
                                            <p:cond delay="999"/>
                                          </p:stCondLst>
                                        </p:cTn>
                                        <p:tgtEl>
                                          <p:spTgt spid="59"/>
                                        </p:tgtEl>
                                        <p:attrNameLst>
                                          <p:attrName>style.visibility</p:attrName>
                                        </p:attrNameLst>
                                      </p:cBhvr>
                                      <p:to>
                                        <p:strVal val="hidden"/>
                                      </p:to>
                                    </p:set>
                                  </p:childTnLst>
                                </p:cTn>
                              </p:par>
                            </p:childTnLst>
                          </p:cTn>
                        </p:par>
                        <p:par>
                          <p:cTn id="41" fill="hold">
                            <p:stCondLst>
                              <p:cond delay="1000"/>
                            </p:stCondLst>
                            <p:childTnLst>
                              <p:par>
                                <p:cTn id="42" presetID="22" presetClass="entr" presetSubtype="4" fill="hold" grpId="0" nodeType="after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wipe(down)">
                                      <p:cBhvr>
                                        <p:cTn id="44" dur="1000"/>
                                        <p:tgtEl>
                                          <p:spTgt spid="36"/>
                                        </p:tgtEl>
                                      </p:cBhvr>
                                    </p:animEffect>
                                  </p:childTnLst>
                                </p:cTn>
                              </p:par>
                            </p:childTnLst>
                          </p:cTn>
                        </p:par>
                        <p:par>
                          <p:cTn id="45" fill="hold">
                            <p:stCondLst>
                              <p:cond delay="2000"/>
                            </p:stCondLst>
                            <p:childTnLst>
                              <p:par>
                                <p:cTn id="46" presetID="17" presetClass="entr" presetSubtype="10" fill="hold" grpId="0" nodeType="afterEffect">
                                  <p:stCondLst>
                                    <p:cond delay="0"/>
                                  </p:stCondLst>
                                  <p:childTnLst>
                                    <p:set>
                                      <p:cBhvr>
                                        <p:cTn id="47" dur="1" fill="hold">
                                          <p:stCondLst>
                                            <p:cond delay="0"/>
                                          </p:stCondLst>
                                        </p:cTn>
                                        <p:tgtEl>
                                          <p:spTgt spid="60"/>
                                        </p:tgtEl>
                                        <p:attrNameLst>
                                          <p:attrName>style.visibility</p:attrName>
                                        </p:attrNameLst>
                                      </p:cBhvr>
                                      <p:to>
                                        <p:strVal val="visible"/>
                                      </p:to>
                                    </p:set>
                                    <p:anim calcmode="lin" valueType="num">
                                      <p:cBhvr>
                                        <p:cTn id="48" dur="1000" fill="hold"/>
                                        <p:tgtEl>
                                          <p:spTgt spid="60"/>
                                        </p:tgtEl>
                                        <p:attrNameLst>
                                          <p:attrName>ppt_w</p:attrName>
                                        </p:attrNameLst>
                                      </p:cBhvr>
                                      <p:tavLst>
                                        <p:tav tm="0">
                                          <p:val>
                                            <p:fltVal val="0"/>
                                          </p:val>
                                        </p:tav>
                                        <p:tav tm="100000">
                                          <p:val>
                                            <p:strVal val="#ppt_w"/>
                                          </p:val>
                                        </p:tav>
                                      </p:tavLst>
                                    </p:anim>
                                    <p:anim calcmode="lin" valueType="num">
                                      <p:cBhvr>
                                        <p:cTn id="49" dur="1000" fill="hold"/>
                                        <p:tgtEl>
                                          <p:spTgt spid="60"/>
                                        </p:tgtEl>
                                        <p:attrNameLst>
                                          <p:attrName>ppt_h</p:attrName>
                                        </p:attrNameLst>
                                      </p:cBhvr>
                                      <p:tavLst>
                                        <p:tav tm="0">
                                          <p:val>
                                            <p:strVal val="#ppt_h"/>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12" presetClass="entr" presetSubtype="4" fill="hold" grpId="0" nodeType="clickEffect">
                                  <p:stCondLst>
                                    <p:cond delay="0"/>
                                  </p:stCondLst>
                                  <p:childTnLst>
                                    <p:set>
                                      <p:cBhvr>
                                        <p:cTn id="53" dur="1" fill="hold">
                                          <p:stCondLst>
                                            <p:cond delay="0"/>
                                          </p:stCondLst>
                                        </p:cTn>
                                        <p:tgtEl>
                                          <p:spTgt spid="31"/>
                                        </p:tgtEl>
                                        <p:attrNameLst>
                                          <p:attrName>style.visibility</p:attrName>
                                        </p:attrNameLst>
                                      </p:cBhvr>
                                      <p:to>
                                        <p:strVal val="visible"/>
                                      </p:to>
                                    </p:set>
                                    <p:animEffect transition="in" filter="slide(fromBottom)">
                                      <p:cBhvr>
                                        <p:cTn id="54" dur="1000"/>
                                        <p:tgtEl>
                                          <p:spTgt spid="31"/>
                                        </p:tgtEl>
                                      </p:cBhvr>
                                    </p:animEffect>
                                  </p:childTnLst>
                                </p:cTn>
                              </p:par>
                              <p:par>
                                <p:cTn id="55" presetID="17" presetClass="entr" presetSubtype="10" fill="hold" nodeType="withEffect">
                                  <p:stCondLst>
                                    <p:cond delay="0"/>
                                  </p:stCondLst>
                                  <p:childTnLst>
                                    <p:set>
                                      <p:cBhvr>
                                        <p:cTn id="56" dur="1" fill="hold">
                                          <p:stCondLst>
                                            <p:cond delay="0"/>
                                          </p:stCondLst>
                                        </p:cTn>
                                        <p:tgtEl>
                                          <p:spTgt spid="50"/>
                                        </p:tgtEl>
                                        <p:attrNameLst>
                                          <p:attrName>style.visibility</p:attrName>
                                        </p:attrNameLst>
                                      </p:cBhvr>
                                      <p:to>
                                        <p:strVal val="visible"/>
                                      </p:to>
                                    </p:set>
                                    <p:anim calcmode="lin" valueType="num">
                                      <p:cBhvr>
                                        <p:cTn id="57" dur="1000" fill="hold"/>
                                        <p:tgtEl>
                                          <p:spTgt spid="50"/>
                                        </p:tgtEl>
                                        <p:attrNameLst>
                                          <p:attrName>ppt_w</p:attrName>
                                        </p:attrNameLst>
                                      </p:cBhvr>
                                      <p:tavLst>
                                        <p:tav tm="0">
                                          <p:val>
                                            <p:fltVal val="0"/>
                                          </p:val>
                                        </p:tav>
                                        <p:tav tm="100000">
                                          <p:val>
                                            <p:strVal val="#ppt_w"/>
                                          </p:val>
                                        </p:tav>
                                      </p:tavLst>
                                    </p:anim>
                                    <p:anim calcmode="lin" valueType="num">
                                      <p:cBhvr>
                                        <p:cTn id="58" dur="1000" fill="hold"/>
                                        <p:tgtEl>
                                          <p:spTgt spid="50"/>
                                        </p:tgtEl>
                                        <p:attrNameLst>
                                          <p:attrName>ppt_h</p:attrName>
                                        </p:attrNameLst>
                                      </p:cBhvr>
                                      <p:tavLst>
                                        <p:tav tm="0">
                                          <p:val>
                                            <p:strVal val="#ppt_h"/>
                                          </p:val>
                                        </p:tav>
                                        <p:tav tm="100000">
                                          <p:val>
                                            <p:strVal val="#ppt_h"/>
                                          </p:val>
                                        </p:tav>
                                      </p:tavLst>
                                    </p:anim>
                                  </p:childTnLst>
                                </p:cTn>
                              </p:par>
                            </p:childTnLst>
                          </p:cTn>
                        </p:par>
                      </p:childTnLst>
                    </p:cTn>
                  </p:par>
                  <p:par>
                    <p:cTn id="59" fill="hold">
                      <p:stCondLst>
                        <p:cond delay="indefinite"/>
                      </p:stCondLst>
                      <p:childTnLst>
                        <p:par>
                          <p:cTn id="60" fill="hold">
                            <p:stCondLst>
                              <p:cond delay="0"/>
                            </p:stCondLst>
                            <p:childTnLst>
                              <p:par>
                                <p:cTn id="61" presetID="12" presetClass="entr" presetSubtype="4" fill="hold" nodeType="clickEffect">
                                  <p:stCondLst>
                                    <p:cond delay="0"/>
                                  </p:stCondLst>
                                  <p:childTnLst>
                                    <p:set>
                                      <p:cBhvr>
                                        <p:cTn id="62" dur="1" fill="hold">
                                          <p:stCondLst>
                                            <p:cond delay="0"/>
                                          </p:stCondLst>
                                        </p:cTn>
                                        <p:tgtEl>
                                          <p:spTgt spid="44"/>
                                        </p:tgtEl>
                                        <p:attrNameLst>
                                          <p:attrName>style.visibility</p:attrName>
                                        </p:attrNameLst>
                                      </p:cBhvr>
                                      <p:to>
                                        <p:strVal val="visible"/>
                                      </p:to>
                                    </p:set>
                                    <p:animEffect transition="in" filter="slide(fromBottom)">
                                      <p:cBhvr>
                                        <p:cTn id="63" dur="10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3" grpId="1" animBg="1"/>
      <p:bldP spid="35" grpId="0" animBg="1"/>
      <p:bldP spid="39" grpId="0"/>
      <p:bldP spid="31" grpId="0"/>
      <p:bldP spid="32" grpId="0"/>
      <p:bldP spid="36" grpId="0" animBg="1"/>
      <p:bldP spid="59" grpId="0" animBg="1"/>
      <p:bldP spid="59" grpId="1" animBg="1"/>
      <p:bldP spid="6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a:extLst>
              <a:ext uri="{FF2B5EF4-FFF2-40B4-BE49-F238E27FC236}">
                <a16:creationId xmlns:a16="http://schemas.microsoft.com/office/drawing/2014/main" id="{4D87D00F-8A74-4394-A2D5-E706C53852D3}"/>
              </a:ext>
            </a:extLst>
          </p:cNvPr>
          <p:cNvGraphicFramePr>
            <a:graphicFrameLocks noChangeAspect="1"/>
          </p:cNvGraphicFramePr>
          <p:nvPr/>
        </p:nvGraphicFramePr>
        <p:xfrm>
          <a:off x="4612812" y="1302996"/>
          <a:ext cx="3503701" cy="2278944"/>
        </p:xfrm>
        <a:graphic>
          <a:graphicData uri="http://schemas.openxmlformats.org/presentationml/2006/ole">
            <mc:AlternateContent xmlns:mc="http://schemas.openxmlformats.org/markup-compatibility/2006">
              <mc:Choice xmlns:v="urn:schemas-microsoft-com:vml" Requires="v">
                <p:oleObj spid="_x0000_s86018" name="Visio" r:id="rId3" imgW="1356181" imgH="880668" progId="">
                  <p:embed/>
                </p:oleObj>
              </mc:Choice>
              <mc:Fallback>
                <p:oleObj name="Visio" r:id="rId3" imgW="1356181" imgH="880668" progId="">
                  <p:embed/>
                  <p:pic>
                    <p:nvPicPr>
                      <p:cNvPr id="4" name="对象 3">
                        <a:extLst>
                          <a:ext uri="{FF2B5EF4-FFF2-40B4-BE49-F238E27FC236}">
                            <a16:creationId xmlns:a16="http://schemas.microsoft.com/office/drawing/2014/main" id="{4D87D00F-8A74-4394-A2D5-E706C53852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2812" y="1302996"/>
                        <a:ext cx="3503701" cy="22789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ctangle 35"/>
          <p:cNvSpPr>
            <a:spLocks noChangeArrowheads="1"/>
          </p:cNvSpPr>
          <p:nvPr/>
        </p:nvSpPr>
        <p:spPr bwMode="auto">
          <a:xfrm>
            <a:off x="705719" y="1889454"/>
            <a:ext cx="3308709" cy="338554"/>
          </a:xfrm>
          <a:prstGeom prst="rect">
            <a:avLst/>
          </a:prstGeom>
          <a:noFill/>
          <a:ln w="9525" algn="ctr">
            <a:noFill/>
            <a:miter lim="800000"/>
            <a:headEnd/>
            <a:tailEnd/>
          </a:ln>
        </p:spPr>
        <p:txBody>
          <a:bodyPr wrap="square">
            <a:spAutoFit/>
          </a:bodyPr>
          <a:lstStyle/>
          <a:p>
            <a:r>
              <a:rPr lang="zh-CN" altLang="en-US" sz="1600" dirty="0">
                <a:solidFill>
                  <a:srgbClr val="6600FF"/>
                </a:solidFill>
                <a:latin typeface="方正粗黑宋简体" pitchFamily="2" charset="-122"/>
                <a:ea typeface="方正粗黑宋简体" pitchFamily="2" charset="-122"/>
              </a:rPr>
              <a:t>传输门的应用：</a:t>
            </a:r>
            <a:r>
              <a:rPr lang="zh-CN" altLang="en-US" sz="1600" dirty="0">
                <a:solidFill>
                  <a:srgbClr val="080808"/>
                </a:solidFill>
                <a:latin typeface="黑体" pitchFamily="49" charset="-122"/>
                <a:ea typeface="黑体" pitchFamily="49" charset="-122"/>
              </a:rPr>
              <a:t>组成的数据选择器</a:t>
            </a:r>
            <a:endParaRPr lang="zh-CN" altLang="en-US" sz="1600" dirty="0">
              <a:solidFill>
                <a:srgbClr val="6600FF"/>
              </a:solidFill>
              <a:latin typeface="黑体" pitchFamily="49" charset="-122"/>
              <a:ea typeface="黑体" pitchFamily="49" charset="-122"/>
            </a:endParaRPr>
          </a:p>
        </p:txBody>
      </p:sp>
      <p:sp>
        <p:nvSpPr>
          <p:cNvPr id="6" name="Rectangle 38"/>
          <p:cNvSpPr>
            <a:spLocks noChangeArrowheads="1"/>
          </p:cNvSpPr>
          <p:nvPr/>
        </p:nvSpPr>
        <p:spPr bwMode="auto">
          <a:xfrm>
            <a:off x="758175" y="2390757"/>
            <a:ext cx="3446390" cy="338554"/>
          </a:xfrm>
          <a:prstGeom prst="rect">
            <a:avLst/>
          </a:prstGeom>
          <a:noFill/>
          <a:ln w="9525" algn="ctr">
            <a:noFill/>
            <a:miter lim="800000"/>
            <a:headEnd/>
            <a:tailEnd/>
          </a:ln>
        </p:spPr>
        <p:txBody>
          <a:bodyPr wrap="square">
            <a:spAutoFit/>
          </a:bodyPr>
          <a:lstStyle/>
          <a:p>
            <a:r>
              <a:rPr lang="en-US" altLang="zh-CN" sz="1600" dirty="0">
                <a:solidFill>
                  <a:srgbClr val="080808"/>
                </a:solidFill>
                <a:latin typeface="Times New Roman" pitchFamily="18" charset="0"/>
                <a:ea typeface="黑体" pitchFamily="49" charset="-122"/>
                <a:cs typeface="Times New Roman" pitchFamily="18" charset="0"/>
              </a:rPr>
              <a:t>C=0</a:t>
            </a:r>
            <a:r>
              <a:rPr lang="zh-CN" altLang="en-US" sz="1600" dirty="0">
                <a:solidFill>
                  <a:srgbClr val="080808"/>
                </a:solidFill>
                <a:latin typeface="Times New Roman" pitchFamily="18" charset="0"/>
                <a:ea typeface="黑体" pitchFamily="49" charset="-122"/>
                <a:cs typeface="Times New Roman" pitchFamily="18" charset="0"/>
              </a:rPr>
              <a:t>：</a:t>
            </a:r>
            <a:r>
              <a:rPr lang="en-US" altLang="zh-CN" sz="1600" dirty="0">
                <a:solidFill>
                  <a:srgbClr val="080808"/>
                </a:solidFill>
                <a:latin typeface="Times New Roman" pitchFamily="18" charset="0"/>
                <a:ea typeface="黑体" pitchFamily="49" charset="-122"/>
                <a:cs typeface="Times New Roman" pitchFamily="18" charset="0"/>
              </a:rPr>
              <a:t>TG</a:t>
            </a:r>
            <a:r>
              <a:rPr lang="en-US" altLang="zh-CN" sz="1600" baseline="-25000" dirty="0">
                <a:solidFill>
                  <a:srgbClr val="080808"/>
                </a:solidFill>
                <a:latin typeface="Times New Roman" pitchFamily="18" charset="0"/>
                <a:ea typeface="黑体" pitchFamily="49" charset="-122"/>
                <a:cs typeface="Times New Roman" pitchFamily="18" charset="0"/>
              </a:rPr>
              <a:t>1</a:t>
            </a:r>
            <a:r>
              <a:rPr lang="zh-CN" altLang="en-US" sz="1600" dirty="0">
                <a:solidFill>
                  <a:srgbClr val="080808"/>
                </a:solidFill>
                <a:latin typeface="Times New Roman" pitchFamily="18" charset="0"/>
                <a:ea typeface="黑体" pitchFamily="49" charset="-122"/>
                <a:cs typeface="Times New Roman" pitchFamily="18" charset="0"/>
              </a:rPr>
              <a:t>导通</a:t>
            </a:r>
            <a:r>
              <a:rPr lang="en-US" altLang="zh-CN" sz="1600" dirty="0">
                <a:solidFill>
                  <a:srgbClr val="080808"/>
                </a:solidFill>
                <a:latin typeface="Times New Roman" pitchFamily="18" charset="0"/>
                <a:ea typeface="黑体" pitchFamily="49" charset="-122"/>
                <a:cs typeface="Times New Roman" pitchFamily="18" charset="0"/>
              </a:rPr>
              <a:t>, TG</a:t>
            </a:r>
            <a:r>
              <a:rPr lang="en-US" altLang="zh-CN" sz="1600" baseline="-25000" dirty="0">
                <a:solidFill>
                  <a:srgbClr val="080808"/>
                </a:solidFill>
                <a:latin typeface="Times New Roman" pitchFamily="18" charset="0"/>
                <a:ea typeface="黑体" pitchFamily="49" charset="-122"/>
                <a:cs typeface="Times New Roman" pitchFamily="18" charset="0"/>
              </a:rPr>
              <a:t>2</a:t>
            </a:r>
            <a:r>
              <a:rPr lang="zh-CN" altLang="en-US" sz="1600" dirty="0">
                <a:solidFill>
                  <a:srgbClr val="080808"/>
                </a:solidFill>
                <a:latin typeface="Times New Roman" pitchFamily="18" charset="0"/>
                <a:ea typeface="黑体" pitchFamily="49" charset="-122"/>
                <a:cs typeface="Times New Roman" pitchFamily="18" charset="0"/>
              </a:rPr>
              <a:t>断开，</a:t>
            </a:r>
            <a:r>
              <a:rPr lang="en-US" altLang="zh-CN" sz="1600" i="1" dirty="0">
                <a:solidFill>
                  <a:srgbClr val="080808"/>
                </a:solidFill>
                <a:latin typeface="Times New Roman" pitchFamily="18" charset="0"/>
                <a:ea typeface="黑体" pitchFamily="49" charset="-122"/>
                <a:cs typeface="Times New Roman" pitchFamily="18" charset="0"/>
              </a:rPr>
              <a:t>L</a:t>
            </a:r>
            <a:r>
              <a:rPr lang="en-US" altLang="zh-CN" sz="1600" dirty="0">
                <a:solidFill>
                  <a:srgbClr val="080808"/>
                </a:solidFill>
                <a:latin typeface="Times New Roman" pitchFamily="18" charset="0"/>
                <a:ea typeface="黑体" pitchFamily="49" charset="-122"/>
                <a:cs typeface="Times New Roman" pitchFamily="18" charset="0"/>
              </a:rPr>
              <a:t>=</a:t>
            </a:r>
            <a:r>
              <a:rPr lang="en-US" altLang="zh-CN" sz="1600" i="1" dirty="0">
                <a:solidFill>
                  <a:srgbClr val="080808"/>
                </a:solidFill>
                <a:latin typeface="Times New Roman" pitchFamily="18" charset="0"/>
                <a:ea typeface="黑体" pitchFamily="49" charset="-122"/>
                <a:cs typeface="Times New Roman" pitchFamily="18" charset="0"/>
              </a:rPr>
              <a:t>A</a:t>
            </a:r>
            <a:r>
              <a:rPr lang="zh-CN" altLang="en-US" sz="1600" dirty="0">
                <a:solidFill>
                  <a:srgbClr val="080808"/>
                </a:solidFill>
                <a:latin typeface="Times New Roman" pitchFamily="18" charset="0"/>
                <a:ea typeface="黑体" pitchFamily="49" charset="-122"/>
                <a:cs typeface="Times New Roman" pitchFamily="18" charset="0"/>
              </a:rPr>
              <a:t>；</a:t>
            </a:r>
            <a:endParaRPr lang="en-US" altLang="zh-CN" sz="1600" dirty="0">
              <a:solidFill>
                <a:srgbClr val="080808"/>
              </a:solidFill>
              <a:latin typeface="Times New Roman" pitchFamily="18" charset="0"/>
              <a:ea typeface="黑体" pitchFamily="49" charset="-122"/>
              <a:cs typeface="Times New Roman" pitchFamily="18" charset="0"/>
            </a:endParaRPr>
          </a:p>
        </p:txBody>
      </p:sp>
      <p:sp>
        <p:nvSpPr>
          <p:cNvPr id="7" name="Rectangle 41"/>
          <p:cNvSpPr>
            <a:spLocks noChangeArrowheads="1"/>
          </p:cNvSpPr>
          <p:nvPr/>
        </p:nvSpPr>
        <p:spPr bwMode="auto">
          <a:xfrm>
            <a:off x="758175" y="2825097"/>
            <a:ext cx="3225410" cy="338554"/>
          </a:xfrm>
          <a:prstGeom prst="rect">
            <a:avLst/>
          </a:prstGeom>
          <a:noFill/>
          <a:ln w="9525" algn="ctr">
            <a:noFill/>
            <a:miter lim="800000"/>
            <a:headEnd/>
            <a:tailEnd/>
          </a:ln>
        </p:spPr>
        <p:txBody>
          <a:bodyPr wrap="square">
            <a:spAutoFit/>
          </a:bodyPr>
          <a:lstStyle/>
          <a:p>
            <a:r>
              <a:rPr lang="en-US" altLang="zh-CN" sz="1600" dirty="0">
                <a:solidFill>
                  <a:srgbClr val="080808"/>
                </a:solidFill>
                <a:latin typeface="Times New Roman" pitchFamily="18" charset="0"/>
                <a:ea typeface="黑体" pitchFamily="49" charset="-122"/>
                <a:cs typeface="Times New Roman" pitchFamily="18" charset="0"/>
              </a:rPr>
              <a:t>C=1</a:t>
            </a:r>
            <a:r>
              <a:rPr lang="zh-CN" altLang="en-US" sz="1600" dirty="0">
                <a:solidFill>
                  <a:srgbClr val="080808"/>
                </a:solidFill>
                <a:latin typeface="Times New Roman" pitchFamily="18" charset="0"/>
                <a:ea typeface="黑体" pitchFamily="49" charset="-122"/>
                <a:cs typeface="Times New Roman" pitchFamily="18" charset="0"/>
              </a:rPr>
              <a:t>：</a:t>
            </a:r>
            <a:r>
              <a:rPr lang="en-US" altLang="zh-CN" sz="1600" dirty="0">
                <a:solidFill>
                  <a:srgbClr val="080808"/>
                </a:solidFill>
                <a:latin typeface="Times New Roman" pitchFamily="18" charset="0"/>
                <a:ea typeface="黑体" pitchFamily="49" charset="-122"/>
                <a:cs typeface="Times New Roman" pitchFamily="18" charset="0"/>
              </a:rPr>
              <a:t>TG</a:t>
            </a:r>
            <a:r>
              <a:rPr lang="en-US" altLang="zh-CN" sz="1600" baseline="-25000" dirty="0">
                <a:solidFill>
                  <a:srgbClr val="080808"/>
                </a:solidFill>
                <a:latin typeface="Times New Roman" pitchFamily="18" charset="0"/>
                <a:ea typeface="黑体" pitchFamily="49" charset="-122"/>
                <a:cs typeface="Times New Roman" pitchFamily="18" charset="0"/>
              </a:rPr>
              <a:t>2</a:t>
            </a:r>
            <a:r>
              <a:rPr lang="zh-CN" altLang="en-US" sz="1600" dirty="0">
                <a:solidFill>
                  <a:srgbClr val="080808"/>
                </a:solidFill>
                <a:latin typeface="Times New Roman" pitchFamily="18" charset="0"/>
                <a:ea typeface="黑体" pitchFamily="49" charset="-122"/>
                <a:cs typeface="Times New Roman" pitchFamily="18" charset="0"/>
              </a:rPr>
              <a:t>导通</a:t>
            </a:r>
            <a:r>
              <a:rPr lang="en-US" altLang="zh-CN" sz="1600" dirty="0">
                <a:solidFill>
                  <a:srgbClr val="080808"/>
                </a:solidFill>
                <a:latin typeface="Times New Roman" pitchFamily="18" charset="0"/>
                <a:ea typeface="黑体" pitchFamily="49" charset="-122"/>
                <a:cs typeface="Times New Roman" pitchFamily="18" charset="0"/>
              </a:rPr>
              <a:t>, TG</a:t>
            </a:r>
            <a:r>
              <a:rPr lang="en-US" altLang="zh-CN" sz="1600" baseline="-25000" dirty="0">
                <a:solidFill>
                  <a:srgbClr val="080808"/>
                </a:solidFill>
                <a:latin typeface="Times New Roman" pitchFamily="18" charset="0"/>
                <a:ea typeface="黑体" pitchFamily="49" charset="-122"/>
                <a:cs typeface="Times New Roman" pitchFamily="18" charset="0"/>
              </a:rPr>
              <a:t>1</a:t>
            </a:r>
            <a:r>
              <a:rPr lang="zh-CN" altLang="en-US" sz="1600" dirty="0">
                <a:solidFill>
                  <a:srgbClr val="080808"/>
                </a:solidFill>
                <a:latin typeface="Times New Roman" pitchFamily="18" charset="0"/>
                <a:ea typeface="黑体" pitchFamily="49" charset="-122"/>
                <a:cs typeface="Times New Roman" pitchFamily="18" charset="0"/>
              </a:rPr>
              <a:t>断开， </a:t>
            </a:r>
            <a:r>
              <a:rPr lang="en-US" altLang="zh-CN" sz="1600" i="1" dirty="0">
                <a:solidFill>
                  <a:srgbClr val="080808"/>
                </a:solidFill>
                <a:latin typeface="Times New Roman" pitchFamily="18" charset="0"/>
                <a:ea typeface="黑体" pitchFamily="49" charset="-122"/>
                <a:cs typeface="Times New Roman" pitchFamily="18" charset="0"/>
              </a:rPr>
              <a:t>L</a:t>
            </a:r>
            <a:r>
              <a:rPr lang="en-US" altLang="zh-CN" sz="1600" dirty="0">
                <a:solidFill>
                  <a:srgbClr val="080808"/>
                </a:solidFill>
                <a:latin typeface="Times New Roman" pitchFamily="18" charset="0"/>
                <a:ea typeface="黑体" pitchFamily="49" charset="-122"/>
                <a:cs typeface="Times New Roman" pitchFamily="18" charset="0"/>
              </a:rPr>
              <a:t>=</a:t>
            </a:r>
            <a:r>
              <a:rPr lang="en-US" altLang="zh-CN" sz="1600" i="1" dirty="0">
                <a:solidFill>
                  <a:srgbClr val="080808"/>
                </a:solidFill>
                <a:latin typeface="Times New Roman" pitchFamily="18" charset="0"/>
                <a:ea typeface="黑体" pitchFamily="49" charset="-122"/>
                <a:cs typeface="Times New Roman" pitchFamily="18" charset="0"/>
              </a:rPr>
              <a:t>B</a:t>
            </a:r>
            <a:r>
              <a:rPr lang="zh-CN" altLang="en-US" sz="1600" dirty="0">
                <a:solidFill>
                  <a:srgbClr val="080808"/>
                </a:solidFill>
                <a:latin typeface="Times New Roman" pitchFamily="18" charset="0"/>
                <a:ea typeface="黑体" pitchFamily="49" charset="-122"/>
                <a:cs typeface="Times New Roman" pitchFamily="18" charset="0"/>
              </a:rPr>
              <a:t>。</a:t>
            </a:r>
            <a:endParaRPr lang="en-US" altLang="zh-CN" sz="1600" i="1" dirty="0">
              <a:solidFill>
                <a:srgbClr val="080808"/>
              </a:solidFill>
              <a:latin typeface="Times New Roman" pitchFamily="18" charset="0"/>
              <a:ea typeface="黑体" pitchFamily="49" charset="-122"/>
              <a:cs typeface="Times New Roman" pitchFamily="18" charset="0"/>
            </a:endParaRPr>
          </a:p>
        </p:txBody>
      </p:sp>
      <p:grpSp>
        <p:nvGrpSpPr>
          <p:cNvPr id="20" name="组合 19"/>
          <p:cNvGrpSpPr/>
          <p:nvPr/>
        </p:nvGrpSpPr>
        <p:grpSpPr>
          <a:xfrm>
            <a:off x="5228772" y="1283970"/>
            <a:ext cx="1712413" cy="2404834"/>
            <a:chOff x="5122092" y="842010"/>
            <a:chExt cx="1712413" cy="2404834"/>
          </a:xfrm>
        </p:grpSpPr>
        <p:sp>
          <p:nvSpPr>
            <p:cNvPr id="16" name="椭圆 15"/>
            <p:cNvSpPr/>
            <p:nvPr/>
          </p:nvSpPr>
          <p:spPr>
            <a:xfrm>
              <a:off x="5122092" y="1946275"/>
              <a:ext cx="252000" cy="252000"/>
            </a:xfrm>
            <a:prstGeom prst="ellipse">
              <a:avLst/>
            </a:prstGeom>
            <a:solidFill>
              <a:srgbClr val="CC00CC"/>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latin typeface="Times New Roman" pitchFamily="18" charset="0"/>
                  <a:cs typeface="Times New Roman" pitchFamily="18" charset="0"/>
                </a:rPr>
                <a:t>0</a:t>
              </a:r>
              <a:endParaRPr lang="zh-CN" altLang="en-US" sz="1600" b="1" dirty="0">
                <a:latin typeface="Times New Roman" pitchFamily="18" charset="0"/>
                <a:cs typeface="Times New Roman" pitchFamily="18" charset="0"/>
              </a:endParaRPr>
            </a:p>
          </p:txBody>
        </p:sp>
        <p:sp>
          <p:nvSpPr>
            <p:cNvPr id="17" name="椭圆 16"/>
            <p:cNvSpPr/>
            <p:nvPr/>
          </p:nvSpPr>
          <p:spPr>
            <a:xfrm>
              <a:off x="6582505" y="2994844"/>
              <a:ext cx="252000" cy="252000"/>
            </a:xfrm>
            <a:prstGeom prst="ellipse">
              <a:avLst/>
            </a:prstGeom>
            <a:solidFill>
              <a:srgbClr val="CC00CC"/>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latin typeface="Times New Roman" pitchFamily="18" charset="0"/>
                  <a:cs typeface="Times New Roman" pitchFamily="18" charset="0"/>
                </a:rPr>
                <a:t>0</a:t>
              </a:r>
              <a:endParaRPr lang="zh-CN" altLang="en-US" sz="1600" b="1" dirty="0">
                <a:latin typeface="Times New Roman" pitchFamily="18" charset="0"/>
                <a:cs typeface="Times New Roman" pitchFamily="18" charset="0"/>
              </a:endParaRPr>
            </a:p>
          </p:txBody>
        </p:sp>
        <p:sp>
          <p:nvSpPr>
            <p:cNvPr id="18" name="椭圆 17"/>
            <p:cNvSpPr/>
            <p:nvPr/>
          </p:nvSpPr>
          <p:spPr>
            <a:xfrm>
              <a:off x="6543489" y="842010"/>
              <a:ext cx="252000" cy="252000"/>
            </a:xfrm>
            <a:prstGeom prst="ellipse">
              <a:avLst/>
            </a:prstGeom>
            <a:solidFill>
              <a:srgbClr val="CC00CC"/>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latin typeface="Times New Roman" pitchFamily="18" charset="0"/>
                  <a:cs typeface="Times New Roman" pitchFamily="18" charset="0"/>
                </a:rPr>
                <a:t>0</a:t>
              </a:r>
              <a:endParaRPr lang="zh-CN" altLang="en-US" sz="1600" b="1" dirty="0">
                <a:latin typeface="Times New Roman" pitchFamily="18" charset="0"/>
                <a:cs typeface="Times New Roman" pitchFamily="18" charset="0"/>
              </a:endParaRPr>
            </a:p>
          </p:txBody>
        </p:sp>
        <p:sp>
          <p:nvSpPr>
            <p:cNvPr id="19" name="椭圆 18"/>
            <p:cNvSpPr/>
            <p:nvPr/>
          </p:nvSpPr>
          <p:spPr>
            <a:xfrm>
              <a:off x="6537960" y="1923510"/>
              <a:ext cx="252000" cy="252000"/>
            </a:xfrm>
            <a:prstGeom prst="ellipse">
              <a:avLst/>
            </a:prstGeom>
            <a:solidFill>
              <a:srgbClr val="CC00CC"/>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latin typeface="Times New Roman" pitchFamily="18" charset="0"/>
                  <a:cs typeface="Times New Roman" pitchFamily="18" charset="0"/>
                </a:rPr>
                <a:t>1</a:t>
              </a:r>
              <a:endParaRPr lang="zh-CN" altLang="en-US" sz="1600" b="1" dirty="0">
                <a:latin typeface="Times New Roman" pitchFamily="18" charset="0"/>
                <a:cs typeface="Times New Roman" pitchFamily="18" charset="0"/>
              </a:endParaRPr>
            </a:p>
          </p:txBody>
        </p:sp>
      </p:grpSp>
      <p:grpSp>
        <p:nvGrpSpPr>
          <p:cNvPr id="21" name="组合 20"/>
          <p:cNvGrpSpPr/>
          <p:nvPr/>
        </p:nvGrpSpPr>
        <p:grpSpPr>
          <a:xfrm>
            <a:off x="5223243" y="1283970"/>
            <a:ext cx="1717942" cy="2402882"/>
            <a:chOff x="5282135" y="914400"/>
            <a:chExt cx="1717942" cy="2402882"/>
          </a:xfrm>
          <a:solidFill>
            <a:srgbClr val="FFFF00"/>
          </a:solidFill>
        </p:grpSpPr>
        <p:sp>
          <p:nvSpPr>
            <p:cNvPr id="22" name="椭圆 21"/>
            <p:cNvSpPr/>
            <p:nvPr/>
          </p:nvSpPr>
          <p:spPr>
            <a:xfrm>
              <a:off x="5282135" y="2016385"/>
              <a:ext cx="252000" cy="252000"/>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solidFill>
                    <a:srgbClr val="6600FF"/>
                  </a:solidFill>
                  <a:latin typeface="Times New Roman" pitchFamily="18" charset="0"/>
                  <a:cs typeface="Times New Roman" pitchFamily="18" charset="0"/>
                </a:rPr>
                <a:t>1</a:t>
              </a:r>
              <a:endParaRPr lang="zh-CN" altLang="en-US" sz="1600" b="1" dirty="0">
                <a:solidFill>
                  <a:srgbClr val="6600FF"/>
                </a:solidFill>
                <a:latin typeface="Times New Roman" pitchFamily="18" charset="0"/>
                <a:cs typeface="Times New Roman" pitchFamily="18" charset="0"/>
              </a:endParaRPr>
            </a:p>
          </p:txBody>
        </p:sp>
        <p:sp>
          <p:nvSpPr>
            <p:cNvPr id="23" name="椭圆 22"/>
            <p:cNvSpPr/>
            <p:nvPr/>
          </p:nvSpPr>
          <p:spPr>
            <a:xfrm>
              <a:off x="6748077" y="3065282"/>
              <a:ext cx="252000" cy="252000"/>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solidFill>
                    <a:srgbClr val="6600FF"/>
                  </a:solidFill>
                  <a:latin typeface="Times New Roman" pitchFamily="18" charset="0"/>
                  <a:cs typeface="Times New Roman" pitchFamily="18" charset="0"/>
                </a:rPr>
                <a:t>1</a:t>
              </a:r>
              <a:endParaRPr lang="zh-CN" altLang="en-US" sz="1600" b="1" dirty="0">
                <a:solidFill>
                  <a:srgbClr val="6600FF"/>
                </a:solidFill>
                <a:latin typeface="Times New Roman" pitchFamily="18" charset="0"/>
                <a:cs typeface="Times New Roman" pitchFamily="18" charset="0"/>
              </a:endParaRPr>
            </a:p>
          </p:txBody>
        </p:sp>
        <p:sp>
          <p:nvSpPr>
            <p:cNvPr id="24" name="椭圆 23"/>
            <p:cNvSpPr/>
            <p:nvPr/>
          </p:nvSpPr>
          <p:spPr>
            <a:xfrm>
              <a:off x="6705600" y="914400"/>
              <a:ext cx="252000" cy="252000"/>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solidFill>
                    <a:srgbClr val="6600FF"/>
                  </a:solidFill>
                  <a:latin typeface="Times New Roman" pitchFamily="18" charset="0"/>
                  <a:cs typeface="Times New Roman" pitchFamily="18" charset="0"/>
                </a:rPr>
                <a:t>1</a:t>
              </a:r>
              <a:endParaRPr lang="zh-CN" altLang="en-US" sz="1600" b="1" dirty="0">
                <a:solidFill>
                  <a:srgbClr val="6600FF"/>
                </a:solidFill>
                <a:latin typeface="Times New Roman" pitchFamily="18" charset="0"/>
                <a:cs typeface="Times New Roman" pitchFamily="18" charset="0"/>
              </a:endParaRPr>
            </a:p>
          </p:txBody>
        </p:sp>
        <p:sp>
          <p:nvSpPr>
            <p:cNvPr id="25" name="椭圆 24"/>
            <p:cNvSpPr/>
            <p:nvPr/>
          </p:nvSpPr>
          <p:spPr>
            <a:xfrm>
              <a:off x="6709061" y="1993877"/>
              <a:ext cx="252000" cy="252000"/>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solidFill>
                    <a:srgbClr val="6600FF"/>
                  </a:solidFill>
                  <a:latin typeface="Times New Roman" pitchFamily="18" charset="0"/>
                  <a:cs typeface="Times New Roman" pitchFamily="18" charset="0"/>
                </a:rPr>
                <a:t>0</a:t>
              </a:r>
              <a:endParaRPr lang="zh-CN" altLang="en-US" sz="1600" b="1" dirty="0">
                <a:solidFill>
                  <a:srgbClr val="6600FF"/>
                </a:solidFill>
                <a:latin typeface="Times New Roman" pitchFamily="18" charset="0"/>
                <a:cs typeface="Times New Roman" pitchFamily="18" charset="0"/>
              </a:endParaRPr>
            </a:p>
          </p:txBody>
        </p:sp>
      </p:grpSp>
      <p:grpSp>
        <p:nvGrpSpPr>
          <p:cNvPr id="28" name="组合 27"/>
          <p:cNvGrpSpPr/>
          <p:nvPr/>
        </p:nvGrpSpPr>
        <p:grpSpPr>
          <a:xfrm>
            <a:off x="6465204" y="1663621"/>
            <a:ext cx="594360" cy="1725930"/>
            <a:chOff x="6537960" y="1203960"/>
            <a:chExt cx="594360" cy="1725930"/>
          </a:xfrm>
        </p:grpSpPr>
        <p:sp>
          <p:nvSpPr>
            <p:cNvPr id="26" name="乘号 25"/>
            <p:cNvSpPr/>
            <p:nvPr/>
          </p:nvSpPr>
          <p:spPr>
            <a:xfrm rot="10800000">
              <a:off x="6567170" y="2392680"/>
              <a:ext cx="549910" cy="537210"/>
            </a:xfrm>
            <a:prstGeom prst="mathMultiply">
              <a:avLst>
                <a:gd name="adj1" fmla="val 13414"/>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减号 26"/>
            <p:cNvSpPr/>
            <p:nvPr/>
          </p:nvSpPr>
          <p:spPr>
            <a:xfrm>
              <a:off x="6537960" y="1203960"/>
              <a:ext cx="594360" cy="609600"/>
            </a:xfrm>
            <a:prstGeom prst="mathMinus">
              <a:avLst>
                <a:gd name="adj1" fmla="val 16020"/>
              </a:avLst>
            </a:prstGeom>
            <a:solidFill>
              <a:srgbClr val="FFFF00"/>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p:cNvGrpSpPr/>
          <p:nvPr/>
        </p:nvGrpSpPr>
        <p:grpSpPr>
          <a:xfrm flipV="1">
            <a:off x="6472126" y="1646186"/>
            <a:ext cx="594360" cy="1725930"/>
            <a:chOff x="6537960" y="1203960"/>
            <a:chExt cx="594360" cy="1725930"/>
          </a:xfrm>
        </p:grpSpPr>
        <p:sp>
          <p:nvSpPr>
            <p:cNvPr id="30" name="乘号 29"/>
            <p:cNvSpPr/>
            <p:nvPr/>
          </p:nvSpPr>
          <p:spPr>
            <a:xfrm rot="10800000">
              <a:off x="6567170" y="2392680"/>
              <a:ext cx="549910" cy="537210"/>
            </a:xfrm>
            <a:prstGeom prst="mathMultiply">
              <a:avLst>
                <a:gd name="adj1" fmla="val 13414"/>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减号 30"/>
            <p:cNvSpPr/>
            <p:nvPr/>
          </p:nvSpPr>
          <p:spPr>
            <a:xfrm>
              <a:off x="6537960" y="1203960"/>
              <a:ext cx="594360" cy="609600"/>
            </a:xfrm>
            <a:prstGeom prst="mathMinus">
              <a:avLst>
                <a:gd name="adj1" fmla="val 16020"/>
              </a:avLst>
            </a:prstGeom>
            <a:solidFill>
              <a:srgbClr val="FFFF00"/>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6" name="Rectangle 11">
            <a:extLst>
              <a:ext uri="{FF2B5EF4-FFF2-40B4-BE49-F238E27FC236}">
                <a16:creationId xmlns:a16="http://schemas.microsoft.com/office/drawing/2014/main" id="{D71D60F7-E881-4800-87DB-DD68AD9766BB}"/>
              </a:ext>
            </a:extLst>
          </p:cNvPr>
          <p:cNvSpPr>
            <a:spLocks noChangeArrowheads="1"/>
          </p:cNvSpPr>
          <p:nvPr/>
        </p:nvSpPr>
        <p:spPr bwMode="auto">
          <a:xfrm>
            <a:off x="218440" y="1333183"/>
            <a:ext cx="3821352" cy="338554"/>
          </a:xfrm>
          <a:prstGeom prst="rect">
            <a:avLst/>
          </a:prstGeom>
          <a:noFill/>
          <a:ln w="9525" algn="ctr">
            <a:noFill/>
            <a:miter lim="800000"/>
            <a:headEnd/>
            <a:tailEnd/>
          </a:ln>
        </p:spPr>
        <p:txBody>
          <a:bodyPr wrap="square">
            <a:spAutoFit/>
          </a:bodyPr>
          <a:lstStyle/>
          <a:p>
            <a:pPr>
              <a:defRPr/>
            </a:pPr>
            <a:r>
              <a:rPr lang="zh-CN" altLang="en-US" sz="1600" b="1" dirty="0">
                <a:solidFill>
                  <a:srgbClr val="6600FF"/>
                </a:solidFill>
                <a:latin typeface="方正粗黑宋简体" pitchFamily="2" charset="-122"/>
                <a:ea typeface="方正粗黑宋简体" pitchFamily="2" charset="-122"/>
              </a:rPr>
              <a:t>（</a:t>
            </a:r>
            <a:r>
              <a:rPr lang="en-US" altLang="zh-CN" sz="1600" b="1" dirty="0">
                <a:solidFill>
                  <a:srgbClr val="6600FF"/>
                </a:solidFill>
                <a:latin typeface="方正粗黑宋简体" pitchFamily="2" charset="-122"/>
                <a:ea typeface="方正粗黑宋简体" pitchFamily="2" charset="-122"/>
              </a:rPr>
              <a:t>6</a:t>
            </a:r>
            <a:r>
              <a:rPr lang="zh-CN" altLang="en-US" sz="1600" b="1" dirty="0">
                <a:solidFill>
                  <a:srgbClr val="6600FF"/>
                </a:solidFill>
                <a:latin typeface="方正粗黑宋简体" pitchFamily="2" charset="-122"/>
                <a:ea typeface="方正粗黑宋简体" pitchFamily="2" charset="-122"/>
              </a:rPr>
              <a:t>）</a:t>
            </a:r>
            <a:r>
              <a:rPr lang="en-US" altLang="zh-CN" sz="1600" b="1" dirty="0">
                <a:solidFill>
                  <a:srgbClr val="6600FF"/>
                </a:solidFill>
                <a:latin typeface="方正粗黑宋简体" pitchFamily="2" charset="-122"/>
                <a:ea typeface="方正粗黑宋简体" pitchFamily="2" charset="-122"/>
              </a:rPr>
              <a:t>CMOS</a:t>
            </a:r>
            <a:r>
              <a:rPr lang="zh-CN" altLang="en-US" sz="1600" b="1" dirty="0">
                <a:solidFill>
                  <a:srgbClr val="6600FF"/>
                </a:solidFill>
                <a:latin typeface="方正粗黑宋简体" pitchFamily="2" charset="-122"/>
                <a:ea typeface="方正粗黑宋简体" pitchFamily="2" charset="-122"/>
              </a:rPr>
              <a:t>传输门（双向模拟开关）</a:t>
            </a:r>
          </a:p>
        </p:txBody>
      </p:sp>
      <p:grpSp>
        <p:nvGrpSpPr>
          <p:cNvPr id="37" name="组合 36">
            <a:extLst>
              <a:ext uri="{FF2B5EF4-FFF2-40B4-BE49-F238E27FC236}">
                <a16:creationId xmlns:a16="http://schemas.microsoft.com/office/drawing/2014/main" id="{F33517F6-D584-4360-B034-AE83AF20939D}"/>
              </a:ext>
            </a:extLst>
          </p:cNvPr>
          <p:cNvGrpSpPr/>
          <p:nvPr/>
        </p:nvGrpSpPr>
        <p:grpSpPr>
          <a:xfrm>
            <a:off x="282575" y="785614"/>
            <a:ext cx="3757217" cy="373579"/>
            <a:chOff x="307975" y="1517134"/>
            <a:chExt cx="3757217" cy="373579"/>
          </a:xfrm>
        </p:grpSpPr>
        <p:grpSp>
          <p:nvGrpSpPr>
            <p:cNvPr id="38" name="组合 32">
              <a:extLst>
                <a:ext uri="{FF2B5EF4-FFF2-40B4-BE49-F238E27FC236}">
                  <a16:creationId xmlns:a16="http://schemas.microsoft.com/office/drawing/2014/main" id="{E07007FD-7CC6-4147-9FEB-140AEE3C4F31}"/>
                </a:ext>
              </a:extLst>
            </p:cNvPr>
            <p:cNvGrpSpPr/>
            <p:nvPr/>
          </p:nvGrpSpPr>
          <p:grpSpPr>
            <a:xfrm>
              <a:off x="307975" y="1519116"/>
              <a:ext cx="568325" cy="371597"/>
              <a:chOff x="307975" y="1519116"/>
              <a:chExt cx="568325" cy="371597"/>
            </a:xfrm>
          </p:grpSpPr>
          <p:pic>
            <p:nvPicPr>
              <p:cNvPr id="40" name="Picture 4">
                <a:extLst>
                  <a:ext uri="{FF2B5EF4-FFF2-40B4-BE49-F238E27FC236}">
                    <a16:creationId xmlns:a16="http://schemas.microsoft.com/office/drawing/2014/main" id="{CC9C7F19-A9EA-4A50-A630-3D4EB186BF47}"/>
                  </a:ext>
                </a:extLst>
              </p:cNvPr>
              <p:cNvPicPr>
                <a:picLocks noChangeAspect="1" noChangeArrowheads="1"/>
              </p:cNvPicPr>
              <p:nvPr/>
            </p:nvPicPr>
            <p:blipFill>
              <a:blip r:embed="rId5" cstate="print"/>
              <a:srcRect/>
              <a:stretch>
                <a:fillRect/>
              </a:stretch>
            </p:blipFill>
            <p:spPr bwMode="auto">
              <a:xfrm flipH="1">
                <a:off x="307975" y="1519116"/>
                <a:ext cx="568325" cy="371597"/>
              </a:xfrm>
              <a:prstGeom prst="rect">
                <a:avLst/>
              </a:prstGeom>
              <a:noFill/>
              <a:ln w="9525">
                <a:noFill/>
                <a:miter lim="800000"/>
                <a:headEnd/>
                <a:tailEnd/>
              </a:ln>
              <a:effectLst/>
            </p:spPr>
          </p:pic>
          <p:sp>
            <p:nvSpPr>
              <p:cNvPr id="41" name="TextBox 5">
                <a:extLst>
                  <a:ext uri="{FF2B5EF4-FFF2-40B4-BE49-F238E27FC236}">
                    <a16:creationId xmlns:a16="http://schemas.microsoft.com/office/drawing/2014/main" id="{D322D2D4-7DCA-4B47-98B0-54C44F18856E}"/>
                  </a:ext>
                </a:extLst>
              </p:cNvPr>
              <p:cNvSpPr txBox="1"/>
              <p:nvPr/>
            </p:nvSpPr>
            <p:spPr>
              <a:xfrm flipH="1">
                <a:off x="443415" y="1555750"/>
                <a:ext cx="142668" cy="276999"/>
              </a:xfrm>
              <a:prstGeom prst="rect">
                <a:avLst/>
              </a:prstGeom>
              <a:noFill/>
            </p:spPr>
            <p:txBody>
              <a:bodyPr wrap="none" lIns="0" tIns="0" rIns="0" bIns="0" rtlCol="0">
                <a:spAutoFit/>
              </a:bodyPr>
              <a:lstStyle/>
              <a:p>
                <a:r>
                  <a:rPr lang="en-US" altLang="zh-CN" b="1" dirty="0">
                    <a:solidFill>
                      <a:srgbClr val="262626"/>
                    </a:solidFill>
                    <a:latin typeface="Segoe UI Black" pitchFamily="34" charset="0"/>
                    <a:ea typeface="Segoe UI Black" pitchFamily="34" charset="0"/>
                    <a:cs typeface="Times New Roman" pitchFamily="18" charset="0"/>
                  </a:rPr>
                  <a:t>4</a:t>
                </a:r>
                <a:endParaRPr lang="zh-CN" altLang="en-US" b="1" dirty="0">
                  <a:solidFill>
                    <a:srgbClr val="262626"/>
                  </a:solidFill>
                  <a:latin typeface="Segoe UI Black" pitchFamily="34" charset="0"/>
                  <a:cs typeface="Times New Roman" pitchFamily="18" charset="0"/>
                </a:endParaRPr>
              </a:p>
            </p:txBody>
          </p:sp>
        </p:grpSp>
        <p:sp>
          <p:nvSpPr>
            <p:cNvPr id="39" name="矩形 38">
              <a:extLst>
                <a:ext uri="{FF2B5EF4-FFF2-40B4-BE49-F238E27FC236}">
                  <a16:creationId xmlns:a16="http://schemas.microsoft.com/office/drawing/2014/main" id="{94721F68-320E-4F57-9183-66C40B17487B}"/>
                </a:ext>
              </a:extLst>
            </p:cNvPr>
            <p:cNvSpPr/>
            <p:nvPr/>
          </p:nvSpPr>
          <p:spPr>
            <a:xfrm>
              <a:off x="863675" y="1517134"/>
              <a:ext cx="3201517" cy="369332"/>
            </a:xfrm>
            <a:prstGeom prst="rect">
              <a:avLst/>
            </a:prstGeom>
          </p:spPr>
          <p:txBody>
            <a:bodyPr wrap="none">
              <a:spAutoFit/>
            </a:bodyPr>
            <a:lstStyle/>
            <a:p>
              <a:r>
                <a:rPr lang="zh-CN" altLang="en-US" b="1" dirty="0">
                  <a:solidFill>
                    <a:schemeClr val="accent1">
                      <a:lumMod val="50000"/>
                    </a:schemeClr>
                  </a:solidFill>
                  <a:latin typeface="Times New Roman" panose="02020603050405020304" pitchFamily="18" charset="0"/>
                  <a:ea typeface="黑体" pitchFamily="49" charset="-122"/>
                  <a:cs typeface="Times New Roman" panose="02020603050405020304" pitchFamily="18" charset="0"/>
                </a:rPr>
                <a:t>其他类型的</a:t>
              </a:r>
              <a:r>
                <a:rPr lang="en-US" altLang="zh-CN" b="1" dirty="0">
                  <a:solidFill>
                    <a:schemeClr val="accent1">
                      <a:lumMod val="50000"/>
                    </a:schemeClr>
                  </a:solidFill>
                  <a:latin typeface="Times New Roman" panose="02020603050405020304" pitchFamily="18" charset="0"/>
                  <a:ea typeface="黑体" pitchFamily="49" charset="-122"/>
                  <a:cs typeface="Times New Roman" panose="02020603050405020304" pitchFamily="18" charset="0"/>
                </a:rPr>
                <a:t>CMOS</a:t>
              </a:r>
              <a:r>
                <a:rPr lang="zh-CN" altLang="en-US" b="1" dirty="0">
                  <a:solidFill>
                    <a:schemeClr val="accent1">
                      <a:lumMod val="50000"/>
                    </a:schemeClr>
                  </a:solidFill>
                  <a:latin typeface="Times New Roman" panose="02020603050405020304" pitchFamily="18" charset="0"/>
                  <a:ea typeface="黑体" pitchFamily="49" charset="-122"/>
                  <a:cs typeface="Times New Roman" panose="02020603050405020304" pitchFamily="18" charset="0"/>
                </a:rPr>
                <a:t>逻辑门电路</a:t>
              </a:r>
            </a:p>
          </p:txBody>
        </p:sp>
      </p:grpSp>
      <p:graphicFrame>
        <p:nvGraphicFramePr>
          <p:cNvPr id="32" name="Object 28">
            <a:extLst>
              <a:ext uri="{FF2B5EF4-FFF2-40B4-BE49-F238E27FC236}">
                <a16:creationId xmlns:a16="http://schemas.microsoft.com/office/drawing/2014/main" id="{41C178BD-7C41-462A-B042-7FDFC39299E9}"/>
              </a:ext>
            </a:extLst>
          </p:cNvPr>
          <p:cNvGraphicFramePr>
            <a:graphicFrameLocks noChangeAspect="1"/>
          </p:cNvGraphicFramePr>
          <p:nvPr/>
        </p:nvGraphicFramePr>
        <p:xfrm>
          <a:off x="1487900" y="3448331"/>
          <a:ext cx="1640876" cy="439648"/>
        </p:xfrm>
        <a:graphic>
          <a:graphicData uri="http://schemas.openxmlformats.org/presentationml/2006/ole">
            <mc:AlternateContent xmlns:mc="http://schemas.openxmlformats.org/markup-compatibility/2006">
              <mc:Choice xmlns:v="urn:schemas-microsoft-com:vml" Requires="v">
                <p:oleObj spid="_x0000_s86019" name="公式" r:id="rId6" imgW="711000" imgH="190440" progId="">
                  <p:embed/>
                </p:oleObj>
              </mc:Choice>
              <mc:Fallback>
                <p:oleObj name="公式" r:id="rId6" imgW="711000" imgH="190440" progId="">
                  <p:embed/>
                  <p:pic>
                    <p:nvPicPr>
                      <p:cNvPr id="32" name="Object 28">
                        <a:extLst>
                          <a:ext uri="{FF2B5EF4-FFF2-40B4-BE49-F238E27FC236}">
                            <a16:creationId xmlns:a16="http://schemas.microsoft.com/office/drawing/2014/main" id="{41C178BD-7C41-462A-B042-7FDFC39299E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87900" y="3448331"/>
                        <a:ext cx="1640876" cy="4396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1200">
        <p14:prism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slide(fromBottom)">
                                      <p:cBhvr>
                                        <p:cTn id="12" dur="1000"/>
                                        <p:tgtEl>
                                          <p:spTgt spid="6"/>
                                        </p:tgtEl>
                                      </p:cBhvr>
                                    </p:animEffect>
                                  </p:childTnLst>
                                </p:cTn>
                              </p:par>
                            </p:childTnLst>
                          </p:cTn>
                        </p:par>
                        <p:par>
                          <p:cTn id="13" fill="hold">
                            <p:stCondLst>
                              <p:cond delay="1000"/>
                            </p:stCondLst>
                            <p:childTnLst>
                              <p:par>
                                <p:cTn id="14" presetID="23" presetClass="entr" presetSubtype="16" fill="hold" nodeType="afterEffect">
                                  <p:stCondLst>
                                    <p:cond delay="0"/>
                                  </p:stCondLst>
                                  <p:childTnLst>
                                    <p:set>
                                      <p:cBhvr>
                                        <p:cTn id="15" dur="1" fill="hold">
                                          <p:stCondLst>
                                            <p:cond delay="0"/>
                                          </p:stCondLst>
                                        </p:cTn>
                                        <p:tgtEl>
                                          <p:spTgt spid="20"/>
                                        </p:tgtEl>
                                        <p:attrNameLst>
                                          <p:attrName>style.visibility</p:attrName>
                                        </p:attrNameLst>
                                      </p:cBhvr>
                                      <p:to>
                                        <p:strVal val="visible"/>
                                      </p:to>
                                    </p:set>
                                    <p:anim calcmode="lin" valueType="num">
                                      <p:cBhvr>
                                        <p:cTn id="16" dur="1000" fill="hold"/>
                                        <p:tgtEl>
                                          <p:spTgt spid="20"/>
                                        </p:tgtEl>
                                        <p:attrNameLst>
                                          <p:attrName>ppt_w</p:attrName>
                                        </p:attrNameLst>
                                      </p:cBhvr>
                                      <p:tavLst>
                                        <p:tav tm="0">
                                          <p:val>
                                            <p:fltVal val="0"/>
                                          </p:val>
                                        </p:tav>
                                        <p:tav tm="100000">
                                          <p:val>
                                            <p:strVal val="#ppt_w"/>
                                          </p:val>
                                        </p:tav>
                                      </p:tavLst>
                                    </p:anim>
                                    <p:anim calcmode="lin" valueType="num">
                                      <p:cBhvr>
                                        <p:cTn id="17" dur="1000" fill="hold"/>
                                        <p:tgtEl>
                                          <p:spTgt spid="20"/>
                                        </p:tgtEl>
                                        <p:attrNameLst>
                                          <p:attrName>ppt_h</p:attrName>
                                        </p:attrNameLst>
                                      </p:cBhvr>
                                      <p:tavLst>
                                        <p:tav tm="0">
                                          <p:val>
                                            <p:fltVal val="0"/>
                                          </p:val>
                                        </p:tav>
                                        <p:tav tm="100000">
                                          <p:val>
                                            <p:strVal val="#ppt_h"/>
                                          </p:val>
                                        </p:tav>
                                      </p:tavLst>
                                    </p:anim>
                                  </p:childTnLst>
                                </p:cTn>
                              </p:par>
                            </p:childTnLst>
                          </p:cTn>
                        </p:par>
                        <p:par>
                          <p:cTn id="18" fill="hold">
                            <p:stCondLst>
                              <p:cond delay="2000"/>
                            </p:stCondLst>
                            <p:childTnLst>
                              <p:par>
                                <p:cTn id="19" presetID="17" presetClass="entr" presetSubtype="10" fill="hold" nodeType="afterEffect">
                                  <p:stCondLst>
                                    <p:cond delay="0"/>
                                  </p:stCondLst>
                                  <p:childTnLst>
                                    <p:set>
                                      <p:cBhvr>
                                        <p:cTn id="20" dur="1" fill="hold">
                                          <p:stCondLst>
                                            <p:cond delay="0"/>
                                          </p:stCondLst>
                                        </p:cTn>
                                        <p:tgtEl>
                                          <p:spTgt spid="28"/>
                                        </p:tgtEl>
                                        <p:attrNameLst>
                                          <p:attrName>style.visibility</p:attrName>
                                        </p:attrNameLst>
                                      </p:cBhvr>
                                      <p:to>
                                        <p:strVal val="visible"/>
                                      </p:to>
                                    </p:set>
                                    <p:anim calcmode="lin" valueType="num">
                                      <p:cBhvr>
                                        <p:cTn id="21" dur="1000" fill="hold"/>
                                        <p:tgtEl>
                                          <p:spTgt spid="28"/>
                                        </p:tgtEl>
                                        <p:attrNameLst>
                                          <p:attrName>ppt_w</p:attrName>
                                        </p:attrNameLst>
                                      </p:cBhvr>
                                      <p:tavLst>
                                        <p:tav tm="0">
                                          <p:val>
                                            <p:fltVal val="0"/>
                                          </p:val>
                                        </p:tav>
                                        <p:tav tm="100000">
                                          <p:val>
                                            <p:strVal val="#ppt_w"/>
                                          </p:val>
                                        </p:tav>
                                      </p:tavLst>
                                    </p:anim>
                                    <p:anim calcmode="lin" valueType="num">
                                      <p:cBhvr>
                                        <p:cTn id="22" dur="1000" fill="hold"/>
                                        <p:tgtEl>
                                          <p:spTgt spid="28"/>
                                        </p:tgtEl>
                                        <p:attrNameLst>
                                          <p:attrName>ppt_h</p:attrName>
                                        </p:attrNameLst>
                                      </p:cBhvr>
                                      <p:tavLst>
                                        <p:tav tm="0">
                                          <p:val>
                                            <p:strVal val="#ppt_h"/>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28"/>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20"/>
                                        </p:tgtEl>
                                        <p:attrNameLst>
                                          <p:attrName>style.visibility</p:attrName>
                                        </p:attrNameLst>
                                      </p:cBhvr>
                                      <p:to>
                                        <p:strVal val="hidden"/>
                                      </p:to>
                                    </p:set>
                                  </p:childTnLst>
                                </p:cTn>
                              </p:par>
                              <p:par>
                                <p:cTn id="29" presetID="12" presetClass="entr" presetSubtype="4"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slide(fromBottom)">
                                      <p:cBhvr>
                                        <p:cTn id="31" dur="1000"/>
                                        <p:tgtEl>
                                          <p:spTgt spid="7"/>
                                        </p:tgtEl>
                                      </p:cBhvr>
                                    </p:animEffect>
                                  </p:childTnLst>
                                </p:cTn>
                              </p:par>
                            </p:childTnLst>
                          </p:cTn>
                        </p:par>
                        <p:par>
                          <p:cTn id="32" fill="hold">
                            <p:stCondLst>
                              <p:cond delay="1000"/>
                            </p:stCondLst>
                            <p:childTnLst>
                              <p:par>
                                <p:cTn id="33" presetID="23" presetClass="entr" presetSubtype="16" fill="hold" nodeType="afterEffect">
                                  <p:stCondLst>
                                    <p:cond delay="0"/>
                                  </p:stCondLst>
                                  <p:childTnLst>
                                    <p:set>
                                      <p:cBhvr>
                                        <p:cTn id="34" dur="1" fill="hold">
                                          <p:stCondLst>
                                            <p:cond delay="0"/>
                                          </p:stCondLst>
                                        </p:cTn>
                                        <p:tgtEl>
                                          <p:spTgt spid="21"/>
                                        </p:tgtEl>
                                        <p:attrNameLst>
                                          <p:attrName>style.visibility</p:attrName>
                                        </p:attrNameLst>
                                      </p:cBhvr>
                                      <p:to>
                                        <p:strVal val="visible"/>
                                      </p:to>
                                    </p:set>
                                    <p:anim calcmode="lin" valueType="num">
                                      <p:cBhvr>
                                        <p:cTn id="35" dur="1000" fill="hold"/>
                                        <p:tgtEl>
                                          <p:spTgt spid="21"/>
                                        </p:tgtEl>
                                        <p:attrNameLst>
                                          <p:attrName>ppt_w</p:attrName>
                                        </p:attrNameLst>
                                      </p:cBhvr>
                                      <p:tavLst>
                                        <p:tav tm="0">
                                          <p:val>
                                            <p:fltVal val="0"/>
                                          </p:val>
                                        </p:tav>
                                        <p:tav tm="100000">
                                          <p:val>
                                            <p:strVal val="#ppt_w"/>
                                          </p:val>
                                        </p:tav>
                                      </p:tavLst>
                                    </p:anim>
                                    <p:anim calcmode="lin" valueType="num">
                                      <p:cBhvr>
                                        <p:cTn id="36" dur="1000" fill="hold"/>
                                        <p:tgtEl>
                                          <p:spTgt spid="21"/>
                                        </p:tgtEl>
                                        <p:attrNameLst>
                                          <p:attrName>ppt_h</p:attrName>
                                        </p:attrNameLst>
                                      </p:cBhvr>
                                      <p:tavLst>
                                        <p:tav tm="0">
                                          <p:val>
                                            <p:fltVal val="0"/>
                                          </p:val>
                                        </p:tav>
                                        <p:tav tm="100000">
                                          <p:val>
                                            <p:strVal val="#ppt_h"/>
                                          </p:val>
                                        </p:tav>
                                      </p:tavLst>
                                    </p:anim>
                                  </p:childTnLst>
                                </p:cTn>
                              </p:par>
                            </p:childTnLst>
                          </p:cTn>
                        </p:par>
                        <p:par>
                          <p:cTn id="37" fill="hold">
                            <p:stCondLst>
                              <p:cond delay="2000"/>
                            </p:stCondLst>
                            <p:childTnLst>
                              <p:par>
                                <p:cTn id="38" presetID="17" presetClass="entr" presetSubtype="10" fill="hold" nodeType="afterEffect">
                                  <p:stCondLst>
                                    <p:cond delay="0"/>
                                  </p:stCondLst>
                                  <p:childTnLst>
                                    <p:set>
                                      <p:cBhvr>
                                        <p:cTn id="39" dur="1" fill="hold">
                                          <p:stCondLst>
                                            <p:cond delay="0"/>
                                          </p:stCondLst>
                                        </p:cTn>
                                        <p:tgtEl>
                                          <p:spTgt spid="29"/>
                                        </p:tgtEl>
                                        <p:attrNameLst>
                                          <p:attrName>style.visibility</p:attrName>
                                        </p:attrNameLst>
                                      </p:cBhvr>
                                      <p:to>
                                        <p:strVal val="visible"/>
                                      </p:to>
                                    </p:set>
                                    <p:anim calcmode="lin" valueType="num">
                                      <p:cBhvr>
                                        <p:cTn id="40" dur="1000" fill="hold"/>
                                        <p:tgtEl>
                                          <p:spTgt spid="29"/>
                                        </p:tgtEl>
                                        <p:attrNameLst>
                                          <p:attrName>ppt_w</p:attrName>
                                        </p:attrNameLst>
                                      </p:cBhvr>
                                      <p:tavLst>
                                        <p:tav tm="0">
                                          <p:val>
                                            <p:fltVal val="0"/>
                                          </p:val>
                                        </p:tav>
                                        <p:tav tm="100000">
                                          <p:val>
                                            <p:strVal val="#ppt_w"/>
                                          </p:val>
                                        </p:tav>
                                      </p:tavLst>
                                    </p:anim>
                                    <p:anim calcmode="lin" valueType="num">
                                      <p:cBhvr>
                                        <p:cTn id="41" dur="1000" fill="hold"/>
                                        <p:tgtEl>
                                          <p:spTgt spid="29"/>
                                        </p:tgtEl>
                                        <p:attrNameLst>
                                          <p:attrName>ppt_h</p:attrName>
                                        </p:attrNameLst>
                                      </p:cBhvr>
                                      <p:tavLst>
                                        <p:tav tm="0">
                                          <p:val>
                                            <p:strVal val="#ppt_h"/>
                                          </p:val>
                                        </p:tav>
                                        <p:tav tm="100000">
                                          <p:val>
                                            <p:strVal val="#ppt_h"/>
                                          </p:val>
                                        </p:tav>
                                      </p:tavLst>
                                    </p:anim>
                                  </p:childTnLst>
                                </p:cTn>
                              </p:par>
                            </p:childTnLst>
                          </p:cTn>
                        </p:par>
                        <p:par>
                          <p:cTn id="42" fill="hold">
                            <p:stCondLst>
                              <p:cond delay="3000"/>
                            </p:stCondLst>
                            <p:childTnLst>
                              <p:par>
                                <p:cTn id="43" presetID="12" presetClass="entr" presetSubtype="4" fill="hold" nodeType="afterEffect">
                                  <p:stCondLst>
                                    <p:cond delay="0"/>
                                  </p:stCondLst>
                                  <p:childTnLst>
                                    <p:set>
                                      <p:cBhvr>
                                        <p:cTn id="44" dur="1" fill="hold">
                                          <p:stCondLst>
                                            <p:cond delay="0"/>
                                          </p:stCondLst>
                                        </p:cTn>
                                        <p:tgtEl>
                                          <p:spTgt spid="32"/>
                                        </p:tgtEl>
                                        <p:attrNameLst>
                                          <p:attrName>style.visibility</p:attrName>
                                        </p:attrNameLst>
                                      </p:cBhvr>
                                      <p:to>
                                        <p:strVal val="visible"/>
                                      </p:to>
                                    </p:set>
                                    <p:animEffect transition="in" filter="slide(fromBottom)">
                                      <p:cBhvr>
                                        <p:cTn id="45" dur="10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20"/>
          <p:cNvGrpSpPr/>
          <p:nvPr/>
        </p:nvGrpSpPr>
        <p:grpSpPr>
          <a:xfrm>
            <a:off x="282575" y="724654"/>
            <a:ext cx="4289425" cy="373579"/>
            <a:chOff x="307975" y="1517134"/>
            <a:chExt cx="4289425" cy="373579"/>
          </a:xfrm>
        </p:grpSpPr>
        <p:grpSp>
          <p:nvGrpSpPr>
            <p:cNvPr id="3" name="组合 32"/>
            <p:cNvGrpSpPr/>
            <p:nvPr/>
          </p:nvGrpSpPr>
          <p:grpSpPr>
            <a:xfrm>
              <a:off x="307975" y="1519116"/>
              <a:ext cx="568325" cy="371597"/>
              <a:chOff x="307975" y="1519116"/>
              <a:chExt cx="568325" cy="371597"/>
            </a:xfrm>
          </p:grpSpPr>
          <p:pic>
            <p:nvPicPr>
              <p:cNvPr id="129" name="Picture 4"/>
              <p:cNvPicPr>
                <a:picLocks noChangeAspect="1" noChangeArrowheads="1"/>
              </p:cNvPicPr>
              <p:nvPr/>
            </p:nvPicPr>
            <p:blipFill>
              <a:blip r:embed="rId3" cstate="print"/>
              <a:srcRect/>
              <a:stretch>
                <a:fillRect/>
              </a:stretch>
            </p:blipFill>
            <p:spPr bwMode="auto">
              <a:xfrm flipH="1">
                <a:off x="307975" y="1519116"/>
                <a:ext cx="568325" cy="371597"/>
              </a:xfrm>
              <a:prstGeom prst="rect">
                <a:avLst/>
              </a:prstGeom>
              <a:noFill/>
              <a:ln w="9525">
                <a:noFill/>
                <a:miter lim="800000"/>
                <a:headEnd/>
                <a:tailEnd/>
              </a:ln>
              <a:effectLst/>
            </p:spPr>
          </p:pic>
          <p:sp>
            <p:nvSpPr>
              <p:cNvPr id="133" name="TextBox 132"/>
              <p:cNvSpPr txBox="1"/>
              <p:nvPr/>
            </p:nvSpPr>
            <p:spPr>
              <a:xfrm flipH="1">
                <a:off x="443415" y="1555750"/>
                <a:ext cx="112210" cy="276999"/>
              </a:xfrm>
              <a:prstGeom prst="rect">
                <a:avLst/>
              </a:prstGeom>
              <a:noFill/>
            </p:spPr>
            <p:txBody>
              <a:bodyPr wrap="none" lIns="0" tIns="0" rIns="0" bIns="0" rtlCol="0">
                <a:spAutoFit/>
              </a:bodyPr>
              <a:lstStyle/>
              <a:p>
                <a:r>
                  <a:rPr lang="en-US" altLang="zh-CN" b="1" dirty="0">
                    <a:solidFill>
                      <a:srgbClr val="262626"/>
                    </a:solidFill>
                    <a:latin typeface="Segoe UI Black" pitchFamily="34" charset="0"/>
                    <a:ea typeface="Segoe UI Black" pitchFamily="34" charset="0"/>
                    <a:cs typeface="Times New Roman" pitchFamily="18" charset="0"/>
                  </a:rPr>
                  <a:t>1</a:t>
                </a:r>
                <a:endParaRPr lang="zh-CN" altLang="en-US" b="1" dirty="0">
                  <a:solidFill>
                    <a:srgbClr val="262626"/>
                  </a:solidFill>
                  <a:latin typeface="Segoe UI Black" pitchFamily="34" charset="0"/>
                  <a:cs typeface="Times New Roman" pitchFamily="18" charset="0"/>
                </a:endParaRPr>
              </a:p>
            </p:txBody>
          </p:sp>
        </p:grpSp>
        <p:sp>
          <p:nvSpPr>
            <p:cNvPr id="128" name="矩形 127"/>
            <p:cNvSpPr/>
            <p:nvPr/>
          </p:nvSpPr>
          <p:spPr>
            <a:xfrm>
              <a:off x="863675" y="1517134"/>
              <a:ext cx="3733725" cy="369332"/>
            </a:xfrm>
            <a:prstGeom prst="rect">
              <a:avLst/>
            </a:prstGeom>
          </p:spPr>
          <p:txBody>
            <a:bodyPr wrap="square">
              <a:spAutoFit/>
            </a:bodyPr>
            <a:lstStyle/>
            <a:p>
              <a:r>
                <a:rPr lang="zh-CN" altLang="zh-CN" b="1" dirty="0">
                  <a:solidFill>
                    <a:schemeClr val="accent1">
                      <a:lumMod val="50000"/>
                    </a:schemeClr>
                  </a:solidFill>
                  <a:latin typeface="黑体" pitchFamily="49" charset="-122"/>
                  <a:ea typeface="黑体" pitchFamily="49" charset="-122"/>
                  <a:cs typeface="Times New Roman" pitchFamily="18" charset="0"/>
                </a:rPr>
                <a:t>常用数字集成电路的性能参数</a:t>
              </a:r>
              <a:endParaRPr lang="zh-CN" altLang="en-US" b="1" dirty="0">
                <a:solidFill>
                  <a:schemeClr val="accent1">
                    <a:lumMod val="50000"/>
                  </a:schemeClr>
                </a:solidFill>
                <a:latin typeface="黑体" pitchFamily="49" charset="-122"/>
                <a:ea typeface="黑体" pitchFamily="49" charset="-122"/>
                <a:cs typeface="Times New Roman" pitchFamily="18" charset="0"/>
              </a:endParaRPr>
            </a:p>
          </p:txBody>
        </p:sp>
      </p:grpSp>
      <p:graphicFrame>
        <p:nvGraphicFramePr>
          <p:cNvPr id="4" name="表格 3">
            <a:extLst>
              <a:ext uri="{FF2B5EF4-FFF2-40B4-BE49-F238E27FC236}">
                <a16:creationId xmlns:a16="http://schemas.microsoft.com/office/drawing/2014/main" id="{0E325236-40DE-4045-9D07-9B8C0E39CDE2}"/>
              </a:ext>
            </a:extLst>
          </p:cNvPr>
          <p:cNvGraphicFramePr>
            <a:graphicFrameLocks noGrp="1"/>
          </p:cNvGraphicFramePr>
          <p:nvPr/>
        </p:nvGraphicFramePr>
        <p:xfrm>
          <a:off x="530225" y="1204687"/>
          <a:ext cx="8113035" cy="4196361"/>
        </p:xfrm>
        <a:graphic>
          <a:graphicData uri="http://schemas.openxmlformats.org/drawingml/2006/table">
            <a:tbl>
              <a:tblPr firstRow="1" firstCol="1" bandRow="1">
                <a:tableStyleId>{5C22544A-7EE6-4342-B048-85BDC9FD1C3A}</a:tableStyleId>
              </a:tblPr>
              <a:tblGrid>
                <a:gridCol w="2597604">
                  <a:extLst>
                    <a:ext uri="{9D8B030D-6E8A-4147-A177-3AD203B41FA5}">
                      <a16:colId xmlns:a16="http://schemas.microsoft.com/office/drawing/2014/main" val="3814196783"/>
                    </a:ext>
                  </a:extLst>
                </a:gridCol>
                <a:gridCol w="1117600">
                  <a:extLst>
                    <a:ext uri="{9D8B030D-6E8A-4147-A177-3AD203B41FA5}">
                      <a16:colId xmlns:a16="http://schemas.microsoft.com/office/drawing/2014/main" val="751428368"/>
                    </a:ext>
                  </a:extLst>
                </a:gridCol>
                <a:gridCol w="1393371">
                  <a:extLst>
                    <a:ext uri="{9D8B030D-6E8A-4147-A177-3AD203B41FA5}">
                      <a16:colId xmlns:a16="http://schemas.microsoft.com/office/drawing/2014/main" val="3894548032"/>
                    </a:ext>
                  </a:extLst>
                </a:gridCol>
                <a:gridCol w="1545771">
                  <a:extLst>
                    <a:ext uri="{9D8B030D-6E8A-4147-A177-3AD203B41FA5}">
                      <a16:colId xmlns:a16="http://schemas.microsoft.com/office/drawing/2014/main" val="2656845045"/>
                    </a:ext>
                  </a:extLst>
                </a:gridCol>
                <a:gridCol w="1458689">
                  <a:extLst>
                    <a:ext uri="{9D8B030D-6E8A-4147-A177-3AD203B41FA5}">
                      <a16:colId xmlns:a16="http://schemas.microsoft.com/office/drawing/2014/main" val="4012954012"/>
                    </a:ext>
                  </a:extLst>
                </a:gridCol>
              </a:tblGrid>
              <a:tr h="413656">
                <a:tc gridSpan="5">
                  <a:txBody>
                    <a:bodyPr/>
                    <a:lstStyle/>
                    <a:p>
                      <a:pPr marL="0" algn="ctr">
                        <a:lnSpc>
                          <a:spcPct val="100000"/>
                        </a:lnSpc>
                        <a:spcAft>
                          <a:spcPts val="0"/>
                        </a:spcAft>
                      </a:pPr>
                      <a:r>
                        <a:rPr lang="zh-CN" altLang="en-US" sz="1600" kern="1200" dirty="0">
                          <a:solidFill>
                            <a:srgbClr val="6600FF"/>
                          </a:solidFill>
                          <a:latin typeface="方正粗黑宋简体" pitchFamily="2" charset="-122"/>
                          <a:ea typeface="方正粗黑宋简体" pitchFamily="2" charset="-122"/>
                          <a:cs typeface="+mn-cs"/>
                        </a:rPr>
                        <a:t>部分常见数字集成电路的性能参数</a:t>
                      </a:r>
                      <a:endParaRPr lang="zh-CN" altLang="en-US" sz="10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B w="12700" cap="flat" cmpd="sng" algn="ctr">
                      <a:solidFill>
                        <a:schemeClr val="tx1"/>
                      </a:solidFill>
                      <a:prstDash val="solid"/>
                      <a:round/>
                      <a:headEnd type="none" w="med" len="med"/>
                      <a:tailEnd type="none" w="med" len="med"/>
                    </a:lnB>
                    <a:solidFill>
                      <a:schemeClr val="bg1"/>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pPr marL="0" algn="ctr">
                        <a:lnSpc>
                          <a:spcPct val="100000"/>
                        </a:lnSpc>
                        <a:spcAft>
                          <a:spcPts val="0"/>
                        </a:spcAft>
                      </a:pPr>
                      <a:endParaRPr lang="zh-CN" altLang="en-US" sz="10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3782667"/>
                  </a:ext>
                </a:extLst>
              </a:tr>
              <a:tr h="346573">
                <a:tc rowSpan="2">
                  <a:txBody>
                    <a:bodyPr/>
                    <a:lstStyle/>
                    <a:p>
                      <a:pPr marL="0" algn="ctr">
                        <a:lnSpc>
                          <a:spcPct val="100000"/>
                        </a:lnSpc>
                        <a:spcAft>
                          <a:spcPts val="0"/>
                        </a:spcAft>
                      </a:pPr>
                      <a:r>
                        <a:rPr lang="zh-CN" sz="14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参 </a:t>
                      </a:r>
                      <a:r>
                        <a:rPr lang="en-GB" sz="14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lang="zh-CN" sz="14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数</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gridSpan="2">
                  <a:txBody>
                    <a:bodyPr/>
                    <a:lstStyle/>
                    <a:p>
                      <a:pPr marL="0" algn="ctr">
                        <a:lnSpc>
                          <a:spcPct val="100000"/>
                        </a:lnSpc>
                        <a:spcAft>
                          <a:spcPts val="0"/>
                        </a:spcAft>
                      </a:pPr>
                      <a:r>
                        <a:rPr lang="en-GB" sz="1200" b="1" dirty="0">
                          <a:solidFill>
                            <a:schemeClr val="tx1"/>
                          </a:solidFill>
                          <a:effectLst/>
                          <a:latin typeface="Times New Roman" panose="02020603050405020304" pitchFamily="18" charset="0"/>
                          <a:cs typeface="Times New Roman" panose="02020603050405020304" pitchFamily="18" charset="0"/>
                        </a:rPr>
                        <a:t>TTL</a:t>
                      </a:r>
                      <a:r>
                        <a:rPr lang="zh-CN" sz="1200" b="1" dirty="0">
                          <a:solidFill>
                            <a:schemeClr val="tx1"/>
                          </a:solidFill>
                          <a:effectLst/>
                          <a:latin typeface="Times New Roman" panose="02020603050405020304" pitchFamily="18" charset="0"/>
                          <a:cs typeface="Times New Roman" panose="02020603050405020304" pitchFamily="18" charset="0"/>
                        </a:rPr>
                        <a:t>系列</a:t>
                      </a:r>
                      <a:endParaRPr lang="zh-CN" sz="1200" b="1"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hMerge="1">
                  <a:txBody>
                    <a:bodyPr/>
                    <a:lstStyle/>
                    <a:p>
                      <a:pPr marL="0" algn="ctr">
                        <a:lnSpc>
                          <a:spcPct val="100000"/>
                        </a:lnSpc>
                        <a:spcAft>
                          <a:spcPts val="0"/>
                        </a:spcAft>
                      </a:pPr>
                      <a:endParaRPr lang="zh-CN" sz="1200" b="1"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5">
                        <a:lumMod val="60000"/>
                        <a:lumOff val="40000"/>
                      </a:schemeClr>
                    </a:solidFill>
                  </a:tcPr>
                </a:tc>
                <a:tc gridSpan="2">
                  <a:txBody>
                    <a:bodyPr/>
                    <a:lstStyle/>
                    <a:p>
                      <a:pPr marL="0" algn="ctr">
                        <a:lnSpc>
                          <a:spcPct val="100000"/>
                        </a:lnSpc>
                        <a:spcAft>
                          <a:spcPts val="0"/>
                        </a:spcAft>
                      </a:pPr>
                      <a:r>
                        <a:rPr lang="en-GB" sz="1200" b="1" dirty="0">
                          <a:solidFill>
                            <a:schemeClr val="tx1"/>
                          </a:solidFill>
                          <a:effectLst/>
                          <a:latin typeface="Times New Roman" panose="02020603050405020304" pitchFamily="18" charset="0"/>
                          <a:cs typeface="Times New Roman" panose="02020603050405020304" pitchFamily="18" charset="0"/>
                        </a:rPr>
                        <a:t>CMOS</a:t>
                      </a:r>
                      <a:r>
                        <a:rPr lang="zh-CN" sz="1200" b="1" dirty="0">
                          <a:solidFill>
                            <a:schemeClr val="tx1"/>
                          </a:solidFill>
                          <a:effectLst/>
                          <a:latin typeface="Times New Roman" panose="02020603050405020304" pitchFamily="18" charset="0"/>
                          <a:cs typeface="Times New Roman" panose="02020603050405020304" pitchFamily="18" charset="0"/>
                        </a:rPr>
                        <a:t>系列</a:t>
                      </a:r>
                      <a:endParaRPr lang="zh-CN" altLang="en-US" sz="1200" b="1"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28457" marR="2845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hMerge="1">
                  <a:txBody>
                    <a:bodyPr/>
                    <a:lstStyle/>
                    <a:p>
                      <a:pPr marL="0" algn="ctr">
                        <a:lnSpc>
                          <a:spcPct val="100000"/>
                        </a:lnSpc>
                        <a:spcAft>
                          <a:spcPts val="0"/>
                        </a:spcAft>
                      </a:pPr>
                      <a:endParaRPr lang="zh-CN" altLang="en-US" sz="1200" b="1"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28457" marR="2845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extLst>
                  <a:ext uri="{0D108BD9-81ED-4DB2-BD59-A6C34878D82A}">
                    <a16:rowId xmlns:a16="http://schemas.microsoft.com/office/drawing/2014/main" val="2396279676"/>
                  </a:ext>
                </a:extLst>
              </a:tr>
              <a:tr h="245490">
                <a:tc vMerge="1">
                  <a:txBody>
                    <a:bodyPr/>
                    <a:lstStyle/>
                    <a:p>
                      <a:endParaRPr lang="zh-CN" altLang="en-US"/>
                    </a:p>
                  </a:txBody>
                  <a:tcPr/>
                </a:tc>
                <a:tc>
                  <a:txBody>
                    <a:bodyPr/>
                    <a:lstStyle/>
                    <a:p>
                      <a:pPr marL="0" algn="ctr">
                        <a:lnSpc>
                          <a:spcPct val="100000"/>
                        </a:lnSpc>
                        <a:spcAft>
                          <a:spcPts val="0"/>
                        </a:spcAft>
                      </a:pPr>
                      <a:r>
                        <a:rPr lang="en-GB" sz="1200" b="1"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74LS</a:t>
                      </a:r>
                      <a:endParaRPr lang="zh-CN" sz="1200" b="1"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marL="0" algn="ctr">
                        <a:lnSpc>
                          <a:spcPct val="100000"/>
                        </a:lnSpc>
                        <a:spcAft>
                          <a:spcPts val="0"/>
                        </a:spcAft>
                      </a:pPr>
                      <a:r>
                        <a:rPr lang="en-GB" sz="1200" b="1">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74ALS</a:t>
                      </a:r>
                      <a:endParaRPr lang="zh-CN" sz="1200" b="1"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28457" marR="284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marL="0" algn="ctr">
                        <a:lnSpc>
                          <a:spcPct val="100000"/>
                        </a:lnSpc>
                        <a:spcAft>
                          <a:spcPts val="0"/>
                        </a:spcAft>
                      </a:pPr>
                      <a:r>
                        <a:rPr lang="en-GB" sz="1200" b="1"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74HC</a:t>
                      </a:r>
                      <a:endParaRPr lang="zh-CN" sz="1200" b="1"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28457" marR="284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marL="0" algn="ctr">
                        <a:lnSpc>
                          <a:spcPct val="100000"/>
                        </a:lnSpc>
                        <a:spcAft>
                          <a:spcPts val="0"/>
                        </a:spcAft>
                      </a:pPr>
                      <a:r>
                        <a:rPr lang="en-GB" sz="1200" b="1">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74HCT</a:t>
                      </a:r>
                      <a:endParaRPr lang="zh-CN" sz="1200" b="1"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28457" marR="284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extLst>
                  <a:ext uri="{0D108BD9-81ED-4DB2-BD59-A6C34878D82A}">
                    <a16:rowId xmlns:a16="http://schemas.microsoft.com/office/drawing/2014/main" val="799542465"/>
                  </a:ext>
                </a:extLst>
              </a:tr>
              <a:tr h="245434">
                <a:tc>
                  <a:txBody>
                    <a:bodyPr/>
                    <a:lstStyle/>
                    <a:p>
                      <a:pPr marL="0" algn="ctr">
                        <a:lnSpc>
                          <a:spcPct val="100000"/>
                        </a:lnSpc>
                        <a:spcAft>
                          <a:spcPts val="0"/>
                        </a:spcAft>
                      </a:pPr>
                      <a:r>
                        <a:rPr lang="en-US" sz="1200" dirty="0" err="1">
                          <a:solidFill>
                            <a:schemeClr val="tx1"/>
                          </a:solidFill>
                          <a:effectLst/>
                          <a:latin typeface="Times New Roman" panose="02020603050405020304" pitchFamily="18" charset="0"/>
                          <a:cs typeface="Times New Roman" panose="02020603050405020304" pitchFamily="18" charset="0"/>
                        </a:rPr>
                        <a:t>输入高电平电流最大值</a:t>
                      </a:r>
                      <a:r>
                        <a:rPr lang="en-GB" sz="1200" dirty="0">
                          <a:solidFill>
                            <a:schemeClr val="tx1"/>
                          </a:solidFill>
                          <a:effectLst/>
                          <a:latin typeface="Times New Roman" panose="02020603050405020304" pitchFamily="18" charset="0"/>
                          <a:cs typeface="Times New Roman" panose="02020603050405020304" pitchFamily="18" charset="0"/>
                        </a:rPr>
                        <a:t>I</a:t>
                      </a:r>
                      <a:r>
                        <a:rPr lang="en-GB" sz="1200" baseline="-25000" dirty="0">
                          <a:solidFill>
                            <a:schemeClr val="tx1"/>
                          </a:solidFill>
                          <a:effectLst/>
                          <a:latin typeface="Times New Roman" panose="02020603050405020304" pitchFamily="18" charset="0"/>
                          <a:cs typeface="Times New Roman" panose="02020603050405020304" pitchFamily="18" charset="0"/>
                        </a:rPr>
                        <a:t>IH(max)</a:t>
                      </a:r>
                      <a:r>
                        <a:rPr lang="en-GB" sz="1200" dirty="0">
                          <a:solidFill>
                            <a:schemeClr val="tx1"/>
                          </a:solidFill>
                          <a:effectLst/>
                          <a:latin typeface="Times New Roman" panose="02020603050405020304" pitchFamily="18" charset="0"/>
                          <a:cs typeface="Times New Roman" panose="02020603050405020304" pitchFamily="18" charset="0"/>
                        </a:rPr>
                        <a:t>/mA</a:t>
                      </a: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dirty="0">
                          <a:solidFill>
                            <a:schemeClr val="tx1"/>
                          </a:solidFill>
                          <a:effectLst/>
                          <a:latin typeface="Times New Roman" panose="02020603050405020304" pitchFamily="18" charset="0"/>
                          <a:cs typeface="Times New Roman" panose="02020603050405020304" pitchFamily="18" charset="0"/>
                        </a:rPr>
                        <a:t>0.02</a:t>
                      </a: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a:solidFill>
                            <a:schemeClr val="tx1"/>
                          </a:solidFill>
                          <a:effectLst/>
                          <a:latin typeface="Times New Roman" panose="02020603050405020304" pitchFamily="18" charset="0"/>
                          <a:cs typeface="Times New Roman" panose="02020603050405020304" pitchFamily="18" charset="0"/>
                        </a:rPr>
                        <a:t>0.02</a:t>
                      </a:r>
                      <a:endParaRPr lang="zh-CN" sz="12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28457" marR="284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dirty="0">
                          <a:solidFill>
                            <a:schemeClr val="tx1"/>
                          </a:solidFill>
                          <a:effectLst/>
                          <a:latin typeface="Times New Roman" panose="02020603050405020304" pitchFamily="18" charset="0"/>
                          <a:cs typeface="Times New Roman" panose="02020603050405020304" pitchFamily="18" charset="0"/>
                        </a:rPr>
                        <a:t>0.001</a:t>
                      </a: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28457" marR="284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a:solidFill>
                            <a:schemeClr val="tx1"/>
                          </a:solidFill>
                          <a:effectLst/>
                          <a:latin typeface="Times New Roman" panose="02020603050405020304" pitchFamily="18" charset="0"/>
                          <a:cs typeface="Times New Roman" panose="02020603050405020304" pitchFamily="18" charset="0"/>
                        </a:rPr>
                        <a:t>0.001</a:t>
                      </a: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28457" marR="284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41986370"/>
                  </a:ext>
                </a:extLst>
              </a:tr>
              <a:tr h="245434">
                <a:tc>
                  <a:txBody>
                    <a:bodyPr/>
                    <a:lstStyle/>
                    <a:p>
                      <a:pPr marL="0" algn="ctr">
                        <a:lnSpc>
                          <a:spcPct val="100000"/>
                        </a:lnSpc>
                        <a:spcAft>
                          <a:spcPts val="0"/>
                        </a:spcAft>
                      </a:pPr>
                      <a:r>
                        <a:rPr lang="en-US" sz="1200" dirty="0" err="1">
                          <a:solidFill>
                            <a:schemeClr val="tx1"/>
                          </a:solidFill>
                          <a:effectLst/>
                          <a:latin typeface="Times New Roman" panose="02020603050405020304" pitchFamily="18" charset="0"/>
                          <a:cs typeface="Times New Roman" panose="02020603050405020304" pitchFamily="18" charset="0"/>
                        </a:rPr>
                        <a:t>输入低电平电流最大值</a:t>
                      </a:r>
                      <a:r>
                        <a:rPr lang="en-GB" sz="1200" dirty="0">
                          <a:solidFill>
                            <a:schemeClr val="tx1"/>
                          </a:solidFill>
                          <a:effectLst/>
                          <a:latin typeface="Times New Roman" panose="02020603050405020304" pitchFamily="18" charset="0"/>
                          <a:cs typeface="Times New Roman" panose="02020603050405020304" pitchFamily="18" charset="0"/>
                        </a:rPr>
                        <a:t>I</a:t>
                      </a:r>
                      <a:r>
                        <a:rPr lang="en-GB" sz="1200" baseline="-25000" dirty="0">
                          <a:solidFill>
                            <a:schemeClr val="tx1"/>
                          </a:solidFill>
                          <a:effectLst/>
                          <a:latin typeface="Times New Roman" panose="02020603050405020304" pitchFamily="18" charset="0"/>
                          <a:cs typeface="Times New Roman" panose="02020603050405020304" pitchFamily="18" charset="0"/>
                        </a:rPr>
                        <a:t>IL(max)</a:t>
                      </a:r>
                      <a:r>
                        <a:rPr lang="en-GB" sz="1200" dirty="0">
                          <a:solidFill>
                            <a:schemeClr val="tx1"/>
                          </a:solidFill>
                          <a:effectLst/>
                          <a:latin typeface="Times New Roman" panose="02020603050405020304" pitchFamily="18" charset="0"/>
                          <a:cs typeface="Times New Roman" panose="02020603050405020304" pitchFamily="18" charset="0"/>
                        </a:rPr>
                        <a:t>/mA</a:t>
                      </a: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dirty="0">
                          <a:solidFill>
                            <a:schemeClr val="tx1"/>
                          </a:solidFill>
                          <a:effectLst/>
                          <a:latin typeface="Times New Roman" panose="02020603050405020304" pitchFamily="18" charset="0"/>
                          <a:cs typeface="Times New Roman" panose="02020603050405020304" pitchFamily="18" charset="0"/>
                        </a:rPr>
                        <a:t>-0.4</a:t>
                      </a: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a:solidFill>
                            <a:schemeClr val="tx1"/>
                          </a:solidFill>
                          <a:effectLst/>
                          <a:latin typeface="Times New Roman" panose="02020603050405020304" pitchFamily="18" charset="0"/>
                          <a:cs typeface="Times New Roman" panose="02020603050405020304" pitchFamily="18" charset="0"/>
                        </a:rPr>
                        <a:t>-0.1</a:t>
                      </a: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28457" marR="284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a:solidFill>
                            <a:schemeClr val="tx1"/>
                          </a:solidFill>
                          <a:effectLst/>
                          <a:latin typeface="Times New Roman" panose="02020603050405020304" pitchFamily="18" charset="0"/>
                          <a:cs typeface="Times New Roman" panose="02020603050405020304" pitchFamily="18" charset="0"/>
                        </a:rPr>
                        <a:t>-0.001</a:t>
                      </a:r>
                      <a:endParaRPr lang="zh-CN" sz="12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28457" marR="284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a:solidFill>
                            <a:schemeClr val="tx1"/>
                          </a:solidFill>
                          <a:effectLst/>
                          <a:latin typeface="Times New Roman" panose="02020603050405020304" pitchFamily="18" charset="0"/>
                          <a:cs typeface="Times New Roman" panose="02020603050405020304" pitchFamily="18" charset="0"/>
                        </a:rPr>
                        <a:t>-0.001</a:t>
                      </a:r>
                      <a:endParaRPr lang="zh-CN" sz="12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28457" marR="284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30323950"/>
                  </a:ext>
                </a:extLst>
              </a:tr>
              <a:tr h="245434">
                <a:tc>
                  <a:txBody>
                    <a:bodyPr/>
                    <a:lstStyle/>
                    <a:p>
                      <a:pPr marL="0" algn="ctr">
                        <a:lnSpc>
                          <a:spcPct val="100000"/>
                        </a:lnSpc>
                        <a:spcAft>
                          <a:spcPts val="0"/>
                        </a:spcAft>
                      </a:pPr>
                      <a:r>
                        <a:rPr lang="en-US" sz="1200" dirty="0" err="1">
                          <a:solidFill>
                            <a:schemeClr val="tx1"/>
                          </a:solidFill>
                          <a:effectLst/>
                          <a:latin typeface="Times New Roman" panose="02020603050405020304" pitchFamily="18" charset="0"/>
                          <a:cs typeface="Times New Roman" panose="02020603050405020304" pitchFamily="18" charset="0"/>
                        </a:rPr>
                        <a:t>输出高电平电流最大值</a:t>
                      </a:r>
                      <a:r>
                        <a:rPr lang="en-GB" sz="1200" dirty="0">
                          <a:solidFill>
                            <a:schemeClr val="tx1"/>
                          </a:solidFill>
                          <a:effectLst/>
                          <a:latin typeface="Times New Roman" panose="02020603050405020304" pitchFamily="18" charset="0"/>
                          <a:cs typeface="Times New Roman" panose="02020603050405020304" pitchFamily="18" charset="0"/>
                        </a:rPr>
                        <a:t>I</a:t>
                      </a:r>
                      <a:r>
                        <a:rPr lang="en-GB" sz="1200" baseline="-25000" dirty="0">
                          <a:solidFill>
                            <a:schemeClr val="tx1"/>
                          </a:solidFill>
                          <a:effectLst/>
                          <a:latin typeface="Times New Roman" panose="02020603050405020304" pitchFamily="18" charset="0"/>
                          <a:cs typeface="Times New Roman" panose="02020603050405020304" pitchFamily="18" charset="0"/>
                        </a:rPr>
                        <a:t>OH(max)</a:t>
                      </a:r>
                      <a:r>
                        <a:rPr lang="en-GB" sz="1200" dirty="0">
                          <a:solidFill>
                            <a:schemeClr val="tx1"/>
                          </a:solidFill>
                          <a:effectLst/>
                          <a:latin typeface="Times New Roman" panose="02020603050405020304" pitchFamily="18" charset="0"/>
                          <a:cs typeface="Times New Roman" panose="02020603050405020304" pitchFamily="18" charset="0"/>
                        </a:rPr>
                        <a:t>/mA</a:t>
                      </a: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dirty="0">
                          <a:solidFill>
                            <a:schemeClr val="tx1"/>
                          </a:solidFill>
                          <a:effectLst/>
                          <a:latin typeface="Times New Roman" panose="02020603050405020304" pitchFamily="18" charset="0"/>
                          <a:cs typeface="Times New Roman" panose="02020603050405020304" pitchFamily="18" charset="0"/>
                        </a:rPr>
                        <a:t>-0.4</a:t>
                      </a: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a:solidFill>
                            <a:schemeClr val="tx1"/>
                          </a:solidFill>
                          <a:effectLst/>
                          <a:latin typeface="Times New Roman" panose="02020603050405020304" pitchFamily="18" charset="0"/>
                          <a:cs typeface="Times New Roman" panose="02020603050405020304" pitchFamily="18" charset="0"/>
                        </a:rPr>
                        <a:t>-0.4</a:t>
                      </a: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28457" marR="284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a:solidFill>
                            <a:schemeClr val="tx1"/>
                          </a:solidFill>
                          <a:effectLst/>
                          <a:latin typeface="Times New Roman" panose="02020603050405020304" pitchFamily="18" charset="0"/>
                          <a:cs typeface="Times New Roman" panose="02020603050405020304" pitchFamily="18" charset="0"/>
                        </a:rPr>
                        <a:t>-0.02</a:t>
                      </a:r>
                      <a:endParaRPr lang="zh-CN" sz="12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28457" marR="284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a:solidFill>
                            <a:schemeClr val="tx1"/>
                          </a:solidFill>
                          <a:effectLst/>
                          <a:latin typeface="Times New Roman" panose="02020603050405020304" pitchFamily="18" charset="0"/>
                          <a:cs typeface="Times New Roman" panose="02020603050405020304" pitchFamily="18" charset="0"/>
                        </a:rPr>
                        <a:t>-0.02</a:t>
                      </a:r>
                      <a:endParaRPr lang="zh-CN" sz="12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28457" marR="284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24279950"/>
                  </a:ext>
                </a:extLst>
              </a:tr>
              <a:tr h="245434">
                <a:tc>
                  <a:txBody>
                    <a:bodyPr/>
                    <a:lstStyle/>
                    <a:p>
                      <a:pPr marL="0" algn="ctr">
                        <a:lnSpc>
                          <a:spcPct val="100000"/>
                        </a:lnSpc>
                        <a:spcAft>
                          <a:spcPts val="0"/>
                        </a:spcAft>
                      </a:pPr>
                      <a:r>
                        <a:rPr lang="en-US" sz="1200" dirty="0" err="1">
                          <a:solidFill>
                            <a:schemeClr val="tx1"/>
                          </a:solidFill>
                          <a:effectLst/>
                          <a:latin typeface="Times New Roman" panose="02020603050405020304" pitchFamily="18" charset="0"/>
                          <a:cs typeface="Times New Roman" panose="02020603050405020304" pitchFamily="18" charset="0"/>
                        </a:rPr>
                        <a:t>输出低电平电流最大值</a:t>
                      </a:r>
                      <a:r>
                        <a:rPr lang="en-GB" sz="1200" dirty="0">
                          <a:solidFill>
                            <a:schemeClr val="tx1"/>
                          </a:solidFill>
                          <a:effectLst/>
                          <a:latin typeface="Times New Roman" panose="02020603050405020304" pitchFamily="18" charset="0"/>
                          <a:cs typeface="Times New Roman" panose="02020603050405020304" pitchFamily="18" charset="0"/>
                        </a:rPr>
                        <a:t>I</a:t>
                      </a:r>
                      <a:r>
                        <a:rPr lang="en-GB" sz="1200" baseline="-25000" dirty="0">
                          <a:solidFill>
                            <a:schemeClr val="tx1"/>
                          </a:solidFill>
                          <a:effectLst/>
                          <a:latin typeface="Times New Roman" panose="02020603050405020304" pitchFamily="18" charset="0"/>
                          <a:cs typeface="Times New Roman" panose="02020603050405020304" pitchFamily="18" charset="0"/>
                        </a:rPr>
                        <a:t>OL(max)</a:t>
                      </a:r>
                      <a:r>
                        <a:rPr lang="en-GB" sz="1200" dirty="0">
                          <a:solidFill>
                            <a:schemeClr val="tx1"/>
                          </a:solidFill>
                          <a:effectLst/>
                          <a:latin typeface="Times New Roman" panose="02020603050405020304" pitchFamily="18" charset="0"/>
                          <a:cs typeface="Times New Roman" panose="02020603050405020304" pitchFamily="18" charset="0"/>
                        </a:rPr>
                        <a:t>/mA</a:t>
                      </a: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dirty="0">
                          <a:solidFill>
                            <a:schemeClr val="tx1"/>
                          </a:solidFill>
                          <a:effectLst/>
                          <a:latin typeface="Times New Roman" panose="02020603050405020304" pitchFamily="18" charset="0"/>
                          <a:cs typeface="Times New Roman" panose="02020603050405020304" pitchFamily="18" charset="0"/>
                        </a:rPr>
                        <a:t>8</a:t>
                      </a: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a:solidFill>
                            <a:schemeClr val="tx1"/>
                          </a:solidFill>
                          <a:effectLst/>
                          <a:latin typeface="Times New Roman" panose="02020603050405020304" pitchFamily="18" charset="0"/>
                          <a:cs typeface="Times New Roman" panose="02020603050405020304" pitchFamily="18" charset="0"/>
                        </a:rPr>
                        <a:t>8</a:t>
                      </a: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28457" marR="284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dirty="0">
                          <a:solidFill>
                            <a:schemeClr val="tx1"/>
                          </a:solidFill>
                          <a:effectLst/>
                          <a:latin typeface="Times New Roman" panose="02020603050405020304" pitchFamily="18" charset="0"/>
                          <a:cs typeface="Times New Roman" panose="02020603050405020304" pitchFamily="18" charset="0"/>
                        </a:rPr>
                        <a:t>0.02</a:t>
                      </a: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28457" marR="284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a:solidFill>
                            <a:schemeClr val="tx1"/>
                          </a:solidFill>
                          <a:effectLst/>
                          <a:latin typeface="Times New Roman" panose="02020603050405020304" pitchFamily="18" charset="0"/>
                          <a:cs typeface="Times New Roman" panose="02020603050405020304" pitchFamily="18" charset="0"/>
                        </a:rPr>
                        <a:t>0.02</a:t>
                      </a: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28457" marR="284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43883483"/>
                  </a:ext>
                </a:extLst>
              </a:tr>
              <a:tr h="245434">
                <a:tc>
                  <a:txBody>
                    <a:bodyPr/>
                    <a:lstStyle/>
                    <a:p>
                      <a:pPr marL="0" algn="ctr">
                        <a:lnSpc>
                          <a:spcPct val="100000"/>
                        </a:lnSpc>
                        <a:spcAft>
                          <a:spcPts val="0"/>
                        </a:spcAft>
                      </a:pPr>
                      <a:r>
                        <a:rPr lang="en-US" sz="1200" dirty="0" err="1">
                          <a:solidFill>
                            <a:schemeClr val="tx1"/>
                          </a:solidFill>
                          <a:effectLst/>
                          <a:latin typeface="Times New Roman" panose="02020603050405020304" pitchFamily="18" charset="0"/>
                          <a:cs typeface="Times New Roman" panose="02020603050405020304" pitchFamily="18" charset="0"/>
                        </a:rPr>
                        <a:t>输入高电平最小值</a:t>
                      </a:r>
                      <a:r>
                        <a:rPr lang="en-GB" sz="1200" dirty="0">
                          <a:solidFill>
                            <a:schemeClr val="tx1"/>
                          </a:solidFill>
                          <a:effectLst/>
                          <a:latin typeface="Times New Roman" panose="02020603050405020304" pitchFamily="18" charset="0"/>
                          <a:cs typeface="Times New Roman" panose="02020603050405020304" pitchFamily="18" charset="0"/>
                        </a:rPr>
                        <a:t>V</a:t>
                      </a:r>
                      <a:r>
                        <a:rPr lang="en-GB" sz="1200" baseline="-25000" dirty="0">
                          <a:solidFill>
                            <a:schemeClr val="tx1"/>
                          </a:solidFill>
                          <a:effectLst/>
                          <a:latin typeface="Times New Roman" panose="02020603050405020304" pitchFamily="18" charset="0"/>
                          <a:cs typeface="Times New Roman" panose="02020603050405020304" pitchFamily="18" charset="0"/>
                        </a:rPr>
                        <a:t>IH(min)</a:t>
                      </a:r>
                      <a:r>
                        <a:rPr lang="en-GB" sz="1200" dirty="0">
                          <a:solidFill>
                            <a:schemeClr val="tx1"/>
                          </a:solidFill>
                          <a:effectLst/>
                          <a:latin typeface="Times New Roman" panose="02020603050405020304" pitchFamily="18" charset="0"/>
                          <a:cs typeface="Times New Roman" panose="02020603050405020304" pitchFamily="18" charset="0"/>
                        </a:rPr>
                        <a:t>/V</a:t>
                      </a: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dirty="0">
                          <a:solidFill>
                            <a:schemeClr val="tx1"/>
                          </a:solidFill>
                          <a:effectLst/>
                          <a:latin typeface="Times New Roman" panose="02020603050405020304" pitchFamily="18" charset="0"/>
                          <a:cs typeface="Times New Roman" panose="02020603050405020304" pitchFamily="18" charset="0"/>
                        </a:rPr>
                        <a:t>2</a:t>
                      </a: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a:solidFill>
                            <a:schemeClr val="tx1"/>
                          </a:solidFill>
                          <a:effectLst/>
                          <a:latin typeface="Times New Roman" panose="02020603050405020304" pitchFamily="18" charset="0"/>
                          <a:cs typeface="Times New Roman" panose="02020603050405020304" pitchFamily="18" charset="0"/>
                        </a:rPr>
                        <a:t>2</a:t>
                      </a: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28457" marR="284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dirty="0">
                          <a:solidFill>
                            <a:schemeClr val="tx1"/>
                          </a:solidFill>
                          <a:effectLst/>
                          <a:latin typeface="Times New Roman" panose="02020603050405020304" pitchFamily="18" charset="0"/>
                          <a:cs typeface="Times New Roman" panose="02020603050405020304" pitchFamily="18" charset="0"/>
                        </a:rPr>
                        <a:t>3.5</a:t>
                      </a: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28457" marR="284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a:solidFill>
                            <a:schemeClr val="tx1"/>
                          </a:solidFill>
                          <a:effectLst/>
                          <a:latin typeface="Times New Roman" panose="02020603050405020304" pitchFamily="18" charset="0"/>
                          <a:cs typeface="Times New Roman" panose="02020603050405020304" pitchFamily="18" charset="0"/>
                        </a:rPr>
                        <a:t>2</a:t>
                      </a:r>
                      <a:endParaRPr lang="zh-CN" sz="12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28457" marR="284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7142532"/>
                  </a:ext>
                </a:extLst>
              </a:tr>
              <a:tr h="245434">
                <a:tc>
                  <a:txBody>
                    <a:bodyPr/>
                    <a:lstStyle/>
                    <a:p>
                      <a:pPr marL="0" algn="ctr">
                        <a:lnSpc>
                          <a:spcPct val="100000"/>
                        </a:lnSpc>
                        <a:spcAft>
                          <a:spcPts val="0"/>
                        </a:spcAft>
                      </a:pPr>
                      <a:r>
                        <a:rPr lang="en-US" sz="1200" dirty="0" err="1">
                          <a:solidFill>
                            <a:schemeClr val="tx1"/>
                          </a:solidFill>
                          <a:effectLst/>
                          <a:latin typeface="Times New Roman" panose="02020603050405020304" pitchFamily="18" charset="0"/>
                          <a:cs typeface="Times New Roman" panose="02020603050405020304" pitchFamily="18" charset="0"/>
                        </a:rPr>
                        <a:t>输入低电平最大值</a:t>
                      </a:r>
                      <a:r>
                        <a:rPr lang="en-GB" sz="1200" dirty="0">
                          <a:solidFill>
                            <a:schemeClr val="tx1"/>
                          </a:solidFill>
                          <a:effectLst/>
                          <a:latin typeface="Times New Roman" panose="02020603050405020304" pitchFamily="18" charset="0"/>
                          <a:cs typeface="Times New Roman" panose="02020603050405020304" pitchFamily="18" charset="0"/>
                        </a:rPr>
                        <a:t>V</a:t>
                      </a:r>
                      <a:r>
                        <a:rPr lang="en-GB" sz="1200" baseline="-25000" dirty="0">
                          <a:solidFill>
                            <a:schemeClr val="tx1"/>
                          </a:solidFill>
                          <a:effectLst/>
                          <a:latin typeface="Times New Roman" panose="02020603050405020304" pitchFamily="18" charset="0"/>
                          <a:cs typeface="Times New Roman" panose="02020603050405020304" pitchFamily="18" charset="0"/>
                        </a:rPr>
                        <a:t>IL(max)</a:t>
                      </a:r>
                      <a:r>
                        <a:rPr lang="en-GB" sz="1200" dirty="0">
                          <a:solidFill>
                            <a:schemeClr val="tx1"/>
                          </a:solidFill>
                          <a:effectLst/>
                          <a:latin typeface="Times New Roman" panose="02020603050405020304" pitchFamily="18" charset="0"/>
                          <a:cs typeface="Times New Roman" panose="02020603050405020304" pitchFamily="18" charset="0"/>
                        </a:rPr>
                        <a:t>/V</a:t>
                      </a: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dirty="0">
                          <a:solidFill>
                            <a:schemeClr val="tx1"/>
                          </a:solidFill>
                          <a:effectLst/>
                          <a:latin typeface="Times New Roman" panose="02020603050405020304" pitchFamily="18" charset="0"/>
                          <a:cs typeface="Times New Roman" panose="02020603050405020304" pitchFamily="18" charset="0"/>
                        </a:rPr>
                        <a:t>0.8</a:t>
                      </a: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a:solidFill>
                            <a:schemeClr val="tx1"/>
                          </a:solidFill>
                          <a:effectLst/>
                          <a:latin typeface="Times New Roman" panose="02020603050405020304" pitchFamily="18" charset="0"/>
                          <a:cs typeface="Times New Roman" panose="02020603050405020304" pitchFamily="18" charset="0"/>
                        </a:rPr>
                        <a:t>0.8</a:t>
                      </a: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28457" marR="284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dirty="0">
                          <a:solidFill>
                            <a:schemeClr val="tx1"/>
                          </a:solidFill>
                          <a:effectLst/>
                          <a:latin typeface="Times New Roman" panose="02020603050405020304" pitchFamily="18" charset="0"/>
                          <a:cs typeface="Times New Roman" panose="02020603050405020304" pitchFamily="18" charset="0"/>
                        </a:rPr>
                        <a:t>1.5</a:t>
                      </a: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28457" marR="284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a:solidFill>
                            <a:schemeClr val="tx1"/>
                          </a:solidFill>
                          <a:effectLst/>
                          <a:latin typeface="Times New Roman" panose="02020603050405020304" pitchFamily="18" charset="0"/>
                          <a:cs typeface="Times New Roman" panose="02020603050405020304" pitchFamily="18" charset="0"/>
                        </a:rPr>
                        <a:t>0.8</a:t>
                      </a: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28457" marR="284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43232030"/>
                  </a:ext>
                </a:extLst>
              </a:tr>
              <a:tr h="245434">
                <a:tc>
                  <a:txBody>
                    <a:bodyPr/>
                    <a:lstStyle/>
                    <a:p>
                      <a:pPr marL="0" algn="ctr">
                        <a:lnSpc>
                          <a:spcPct val="100000"/>
                        </a:lnSpc>
                        <a:spcAft>
                          <a:spcPts val="0"/>
                        </a:spcAft>
                      </a:pPr>
                      <a:r>
                        <a:rPr lang="en-US" sz="1200" dirty="0" err="1">
                          <a:solidFill>
                            <a:schemeClr val="tx1"/>
                          </a:solidFill>
                          <a:effectLst/>
                          <a:latin typeface="Times New Roman" panose="02020603050405020304" pitchFamily="18" charset="0"/>
                          <a:cs typeface="Times New Roman" panose="02020603050405020304" pitchFamily="18" charset="0"/>
                        </a:rPr>
                        <a:t>输出高电平最小值</a:t>
                      </a:r>
                      <a:r>
                        <a:rPr lang="en-GB" sz="1200" dirty="0">
                          <a:solidFill>
                            <a:schemeClr val="tx1"/>
                          </a:solidFill>
                          <a:effectLst/>
                          <a:latin typeface="Times New Roman" panose="02020603050405020304" pitchFamily="18" charset="0"/>
                          <a:cs typeface="Times New Roman" panose="02020603050405020304" pitchFamily="18" charset="0"/>
                        </a:rPr>
                        <a:t>V</a:t>
                      </a:r>
                      <a:r>
                        <a:rPr lang="en-GB" sz="1200" baseline="-25000" dirty="0">
                          <a:solidFill>
                            <a:schemeClr val="tx1"/>
                          </a:solidFill>
                          <a:effectLst/>
                          <a:latin typeface="Times New Roman" panose="02020603050405020304" pitchFamily="18" charset="0"/>
                          <a:cs typeface="Times New Roman" panose="02020603050405020304" pitchFamily="18" charset="0"/>
                        </a:rPr>
                        <a:t>OH(min)</a:t>
                      </a:r>
                      <a:r>
                        <a:rPr lang="en-GB" sz="1200" dirty="0">
                          <a:solidFill>
                            <a:schemeClr val="tx1"/>
                          </a:solidFill>
                          <a:effectLst/>
                          <a:latin typeface="Times New Roman" panose="02020603050405020304" pitchFamily="18" charset="0"/>
                          <a:cs typeface="Times New Roman" panose="02020603050405020304" pitchFamily="18" charset="0"/>
                        </a:rPr>
                        <a:t>/V</a:t>
                      </a: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a:solidFill>
                            <a:schemeClr val="tx1"/>
                          </a:solidFill>
                          <a:effectLst/>
                          <a:latin typeface="Times New Roman" panose="02020603050405020304" pitchFamily="18" charset="0"/>
                          <a:cs typeface="Times New Roman" panose="02020603050405020304" pitchFamily="18" charset="0"/>
                        </a:rPr>
                        <a:t>2.7</a:t>
                      </a:r>
                      <a:endParaRPr lang="zh-CN" sz="12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a:solidFill>
                            <a:schemeClr val="tx1"/>
                          </a:solidFill>
                          <a:effectLst/>
                          <a:latin typeface="Times New Roman" panose="02020603050405020304" pitchFamily="18" charset="0"/>
                          <a:cs typeface="Times New Roman" panose="02020603050405020304" pitchFamily="18" charset="0"/>
                        </a:rPr>
                        <a:t>3</a:t>
                      </a: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28457" marR="284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dirty="0">
                          <a:solidFill>
                            <a:schemeClr val="tx1"/>
                          </a:solidFill>
                          <a:effectLst/>
                          <a:latin typeface="Times New Roman" panose="02020603050405020304" pitchFamily="18" charset="0"/>
                          <a:cs typeface="Times New Roman" panose="02020603050405020304" pitchFamily="18" charset="0"/>
                        </a:rPr>
                        <a:t>4.9</a:t>
                      </a: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28457" marR="284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a:solidFill>
                            <a:schemeClr val="tx1"/>
                          </a:solidFill>
                          <a:effectLst/>
                          <a:latin typeface="Times New Roman" panose="02020603050405020304" pitchFamily="18" charset="0"/>
                          <a:cs typeface="Times New Roman" panose="02020603050405020304" pitchFamily="18" charset="0"/>
                        </a:rPr>
                        <a:t>4.9</a:t>
                      </a:r>
                      <a:endParaRPr lang="zh-CN" sz="12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28457" marR="284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41390826"/>
                  </a:ext>
                </a:extLst>
              </a:tr>
              <a:tr h="245434">
                <a:tc>
                  <a:txBody>
                    <a:bodyPr/>
                    <a:lstStyle/>
                    <a:p>
                      <a:pPr marL="0" algn="ctr">
                        <a:lnSpc>
                          <a:spcPct val="100000"/>
                        </a:lnSpc>
                        <a:spcAft>
                          <a:spcPts val="0"/>
                        </a:spcAft>
                      </a:pPr>
                      <a:r>
                        <a:rPr lang="en-US" sz="1200" dirty="0" err="1">
                          <a:solidFill>
                            <a:schemeClr val="tx1"/>
                          </a:solidFill>
                          <a:effectLst/>
                          <a:latin typeface="Times New Roman" panose="02020603050405020304" pitchFamily="18" charset="0"/>
                          <a:cs typeface="Times New Roman" panose="02020603050405020304" pitchFamily="18" charset="0"/>
                        </a:rPr>
                        <a:t>输出低电平最大值</a:t>
                      </a:r>
                      <a:r>
                        <a:rPr lang="en-GB" sz="1200" dirty="0">
                          <a:solidFill>
                            <a:schemeClr val="tx1"/>
                          </a:solidFill>
                          <a:effectLst/>
                          <a:latin typeface="Times New Roman" panose="02020603050405020304" pitchFamily="18" charset="0"/>
                          <a:cs typeface="Times New Roman" panose="02020603050405020304" pitchFamily="18" charset="0"/>
                        </a:rPr>
                        <a:t>V</a:t>
                      </a:r>
                      <a:r>
                        <a:rPr lang="en-GB" sz="1200" baseline="-25000" dirty="0">
                          <a:solidFill>
                            <a:schemeClr val="tx1"/>
                          </a:solidFill>
                          <a:effectLst/>
                          <a:latin typeface="Times New Roman" panose="02020603050405020304" pitchFamily="18" charset="0"/>
                          <a:cs typeface="Times New Roman" panose="02020603050405020304" pitchFamily="18" charset="0"/>
                        </a:rPr>
                        <a:t>OL(max)</a:t>
                      </a:r>
                      <a:r>
                        <a:rPr lang="en-GB" sz="1200" dirty="0">
                          <a:solidFill>
                            <a:schemeClr val="tx1"/>
                          </a:solidFill>
                          <a:effectLst/>
                          <a:latin typeface="Times New Roman" panose="02020603050405020304" pitchFamily="18" charset="0"/>
                          <a:cs typeface="Times New Roman" panose="02020603050405020304" pitchFamily="18" charset="0"/>
                        </a:rPr>
                        <a:t>/V</a:t>
                      </a: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a:solidFill>
                            <a:schemeClr val="tx1"/>
                          </a:solidFill>
                          <a:effectLst/>
                          <a:latin typeface="Times New Roman" panose="02020603050405020304" pitchFamily="18" charset="0"/>
                          <a:cs typeface="Times New Roman" panose="02020603050405020304" pitchFamily="18" charset="0"/>
                        </a:rPr>
                        <a:t>0.5</a:t>
                      </a:r>
                      <a:endParaRPr lang="zh-CN" sz="12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dirty="0">
                          <a:solidFill>
                            <a:schemeClr val="tx1"/>
                          </a:solidFill>
                          <a:effectLst/>
                          <a:latin typeface="Times New Roman" panose="02020603050405020304" pitchFamily="18" charset="0"/>
                          <a:cs typeface="Times New Roman" panose="02020603050405020304" pitchFamily="18" charset="0"/>
                        </a:rPr>
                        <a:t>0.5</a:t>
                      </a: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28457" marR="284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dirty="0">
                          <a:solidFill>
                            <a:schemeClr val="tx1"/>
                          </a:solidFill>
                          <a:effectLst/>
                          <a:latin typeface="Times New Roman" panose="02020603050405020304" pitchFamily="18" charset="0"/>
                          <a:cs typeface="Times New Roman" panose="02020603050405020304" pitchFamily="18" charset="0"/>
                        </a:rPr>
                        <a:t>0.1</a:t>
                      </a: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28457" marR="284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dirty="0">
                          <a:solidFill>
                            <a:schemeClr val="tx1"/>
                          </a:solidFill>
                          <a:effectLst/>
                          <a:latin typeface="Times New Roman" panose="02020603050405020304" pitchFamily="18" charset="0"/>
                          <a:cs typeface="Times New Roman" panose="02020603050405020304" pitchFamily="18" charset="0"/>
                        </a:rPr>
                        <a:t>0.1</a:t>
                      </a: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28457" marR="284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08173748"/>
                  </a:ext>
                </a:extLst>
              </a:tr>
              <a:tr h="245434">
                <a:tc>
                  <a:txBody>
                    <a:bodyPr/>
                    <a:lstStyle/>
                    <a:p>
                      <a:pPr marL="0" algn="ctr">
                        <a:lnSpc>
                          <a:spcPct val="100000"/>
                        </a:lnSpc>
                        <a:spcAft>
                          <a:spcPts val="0"/>
                        </a:spcAft>
                      </a:pPr>
                      <a:r>
                        <a:rPr lang="zh-CN" sz="1200" dirty="0">
                          <a:solidFill>
                            <a:schemeClr val="tx1"/>
                          </a:solidFill>
                          <a:effectLst/>
                          <a:latin typeface="Times New Roman" panose="02020603050405020304" pitchFamily="18" charset="0"/>
                          <a:cs typeface="Times New Roman" panose="02020603050405020304" pitchFamily="18" charset="0"/>
                        </a:rPr>
                        <a:t>电源电压</a:t>
                      </a:r>
                      <a:r>
                        <a:rPr lang="en-GB" sz="1200" dirty="0">
                          <a:solidFill>
                            <a:schemeClr val="tx1"/>
                          </a:solidFill>
                          <a:effectLst/>
                          <a:latin typeface="Times New Roman" panose="02020603050405020304" pitchFamily="18" charset="0"/>
                          <a:cs typeface="Times New Roman" panose="02020603050405020304" pitchFamily="18" charset="0"/>
                        </a:rPr>
                        <a:t>V</a:t>
                      </a:r>
                      <a:r>
                        <a:rPr lang="en-GB" sz="1200" baseline="-25000" dirty="0">
                          <a:solidFill>
                            <a:schemeClr val="tx1"/>
                          </a:solidFill>
                          <a:effectLst/>
                          <a:latin typeface="Times New Roman" panose="02020603050405020304" pitchFamily="18" charset="0"/>
                          <a:cs typeface="Times New Roman" panose="02020603050405020304" pitchFamily="18" charset="0"/>
                        </a:rPr>
                        <a:t>CC</a:t>
                      </a:r>
                      <a:r>
                        <a:rPr lang="zh-CN" sz="1200" dirty="0">
                          <a:solidFill>
                            <a:schemeClr val="tx1"/>
                          </a:solidFill>
                          <a:effectLst/>
                          <a:latin typeface="Times New Roman" panose="02020603050405020304" pitchFamily="18" charset="0"/>
                          <a:cs typeface="Times New Roman" panose="02020603050405020304" pitchFamily="18" charset="0"/>
                        </a:rPr>
                        <a:t>（</a:t>
                      </a:r>
                      <a:r>
                        <a:rPr lang="en-GB" sz="1200" dirty="0">
                          <a:solidFill>
                            <a:schemeClr val="tx1"/>
                          </a:solidFill>
                          <a:effectLst/>
                          <a:latin typeface="Times New Roman" panose="02020603050405020304" pitchFamily="18" charset="0"/>
                          <a:cs typeface="Times New Roman" panose="02020603050405020304" pitchFamily="18" charset="0"/>
                        </a:rPr>
                        <a:t>V</a:t>
                      </a:r>
                      <a:r>
                        <a:rPr lang="en-GB" sz="1200" baseline="-25000" dirty="0">
                          <a:solidFill>
                            <a:schemeClr val="tx1"/>
                          </a:solidFill>
                          <a:effectLst/>
                          <a:latin typeface="Times New Roman" panose="02020603050405020304" pitchFamily="18" charset="0"/>
                          <a:cs typeface="Times New Roman" panose="02020603050405020304" pitchFamily="18" charset="0"/>
                        </a:rPr>
                        <a:t>DD</a:t>
                      </a:r>
                      <a:r>
                        <a:rPr lang="zh-CN" sz="1200" dirty="0">
                          <a:solidFill>
                            <a:schemeClr val="tx1"/>
                          </a:solidFill>
                          <a:effectLst/>
                          <a:latin typeface="Times New Roman" panose="02020603050405020304" pitchFamily="18" charset="0"/>
                          <a:cs typeface="Times New Roman" panose="02020603050405020304" pitchFamily="18" charset="0"/>
                        </a:rPr>
                        <a:t>）</a:t>
                      </a:r>
                      <a:r>
                        <a:rPr lang="en-GB" sz="1200" dirty="0">
                          <a:solidFill>
                            <a:schemeClr val="tx1"/>
                          </a:solidFill>
                          <a:effectLst/>
                          <a:latin typeface="Times New Roman" panose="02020603050405020304" pitchFamily="18" charset="0"/>
                          <a:cs typeface="Times New Roman" panose="02020603050405020304" pitchFamily="18" charset="0"/>
                        </a:rPr>
                        <a:t>/V</a:t>
                      </a: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marL="0" algn="ctr">
                        <a:lnSpc>
                          <a:spcPct val="100000"/>
                        </a:lnSpc>
                        <a:spcAft>
                          <a:spcPts val="0"/>
                        </a:spcAft>
                      </a:pPr>
                      <a:r>
                        <a:rPr lang="en-GB" sz="1200" dirty="0">
                          <a:solidFill>
                            <a:schemeClr val="tx1"/>
                          </a:solidFill>
                          <a:effectLst/>
                          <a:latin typeface="Times New Roman" panose="02020603050405020304" pitchFamily="18" charset="0"/>
                          <a:cs typeface="Times New Roman" panose="02020603050405020304" pitchFamily="18" charset="0"/>
                        </a:rPr>
                        <a:t>2~6</a:t>
                      </a: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algn="ctr">
                        <a:lnSpc>
                          <a:spcPct val="100000"/>
                        </a:lnSpc>
                        <a:spcAft>
                          <a:spcPts val="0"/>
                        </a:spcAft>
                      </a:pP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marL="0" algn="ctr">
                        <a:lnSpc>
                          <a:spcPct val="100000"/>
                        </a:lnSpc>
                        <a:spcAft>
                          <a:spcPts val="0"/>
                        </a:spcAft>
                      </a:pPr>
                      <a:r>
                        <a:rPr lang="en-GB" sz="1200" dirty="0">
                          <a:solidFill>
                            <a:schemeClr val="tx1"/>
                          </a:solidFill>
                          <a:effectLst/>
                          <a:latin typeface="Times New Roman" panose="02020603050405020304" pitchFamily="18" charset="0"/>
                          <a:cs typeface="Times New Roman" panose="02020603050405020304" pitchFamily="18" charset="0"/>
                        </a:rPr>
                        <a:t>4.5~5.5</a:t>
                      </a: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28457" marR="284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algn="ctr">
                        <a:lnSpc>
                          <a:spcPct val="100000"/>
                        </a:lnSpc>
                        <a:spcAft>
                          <a:spcPts val="0"/>
                        </a:spcAft>
                      </a:pP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28457" marR="284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08946939"/>
                  </a:ext>
                </a:extLst>
              </a:tr>
              <a:tr h="245434">
                <a:tc>
                  <a:txBody>
                    <a:bodyPr/>
                    <a:lstStyle/>
                    <a:p>
                      <a:pPr marL="0" algn="ctr">
                        <a:lnSpc>
                          <a:spcPct val="100000"/>
                        </a:lnSpc>
                        <a:spcAft>
                          <a:spcPts val="0"/>
                        </a:spcAft>
                      </a:pPr>
                      <a:r>
                        <a:rPr lang="zh-CN" sz="1200" dirty="0">
                          <a:solidFill>
                            <a:schemeClr val="tx1"/>
                          </a:solidFill>
                          <a:effectLst/>
                          <a:latin typeface="Times New Roman" panose="02020603050405020304" pitchFamily="18" charset="0"/>
                          <a:cs typeface="Times New Roman" panose="02020603050405020304" pitchFamily="18" charset="0"/>
                        </a:rPr>
                        <a:t>平均传输延迟时间</a:t>
                      </a:r>
                      <a:r>
                        <a:rPr lang="en-GB" sz="1200" dirty="0">
                          <a:solidFill>
                            <a:schemeClr val="tx1"/>
                          </a:solidFill>
                          <a:effectLst/>
                          <a:latin typeface="Times New Roman" panose="02020603050405020304" pitchFamily="18" charset="0"/>
                          <a:cs typeface="Times New Roman" panose="02020603050405020304" pitchFamily="18" charset="0"/>
                        </a:rPr>
                        <a:t>T</a:t>
                      </a:r>
                      <a:r>
                        <a:rPr lang="en-GB" sz="1200" baseline="-25000" dirty="0">
                          <a:solidFill>
                            <a:schemeClr val="tx1"/>
                          </a:solidFill>
                          <a:effectLst/>
                          <a:latin typeface="Times New Roman" panose="02020603050405020304" pitchFamily="18" charset="0"/>
                          <a:cs typeface="Times New Roman" panose="02020603050405020304" pitchFamily="18" charset="0"/>
                        </a:rPr>
                        <a:t>PD</a:t>
                      </a:r>
                      <a:r>
                        <a:rPr lang="en-GB" sz="1200" dirty="0">
                          <a:solidFill>
                            <a:schemeClr val="tx1"/>
                          </a:solidFill>
                          <a:effectLst/>
                          <a:latin typeface="Times New Roman" panose="02020603050405020304" pitchFamily="18" charset="0"/>
                          <a:cs typeface="Times New Roman" panose="02020603050405020304" pitchFamily="18" charset="0"/>
                        </a:rPr>
                        <a:t>/ns</a:t>
                      </a: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a:solidFill>
                            <a:schemeClr val="tx1"/>
                          </a:solidFill>
                          <a:effectLst/>
                          <a:latin typeface="Times New Roman" panose="02020603050405020304" pitchFamily="18" charset="0"/>
                          <a:cs typeface="Times New Roman" panose="02020603050405020304" pitchFamily="18" charset="0"/>
                        </a:rPr>
                        <a:t>9</a:t>
                      </a:r>
                      <a:endParaRPr lang="zh-CN" sz="12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a:solidFill>
                            <a:schemeClr val="tx1"/>
                          </a:solidFill>
                          <a:effectLst/>
                          <a:latin typeface="Times New Roman" panose="02020603050405020304" pitchFamily="18" charset="0"/>
                          <a:cs typeface="Times New Roman" panose="02020603050405020304" pitchFamily="18" charset="0"/>
                        </a:rPr>
                        <a:t>4</a:t>
                      </a:r>
                      <a:endParaRPr lang="zh-CN" sz="120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28457" marR="284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dirty="0">
                          <a:solidFill>
                            <a:schemeClr val="tx1"/>
                          </a:solidFill>
                          <a:effectLst/>
                          <a:latin typeface="Times New Roman" panose="02020603050405020304" pitchFamily="18" charset="0"/>
                          <a:cs typeface="Times New Roman" panose="02020603050405020304" pitchFamily="18" charset="0"/>
                        </a:rPr>
                        <a:t>10</a:t>
                      </a: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28457" marR="284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a:solidFill>
                            <a:schemeClr val="tx1"/>
                          </a:solidFill>
                          <a:effectLst/>
                          <a:latin typeface="Times New Roman" panose="02020603050405020304" pitchFamily="18" charset="0"/>
                          <a:cs typeface="Times New Roman" panose="02020603050405020304" pitchFamily="18" charset="0"/>
                        </a:rPr>
                        <a:t>13</a:t>
                      </a: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28457" marR="284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390759"/>
                  </a:ext>
                </a:extLst>
              </a:tr>
              <a:tr h="245434">
                <a:tc>
                  <a:txBody>
                    <a:bodyPr/>
                    <a:lstStyle/>
                    <a:p>
                      <a:pPr marL="0" algn="ctr">
                        <a:lnSpc>
                          <a:spcPct val="100000"/>
                        </a:lnSpc>
                        <a:spcAft>
                          <a:spcPts val="0"/>
                        </a:spcAft>
                      </a:pPr>
                      <a:r>
                        <a:rPr lang="zh-CN" sz="1200" dirty="0">
                          <a:solidFill>
                            <a:schemeClr val="tx1"/>
                          </a:solidFill>
                          <a:effectLst/>
                          <a:latin typeface="Times New Roman" panose="02020603050405020304" pitchFamily="18" charset="0"/>
                          <a:cs typeface="Times New Roman" panose="02020603050405020304" pitchFamily="18" charset="0"/>
                        </a:rPr>
                        <a:t>功耗</a:t>
                      </a:r>
                      <a:r>
                        <a:rPr lang="en-GB" sz="1200" dirty="0">
                          <a:solidFill>
                            <a:schemeClr val="tx1"/>
                          </a:solidFill>
                          <a:effectLst/>
                          <a:latin typeface="Times New Roman" panose="02020603050405020304" pitchFamily="18" charset="0"/>
                          <a:cs typeface="Times New Roman" panose="02020603050405020304" pitchFamily="18" charset="0"/>
                        </a:rPr>
                        <a:t>P</a:t>
                      </a:r>
                      <a:r>
                        <a:rPr lang="en-GB" sz="1200" baseline="-25000" dirty="0">
                          <a:solidFill>
                            <a:schemeClr val="tx1"/>
                          </a:solidFill>
                          <a:effectLst/>
                          <a:latin typeface="Times New Roman" panose="02020603050405020304" pitchFamily="18" charset="0"/>
                          <a:cs typeface="Times New Roman" panose="02020603050405020304" pitchFamily="18" charset="0"/>
                        </a:rPr>
                        <a:t>D</a:t>
                      </a:r>
                      <a:r>
                        <a:rPr lang="en-GB" sz="1200" dirty="0">
                          <a:solidFill>
                            <a:schemeClr val="tx1"/>
                          </a:solidFill>
                          <a:effectLst/>
                          <a:latin typeface="Times New Roman" panose="02020603050405020304" pitchFamily="18" charset="0"/>
                          <a:cs typeface="Times New Roman" panose="02020603050405020304" pitchFamily="18" charset="0"/>
                        </a:rPr>
                        <a:t>/</a:t>
                      </a:r>
                      <a:r>
                        <a:rPr lang="en-GB" sz="1200" dirty="0" err="1">
                          <a:solidFill>
                            <a:schemeClr val="tx1"/>
                          </a:solidFill>
                          <a:effectLst/>
                          <a:latin typeface="Times New Roman" panose="02020603050405020304" pitchFamily="18" charset="0"/>
                          <a:cs typeface="Times New Roman" panose="02020603050405020304" pitchFamily="18" charset="0"/>
                        </a:rPr>
                        <a:t>mW</a:t>
                      </a: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a:solidFill>
                            <a:schemeClr val="tx1"/>
                          </a:solidFill>
                          <a:effectLst/>
                          <a:latin typeface="Times New Roman" panose="02020603050405020304" pitchFamily="18" charset="0"/>
                          <a:cs typeface="Times New Roman" panose="02020603050405020304" pitchFamily="18" charset="0"/>
                        </a:rPr>
                        <a:t>2</a:t>
                      </a:r>
                      <a:endParaRPr lang="zh-CN" sz="12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a:solidFill>
                            <a:schemeClr val="tx1"/>
                          </a:solidFill>
                          <a:effectLst/>
                          <a:latin typeface="Times New Roman" panose="02020603050405020304" pitchFamily="18" charset="0"/>
                          <a:cs typeface="Times New Roman" panose="02020603050405020304" pitchFamily="18" charset="0"/>
                        </a:rPr>
                        <a:t>1.2</a:t>
                      </a:r>
                      <a:endParaRPr lang="zh-CN" sz="120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28457" marR="284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dirty="0">
                          <a:solidFill>
                            <a:schemeClr val="tx1"/>
                          </a:solidFill>
                          <a:effectLst/>
                          <a:latin typeface="Times New Roman" panose="02020603050405020304" pitchFamily="18" charset="0"/>
                          <a:cs typeface="Times New Roman" panose="02020603050405020304" pitchFamily="18" charset="0"/>
                        </a:rPr>
                        <a:t>0.56</a:t>
                      </a: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28457" marR="284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a:solidFill>
                            <a:schemeClr val="tx1"/>
                          </a:solidFill>
                          <a:effectLst/>
                          <a:latin typeface="Times New Roman" panose="02020603050405020304" pitchFamily="18" charset="0"/>
                          <a:cs typeface="Times New Roman" panose="02020603050405020304" pitchFamily="18" charset="0"/>
                        </a:rPr>
                        <a:t>0.39</a:t>
                      </a: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28457" marR="284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93813186"/>
                  </a:ext>
                </a:extLst>
              </a:tr>
              <a:tr h="245434">
                <a:tc>
                  <a:txBody>
                    <a:bodyPr/>
                    <a:lstStyle/>
                    <a:p>
                      <a:pPr marL="0" algn="ctr">
                        <a:lnSpc>
                          <a:spcPct val="100000"/>
                        </a:lnSpc>
                        <a:spcAft>
                          <a:spcPts val="0"/>
                        </a:spcAft>
                      </a:pPr>
                      <a:r>
                        <a:rPr lang="zh-CN" sz="1200" dirty="0">
                          <a:solidFill>
                            <a:schemeClr val="tx1"/>
                          </a:solidFill>
                          <a:effectLst/>
                          <a:latin typeface="Times New Roman" panose="02020603050405020304" pitchFamily="18" charset="0"/>
                          <a:cs typeface="Times New Roman" panose="02020603050405020304" pitchFamily="18" charset="0"/>
                        </a:rPr>
                        <a:t>高电平噪声容限</a:t>
                      </a:r>
                      <a:r>
                        <a:rPr lang="en-GB" sz="1200" dirty="0">
                          <a:solidFill>
                            <a:schemeClr val="tx1"/>
                          </a:solidFill>
                          <a:effectLst/>
                          <a:latin typeface="Times New Roman" panose="02020603050405020304" pitchFamily="18" charset="0"/>
                          <a:cs typeface="Times New Roman" panose="02020603050405020304" pitchFamily="18" charset="0"/>
                        </a:rPr>
                        <a:t>V</a:t>
                      </a:r>
                      <a:r>
                        <a:rPr lang="en-GB" sz="1200" baseline="-25000" dirty="0">
                          <a:solidFill>
                            <a:schemeClr val="tx1"/>
                          </a:solidFill>
                          <a:effectLst/>
                          <a:latin typeface="Times New Roman" panose="02020603050405020304" pitchFamily="18" charset="0"/>
                          <a:cs typeface="Times New Roman" panose="02020603050405020304" pitchFamily="18" charset="0"/>
                        </a:rPr>
                        <a:t>NH</a:t>
                      </a:r>
                      <a:r>
                        <a:rPr lang="en-GB" sz="1200" dirty="0">
                          <a:solidFill>
                            <a:schemeClr val="tx1"/>
                          </a:solidFill>
                          <a:effectLst/>
                          <a:latin typeface="Times New Roman" panose="02020603050405020304" pitchFamily="18" charset="0"/>
                          <a:cs typeface="Times New Roman" panose="02020603050405020304" pitchFamily="18" charset="0"/>
                        </a:rPr>
                        <a:t>/V</a:t>
                      </a: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a:solidFill>
                            <a:schemeClr val="tx1"/>
                          </a:solidFill>
                          <a:effectLst/>
                          <a:latin typeface="Times New Roman" panose="02020603050405020304" pitchFamily="18" charset="0"/>
                          <a:cs typeface="Times New Roman" panose="02020603050405020304" pitchFamily="18" charset="0"/>
                        </a:rPr>
                        <a:t>0.7</a:t>
                      </a:r>
                      <a:endParaRPr lang="zh-CN" sz="12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a:solidFill>
                            <a:schemeClr val="tx1"/>
                          </a:solidFill>
                          <a:effectLst/>
                          <a:latin typeface="Times New Roman" panose="02020603050405020304" pitchFamily="18" charset="0"/>
                          <a:cs typeface="Times New Roman" panose="02020603050405020304" pitchFamily="18" charset="0"/>
                        </a:rPr>
                        <a:t>1</a:t>
                      </a:r>
                      <a:endParaRPr lang="zh-CN" sz="120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28457" marR="284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dirty="0">
                          <a:solidFill>
                            <a:schemeClr val="tx1"/>
                          </a:solidFill>
                          <a:effectLst/>
                          <a:latin typeface="Times New Roman" panose="02020603050405020304" pitchFamily="18" charset="0"/>
                          <a:cs typeface="Times New Roman" panose="02020603050405020304" pitchFamily="18" charset="0"/>
                        </a:rPr>
                        <a:t>1.4</a:t>
                      </a: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28457" marR="284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a:solidFill>
                            <a:schemeClr val="tx1"/>
                          </a:solidFill>
                          <a:effectLst/>
                          <a:latin typeface="Times New Roman" panose="02020603050405020304" pitchFamily="18" charset="0"/>
                          <a:cs typeface="Times New Roman" panose="02020603050405020304" pitchFamily="18" charset="0"/>
                        </a:rPr>
                        <a:t>2.9</a:t>
                      </a: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28457" marR="284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15018207"/>
                  </a:ext>
                </a:extLst>
              </a:tr>
              <a:tr h="245434">
                <a:tc>
                  <a:txBody>
                    <a:bodyPr/>
                    <a:lstStyle/>
                    <a:p>
                      <a:pPr marL="0" algn="ctr">
                        <a:lnSpc>
                          <a:spcPct val="100000"/>
                        </a:lnSpc>
                        <a:spcAft>
                          <a:spcPts val="0"/>
                        </a:spcAft>
                      </a:pPr>
                      <a:r>
                        <a:rPr lang="zh-CN" sz="1200" dirty="0">
                          <a:solidFill>
                            <a:schemeClr val="tx1"/>
                          </a:solidFill>
                          <a:effectLst/>
                          <a:latin typeface="Times New Roman" panose="02020603050405020304" pitchFamily="18" charset="0"/>
                          <a:cs typeface="Times New Roman" panose="02020603050405020304" pitchFamily="18" charset="0"/>
                        </a:rPr>
                        <a:t>低电平噪声容限</a:t>
                      </a:r>
                      <a:r>
                        <a:rPr lang="en-GB" sz="1200" dirty="0">
                          <a:solidFill>
                            <a:schemeClr val="tx1"/>
                          </a:solidFill>
                          <a:effectLst/>
                          <a:latin typeface="Times New Roman" panose="02020603050405020304" pitchFamily="18" charset="0"/>
                          <a:cs typeface="Times New Roman" panose="02020603050405020304" pitchFamily="18" charset="0"/>
                        </a:rPr>
                        <a:t>V</a:t>
                      </a:r>
                      <a:r>
                        <a:rPr lang="en-GB" sz="1200" baseline="-25000" dirty="0">
                          <a:solidFill>
                            <a:schemeClr val="tx1"/>
                          </a:solidFill>
                          <a:effectLst/>
                          <a:latin typeface="Times New Roman" panose="02020603050405020304" pitchFamily="18" charset="0"/>
                          <a:cs typeface="Times New Roman" panose="02020603050405020304" pitchFamily="18" charset="0"/>
                        </a:rPr>
                        <a:t>NL</a:t>
                      </a:r>
                      <a:r>
                        <a:rPr lang="en-GB" sz="1200" dirty="0">
                          <a:solidFill>
                            <a:schemeClr val="tx1"/>
                          </a:solidFill>
                          <a:effectLst/>
                          <a:latin typeface="Times New Roman" panose="02020603050405020304" pitchFamily="18" charset="0"/>
                          <a:cs typeface="Times New Roman" panose="02020603050405020304" pitchFamily="18" charset="0"/>
                        </a:rPr>
                        <a:t>/V</a:t>
                      </a: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dirty="0">
                          <a:solidFill>
                            <a:schemeClr val="tx1"/>
                          </a:solidFill>
                          <a:effectLst/>
                          <a:latin typeface="Times New Roman" panose="02020603050405020304" pitchFamily="18" charset="0"/>
                          <a:cs typeface="Times New Roman" panose="02020603050405020304" pitchFamily="18" charset="0"/>
                        </a:rPr>
                        <a:t>0.3</a:t>
                      </a: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dirty="0">
                          <a:solidFill>
                            <a:schemeClr val="tx1"/>
                          </a:solidFill>
                          <a:effectLst/>
                          <a:latin typeface="Times New Roman" panose="02020603050405020304" pitchFamily="18" charset="0"/>
                          <a:cs typeface="Times New Roman" panose="02020603050405020304" pitchFamily="18" charset="0"/>
                        </a:rPr>
                        <a:t>0.2</a:t>
                      </a:r>
                      <a:endParaRPr lang="zh-CN" sz="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28457" marR="284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a:solidFill>
                            <a:schemeClr val="tx1"/>
                          </a:solidFill>
                          <a:effectLst/>
                          <a:latin typeface="Times New Roman" panose="02020603050405020304" pitchFamily="18" charset="0"/>
                          <a:cs typeface="Times New Roman" panose="02020603050405020304" pitchFamily="18" charset="0"/>
                        </a:rPr>
                        <a:t>1.4</a:t>
                      </a:r>
                      <a:endParaRPr lang="zh-CN" sz="12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28457" marR="284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lnSpc>
                          <a:spcPct val="100000"/>
                        </a:lnSpc>
                        <a:spcAft>
                          <a:spcPts val="0"/>
                        </a:spcAft>
                      </a:pPr>
                      <a:r>
                        <a:rPr lang="en-GB" sz="1200" dirty="0">
                          <a:solidFill>
                            <a:schemeClr val="tx1"/>
                          </a:solidFill>
                          <a:effectLst/>
                          <a:latin typeface="Times New Roman" panose="02020603050405020304" pitchFamily="18" charset="0"/>
                          <a:cs typeface="Times New Roman" panose="02020603050405020304" pitchFamily="18" charset="0"/>
                        </a:rPr>
                        <a:t>0.7</a:t>
                      </a:r>
                      <a:endParaRPr lang="zh-CN" sz="12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28457" marR="284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37387842"/>
                  </a:ext>
                </a:extLst>
              </a:tr>
            </a:tbl>
          </a:graphicData>
        </a:graphic>
      </p:graphicFrame>
    </p:spTree>
  </p:cSld>
  <p:clrMapOvr>
    <a:masterClrMapping/>
  </p:clrMapOvr>
  <p:transition spd="slow">
    <p:push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282575" y="724654"/>
            <a:ext cx="3897539" cy="373579"/>
            <a:chOff x="307975" y="1517134"/>
            <a:chExt cx="3897539" cy="373579"/>
          </a:xfrm>
        </p:grpSpPr>
        <p:grpSp>
          <p:nvGrpSpPr>
            <p:cNvPr id="19" name="组合 32"/>
            <p:cNvGrpSpPr/>
            <p:nvPr/>
          </p:nvGrpSpPr>
          <p:grpSpPr>
            <a:xfrm>
              <a:off x="307975" y="1519116"/>
              <a:ext cx="568325" cy="371597"/>
              <a:chOff x="307975" y="1519116"/>
              <a:chExt cx="568325" cy="371597"/>
            </a:xfrm>
          </p:grpSpPr>
          <p:pic>
            <p:nvPicPr>
              <p:cNvPr id="21" name="Picture 4"/>
              <p:cNvPicPr>
                <a:picLocks noChangeAspect="1" noChangeArrowheads="1"/>
              </p:cNvPicPr>
              <p:nvPr/>
            </p:nvPicPr>
            <p:blipFill>
              <a:blip r:embed="rId3" cstate="print"/>
              <a:srcRect/>
              <a:stretch>
                <a:fillRect/>
              </a:stretch>
            </p:blipFill>
            <p:spPr bwMode="auto">
              <a:xfrm flipH="1">
                <a:off x="307975" y="1519116"/>
                <a:ext cx="568325" cy="371597"/>
              </a:xfrm>
              <a:prstGeom prst="rect">
                <a:avLst/>
              </a:prstGeom>
              <a:noFill/>
              <a:ln w="9525">
                <a:noFill/>
                <a:miter lim="800000"/>
                <a:headEnd/>
                <a:tailEnd/>
              </a:ln>
              <a:effectLst/>
            </p:spPr>
          </p:pic>
          <p:sp>
            <p:nvSpPr>
              <p:cNvPr id="22" name="TextBox 21"/>
              <p:cNvSpPr txBox="1"/>
              <p:nvPr/>
            </p:nvSpPr>
            <p:spPr>
              <a:xfrm flipH="1">
                <a:off x="443415" y="1555750"/>
                <a:ext cx="137858" cy="276999"/>
              </a:xfrm>
              <a:prstGeom prst="rect">
                <a:avLst/>
              </a:prstGeom>
              <a:noFill/>
            </p:spPr>
            <p:txBody>
              <a:bodyPr wrap="none" lIns="0" tIns="0" rIns="0" bIns="0" rtlCol="0">
                <a:spAutoFit/>
              </a:bodyPr>
              <a:lstStyle/>
              <a:p>
                <a:r>
                  <a:rPr lang="en-US" altLang="zh-CN" b="1" dirty="0">
                    <a:solidFill>
                      <a:srgbClr val="262626"/>
                    </a:solidFill>
                    <a:latin typeface="Segoe UI Black" pitchFamily="34" charset="0"/>
                    <a:cs typeface="Times New Roman" pitchFamily="18" charset="0"/>
                  </a:rPr>
                  <a:t>2</a:t>
                </a:r>
                <a:endParaRPr lang="zh-CN" altLang="en-US" b="1" dirty="0">
                  <a:solidFill>
                    <a:srgbClr val="262626"/>
                  </a:solidFill>
                  <a:latin typeface="Segoe UI Black" pitchFamily="34" charset="0"/>
                  <a:cs typeface="Times New Roman" pitchFamily="18" charset="0"/>
                </a:endParaRPr>
              </a:p>
            </p:txBody>
          </p:sp>
        </p:grpSp>
        <p:sp>
          <p:nvSpPr>
            <p:cNvPr id="20" name="矩形 19"/>
            <p:cNvSpPr/>
            <p:nvPr/>
          </p:nvSpPr>
          <p:spPr>
            <a:xfrm>
              <a:off x="863675" y="1517134"/>
              <a:ext cx="3341839" cy="369332"/>
            </a:xfrm>
            <a:prstGeom prst="rect">
              <a:avLst/>
            </a:prstGeom>
          </p:spPr>
          <p:txBody>
            <a:bodyPr wrap="square">
              <a:spAutoFit/>
            </a:bodyPr>
            <a:lstStyle/>
            <a:p>
              <a:r>
                <a:rPr lang="zh-CN" altLang="zh-CN" b="1" dirty="0">
                  <a:solidFill>
                    <a:schemeClr val="accent1">
                      <a:lumMod val="50000"/>
                    </a:schemeClr>
                  </a:solidFill>
                  <a:latin typeface="黑体" pitchFamily="49" charset="-122"/>
                  <a:ea typeface="黑体" pitchFamily="49" charset="-122"/>
                  <a:cs typeface="Times New Roman" pitchFamily="18" charset="0"/>
                </a:rPr>
                <a:t>不同门电路之间的接口问题</a:t>
              </a:r>
              <a:endParaRPr lang="zh-CN" altLang="en-US" b="1" dirty="0">
                <a:solidFill>
                  <a:schemeClr val="accent1">
                    <a:lumMod val="50000"/>
                  </a:schemeClr>
                </a:solidFill>
                <a:latin typeface="黑体" pitchFamily="49" charset="-122"/>
                <a:ea typeface="黑体" pitchFamily="49" charset="-122"/>
                <a:cs typeface="Times New Roman" pitchFamily="18" charset="0"/>
              </a:endParaRPr>
            </a:p>
          </p:txBody>
        </p:sp>
      </p:grpSp>
      <p:sp>
        <p:nvSpPr>
          <p:cNvPr id="34" name="Rectangle 5"/>
          <p:cNvSpPr>
            <a:spLocks noChangeArrowheads="1"/>
          </p:cNvSpPr>
          <p:nvPr/>
        </p:nvSpPr>
        <p:spPr bwMode="auto">
          <a:xfrm>
            <a:off x="988857" y="1238941"/>
            <a:ext cx="615315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accent2"/>
                </a:solidFill>
                <a:latin typeface="Times New Roman" pitchFamily="18" charset="0"/>
                <a:ea typeface="宋体" charset="-122"/>
              </a:defRPr>
            </a:lvl1pPr>
            <a:lvl2pPr marL="742950" indent="-285750" eaLnBrk="0" hangingPunct="0">
              <a:defRPr sz="2000" b="1">
                <a:solidFill>
                  <a:schemeClr val="accent2"/>
                </a:solidFill>
                <a:latin typeface="Times New Roman" pitchFamily="18" charset="0"/>
                <a:ea typeface="宋体" charset="-122"/>
              </a:defRPr>
            </a:lvl2pPr>
            <a:lvl3pPr marL="1143000" indent="-228600" eaLnBrk="0" hangingPunct="0">
              <a:defRPr sz="2000" b="1">
                <a:solidFill>
                  <a:schemeClr val="accent2"/>
                </a:solidFill>
                <a:latin typeface="Times New Roman" pitchFamily="18" charset="0"/>
                <a:ea typeface="宋体" charset="-122"/>
              </a:defRPr>
            </a:lvl3pPr>
            <a:lvl4pPr marL="1600200" indent="-228600" eaLnBrk="0" hangingPunct="0">
              <a:defRPr sz="2000" b="1">
                <a:solidFill>
                  <a:schemeClr val="accent2"/>
                </a:solidFill>
                <a:latin typeface="Times New Roman" pitchFamily="18" charset="0"/>
                <a:ea typeface="宋体" charset="-122"/>
              </a:defRPr>
            </a:lvl4pPr>
            <a:lvl5pPr marL="2057400" indent="-228600" eaLnBrk="0" hangingPunct="0">
              <a:defRPr sz="2000" b="1">
                <a:solidFill>
                  <a:schemeClr val="accent2"/>
                </a:solidFill>
                <a:latin typeface="Times New Roman" pitchFamily="18" charset="0"/>
                <a:ea typeface="宋体" charset="-122"/>
              </a:defRPr>
            </a:lvl5pPr>
            <a:lvl6pPr marL="25146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6pPr>
            <a:lvl7pPr marL="29718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7pPr>
            <a:lvl8pPr marL="34290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8pPr>
            <a:lvl9pPr marL="3886200" indent="-228600" algn="ctr" eaLnBrk="0" fontAlgn="base" hangingPunct="0">
              <a:spcBef>
                <a:spcPct val="50000"/>
              </a:spcBef>
              <a:spcAft>
                <a:spcPct val="0"/>
              </a:spcAft>
              <a:defRPr sz="2000" b="1">
                <a:solidFill>
                  <a:schemeClr val="accent2"/>
                </a:solidFill>
                <a:latin typeface="Times New Roman" pitchFamily="18" charset="0"/>
                <a:ea typeface="宋体" charset="-122"/>
              </a:defRPr>
            </a:lvl9pPr>
          </a:lstStyle>
          <a:p>
            <a:pPr algn="ctr" eaLnBrk="1" hangingPunct="1">
              <a:spcBef>
                <a:spcPct val="0"/>
              </a:spcBef>
            </a:pPr>
            <a:r>
              <a:rPr lang="en-US" altLang="zh-CN" sz="1600" b="0" dirty="0">
                <a:solidFill>
                  <a:srgbClr val="6600FF"/>
                </a:solidFill>
                <a:latin typeface="方正粗黑宋简体" pitchFamily="2" charset="-122"/>
                <a:ea typeface="方正粗黑宋简体" pitchFamily="2" charset="-122"/>
              </a:rPr>
              <a:t>TTL</a:t>
            </a:r>
            <a:r>
              <a:rPr lang="zh-CN" altLang="en-US" sz="1600" b="0" dirty="0">
                <a:solidFill>
                  <a:srgbClr val="6600FF"/>
                </a:solidFill>
                <a:latin typeface="方正粗黑宋简体" pitchFamily="2" charset="-122"/>
                <a:ea typeface="方正粗黑宋简体" pitchFamily="2" charset="-122"/>
              </a:rPr>
              <a:t>与</a:t>
            </a:r>
            <a:r>
              <a:rPr lang="en-US" altLang="zh-CN" sz="1600" b="0" dirty="0">
                <a:solidFill>
                  <a:srgbClr val="6600FF"/>
                </a:solidFill>
                <a:latin typeface="方正粗黑宋简体" pitchFamily="2" charset="-122"/>
                <a:ea typeface="方正粗黑宋简体" pitchFamily="2" charset="-122"/>
              </a:rPr>
              <a:t>CMOS</a:t>
            </a:r>
            <a:r>
              <a:rPr lang="zh-CN" altLang="en-US" sz="1600" b="0" dirty="0">
                <a:solidFill>
                  <a:srgbClr val="6600FF"/>
                </a:solidFill>
                <a:latin typeface="方正粗黑宋简体" pitchFamily="2" charset="-122"/>
                <a:ea typeface="方正粗黑宋简体" pitchFamily="2" charset="-122"/>
              </a:rPr>
              <a:t>门电路之间的接口问题</a:t>
            </a:r>
          </a:p>
        </p:txBody>
      </p:sp>
      <p:sp>
        <p:nvSpPr>
          <p:cNvPr id="38" name="Rectangle 7"/>
          <p:cNvSpPr>
            <a:spLocks noChangeArrowheads="1"/>
          </p:cNvSpPr>
          <p:nvPr/>
        </p:nvSpPr>
        <p:spPr bwMode="auto">
          <a:xfrm>
            <a:off x="359592" y="1631367"/>
            <a:ext cx="8417208" cy="75713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indent="533400">
              <a:defRPr sz="2400">
                <a:solidFill>
                  <a:schemeClr val="tx1"/>
                </a:solidFill>
                <a:latin typeface="Times New Roman" pitchFamily="18" charset="0"/>
                <a:ea typeface="宋体" pitchFamily="2" charset="-122"/>
              </a:defRPr>
            </a:lvl1pPr>
            <a:lvl2pPr marL="712788">
              <a:defRPr sz="2400">
                <a:solidFill>
                  <a:schemeClr val="tx1"/>
                </a:solidFill>
                <a:latin typeface="Times New Roman" pitchFamily="18" charset="0"/>
                <a:ea typeface="宋体" pitchFamily="2" charset="-122"/>
              </a:defRPr>
            </a:lvl2pPr>
            <a:lvl3pPr>
              <a:defRPr sz="2400">
                <a:solidFill>
                  <a:schemeClr val="tx1"/>
                </a:solidFill>
                <a:latin typeface="Times New Roman" pitchFamily="18" charset="0"/>
                <a:ea typeface="宋体" pitchFamily="2" charset="-122"/>
              </a:defRPr>
            </a:lvl3pPr>
            <a:lvl4pPr>
              <a:defRPr sz="2400">
                <a:solidFill>
                  <a:schemeClr val="tx1"/>
                </a:solidFill>
                <a:latin typeface="Times New Roman" pitchFamily="18" charset="0"/>
                <a:ea typeface="宋体" pitchFamily="2" charset="-122"/>
              </a:defRPr>
            </a:lvl4pPr>
            <a:lvl5pPr>
              <a:defRPr sz="2400">
                <a:solidFill>
                  <a:schemeClr val="tx1"/>
                </a:solidFill>
                <a:latin typeface="Times New Roman" pitchFamily="18" charset="0"/>
                <a:ea typeface="宋体" pitchFamily="2" charset="-122"/>
              </a:defRPr>
            </a:lvl5pPr>
            <a:lvl6pPr fontAlgn="base">
              <a:spcBef>
                <a:spcPct val="0"/>
              </a:spcBef>
              <a:spcAft>
                <a:spcPct val="0"/>
              </a:spcAft>
              <a:defRPr sz="2400">
                <a:solidFill>
                  <a:schemeClr val="tx1"/>
                </a:solidFill>
                <a:latin typeface="Times New Roman" pitchFamily="18" charset="0"/>
                <a:ea typeface="宋体" pitchFamily="2" charset="-122"/>
              </a:defRPr>
            </a:lvl6pPr>
            <a:lvl7pPr fontAlgn="base">
              <a:spcBef>
                <a:spcPct val="0"/>
              </a:spcBef>
              <a:spcAft>
                <a:spcPct val="0"/>
              </a:spcAft>
              <a:defRPr sz="2400">
                <a:solidFill>
                  <a:schemeClr val="tx1"/>
                </a:solidFill>
                <a:latin typeface="Times New Roman" pitchFamily="18" charset="0"/>
                <a:ea typeface="宋体" pitchFamily="2" charset="-122"/>
              </a:defRPr>
            </a:lvl7pPr>
            <a:lvl8pPr fontAlgn="base">
              <a:spcBef>
                <a:spcPct val="0"/>
              </a:spcBef>
              <a:spcAft>
                <a:spcPct val="0"/>
              </a:spcAft>
              <a:defRPr sz="2400">
                <a:solidFill>
                  <a:schemeClr val="tx1"/>
                </a:solidFill>
                <a:latin typeface="Times New Roman" pitchFamily="18" charset="0"/>
                <a:ea typeface="宋体" pitchFamily="2" charset="-122"/>
              </a:defRPr>
            </a:lvl8pPr>
            <a:lvl9pPr fontAlgn="base">
              <a:spcBef>
                <a:spcPct val="0"/>
              </a:spcBef>
              <a:spcAft>
                <a:spcPct val="0"/>
              </a:spcAft>
              <a:defRPr sz="2400">
                <a:solidFill>
                  <a:schemeClr val="tx1"/>
                </a:solidFill>
                <a:latin typeface="Times New Roman" pitchFamily="18" charset="0"/>
                <a:ea typeface="宋体" pitchFamily="2" charset="-122"/>
              </a:defRPr>
            </a:lvl9pPr>
          </a:lstStyle>
          <a:p>
            <a:pPr indent="360363" eaLnBrk="0" hangingPunct="0">
              <a:lnSpc>
                <a:spcPct val="135000"/>
              </a:lnSpc>
              <a:spcBef>
                <a:spcPct val="0"/>
              </a:spcBef>
              <a:defRPr/>
            </a:pPr>
            <a:r>
              <a:rPr lang="zh-CN" altLang="en-US" sz="1600" dirty="0">
                <a:ea typeface="黑体" pitchFamily="49" charset="-122"/>
                <a:cs typeface="Times New Roman" pitchFamily="18" charset="0"/>
              </a:rPr>
              <a:t>由于</a:t>
            </a:r>
            <a:r>
              <a:rPr lang="en-US" altLang="zh-CN" sz="1600" dirty="0">
                <a:ea typeface="黑体" pitchFamily="49" charset="-122"/>
                <a:cs typeface="Times New Roman" pitchFamily="18" charset="0"/>
              </a:rPr>
              <a:t>TTL</a:t>
            </a:r>
            <a:r>
              <a:rPr lang="zh-CN" altLang="en-US" sz="1600" dirty="0">
                <a:ea typeface="黑体" pitchFamily="49" charset="-122"/>
                <a:cs typeface="Times New Roman" pitchFamily="18" charset="0"/>
              </a:rPr>
              <a:t>和</a:t>
            </a:r>
            <a:r>
              <a:rPr lang="en-US" altLang="zh-CN" sz="1600" dirty="0">
                <a:ea typeface="黑体" pitchFamily="49" charset="-122"/>
                <a:cs typeface="Times New Roman" pitchFamily="18" charset="0"/>
              </a:rPr>
              <a:t>CMOS</a:t>
            </a:r>
            <a:r>
              <a:rPr lang="zh-CN" altLang="en-US" sz="1600" dirty="0">
                <a:ea typeface="黑体" pitchFamily="49" charset="-122"/>
                <a:cs typeface="Times New Roman" pitchFamily="18" charset="0"/>
              </a:rPr>
              <a:t>器件的电压和电流参数各不相同，因而在这两种器件连接时，需要考虑以下因素：</a:t>
            </a:r>
          </a:p>
        </p:txBody>
      </p:sp>
      <p:grpSp>
        <p:nvGrpSpPr>
          <p:cNvPr id="13" name="组合 12"/>
          <p:cNvGrpSpPr/>
          <p:nvPr/>
        </p:nvGrpSpPr>
        <p:grpSpPr>
          <a:xfrm>
            <a:off x="716881" y="3740510"/>
            <a:ext cx="7200800" cy="1110628"/>
            <a:chOff x="764570" y="2457197"/>
            <a:chExt cx="7200800" cy="1110628"/>
          </a:xfrm>
        </p:grpSpPr>
        <p:sp>
          <p:nvSpPr>
            <p:cNvPr id="37" name="Rectangle 6"/>
            <p:cNvSpPr>
              <a:spLocks noChangeArrowheads="1"/>
            </p:cNvSpPr>
            <p:nvPr/>
          </p:nvSpPr>
          <p:spPr bwMode="auto">
            <a:xfrm>
              <a:off x="764570" y="2457197"/>
              <a:ext cx="7200800" cy="676532"/>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marL="723900" indent="-723900">
                <a:defRPr sz="2400">
                  <a:solidFill>
                    <a:schemeClr val="tx1"/>
                  </a:solidFill>
                  <a:latin typeface="Times New Roman" pitchFamily="18" charset="0"/>
                  <a:ea typeface="宋体" pitchFamily="2" charset="-122"/>
                </a:defRPr>
              </a:lvl1pPr>
              <a:lvl2pPr marL="903288">
                <a:defRPr sz="2400">
                  <a:solidFill>
                    <a:schemeClr val="tx1"/>
                  </a:solidFill>
                  <a:latin typeface="Times New Roman" pitchFamily="18" charset="0"/>
                  <a:ea typeface="宋体" pitchFamily="2" charset="-122"/>
                </a:defRPr>
              </a:lvl2pPr>
              <a:lvl3pPr marL="1082675">
                <a:defRPr sz="2400">
                  <a:solidFill>
                    <a:schemeClr val="tx1"/>
                  </a:solidFill>
                  <a:latin typeface="Times New Roman" pitchFamily="18" charset="0"/>
                  <a:ea typeface="宋体" pitchFamily="2" charset="-122"/>
                </a:defRPr>
              </a:lvl3pPr>
              <a:lvl4pPr>
                <a:defRPr sz="2400">
                  <a:solidFill>
                    <a:schemeClr val="tx1"/>
                  </a:solidFill>
                  <a:latin typeface="Times New Roman" pitchFamily="18" charset="0"/>
                  <a:ea typeface="宋体" pitchFamily="2" charset="-122"/>
                </a:defRPr>
              </a:lvl4pPr>
              <a:lvl5pPr>
                <a:defRPr sz="2400">
                  <a:solidFill>
                    <a:schemeClr val="tx1"/>
                  </a:solidFill>
                  <a:latin typeface="Times New Roman" pitchFamily="18" charset="0"/>
                  <a:ea typeface="宋体" pitchFamily="2" charset="-122"/>
                </a:defRPr>
              </a:lvl5pPr>
              <a:lvl6pPr fontAlgn="base">
                <a:spcBef>
                  <a:spcPct val="0"/>
                </a:spcBef>
                <a:spcAft>
                  <a:spcPct val="0"/>
                </a:spcAft>
                <a:defRPr sz="2400">
                  <a:solidFill>
                    <a:schemeClr val="tx1"/>
                  </a:solidFill>
                  <a:latin typeface="Times New Roman" pitchFamily="18" charset="0"/>
                  <a:ea typeface="宋体" pitchFamily="2" charset="-122"/>
                </a:defRPr>
              </a:lvl6pPr>
              <a:lvl7pPr fontAlgn="base">
                <a:spcBef>
                  <a:spcPct val="0"/>
                </a:spcBef>
                <a:spcAft>
                  <a:spcPct val="0"/>
                </a:spcAft>
                <a:defRPr sz="2400">
                  <a:solidFill>
                    <a:schemeClr val="tx1"/>
                  </a:solidFill>
                  <a:latin typeface="Times New Roman" pitchFamily="18" charset="0"/>
                  <a:ea typeface="宋体" pitchFamily="2" charset="-122"/>
                </a:defRPr>
              </a:lvl7pPr>
              <a:lvl8pPr fontAlgn="base">
                <a:spcBef>
                  <a:spcPct val="0"/>
                </a:spcBef>
                <a:spcAft>
                  <a:spcPct val="0"/>
                </a:spcAft>
                <a:defRPr sz="2400">
                  <a:solidFill>
                    <a:schemeClr val="tx1"/>
                  </a:solidFill>
                  <a:latin typeface="Times New Roman" pitchFamily="18" charset="0"/>
                  <a:ea typeface="宋体" pitchFamily="2" charset="-122"/>
                </a:defRPr>
              </a:lvl8pPr>
              <a:lvl9pPr fontAlgn="base">
                <a:spcBef>
                  <a:spcPct val="0"/>
                </a:spcBef>
                <a:spcAft>
                  <a:spcPct val="0"/>
                </a:spcAft>
                <a:defRPr sz="2400">
                  <a:solidFill>
                    <a:schemeClr val="tx1"/>
                  </a:solidFill>
                  <a:latin typeface="Times New Roman" pitchFamily="18" charset="0"/>
                  <a:ea typeface="宋体" pitchFamily="2" charset="-122"/>
                </a:defRPr>
              </a:lvl9pPr>
            </a:lstStyle>
            <a:p>
              <a:pPr marL="266700" indent="-266700" algn="just">
                <a:lnSpc>
                  <a:spcPct val="125000"/>
                </a:lnSpc>
                <a:buFont typeface="Wingdings" pitchFamily="2" charset="2"/>
                <a:buChar char="Ø"/>
                <a:defRPr/>
              </a:pPr>
              <a:r>
                <a:rPr lang="zh-CN" altLang="en-US" sz="1600" dirty="0">
                  <a:ea typeface="黑体" pitchFamily="49" charset="-122"/>
                  <a:cs typeface="Times New Roman" pitchFamily="18" charset="0"/>
                </a:rPr>
                <a:t>驱动器件的输出电压必须处在负载器件所要求的输入电压范围，包括高电平、低电平值（电平兼容性的问题）。</a:t>
              </a:r>
              <a:endParaRPr lang="en-US" altLang="zh-CN" sz="1600" dirty="0">
                <a:ea typeface="黑体" pitchFamily="49" charset="-122"/>
                <a:cs typeface="Times New Roman" pitchFamily="18" charset="0"/>
              </a:endParaRPr>
            </a:p>
          </p:txBody>
        </p:sp>
        <p:pic>
          <p:nvPicPr>
            <p:cNvPr id="65549" name="Picture 13"/>
            <p:cNvPicPr>
              <a:picLocks noChangeAspect="1" noChangeArrowheads="1"/>
            </p:cNvPicPr>
            <p:nvPr/>
          </p:nvPicPr>
          <p:blipFill>
            <a:blip r:embed="rId4" cstate="print"/>
            <a:srcRect/>
            <a:stretch>
              <a:fillRect/>
            </a:stretch>
          </p:blipFill>
          <p:spPr bwMode="auto">
            <a:xfrm>
              <a:off x="2280339" y="3191995"/>
              <a:ext cx="3695662" cy="375830"/>
            </a:xfrm>
            <a:prstGeom prst="rect">
              <a:avLst/>
            </a:prstGeom>
            <a:noFill/>
            <a:ln w="9525">
              <a:noFill/>
              <a:miter lim="800000"/>
              <a:headEnd/>
              <a:tailEnd/>
            </a:ln>
            <a:effectLst/>
          </p:spPr>
        </p:pic>
      </p:grpSp>
      <p:grpSp>
        <p:nvGrpSpPr>
          <p:cNvPr id="14" name="组合 13"/>
          <p:cNvGrpSpPr/>
          <p:nvPr/>
        </p:nvGrpSpPr>
        <p:grpSpPr>
          <a:xfrm>
            <a:off x="716881" y="2446763"/>
            <a:ext cx="7846548" cy="911258"/>
            <a:chOff x="716881" y="2446763"/>
            <a:chExt cx="7846548" cy="911258"/>
          </a:xfrm>
        </p:grpSpPr>
        <p:pic>
          <p:nvPicPr>
            <p:cNvPr id="65550" name="Picture 14"/>
            <p:cNvPicPr>
              <a:picLocks noChangeAspect="1" noChangeArrowheads="1"/>
            </p:cNvPicPr>
            <p:nvPr/>
          </p:nvPicPr>
          <p:blipFill>
            <a:blip r:embed="rId5" cstate="print"/>
            <a:srcRect/>
            <a:stretch>
              <a:fillRect/>
            </a:stretch>
          </p:blipFill>
          <p:spPr bwMode="auto">
            <a:xfrm>
              <a:off x="2509194" y="2899483"/>
              <a:ext cx="3719891" cy="458538"/>
            </a:xfrm>
            <a:prstGeom prst="rect">
              <a:avLst/>
            </a:prstGeom>
            <a:noFill/>
            <a:ln w="9525">
              <a:noFill/>
              <a:miter lim="800000"/>
              <a:headEnd/>
              <a:tailEnd/>
            </a:ln>
            <a:effectLst/>
          </p:spPr>
        </p:pic>
        <p:sp>
          <p:nvSpPr>
            <p:cNvPr id="12" name="矩形 11"/>
            <p:cNvSpPr/>
            <p:nvPr/>
          </p:nvSpPr>
          <p:spPr>
            <a:xfrm>
              <a:off x="716881" y="2446763"/>
              <a:ext cx="7846548" cy="368755"/>
            </a:xfrm>
            <a:prstGeom prst="rect">
              <a:avLst/>
            </a:prstGeom>
          </p:spPr>
          <p:txBody>
            <a:bodyPr wrap="square">
              <a:spAutoFit/>
            </a:bodyPr>
            <a:lstStyle/>
            <a:p>
              <a:pPr marL="266700" indent="-266700" algn="just">
                <a:lnSpc>
                  <a:spcPct val="125000"/>
                </a:lnSpc>
                <a:buFont typeface="Wingdings" pitchFamily="2" charset="2"/>
                <a:buChar char="Ø"/>
                <a:defRPr/>
              </a:pPr>
              <a:r>
                <a:rPr lang="zh-CN" altLang="zh-CN" sz="1600" dirty="0">
                  <a:latin typeface="Times New Roman" pitchFamily="18" charset="0"/>
                  <a:ea typeface="黑体" pitchFamily="49" charset="-122"/>
                  <a:cs typeface="Times New Roman" pitchFamily="18" charset="0"/>
                </a:rPr>
                <a:t>逻辑门电路的扇出问题，即驱动门必须对负载门提供足够大的灌电流和拉电流</a:t>
              </a:r>
              <a:r>
                <a:rPr lang="zh-CN" altLang="en-US" sz="1600" dirty="0">
                  <a:latin typeface="Times New Roman" pitchFamily="18" charset="0"/>
                  <a:ea typeface="黑体" pitchFamily="49" charset="-122"/>
                  <a:cs typeface="Times New Roman" pitchFamily="18" charset="0"/>
                </a:rPr>
                <a:t>。</a:t>
              </a:r>
            </a:p>
          </p:txBody>
        </p:sp>
      </p:grpSp>
    </p:spTree>
  </p:cSld>
  <p:clrMapOvr>
    <a:masterClrMapping/>
  </p:clrMapOvr>
  <p:transition spd="slow">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slide(fromBottom)">
                                      <p:cBhvr>
                                        <p:cTn id="7" dur="1000"/>
                                        <p:tgtEl>
                                          <p:spTgt spid="18"/>
                                        </p:tgtEl>
                                      </p:cBhvr>
                                    </p:animEffect>
                                  </p:childTnLst>
                                </p:cTn>
                              </p:par>
                            </p:childTnLst>
                          </p:cTn>
                        </p:par>
                        <p:par>
                          <p:cTn id="8" fill="hold">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slide(fromBottom)">
                                      <p:cBhvr>
                                        <p:cTn id="11" dur="1000"/>
                                        <p:tgtEl>
                                          <p:spTgt spid="34"/>
                                        </p:tgtEl>
                                      </p:cBhvr>
                                    </p:animEffect>
                                  </p:childTnLst>
                                </p:cTn>
                              </p:par>
                            </p:childTnLst>
                          </p:cTn>
                        </p:par>
                        <p:par>
                          <p:cTn id="12" fill="hold">
                            <p:stCondLst>
                              <p:cond delay="2000"/>
                            </p:stCondLst>
                            <p:childTnLst>
                              <p:par>
                                <p:cTn id="13" presetID="12" presetClass="entr" presetSubtype="4" fill="hold" grpId="0" nodeType="after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slide(fromBottom)">
                                      <p:cBhvr>
                                        <p:cTn id="15" dur="1000"/>
                                        <p:tgtEl>
                                          <p:spTgt spid="38"/>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slide(fromBottom)">
                                      <p:cBhvr>
                                        <p:cTn id="20" dur="10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slide(fromBottom)">
                                      <p:cBhvr>
                                        <p:cTn id="25"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282575" y="724654"/>
            <a:ext cx="4743025" cy="373579"/>
            <a:chOff x="307975" y="1517134"/>
            <a:chExt cx="4743025" cy="373579"/>
          </a:xfrm>
        </p:grpSpPr>
        <p:grpSp>
          <p:nvGrpSpPr>
            <p:cNvPr id="21" name="组合 32"/>
            <p:cNvGrpSpPr/>
            <p:nvPr/>
          </p:nvGrpSpPr>
          <p:grpSpPr>
            <a:xfrm>
              <a:off x="307975" y="1519116"/>
              <a:ext cx="568325" cy="371597"/>
              <a:chOff x="307975" y="1519116"/>
              <a:chExt cx="568325" cy="371597"/>
            </a:xfrm>
          </p:grpSpPr>
          <p:pic>
            <p:nvPicPr>
              <p:cNvPr id="23" name="Picture 4"/>
              <p:cNvPicPr>
                <a:picLocks noChangeAspect="1" noChangeArrowheads="1"/>
              </p:cNvPicPr>
              <p:nvPr/>
            </p:nvPicPr>
            <p:blipFill>
              <a:blip r:embed="rId4" cstate="print"/>
              <a:srcRect/>
              <a:stretch>
                <a:fillRect/>
              </a:stretch>
            </p:blipFill>
            <p:spPr bwMode="auto">
              <a:xfrm flipH="1">
                <a:off x="307975" y="1519116"/>
                <a:ext cx="568325" cy="371597"/>
              </a:xfrm>
              <a:prstGeom prst="rect">
                <a:avLst/>
              </a:prstGeom>
              <a:noFill/>
              <a:ln w="9525">
                <a:noFill/>
                <a:miter lim="800000"/>
                <a:headEnd/>
                <a:tailEnd/>
              </a:ln>
              <a:effectLst/>
            </p:spPr>
          </p:pic>
          <p:sp>
            <p:nvSpPr>
              <p:cNvPr id="24" name="TextBox 23"/>
              <p:cNvSpPr txBox="1"/>
              <p:nvPr/>
            </p:nvSpPr>
            <p:spPr>
              <a:xfrm flipH="1">
                <a:off x="443415" y="1555750"/>
                <a:ext cx="137858" cy="276999"/>
              </a:xfrm>
              <a:prstGeom prst="rect">
                <a:avLst/>
              </a:prstGeom>
              <a:noFill/>
            </p:spPr>
            <p:txBody>
              <a:bodyPr wrap="none" lIns="0" tIns="0" rIns="0" bIns="0" rtlCol="0">
                <a:spAutoFit/>
              </a:bodyPr>
              <a:lstStyle/>
              <a:p>
                <a:r>
                  <a:rPr lang="en-US" altLang="zh-CN" b="1" dirty="0">
                    <a:solidFill>
                      <a:srgbClr val="262626"/>
                    </a:solidFill>
                    <a:latin typeface="Segoe UI Black" pitchFamily="34" charset="0"/>
                    <a:cs typeface="Times New Roman" pitchFamily="18" charset="0"/>
                  </a:rPr>
                  <a:t>3</a:t>
                </a:r>
                <a:endParaRPr lang="zh-CN" altLang="en-US" b="1" dirty="0">
                  <a:solidFill>
                    <a:srgbClr val="262626"/>
                  </a:solidFill>
                  <a:latin typeface="Segoe UI Black" pitchFamily="34" charset="0"/>
                  <a:cs typeface="Times New Roman" pitchFamily="18" charset="0"/>
                </a:endParaRPr>
              </a:p>
            </p:txBody>
          </p:sp>
        </p:grpSp>
        <p:sp>
          <p:nvSpPr>
            <p:cNvPr id="22" name="矩形 21"/>
            <p:cNvSpPr/>
            <p:nvPr/>
          </p:nvSpPr>
          <p:spPr>
            <a:xfrm>
              <a:off x="863675" y="1517134"/>
              <a:ext cx="4187325" cy="369332"/>
            </a:xfrm>
            <a:prstGeom prst="rect">
              <a:avLst/>
            </a:prstGeom>
          </p:spPr>
          <p:txBody>
            <a:bodyPr wrap="square">
              <a:spAutoFit/>
            </a:bodyPr>
            <a:lstStyle/>
            <a:p>
              <a:r>
                <a:rPr lang="zh-CN" altLang="zh-CN" b="1" dirty="0">
                  <a:solidFill>
                    <a:schemeClr val="accent1">
                      <a:lumMod val="50000"/>
                    </a:schemeClr>
                  </a:solidFill>
                  <a:latin typeface="黑体" pitchFamily="49" charset="-122"/>
                  <a:ea typeface="黑体" pitchFamily="49" charset="-122"/>
                  <a:cs typeface="Times New Roman" pitchFamily="18" charset="0"/>
                </a:rPr>
                <a:t>门电路带其他负载时的接口问题</a:t>
              </a:r>
              <a:endParaRPr lang="zh-CN" altLang="en-US" b="1" dirty="0">
                <a:solidFill>
                  <a:schemeClr val="accent1">
                    <a:lumMod val="50000"/>
                  </a:schemeClr>
                </a:solidFill>
                <a:latin typeface="黑体" pitchFamily="49" charset="-122"/>
                <a:ea typeface="黑体" pitchFamily="49" charset="-122"/>
                <a:cs typeface="Times New Roman" pitchFamily="18" charset="0"/>
              </a:endParaRPr>
            </a:p>
          </p:txBody>
        </p:sp>
      </p:grpSp>
      <p:sp>
        <p:nvSpPr>
          <p:cNvPr id="25" name="Rectangle 7"/>
          <p:cNvSpPr>
            <a:spLocks noChangeArrowheads="1"/>
          </p:cNvSpPr>
          <p:nvPr/>
        </p:nvSpPr>
        <p:spPr bwMode="auto">
          <a:xfrm>
            <a:off x="202925" y="1256475"/>
            <a:ext cx="5505450" cy="338554"/>
          </a:xfrm>
          <a:prstGeom prst="rect">
            <a:avLst/>
          </a:prstGeom>
          <a:noFill/>
          <a:ln w="9525" algn="ctr">
            <a:noFill/>
            <a:miter lim="800000"/>
            <a:headEnd/>
            <a:tailEnd/>
          </a:ln>
        </p:spPr>
        <p:txBody>
          <a:bodyPr>
            <a:spAutoFit/>
          </a:bodyPr>
          <a:lstStyle/>
          <a:p>
            <a:r>
              <a:rPr lang="zh-CN" altLang="en-US" sz="1600" dirty="0">
                <a:solidFill>
                  <a:srgbClr val="6600FF"/>
                </a:solidFill>
                <a:latin typeface="方正粗黑宋简体" pitchFamily="2" charset="-122"/>
                <a:ea typeface="方正粗黑宋简体" pitchFamily="2" charset="-122"/>
              </a:rPr>
              <a:t>（</a:t>
            </a:r>
            <a:r>
              <a:rPr lang="en-US" altLang="zh-CN" sz="1600" dirty="0">
                <a:solidFill>
                  <a:srgbClr val="6600FF"/>
                </a:solidFill>
                <a:latin typeface="方正粗黑宋简体" pitchFamily="2" charset="-122"/>
                <a:ea typeface="方正粗黑宋简体" pitchFamily="2" charset="-122"/>
              </a:rPr>
              <a:t>1</a:t>
            </a:r>
            <a:r>
              <a:rPr lang="zh-CN" altLang="en-US" sz="1600" dirty="0">
                <a:solidFill>
                  <a:srgbClr val="6600FF"/>
                </a:solidFill>
                <a:latin typeface="方正粗黑宋简体" pitchFamily="2" charset="-122"/>
                <a:ea typeface="方正粗黑宋简体" pitchFamily="2" charset="-122"/>
              </a:rPr>
              <a:t>）门电路驱动发光二极管</a:t>
            </a:r>
          </a:p>
        </p:txBody>
      </p:sp>
      <p:graphicFrame>
        <p:nvGraphicFramePr>
          <p:cNvPr id="28" name="Object 10"/>
          <p:cNvGraphicFramePr>
            <a:graphicFrameLocks noChangeAspect="1"/>
          </p:cNvGraphicFramePr>
          <p:nvPr/>
        </p:nvGraphicFramePr>
        <p:xfrm>
          <a:off x="2099847" y="4424538"/>
          <a:ext cx="1312600" cy="689770"/>
        </p:xfrm>
        <a:graphic>
          <a:graphicData uri="http://schemas.openxmlformats.org/presentationml/2006/ole">
            <mc:AlternateContent xmlns:mc="http://schemas.openxmlformats.org/markup-compatibility/2006">
              <mc:Choice xmlns:v="urn:schemas-microsoft-com:vml" Requires="v">
                <p:oleObj spid="_x0000_s87042" name="公式" r:id="rId5" imgW="19812000" imgH="10363200" progId="">
                  <p:embed/>
                </p:oleObj>
              </mc:Choice>
              <mc:Fallback>
                <p:oleObj name="公式" r:id="rId5" imgW="19812000" imgH="10363200" progId="">
                  <p:embed/>
                  <p:pic>
                    <p:nvPicPr>
                      <p:cNvPr id="28"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99847" y="4424538"/>
                        <a:ext cx="1312600" cy="689770"/>
                      </a:xfrm>
                      <a:prstGeom prst="rect">
                        <a:avLst/>
                      </a:prstGeom>
                      <a:solidFill>
                        <a:srgbClr val="FFFFFF"/>
                      </a:solidFill>
                    </p:spPr>
                  </p:pic>
                </p:oleObj>
              </mc:Fallback>
            </mc:AlternateContent>
          </a:graphicData>
        </a:graphic>
      </p:graphicFrame>
      <p:graphicFrame>
        <p:nvGraphicFramePr>
          <p:cNvPr id="30" name="Object 11"/>
          <p:cNvGraphicFramePr>
            <a:graphicFrameLocks noChangeAspect="1"/>
          </p:cNvGraphicFramePr>
          <p:nvPr/>
        </p:nvGraphicFramePr>
        <p:xfrm>
          <a:off x="2063838" y="2432778"/>
          <a:ext cx="1888056" cy="699661"/>
        </p:xfrm>
        <a:graphic>
          <a:graphicData uri="http://schemas.openxmlformats.org/presentationml/2006/ole">
            <mc:AlternateContent xmlns:mc="http://schemas.openxmlformats.org/markup-compatibility/2006">
              <mc:Choice xmlns:v="urn:schemas-microsoft-com:vml" Requires="v">
                <p:oleObj spid="_x0000_s87043" name="公式" r:id="rId7" imgW="27736800" imgH="10363200" progId="">
                  <p:embed/>
                </p:oleObj>
              </mc:Choice>
              <mc:Fallback>
                <p:oleObj name="公式" r:id="rId7" imgW="27736800" imgH="10363200" progId="">
                  <p:embed/>
                  <p:pic>
                    <p:nvPicPr>
                      <p:cNvPr id="3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63838" y="2432778"/>
                        <a:ext cx="1888056" cy="699661"/>
                      </a:xfrm>
                      <a:prstGeom prst="rect">
                        <a:avLst/>
                      </a:prstGeom>
                      <a:solidFill>
                        <a:srgbClr val="FFFFFF"/>
                      </a:solidFill>
                    </p:spPr>
                  </p:pic>
                </p:oleObj>
              </mc:Fallback>
            </mc:AlternateContent>
          </a:graphicData>
        </a:graphic>
      </p:graphicFrame>
      <p:sp>
        <p:nvSpPr>
          <p:cNvPr id="36" name="Rectangle 12"/>
          <p:cNvSpPr>
            <a:spLocks noChangeArrowheads="1"/>
          </p:cNvSpPr>
          <p:nvPr/>
        </p:nvSpPr>
        <p:spPr bwMode="auto">
          <a:xfrm>
            <a:off x="584172" y="3796483"/>
            <a:ext cx="5233075" cy="400110"/>
          </a:xfrm>
          <a:prstGeom prst="rect">
            <a:avLst/>
          </a:prstGeom>
          <a:noFill/>
          <a:ln w="9525">
            <a:noFill/>
            <a:miter lim="800000"/>
            <a:headEnd/>
            <a:tailEnd/>
          </a:ln>
        </p:spPr>
        <p:txBody>
          <a:bodyPr wrap="square" anchor="ctr">
            <a:spAutoFit/>
          </a:bodyPr>
          <a:lstStyle/>
          <a:p>
            <a:pPr marL="266700" indent="-266700">
              <a:lnSpc>
                <a:spcPct val="125000"/>
              </a:lnSpc>
              <a:buFont typeface="Wingdings" pitchFamily="2" charset="2"/>
              <a:buChar char="Ø"/>
            </a:pPr>
            <a:r>
              <a:rPr lang="zh-CN" altLang="en-US" sz="1600" dirty="0">
                <a:latin typeface="Times New Roman" pitchFamily="18" charset="0"/>
                <a:ea typeface="黑体" pitchFamily="49" charset="-122"/>
                <a:cs typeface="Times New Roman" pitchFamily="18" charset="0"/>
              </a:rPr>
              <a:t>门电路输出为高电平时，</a:t>
            </a:r>
            <a:r>
              <a:rPr lang="en-US" altLang="zh-CN" sz="1600" dirty="0">
                <a:latin typeface="Times New Roman" pitchFamily="18" charset="0"/>
                <a:ea typeface="黑体" pitchFamily="49" charset="-122"/>
                <a:cs typeface="Times New Roman" pitchFamily="18" charset="0"/>
              </a:rPr>
              <a:t>LED</a:t>
            </a:r>
            <a:r>
              <a:rPr lang="zh-CN" altLang="en-US" sz="1600" dirty="0">
                <a:latin typeface="Times New Roman" pitchFamily="18" charset="0"/>
                <a:ea typeface="黑体" pitchFamily="49" charset="-122"/>
                <a:cs typeface="Times New Roman" pitchFamily="18" charset="0"/>
              </a:rPr>
              <a:t>发光。</a:t>
            </a:r>
            <a:endParaRPr lang="en-US" altLang="zh-CN" sz="1600" dirty="0">
              <a:latin typeface="Times New Roman" pitchFamily="18" charset="0"/>
              <a:ea typeface="黑体" pitchFamily="49" charset="-122"/>
              <a:cs typeface="Times New Roman" pitchFamily="18" charset="0"/>
            </a:endParaRPr>
          </a:p>
        </p:txBody>
      </p:sp>
      <p:sp>
        <p:nvSpPr>
          <p:cNvPr id="37" name="Rectangle 13"/>
          <p:cNvSpPr>
            <a:spLocks noChangeArrowheads="1"/>
          </p:cNvSpPr>
          <p:nvPr/>
        </p:nvSpPr>
        <p:spPr bwMode="auto">
          <a:xfrm>
            <a:off x="541325" y="1789926"/>
            <a:ext cx="5470525" cy="400110"/>
          </a:xfrm>
          <a:prstGeom prst="rect">
            <a:avLst/>
          </a:prstGeom>
          <a:noFill/>
          <a:ln w="9525" algn="ctr">
            <a:noFill/>
            <a:miter lim="800000"/>
            <a:headEnd/>
            <a:tailEnd/>
          </a:ln>
        </p:spPr>
        <p:txBody>
          <a:bodyPr anchor="ctr">
            <a:spAutoFit/>
          </a:bodyPr>
          <a:lstStyle/>
          <a:p>
            <a:pPr marL="266700" indent="-266700">
              <a:lnSpc>
                <a:spcPct val="125000"/>
              </a:lnSpc>
              <a:buFont typeface="Wingdings" pitchFamily="2" charset="2"/>
              <a:buChar char="Ø"/>
            </a:pPr>
            <a:r>
              <a:rPr lang="zh-CN" altLang="en-US" sz="1600" dirty="0">
                <a:latin typeface="Times New Roman" pitchFamily="18" charset="0"/>
                <a:ea typeface="黑体" pitchFamily="49" charset="-122"/>
                <a:cs typeface="Times New Roman" pitchFamily="18" charset="0"/>
              </a:rPr>
              <a:t>当门电路输出为低电平时，</a:t>
            </a:r>
            <a:r>
              <a:rPr lang="en-US" altLang="zh-CN" sz="1600" dirty="0">
                <a:latin typeface="Times New Roman" pitchFamily="18" charset="0"/>
                <a:ea typeface="黑体" pitchFamily="49" charset="-122"/>
                <a:cs typeface="Times New Roman" pitchFamily="18" charset="0"/>
              </a:rPr>
              <a:t>LED</a:t>
            </a:r>
            <a:r>
              <a:rPr lang="zh-CN" altLang="en-US" sz="1600" dirty="0">
                <a:latin typeface="Times New Roman" pitchFamily="18" charset="0"/>
                <a:ea typeface="黑体" pitchFamily="49" charset="-122"/>
                <a:cs typeface="Times New Roman" pitchFamily="18" charset="0"/>
              </a:rPr>
              <a:t>发光。</a:t>
            </a:r>
          </a:p>
        </p:txBody>
      </p:sp>
      <p:sp>
        <p:nvSpPr>
          <p:cNvPr id="50" name="AutoShape 134"/>
          <p:cNvSpPr>
            <a:spLocks noChangeArrowheads="1"/>
          </p:cNvSpPr>
          <p:nvPr/>
        </p:nvSpPr>
        <p:spPr bwMode="auto">
          <a:xfrm>
            <a:off x="3750444" y="3187651"/>
            <a:ext cx="1473059" cy="585470"/>
          </a:xfrm>
          <a:prstGeom prst="wedgeRoundRectCallout">
            <a:avLst>
              <a:gd name="adj1" fmla="val -75453"/>
              <a:gd name="adj2" fmla="val -87862"/>
              <a:gd name="adj3" fmla="val 16667"/>
            </a:avLst>
          </a:prstGeom>
          <a:solidFill>
            <a:srgbClr val="FFFF99"/>
          </a:solidFill>
          <a:ln w="19050">
            <a:solidFill>
              <a:srgbClr val="FF00FF"/>
            </a:solidFill>
            <a:miter lim="800000"/>
            <a:headEnd/>
            <a:tailEnd/>
          </a:ln>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r>
              <a:rPr lang="zh-CN" altLang="en-US" sz="1400" dirty="0">
                <a:solidFill>
                  <a:schemeClr val="tx1"/>
                </a:solidFill>
                <a:latin typeface="黑体" pitchFamily="49" charset="-122"/>
                <a:ea typeface="黑体" pitchFamily="49" charset="-122"/>
              </a:rPr>
              <a:t>二极管正常发光时的额定电流</a:t>
            </a:r>
            <a:endParaRPr lang="en-US" altLang="zh-CN" sz="1400" dirty="0">
              <a:solidFill>
                <a:schemeClr val="tx1"/>
              </a:solidFill>
              <a:latin typeface="黑体" pitchFamily="49" charset="-122"/>
              <a:ea typeface="黑体" pitchFamily="49" charset="-122"/>
            </a:endParaRPr>
          </a:p>
        </p:txBody>
      </p:sp>
      <p:sp>
        <p:nvSpPr>
          <p:cNvPr id="51" name="AutoShape 134"/>
          <p:cNvSpPr>
            <a:spLocks noChangeArrowheads="1"/>
          </p:cNvSpPr>
          <p:nvPr/>
        </p:nvSpPr>
        <p:spPr bwMode="auto">
          <a:xfrm>
            <a:off x="4339042" y="867694"/>
            <a:ext cx="1473059" cy="585470"/>
          </a:xfrm>
          <a:prstGeom prst="wedgeRoundRectCallout">
            <a:avLst>
              <a:gd name="adj1" fmla="val -87230"/>
              <a:gd name="adj2" fmla="val 76548"/>
              <a:gd name="adj3" fmla="val 16667"/>
            </a:avLst>
          </a:prstGeom>
          <a:solidFill>
            <a:srgbClr val="FFFF99"/>
          </a:solidFill>
          <a:ln w="19050">
            <a:solidFill>
              <a:srgbClr val="FF00FF"/>
            </a:solidFill>
            <a:miter lim="800000"/>
            <a:headEnd/>
            <a:tailEnd/>
          </a:ln>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r>
              <a:rPr lang="zh-CN" altLang="en-US" sz="1400" dirty="0">
                <a:solidFill>
                  <a:schemeClr val="tx1"/>
                </a:solidFill>
                <a:latin typeface="黑体" pitchFamily="49" charset="-122"/>
                <a:ea typeface="黑体" pitchFamily="49" charset="-122"/>
              </a:rPr>
              <a:t>二极管导通时的正向导通电压</a:t>
            </a:r>
            <a:endParaRPr lang="en-US" altLang="zh-CN" sz="1400" dirty="0">
              <a:solidFill>
                <a:schemeClr val="tx1"/>
              </a:solidFill>
              <a:latin typeface="黑体" pitchFamily="49" charset="-122"/>
              <a:ea typeface="黑体" pitchFamily="49" charset="-122"/>
            </a:endParaRPr>
          </a:p>
        </p:txBody>
      </p:sp>
      <p:grpSp>
        <p:nvGrpSpPr>
          <p:cNvPr id="55" name="组合 54"/>
          <p:cNvGrpSpPr/>
          <p:nvPr/>
        </p:nvGrpSpPr>
        <p:grpSpPr>
          <a:xfrm>
            <a:off x="6457433" y="3254056"/>
            <a:ext cx="2096340" cy="1764000"/>
            <a:chOff x="6435661" y="1159200"/>
            <a:chExt cx="2096340" cy="1764000"/>
          </a:xfrm>
        </p:grpSpPr>
        <p:graphicFrame>
          <p:nvGraphicFramePr>
            <p:cNvPr id="27" name="Object 9"/>
            <p:cNvGraphicFramePr>
              <a:graphicFrameLocks noChangeAspect="1"/>
            </p:cNvGraphicFramePr>
            <p:nvPr/>
          </p:nvGraphicFramePr>
          <p:xfrm>
            <a:off x="6533863" y="1187999"/>
            <a:ext cx="1773617" cy="1695863"/>
          </p:xfrm>
          <a:graphic>
            <a:graphicData uri="http://schemas.openxmlformats.org/presentationml/2006/ole">
              <mc:AlternateContent xmlns:mc="http://schemas.openxmlformats.org/markup-compatibility/2006">
                <mc:Choice xmlns:v="urn:schemas-microsoft-com:vml" Requires="v">
                  <p:oleObj spid="_x0000_s87044" name="图片" r:id="rId9" imgW="3190875" imgH="3162300" progId="">
                    <p:embed/>
                  </p:oleObj>
                </mc:Choice>
                <mc:Fallback>
                  <p:oleObj name="图片" r:id="rId9" imgW="3190875" imgH="3162300" progId="">
                    <p:embed/>
                    <p:pic>
                      <p:nvPicPr>
                        <p:cNvPr id="27" name="Object 9"/>
                        <p:cNvPicPr>
                          <a:picLocks noChangeAspect="1" noChangeArrowheads="1"/>
                        </p:cNvPicPr>
                        <p:nvPr/>
                      </p:nvPicPr>
                      <p:blipFill>
                        <a:blip r:embed="rId10">
                          <a:extLst>
                            <a:ext uri="{28A0092B-C50C-407E-A947-70E740481C1C}">
                              <a14:useLocalDpi xmlns:a14="http://schemas.microsoft.com/office/drawing/2010/main" val="0"/>
                            </a:ext>
                          </a:extLst>
                        </a:blip>
                        <a:srcRect t="-2499" b="-2660"/>
                        <a:stretch>
                          <a:fillRect/>
                        </a:stretch>
                      </p:blipFill>
                      <p:spPr bwMode="auto">
                        <a:xfrm>
                          <a:off x="6533863" y="1187999"/>
                          <a:ext cx="1773617" cy="1695863"/>
                        </a:xfrm>
                        <a:prstGeom prst="rect">
                          <a:avLst/>
                        </a:prstGeom>
                        <a:solidFill>
                          <a:srgbClr val="FFFFFF"/>
                        </a:solidFill>
                      </p:spPr>
                    </p:pic>
                  </p:oleObj>
                </mc:Fallback>
              </mc:AlternateContent>
            </a:graphicData>
          </a:graphic>
        </p:graphicFrame>
        <p:sp>
          <p:nvSpPr>
            <p:cNvPr id="52" name="AutoShape 7"/>
            <p:cNvSpPr>
              <a:spLocks noChangeArrowheads="1"/>
            </p:cNvSpPr>
            <p:nvPr/>
          </p:nvSpPr>
          <p:spPr bwMode="auto">
            <a:xfrm>
              <a:off x="6435661" y="1159200"/>
              <a:ext cx="2096340" cy="1764000"/>
            </a:xfrm>
            <a:prstGeom prst="roundRect">
              <a:avLst>
                <a:gd name="adj" fmla="val 3597"/>
              </a:avLst>
            </a:prstGeom>
            <a:noFill/>
            <a:ln w="19050">
              <a:solidFill>
                <a:srgbClr val="0070C0"/>
              </a:solidFill>
              <a:miter lim="800000"/>
              <a:headEnd/>
              <a:tailEnd/>
            </a:ln>
          </p:spPr>
          <p:txBody>
            <a:bodyPr wrap="none" anchor="ctr"/>
            <a:lstStyle/>
            <a:p>
              <a:endParaRPr lang="zh-CN" altLang="en-US">
                <a:solidFill>
                  <a:srgbClr val="080808"/>
                </a:solidFill>
              </a:endParaRPr>
            </a:p>
          </p:txBody>
        </p:sp>
      </p:grpSp>
      <p:grpSp>
        <p:nvGrpSpPr>
          <p:cNvPr id="54" name="组合 53"/>
          <p:cNvGrpSpPr/>
          <p:nvPr/>
        </p:nvGrpSpPr>
        <p:grpSpPr>
          <a:xfrm>
            <a:off x="6394273" y="946231"/>
            <a:ext cx="2096340" cy="1948169"/>
            <a:chOff x="6436861" y="3019831"/>
            <a:chExt cx="2096340" cy="1948169"/>
          </a:xfrm>
        </p:grpSpPr>
        <p:graphicFrame>
          <p:nvGraphicFramePr>
            <p:cNvPr id="47" name="Object 14"/>
            <p:cNvGraphicFramePr>
              <a:graphicFrameLocks noChangeAspect="1"/>
            </p:cNvGraphicFramePr>
            <p:nvPr/>
          </p:nvGraphicFramePr>
          <p:xfrm>
            <a:off x="6588001" y="3019831"/>
            <a:ext cx="1828800" cy="1872441"/>
          </p:xfrm>
          <a:graphic>
            <a:graphicData uri="http://schemas.openxmlformats.org/presentationml/2006/ole">
              <mc:AlternateContent xmlns:mc="http://schemas.openxmlformats.org/markup-compatibility/2006">
                <mc:Choice xmlns:v="urn:schemas-microsoft-com:vml" Requires="v">
                  <p:oleObj spid="_x0000_s87045" name="图片" r:id="rId11" imgW="3400425" imgH="3457575" progId="">
                    <p:embed/>
                  </p:oleObj>
                </mc:Choice>
                <mc:Fallback>
                  <p:oleObj name="图片" r:id="rId11" imgW="3400425" imgH="3457575" progId="">
                    <p:embed/>
                    <p:pic>
                      <p:nvPicPr>
                        <p:cNvPr id="47" name="Object 14"/>
                        <p:cNvPicPr>
                          <a:picLocks noChangeAspect="1" noChangeArrowheads="1"/>
                        </p:cNvPicPr>
                        <p:nvPr/>
                      </p:nvPicPr>
                      <p:blipFill>
                        <a:blip r:embed="rId12">
                          <a:extLst>
                            <a:ext uri="{28A0092B-C50C-407E-A947-70E740481C1C}">
                              <a14:useLocalDpi xmlns:a14="http://schemas.microsoft.com/office/drawing/2010/main" val="0"/>
                            </a:ext>
                          </a:extLst>
                        </a:blip>
                        <a:srcRect t="-2499"/>
                        <a:stretch>
                          <a:fillRect/>
                        </a:stretch>
                      </p:blipFill>
                      <p:spPr bwMode="auto">
                        <a:xfrm>
                          <a:off x="6588001" y="3019831"/>
                          <a:ext cx="1828800" cy="1872441"/>
                        </a:xfrm>
                        <a:prstGeom prst="rect">
                          <a:avLst/>
                        </a:prstGeom>
                        <a:solidFill>
                          <a:srgbClr val="FFFFFF"/>
                        </a:solidFill>
                      </p:spPr>
                    </p:pic>
                  </p:oleObj>
                </mc:Fallback>
              </mc:AlternateContent>
            </a:graphicData>
          </a:graphic>
        </p:graphicFrame>
        <p:sp>
          <p:nvSpPr>
            <p:cNvPr id="53" name="AutoShape 7"/>
            <p:cNvSpPr>
              <a:spLocks noChangeArrowheads="1"/>
            </p:cNvSpPr>
            <p:nvPr/>
          </p:nvSpPr>
          <p:spPr bwMode="auto">
            <a:xfrm>
              <a:off x="6436861" y="3090000"/>
              <a:ext cx="2096340" cy="1878000"/>
            </a:xfrm>
            <a:prstGeom prst="roundRect">
              <a:avLst>
                <a:gd name="adj" fmla="val 3597"/>
              </a:avLst>
            </a:prstGeom>
            <a:noFill/>
            <a:ln w="19050">
              <a:solidFill>
                <a:srgbClr val="0070C0"/>
              </a:solidFill>
              <a:miter lim="800000"/>
              <a:headEnd/>
              <a:tailEnd/>
            </a:ln>
          </p:spPr>
          <p:txBody>
            <a:bodyPr wrap="none" anchor="ctr"/>
            <a:lstStyle/>
            <a:p>
              <a:endParaRPr lang="zh-CN" altLang="en-US">
                <a:solidFill>
                  <a:srgbClr val="080808"/>
                </a:solidFill>
              </a:endParaRPr>
            </a:p>
          </p:txBody>
        </p:sp>
      </p:grpSp>
      <p:sp>
        <p:nvSpPr>
          <p:cNvPr id="29" name="AutoShape 134">
            <a:extLst>
              <a:ext uri="{FF2B5EF4-FFF2-40B4-BE49-F238E27FC236}">
                <a16:creationId xmlns:a16="http://schemas.microsoft.com/office/drawing/2014/main" id="{4296444E-EC8E-45E2-B54C-8A9B75ECCD14}"/>
              </a:ext>
            </a:extLst>
          </p:cNvPr>
          <p:cNvSpPr>
            <a:spLocks noChangeArrowheads="1"/>
          </p:cNvSpPr>
          <p:nvPr/>
        </p:nvSpPr>
        <p:spPr bwMode="auto">
          <a:xfrm>
            <a:off x="4455578" y="2489873"/>
            <a:ext cx="1252797" cy="585470"/>
          </a:xfrm>
          <a:prstGeom prst="wedgeRoundRectCallout">
            <a:avLst>
              <a:gd name="adj1" fmla="val -96112"/>
              <a:gd name="adj2" fmla="val -39520"/>
              <a:gd name="adj3" fmla="val 16667"/>
            </a:avLst>
          </a:prstGeom>
          <a:solidFill>
            <a:srgbClr val="FFFF99"/>
          </a:solidFill>
          <a:ln w="19050">
            <a:solidFill>
              <a:srgbClr val="FF00FF"/>
            </a:solidFill>
            <a:miter lim="800000"/>
            <a:headEnd/>
            <a:tailEnd/>
          </a:ln>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r>
              <a:rPr lang="zh-CN" altLang="en-US" sz="1400" dirty="0">
                <a:latin typeface="黑体" pitchFamily="49" charset="-122"/>
                <a:ea typeface="黑体" pitchFamily="49" charset="-122"/>
              </a:rPr>
              <a:t>门电路输出低电平电压</a:t>
            </a:r>
            <a:endParaRPr lang="en-US" altLang="zh-CN" sz="1400" dirty="0">
              <a:solidFill>
                <a:schemeClr val="tx1"/>
              </a:solidFill>
              <a:latin typeface="黑体" pitchFamily="49" charset="-122"/>
              <a:ea typeface="黑体" pitchFamily="49" charset="-122"/>
            </a:endParaRPr>
          </a:p>
        </p:txBody>
      </p:sp>
      <p:sp>
        <p:nvSpPr>
          <p:cNvPr id="31" name="AutoShape 134">
            <a:extLst>
              <a:ext uri="{FF2B5EF4-FFF2-40B4-BE49-F238E27FC236}">
                <a16:creationId xmlns:a16="http://schemas.microsoft.com/office/drawing/2014/main" id="{1CA35969-0AC9-454E-BFC8-ED63D8BD3A03}"/>
              </a:ext>
            </a:extLst>
          </p:cNvPr>
          <p:cNvSpPr>
            <a:spLocks noChangeArrowheads="1"/>
          </p:cNvSpPr>
          <p:nvPr/>
        </p:nvSpPr>
        <p:spPr bwMode="auto">
          <a:xfrm>
            <a:off x="3676195" y="4749384"/>
            <a:ext cx="1252797" cy="585470"/>
          </a:xfrm>
          <a:prstGeom prst="wedgeRoundRectCallout">
            <a:avLst>
              <a:gd name="adj1" fmla="val -99404"/>
              <a:gd name="adj2" fmla="val -55895"/>
              <a:gd name="adj3" fmla="val 16667"/>
            </a:avLst>
          </a:prstGeom>
          <a:solidFill>
            <a:srgbClr val="FFFF99"/>
          </a:solidFill>
          <a:ln w="19050">
            <a:solidFill>
              <a:srgbClr val="FF00FF"/>
            </a:solidFill>
            <a:miter lim="800000"/>
            <a:headEnd/>
            <a:tailEnd/>
          </a:ln>
          <a:effectLst/>
          <a:scene3d>
            <a:camera prst="orthographicFront">
              <a:rot lat="0" lon="0" rev="0"/>
            </a:camera>
            <a:lightRig rig="contrasting" dir="t">
              <a:rot lat="0" lon="0" rev="1500000"/>
            </a:lightRig>
          </a:scene3d>
          <a:sp3d prstMaterial="metal">
            <a:bevelT w="88900" h="88900"/>
          </a:sp3d>
        </p:spPr>
        <p:txBody>
          <a:bodyPr lIns="0" tIns="0" rIns="0" bIns="0" anchor="ctr"/>
          <a:lstStyle/>
          <a:p>
            <a:pPr algn="ctr"/>
            <a:r>
              <a:rPr lang="zh-CN" altLang="en-US" sz="1400" dirty="0">
                <a:latin typeface="黑体" pitchFamily="49" charset="-122"/>
                <a:ea typeface="黑体" pitchFamily="49" charset="-122"/>
              </a:rPr>
              <a:t>门电路输出高电平电压</a:t>
            </a:r>
            <a:endParaRPr lang="en-US" altLang="zh-CN" sz="1400" dirty="0">
              <a:solidFill>
                <a:schemeClr val="tx1"/>
              </a:solidFill>
              <a:latin typeface="黑体" pitchFamily="49" charset="-122"/>
              <a:ea typeface="黑体" pitchFamily="49" charset="-122"/>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2" presetClass="entr" presetSubtype="4"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slide(fromBottom)">
                                      <p:cBhvr>
                                        <p:cTn id="11" dur="1000"/>
                                        <p:tgtEl>
                                          <p:spTgt spid="25"/>
                                        </p:tgtEl>
                                      </p:cBhvr>
                                    </p:animEffect>
                                  </p:childTnLst>
                                </p:cTn>
                              </p:par>
                            </p:childTnLst>
                          </p:cTn>
                        </p:par>
                        <p:par>
                          <p:cTn id="12" fill="hold">
                            <p:stCondLst>
                              <p:cond delay="1000"/>
                            </p:stCondLst>
                            <p:childTnLst>
                              <p:par>
                                <p:cTn id="13" presetID="12" presetClass="entr" presetSubtype="2" fill="hold" nodeType="afterEffect">
                                  <p:stCondLst>
                                    <p:cond delay="0"/>
                                  </p:stCondLst>
                                  <p:childTnLst>
                                    <p:set>
                                      <p:cBhvr>
                                        <p:cTn id="14" dur="1" fill="hold">
                                          <p:stCondLst>
                                            <p:cond delay="0"/>
                                          </p:stCondLst>
                                        </p:cTn>
                                        <p:tgtEl>
                                          <p:spTgt spid="54"/>
                                        </p:tgtEl>
                                        <p:attrNameLst>
                                          <p:attrName>style.visibility</p:attrName>
                                        </p:attrNameLst>
                                      </p:cBhvr>
                                      <p:to>
                                        <p:strVal val="visible"/>
                                      </p:to>
                                    </p:set>
                                    <p:animEffect transition="in" filter="slide(fromRight)">
                                      <p:cBhvr>
                                        <p:cTn id="15" dur="1000"/>
                                        <p:tgtEl>
                                          <p:spTgt spid="54"/>
                                        </p:tgtEl>
                                      </p:cBhvr>
                                    </p:animEffect>
                                  </p:childTnLst>
                                </p:cTn>
                              </p:par>
                            </p:childTnLst>
                          </p:cTn>
                        </p:par>
                        <p:par>
                          <p:cTn id="16" fill="hold">
                            <p:stCondLst>
                              <p:cond delay="2000"/>
                            </p:stCondLst>
                            <p:childTnLst>
                              <p:par>
                                <p:cTn id="17" presetID="12" presetClass="entr" presetSubtype="2" fill="hold" nodeType="afterEffect">
                                  <p:stCondLst>
                                    <p:cond delay="0"/>
                                  </p:stCondLst>
                                  <p:childTnLst>
                                    <p:set>
                                      <p:cBhvr>
                                        <p:cTn id="18" dur="1" fill="hold">
                                          <p:stCondLst>
                                            <p:cond delay="0"/>
                                          </p:stCondLst>
                                        </p:cTn>
                                        <p:tgtEl>
                                          <p:spTgt spid="55"/>
                                        </p:tgtEl>
                                        <p:attrNameLst>
                                          <p:attrName>style.visibility</p:attrName>
                                        </p:attrNameLst>
                                      </p:cBhvr>
                                      <p:to>
                                        <p:strVal val="visible"/>
                                      </p:to>
                                    </p:set>
                                    <p:animEffect transition="in" filter="slide(fromRight)">
                                      <p:cBhvr>
                                        <p:cTn id="19" dur="1000"/>
                                        <p:tgtEl>
                                          <p:spTgt spid="55"/>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grpId="0" nodeType="clickEffect">
                                  <p:stCondLst>
                                    <p:cond delay="0"/>
                                  </p:stCondLst>
                                  <p:childTnLst>
                                    <p:set>
                                      <p:cBhvr>
                                        <p:cTn id="23" dur="1" fill="hold">
                                          <p:stCondLst>
                                            <p:cond delay="0"/>
                                          </p:stCondLst>
                                        </p:cTn>
                                        <p:tgtEl>
                                          <p:spTgt spid="37"/>
                                        </p:tgtEl>
                                        <p:attrNameLst>
                                          <p:attrName>style.visibility</p:attrName>
                                        </p:attrNameLst>
                                      </p:cBhvr>
                                      <p:to>
                                        <p:strVal val="visible"/>
                                      </p:to>
                                    </p:set>
                                    <p:animEffect transition="in" filter="slide(fromBottom)">
                                      <p:cBhvr>
                                        <p:cTn id="24" dur="1000"/>
                                        <p:tgtEl>
                                          <p:spTgt spid="37"/>
                                        </p:tgtEl>
                                      </p:cBhvr>
                                    </p:animEffect>
                                  </p:childTnLst>
                                </p:cTn>
                              </p:par>
                            </p:childTnLst>
                          </p:cTn>
                        </p:par>
                        <p:par>
                          <p:cTn id="25" fill="hold">
                            <p:stCondLst>
                              <p:cond delay="2000"/>
                            </p:stCondLst>
                            <p:childTnLst>
                              <p:par>
                                <p:cTn id="26" presetID="12" presetClass="entr" presetSubtype="4" fill="hold" nodeType="after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slide(fromBottom)">
                                      <p:cBhvr>
                                        <p:cTn id="28" dur="1000"/>
                                        <p:tgtEl>
                                          <p:spTgt spid="3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wipe(left)">
                                      <p:cBhvr>
                                        <p:cTn id="33" dur="1000"/>
                                        <p:tgtEl>
                                          <p:spTgt spid="29"/>
                                        </p:tgtEl>
                                      </p:cBhvr>
                                    </p:animEffect>
                                  </p:childTnLst>
                                </p:cTn>
                              </p:par>
                            </p:childTnLst>
                          </p:cTn>
                        </p:par>
                        <p:par>
                          <p:cTn id="34" fill="hold">
                            <p:stCondLst>
                              <p:cond delay="1000"/>
                            </p:stCondLst>
                            <p:childTnLst>
                              <p:par>
                                <p:cTn id="35" presetID="22" presetClass="entr" presetSubtype="8" fill="hold" grpId="0" nodeType="afterEffect">
                                  <p:stCondLst>
                                    <p:cond delay="0"/>
                                  </p:stCondLst>
                                  <p:childTnLst>
                                    <p:set>
                                      <p:cBhvr>
                                        <p:cTn id="36" dur="1" fill="hold">
                                          <p:stCondLst>
                                            <p:cond delay="0"/>
                                          </p:stCondLst>
                                        </p:cTn>
                                        <p:tgtEl>
                                          <p:spTgt spid="51"/>
                                        </p:tgtEl>
                                        <p:attrNameLst>
                                          <p:attrName>style.visibility</p:attrName>
                                        </p:attrNameLst>
                                      </p:cBhvr>
                                      <p:to>
                                        <p:strVal val="visible"/>
                                      </p:to>
                                    </p:set>
                                    <p:animEffect transition="in" filter="wipe(left)">
                                      <p:cBhvr>
                                        <p:cTn id="37" dur="1000"/>
                                        <p:tgtEl>
                                          <p:spTgt spid="51"/>
                                        </p:tgtEl>
                                      </p:cBhvr>
                                    </p:animEffect>
                                  </p:childTnLst>
                                </p:cTn>
                              </p:par>
                            </p:childTnLst>
                          </p:cTn>
                        </p:par>
                        <p:par>
                          <p:cTn id="38" fill="hold">
                            <p:stCondLst>
                              <p:cond delay="2000"/>
                            </p:stCondLst>
                            <p:childTnLst>
                              <p:par>
                                <p:cTn id="39" presetID="22" presetClass="entr" presetSubtype="8" fill="hold" grpId="0" nodeType="afterEffect">
                                  <p:stCondLst>
                                    <p:cond delay="0"/>
                                  </p:stCondLst>
                                  <p:childTnLst>
                                    <p:set>
                                      <p:cBhvr>
                                        <p:cTn id="40" dur="1" fill="hold">
                                          <p:stCondLst>
                                            <p:cond delay="0"/>
                                          </p:stCondLst>
                                        </p:cTn>
                                        <p:tgtEl>
                                          <p:spTgt spid="50"/>
                                        </p:tgtEl>
                                        <p:attrNameLst>
                                          <p:attrName>style.visibility</p:attrName>
                                        </p:attrNameLst>
                                      </p:cBhvr>
                                      <p:to>
                                        <p:strVal val="visible"/>
                                      </p:to>
                                    </p:set>
                                    <p:animEffect transition="in" filter="wipe(left)">
                                      <p:cBhvr>
                                        <p:cTn id="41" dur="1000"/>
                                        <p:tgtEl>
                                          <p:spTgt spid="50"/>
                                        </p:tgtEl>
                                      </p:cBhvr>
                                    </p:animEffect>
                                  </p:childTnLst>
                                </p:cTn>
                              </p:par>
                            </p:childTnLst>
                          </p:cTn>
                        </p:par>
                      </p:childTnLst>
                    </p:cTn>
                  </p:par>
                  <p:par>
                    <p:cTn id="42" fill="hold">
                      <p:stCondLst>
                        <p:cond delay="indefinite"/>
                      </p:stCondLst>
                      <p:childTnLst>
                        <p:par>
                          <p:cTn id="43" fill="hold">
                            <p:stCondLst>
                              <p:cond delay="0"/>
                            </p:stCondLst>
                            <p:childTnLst>
                              <p:par>
                                <p:cTn id="44" presetID="12" presetClass="entr" presetSubtype="4" fill="hold" grpId="0" nodeType="clickEffect">
                                  <p:stCondLst>
                                    <p:cond delay="0"/>
                                  </p:stCondLst>
                                  <p:childTnLst>
                                    <p:set>
                                      <p:cBhvr>
                                        <p:cTn id="45" dur="1" fill="hold">
                                          <p:stCondLst>
                                            <p:cond delay="0"/>
                                          </p:stCondLst>
                                        </p:cTn>
                                        <p:tgtEl>
                                          <p:spTgt spid="36"/>
                                        </p:tgtEl>
                                        <p:attrNameLst>
                                          <p:attrName>style.visibility</p:attrName>
                                        </p:attrNameLst>
                                      </p:cBhvr>
                                      <p:to>
                                        <p:strVal val="visible"/>
                                      </p:to>
                                    </p:set>
                                    <p:animEffect transition="in" filter="slide(fromBottom)">
                                      <p:cBhvr>
                                        <p:cTn id="46" dur="1000"/>
                                        <p:tgtEl>
                                          <p:spTgt spid="36"/>
                                        </p:tgtEl>
                                      </p:cBhvr>
                                    </p:animEffect>
                                  </p:childTnLst>
                                </p:cTn>
                              </p:par>
                            </p:childTnLst>
                          </p:cTn>
                        </p:par>
                        <p:par>
                          <p:cTn id="47" fill="hold">
                            <p:stCondLst>
                              <p:cond delay="1000"/>
                            </p:stCondLst>
                            <p:childTnLst>
                              <p:par>
                                <p:cTn id="48" presetID="12" presetClass="entr" presetSubtype="4" fill="hold" nodeType="after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slide(fromBottom)">
                                      <p:cBhvr>
                                        <p:cTn id="50" dur="1000"/>
                                        <p:tgtEl>
                                          <p:spTgt spid="28"/>
                                        </p:tgtEl>
                                      </p:cBhvr>
                                    </p:animEffect>
                                  </p:childTnLst>
                                </p:cTn>
                              </p:par>
                            </p:childTnLst>
                          </p:cTn>
                        </p:par>
                        <p:par>
                          <p:cTn id="51" fill="hold">
                            <p:stCondLst>
                              <p:cond delay="2000"/>
                            </p:stCondLst>
                            <p:childTnLst>
                              <p:par>
                                <p:cTn id="52" presetID="22" presetClass="entr" presetSubtype="8" fill="hold" grpId="0" nodeType="afterEffect">
                                  <p:stCondLst>
                                    <p:cond delay="0"/>
                                  </p:stCondLst>
                                  <p:childTnLst>
                                    <p:set>
                                      <p:cBhvr>
                                        <p:cTn id="53" dur="1" fill="hold">
                                          <p:stCondLst>
                                            <p:cond delay="0"/>
                                          </p:stCondLst>
                                        </p:cTn>
                                        <p:tgtEl>
                                          <p:spTgt spid="31"/>
                                        </p:tgtEl>
                                        <p:attrNameLst>
                                          <p:attrName>style.visibility</p:attrName>
                                        </p:attrNameLst>
                                      </p:cBhvr>
                                      <p:to>
                                        <p:strVal val="visible"/>
                                      </p:to>
                                    </p:set>
                                    <p:animEffect transition="in" filter="wipe(left)">
                                      <p:cBhvr>
                                        <p:cTn id="54" dur="10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36" grpId="0"/>
      <p:bldP spid="37" grpId="0"/>
      <p:bldP spid="50" grpId="0" animBg="1"/>
      <p:bldP spid="51" grpId="0" animBg="1"/>
      <p:bldP spid="29" grpId="0" animBg="1"/>
      <p:bldP spid="31"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282575" y="724654"/>
            <a:ext cx="4743025" cy="373579"/>
            <a:chOff x="307975" y="1517134"/>
            <a:chExt cx="4743025" cy="373579"/>
          </a:xfrm>
        </p:grpSpPr>
        <p:grpSp>
          <p:nvGrpSpPr>
            <p:cNvPr id="21" name="组合 32"/>
            <p:cNvGrpSpPr/>
            <p:nvPr/>
          </p:nvGrpSpPr>
          <p:grpSpPr>
            <a:xfrm>
              <a:off x="307975" y="1519116"/>
              <a:ext cx="568325" cy="371597"/>
              <a:chOff x="307975" y="1519116"/>
              <a:chExt cx="568325" cy="371597"/>
            </a:xfrm>
          </p:grpSpPr>
          <p:pic>
            <p:nvPicPr>
              <p:cNvPr id="23" name="Picture 4"/>
              <p:cNvPicPr>
                <a:picLocks noChangeAspect="1" noChangeArrowheads="1"/>
              </p:cNvPicPr>
              <p:nvPr/>
            </p:nvPicPr>
            <p:blipFill>
              <a:blip r:embed="rId4" cstate="print"/>
              <a:srcRect/>
              <a:stretch>
                <a:fillRect/>
              </a:stretch>
            </p:blipFill>
            <p:spPr bwMode="auto">
              <a:xfrm flipH="1">
                <a:off x="307975" y="1519116"/>
                <a:ext cx="568325" cy="371597"/>
              </a:xfrm>
              <a:prstGeom prst="rect">
                <a:avLst/>
              </a:prstGeom>
              <a:noFill/>
              <a:ln w="9525">
                <a:noFill/>
                <a:miter lim="800000"/>
                <a:headEnd/>
                <a:tailEnd/>
              </a:ln>
              <a:effectLst/>
            </p:spPr>
          </p:pic>
          <p:sp>
            <p:nvSpPr>
              <p:cNvPr id="24" name="TextBox 23"/>
              <p:cNvSpPr txBox="1"/>
              <p:nvPr/>
            </p:nvSpPr>
            <p:spPr>
              <a:xfrm flipH="1">
                <a:off x="443415" y="1555750"/>
                <a:ext cx="137858" cy="276999"/>
              </a:xfrm>
              <a:prstGeom prst="rect">
                <a:avLst/>
              </a:prstGeom>
              <a:noFill/>
            </p:spPr>
            <p:txBody>
              <a:bodyPr wrap="none" lIns="0" tIns="0" rIns="0" bIns="0" rtlCol="0">
                <a:spAutoFit/>
              </a:bodyPr>
              <a:lstStyle/>
              <a:p>
                <a:r>
                  <a:rPr lang="en-US" altLang="zh-CN" b="1" dirty="0">
                    <a:solidFill>
                      <a:srgbClr val="262626"/>
                    </a:solidFill>
                    <a:latin typeface="Segoe UI Black" pitchFamily="34" charset="0"/>
                    <a:cs typeface="Times New Roman" pitchFamily="18" charset="0"/>
                  </a:rPr>
                  <a:t>3</a:t>
                </a:r>
                <a:endParaRPr lang="zh-CN" altLang="en-US" b="1" dirty="0">
                  <a:solidFill>
                    <a:srgbClr val="262626"/>
                  </a:solidFill>
                  <a:latin typeface="Segoe UI Black" pitchFamily="34" charset="0"/>
                  <a:cs typeface="Times New Roman" pitchFamily="18" charset="0"/>
                </a:endParaRPr>
              </a:p>
            </p:txBody>
          </p:sp>
        </p:grpSp>
        <p:sp>
          <p:nvSpPr>
            <p:cNvPr id="22" name="矩形 21"/>
            <p:cNvSpPr/>
            <p:nvPr/>
          </p:nvSpPr>
          <p:spPr>
            <a:xfrm>
              <a:off x="863675" y="1517134"/>
              <a:ext cx="4187325" cy="369332"/>
            </a:xfrm>
            <a:prstGeom prst="rect">
              <a:avLst/>
            </a:prstGeom>
          </p:spPr>
          <p:txBody>
            <a:bodyPr wrap="square">
              <a:spAutoFit/>
            </a:bodyPr>
            <a:lstStyle/>
            <a:p>
              <a:r>
                <a:rPr lang="zh-CN" altLang="zh-CN" b="1" dirty="0">
                  <a:solidFill>
                    <a:schemeClr val="accent1">
                      <a:lumMod val="50000"/>
                    </a:schemeClr>
                  </a:solidFill>
                  <a:latin typeface="黑体" pitchFamily="49" charset="-122"/>
                  <a:ea typeface="黑体" pitchFamily="49" charset="-122"/>
                  <a:cs typeface="Times New Roman" pitchFamily="18" charset="0"/>
                </a:rPr>
                <a:t>门电路带其他负载时的接口问题</a:t>
              </a:r>
              <a:endParaRPr lang="zh-CN" altLang="en-US" b="1" dirty="0">
                <a:solidFill>
                  <a:schemeClr val="accent1">
                    <a:lumMod val="50000"/>
                  </a:schemeClr>
                </a:solidFill>
                <a:latin typeface="黑体" pitchFamily="49" charset="-122"/>
                <a:ea typeface="黑体" pitchFamily="49" charset="-122"/>
                <a:cs typeface="Times New Roman" pitchFamily="18" charset="0"/>
              </a:endParaRPr>
            </a:p>
          </p:txBody>
        </p:sp>
      </p:grpSp>
      <p:sp>
        <p:nvSpPr>
          <p:cNvPr id="25" name="Rectangle 7"/>
          <p:cNvSpPr>
            <a:spLocks noChangeArrowheads="1"/>
          </p:cNvSpPr>
          <p:nvPr/>
        </p:nvSpPr>
        <p:spPr bwMode="auto">
          <a:xfrm>
            <a:off x="202925" y="1256475"/>
            <a:ext cx="5505450" cy="338554"/>
          </a:xfrm>
          <a:prstGeom prst="rect">
            <a:avLst/>
          </a:prstGeom>
          <a:noFill/>
          <a:ln w="9525" algn="ctr">
            <a:noFill/>
            <a:miter lim="800000"/>
            <a:headEnd/>
            <a:tailEnd/>
          </a:ln>
        </p:spPr>
        <p:txBody>
          <a:bodyPr>
            <a:spAutoFit/>
          </a:bodyPr>
          <a:lstStyle/>
          <a:p>
            <a:r>
              <a:rPr lang="zh-CN" altLang="en-US" sz="1600" dirty="0">
                <a:solidFill>
                  <a:srgbClr val="6600FF"/>
                </a:solidFill>
                <a:latin typeface="方正粗黑宋简体" pitchFamily="2" charset="-122"/>
                <a:ea typeface="方正粗黑宋简体" pitchFamily="2" charset="-122"/>
              </a:rPr>
              <a:t>（</a:t>
            </a:r>
            <a:r>
              <a:rPr lang="en-US" altLang="zh-CN" sz="1600" dirty="0">
                <a:solidFill>
                  <a:srgbClr val="6600FF"/>
                </a:solidFill>
                <a:latin typeface="方正粗黑宋简体" pitchFamily="2" charset="-122"/>
                <a:ea typeface="方正粗黑宋简体" pitchFamily="2" charset="-122"/>
              </a:rPr>
              <a:t>2</a:t>
            </a:r>
            <a:r>
              <a:rPr lang="zh-CN" altLang="en-US" sz="1600" dirty="0">
                <a:solidFill>
                  <a:srgbClr val="6600FF"/>
                </a:solidFill>
                <a:latin typeface="方正粗黑宋简体" pitchFamily="2" charset="-122"/>
                <a:ea typeface="方正粗黑宋简体" pitchFamily="2" charset="-122"/>
              </a:rPr>
              <a:t>）门电路驱动机电性负载</a:t>
            </a:r>
          </a:p>
        </p:txBody>
      </p:sp>
      <p:grpSp>
        <p:nvGrpSpPr>
          <p:cNvPr id="6" name="组合 5">
            <a:extLst>
              <a:ext uri="{FF2B5EF4-FFF2-40B4-BE49-F238E27FC236}">
                <a16:creationId xmlns:a16="http://schemas.microsoft.com/office/drawing/2014/main" id="{A9E628A7-7757-48BF-BF4E-EBFBA9393473}"/>
              </a:ext>
            </a:extLst>
          </p:cNvPr>
          <p:cNvGrpSpPr/>
          <p:nvPr/>
        </p:nvGrpSpPr>
        <p:grpSpPr>
          <a:xfrm>
            <a:off x="1111367" y="1991615"/>
            <a:ext cx="6023225" cy="2492957"/>
            <a:chOff x="1111367" y="1991615"/>
            <a:chExt cx="6023225" cy="2492957"/>
          </a:xfrm>
        </p:grpSpPr>
        <p:grpSp>
          <p:nvGrpSpPr>
            <p:cNvPr id="4" name="组合 3">
              <a:extLst>
                <a:ext uri="{FF2B5EF4-FFF2-40B4-BE49-F238E27FC236}">
                  <a16:creationId xmlns:a16="http://schemas.microsoft.com/office/drawing/2014/main" id="{18E1C200-5D93-4B0D-9B14-9BCA40144FFE}"/>
                </a:ext>
              </a:extLst>
            </p:cNvPr>
            <p:cNvGrpSpPr/>
            <p:nvPr/>
          </p:nvGrpSpPr>
          <p:grpSpPr>
            <a:xfrm>
              <a:off x="1111367" y="1991615"/>
              <a:ext cx="6023225" cy="2096371"/>
              <a:chOff x="1111367" y="1991615"/>
              <a:chExt cx="6023225" cy="2096371"/>
            </a:xfrm>
          </p:grpSpPr>
          <p:sp>
            <p:nvSpPr>
              <p:cNvPr id="52" name="AutoShape 7"/>
              <p:cNvSpPr>
                <a:spLocks noChangeArrowheads="1"/>
              </p:cNvSpPr>
              <p:nvPr/>
            </p:nvSpPr>
            <p:spPr bwMode="auto">
              <a:xfrm>
                <a:off x="1111367" y="1991615"/>
                <a:ext cx="3264689" cy="2096371"/>
              </a:xfrm>
              <a:prstGeom prst="roundRect">
                <a:avLst>
                  <a:gd name="adj" fmla="val 3597"/>
                </a:avLst>
              </a:prstGeom>
              <a:noFill/>
              <a:ln w="19050">
                <a:solidFill>
                  <a:srgbClr val="0070C0"/>
                </a:solidFill>
                <a:miter lim="800000"/>
                <a:headEnd/>
                <a:tailEnd/>
              </a:ln>
            </p:spPr>
            <p:txBody>
              <a:bodyPr wrap="none" anchor="ctr"/>
              <a:lstStyle/>
              <a:p>
                <a:endParaRPr lang="zh-CN" altLang="en-US">
                  <a:solidFill>
                    <a:srgbClr val="080808"/>
                  </a:solidFill>
                </a:endParaRPr>
              </a:p>
            </p:txBody>
          </p:sp>
          <p:sp>
            <p:nvSpPr>
              <p:cNvPr id="53" name="AutoShape 7"/>
              <p:cNvSpPr>
                <a:spLocks noChangeArrowheads="1"/>
              </p:cNvSpPr>
              <p:nvPr/>
            </p:nvSpPr>
            <p:spPr bwMode="auto">
              <a:xfrm>
                <a:off x="4651603" y="1991615"/>
                <a:ext cx="2482989" cy="2096371"/>
              </a:xfrm>
              <a:prstGeom prst="roundRect">
                <a:avLst>
                  <a:gd name="adj" fmla="val 3597"/>
                </a:avLst>
              </a:prstGeom>
              <a:noFill/>
              <a:ln w="19050">
                <a:solidFill>
                  <a:srgbClr val="0070C0"/>
                </a:solidFill>
                <a:miter lim="800000"/>
                <a:headEnd/>
                <a:tailEnd/>
              </a:ln>
            </p:spPr>
            <p:txBody>
              <a:bodyPr wrap="none" anchor="ctr"/>
              <a:lstStyle/>
              <a:p>
                <a:endParaRPr lang="zh-CN" altLang="en-US">
                  <a:solidFill>
                    <a:srgbClr val="080808"/>
                  </a:solidFill>
                </a:endParaRPr>
              </a:p>
            </p:txBody>
          </p:sp>
          <p:graphicFrame>
            <p:nvGraphicFramePr>
              <p:cNvPr id="3" name="对象 2">
                <a:extLst>
                  <a:ext uri="{FF2B5EF4-FFF2-40B4-BE49-F238E27FC236}">
                    <a16:creationId xmlns:a16="http://schemas.microsoft.com/office/drawing/2014/main" id="{2D8DE4A3-E1A8-4AB7-912C-B1E7F792C2C2}"/>
                  </a:ext>
                </a:extLst>
              </p:cNvPr>
              <p:cNvGraphicFramePr>
                <a:graphicFrameLocks noChangeAspect="1"/>
              </p:cNvGraphicFramePr>
              <p:nvPr/>
            </p:nvGraphicFramePr>
            <p:xfrm>
              <a:off x="1126671" y="2107081"/>
              <a:ext cx="5992619" cy="1762535"/>
            </p:xfrm>
            <a:graphic>
              <a:graphicData uri="http://schemas.openxmlformats.org/presentationml/2006/ole">
                <mc:AlternateContent xmlns:mc="http://schemas.openxmlformats.org/markup-compatibility/2006">
                  <mc:Choice xmlns:v="urn:schemas-microsoft-com:vml" Requires="v">
                    <p:oleObj spid="_x0000_s88066" name="Visio" r:id="rId5" imgW="2826034" imgH="835864" progId="">
                      <p:embed/>
                    </p:oleObj>
                  </mc:Choice>
                  <mc:Fallback>
                    <p:oleObj name="Visio" r:id="rId5" imgW="2826034" imgH="835864" progId="">
                      <p:embed/>
                      <p:pic>
                        <p:nvPicPr>
                          <p:cNvPr id="3" name="对象 2">
                            <a:extLst>
                              <a:ext uri="{FF2B5EF4-FFF2-40B4-BE49-F238E27FC236}">
                                <a16:creationId xmlns:a16="http://schemas.microsoft.com/office/drawing/2014/main" id="{2D8DE4A3-E1A8-4AB7-912C-B1E7F792C2C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26671" y="2107081"/>
                            <a:ext cx="5992619" cy="17625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6" name="文本框 25">
              <a:extLst>
                <a:ext uri="{FF2B5EF4-FFF2-40B4-BE49-F238E27FC236}">
                  <a16:creationId xmlns:a16="http://schemas.microsoft.com/office/drawing/2014/main" id="{9D684816-B419-4D81-BFA0-AE60F3663F2D}"/>
                </a:ext>
              </a:extLst>
            </p:cNvPr>
            <p:cNvSpPr txBox="1"/>
            <p:nvPr/>
          </p:nvSpPr>
          <p:spPr>
            <a:xfrm>
              <a:off x="1902421" y="4176795"/>
              <a:ext cx="5230586" cy="307777"/>
            </a:xfrm>
            <a:prstGeom prst="rect">
              <a:avLst/>
            </a:prstGeom>
            <a:noFill/>
          </p:spPr>
          <p:txBody>
            <a:bodyPr wrap="square">
              <a:spAutoFit/>
            </a:bodyPr>
            <a:lstStyle/>
            <a:p>
              <a:r>
                <a:rPr lang="zh-CN" altLang="zh-CN" sz="1400" dirty="0">
                  <a:effectLst/>
                  <a:latin typeface="等线" panose="02010600030101010101" pitchFamily="2" charset="-122"/>
                  <a:ea typeface="黑体" panose="02010609060101010101" pitchFamily="49" charset="-122"/>
                  <a:cs typeface="Times New Roman" panose="02020603050405020304" pitchFamily="18" charset="0"/>
                </a:rPr>
                <a:t>门电路并联使用</a:t>
              </a:r>
              <a:r>
                <a:rPr lang="en-US" altLang="zh-CN" sz="1400" dirty="0">
                  <a:effectLst/>
                  <a:latin typeface="等线" panose="02010600030101010101" pitchFamily="2" charset="-122"/>
                  <a:ea typeface="黑体" panose="02010609060101010101" pitchFamily="49" charset="-122"/>
                  <a:cs typeface="Times New Roman" panose="02020603050405020304" pitchFamily="18" charset="0"/>
                </a:rPr>
                <a:t>                          </a:t>
              </a:r>
              <a:r>
                <a:rPr lang="zh-CN" altLang="zh-CN" sz="1400" dirty="0">
                  <a:effectLst/>
                  <a:latin typeface="等线" panose="02010600030101010101" pitchFamily="2" charset="-122"/>
                  <a:ea typeface="黑体" panose="02010609060101010101" pitchFamily="49" charset="-122"/>
                  <a:cs typeface="Times New Roman" panose="02020603050405020304" pitchFamily="18" charset="0"/>
                </a:rPr>
                <a:t>加晶体管驱动</a:t>
              </a:r>
              <a:endParaRPr lang="zh-CN" altLang="en-US" sz="1400" dirty="0"/>
            </a:p>
          </p:txBody>
        </p:sp>
      </p:grpSp>
    </p:spTree>
    <p:extLst>
      <p:ext uri="{BB962C8B-B14F-4D97-AF65-F5344CB8AC3E}">
        <p14:creationId xmlns:p14="http://schemas.microsoft.com/office/powerpoint/2010/main" val="551022489"/>
      </p:ext>
    </p:extLst>
  </p:cSld>
  <p:clrMapOvr>
    <a:masterClrMapping/>
  </p:clrMapOvr>
  <p:transition spd="slow">
    <p:push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slide(fromBottom)">
                                      <p:cBhvr>
                                        <p:cTn id="7" dur="1000"/>
                                        <p:tgtEl>
                                          <p:spTgt spid="25"/>
                                        </p:tgtEl>
                                      </p:cBhvr>
                                    </p:animEffect>
                                  </p:childTnLst>
                                </p:cTn>
                              </p:par>
                            </p:childTnLst>
                          </p:cTn>
                        </p:par>
                        <p:par>
                          <p:cTn id="8" fill="hold">
                            <p:stCondLst>
                              <p:cond delay="1000"/>
                            </p:stCondLst>
                            <p:childTnLst>
                              <p:par>
                                <p:cTn id="9" presetID="12" presetClass="entr" presetSubtype="4"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slide(fromBottom)">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组合 45"/>
          <p:cNvGrpSpPr/>
          <p:nvPr/>
        </p:nvGrpSpPr>
        <p:grpSpPr>
          <a:xfrm>
            <a:off x="282575" y="724654"/>
            <a:ext cx="3612625" cy="373579"/>
            <a:chOff x="307975" y="1517134"/>
            <a:chExt cx="3612625" cy="373579"/>
          </a:xfrm>
        </p:grpSpPr>
        <p:grpSp>
          <p:nvGrpSpPr>
            <p:cNvPr id="47" name="组合 32"/>
            <p:cNvGrpSpPr/>
            <p:nvPr/>
          </p:nvGrpSpPr>
          <p:grpSpPr>
            <a:xfrm>
              <a:off x="307975" y="1519116"/>
              <a:ext cx="568325" cy="371597"/>
              <a:chOff x="307975" y="1519116"/>
              <a:chExt cx="568325" cy="371597"/>
            </a:xfrm>
          </p:grpSpPr>
          <p:pic>
            <p:nvPicPr>
              <p:cNvPr id="49" name="Picture 4"/>
              <p:cNvPicPr>
                <a:picLocks noChangeAspect="1" noChangeArrowheads="1"/>
              </p:cNvPicPr>
              <p:nvPr/>
            </p:nvPicPr>
            <p:blipFill>
              <a:blip r:embed="rId4" cstate="print"/>
              <a:srcRect/>
              <a:stretch>
                <a:fillRect/>
              </a:stretch>
            </p:blipFill>
            <p:spPr bwMode="auto">
              <a:xfrm flipH="1">
                <a:off x="307975" y="1519116"/>
                <a:ext cx="568325" cy="371597"/>
              </a:xfrm>
              <a:prstGeom prst="rect">
                <a:avLst/>
              </a:prstGeom>
              <a:noFill/>
              <a:ln w="9525">
                <a:noFill/>
                <a:miter lim="800000"/>
                <a:headEnd/>
                <a:tailEnd/>
              </a:ln>
              <a:effectLst/>
            </p:spPr>
          </p:pic>
          <p:sp>
            <p:nvSpPr>
              <p:cNvPr id="50" name="TextBox 49"/>
              <p:cNvSpPr txBox="1"/>
              <p:nvPr/>
            </p:nvSpPr>
            <p:spPr>
              <a:xfrm flipH="1">
                <a:off x="443415" y="1555750"/>
                <a:ext cx="142668" cy="276999"/>
              </a:xfrm>
              <a:prstGeom prst="rect">
                <a:avLst/>
              </a:prstGeom>
              <a:noFill/>
            </p:spPr>
            <p:txBody>
              <a:bodyPr wrap="none" lIns="0" tIns="0" rIns="0" bIns="0" rtlCol="0">
                <a:spAutoFit/>
              </a:bodyPr>
              <a:lstStyle/>
              <a:p>
                <a:r>
                  <a:rPr lang="en-US" altLang="zh-CN" b="1" dirty="0">
                    <a:solidFill>
                      <a:srgbClr val="262626"/>
                    </a:solidFill>
                    <a:latin typeface="Segoe UI Black" pitchFamily="34" charset="0"/>
                    <a:cs typeface="Times New Roman" pitchFamily="18" charset="0"/>
                  </a:rPr>
                  <a:t>4</a:t>
                </a:r>
                <a:endParaRPr lang="zh-CN" altLang="en-US" b="1" dirty="0">
                  <a:solidFill>
                    <a:srgbClr val="262626"/>
                  </a:solidFill>
                  <a:latin typeface="Segoe UI Black" pitchFamily="34" charset="0"/>
                  <a:cs typeface="Times New Roman" pitchFamily="18" charset="0"/>
                </a:endParaRPr>
              </a:p>
            </p:txBody>
          </p:sp>
        </p:grpSp>
        <p:sp>
          <p:nvSpPr>
            <p:cNvPr id="48" name="矩形 47"/>
            <p:cNvSpPr/>
            <p:nvPr/>
          </p:nvSpPr>
          <p:spPr>
            <a:xfrm>
              <a:off x="863675" y="1517134"/>
              <a:ext cx="3056925" cy="369332"/>
            </a:xfrm>
            <a:prstGeom prst="rect">
              <a:avLst/>
            </a:prstGeom>
          </p:spPr>
          <p:txBody>
            <a:bodyPr wrap="square">
              <a:spAutoFit/>
            </a:bodyPr>
            <a:lstStyle/>
            <a:p>
              <a:r>
                <a:rPr lang="zh-CN" altLang="en-US" b="1" dirty="0">
                  <a:solidFill>
                    <a:schemeClr val="accent1">
                      <a:lumMod val="50000"/>
                    </a:schemeClr>
                  </a:solidFill>
                  <a:latin typeface="黑体" pitchFamily="49" charset="-122"/>
                  <a:ea typeface="黑体" pitchFamily="49" charset="-122"/>
                  <a:cs typeface="Times New Roman" pitchFamily="18" charset="0"/>
                </a:rPr>
                <a:t>门电路多余输入端的处理</a:t>
              </a:r>
            </a:p>
          </p:txBody>
        </p:sp>
      </p:grpSp>
      <p:sp>
        <p:nvSpPr>
          <p:cNvPr id="15" name="文本框 14">
            <a:extLst>
              <a:ext uri="{FF2B5EF4-FFF2-40B4-BE49-F238E27FC236}">
                <a16:creationId xmlns:a16="http://schemas.microsoft.com/office/drawing/2014/main" id="{018AFA01-9364-4DB1-9983-3E183BA623F3}"/>
              </a:ext>
            </a:extLst>
          </p:cNvPr>
          <p:cNvSpPr txBox="1"/>
          <p:nvPr/>
        </p:nvSpPr>
        <p:spPr>
          <a:xfrm>
            <a:off x="752475" y="1200161"/>
            <a:ext cx="7549696" cy="784254"/>
          </a:xfrm>
          <a:prstGeom prst="rect">
            <a:avLst/>
          </a:prstGeom>
          <a:noFill/>
          <a:ln w="9525" algn="ctr">
            <a:noFill/>
            <a:miter lim="800000"/>
            <a:headEnd/>
            <a:tailEnd/>
          </a:ln>
        </p:spPr>
        <p:txBody>
          <a:bodyPr wrap="square" lIns="0" rIns="0">
            <a:spAutoFit/>
          </a:bodyPr>
          <a:lstStyle>
            <a:defPPr>
              <a:defRPr lang="zh-CN"/>
            </a:defPPr>
            <a:lvl1pPr>
              <a:defRPr sz="1600">
                <a:latin typeface="Times New Roman" pitchFamily="18" charset="0"/>
                <a:ea typeface="黑体" pitchFamily="49" charset="-122"/>
                <a:cs typeface="Times New Roman" pitchFamily="18" charset="0"/>
              </a:defRPr>
            </a:lvl1pPr>
          </a:lstStyle>
          <a:p>
            <a:pPr indent="355600">
              <a:lnSpc>
                <a:spcPct val="150000"/>
              </a:lnSpc>
            </a:pPr>
            <a:r>
              <a:rPr lang="zh-CN" altLang="en-US" sz="1600" dirty="0">
                <a:latin typeface="Times New Roman" pitchFamily="18" charset="0"/>
                <a:ea typeface="黑体" pitchFamily="49" charset="-122"/>
                <a:cs typeface="Times New Roman" pitchFamily="18" charset="0"/>
              </a:rPr>
              <a:t>集成逻辑门在使用时，一般不让多余端输入悬空，以防止干扰信号的引入。其</a:t>
            </a:r>
            <a:r>
              <a:rPr lang="zh-CN" altLang="zh-CN" dirty="0"/>
              <a:t>处理以不改变电路的逻辑关系及稳定可靠为原则，处理时通常采用下列方法。</a:t>
            </a:r>
            <a:endParaRPr lang="zh-CN" altLang="en-US" dirty="0"/>
          </a:p>
        </p:txBody>
      </p:sp>
      <p:sp>
        <p:nvSpPr>
          <p:cNvPr id="3" name="Rectangle 2">
            <a:extLst>
              <a:ext uri="{FF2B5EF4-FFF2-40B4-BE49-F238E27FC236}">
                <a16:creationId xmlns:a16="http://schemas.microsoft.com/office/drawing/2014/main" id="{EA9F696E-C00B-4FF8-9129-E622749DAF95}"/>
              </a:ext>
            </a:extLst>
          </p:cNvPr>
          <p:cNvSpPr>
            <a:spLocks noChangeArrowheads="1"/>
          </p:cNvSpPr>
          <p:nvPr/>
        </p:nvSpPr>
        <p:spPr bwMode="auto">
          <a:xfrm>
            <a:off x="285705" y="2086343"/>
            <a:ext cx="8572589" cy="1522917"/>
          </a:xfrm>
          <a:prstGeom prst="rect">
            <a:avLst/>
          </a:prstGeom>
          <a:noFill/>
          <a:ln w="9525" algn="ctr">
            <a:noFill/>
            <a:miter lim="800000"/>
            <a:headEnd/>
            <a:tailEnd/>
          </a:ln>
        </p:spPr>
        <p:txBody>
          <a:bodyPr wrap="square" lIns="0" rIns="0">
            <a:spAutoFit/>
          </a:bodyPr>
          <a:lstStyle/>
          <a:p>
            <a:pPr indent="355600">
              <a:lnSpc>
                <a:spcPct val="150000"/>
              </a:lnSpc>
            </a:pPr>
            <a:r>
              <a:rPr lang="zh-CN" altLang="zh-CN" sz="1600" dirty="0">
                <a:solidFill>
                  <a:srgbClr val="6600FF"/>
                </a:solidFill>
                <a:latin typeface="方正粗黑宋简体" pitchFamily="2" charset="-122"/>
                <a:ea typeface="方正粗黑宋简体" pitchFamily="2" charset="-122"/>
              </a:rPr>
              <a:t>（</a:t>
            </a:r>
            <a:r>
              <a:rPr lang="en-US" altLang="zh-CN" sz="1600" dirty="0">
                <a:solidFill>
                  <a:srgbClr val="6600FF"/>
                </a:solidFill>
                <a:latin typeface="方正粗黑宋简体" pitchFamily="2" charset="-122"/>
                <a:ea typeface="方正粗黑宋简体" pitchFamily="2" charset="-122"/>
              </a:rPr>
              <a:t>1</a:t>
            </a:r>
            <a:r>
              <a:rPr lang="zh-CN" altLang="en-US" sz="1600" dirty="0">
                <a:solidFill>
                  <a:srgbClr val="6600FF"/>
                </a:solidFill>
                <a:latin typeface="方正粗黑宋简体" pitchFamily="2" charset="-122"/>
                <a:ea typeface="方正粗黑宋简体" pitchFamily="2" charset="-122"/>
              </a:rPr>
              <a:t>）与门和与非门</a:t>
            </a:r>
            <a:endParaRPr lang="en-US" altLang="zh-CN" sz="1600" dirty="0">
              <a:solidFill>
                <a:srgbClr val="6600FF"/>
              </a:solidFill>
              <a:latin typeface="方正粗黑宋简体" pitchFamily="2" charset="-122"/>
              <a:ea typeface="方正粗黑宋简体" pitchFamily="2" charset="-122"/>
            </a:endParaRPr>
          </a:p>
          <a:p>
            <a:pPr marL="900113">
              <a:lnSpc>
                <a:spcPct val="150000"/>
              </a:lnSpc>
              <a:buFont typeface="Wingdings" panose="05000000000000000000" pitchFamily="2" charset="2"/>
              <a:buChar char="u"/>
            </a:pPr>
            <a:r>
              <a:rPr lang="en-US" altLang="zh-CN" sz="1600" dirty="0">
                <a:latin typeface="Times New Roman" pitchFamily="18" charset="0"/>
                <a:ea typeface="黑体" pitchFamily="49" charset="-122"/>
                <a:cs typeface="Times New Roman" pitchFamily="18" charset="0"/>
              </a:rPr>
              <a:t>TTL</a:t>
            </a:r>
            <a:r>
              <a:rPr lang="zh-CN" altLang="en-US" sz="1600" dirty="0">
                <a:latin typeface="Times New Roman" pitchFamily="18" charset="0"/>
                <a:ea typeface="黑体" pitchFamily="49" charset="-122"/>
                <a:cs typeface="Times New Roman" pitchFamily="18" charset="0"/>
              </a:rPr>
              <a:t>门电路的多余输入端可通过</a:t>
            </a:r>
            <a:r>
              <a:rPr lang="en-US" altLang="zh-CN" sz="1600" dirty="0">
                <a:latin typeface="Times New Roman" pitchFamily="18" charset="0"/>
                <a:ea typeface="黑体" pitchFamily="49" charset="-122"/>
                <a:cs typeface="Times New Roman" pitchFamily="18" charset="0"/>
              </a:rPr>
              <a:t>1~3k</a:t>
            </a:r>
            <a:r>
              <a:rPr lang="el-GR" altLang="zh-CN" sz="1600" dirty="0">
                <a:latin typeface="Times New Roman" panose="02020603050405020304" pitchFamily="18" charset="0"/>
                <a:ea typeface="黑体" pitchFamily="49" charset="-122"/>
                <a:cs typeface="Times New Roman" pitchFamily="18" charset="0"/>
              </a:rPr>
              <a:t>Ω</a:t>
            </a:r>
            <a:r>
              <a:rPr lang="zh-CN" altLang="zh-CN" sz="1600" dirty="0">
                <a:latin typeface="Times New Roman" pitchFamily="18" charset="0"/>
                <a:ea typeface="黑体" pitchFamily="49" charset="-122"/>
                <a:cs typeface="Times New Roman" pitchFamily="18" charset="0"/>
              </a:rPr>
              <a:t>的上拉电阻接电源</a:t>
            </a:r>
            <a:r>
              <a:rPr lang="zh-CN" altLang="en-US" sz="1600" dirty="0">
                <a:latin typeface="Times New Roman" pitchFamily="18" charset="0"/>
                <a:ea typeface="黑体" pitchFamily="49" charset="-122"/>
                <a:cs typeface="Times New Roman" pitchFamily="18" charset="0"/>
              </a:rPr>
              <a:t>；</a:t>
            </a:r>
            <a:endParaRPr lang="en-US" altLang="zh-CN" sz="1600" dirty="0">
              <a:latin typeface="Times New Roman" pitchFamily="18" charset="0"/>
              <a:ea typeface="黑体" pitchFamily="49" charset="-122"/>
              <a:cs typeface="Times New Roman" pitchFamily="18" charset="0"/>
            </a:endParaRPr>
          </a:p>
          <a:p>
            <a:pPr marL="900113">
              <a:lnSpc>
                <a:spcPct val="150000"/>
              </a:lnSpc>
              <a:buFont typeface="Wingdings" panose="05000000000000000000" pitchFamily="2" charset="2"/>
              <a:buChar char="u"/>
            </a:pPr>
            <a:r>
              <a:rPr lang="en-US" altLang="zh-CN" sz="1600" dirty="0">
                <a:latin typeface="Times New Roman" pitchFamily="18" charset="0"/>
                <a:ea typeface="黑体" pitchFamily="49" charset="-122"/>
                <a:cs typeface="Times New Roman" pitchFamily="18" charset="0"/>
              </a:rPr>
              <a:t>CMOS</a:t>
            </a:r>
            <a:r>
              <a:rPr lang="zh-CN" altLang="en-US" sz="1600" dirty="0">
                <a:latin typeface="Times New Roman" pitchFamily="18" charset="0"/>
                <a:ea typeface="黑体" pitchFamily="49" charset="-122"/>
                <a:cs typeface="Times New Roman" pitchFamily="18" charset="0"/>
              </a:rPr>
              <a:t>门电路的多余输入端可以直接接电源；</a:t>
            </a:r>
            <a:endParaRPr lang="en-US" altLang="zh-CN" sz="1600" dirty="0">
              <a:latin typeface="Times New Roman" pitchFamily="18" charset="0"/>
              <a:ea typeface="黑体" pitchFamily="49" charset="-122"/>
              <a:cs typeface="Times New Roman" pitchFamily="18" charset="0"/>
            </a:endParaRPr>
          </a:p>
          <a:p>
            <a:pPr marL="900113">
              <a:lnSpc>
                <a:spcPct val="150000"/>
              </a:lnSpc>
              <a:buFont typeface="Wingdings" panose="05000000000000000000" pitchFamily="2" charset="2"/>
              <a:buChar char="u"/>
            </a:pPr>
            <a:r>
              <a:rPr lang="zh-CN" altLang="en-US" sz="1600" dirty="0">
                <a:latin typeface="Times New Roman" pitchFamily="18" charset="0"/>
                <a:ea typeface="黑体" pitchFamily="49" charset="-122"/>
                <a:cs typeface="Times New Roman" pitchFamily="18" charset="0"/>
              </a:rPr>
              <a:t>在前级驱动能力允许的情况下，也可将多余输入端与其他输入端并接在一起。</a:t>
            </a:r>
          </a:p>
        </p:txBody>
      </p:sp>
      <p:grpSp>
        <p:nvGrpSpPr>
          <p:cNvPr id="6" name="组合 5">
            <a:extLst>
              <a:ext uri="{FF2B5EF4-FFF2-40B4-BE49-F238E27FC236}">
                <a16:creationId xmlns:a16="http://schemas.microsoft.com/office/drawing/2014/main" id="{10E4E9F0-4080-4A5A-890F-D8709F776721}"/>
              </a:ext>
            </a:extLst>
          </p:cNvPr>
          <p:cNvGrpSpPr/>
          <p:nvPr/>
        </p:nvGrpSpPr>
        <p:grpSpPr>
          <a:xfrm>
            <a:off x="1324760" y="4010014"/>
            <a:ext cx="6215412" cy="1295517"/>
            <a:chOff x="1498931" y="3857614"/>
            <a:chExt cx="6215412" cy="1295517"/>
          </a:xfrm>
        </p:grpSpPr>
        <p:graphicFrame>
          <p:nvGraphicFramePr>
            <p:cNvPr id="4" name="对象 3">
              <a:extLst>
                <a:ext uri="{FF2B5EF4-FFF2-40B4-BE49-F238E27FC236}">
                  <a16:creationId xmlns:a16="http://schemas.microsoft.com/office/drawing/2014/main" id="{948EAA1B-F143-4F48-AFFE-84AAA8A7292C}"/>
                </a:ext>
              </a:extLst>
            </p:cNvPr>
            <p:cNvGraphicFramePr>
              <a:graphicFrameLocks noChangeAspect="1"/>
            </p:cNvGraphicFramePr>
            <p:nvPr/>
          </p:nvGraphicFramePr>
          <p:xfrm>
            <a:off x="1498931" y="3857614"/>
            <a:ext cx="6146138" cy="946615"/>
          </p:xfrm>
          <a:graphic>
            <a:graphicData uri="http://schemas.openxmlformats.org/presentationml/2006/ole">
              <mc:AlternateContent xmlns:mc="http://schemas.openxmlformats.org/markup-compatibility/2006">
                <mc:Choice xmlns:v="urn:schemas-microsoft-com:vml" Requires="v">
                  <p:oleObj spid="_x0000_s89090" name="Visio" r:id="rId5" imgW="3548231" imgH="545892" progId="">
                    <p:embed/>
                  </p:oleObj>
                </mc:Choice>
                <mc:Fallback>
                  <p:oleObj name="Visio" r:id="rId5" imgW="3548231" imgH="545892" progId="">
                    <p:embed/>
                    <p:pic>
                      <p:nvPicPr>
                        <p:cNvPr id="4" name="对象 3">
                          <a:extLst>
                            <a:ext uri="{FF2B5EF4-FFF2-40B4-BE49-F238E27FC236}">
                              <a16:creationId xmlns:a16="http://schemas.microsoft.com/office/drawing/2014/main" id="{948EAA1B-F143-4F48-AFFE-84AAA8A7292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98931" y="3857614"/>
                          <a:ext cx="6146138" cy="9466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文本框 15">
              <a:extLst>
                <a:ext uri="{FF2B5EF4-FFF2-40B4-BE49-F238E27FC236}">
                  <a16:creationId xmlns:a16="http://schemas.microsoft.com/office/drawing/2014/main" id="{248D0F53-FDDB-4170-816B-DC97D697BDDD}"/>
                </a:ext>
              </a:extLst>
            </p:cNvPr>
            <p:cNvSpPr txBox="1"/>
            <p:nvPr/>
          </p:nvSpPr>
          <p:spPr>
            <a:xfrm>
              <a:off x="1765300" y="4876132"/>
              <a:ext cx="5949043" cy="276999"/>
            </a:xfrm>
            <a:prstGeom prst="rect">
              <a:avLst/>
            </a:prstGeom>
            <a:noFill/>
          </p:spPr>
          <p:txBody>
            <a:bodyPr wrap="square">
              <a:spAutoFit/>
            </a:bodyPr>
            <a:lstStyle/>
            <a:p>
              <a:r>
                <a:rPr lang="en-US" altLang="zh-CN" sz="1200" b="1" kern="100" dirty="0">
                  <a:effectLst/>
                  <a:latin typeface="Times New Roman" panose="02020603050405020304" pitchFamily="18" charset="0"/>
                  <a:ea typeface="黑体" panose="02010609060101010101" pitchFamily="49" charset="-122"/>
                  <a:cs typeface="Times New Roman" panose="02020603050405020304" pitchFamily="18" charset="0"/>
                </a:rPr>
                <a:t>(a)TTL</a:t>
              </a:r>
              <a:r>
                <a:rPr lang="zh-CN" altLang="zh-CN" sz="1200" b="1" kern="100" dirty="0">
                  <a:effectLst/>
                  <a:latin typeface="Times New Roman" panose="02020603050405020304" pitchFamily="18" charset="0"/>
                  <a:ea typeface="黑体" panose="02010609060101010101" pitchFamily="49" charset="-122"/>
                  <a:cs typeface="Times New Roman" panose="02020603050405020304" pitchFamily="18" charset="0"/>
                </a:rPr>
                <a:t>门</a:t>
              </a:r>
              <a:r>
                <a:rPr lang="en-US" altLang="zh-CN" sz="1200" b="1" kern="100" dirty="0">
                  <a:effectLst/>
                  <a:latin typeface="Times New Roman" panose="02020603050405020304" pitchFamily="18" charset="0"/>
                  <a:ea typeface="黑体" panose="02010609060101010101" pitchFamily="49" charset="-122"/>
                  <a:cs typeface="Times New Roman" panose="02020603050405020304" pitchFamily="18" charset="0"/>
                </a:rPr>
                <a:t>                                             (b)CMOS</a:t>
              </a:r>
              <a:r>
                <a:rPr lang="zh-CN" altLang="zh-CN" sz="1200" b="1" kern="100" dirty="0">
                  <a:effectLst/>
                  <a:latin typeface="Times New Roman" panose="02020603050405020304" pitchFamily="18" charset="0"/>
                  <a:ea typeface="黑体" panose="02010609060101010101" pitchFamily="49" charset="-122"/>
                  <a:cs typeface="Times New Roman" panose="02020603050405020304" pitchFamily="18" charset="0"/>
                </a:rPr>
                <a:t>门</a:t>
              </a:r>
              <a:r>
                <a:rPr lang="en-US" altLang="zh-CN" sz="1200" b="1" kern="100" dirty="0">
                  <a:effectLst/>
                  <a:latin typeface="Times New Roman" panose="02020603050405020304" pitchFamily="18" charset="0"/>
                  <a:ea typeface="黑体" panose="02010609060101010101" pitchFamily="49" charset="-122"/>
                  <a:cs typeface="Times New Roman" panose="02020603050405020304" pitchFamily="18" charset="0"/>
                </a:rPr>
                <a:t>                               (c)</a:t>
              </a:r>
              <a:r>
                <a:rPr lang="zh-CN" altLang="zh-CN" sz="1200" b="1" kern="100" dirty="0">
                  <a:effectLst/>
                  <a:latin typeface="Times New Roman" panose="02020603050405020304" pitchFamily="18" charset="0"/>
                  <a:ea typeface="黑体" panose="02010609060101010101" pitchFamily="49" charset="-122"/>
                  <a:cs typeface="Times New Roman" panose="02020603050405020304" pitchFamily="18" charset="0"/>
                </a:rPr>
                <a:t>与其他输入端并接</a:t>
              </a:r>
              <a:endParaRPr lang="zh-CN" altLang="zh-CN" sz="1200" b="1" kern="100" dirty="0">
                <a:effectLst/>
                <a:latin typeface="Calibri" panose="020F0502020204030204" pitchFamily="34" charset="0"/>
                <a:ea typeface="宋体" panose="02010600030101010101" pitchFamily="2" charset="-122"/>
                <a:cs typeface="Times New Roman" panose="02020603050405020304" pitchFamily="18" charset="0"/>
              </a:endParaRPr>
            </a:p>
          </p:txBody>
        </p:sp>
      </p:grpSp>
    </p:spTree>
    <p:extLst>
      <p:ext uri="{BB962C8B-B14F-4D97-AF65-F5344CB8AC3E}">
        <p14:creationId xmlns:p14="http://schemas.microsoft.com/office/powerpoint/2010/main" val="9029998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slide(fromBottom)">
                                      <p:cBhvr>
                                        <p:cTn id="7" dur="10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slide(fromBottom)">
                                      <p:cBhvr>
                                        <p:cTn id="12" dur="1000"/>
                                        <p:tgtEl>
                                          <p:spTgt spid="3"/>
                                        </p:tgtEl>
                                      </p:cBhvr>
                                    </p:animEffect>
                                  </p:childTnLst>
                                </p:cTn>
                              </p:par>
                            </p:childTnLst>
                          </p:cTn>
                        </p:par>
                        <p:par>
                          <p:cTn id="13" fill="hold">
                            <p:stCondLst>
                              <p:cond delay="1000"/>
                            </p:stCondLst>
                            <p:childTnLst>
                              <p:par>
                                <p:cTn id="14" presetID="12" presetClass="entr" presetSubtype="4"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slide(fromBottom)">
                                      <p:cBhvr>
                                        <p:cTn id="16"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组合 45"/>
          <p:cNvGrpSpPr/>
          <p:nvPr/>
        </p:nvGrpSpPr>
        <p:grpSpPr>
          <a:xfrm>
            <a:off x="282575" y="724654"/>
            <a:ext cx="3612625" cy="373579"/>
            <a:chOff x="307975" y="1517134"/>
            <a:chExt cx="3612625" cy="373579"/>
          </a:xfrm>
        </p:grpSpPr>
        <p:grpSp>
          <p:nvGrpSpPr>
            <p:cNvPr id="47" name="组合 32"/>
            <p:cNvGrpSpPr/>
            <p:nvPr/>
          </p:nvGrpSpPr>
          <p:grpSpPr>
            <a:xfrm>
              <a:off x="307975" y="1519116"/>
              <a:ext cx="568325" cy="371597"/>
              <a:chOff x="307975" y="1519116"/>
              <a:chExt cx="568325" cy="371597"/>
            </a:xfrm>
          </p:grpSpPr>
          <p:pic>
            <p:nvPicPr>
              <p:cNvPr id="49" name="Picture 4"/>
              <p:cNvPicPr>
                <a:picLocks noChangeAspect="1" noChangeArrowheads="1"/>
              </p:cNvPicPr>
              <p:nvPr/>
            </p:nvPicPr>
            <p:blipFill>
              <a:blip r:embed="rId4" cstate="print"/>
              <a:srcRect/>
              <a:stretch>
                <a:fillRect/>
              </a:stretch>
            </p:blipFill>
            <p:spPr bwMode="auto">
              <a:xfrm flipH="1">
                <a:off x="307975" y="1519116"/>
                <a:ext cx="568325" cy="371597"/>
              </a:xfrm>
              <a:prstGeom prst="rect">
                <a:avLst/>
              </a:prstGeom>
              <a:noFill/>
              <a:ln w="9525">
                <a:noFill/>
                <a:miter lim="800000"/>
                <a:headEnd/>
                <a:tailEnd/>
              </a:ln>
              <a:effectLst/>
            </p:spPr>
          </p:pic>
          <p:sp>
            <p:nvSpPr>
              <p:cNvPr id="50" name="TextBox 49"/>
              <p:cNvSpPr txBox="1"/>
              <p:nvPr/>
            </p:nvSpPr>
            <p:spPr>
              <a:xfrm flipH="1">
                <a:off x="443415" y="1555750"/>
                <a:ext cx="142668" cy="276999"/>
              </a:xfrm>
              <a:prstGeom prst="rect">
                <a:avLst/>
              </a:prstGeom>
              <a:noFill/>
            </p:spPr>
            <p:txBody>
              <a:bodyPr wrap="none" lIns="0" tIns="0" rIns="0" bIns="0" rtlCol="0">
                <a:spAutoFit/>
              </a:bodyPr>
              <a:lstStyle/>
              <a:p>
                <a:r>
                  <a:rPr lang="en-US" altLang="zh-CN" b="1" dirty="0">
                    <a:solidFill>
                      <a:srgbClr val="262626"/>
                    </a:solidFill>
                    <a:latin typeface="Segoe UI Black" pitchFamily="34" charset="0"/>
                    <a:cs typeface="Times New Roman" pitchFamily="18" charset="0"/>
                  </a:rPr>
                  <a:t>4</a:t>
                </a:r>
                <a:endParaRPr lang="zh-CN" altLang="en-US" b="1" dirty="0">
                  <a:solidFill>
                    <a:srgbClr val="262626"/>
                  </a:solidFill>
                  <a:latin typeface="Segoe UI Black" pitchFamily="34" charset="0"/>
                  <a:cs typeface="Times New Roman" pitchFamily="18" charset="0"/>
                </a:endParaRPr>
              </a:p>
            </p:txBody>
          </p:sp>
        </p:grpSp>
        <p:sp>
          <p:nvSpPr>
            <p:cNvPr id="48" name="矩形 47"/>
            <p:cNvSpPr/>
            <p:nvPr/>
          </p:nvSpPr>
          <p:spPr>
            <a:xfrm>
              <a:off x="863675" y="1517134"/>
              <a:ext cx="3056925" cy="369332"/>
            </a:xfrm>
            <a:prstGeom prst="rect">
              <a:avLst/>
            </a:prstGeom>
          </p:spPr>
          <p:txBody>
            <a:bodyPr wrap="square">
              <a:spAutoFit/>
            </a:bodyPr>
            <a:lstStyle/>
            <a:p>
              <a:r>
                <a:rPr lang="zh-CN" altLang="en-US" b="1" dirty="0">
                  <a:solidFill>
                    <a:schemeClr val="accent1">
                      <a:lumMod val="50000"/>
                    </a:schemeClr>
                  </a:solidFill>
                  <a:latin typeface="黑体" pitchFamily="49" charset="-122"/>
                  <a:ea typeface="黑体" pitchFamily="49" charset="-122"/>
                  <a:cs typeface="Times New Roman" pitchFamily="18" charset="0"/>
                </a:rPr>
                <a:t>门电路多余输入端的处理</a:t>
              </a:r>
            </a:p>
          </p:txBody>
        </p:sp>
      </p:grpSp>
      <p:sp>
        <p:nvSpPr>
          <p:cNvPr id="15" name="文本框 14">
            <a:extLst>
              <a:ext uri="{FF2B5EF4-FFF2-40B4-BE49-F238E27FC236}">
                <a16:creationId xmlns:a16="http://schemas.microsoft.com/office/drawing/2014/main" id="{018AFA01-9364-4DB1-9983-3E183BA623F3}"/>
              </a:ext>
            </a:extLst>
          </p:cNvPr>
          <p:cNvSpPr txBox="1"/>
          <p:nvPr/>
        </p:nvSpPr>
        <p:spPr>
          <a:xfrm>
            <a:off x="752475" y="1200161"/>
            <a:ext cx="7549696" cy="784254"/>
          </a:xfrm>
          <a:prstGeom prst="rect">
            <a:avLst/>
          </a:prstGeom>
          <a:noFill/>
          <a:ln w="9525" algn="ctr">
            <a:noFill/>
            <a:miter lim="800000"/>
            <a:headEnd/>
            <a:tailEnd/>
          </a:ln>
        </p:spPr>
        <p:txBody>
          <a:bodyPr wrap="square" lIns="0" rIns="0">
            <a:spAutoFit/>
          </a:bodyPr>
          <a:lstStyle>
            <a:defPPr>
              <a:defRPr lang="zh-CN"/>
            </a:defPPr>
            <a:lvl1pPr>
              <a:defRPr sz="1600">
                <a:latin typeface="Times New Roman" pitchFamily="18" charset="0"/>
                <a:ea typeface="黑体" pitchFamily="49" charset="-122"/>
                <a:cs typeface="Times New Roman" pitchFamily="18" charset="0"/>
              </a:defRPr>
            </a:lvl1pPr>
          </a:lstStyle>
          <a:p>
            <a:pPr indent="355600">
              <a:lnSpc>
                <a:spcPct val="150000"/>
              </a:lnSpc>
            </a:pPr>
            <a:r>
              <a:rPr lang="zh-CN" altLang="en-US" sz="1600" dirty="0">
                <a:latin typeface="Times New Roman" pitchFamily="18" charset="0"/>
                <a:ea typeface="黑体" pitchFamily="49" charset="-122"/>
                <a:cs typeface="Times New Roman" pitchFamily="18" charset="0"/>
              </a:rPr>
              <a:t>集成逻辑门在使用时，一般不让多余端输入悬空，以防止干扰信号的引入。其</a:t>
            </a:r>
            <a:r>
              <a:rPr lang="zh-CN" altLang="zh-CN" dirty="0"/>
              <a:t>处理以不改变电路的逻辑关系及稳定可靠为原则，处理时通常采用下列方法。</a:t>
            </a:r>
            <a:endParaRPr lang="zh-CN" altLang="en-US" dirty="0"/>
          </a:p>
        </p:txBody>
      </p:sp>
      <p:sp>
        <p:nvSpPr>
          <p:cNvPr id="3" name="Rectangle 2">
            <a:extLst>
              <a:ext uri="{FF2B5EF4-FFF2-40B4-BE49-F238E27FC236}">
                <a16:creationId xmlns:a16="http://schemas.microsoft.com/office/drawing/2014/main" id="{EA9F696E-C00B-4FF8-9129-E622749DAF95}"/>
              </a:ext>
            </a:extLst>
          </p:cNvPr>
          <p:cNvSpPr>
            <a:spLocks noChangeArrowheads="1"/>
          </p:cNvSpPr>
          <p:nvPr/>
        </p:nvSpPr>
        <p:spPr bwMode="auto">
          <a:xfrm>
            <a:off x="285705" y="2084349"/>
            <a:ext cx="6434409" cy="1153586"/>
          </a:xfrm>
          <a:prstGeom prst="rect">
            <a:avLst/>
          </a:prstGeom>
          <a:noFill/>
          <a:ln w="9525" algn="ctr">
            <a:noFill/>
            <a:miter lim="800000"/>
            <a:headEnd/>
            <a:tailEnd/>
          </a:ln>
        </p:spPr>
        <p:txBody>
          <a:bodyPr wrap="square" lIns="0" rIns="0">
            <a:spAutoFit/>
          </a:bodyPr>
          <a:lstStyle/>
          <a:p>
            <a:pPr indent="355600">
              <a:lnSpc>
                <a:spcPct val="150000"/>
              </a:lnSpc>
            </a:pPr>
            <a:r>
              <a:rPr lang="zh-CN" altLang="zh-CN" sz="1600" dirty="0">
                <a:solidFill>
                  <a:srgbClr val="6600FF"/>
                </a:solidFill>
                <a:latin typeface="方正粗黑宋简体" pitchFamily="2" charset="-122"/>
                <a:ea typeface="方正粗黑宋简体" pitchFamily="2" charset="-122"/>
              </a:rPr>
              <a:t>（</a:t>
            </a:r>
            <a:r>
              <a:rPr lang="en-US" altLang="zh-CN" sz="1600" dirty="0">
                <a:solidFill>
                  <a:srgbClr val="6600FF"/>
                </a:solidFill>
                <a:latin typeface="方正粗黑宋简体" pitchFamily="2" charset="-122"/>
                <a:ea typeface="方正粗黑宋简体" pitchFamily="2" charset="-122"/>
              </a:rPr>
              <a:t>2</a:t>
            </a:r>
            <a:r>
              <a:rPr lang="zh-CN" altLang="en-US" sz="1600" dirty="0">
                <a:solidFill>
                  <a:srgbClr val="6600FF"/>
                </a:solidFill>
                <a:latin typeface="方正粗黑宋简体" pitchFamily="2" charset="-122"/>
                <a:ea typeface="方正粗黑宋简体" pitchFamily="2" charset="-122"/>
              </a:rPr>
              <a:t>）或门和或非门</a:t>
            </a:r>
            <a:endParaRPr lang="en-US" altLang="zh-CN" sz="1600" dirty="0">
              <a:solidFill>
                <a:srgbClr val="6600FF"/>
              </a:solidFill>
              <a:latin typeface="方正粗黑宋简体" pitchFamily="2" charset="-122"/>
              <a:ea typeface="方正粗黑宋简体" pitchFamily="2" charset="-122"/>
            </a:endParaRPr>
          </a:p>
          <a:p>
            <a:pPr marL="900113">
              <a:lnSpc>
                <a:spcPct val="150000"/>
              </a:lnSpc>
              <a:buFont typeface="Wingdings" panose="05000000000000000000" pitchFamily="2" charset="2"/>
              <a:buChar char="u"/>
            </a:pPr>
            <a:r>
              <a:rPr lang="en-US" altLang="zh-CN" sz="1600" dirty="0">
                <a:latin typeface="Times New Roman" pitchFamily="18" charset="0"/>
                <a:ea typeface="黑体" pitchFamily="49" charset="-122"/>
                <a:cs typeface="Times New Roman" pitchFamily="18" charset="0"/>
              </a:rPr>
              <a:t> </a:t>
            </a:r>
            <a:r>
              <a:rPr lang="zh-CN" altLang="zh-CN" sz="1600" dirty="0">
                <a:latin typeface="Times New Roman" pitchFamily="18" charset="0"/>
                <a:ea typeface="黑体" pitchFamily="49" charset="-122"/>
                <a:cs typeface="Times New Roman" pitchFamily="18" charset="0"/>
              </a:rPr>
              <a:t>多余输入端可直接接地</a:t>
            </a:r>
            <a:r>
              <a:rPr lang="zh-CN" altLang="en-US" sz="1600" dirty="0">
                <a:latin typeface="Times New Roman" pitchFamily="18" charset="0"/>
                <a:ea typeface="黑体" pitchFamily="49" charset="-122"/>
                <a:cs typeface="Times New Roman" pitchFamily="18" charset="0"/>
              </a:rPr>
              <a:t>；</a:t>
            </a:r>
            <a:endParaRPr lang="en-US" altLang="zh-CN" sz="1600" dirty="0">
              <a:latin typeface="Times New Roman" pitchFamily="18" charset="0"/>
              <a:ea typeface="黑体" pitchFamily="49" charset="-122"/>
              <a:cs typeface="Times New Roman" pitchFamily="18" charset="0"/>
            </a:endParaRPr>
          </a:p>
          <a:p>
            <a:pPr marL="900113">
              <a:lnSpc>
                <a:spcPct val="150000"/>
              </a:lnSpc>
              <a:buFont typeface="Wingdings" panose="05000000000000000000" pitchFamily="2" charset="2"/>
              <a:buChar char="u"/>
            </a:pPr>
            <a:r>
              <a:rPr lang="en-US" altLang="zh-CN" sz="1600" dirty="0">
                <a:latin typeface="Times New Roman" pitchFamily="18" charset="0"/>
                <a:ea typeface="黑体" pitchFamily="49" charset="-122"/>
                <a:cs typeface="Times New Roman" pitchFamily="18" charset="0"/>
              </a:rPr>
              <a:t> </a:t>
            </a:r>
            <a:r>
              <a:rPr lang="zh-CN" altLang="zh-CN" sz="1600" dirty="0">
                <a:latin typeface="Times New Roman" pitchFamily="18" charset="0"/>
                <a:ea typeface="黑体" pitchFamily="49" charset="-122"/>
                <a:cs typeface="Times New Roman" pitchFamily="18" charset="0"/>
              </a:rPr>
              <a:t>也可与其他输入端并接在一起。</a:t>
            </a:r>
            <a:endParaRPr lang="zh-CN" altLang="en-US" sz="1600" dirty="0">
              <a:latin typeface="Times New Roman" pitchFamily="18" charset="0"/>
              <a:ea typeface="黑体" pitchFamily="49" charset="-122"/>
              <a:cs typeface="Times New Roman" pitchFamily="18" charset="0"/>
            </a:endParaRPr>
          </a:p>
        </p:txBody>
      </p:sp>
      <p:grpSp>
        <p:nvGrpSpPr>
          <p:cNvPr id="7" name="组合 6">
            <a:extLst>
              <a:ext uri="{FF2B5EF4-FFF2-40B4-BE49-F238E27FC236}">
                <a16:creationId xmlns:a16="http://schemas.microsoft.com/office/drawing/2014/main" id="{00C2FBD9-C71A-4432-B7C1-B31F62D38046}"/>
              </a:ext>
            </a:extLst>
          </p:cNvPr>
          <p:cNvGrpSpPr/>
          <p:nvPr/>
        </p:nvGrpSpPr>
        <p:grpSpPr>
          <a:xfrm>
            <a:off x="4465053" y="2515096"/>
            <a:ext cx="4018137" cy="879930"/>
            <a:chOff x="4521200" y="2450927"/>
            <a:chExt cx="4018137" cy="879930"/>
          </a:xfrm>
        </p:grpSpPr>
        <p:graphicFrame>
          <p:nvGraphicFramePr>
            <p:cNvPr id="5" name="对象 4">
              <a:extLst>
                <a:ext uri="{FF2B5EF4-FFF2-40B4-BE49-F238E27FC236}">
                  <a16:creationId xmlns:a16="http://schemas.microsoft.com/office/drawing/2014/main" id="{D281D4F8-DD4E-4323-A445-9DCFBA6861EB}"/>
                </a:ext>
              </a:extLst>
            </p:cNvPr>
            <p:cNvGraphicFramePr>
              <a:graphicFrameLocks noChangeAspect="1"/>
            </p:cNvGraphicFramePr>
            <p:nvPr/>
          </p:nvGraphicFramePr>
          <p:xfrm>
            <a:off x="4521200" y="2450927"/>
            <a:ext cx="3995861" cy="607145"/>
          </p:xfrm>
          <a:graphic>
            <a:graphicData uri="http://schemas.openxmlformats.org/presentationml/2006/ole">
              <mc:AlternateContent xmlns:mc="http://schemas.openxmlformats.org/markup-compatibility/2006">
                <mc:Choice xmlns:v="urn:schemas-microsoft-com:vml" Requires="v">
                  <p:oleObj spid="_x0000_s90114" name="Visio" r:id="rId5" imgW="2250858" imgH="348754" progId="">
                    <p:embed/>
                  </p:oleObj>
                </mc:Choice>
                <mc:Fallback>
                  <p:oleObj name="Visio" r:id="rId5" imgW="2250858" imgH="348754" progId="">
                    <p:embed/>
                    <p:pic>
                      <p:nvPicPr>
                        <p:cNvPr id="5" name="对象 4">
                          <a:extLst>
                            <a:ext uri="{FF2B5EF4-FFF2-40B4-BE49-F238E27FC236}">
                              <a16:creationId xmlns:a16="http://schemas.microsoft.com/office/drawing/2014/main" id="{D281D4F8-DD4E-4323-A445-9DCFBA6861E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21200" y="2450927"/>
                          <a:ext cx="3995861" cy="60714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文本框 13">
              <a:extLst>
                <a:ext uri="{FF2B5EF4-FFF2-40B4-BE49-F238E27FC236}">
                  <a16:creationId xmlns:a16="http://schemas.microsoft.com/office/drawing/2014/main" id="{E7A1A4E9-EAA7-4F71-B302-B881FAA93FA6}"/>
                </a:ext>
              </a:extLst>
            </p:cNvPr>
            <p:cNvSpPr txBox="1"/>
            <p:nvPr/>
          </p:nvSpPr>
          <p:spPr>
            <a:xfrm>
              <a:off x="4900891" y="3053858"/>
              <a:ext cx="3638446" cy="276999"/>
            </a:xfrm>
            <a:prstGeom prst="rect">
              <a:avLst/>
            </a:prstGeom>
            <a:noFill/>
          </p:spPr>
          <p:txBody>
            <a:bodyPr wrap="square">
              <a:spAutoFit/>
            </a:bodyPr>
            <a:lstStyle/>
            <a:p>
              <a:r>
                <a:rPr lang="en-US" altLang="zh-CN" sz="1200" b="1" kern="100" dirty="0">
                  <a:effectLst/>
                  <a:latin typeface="Times New Roman" panose="02020603050405020304" pitchFamily="18" charset="0"/>
                  <a:ea typeface="黑体" panose="02010609060101010101" pitchFamily="49" charset="-122"/>
                  <a:cs typeface="Times New Roman" panose="02020603050405020304" pitchFamily="18" charset="0"/>
                </a:rPr>
                <a:t>(a)                                                            (b)</a:t>
              </a:r>
              <a:endParaRPr lang="zh-CN" altLang="zh-CN" sz="1200" b="1" kern="100" dirty="0">
                <a:effectLst/>
                <a:latin typeface="Calibri" panose="020F0502020204030204" pitchFamily="34" charset="0"/>
                <a:ea typeface="宋体" panose="02010600030101010101" pitchFamily="2" charset="-122"/>
                <a:cs typeface="Times New Roman" panose="02020603050405020304" pitchFamily="18" charset="0"/>
              </a:endParaRPr>
            </a:p>
          </p:txBody>
        </p:sp>
      </p:grpSp>
      <p:sp>
        <p:nvSpPr>
          <p:cNvPr id="17" name="文本框 16">
            <a:extLst>
              <a:ext uri="{FF2B5EF4-FFF2-40B4-BE49-F238E27FC236}">
                <a16:creationId xmlns:a16="http://schemas.microsoft.com/office/drawing/2014/main" id="{CBB5F45D-3AE5-4E7A-95D6-CC9DD6A9CC83}"/>
              </a:ext>
            </a:extLst>
          </p:cNvPr>
          <p:cNvSpPr txBox="1"/>
          <p:nvPr/>
        </p:nvSpPr>
        <p:spPr>
          <a:xfrm>
            <a:off x="752475" y="3991845"/>
            <a:ext cx="8006896" cy="338554"/>
          </a:xfrm>
          <a:prstGeom prst="rect">
            <a:avLst/>
          </a:prstGeom>
          <a:noFill/>
        </p:spPr>
        <p:txBody>
          <a:bodyPr wrap="square">
            <a:spAutoFit/>
          </a:bodyPr>
          <a:lstStyle/>
          <a:p>
            <a:pPr marL="355600" indent="-355600">
              <a:spcBef>
                <a:spcPct val="25000"/>
              </a:spcBef>
              <a:buSzPct val="80000"/>
              <a:buFont typeface="Wingdings" pitchFamily="2" charset="2"/>
              <a:buChar char="u"/>
            </a:pPr>
            <a:r>
              <a:rPr lang="en-US" altLang="zh-CN" sz="1600" dirty="0">
                <a:solidFill>
                  <a:srgbClr val="6600FF"/>
                </a:solidFill>
                <a:latin typeface="方正粗黑宋简体" pitchFamily="2" charset="-122"/>
                <a:ea typeface="方正粗黑宋简体" pitchFamily="2" charset="-122"/>
              </a:rPr>
              <a:t>TTL</a:t>
            </a:r>
            <a:r>
              <a:rPr lang="zh-CN" altLang="en-US" sz="1600" dirty="0">
                <a:solidFill>
                  <a:srgbClr val="6600FF"/>
                </a:solidFill>
                <a:latin typeface="方正粗黑宋简体" pitchFamily="2" charset="-122"/>
                <a:ea typeface="方正粗黑宋简体" pitchFamily="2" charset="-122"/>
              </a:rPr>
              <a:t>门电路多余输入端可以悬空（悬空为高电平），</a:t>
            </a:r>
            <a:r>
              <a:rPr lang="en-US" altLang="zh-CN" sz="1600" dirty="0">
                <a:solidFill>
                  <a:srgbClr val="6600FF"/>
                </a:solidFill>
                <a:latin typeface="方正粗黑宋简体" pitchFamily="2" charset="-122"/>
                <a:ea typeface="方正粗黑宋简体" pitchFamily="2" charset="-122"/>
              </a:rPr>
              <a:t>COMS</a:t>
            </a:r>
            <a:r>
              <a:rPr lang="zh-CN" altLang="en-US" sz="1600" dirty="0">
                <a:solidFill>
                  <a:srgbClr val="6600FF"/>
                </a:solidFill>
                <a:latin typeface="方正粗黑宋简体" pitchFamily="2" charset="-122"/>
                <a:ea typeface="方正粗黑宋简体" pitchFamily="2" charset="-122"/>
              </a:rPr>
              <a:t>电路绝对不允许悬空。</a:t>
            </a:r>
          </a:p>
        </p:txBody>
      </p:sp>
    </p:spTree>
    <p:extLst>
      <p:ext uri="{BB962C8B-B14F-4D97-AF65-F5344CB8AC3E}">
        <p14:creationId xmlns:p14="http://schemas.microsoft.com/office/powerpoint/2010/main" val="2342606707"/>
      </p:ext>
    </p:extLst>
  </p:cSld>
  <p:clrMapOvr>
    <a:masterClrMapping/>
  </p:clrMapOvr>
  <p:transition spd="slow">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lide(fromBottom)">
                                      <p:cBhvr>
                                        <p:cTn id="7" dur="1000"/>
                                        <p:tgtEl>
                                          <p:spTgt spid="3"/>
                                        </p:tgtEl>
                                      </p:cBhvr>
                                    </p:animEffect>
                                  </p:childTnLst>
                                </p:cTn>
                              </p:par>
                            </p:childTnLst>
                          </p:cTn>
                        </p:par>
                        <p:par>
                          <p:cTn id="8" fill="hold">
                            <p:stCondLst>
                              <p:cond delay="1000"/>
                            </p:stCondLst>
                            <p:childTnLst>
                              <p:par>
                                <p:cTn id="9" presetID="12" presetClass="entr" presetSubtype="4"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slide(fromBottom)">
                                      <p:cBhvr>
                                        <p:cTn id="11" dur="1000"/>
                                        <p:tgtEl>
                                          <p:spTgt spid="7"/>
                                        </p:tgtEl>
                                      </p:cBhvr>
                                    </p:animEffect>
                                  </p:childTnLst>
                                </p:cTn>
                              </p:par>
                            </p:childTnLst>
                          </p:cTn>
                        </p:par>
                        <p:par>
                          <p:cTn id="12" fill="hold">
                            <p:stCondLst>
                              <p:cond delay="2000"/>
                            </p:stCondLst>
                            <p:childTnLst>
                              <p:par>
                                <p:cTn id="13" presetID="12" presetClass="entr" presetSubtype="4" fill="hold" grpId="0"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slide(fromBottom)">
                                      <p:cBhvr>
                                        <p:cTn id="15"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7" grpId="0"/>
    </p:bldLst>
  </p:timing>
</p:sld>
</file>

<file path=ppt/tags/tag1.xml><?xml version="1.0" encoding="utf-8"?>
<p:tagLst xmlns:a="http://schemas.openxmlformats.org/drawingml/2006/main" xmlns:r="http://schemas.openxmlformats.org/officeDocument/2006/relationships" xmlns:p="http://schemas.openxmlformats.org/presentationml/2006/main">
  <p:tag name="TIMING" val="|2.5"/>
</p:tagLst>
</file>

<file path=ppt/theme/theme1.xml><?xml version="1.0" encoding="utf-8"?>
<a:theme xmlns:a="http://schemas.openxmlformats.org/drawingml/2006/main" name="Office 主题">
  <a:themeElements>
    <a:clrScheme name="学术蓝">
      <a:dk1>
        <a:sysClr val="windowText" lastClr="000000"/>
      </a:dk1>
      <a:lt1>
        <a:sysClr val="window" lastClr="FFFFFF"/>
      </a:lt1>
      <a:dk2>
        <a:srgbClr val="44546A"/>
      </a:dk2>
      <a:lt2>
        <a:srgbClr val="E7E6E6"/>
      </a:lt2>
      <a:accent1>
        <a:srgbClr val="0070C0"/>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12369</TotalTime>
  <Words>4749</Words>
  <Application>Microsoft Office PowerPoint</Application>
  <PresentationFormat>全屏显示(16:10)</PresentationFormat>
  <Paragraphs>710</Paragraphs>
  <Slides>42</Slides>
  <Notes>19</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4</vt:i4>
      </vt:variant>
      <vt:variant>
        <vt:lpstr>幻灯片标题</vt:lpstr>
      </vt:variant>
      <vt:variant>
        <vt:i4>42</vt:i4>
      </vt:variant>
    </vt:vector>
  </HeadingPairs>
  <TitlesOfParts>
    <vt:vector size="59" baseType="lpstr">
      <vt:lpstr>等线</vt:lpstr>
      <vt:lpstr>方正粗黑宋简体</vt:lpstr>
      <vt:lpstr>方正大黑简体</vt:lpstr>
      <vt:lpstr>黑体</vt:lpstr>
      <vt:lpstr>微软雅黑</vt:lpstr>
      <vt:lpstr>Arial</vt:lpstr>
      <vt:lpstr>Calibri</vt:lpstr>
      <vt:lpstr>Cambria Math</vt:lpstr>
      <vt:lpstr>Segoe UI Black</vt:lpstr>
      <vt:lpstr>Times New Roman</vt:lpstr>
      <vt:lpstr>Verdana</vt:lpstr>
      <vt:lpstr>Wingdings</vt:lpstr>
      <vt:lpstr>Office 主题</vt:lpstr>
      <vt:lpstr>Visio</vt:lpstr>
      <vt:lpstr>公式</vt:lpstr>
      <vt:lpstr>Equation</vt:lpstr>
      <vt:lpstr>图片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DY</dc:creator>
  <cp:lastModifiedBy>hp</cp:lastModifiedBy>
  <cp:revision>1016</cp:revision>
  <dcterms:created xsi:type="dcterms:W3CDTF">2015-01-13T10:49:01Z</dcterms:created>
  <dcterms:modified xsi:type="dcterms:W3CDTF">2022-04-18T11:19:10Z</dcterms:modified>
</cp:coreProperties>
</file>